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4"/>
  </p:sldMasterIdLst>
  <p:notesMasterIdLst>
    <p:notesMasterId r:id="rId59"/>
  </p:notesMasterIdLst>
  <p:sldIdLst>
    <p:sldId id="2147483040" r:id="rId5"/>
    <p:sldId id="2147483041" r:id="rId6"/>
    <p:sldId id="2147483042" r:id="rId7"/>
    <p:sldId id="2147483043" r:id="rId8"/>
    <p:sldId id="2147483044" r:id="rId9"/>
    <p:sldId id="2147483093" r:id="rId3"/>
    <p:sldId id="2147483094" r:id="rId2"/>
    <p:sldId id="2147483082" r:id="rId10"/>
    <p:sldId id="2147483045" r:id="rId11"/>
    <p:sldId id="264" r:id="rId12"/>
    <p:sldId id="2147483046" r:id="rId13"/>
    <p:sldId id="2147483095" r:id="rId1"/>
    <p:sldId id="2147483047" r:id="rId14"/>
    <p:sldId id="2147483048" r:id="rId15"/>
    <p:sldId id="2147483049" r:id="rId16"/>
    <p:sldId id="2147483050" r:id="rId17"/>
    <p:sldId id="2147483051" r:id="rId18"/>
    <p:sldId id="2147483085" r:id="rId19"/>
    <p:sldId id="2147483052" r:id="rId20"/>
    <p:sldId id="2147483083" r:id="rId21"/>
    <p:sldId id="2147483053" r:id="rId22"/>
    <p:sldId id="2147483054" r:id="rId23"/>
    <p:sldId id="2147483055" r:id="rId24"/>
    <p:sldId id="2147483056" r:id="rId25"/>
    <p:sldId id="2147483086" r:id="rId26"/>
    <p:sldId id="2147483057" r:id="rId27"/>
    <p:sldId id="2147483058" r:id="rId28"/>
    <p:sldId id="2147483059" r:id="rId29"/>
    <p:sldId id="2147483060" r:id="rId30"/>
    <p:sldId id="2147483061" r:id="rId31"/>
    <p:sldId id="2147483084" r:id="rId32"/>
    <p:sldId id="2147483062" r:id="rId33"/>
    <p:sldId id="2147483063" r:id="rId34"/>
    <p:sldId id="2147483096" r:id="rId64"/>
    <p:sldId id="2147483097" r:id="rId65"/>
    <p:sldId id="2147483064" r:id="rId35"/>
    <p:sldId id="2147483065" r:id="rId36"/>
    <p:sldId id="2147483066" r:id="rId37"/>
    <p:sldId id="2147483067" r:id="rId38"/>
    <p:sldId id="2147483068" r:id="rId39"/>
    <p:sldId id="2147483087" r:id="rId40"/>
    <p:sldId id="2147483069" r:id="rId41"/>
    <p:sldId id="2147483070" r:id="rId42"/>
    <p:sldId id="2147483071" r:id="rId43"/>
    <p:sldId id="2147483072" r:id="rId44"/>
    <p:sldId id="2147483088" r:id="rId45"/>
    <p:sldId id="2147483073" r:id="rId46"/>
    <p:sldId id="2147483089" r:id="rId47"/>
    <p:sldId id="2147483074" r:id="rId48"/>
    <p:sldId id="2147483090" r:id="rId49"/>
    <p:sldId id="2147483075" r:id="rId50"/>
    <p:sldId id="2147483077" r:id="rId51"/>
    <p:sldId id="2147483078" r:id="rId52"/>
    <p:sldId id="2147483079" r:id="rId53"/>
    <p:sldId id="2147483080" r:id="rId54"/>
    <p:sldId id="2147483092" r:id="rId55"/>
    <p:sldId id="2147483081" r:id="rId56"/>
    <p:sldId id="2147483091" r:id="rId57"/>
    <p:sldId id="2147483039" r:id="rId58"/>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CBD6"/>
    <a:srgbClr val="F5F5F5"/>
    <a:srgbClr val="FFF6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80158"/>
  </p:normalViewPr>
  <p:slideViewPr>
    <p:cSldViewPr snapToGrid="0">
      <p:cViewPr varScale="1">
        <p:scale>
          <a:sx n="128" d="100"/>
          <a:sy n="128" d="100"/>
        </p:scale>
        <p:origin x="1352"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 Target="slides/slide57.xml"/><Relationship Id="rId2" Type="http://schemas.openxmlformats.org/officeDocument/2006/relationships/slide" Target="slides/slide56.xml"/><Relationship Id="rId3" Type="http://schemas.openxmlformats.org/officeDocument/2006/relationships/slide" Target="slides/slide55.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 Id="rId64" Type="http://schemas.openxmlformats.org/officeDocument/2006/relationships/slide" Target="slides/slide58.xml"/><Relationship Id="rId65" Type="http://schemas.openxmlformats.org/officeDocument/2006/relationships/slide" Target="slides/slide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6403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the two columns row by row. Let the right column build up progressively.</a:t>
            </a:r>
          </a:p>
          <a:p>
            <a:endParaRPr lang="en-IN"/>
          </a:p>
          <a:p>
            <a:r>
              <a:rPr lang="en-IN" b="1"/>
              <a:t>How to do</a:t>
            </a:r>
            <a:br>
              <a:rPr lang="en-IN"/>
            </a:br>
            <a:r>
              <a:rPr lang="en-IN"/>
              <a:t>Walk each pair: "Core logic that runs versus core logic that runs at scale with concurrent users. One of these is your PoC. The other is production." Continue row by row without rushing. On the Committed to Git versus CI/CD pipeline row: "You did the left column in Session 3. The right column is a different project entirely." On the One user versus Authentication and authorisation row: "The one user was you. In a sympathetic environment. With the right input. Production is everyone else." Read the closer: "None of the right column is a criticism of the PoC. All of it is the honest cost of production.”</a:t>
            </a:r>
          </a:p>
          <a:p>
            <a:endParaRPr lang="en-IN"/>
          </a:p>
          <a:p>
            <a:r>
              <a:rPr lang="en-IN" b="1"/>
              <a:t>What to ask</a:t>
            </a:r>
            <a:br>
              <a:rPr lang="en-IN"/>
            </a:br>
            <a:r>
              <a:rPr lang="en-IN"/>
              <a:t>"Looking at this table, which row surprises you most? Which gap did you not expect?”</a:t>
            </a:r>
          </a:p>
          <a:p>
            <a:endParaRPr lang="en-IN"/>
          </a:p>
          <a:p>
            <a:r>
              <a:rPr lang="en-IN" b="1"/>
              <a:t>Transition</a:t>
            </a:r>
            <a:br>
              <a:rPr lang="en-IN"/>
            </a:br>
            <a:r>
              <a:rPr lang="en-IN"/>
              <a:t>"And this is just the structural gap. AI-generated code adds its own predictable debt on top of it."</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11529217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Close the session. No new content.</a:t>
            </a:r>
          </a:p>
          <a:p>
            <a:endParaRPr lang="en-US"/>
          </a:p>
          <a:p>
            <a:endParaRPr lang="en-US"/>
          </a:p>
        </p:txBody>
      </p:sp>
      <p:sp>
        <p:nvSpPr>
          <p:cNvPr id="4" name="Slide Number Placeholder 3"/>
          <p:cNvSpPr>
            <a:spLocks noGrp="1"/>
          </p:cNvSpPr>
          <p:nvPr>
            <p:ph type="sldNum" sz="quarter" idx="5"/>
          </p:nvPr>
        </p:nvSpPr>
        <p:spPr/>
        <p:txBody>
          <a:bodyPr/>
          <a:lstStyle/>
          <a:p>
            <a:fld id="{2812E9A3-E58E-6545-9B06-E8A975084646}" type="slidenum">
              <a:rPr lang="en-US" smtClean="0"/>
              <a:t>54</a:t>
            </a:fld>
            <a:endParaRPr lang="en-US"/>
          </a:p>
        </p:txBody>
      </p:sp>
    </p:spTree>
    <p:extLst>
      <p:ext uri="{BB962C8B-B14F-4D97-AF65-F5344CB8AC3E}">
        <p14:creationId xmlns:p14="http://schemas.microsoft.com/office/powerpoint/2010/main" val="35041336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435477" y="1704156"/>
            <a:ext cx="6725419" cy="2423741"/>
          </a:xfrm>
          <a:prstGeom prst="rect">
            <a:avLst/>
          </a:prstGeom>
        </p:spPr>
        <p:txBody>
          <a:bodyPr wrap="square" anchor="b">
            <a:spAutoFit/>
          </a:bodyPr>
          <a:lstStyle>
            <a:lvl1pPr algn="l">
              <a:lnSpc>
                <a:spcPct val="100000"/>
              </a:lnSpc>
              <a:defRPr sz="51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480902" y="4127896"/>
            <a:ext cx="2877741" cy="276999"/>
          </a:xfrm>
          <a:prstGeom prst="rect">
            <a:avLst/>
          </a:prstGeom>
        </p:spPr>
        <p:txBody>
          <a:bodyPr anchor="t">
            <a:spAutoFit/>
          </a:bodyPr>
          <a:lstStyle>
            <a:lvl1pPr marL="0" indent="0" algn="l">
              <a:lnSpc>
                <a:spcPct val="100000"/>
              </a:lnSpc>
              <a:buNone/>
              <a:defRPr sz="1200">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Name of Presenter</a:t>
            </a:r>
            <a:endParaRPr lang="en-US"/>
          </a:p>
        </p:txBody>
      </p:sp>
      <p:sp>
        <p:nvSpPr>
          <p:cNvPr id="5" name="Text Placeholder 4">
            <a:extLst>
              <a:ext uri="{FF2B5EF4-FFF2-40B4-BE49-F238E27FC236}">
                <a16:creationId xmlns:a16="http://schemas.microsoft.com/office/drawing/2014/main" id="{245815A4-E035-7F4D-8C87-E50C04176350}"/>
              </a:ext>
            </a:extLst>
          </p:cNvPr>
          <p:cNvSpPr>
            <a:spLocks noGrp="1"/>
          </p:cNvSpPr>
          <p:nvPr>
            <p:ph type="body" sz="quarter" idx="10" hasCustomPrompt="1"/>
          </p:nvPr>
        </p:nvSpPr>
        <p:spPr>
          <a:xfrm>
            <a:off x="7160895" y="4121230"/>
            <a:ext cx="1507332" cy="276999"/>
          </a:xfrm>
          <a:prstGeom prst="rect">
            <a:avLst/>
          </a:prstGeom>
        </p:spPr>
        <p:txBody>
          <a:bodyPr wrap="square" anchor="t">
            <a:spAutoFit/>
          </a:bodyPr>
          <a:lstStyle>
            <a:lvl1pPr marL="0" indent="0" algn="r">
              <a:lnSpc>
                <a:spcPct val="100000"/>
              </a:lnSpc>
              <a:buNone/>
              <a:defRPr sz="1200">
                <a:solidFill>
                  <a:schemeClr val="tx1"/>
                </a:solidFill>
                <a:latin typeface="+mn-lt"/>
              </a:defRPr>
            </a:lvl1pPr>
            <a:lvl2pPr marL="342900" indent="0">
              <a:buNone/>
              <a:defRPr sz="1200">
                <a:solidFill>
                  <a:schemeClr val="tx1"/>
                </a:solidFill>
              </a:defRPr>
            </a:lvl2pPr>
            <a:lvl3pPr marL="685800" indent="0">
              <a:buNone/>
              <a:defRPr sz="1200">
                <a:solidFill>
                  <a:schemeClr val="tx1"/>
                </a:solidFill>
              </a:defRPr>
            </a:lvl3pPr>
            <a:lvl4pPr marL="1028700" indent="0">
              <a:buNone/>
              <a:defRPr sz="1200">
                <a:solidFill>
                  <a:schemeClr val="tx1"/>
                </a:solidFill>
              </a:defRPr>
            </a:lvl4pPr>
            <a:lvl5pPr marL="1371600" indent="0">
              <a:buNone/>
              <a:defRPr sz="1200">
                <a:solidFill>
                  <a:schemeClr val="tx1"/>
                </a:solidFill>
              </a:defRPr>
            </a:lvl5pPr>
          </a:lstStyle>
          <a:p>
            <a:pPr lvl="0"/>
            <a:r>
              <a:rPr lang="en-GB"/>
              <a:t>Date</a:t>
            </a:r>
          </a:p>
        </p:txBody>
      </p:sp>
    </p:spTree>
    <p:extLst>
      <p:ext uri="{BB962C8B-B14F-4D97-AF65-F5344CB8AC3E}">
        <p14:creationId xmlns:p14="http://schemas.microsoft.com/office/powerpoint/2010/main" val="103396812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2_Title Slide with Client Logo">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435476" y="1704156"/>
            <a:ext cx="6725414" cy="2423741"/>
          </a:xfrm>
          <a:prstGeom prst="rect">
            <a:avLst/>
          </a:prstGeom>
        </p:spPr>
        <p:txBody>
          <a:bodyPr wrap="square" anchor="b">
            <a:spAutoFit/>
          </a:bodyPr>
          <a:lstStyle>
            <a:lvl1pPr algn="l">
              <a:lnSpc>
                <a:spcPct val="100000"/>
              </a:lnSpc>
              <a:defRPr sz="51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480902" y="4127896"/>
            <a:ext cx="2877741" cy="276999"/>
          </a:xfrm>
          <a:prstGeom prst="rect">
            <a:avLst/>
          </a:prstGeom>
        </p:spPr>
        <p:txBody>
          <a:bodyPr anchor="t">
            <a:spAutoFit/>
          </a:bodyPr>
          <a:lstStyle>
            <a:lvl1pPr marL="0" indent="0" algn="l">
              <a:lnSpc>
                <a:spcPct val="100000"/>
              </a:lnSpc>
              <a:buNone/>
              <a:defRPr sz="1200">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Name of Presenter</a:t>
            </a:r>
            <a:endParaRPr lang="en-US"/>
          </a:p>
        </p:txBody>
      </p:sp>
      <p:cxnSp>
        <p:nvCxnSpPr>
          <p:cNvPr id="11" name="Straight Connector 10">
            <a:extLst>
              <a:ext uri="{FF2B5EF4-FFF2-40B4-BE49-F238E27FC236}">
                <a16:creationId xmlns:a16="http://schemas.microsoft.com/office/drawing/2014/main" id="{F23CED41-AC3E-944C-B524-BE6E0EC53EFC}"/>
              </a:ext>
            </a:extLst>
          </p:cNvPr>
          <p:cNvCxnSpPr>
            <a:cxnSpLocks/>
          </p:cNvCxnSpPr>
          <p:nvPr/>
        </p:nvCxnSpPr>
        <p:spPr>
          <a:xfrm>
            <a:off x="2019487" y="397889"/>
            <a:ext cx="0" cy="643689"/>
          </a:xfrm>
          <a:prstGeom prst="line">
            <a:avLst/>
          </a:prstGeom>
          <a:ln w="9525">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0AAB1E61-30C6-4D8B-9EBE-1DA0C53AA45D}"/>
              </a:ext>
            </a:extLst>
          </p:cNvPr>
          <p:cNvSpPr>
            <a:spLocks noGrp="1"/>
          </p:cNvSpPr>
          <p:nvPr>
            <p:ph type="body" sz="quarter" idx="11" hasCustomPrompt="1"/>
          </p:nvPr>
        </p:nvSpPr>
        <p:spPr>
          <a:xfrm>
            <a:off x="2193864" y="582930"/>
            <a:ext cx="1562256" cy="384158"/>
          </a:xfrm>
          <a:prstGeom prst="rect">
            <a:avLst/>
          </a:prstGeom>
        </p:spPr>
        <p:txBody>
          <a:bodyPr anchor="b">
            <a:noAutofit/>
          </a:bodyPr>
          <a:lstStyle>
            <a:lvl1pPr marL="0" indent="0">
              <a:lnSpc>
                <a:spcPct val="100000"/>
              </a:lnSpc>
              <a:buNone/>
              <a:defRPr sz="1050">
                <a:solidFill>
                  <a:schemeClr val="bg1">
                    <a:lumMod val="65000"/>
                  </a:schemeClr>
                </a:solidFill>
              </a:defRPr>
            </a:lvl1pPr>
            <a:lvl5pPr marL="1371600" indent="0">
              <a:buNone/>
              <a:defRPr sz="825"/>
            </a:lvl5pPr>
          </a:lstStyle>
          <a:p>
            <a:pPr lvl="0"/>
            <a:r>
              <a:rPr lang="en-US"/>
              <a:t>Client Logo</a:t>
            </a:r>
          </a:p>
        </p:txBody>
      </p:sp>
      <p:sp>
        <p:nvSpPr>
          <p:cNvPr id="7" name="Text Placeholder 4">
            <a:extLst>
              <a:ext uri="{FF2B5EF4-FFF2-40B4-BE49-F238E27FC236}">
                <a16:creationId xmlns:a16="http://schemas.microsoft.com/office/drawing/2014/main" id="{9F24038D-4B97-4707-91F9-AD8FF199B6EC}"/>
              </a:ext>
            </a:extLst>
          </p:cNvPr>
          <p:cNvSpPr>
            <a:spLocks noGrp="1"/>
          </p:cNvSpPr>
          <p:nvPr>
            <p:ph type="body" sz="quarter" idx="10" hasCustomPrompt="1"/>
          </p:nvPr>
        </p:nvSpPr>
        <p:spPr>
          <a:xfrm>
            <a:off x="7160895" y="4121230"/>
            <a:ext cx="1507332" cy="276999"/>
          </a:xfrm>
          <a:prstGeom prst="rect">
            <a:avLst/>
          </a:prstGeom>
        </p:spPr>
        <p:txBody>
          <a:bodyPr wrap="square" anchor="t">
            <a:spAutoFit/>
          </a:bodyPr>
          <a:lstStyle>
            <a:lvl1pPr marL="0" indent="0" algn="r">
              <a:lnSpc>
                <a:spcPct val="100000"/>
              </a:lnSpc>
              <a:buNone/>
              <a:defRPr sz="1200">
                <a:solidFill>
                  <a:schemeClr val="tx1"/>
                </a:solidFill>
                <a:latin typeface="+mn-lt"/>
              </a:defRPr>
            </a:lvl1pPr>
            <a:lvl2pPr marL="342900" indent="0">
              <a:buNone/>
              <a:defRPr sz="1200">
                <a:solidFill>
                  <a:schemeClr val="tx1"/>
                </a:solidFill>
              </a:defRPr>
            </a:lvl2pPr>
            <a:lvl3pPr marL="685800" indent="0">
              <a:buNone/>
              <a:defRPr sz="1200">
                <a:solidFill>
                  <a:schemeClr val="tx1"/>
                </a:solidFill>
              </a:defRPr>
            </a:lvl3pPr>
            <a:lvl4pPr marL="1028700" indent="0">
              <a:buNone/>
              <a:defRPr sz="1200">
                <a:solidFill>
                  <a:schemeClr val="tx1"/>
                </a:solidFill>
              </a:defRPr>
            </a:lvl4pPr>
            <a:lvl5pPr marL="1371600" indent="0">
              <a:buNone/>
              <a:defRPr sz="1200">
                <a:solidFill>
                  <a:schemeClr val="tx1"/>
                </a:solidFill>
              </a:defRPr>
            </a:lvl5pPr>
          </a:lstStyle>
          <a:p>
            <a:pPr lvl="0"/>
            <a:r>
              <a:rPr lang="en-GB"/>
              <a:t>Date</a:t>
            </a:r>
          </a:p>
        </p:txBody>
      </p:sp>
    </p:spTree>
    <p:extLst>
      <p:ext uri="{BB962C8B-B14F-4D97-AF65-F5344CB8AC3E}">
        <p14:creationId xmlns:p14="http://schemas.microsoft.com/office/powerpoint/2010/main" val="330881379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E15A25E-3D3F-41FA-B15D-E04C54F8F517}"/>
              </a:ext>
            </a:extLst>
          </p:cNvPr>
          <p:cNvSpPr>
            <a:spLocks noGrp="1"/>
          </p:cNvSpPr>
          <p:nvPr>
            <p:ph type="title"/>
          </p:nvPr>
        </p:nvSpPr>
        <p:spPr>
          <a:xfrm>
            <a:off x="454023" y="373999"/>
            <a:ext cx="8141098" cy="507831"/>
          </a:xfrm>
          <a:prstGeom prst="rect">
            <a:avLst/>
          </a:prstGeom>
        </p:spPr>
        <p:txBody>
          <a:bodyPr wrap="square">
            <a:spAutoFit/>
          </a:bodyPr>
          <a:lstStyle>
            <a:lvl1pPr>
              <a:lnSpc>
                <a:spcPct val="100000"/>
              </a:lnSpc>
              <a:defRPr lang="en-IN" sz="2700" b="1" i="0">
                <a:solidFill>
                  <a:schemeClr val="tx1"/>
                </a:solidFill>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332988045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 Grey bkgd.">
    <p:bg>
      <p:bgPr>
        <a:solidFill>
          <a:schemeClr val="bg2">
            <a:alpha val="4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DF0FA55-B6BE-461E-BEAB-DB74A01BEB0A}"/>
              </a:ext>
            </a:extLst>
          </p:cNvPr>
          <p:cNvSpPr>
            <a:spLocks noGrp="1"/>
          </p:cNvSpPr>
          <p:nvPr>
            <p:ph type="title"/>
          </p:nvPr>
        </p:nvSpPr>
        <p:spPr>
          <a:xfrm>
            <a:off x="454023" y="373999"/>
            <a:ext cx="8141098" cy="507831"/>
          </a:xfrm>
          <a:prstGeom prst="rect">
            <a:avLst/>
          </a:prstGeom>
        </p:spPr>
        <p:txBody>
          <a:bodyPr wrap="square">
            <a:spAutoFit/>
          </a:bodyPr>
          <a:lstStyle>
            <a:lvl1pPr>
              <a:lnSpc>
                <a:spcPct val="100000"/>
              </a:lnSpc>
              <a:defRPr lang="en-IN" sz="270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200452691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 Grey bkgd.+card">
    <p:bg>
      <p:bgPr>
        <a:solidFill>
          <a:schemeClr val="bg2">
            <a:alpha val="40000"/>
          </a:schemeClr>
        </a:solidFill>
        <a:effectLst/>
      </p:bgPr>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98D64106-CBF3-1D40-B902-CBFCE2BFBCC7}"/>
              </a:ext>
            </a:extLst>
          </p:cNvPr>
          <p:cNvSpPr/>
          <p:nvPr/>
        </p:nvSpPr>
        <p:spPr>
          <a:xfrm>
            <a:off x="550533" y="1006079"/>
            <a:ext cx="8044589" cy="3654028"/>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5" name="Title 4">
            <a:extLst>
              <a:ext uri="{FF2B5EF4-FFF2-40B4-BE49-F238E27FC236}">
                <a16:creationId xmlns:a16="http://schemas.microsoft.com/office/drawing/2014/main" id="{24EBA0A8-B7FE-4B35-9932-D5F8C2C04171}"/>
              </a:ext>
            </a:extLst>
          </p:cNvPr>
          <p:cNvSpPr>
            <a:spLocks noGrp="1"/>
          </p:cNvSpPr>
          <p:nvPr>
            <p:ph type="title"/>
          </p:nvPr>
        </p:nvSpPr>
        <p:spPr>
          <a:xfrm>
            <a:off x="453600" y="375300"/>
            <a:ext cx="8140500" cy="577081"/>
          </a:xfrm>
          <a:prstGeom prst="rect">
            <a:avLst/>
          </a:prstGeom>
        </p:spPr>
        <p:txBody>
          <a:bodyPr>
            <a:spAutoFit/>
          </a:bodyPr>
          <a:lstStyle>
            <a:lvl1pPr>
              <a:lnSpc>
                <a:spcPct val="100000"/>
              </a:lnSpc>
              <a:defRPr sz="3150" b="1">
                <a:latin typeface="+mj-lt"/>
              </a:defRPr>
            </a:lvl1pPr>
          </a:lstStyle>
          <a:p>
            <a:r>
              <a:rPr lang="en-GB"/>
              <a:t>Click to edit Master title style</a:t>
            </a:r>
            <a:endParaRPr lang="en-IN"/>
          </a:p>
        </p:txBody>
      </p:sp>
    </p:spTree>
    <p:extLst>
      <p:ext uri="{BB962C8B-B14F-4D97-AF65-F5344CB8AC3E}">
        <p14:creationId xmlns:p14="http://schemas.microsoft.com/office/powerpoint/2010/main" val="119642026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Title + Grey bkgd.+grid">
    <p:bg>
      <p:bgPr>
        <a:solidFill>
          <a:schemeClr val="bg2">
            <a:alpha val="4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4EBA0A8-B7FE-4B35-9932-D5F8C2C04171}"/>
              </a:ext>
            </a:extLst>
          </p:cNvPr>
          <p:cNvSpPr>
            <a:spLocks noGrp="1"/>
          </p:cNvSpPr>
          <p:nvPr>
            <p:ph type="title"/>
          </p:nvPr>
        </p:nvSpPr>
        <p:spPr>
          <a:xfrm>
            <a:off x="453600" y="375300"/>
            <a:ext cx="8140500" cy="577081"/>
          </a:xfrm>
          <a:prstGeom prst="rect">
            <a:avLst/>
          </a:prstGeom>
        </p:spPr>
        <p:txBody>
          <a:bodyPr>
            <a:spAutoFit/>
          </a:bodyPr>
          <a:lstStyle>
            <a:lvl1pPr>
              <a:lnSpc>
                <a:spcPct val="100000"/>
              </a:lnSpc>
              <a:defRPr sz="3150" b="1">
                <a:latin typeface="+mj-lt"/>
              </a:defRPr>
            </a:lvl1pPr>
          </a:lstStyle>
          <a:p>
            <a:r>
              <a:rPr lang="en-GB"/>
              <a:t>Click to edit Master title style</a:t>
            </a:r>
            <a:endParaRPr lang="en-IN"/>
          </a:p>
        </p:txBody>
      </p:sp>
      <p:pic>
        <p:nvPicPr>
          <p:cNvPr id="4" name="Graphic 3">
            <a:extLst>
              <a:ext uri="{FF2B5EF4-FFF2-40B4-BE49-F238E27FC236}">
                <a16:creationId xmlns:a16="http://schemas.microsoft.com/office/drawing/2014/main" id="{150FC115-50C9-314C-A766-9B8B69B08C4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82703602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numbered">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BE13E168-390E-7242-8BD5-63BC8E951285}"/>
              </a:ext>
            </a:extLst>
          </p:cNvPr>
          <p:cNvSpPr>
            <a:spLocks noGrp="1"/>
          </p:cNvSpPr>
          <p:nvPr>
            <p:ph type="body" sz="quarter" idx="15" hasCustomPrompt="1"/>
          </p:nvPr>
        </p:nvSpPr>
        <p:spPr>
          <a:xfrm>
            <a:off x="533400" y="1099165"/>
            <a:ext cx="348523" cy="3251660"/>
          </a:xfrm>
          <a:prstGeom prst="rect">
            <a:avLst/>
          </a:prstGeom>
        </p:spPr>
        <p:txBody>
          <a:bodyPr vert="horz" lIns="0" tIns="0" rIns="0" bIns="93600" anchor="t" anchorCtr="0">
            <a:spAutoFit/>
          </a:bodyPr>
          <a:lstStyle>
            <a:lvl1pPr marL="0" indent="0">
              <a:lnSpc>
                <a:spcPts val="3600"/>
              </a:lnSpc>
              <a:spcBef>
                <a:spcPts val="0"/>
              </a:spcBef>
              <a:buNone/>
              <a:defRPr sz="1950" b="1" i="0">
                <a:solidFill>
                  <a:schemeClr val="accent2"/>
                </a:solidFill>
                <a:latin typeface="+mn-lt"/>
                <a:ea typeface="Open Sans" panose="020B0606030504020204" pitchFamily="34" charset="0"/>
                <a:cs typeface="Open Sans" panose="020B0606030504020204" pitchFamily="34" charset="0"/>
              </a:defRPr>
            </a:lvl1pPr>
          </a:lstStyle>
          <a:p>
            <a:pPr lvl="0"/>
            <a:r>
              <a:rPr lang="en-US"/>
              <a:t>01</a:t>
            </a:r>
          </a:p>
          <a:p>
            <a:pPr lvl="0"/>
            <a:r>
              <a:rPr lang="en-US"/>
              <a:t>02</a:t>
            </a:r>
          </a:p>
          <a:p>
            <a:pPr lvl="0"/>
            <a:r>
              <a:rPr lang="en-US"/>
              <a:t>03</a:t>
            </a:r>
          </a:p>
          <a:p>
            <a:pPr lvl="0"/>
            <a:r>
              <a:rPr lang="en-US"/>
              <a:t>04</a:t>
            </a:r>
          </a:p>
          <a:p>
            <a:pPr lvl="0"/>
            <a:r>
              <a:rPr lang="en-US"/>
              <a:t>05</a:t>
            </a:r>
          </a:p>
          <a:p>
            <a:pPr lvl="0"/>
            <a:r>
              <a:rPr lang="en-US"/>
              <a:t>06</a:t>
            </a:r>
          </a:p>
          <a:p>
            <a:pPr lvl="0"/>
            <a:r>
              <a:rPr lang="en-US"/>
              <a:t>07</a:t>
            </a:r>
          </a:p>
        </p:txBody>
      </p:sp>
      <p:sp>
        <p:nvSpPr>
          <p:cNvPr id="15" name="Text Placeholder 14">
            <a:extLst>
              <a:ext uri="{FF2B5EF4-FFF2-40B4-BE49-F238E27FC236}">
                <a16:creationId xmlns:a16="http://schemas.microsoft.com/office/drawing/2014/main" id="{9275958B-037F-624D-A93F-C5B2538CEBF0}"/>
              </a:ext>
            </a:extLst>
          </p:cNvPr>
          <p:cNvSpPr>
            <a:spLocks noGrp="1"/>
          </p:cNvSpPr>
          <p:nvPr>
            <p:ph type="body" sz="quarter" idx="17" hasCustomPrompt="1"/>
          </p:nvPr>
        </p:nvSpPr>
        <p:spPr>
          <a:xfrm>
            <a:off x="1124902" y="1099164"/>
            <a:ext cx="7470220" cy="3275321"/>
          </a:xfrm>
          <a:prstGeom prst="rect">
            <a:avLst/>
          </a:prstGeom>
        </p:spPr>
        <p:txBody>
          <a:bodyPr vert="horz" lIns="0" tIns="0" rIns="0" bIns="93600" anchor="t" anchorCtr="0">
            <a:spAutoFit/>
          </a:bodyPr>
          <a:lstStyle>
            <a:lvl1pPr marL="0" marR="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sz="1950" b="0" i="0">
                <a:solidFill>
                  <a:schemeClr val="tx1"/>
                </a:solidFill>
                <a:latin typeface="+mn-lt"/>
                <a:ea typeface="Open Sans" panose="020B0606030504020204" pitchFamily="34" charset="0"/>
                <a:cs typeface="Open Sans" panose="020B0606030504020204" pitchFamily="34" charset="0"/>
              </a:defRPr>
            </a:lvl1pPr>
          </a:lstStyle>
          <a:p>
            <a:pPr lvl="0"/>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p:txBody>
      </p:sp>
      <p:sp>
        <p:nvSpPr>
          <p:cNvPr id="4" name="Title 3">
            <a:extLst>
              <a:ext uri="{FF2B5EF4-FFF2-40B4-BE49-F238E27FC236}">
                <a16:creationId xmlns:a16="http://schemas.microsoft.com/office/drawing/2014/main" id="{2E0149FA-9A01-4DA3-AC47-C5D005EB841B}"/>
              </a:ext>
            </a:extLst>
          </p:cNvPr>
          <p:cNvSpPr>
            <a:spLocks noGrp="1"/>
          </p:cNvSpPr>
          <p:nvPr>
            <p:ph type="title"/>
          </p:nvPr>
        </p:nvSpPr>
        <p:spPr>
          <a:xfrm>
            <a:off x="453600" y="375300"/>
            <a:ext cx="8140500" cy="577081"/>
          </a:xfrm>
          <a:prstGeom prst="rect">
            <a:avLst/>
          </a:prstGeom>
          <a:noFill/>
        </p:spPr>
        <p:txBody>
          <a:bodyPr>
            <a:spAutoFit/>
          </a:bodyPr>
          <a:lstStyle>
            <a:lvl1pPr>
              <a:lnSpc>
                <a:spcPct val="100000"/>
              </a:lnSpc>
              <a:defRPr sz="3150" b="1">
                <a:latin typeface="+mn-lt"/>
              </a:defRPr>
            </a:lvl1pPr>
          </a:lstStyle>
          <a:p>
            <a:r>
              <a:rPr lang="en-GB"/>
              <a:t>Click to edit Master title style</a:t>
            </a:r>
            <a:endParaRPr lang="en-IN"/>
          </a:p>
        </p:txBody>
      </p:sp>
    </p:spTree>
    <p:extLst>
      <p:ext uri="{BB962C8B-B14F-4D97-AF65-F5344CB8AC3E}">
        <p14:creationId xmlns:p14="http://schemas.microsoft.com/office/powerpoint/2010/main" val="86377644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with Time">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BE13E168-390E-7242-8BD5-63BC8E951285}"/>
              </a:ext>
            </a:extLst>
          </p:cNvPr>
          <p:cNvSpPr>
            <a:spLocks noGrp="1"/>
          </p:cNvSpPr>
          <p:nvPr>
            <p:ph type="body" sz="quarter" idx="15" hasCustomPrompt="1"/>
          </p:nvPr>
        </p:nvSpPr>
        <p:spPr>
          <a:xfrm>
            <a:off x="533400" y="1099164"/>
            <a:ext cx="807027" cy="3275321"/>
          </a:xfrm>
          <a:prstGeom prst="rect">
            <a:avLst/>
          </a:prstGeom>
        </p:spPr>
        <p:txBody>
          <a:bodyPr vert="horz" lIns="0" tIns="0" rIns="0" bIns="93600" anchor="t" anchorCtr="0">
            <a:spAutoFit/>
          </a:bodyPr>
          <a:lstStyle>
            <a:lvl1pPr marL="0" marR="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sz="1950" b="1" i="0">
                <a:solidFill>
                  <a:schemeClr val="accent2"/>
                </a:solidFill>
                <a:latin typeface="+mn-lt"/>
                <a:ea typeface="Open Sans" panose="020B0606030504020204" pitchFamily="34" charset="0"/>
                <a:cs typeface="Open Sans" panose="020B0606030504020204" pitchFamily="34" charset="0"/>
              </a:defRPr>
            </a:lvl1pPr>
          </a:lstStyle>
          <a:p>
            <a:pPr lvl="0"/>
            <a:r>
              <a:rPr lang="en-US"/>
              <a:t>00.00</a:t>
            </a:r>
          </a:p>
          <a:p>
            <a:pPr lvl="0"/>
            <a:r>
              <a:rPr lang="en-US"/>
              <a:t>00.00</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00.00</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00.00</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00.00</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00.00</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00.00</a:t>
            </a:r>
          </a:p>
        </p:txBody>
      </p:sp>
      <p:sp>
        <p:nvSpPr>
          <p:cNvPr id="12" name="Text Placeholder 14">
            <a:extLst>
              <a:ext uri="{FF2B5EF4-FFF2-40B4-BE49-F238E27FC236}">
                <a16:creationId xmlns:a16="http://schemas.microsoft.com/office/drawing/2014/main" id="{6CFFBF5E-8958-F744-93AB-76138CD6654E}"/>
              </a:ext>
            </a:extLst>
          </p:cNvPr>
          <p:cNvSpPr>
            <a:spLocks noGrp="1"/>
          </p:cNvSpPr>
          <p:nvPr>
            <p:ph type="body" sz="quarter" idx="19" hasCustomPrompt="1"/>
          </p:nvPr>
        </p:nvSpPr>
        <p:spPr>
          <a:xfrm>
            <a:off x="1512829" y="1099164"/>
            <a:ext cx="7097771" cy="3275321"/>
          </a:xfrm>
          <a:prstGeom prst="rect">
            <a:avLst/>
          </a:prstGeom>
        </p:spPr>
        <p:txBody>
          <a:bodyPr vert="horz" wrap="square" lIns="0" tIns="0" rIns="0" bIns="93600" anchor="t" anchorCtr="0">
            <a:spAutoFit/>
          </a:bodyPr>
          <a:lstStyle>
            <a:lvl1pPr marL="0" marR="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sz="1950" b="0" i="0">
                <a:solidFill>
                  <a:schemeClr val="tx1"/>
                </a:solidFill>
                <a:latin typeface="+mn-lt"/>
                <a:ea typeface="Open Sans" panose="020B0606030504020204" pitchFamily="34" charset="0"/>
                <a:cs typeface="Open Sans" panose="020B0606030504020204" pitchFamily="34" charset="0"/>
              </a:defRPr>
            </a:lvl1pPr>
          </a:lstStyle>
          <a:p>
            <a:pPr lvl="0"/>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685800" rtl="0" eaLnBrk="1" fontAlgn="auto" latinLnBrk="0" hangingPunct="1">
              <a:lnSpc>
                <a:spcPts val="3600"/>
              </a:lnSpc>
              <a:spcBef>
                <a:spcPts val="0"/>
              </a:spcBef>
              <a:spcAft>
                <a:spcPts val="0"/>
              </a:spcAft>
              <a:buClrTx/>
              <a:buSzTx/>
              <a:buFont typeface="Arial" panose="020B0604020202020204" pitchFamily="34" charset="0"/>
              <a:buNone/>
              <a:tabLst/>
              <a:defRPr/>
            </a:pPr>
            <a:r>
              <a:rPr lang="en-US"/>
              <a:t>Short Content Description</a:t>
            </a:r>
          </a:p>
        </p:txBody>
      </p:sp>
      <p:sp>
        <p:nvSpPr>
          <p:cNvPr id="2" name="Title 1">
            <a:extLst>
              <a:ext uri="{FF2B5EF4-FFF2-40B4-BE49-F238E27FC236}">
                <a16:creationId xmlns:a16="http://schemas.microsoft.com/office/drawing/2014/main" id="{3C00D4FC-75AD-41AC-9F2F-072B1ABBFC8E}"/>
              </a:ext>
            </a:extLst>
          </p:cNvPr>
          <p:cNvSpPr>
            <a:spLocks noGrp="1"/>
          </p:cNvSpPr>
          <p:nvPr>
            <p:ph type="title"/>
          </p:nvPr>
        </p:nvSpPr>
        <p:spPr>
          <a:xfrm>
            <a:off x="453600" y="375300"/>
            <a:ext cx="8157000" cy="577081"/>
          </a:xfrm>
          <a:prstGeom prst="rect">
            <a:avLst/>
          </a:prstGeom>
        </p:spPr>
        <p:txBody>
          <a:bodyPr wrap="square">
            <a:spAutoFit/>
          </a:bodyPr>
          <a:lstStyle>
            <a:lvl1pPr>
              <a:lnSpc>
                <a:spcPct val="100000"/>
              </a:lnSpc>
              <a:defRPr sz="3150" b="1">
                <a:latin typeface="+mn-lt"/>
              </a:defRPr>
            </a:lvl1pPr>
          </a:lstStyle>
          <a:p>
            <a:r>
              <a:rPr lang="en-GB"/>
              <a:t>Click to edit Master title style</a:t>
            </a:r>
            <a:endParaRPr lang="en-IN"/>
          </a:p>
        </p:txBody>
      </p:sp>
    </p:spTree>
    <p:extLst>
      <p:ext uri="{BB962C8B-B14F-4D97-AF65-F5344CB8AC3E}">
        <p14:creationId xmlns:p14="http://schemas.microsoft.com/office/powerpoint/2010/main" val="57783930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hort content + title + body ">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547789" y="3277790"/>
            <a:ext cx="7566422" cy="184666"/>
          </a:xfrm>
          <a:prstGeom prst="rect">
            <a:avLst/>
          </a:prstGeom>
        </p:spPr>
        <p:txBody>
          <a:bodyPr lIns="0" tIns="0" rIns="0" bIns="0" anchor="t" anchorCtr="0">
            <a:spAutoFit/>
          </a:bodyPr>
          <a:lstStyle>
            <a:lvl1pPr marL="0" indent="0">
              <a:buNone/>
              <a:defRPr lang="en-US" sz="1200" b="0" spc="0" baseline="0" dirty="0">
                <a:latin typeface="+mn-lt"/>
                <a:ea typeface="Open Sans" panose="020B0606030504020204" pitchFamily="34" charset="0"/>
                <a:cs typeface="Open Sans" panose="020B0606030504020204" pitchFamily="34" charset="0"/>
              </a:defRPr>
            </a:lvl1pPr>
          </a:lstStyle>
          <a:p>
            <a:pPr marL="171450" lvl="0" indent="-171450">
              <a:lnSpc>
                <a:spcPct val="100000"/>
              </a:lnSpc>
              <a:spcBef>
                <a:spcPct val="0"/>
              </a:spcBef>
            </a:pPr>
            <a:r>
              <a:rPr lang="en-GB"/>
              <a:t>Short description in three of four lines maximum. Any highlighting to be done in bold or blue</a:t>
            </a:r>
            <a:endParaRPr lang="en-US"/>
          </a:p>
        </p:txBody>
      </p:sp>
      <p:sp>
        <p:nvSpPr>
          <p:cNvPr id="11" name="Text Placeholder 14">
            <a:extLst>
              <a:ext uri="{FF2B5EF4-FFF2-40B4-BE49-F238E27FC236}">
                <a16:creationId xmlns:a16="http://schemas.microsoft.com/office/drawing/2014/main" id="{FC81E2E5-E3CC-D749-8B2B-49ABC850A674}"/>
              </a:ext>
            </a:extLst>
          </p:cNvPr>
          <p:cNvSpPr>
            <a:spLocks noGrp="1"/>
          </p:cNvSpPr>
          <p:nvPr>
            <p:ph type="body" sz="quarter" idx="15" hasCustomPrompt="1"/>
          </p:nvPr>
        </p:nvSpPr>
        <p:spPr>
          <a:xfrm>
            <a:off x="547789" y="483518"/>
            <a:ext cx="7480596" cy="394596"/>
          </a:xfrm>
          <a:prstGeom prst="rect">
            <a:avLst/>
          </a:prstGeom>
        </p:spPr>
        <p:txBody>
          <a:bodyPr vert="horz" lIns="0" tIns="0" rIns="0" bIns="93600" anchor="t" anchorCtr="0">
            <a:spAutoFit/>
          </a:bodyPr>
          <a:lstStyle>
            <a:lvl1pPr marL="0" marR="0" indent="0" algn="l" defTabSz="457189" rtl="0" eaLnBrk="1" fontAlgn="auto" latinLnBrk="0" hangingPunct="1">
              <a:lnSpc>
                <a:spcPct val="100000"/>
              </a:lnSpc>
              <a:spcBef>
                <a:spcPts val="0"/>
              </a:spcBef>
              <a:spcAft>
                <a:spcPts val="0"/>
              </a:spcAft>
              <a:buClrTx/>
              <a:buSzTx/>
              <a:buFont typeface="Arial"/>
              <a:buNone/>
              <a:tabLst/>
              <a:defRPr sz="1950" b="0" i="0" baseline="0">
                <a:solidFill>
                  <a:schemeClr val="tx1"/>
                </a:solidFill>
                <a:latin typeface="+mn-lt"/>
                <a:ea typeface="Open Sans" panose="020B0606030504020204" pitchFamily="34" charset="0"/>
                <a:cs typeface="Open Sans" panose="020B0606030504020204" pitchFamily="34" charset="0"/>
              </a:defRPr>
            </a:lvl1pPr>
          </a:lstStyle>
          <a:p>
            <a:pPr lvl="0"/>
            <a:r>
              <a:rPr lang="en-US"/>
              <a:t>01 | Short content description</a:t>
            </a:r>
          </a:p>
        </p:txBody>
      </p:sp>
      <p:sp>
        <p:nvSpPr>
          <p:cNvPr id="15" name="Titel 7">
            <a:extLst>
              <a:ext uri="{FF2B5EF4-FFF2-40B4-BE49-F238E27FC236}">
                <a16:creationId xmlns:a16="http://schemas.microsoft.com/office/drawing/2014/main" id="{33509BAD-7366-6C49-9E01-5F193794089A}"/>
              </a:ext>
            </a:extLst>
          </p:cNvPr>
          <p:cNvSpPr>
            <a:spLocks noGrp="1"/>
          </p:cNvSpPr>
          <p:nvPr>
            <p:ph type="title" hasCustomPrompt="1"/>
          </p:nvPr>
        </p:nvSpPr>
        <p:spPr>
          <a:xfrm>
            <a:off x="547789" y="1677110"/>
            <a:ext cx="7480596" cy="1454244"/>
          </a:xfrm>
          <a:prstGeom prst="rect">
            <a:avLst/>
          </a:prstGeom>
        </p:spPr>
        <p:txBody>
          <a:bodyPr lIns="0" tIns="0" rIns="0" bIns="0" anchor="t" anchorCtr="0">
            <a:spAutoFit/>
          </a:bodyPr>
          <a:lstStyle>
            <a:lvl1pPr algn="l">
              <a:lnSpc>
                <a:spcPct val="100000"/>
              </a:lnSpc>
              <a:defRPr sz="3150" b="1" i="0" spc="0" baseline="0">
                <a:solidFill>
                  <a:schemeClr val="tx1"/>
                </a:solidFill>
                <a:latin typeface="+mn-lt"/>
                <a:ea typeface="Open Sans" panose="020B0606030504020204" pitchFamily="34" charset="0"/>
                <a:cs typeface="Open Sans" panose="020B0606030504020204" pitchFamily="34" charset="0"/>
              </a:defRPr>
            </a:lvl1pPr>
          </a:lstStyle>
          <a:p>
            <a:pPr lvl="0"/>
            <a:r>
              <a:rPr lang="en-GB"/>
              <a:t>A Long Title that fits in maximum three lines. This can have insights or call-outs </a:t>
            </a:r>
          </a:p>
        </p:txBody>
      </p:sp>
    </p:spTree>
    <p:extLst>
      <p:ext uri="{BB962C8B-B14F-4D97-AF65-F5344CB8AC3E}">
        <p14:creationId xmlns:p14="http://schemas.microsoft.com/office/powerpoint/2010/main" val="153264207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Slide Numbered">
    <p:bg>
      <p:bgPr>
        <a:solidFill>
          <a:srgbClr val="FFC00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213300-E9A2-F949-9B8E-8CA529315D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0" name="Text Placeholder 9">
            <a:extLst>
              <a:ext uri="{FF2B5EF4-FFF2-40B4-BE49-F238E27FC236}">
                <a16:creationId xmlns:a16="http://schemas.microsoft.com/office/drawing/2014/main" id="{D5BB2DF0-100F-9842-A143-F7EB4F259A7C}"/>
              </a:ext>
            </a:extLst>
          </p:cNvPr>
          <p:cNvSpPr>
            <a:spLocks noGrp="1"/>
          </p:cNvSpPr>
          <p:nvPr>
            <p:ph type="body" sz="quarter" idx="12" hasCustomPrompt="1"/>
          </p:nvPr>
        </p:nvSpPr>
        <p:spPr>
          <a:xfrm>
            <a:off x="450850" y="1828444"/>
            <a:ext cx="1346200" cy="2631490"/>
          </a:xfrm>
          <a:prstGeom prst="rect">
            <a:avLst/>
          </a:prstGeom>
        </p:spPr>
        <p:txBody>
          <a:bodyPr anchor="b">
            <a:spAutoFit/>
          </a:bodyPr>
          <a:lstStyle>
            <a:lvl1pPr marL="0" indent="0">
              <a:lnSpc>
                <a:spcPct val="100000"/>
              </a:lnSpc>
              <a:buNone/>
              <a:defRPr sz="8250" b="1">
                <a:solidFill>
                  <a:schemeClr val="bg1"/>
                </a:solidFill>
                <a:latin typeface="+mn-lt"/>
              </a:defRPr>
            </a:lvl1pPr>
            <a:lvl2pPr>
              <a:defRPr sz="8250" b="1"/>
            </a:lvl2pPr>
            <a:lvl3pPr>
              <a:defRPr sz="8250" b="1"/>
            </a:lvl3pPr>
            <a:lvl4pPr>
              <a:defRPr sz="8250" b="1"/>
            </a:lvl4pPr>
            <a:lvl5pPr>
              <a:defRPr sz="8250" b="1"/>
            </a:lvl5pPr>
          </a:lstStyle>
          <a:p>
            <a:pPr lvl="0"/>
            <a:r>
              <a:rPr lang="en-GB"/>
              <a:t>00</a:t>
            </a:r>
            <a:endParaRPr lang="en-US"/>
          </a:p>
        </p:txBody>
      </p:sp>
      <p:sp>
        <p:nvSpPr>
          <p:cNvPr id="11" name="Title 1">
            <a:extLst>
              <a:ext uri="{FF2B5EF4-FFF2-40B4-BE49-F238E27FC236}">
                <a16:creationId xmlns:a16="http://schemas.microsoft.com/office/drawing/2014/main" id="{18FE2173-6A2C-48AB-A6E9-5E80F98BCAB4}"/>
              </a:ext>
            </a:extLst>
          </p:cNvPr>
          <p:cNvSpPr>
            <a:spLocks noGrp="1"/>
          </p:cNvSpPr>
          <p:nvPr>
            <p:ph type="title" hasCustomPrompt="1"/>
          </p:nvPr>
        </p:nvSpPr>
        <p:spPr>
          <a:xfrm>
            <a:off x="1797050" y="3233778"/>
            <a:ext cx="6798072" cy="1061829"/>
          </a:xfrm>
          <a:prstGeom prst="rect">
            <a:avLst/>
          </a:prstGeom>
        </p:spPr>
        <p:txBody>
          <a:bodyPr wrap="square" anchor="b">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US"/>
              <a:t>Slide Divider with Title in maximum two lines</a:t>
            </a:r>
          </a:p>
        </p:txBody>
      </p:sp>
    </p:spTree>
    <p:extLst>
      <p:ext uri="{BB962C8B-B14F-4D97-AF65-F5344CB8AC3E}">
        <p14:creationId xmlns:p14="http://schemas.microsoft.com/office/powerpoint/2010/main" val="162106946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 Image/Table + Body + Source/Footnot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39A8C-6D5F-4626-B41E-2A8AD11B2810}"/>
              </a:ext>
            </a:extLst>
          </p:cNvPr>
          <p:cNvSpPr>
            <a:spLocks noGrp="1"/>
          </p:cNvSpPr>
          <p:nvPr>
            <p:ph sz="quarter" idx="16"/>
          </p:nvPr>
        </p:nvSpPr>
        <p:spPr>
          <a:xfrm>
            <a:off x="533400" y="1225447"/>
            <a:ext cx="8053387" cy="2622654"/>
          </a:xfrm>
          <a:prstGeom prst="rect">
            <a:avLst/>
          </a:prstGeom>
        </p:spPr>
        <p:txBody>
          <a:bodyPr/>
          <a:lstStyle>
            <a:lvl1pPr>
              <a:lnSpc>
                <a:spcPct val="100000"/>
              </a:lnSpc>
              <a:spcBef>
                <a:spcPts val="450"/>
              </a:spcBef>
              <a:defRPr sz="1200"/>
            </a:lvl1pPr>
            <a:lvl2pPr marL="360760" indent="-171450">
              <a:lnSpc>
                <a:spcPct val="100000"/>
              </a:lnSpc>
              <a:spcBef>
                <a:spcPts val="450"/>
              </a:spcBef>
              <a:defRPr sz="1200"/>
            </a:lvl2pPr>
            <a:lvl3pPr marL="531019" indent="-171450">
              <a:lnSpc>
                <a:spcPct val="100000"/>
              </a:lnSpc>
              <a:spcBef>
                <a:spcPts val="450"/>
              </a:spcBef>
              <a:defRPr sz="1200"/>
            </a:lvl3pPr>
            <a:lvl4pPr marL="700088" indent="-171450">
              <a:lnSpc>
                <a:spcPct val="100000"/>
              </a:lnSpc>
              <a:spcBef>
                <a:spcPts val="450"/>
              </a:spcBef>
              <a:defRPr sz="1200"/>
            </a:lvl4pPr>
            <a:lvl5pPr marL="847725" indent="-171450">
              <a:lnSpc>
                <a:spcPct val="100000"/>
              </a:lnSpc>
              <a:spcBef>
                <a:spcPts val="450"/>
              </a:spcBef>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8" name="Title 1">
            <a:extLst>
              <a:ext uri="{FF2B5EF4-FFF2-40B4-BE49-F238E27FC236}">
                <a16:creationId xmlns:a16="http://schemas.microsoft.com/office/drawing/2014/main" id="{7CF5F585-89DC-47EB-9DB3-228A1E9F4374}"/>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5" name="Text Placeholder 2">
            <a:extLst>
              <a:ext uri="{FF2B5EF4-FFF2-40B4-BE49-F238E27FC236}">
                <a16:creationId xmlns:a16="http://schemas.microsoft.com/office/drawing/2014/main" id="{C994A5DE-F173-4441-94D5-B98F1DD1FBD0}"/>
              </a:ext>
            </a:extLst>
          </p:cNvPr>
          <p:cNvSpPr>
            <a:spLocks noGrp="1"/>
          </p:cNvSpPr>
          <p:nvPr>
            <p:ph type="body" sz="quarter" idx="13" hasCustomPrompt="1"/>
          </p:nvPr>
        </p:nvSpPr>
        <p:spPr>
          <a:xfrm>
            <a:off x="461962" y="4122468"/>
            <a:ext cx="7566422" cy="276999"/>
          </a:xfrm>
          <a:prstGeom prst="rect">
            <a:avLst/>
          </a:prstGeom>
        </p:spPr>
        <p:txBody>
          <a:bodyPr anchor="b">
            <a:spAutoFit/>
          </a:bodyPr>
          <a:lstStyle>
            <a:lvl1pPr marL="0" indent="0" algn="l">
              <a:lnSpc>
                <a:spcPct val="100000"/>
              </a:lnSpc>
              <a:buNone/>
              <a:defRPr sz="120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in two or three lines maximum. Any highlighting to be done in bold or blue</a:t>
            </a:r>
            <a:endParaRPr lang="en-US"/>
          </a:p>
        </p:txBody>
      </p:sp>
      <p:sp>
        <p:nvSpPr>
          <p:cNvPr id="6" name="Text Placeholder 2">
            <a:extLst>
              <a:ext uri="{FF2B5EF4-FFF2-40B4-BE49-F238E27FC236}">
                <a16:creationId xmlns:a16="http://schemas.microsoft.com/office/drawing/2014/main" id="{2543B27D-BDF0-4ACA-A351-6DBA1A4E22B3}"/>
              </a:ext>
            </a:extLst>
          </p:cNvPr>
          <p:cNvSpPr>
            <a:spLocks noGrp="1"/>
          </p:cNvSpPr>
          <p:nvPr>
            <p:ph type="body" sz="quarter" idx="17" hasCustomPrompt="1"/>
          </p:nvPr>
        </p:nvSpPr>
        <p:spPr>
          <a:xfrm>
            <a:off x="482598" y="4636364"/>
            <a:ext cx="8141495" cy="207749"/>
          </a:xfrm>
          <a:prstGeom prst="rect">
            <a:avLst/>
          </a:prstGeom>
        </p:spPr>
        <p:txBody>
          <a:bodyPr anchor="b" anchorCtr="0">
            <a:spAutoFit/>
          </a:bodyPr>
          <a:lstStyle>
            <a:lvl1pPr marL="0" indent="0">
              <a:lnSpc>
                <a:spcPct val="100000"/>
              </a:lnSpc>
              <a:spcBef>
                <a:spcPts val="0"/>
              </a:spcBef>
              <a:buNone/>
              <a:defRPr sz="750"/>
            </a:lvl1pPr>
            <a:lvl2pPr marL="342900" indent="0">
              <a:buNone/>
              <a:defRPr sz="750"/>
            </a:lvl2pPr>
            <a:lvl3pPr marL="685800" indent="0">
              <a:buNone/>
              <a:defRPr sz="750"/>
            </a:lvl3pPr>
            <a:lvl4pPr marL="1028700" indent="0">
              <a:buNone/>
              <a:defRPr sz="750"/>
            </a:lvl4pPr>
            <a:lvl5pPr marL="1371600" indent="0">
              <a:buNone/>
              <a:defRPr sz="750"/>
            </a:lvl5pPr>
          </a:lstStyle>
          <a:p>
            <a:pPr lvl="0"/>
            <a:r>
              <a:rPr lang="en-US"/>
              <a:t>Source:</a:t>
            </a:r>
            <a:endParaRPr lang="en-IN"/>
          </a:p>
        </p:txBody>
      </p:sp>
      <p:sp>
        <p:nvSpPr>
          <p:cNvPr id="7" name="Text Placeholder 2">
            <a:extLst>
              <a:ext uri="{FF2B5EF4-FFF2-40B4-BE49-F238E27FC236}">
                <a16:creationId xmlns:a16="http://schemas.microsoft.com/office/drawing/2014/main" id="{956E5191-1369-4DED-BE9E-389B43682BB1}"/>
              </a:ext>
            </a:extLst>
          </p:cNvPr>
          <p:cNvSpPr>
            <a:spLocks noGrp="1"/>
          </p:cNvSpPr>
          <p:nvPr>
            <p:ph type="body" sz="quarter" idx="18" hasCustomPrompt="1"/>
          </p:nvPr>
        </p:nvSpPr>
        <p:spPr>
          <a:xfrm>
            <a:off x="482598" y="4451698"/>
            <a:ext cx="8141495" cy="207749"/>
          </a:xfrm>
          <a:prstGeom prst="rect">
            <a:avLst/>
          </a:prstGeom>
        </p:spPr>
        <p:txBody>
          <a:bodyPr anchor="b" anchorCtr="0">
            <a:spAutoFit/>
          </a:bodyPr>
          <a:lstStyle>
            <a:lvl1pPr marL="0" indent="0">
              <a:lnSpc>
                <a:spcPct val="100000"/>
              </a:lnSpc>
              <a:spcBef>
                <a:spcPts val="0"/>
              </a:spcBef>
              <a:buNone/>
              <a:defRPr sz="750"/>
            </a:lvl1pPr>
            <a:lvl2pPr marL="342900" indent="0">
              <a:buNone/>
              <a:defRPr sz="750"/>
            </a:lvl2pPr>
            <a:lvl3pPr marL="685800" indent="0">
              <a:buNone/>
              <a:defRPr sz="750"/>
            </a:lvl3pPr>
            <a:lvl4pPr marL="1028700" indent="0">
              <a:buNone/>
              <a:defRPr sz="750"/>
            </a:lvl4pPr>
            <a:lvl5pPr marL="1371600" indent="0">
              <a:buNone/>
              <a:defRPr sz="750"/>
            </a:lvl5pPr>
          </a:lstStyle>
          <a:p>
            <a:pPr lvl="0"/>
            <a:r>
              <a:rPr lang="en-US"/>
              <a:t>Note/Footnote:</a:t>
            </a:r>
          </a:p>
        </p:txBody>
      </p:sp>
    </p:spTree>
    <p:extLst>
      <p:ext uri="{BB962C8B-B14F-4D97-AF65-F5344CB8AC3E}">
        <p14:creationId xmlns:p14="http://schemas.microsoft.com/office/powerpoint/2010/main" val="292492954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 Sub title +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39A8C-6D5F-4626-B41E-2A8AD11B2810}"/>
              </a:ext>
            </a:extLst>
          </p:cNvPr>
          <p:cNvSpPr>
            <a:spLocks noGrp="1"/>
          </p:cNvSpPr>
          <p:nvPr>
            <p:ph sz="quarter" idx="16"/>
          </p:nvPr>
        </p:nvSpPr>
        <p:spPr>
          <a:xfrm>
            <a:off x="533400" y="1895167"/>
            <a:ext cx="8053387" cy="2669459"/>
          </a:xfrm>
          <a:prstGeom prst="rect">
            <a:avLst/>
          </a:prstGeom>
        </p:spPr>
        <p:txBody>
          <a:bodyPr/>
          <a:lstStyle>
            <a:lvl1pPr>
              <a:lnSpc>
                <a:spcPct val="100000"/>
              </a:lnSpc>
              <a:spcBef>
                <a:spcPts val="450"/>
              </a:spcBef>
              <a:defRPr sz="1200"/>
            </a:lvl1pPr>
            <a:lvl2pPr marL="360760" indent="-171450">
              <a:lnSpc>
                <a:spcPct val="100000"/>
              </a:lnSpc>
              <a:spcBef>
                <a:spcPts val="450"/>
              </a:spcBef>
              <a:defRPr sz="1200"/>
            </a:lvl2pPr>
            <a:lvl3pPr marL="531019" indent="-171450">
              <a:lnSpc>
                <a:spcPct val="100000"/>
              </a:lnSpc>
              <a:spcBef>
                <a:spcPts val="450"/>
              </a:spcBef>
              <a:defRPr sz="1200"/>
            </a:lvl3pPr>
            <a:lvl4pPr marL="700088" indent="-171450">
              <a:lnSpc>
                <a:spcPct val="100000"/>
              </a:lnSpc>
              <a:spcBef>
                <a:spcPts val="450"/>
              </a:spcBef>
              <a:defRPr sz="1200"/>
            </a:lvl4pPr>
            <a:lvl5pPr marL="847725" indent="-171450">
              <a:lnSpc>
                <a:spcPct val="100000"/>
              </a:lnSpc>
              <a:spcBef>
                <a:spcPts val="450"/>
              </a:spcBef>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8" name="Title 1">
            <a:extLst>
              <a:ext uri="{FF2B5EF4-FFF2-40B4-BE49-F238E27FC236}">
                <a16:creationId xmlns:a16="http://schemas.microsoft.com/office/drawing/2014/main" id="{7CF5F585-89DC-47EB-9DB3-228A1E9F4374}"/>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9" name="Content Placeholder 2">
            <a:extLst>
              <a:ext uri="{FF2B5EF4-FFF2-40B4-BE49-F238E27FC236}">
                <a16:creationId xmlns:a16="http://schemas.microsoft.com/office/drawing/2014/main" id="{F910E947-851C-48B4-83FD-A225938FFF21}"/>
              </a:ext>
            </a:extLst>
          </p:cNvPr>
          <p:cNvSpPr>
            <a:spLocks noGrp="1"/>
          </p:cNvSpPr>
          <p:nvPr>
            <p:ph sz="quarter" idx="19" hasCustomPrompt="1"/>
          </p:nvPr>
        </p:nvSpPr>
        <p:spPr>
          <a:xfrm>
            <a:off x="454023" y="1112663"/>
            <a:ext cx="8053387" cy="692497"/>
          </a:xfrm>
          <a:prstGeom prst="rect">
            <a:avLst/>
          </a:prstGeom>
        </p:spPr>
        <p:txBody>
          <a:bodyPr>
            <a:spAutoFit/>
          </a:bodyPr>
          <a:lstStyle>
            <a:lvl1pPr marL="0" indent="0">
              <a:lnSpc>
                <a:spcPct val="100000"/>
              </a:lnSpc>
              <a:spcBef>
                <a:spcPts val="450"/>
              </a:spcBef>
              <a:buNone/>
              <a:defRPr sz="1950"/>
            </a:lvl1pPr>
            <a:lvl2pPr marL="360760" indent="-171450">
              <a:lnSpc>
                <a:spcPct val="100000"/>
              </a:lnSpc>
              <a:spcBef>
                <a:spcPts val="450"/>
              </a:spcBef>
              <a:defRPr sz="1200"/>
            </a:lvl2pPr>
            <a:lvl3pPr marL="531019" indent="-171450">
              <a:lnSpc>
                <a:spcPct val="100000"/>
              </a:lnSpc>
              <a:spcBef>
                <a:spcPts val="450"/>
              </a:spcBef>
              <a:defRPr sz="1200"/>
            </a:lvl3pPr>
            <a:lvl4pPr marL="700088" indent="-171450">
              <a:lnSpc>
                <a:spcPct val="100000"/>
              </a:lnSpc>
              <a:spcBef>
                <a:spcPts val="450"/>
              </a:spcBef>
              <a:defRPr sz="1200"/>
            </a:lvl4pPr>
            <a:lvl5pPr marL="847725" indent="-171450">
              <a:lnSpc>
                <a:spcPct val="100000"/>
              </a:lnSpc>
              <a:spcBef>
                <a:spcPts val="450"/>
              </a:spcBef>
              <a:defRPr sz="1200"/>
            </a:lvl5pPr>
          </a:lstStyle>
          <a:p>
            <a:pPr lvl="0"/>
            <a:r>
              <a:rPr lang="en-US"/>
              <a:t>Subtitle text to be added here in two lines. The second line is optional in this case.</a:t>
            </a:r>
            <a:endParaRPr lang="en-IN"/>
          </a:p>
        </p:txBody>
      </p:sp>
    </p:spTree>
    <p:extLst>
      <p:ext uri="{BB962C8B-B14F-4D97-AF65-F5344CB8AC3E}">
        <p14:creationId xmlns:p14="http://schemas.microsoft.com/office/powerpoint/2010/main" val="152724148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ull Bleed Image + Sub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77B5801-B6B4-44F9-B8F7-3EE389260535}"/>
              </a:ext>
            </a:extLst>
          </p:cNvPr>
          <p:cNvSpPr>
            <a:spLocks noGrp="1"/>
          </p:cNvSpPr>
          <p:nvPr>
            <p:ph type="body" sz="quarter" idx="14" hasCustomPrompt="1"/>
          </p:nvPr>
        </p:nvSpPr>
        <p:spPr>
          <a:xfrm>
            <a:off x="0" y="3124201"/>
            <a:ext cx="3977879" cy="1535906"/>
          </a:xfrm>
          <a:prstGeom prst="rect">
            <a:avLst/>
          </a:prstGeom>
          <a:solidFill>
            <a:schemeClr val="bg1">
              <a:lumMod val="85000"/>
              <a:alpha val="85000"/>
            </a:schemeClr>
          </a:solidFill>
        </p:spPr>
        <p:txBody>
          <a:bodyPr lIns="720000" anchor="ctr"/>
          <a:lstStyle>
            <a:lvl1pPr marL="0" indent="0">
              <a:lnSpc>
                <a:spcPct val="100000"/>
              </a:lnSpc>
              <a:buNone/>
              <a:defRPr sz="2025"/>
            </a:lvl1pPr>
          </a:lstStyle>
          <a:p>
            <a:pPr lvl="0"/>
            <a:r>
              <a:rPr lang="en-US"/>
              <a:t>Add this grey patch in 15% transparency over a full image for text to be visible </a:t>
            </a:r>
            <a:endParaRPr lang="en-IN"/>
          </a:p>
        </p:txBody>
      </p:sp>
      <p:sp>
        <p:nvSpPr>
          <p:cNvPr id="13" name="Picture Placeholder 12">
            <a:extLst>
              <a:ext uri="{FF2B5EF4-FFF2-40B4-BE49-F238E27FC236}">
                <a16:creationId xmlns:a16="http://schemas.microsoft.com/office/drawing/2014/main" id="{6D10EE43-666F-1842-B517-A52976532723}"/>
              </a:ext>
            </a:extLst>
          </p:cNvPr>
          <p:cNvSpPr>
            <a:spLocks noGrp="1"/>
          </p:cNvSpPr>
          <p:nvPr>
            <p:ph type="pic" sz="quarter" idx="13" hasCustomPrompt="1"/>
          </p:nvPr>
        </p:nvSpPr>
        <p:spPr>
          <a:xfrm>
            <a:off x="0" y="0"/>
            <a:ext cx="9144000" cy="4772025"/>
          </a:xfrm>
          <a:prstGeom prst="rect">
            <a:avLst/>
          </a:prstGeom>
        </p:spPr>
        <p:txBody>
          <a:bodyPr/>
          <a:lstStyle>
            <a:lvl1pPr marL="0" indent="0">
              <a:lnSpc>
                <a:spcPct val="100000"/>
              </a:lnSpc>
              <a:buNone/>
              <a:defRPr sz="1200">
                <a:solidFill>
                  <a:srgbClr val="6B6B6B"/>
                </a:solidFill>
                <a:latin typeface="+mn-lt"/>
              </a:defRPr>
            </a:lvl1pPr>
          </a:lstStyle>
          <a:p>
            <a:r>
              <a:rPr lang="en-US"/>
              <a:t>INSERT HI- RES IMAGES</a:t>
            </a:r>
          </a:p>
        </p:txBody>
      </p:sp>
    </p:spTree>
    <p:extLst>
      <p:ext uri="{BB962C8B-B14F-4D97-AF65-F5344CB8AC3E}">
        <p14:creationId xmlns:p14="http://schemas.microsoft.com/office/powerpoint/2010/main" val="34791965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 Images + Highlight">
    <p:spTree>
      <p:nvGrpSpPr>
        <p:cNvPr id="1" name=""/>
        <p:cNvGrpSpPr/>
        <p:nvPr/>
      </p:nvGrpSpPr>
      <p:grpSpPr>
        <a:xfrm>
          <a:off x="0" y="0"/>
          <a:ext cx="0" cy="0"/>
          <a:chOff x="0" y="0"/>
          <a:chExt cx="0" cy="0"/>
        </a:xfrm>
      </p:grpSpPr>
      <p:sp>
        <p:nvSpPr>
          <p:cNvPr id="6" name="Picture Placeholder 12">
            <a:extLst>
              <a:ext uri="{FF2B5EF4-FFF2-40B4-BE49-F238E27FC236}">
                <a16:creationId xmlns:a16="http://schemas.microsoft.com/office/drawing/2014/main" id="{2DC6E32C-0644-466D-BEF3-88F26564E10C}"/>
              </a:ext>
            </a:extLst>
          </p:cNvPr>
          <p:cNvSpPr>
            <a:spLocks noGrp="1"/>
          </p:cNvSpPr>
          <p:nvPr>
            <p:ph type="pic" sz="quarter" idx="13" hasCustomPrompt="1"/>
          </p:nvPr>
        </p:nvSpPr>
        <p:spPr>
          <a:xfrm>
            <a:off x="0" y="1125"/>
            <a:ext cx="4556760" cy="4770900"/>
          </a:xfrm>
          <a:prstGeom prst="rect">
            <a:avLst/>
          </a:prstGeom>
        </p:spPr>
        <p:txBody>
          <a:bodyPr/>
          <a:lstStyle>
            <a:lvl1pPr marL="0" indent="0">
              <a:lnSpc>
                <a:spcPct val="100000"/>
              </a:lnSpc>
              <a:buNone/>
              <a:defRPr sz="1200">
                <a:solidFill>
                  <a:srgbClr val="6B6B6B"/>
                </a:solidFill>
                <a:latin typeface="+mn-lt"/>
              </a:defRPr>
            </a:lvl1pPr>
          </a:lstStyle>
          <a:p>
            <a:r>
              <a:rPr lang="en-US"/>
              <a:t>INSERT HI- RES IMAGE - 1</a:t>
            </a:r>
          </a:p>
        </p:txBody>
      </p:sp>
      <p:sp>
        <p:nvSpPr>
          <p:cNvPr id="8" name="Text Placeholder 3">
            <a:extLst>
              <a:ext uri="{FF2B5EF4-FFF2-40B4-BE49-F238E27FC236}">
                <a16:creationId xmlns:a16="http://schemas.microsoft.com/office/drawing/2014/main" id="{5D0299D1-B6B7-48BC-BCC9-7379DD7C6835}"/>
              </a:ext>
            </a:extLst>
          </p:cNvPr>
          <p:cNvSpPr>
            <a:spLocks noGrp="1"/>
          </p:cNvSpPr>
          <p:nvPr>
            <p:ph type="body" sz="half" idx="15" hasCustomPrompt="1"/>
          </p:nvPr>
        </p:nvSpPr>
        <p:spPr>
          <a:xfrm>
            <a:off x="0" y="3472674"/>
            <a:ext cx="3840480" cy="877163"/>
          </a:xfrm>
          <a:prstGeom prst="rect">
            <a:avLst/>
          </a:prstGeom>
          <a:solidFill>
            <a:schemeClr val="bg1">
              <a:lumMod val="85000"/>
              <a:alpha val="85000"/>
            </a:schemeClr>
          </a:solidFill>
        </p:spPr>
        <p:txBody>
          <a:bodyPr wrap="square" anchor="ctr">
            <a:spAutoFit/>
          </a:bodyPr>
          <a:lstStyle>
            <a:lvl1pPr marL="471488" indent="0" algn="l">
              <a:lnSpc>
                <a:spcPct val="100000"/>
              </a:lnSpc>
              <a:spcBef>
                <a:spcPts val="0"/>
              </a:spcBef>
              <a:buNone/>
              <a:defRPr sz="510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00%</a:t>
            </a:r>
          </a:p>
        </p:txBody>
      </p:sp>
      <p:sp>
        <p:nvSpPr>
          <p:cNvPr id="9" name="Picture Placeholder 12">
            <a:extLst>
              <a:ext uri="{FF2B5EF4-FFF2-40B4-BE49-F238E27FC236}">
                <a16:creationId xmlns:a16="http://schemas.microsoft.com/office/drawing/2014/main" id="{09957EFD-6026-4496-BDA8-33CA897C691F}"/>
              </a:ext>
            </a:extLst>
          </p:cNvPr>
          <p:cNvSpPr>
            <a:spLocks noGrp="1"/>
          </p:cNvSpPr>
          <p:nvPr>
            <p:ph type="pic" sz="quarter" idx="14" hasCustomPrompt="1"/>
          </p:nvPr>
        </p:nvSpPr>
        <p:spPr>
          <a:xfrm>
            <a:off x="4587820" y="0"/>
            <a:ext cx="4556180" cy="4772025"/>
          </a:xfrm>
          <a:prstGeom prst="rect">
            <a:avLst/>
          </a:prstGeom>
        </p:spPr>
        <p:txBody>
          <a:bodyPr/>
          <a:lstStyle>
            <a:lvl1pPr marL="0" indent="0">
              <a:lnSpc>
                <a:spcPct val="100000"/>
              </a:lnSpc>
              <a:buNone/>
              <a:defRPr sz="1200">
                <a:solidFill>
                  <a:srgbClr val="6B6B6B"/>
                </a:solidFill>
                <a:latin typeface="+mn-lt"/>
              </a:defRPr>
            </a:lvl1pPr>
          </a:lstStyle>
          <a:p>
            <a:r>
              <a:rPr lang="en-US"/>
              <a:t>INSERT HI- RES IMAGE - 2</a:t>
            </a:r>
          </a:p>
        </p:txBody>
      </p:sp>
      <p:sp>
        <p:nvSpPr>
          <p:cNvPr id="7" name="Text Placeholder 3">
            <a:extLst>
              <a:ext uri="{FF2B5EF4-FFF2-40B4-BE49-F238E27FC236}">
                <a16:creationId xmlns:a16="http://schemas.microsoft.com/office/drawing/2014/main" id="{597A81CE-4E6A-415B-B4CD-7C821AF9E204}"/>
              </a:ext>
            </a:extLst>
          </p:cNvPr>
          <p:cNvSpPr>
            <a:spLocks noGrp="1"/>
          </p:cNvSpPr>
          <p:nvPr>
            <p:ph type="body" sz="half" idx="2" hasCustomPrompt="1"/>
          </p:nvPr>
        </p:nvSpPr>
        <p:spPr>
          <a:xfrm>
            <a:off x="2117782" y="3495756"/>
            <a:ext cx="1722698" cy="830997"/>
          </a:xfrm>
          <a:prstGeom prst="rect">
            <a:avLst/>
          </a:prstGeom>
          <a:noFill/>
        </p:spPr>
        <p:txBody>
          <a:bodyPr anchor="ctr">
            <a:spAutoFit/>
          </a:bodyPr>
          <a:lstStyle>
            <a:lvl1pPr marL="0" indent="0">
              <a:lnSpc>
                <a:spcPct val="100000"/>
              </a:lnSpc>
              <a:spcBef>
                <a:spcPts val="0"/>
              </a:spcBef>
              <a:buNone/>
              <a:defRPr sz="1200">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r>
              <a:rPr lang="en-US"/>
              <a:t>Add this grey patch in 15% transparency over a full image for text to be visible </a:t>
            </a:r>
          </a:p>
        </p:txBody>
      </p:sp>
    </p:spTree>
    <p:extLst>
      <p:ext uri="{BB962C8B-B14F-4D97-AF65-F5344CB8AC3E}">
        <p14:creationId xmlns:p14="http://schemas.microsoft.com/office/powerpoint/2010/main" val="189535603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takeholders chart structure">
    <p:bg>
      <p:bgPr>
        <a:solidFill>
          <a:schemeClr val="bg2">
            <a:alpha val="40000"/>
          </a:schemeClr>
        </a:solidFill>
        <a:effectLst/>
      </p:bgPr>
    </p:bg>
    <p:spTree>
      <p:nvGrpSpPr>
        <p:cNvPr id="1" name=""/>
        <p:cNvGrpSpPr/>
        <p:nvPr/>
      </p:nvGrpSpPr>
      <p:grpSpPr>
        <a:xfrm>
          <a:off x="0" y="0"/>
          <a:ext cx="0" cy="0"/>
          <a:chOff x="0" y="0"/>
          <a:chExt cx="0" cy="0"/>
        </a:xfrm>
      </p:grpSpPr>
      <p:cxnSp>
        <p:nvCxnSpPr>
          <p:cNvPr id="89" name="Straight Connector 88">
            <a:extLst>
              <a:ext uri="{FF2B5EF4-FFF2-40B4-BE49-F238E27FC236}">
                <a16:creationId xmlns:a16="http://schemas.microsoft.com/office/drawing/2014/main" id="{35D85233-F60E-624E-A783-92937421B2FD}"/>
              </a:ext>
            </a:extLst>
          </p:cNvPr>
          <p:cNvCxnSpPr>
            <a:cxnSpLocks/>
          </p:cNvCxnSpPr>
          <p:nvPr/>
        </p:nvCxnSpPr>
        <p:spPr>
          <a:xfrm flipH="1" flipV="1">
            <a:off x="1639235" y="872400"/>
            <a:ext cx="6225" cy="35"/>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2" name="Text Placeholder 3">
            <a:extLst>
              <a:ext uri="{FF2B5EF4-FFF2-40B4-BE49-F238E27FC236}">
                <a16:creationId xmlns:a16="http://schemas.microsoft.com/office/drawing/2014/main" id="{5BEAC6F4-2358-8945-9692-77054259F9D5}"/>
              </a:ext>
            </a:extLst>
          </p:cNvPr>
          <p:cNvSpPr>
            <a:spLocks noGrp="1"/>
          </p:cNvSpPr>
          <p:nvPr>
            <p:ph type="body" sz="half" idx="25" hasCustomPrompt="1"/>
          </p:nvPr>
        </p:nvSpPr>
        <p:spPr>
          <a:xfrm>
            <a:off x="456497" y="903032"/>
            <a:ext cx="8146959" cy="392415"/>
          </a:xfrm>
          <a:prstGeom prst="rect">
            <a:avLst/>
          </a:prstGeom>
        </p:spPr>
        <p:txBody>
          <a:bodyPr>
            <a:spAutoFit/>
          </a:bodyPr>
          <a:lstStyle>
            <a:lvl1pPr marL="0" indent="0">
              <a:lnSpc>
                <a:spcPct val="100000"/>
              </a:lnSpc>
              <a:buNone/>
              <a:defRPr sz="1950" b="0">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Title that describes the image.</a:t>
            </a:r>
          </a:p>
        </p:txBody>
      </p:sp>
      <p:sp>
        <p:nvSpPr>
          <p:cNvPr id="30" name="Title 1">
            <a:extLst>
              <a:ext uri="{FF2B5EF4-FFF2-40B4-BE49-F238E27FC236}">
                <a16:creationId xmlns:a16="http://schemas.microsoft.com/office/drawing/2014/main" id="{F274C6F3-7207-4444-B514-67026B20162D}"/>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20" name="Rounded Rectangle 22">
            <a:extLst>
              <a:ext uri="{FF2B5EF4-FFF2-40B4-BE49-F238E27FC236}">
                <a16:creationId xmlns:a16="http://schemas.microsoft.com/office/drawing/2014/main" id="{9107712D-9CD1-4EFB-B209-9B155409C7C1}"/>
              </a:ext>
            </a:extLst>
          </p:cNvPr>
          <p:cNvSpPr/>
          <p:nvPr/>
        </p:nvSpPr>
        <p:spPr>
          <a:xfrm>
            <a:off x="550534" y="2058592"/>
            <a:ext cx="4013132" cy="2601515"/>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solidFill>
                <a:schemeClr val="tx1"/>
              </a:solidFill>
              <a:latin typeface="+mn-lt"/>
              <a:ea typeface="Open Sans" panose="020B0606030504020204" pitchFamily="34" charset="0"/>
              <a:cs typeface="Open Sans" panose="020B0606030504020204" pitchFamily="34" charset="0"/>
            </a:endParaRPr>
          </a:p>
        </p:txBody>
      </p:sp>
      <p:sp>
        <p:nvSpPr>
          <p:cNvPr id="21" name="Rounded Rectangle 23">
            <a:extLst>
              <a:ext uri="{FF2B5EF4-FFF2-40B4-BE49-F238E27FC236}">
                <a16:creationId xmlns:a16="http://schemas.microsoft.com/office/drawing/2014/main" id="{F1E9D45D-3C2A-4064-BE8F-87DD154B2AD2}"/>
              </a:ext>
            </a:extLst>
          </p:cNvPr>
          <p:cNvSpPr/>
          <p:nvPr/>
        </p:nvSpPr>
        <p:spPr>
          <a:xfrm>
            <a:off x="4641838" y="2058592"/>
            <a:ext cx="3966233" cy="2601515"/>
          </a:xfrm>
          <a:prstGeom prst="roundRect">
            <a:avLst>
              <a:gd name="adj" fmla="val 288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solidFill>
                <a:schemeClr val="tx1"/>
              </a:solidFill>
              <a:latin typeface="+mn-lt"/>
              <a:ea typeface="Open Sans" panose="020B0606030504020204" pitchFamily="34" charset="0"/>
              <a:cs typeface="Open Sans" panose="020B0606030504020204" pitchFamily="34" charset="0"/>
            </a:endParaRPr>
          </a:p>
        </p:txBody>
      </p:sp>
      <p:sp>
        <p:nvSpPr>
          <p:cNvPr id="29" name="Text Placeholder 2">
            <a:extLst>
              <a:ext uri="{FF2B5EF4-FFF2-40B4-BE49-F238E27FC236}">
                <a16:creationId xmlns:a16="http://schemas.microsoft.com/office/drawing/2014/main" id="{11400CDA-A3DA-43A3-9170-62364AF260B1}"/>
              </a:ext>
            </a:extLst>
          </p:cNvPr>
          <p:cNvSpPr>
            <a:spLocks noGrp="1"/>
          </p:cNvSpPr>
          <p:nvPr>
            <p:ph type="body" sz="quarter" idx="14"/>
          </p:nvPr>
        </p:nvSpPr>
        <p:spPr>
          <a:xfrm>
            <a:off x="550533" y="1457029"/>
            <a:ext cx="8042934" cy="476918"/>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0000" tIns="46800" rIns="90000" bIns="46800" anchor="ctr">
            <a:noAutofit/>
          </a:bodyPr>
          <a:lstStyle>
            <a:lvl1pPr marL="0" indent="0" algn="l">
              <a:lnSpc>
                <a:spcPct val="100000"/>
              </a:lnSpc>
              <a:buNone/>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Click to edit Master text styles</a:t>
            </a:r>
          </a:p>
        </p:txBody>
      </p:sp>
      <p:sp>
        <p:nvSpPr>
          <p:cNvPr id="31" name="Text Placeholder 2">
            <a:extLst>
              <a:ext uri="{FF2B5EF4-FFF2-40B4-BE49-F238E27FC236}">
                <a16:creationId xmlns:a16="http://schemas.microsoft.com/office/drawing/2014/main" id="{1B7598BF-B756-4258-A753-99B23E5D4C24}"/>
              </a:ext>
            </a:extLst>
          </p:cNvPr>
          <p:cNvSpPr>
            <a:spLocks noGrp="1"/>
          </p:cNvSpPr>
          <p:nvPr>
            <p:ph type="body" sz="quarter" idx="26" hasCustomPrompt="1"/>
          </p:nvPr>
        </p:nvSpPr>
        <p:spPr>
          <a:xfrm>
            <a:off x="674200" y="2162190"/>
            <a:ext cx="3766500" cy="279180"/>
          </a:xfrm>
          <a:prstGeom prst="rect">
            <a:avLst/>
          </a:prstGeom>
        </p:spPr>
        <p:txBody>
          <a:bodyPr lIns="90000" tIns="46800" rIns="90000" bIns="46800" anchor="b">
            <a:spAutoFit/>
          </a:bodyPr>
          <a:lstStyle>
            <a:lvl1pPr marL="0" indent="0" algn="l">
              <a:lnSpc>
                <a:spcPct val="100000"/>
              </a:lnSpc>
              <a:buNone/>
              <a:defRPr sz="1200" b="1">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Core Team</a:t>
            </a:r>
            <a:endParaRPr lang="en-US"/>
          </a:p>
        </p:txBody>
      </p:sp>
      <p:sp>
        <p:nvSpPr>
          <p:cNvPr id="32" name="Text Placeholder 2">
            <a:extLst>
              <a:ext uri="{FF2B5EF4-FFF2-40B4-BE49-F238E27FC236}">
                <a16:creationId xmlns:a16="http://schemas.microsoft.com/office/drawing/2014/main" id="{BF77EAB8-2662-4077-A02E-83C6B93A6F71}"/>
              </a:ext>
            </a:extLst>
          </p:cNvPr>
          <p:cNvSpPr>
            <a:spLocks noGrp="1"/>
          </p:cNvSpPr>
          <p:nvPr>
            <p:ph type="body" sz="quarter" idx="27" hasCustomPrompt="1"/>
          </p:nvPr>
        </p:nvSpPr>
        <p:spPr>
          <a:xfrm>
            <a:off x="674200" y="2608447"/>
            <a:ext cx="3766500" cy="260713"/>
          </a:xfrm>
          <a:prstGeom prst="rect">
            <a:avLst/>
          </a:prstGeom>
        </p:spPr>
        <p:txBody>
          <a:bodyPr lIns="90000" tIns="46800" rIns="90000" bIns="46800" anchor="t">
            <a:spAutoFit/>
          </a:bodyPr>
          <a:lstStyle>
            <a:lvl1pPr marL="0" marR="0" indent="0" algn="l" defTabSz="685800" rtl="0" eaLnBrk="1" fontAlgn="auto" latinLnBrk="0" hangingPunct="1">
              <a:lnSpc>
                <a:spcPct val="100000"/>
              </a:lnSpc>
              <a:spcBef>
                <a:spcPts val="0"/>
              </a:spcBef>
              <a:spcAft>
                <a:spcPts val="0"/>
              </a:spcAft>
              <a:buClrTx/>
              <a:buSzTx/>
              <a:buFontTx/>
              <a:buNone/>
              <a:tabLst/>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1200">
                <a:solidFill>
                  <a:schemeClr val="tx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45" name="Text Placeholder 2">
            <a:extLst>
              <a:ext uri="{FF2B5EF4-FFF2-40B4-BE49-F238E27FC236}">
                <a16:creationId xmlns:a16="http://schemas.microsoft.com/office/drawing/2014/main" id="{C4E93A6C-9403-4660-89BE-FA48C6A679B6}"/>
              </a:ext>
            </a:extLst>
          </p:cNvPr>
          <p:cNvSpPr>
            <a:spLocks noGrp="1"/>
          </p:cNvSpPr>
          <p:nvPr>
            <p:ph type="body" sz="quarter" idx="33" hasCustomPrompt="1"/>
          </p:nvPr>
        </p:nvSpPr>
        <p:spPr>
          <a:xfrm>
            <a:off x="4741705" y="2608447"/>
            <a:ext cx="3766500" cy="279180"/>
          </a:xfrm>
          <a:prstGeom prst="rect">
            <a:avLst/>
          </a:prstGeom>
        </p:spPr>
        <p:txBody>
          <a:bodyPr lIns="90000" tIns="46800" rIns="90000" bIns="46800" anchor="t">
            <a:spAutoFit/>
          </a:bodyPr>
          <a:lstStyle>
            <a:lvl1pPr marL="0" indent="0" algn="l">
              <a:lnSpc>
                <a:spcPct val="100000"/>
              </a:lnSpc>
              <a:buNone/>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a:t>
            </a:r>
            <a:endParaRPr lang="en-US"/>
          </a:p>
        </p:txBody>
      </p:sp>
      <p:sp>
        <p:nvSpPr>
          <p:cNvPr id="48" name="Text Placeholder 2">
            <a:extLst>
              <a:ext uri="{FF2B5EF4-FFF2-40B4-BE49-F238E27FC236}">
                <a16:creationId xmlns:a16="http://schemas.microsoft.com/office/drawing/2014/main" id="{D8E11F1F-66BD-4891-BAFE-1A8D9EB5B7E3}"/>
              </a:ext>
            </a:extLst>
          </p:cNvPr>
          <p:cNvSpPr>
            <a:spLocks noGrp="1"/>
          </p:cNvSpPr>
          <p:nvPr>
            <p:ph type="body" sz="quarter" idx="38" hasCustomPrompt="1"/>
          </p:nvPr>
        </p:nvSpPr>
        <p:spPr>
          <a:xfrm>
            <a:off x="4741705" y="2162190"/>
            <a:ext cx="3766500" cy="279180"/>
          </a:xfrm>
          <a:prstGeom prst="rect">
            <a:avLst/>
          </a:prstGeom>
        </p:spPr>
        <p:txBody>
          <a:bodyPr lIns="90000" tIns="46800" rIns="90000" bIns="46800" anchor="b">
            <a:spAutoFit/>
          </a:bodyPr>
          <a:lstStyle>
            <a:lvl1pPr marL="0" indent="0" algn="l">
              <a:lnSpc>
                <a:spcPct val="100000"/>
              </a:lnSpc>
              <a:buNone/>
              <a:defRPr sz="1200" b="1">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Supporting Teams &amp; Capabilities</a:t>
            </a:r>
            <a:endParaRPr lang="en-US"/>
          </a:p>
        </p:txBody>
      </p:sp>
    </p:spTree>
    <p:extLst>
      <p:ext uri="{BB962C8B-B14F-4D97-AF65-F5344CB8AC3E}">
        <p14:creationId xmlns:p14="http://schemas.microsoft.com/office/powerpoint/2010/main" val="370634402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Journey map">
    <p:bg>
      <p:bgPr>
        <a:solidFill>
          <a:schemeClr val="bg2">
            <a:alpha val="40000"/>
          </a:schemeClr>
        </a:solidFill>
        <a:effectLst/>
      </p:bgPr>
    </p:bg>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A0E14D3D-69D3-49EA-8B61-5F00AF13E2E6}"/>
              </a:ext>
            </a:extLst>
          </p:cNvPr>
          <p:cNvSpPr>
            <a:spLocks noGrp="1"/>
          </p:cNvSpPr>
          <p:nvPr>
            <p:ph type="pic" sz="quarter" idx="76" hasCustomPrompt="1"/>
          </p:nvPr>
        </p:nvSpPr>
        <p:spPr>
          <a:xfrm>
            <a:off x="552705" y="2840746"/>
            <a:ext cx="8142338" cy="142658"/>
          </a:xfrm>
          <a:prstGeom prst="rightArrow">
            <a:avLst/>
          </a:prstGeom>
          <a:solidFill>
            <a:schemeClr val="accent1"/>
          </a:solidFill>
        </p:spPr>
        <p:txBody>
          <a:bodyPr/>
          <a:lstStyle>
            <a:lvl1pPr marL="0" indent="0">
              <a:lnSpc>
                <a:spcPct val="100000"/>
              </a:lnSpc>
              <a:buNone/>
              <a:defRPr/>
            </a:lvl1pPr>
          </a:lstStyle>
          <a:p>
            <a:r>
              <a:rPr lang="en-US"/>
              <a:t> </a:t>
            </a:r>
            <a:endParaRPr lang="en-IN"/>
          </a:p>
        </p:txBody>
      </p:sp>
      <p:sp>
        <p:nvSpPr>
          <p:cNvPr id="84" name="Text Placeholder 2">
            <a:extLst>
              <a:ext uri="{FF2B5EF4-FFF2-40B4-BE49-F238E27FC236}">
                <a16:creationId xmlns:a16="http://schemas.microsoft.com/office/drawing/2014/main" id="{9B26CDF5-5477-479B-915A-5E29865A4099}"/>
              </a:ext>
            </a:extLst>
          </p:cNvPr>
          <p:cNvSpPr>
            <a:spLocks noGrp="1"/>
          </p:cNvSpPr>
          <p:nvPr>
            <p:ph type="body" sz="quarter" idx="84" hasCustomPrompt="1"/>
          </p:nvPr>
        </p:nvSpPr>
        <p:spPr>
          <a:xfrm rot="5400000" flipV="1">
            <a:off x="68271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6" name="Text Placeholder 2">
            <a:extLst>
              <a:ext uri="{FF2B5EF4-FFF2-40B4-BE49-F238E27FC236}">
                <a16:creationId xmlns:a16="http://schemas.microsoft.com/office/drawing/2014/main" id="{F388BF24-09A4-461E-85CF-A1DB9C043B3D}"/>
              </a:ext>
            </a:extLst>
          </p:cNvPr>
          <p:cNvSpPr>
            <a:spLocks noGrp="1"/>
          </p:cNvSpPr>
          <p:nvPr>
            <p:ph type="body" sz="quarter" idx="85" hasCustomPrompt="1"/>
          </p:nvPr>
        </p:nvSpPr>
        <p:spPr>
          <a:xfrm rot="5400000" flipV="1">
            <a:off x="56547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7" name="Text Placeholder 2">
            <a:extLst>
              <a:ext uri="{FF2B5EF4-FFF2-40B4-BE49-F238E27FC236}">
                <a16:creationId xmlns:a16="http://schemas.microsoft.com/office/drawing/2014/main" id="{74937548-7795-4F5B-8764-0F68D8FECCDB}"/>
              </a:ext>
            </a:extLst>
          </p:cNvPr>
          <p:cNvSpPr>
            <a:spLocks noGrp="1"/>
          </p:cNvSpPr>
          <p:nvPr>
            <p:ph type="body" sz="quarter" idx="86" hasCustomPrompt="1"/>
          </p:nvPr>
        </p:nvSpPr>
        <p:spPr>
          <a:xfrm rot="5400000" flipV="1">
            <a:off x="44823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8" name="Text Placeholder 2">
            <a:extLst>
              <a:ext uri="{FF2B5EF4-FFF2-40B4-BE49-F238E27FC236}">
                <a16:creationId xmlns:a16="http://schemas.microsoft.com/office/drawing/2014/main" id="{0DDFA9BB-B827-468F-A168-71ECD5BED92A}"/>
              </a:ext>
            </a:extLst>
          </p:cNvPr>
          <p:cNvSpPr>
            <a:spLocks noGrp="1"/>
          </p:cNvSpPr>
          <p:nvPr>
            <p:ph type="body" sz="quarter" idx="87" hasCustomPrompt="1"/>
          </p:nvPr>
        </p:nvSpPr>
        <p:spPr>
          <a:xfrm rot="5400000" flipV="1">
            <a:off x="33099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9" name="Text Placeholder 2">
            <a:extLst>
              <a:ext uri="{FF2B5EF4-FFF2-40B4-BE49-F238E27FC236}">
                <a16:creationId xmlns:a16="http://schemas.microsoft.com/office/drawing/2014/main" id="{045EBFD7-773A-4D59-B6BA-0EEB9B62B5F0}"/>
              </a:ext>
            </a:extLst>
          </p:cNvPr>
          <p:cNvSpPr>
            <a:spLocks noGrp="1"/>
          </p:cNvSpPr>
          <p:nvPr>
            <p:ph type="body" sz="quarter" idx="88" hasCustomPrompt="1"/>
          </p:nvPr>
        </p:nvSpPr>
        <p:spPr>
          <a:xfrm rot="5400000" flipV="1">
            <a:off x="21375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90" name="Text Placeholder 2">
            <a:extLst>
              <a:ext uri="{FF2B5EF4-FFF2-40B4-BE49-F238E27FC236}">
                <a16:creationId xmlns:a16="http://schemas.microsoft.com/office/drawing/2014/main" id="{5328C5A8-EEB0-489C-9E4E-A15320220786}"/>
              </a:ext>
            </a:extLst>
          </p:cNvPr>
          <p:cNvSpPr>
            <a:spLocks noGrp="1"/>
          </p:cNvSpPr>
          <p:nvPr>
            <p:ph type="body" sz="quarter" idx="89" hasCustomPrompt="1"/>
          </p:nvPr>
        </p:nvSpPr>
        <p:spPr>
          <a:xfrm rot="5400000" flipV="1">
            <a:off x="965120" y="352349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135" name="Text Placeholder 2">
            <a:extLst>
              <a:ext uri="{FF2B5EF4-FFF2-40B4-BE49-F238E27FC236}">
                <a16:creationId xmlns:a16="http://schemas.microsoft.com/office/drawing/2014/main" id="{37C1E9B7-D5ED-431C-8D45-2FA28C591976}"/>
              </a:ext>
            </a:extLst>
          </p:cNvPr>
          <p:cNvSpPr>
            <a:spLocks noGrp="1"/>
          </p:cNvSpPr>
          <p:nvPr>
            <p:ph type="body" sz="quarter" idx="62" hasCustomPrompt="1"/>
          </p:nvPr>
        </p:nvSpPr>
        <p:spPr>
          <a:xfrm rot="16200000">
            <a:off x="7413322"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77" name="Text Placeholder 2">
            <a:extLst>
              <a:ext uri="{FF2B5EF4-FFF2-40B4-BE49-F238E27FC236}">
                <a16:creationId xmlns:a16="http://schemas.microsoft.com/office/drawing/2014/main" id="{A56FFCCA-D544-4B46-A684-DD8C31990F16}"/>
              </a:ext>
            </a:extLst>
          </p:cNvPr>
          <p:cNvSpPr>
            <a:spLocks noGrp="1"/>
          </p:cNvSpPr>
          <p:nvPr>
            <p:ph type="body" sz="quarter" idx="77" hasCustomPrompt="1"/>
          </p:nvPr>
        </p:nvSpPr>
        <p:spPr>
          <a:xfrm rot="16200000">
            <a:off x="62409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78" name="Text Placeholder 2">
            <a:extLst>
              <a:ext uri="{FF2B5EF4-FFF2-40B4-BE49-F238E27FC236}">
                <a16:creationId xmlns:a16="http://schemas.microsoft.com/office/drawing/2014/main" id="{4CFD27C8-EB49-4E9D-94E9-66A5B78ACBD3}"/>
              </a:ext>
            </a:extLst>
          </p:cNvPr>
          <p:cNvSpPr>
            <a:spLocks noGrp="1"/>
          </p:cNvSpPr>
          <p:nvPr>
            <p:ph type="body" sz="quarter" idx="78" hasCustomPrompt="1"/>
          </p:nvPr>
        </p:nvSpPr>
        <p:spPr>
          <a:xfrm rot="16200000">
            <a:off x="50685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79" name="Text Placeholder 2">
            <a:extLst>
              <a:ext uri="{FF2B5EF4-FFF2-40B4-BE49-F238E27FC236}">
                <a16:creationId xmlns:a16="http://schemas.microsoft.com/office/drawing/2014/main" id="{5D1EB028-1273-4F57-9ADD-A1BDD1FFC194}"/>
              </a:ext>
            </a:extLst>
          </p:cNvPr>
          <p:cNvSpPr>
            <a:spLocks noGrp="1"/>
          </p:cNvSpPr>
          <p:nvPr>
            <p:ph type="body" sz="quarter" idx="79" hasCustomPrompt="1"/>
          </p:nvPr>
        </p:nvSpPr>
        <p:spPr>
          <a:xfrm rot="16200000">
            <a:off x="38961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0" name="Text Placeholder 2">
            <a:extLst>
              <a:ext uri="{FF2B5EF4-FFF2-40B4-BE49-F238E27FC236}">
                <a16:creationId xmlns:a16="http://schemas.microsoft.com/office/drawing/2014/main" id="{0D2DF2C5-1B2A-4A10-8CE6-D121D8C441E1}"/>
              </a:ext>
            </a:extLst>
          </p:cNvPr>
          <p:cNvSpPr>
            <a:spLocks noGrp="1"/>
          </p:cNvSpPr>
          <p:nvPr>
            <p:ph type="body" sz="quarter" idx="80" hasCustomPrompt="1"/>
          </p:nvPr>
        </p:nvSpPr>
        <p:spPr>
          <a:xfrm rot="16200000">
            <a:off x="27237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1" name="Text Placeholder 2">
            <a:extLst>
              <a:ext uri="{FF2B5EF4-FFF2-40B4-BE49-F238E27FC236}">
                <a16:creationId xmlns:a16="http://schemas.microsoft.com/office/drawing/2014/main" id="{A3992E2A-7C4E-4CBE-AA28-62A84555EF94}"/>
              </a:ext>
            </a:extLst>
          </p:cNvPr>
          <p:cNvSpPr>
            <a:spLocks noGrp="1"/>
          </p:cNvSpPr>
          <p:nvPr>
            <p:ph type="body" sz="quarter" idx="81" hasCustomPrompt="1"/>
          </p:nvPr>
        </p:nvSpPr>
        <p:spPr>
          <a:xfrm rot="16200000">
            <a:off x="15513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82" name="Text Placeholder 2">
            <a:extLst>
              <a:ext uri="{FF2B5EF4-FFF2-40B4-BE49-F238E27FC236}">
                <a16:creationId xmlns:a16="http://schemas.microsoft.com/office/drawing/2014/main" id="{B1731A51-8B04-491A-837A-961CFDC775E6}"/>
              </a:ext>
            </a:extLst>
          </p:cNvPr>
          <p:cNvSpPr>
            <a:spLocks noGrp="1"/>
          </p:cNvSpPr>
          <p:nvPr>
            <p:ph type="body" sz="quarter" idx="82" hasCustomPrompt="1"/>
          </p:nvPr>
        </p:nvSpPr>
        <p:spPr>
          <a:xfrm rot="16200000">
            <a:off x="378920" y="1254608"/>
            <a:ext cx="1337135" cy="1044900"/>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750" b="1" dirty="0">
                <a:solidFill>
                  <a:schemeClr val="tx1"/>
                </a:solidFill>
                <a:latin typeface="+mn-lt"/>
              </a:defRPr>
            </a:lvl1pPr>
          </a:lstStyle>
          <a:p>
            <a:pPr marL="171450" lvl="0" indent="-171450">
              <a:lnSpc>
                <a:spcPct val="100000"/>
              </a:lnSpc>
              <a:spcBef>
                <a:spcPts val="0"/>
              </a:spcBef>
            </a:pPr>
            <a:r>
              <a:rPr lang="en-GB"/>
              <a:t>Sub Head 1</a:t>
            </a:r>
            <a:endParaRPr lang="en-US"/>
          </a:p>
        </p:txBody>
      </p:sp>
      <p:sp>
        <p:nvSpPr>
          <p:cNvPr id="102" name="Text Placeholder 2">
            <a:extLst>
              <a:ext uri="{FF2B5EF4-FFF2-40B4-BE49-F238E27FC236}">
                <a16:creationId xmlns:a16="http://schemas.microsoft.com/office/drawing/2014/main" id="{0E4EF968-8FED-47E0-A4C8-7F9C4EFC243C}"/>
              </a:ext>
            </a:extLst>
          </p:cNvPr>
          <p:cNvSpPr>
            <a:spLocks noGrp="1"/>
          </p:cNvSpPr>
          <p:nvPr>
            <p:ph type="body" sz="quarter" idx="27" hasCustomPrompt="1"/>
          </p:nvPr>
        </p:nvSpPr>
        <p:spPr>
          <a:xfrm>
            <a:off x="525038" y="1354532"/>
            <a:ext cx="1023300" cy="207749"/>
          </a:xfrm>
          <a:prstGeom prst="rect">
            <a:avLst/>
          </a:prstGeom>
        </p:spPr>
        <p:txBody>
          <a:bodyPr wrap="square"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00" name="Text Placeholder 2">
            <a:extLst>
              <a:ext uri="{FF2B5EF4-FFF2-40B4-BE49-F238E27FC236}">
                <a16:creationId xmlns:a16="http://schemas.microsoft.com/office/drawing/2014/main" id="{84F98EE3-3535-4255-A4D2-8C539DE352EE}"/>
              </a:ext>
            </a:extLst>
          </p:cNvPr>
          <p:cNvSpPr>
            <a:spLocks noGrp="1"/>
          </p:cNvSpPr>
          <p:nvPr>
            <p:ph type="body" sz="quarter" idx="53" hasCustomPrompt="1"/>
          </p:nvPr>
        </p:nvSpPr>
        <p:spPr>
          <a:xfrm>
            <a:off x="1697438"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18" name="Text Placeholder 2">
            <a:extLst>
              <a:ext uri="{FF2B5EF4-FFF2-40B4-BE49-F238E27FC236}">
                <a16:creationId xmlns:a16="http://schemas.microsoft.com/office/drawing/2014/main" id="{B9DD3740-A276-4018-A6FD-821C08C3B9F9}"/>
              </a:ext>
            </a:extLst>
          </p:cNvPr>
          <p:cNvSpPr>
            <a:spLocks noGrp="1"/>
          </p:cNvSpPr>
          <p:nvPr>
            <p:ph type="body" sz="quarter" idx="55" hasCustomPrompt="1"/>
          </p:nvPr>
        </p:nvSpPr>
        <p:spPr>
          <a:xfrm>
            <a:off x="2869838"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30" name="Text Placeholder 2">
            <a:extLst>
              <a:ext uri="{FF2B5EF4-FFF2-40B4-BE49-F238E27FC236}">
                <a16:creationId xmlns:a16="http://schemas.microsoft.com/office/drawing/2014/main" id="{79B8AC07-DFA8-4C81-80AF-1E1968421F41}"/>
              </a:ext>
            </a:extLst>
          </p:cNvPr>
          <p:cNvSpPr>
            <a:spLocks noGrp="1"/>
          </p:cNvSpPr>
          <p:nvPr>
            <p:ph type="body" sz="quarter" idx="57" hasCustomPrompt="1"/>
          </p:nvPr>
        </p:nvSpPr>
        <p:spPr>
          <a:xfrm>
            <a:off x="4042238"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32" name="Text Placeholder 2">
            <a:extLst>
              <a:ext uri="{FF2B5EF4-FFF2-40B4-BE49-F238E27FC236}">
                <a16:creationId xmlns:a16="http://schemas.microsoft.com/office/drawing/2014/main" id="{94395EE4-B45F-400E-89D9-6A84163FE3F7}"/>
              </a:ext>
            </a:extLst>
          </p:cNvPr>
          <p:cNvSpPr>
            <a:spLocks noGrp="1"/>
          </p:cNvSpPr>
          <p:nvPr>
            <p:ph type="body" sz="quarter" idx="59" hasCustomPrompt="1"/>
          </p:nvPr>
        </p:nvSpPr>
        <p:spPr>
          <a:xfrm>
            <a:off x="5214638"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34" name="Text Placeholder 2">
            <a:extLst>
              <a:ext uri="{FF2B5EF4-FFF2-40B4-BE49-F238E27FC236}">
                <a16:creationId xmlns:a16="http://schemas.microsoft.com/office/drawing/2014/main" id="{58720481-F0D4-4498-9EE8-F6B658509853}"/>
              </a:ext>
            </a:extLst>
          </p:cNvPr>
          <p:cNvSpPr>
            <a:spLocks noGrp="1"/>
          </p:cNvSpPr>
          <p:nvPr>
            <p:ph type="body" sz="quarter" idx="61" hasCustomPrompt="1"/>
          </p:nvPr>
        </p:nvSpPr>
        <p:spPr>
          <a:xfrm>
            <a:off x="6387038"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36" name="Text Placeholder 2">
            <a:extLst>
              <a:ext uri="{FF2B5EF4-FFF2-40B4-BE49-F238E27FC236}">
                <a16:creationId xmlns:a16="http://schemas.microsoft.com/office/drawing/2014/main" id="{4697D74A-B574-42A3-8026-5D4A23529A99}"/>
              </a:ext>
            </a:extLst>
          </p:cNvPr>
          <p:cNvSpPr>
            <a:spLocks noGrp="1"/>
          </p:cNvSpPr>
          <p:nvPr>
            <p:ph type="body" sz="quarter" idx="63" hasCustomPrompt="1"/>
          </p:nvPr>
        </p:nvSpPr>
        <p:spPr>
          <a:xfrm>
            <a:off x="7559440" y="1354532"/>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38" name="Text Placeholder 2">
            <a:extLst>
              <a:ext uri="{FF2B5EF4-FFF2-40B4-BE49-F238E27FC236}">
                <a16:creationId xmlns:a16="http://schemas.microsoft.com/office/drawing/2014/main" id="{0DFA9A7A-BE5B-4489-A0C0-1D636B9F8E4B}"/>
              </a:ext>
            </a:extLst>
          </p:cNvPr>
          <p:cNvSpPr>
            <a:spLocks noGrp="1"/>
          </p:cNvSpPr>
          <p:nvPr>
            <p:ph type="body" sz="quarter" idx="65" hasCustomPrompt="1"/>
          </p:nvPr>
        </p:nvSpPr>
        <p:spPr>
          <a:xfrm>
            <a:off x="11112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40" name="Text Placeholder 2">
            <a:extLst>
              <a:ext uri="{FF2B5EF4-FFF2-40B4-BE49-F238E27FC236}">
                <a16:creationId xmlns:a16="http://schemas.microsoft.com/office/drawing/2014/main" id="{90A996B7-9484-40EC-A65B-0A2500F54D66}"/>
              </a:ext>
            </a:extLst>
          </p:cNvPr>
          <p:cNvSpPr>
            <a:spLocks noGrp="1"/>
          </p:cNvSpPr>
          <p:nvPr>
            <p:ph type="body" sz="quarter" idx="67" hasCustomPrompt="1"/>
          </p:nvPr>
        </p:nvSpPr>
        <p:spPr>
          <a:xfrm>
            <a:off x="22836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42" name="Text Placeholder 2">
            <a:extLst>
              <a:ext uri="{FF2B5EF4-FFF2-40B4-BE49-F238E27FC236}">
                <a16:creationId xmlns:a16="http://schemas.microsoft.com/office/drawing/2014/main" id="{F9F976D9-BDA0-47D8-881F-0971F9746D52}"/>
              </a:ext>
            </a:extLst>
          </p:cNvPr>
          <p:cNvSpPr>
            <a:spLocks noGrp="1"/>
          </p:cNvSpPr>
          <p:nvPr>
            <p:ph type="body" sz="quarter" idx="69" hasCustomPrompt="1"/>
          </p:nvPr>
        </p:nvSpPr>
        <p:spPr>
          <a:xfrm>
            <a:off x="34560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44" name="Text Placeholder 2">
            <a:extLst>
              <a:ext uri="{FF2B5EF4-FFF2-40B4-BE49-F238E27FC236}">
                <a16:creationId xmlns:a16="http://schemas.microsoft.com/office/drawing/2014/main" id="{337594CA-8522-4C74-BA13-D26784E4BD88}"/>
              </a:ext>
            </a:extLst>
          </p:cNvPr>
          <p:cNvSpPr>
            <a:spLocks noGrp="1"/>
          </p:cNvSpPr>
          <p:nvPr>
            <p:ph type="body" sz="quarter" idx="71" hasCustomPrompt="1"/>
          </p:nvPr>
        </p:nvSpPr>
        <p:spPr>
          <a:xfrm>
            <a:off x="46284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46" name="Text Placeholder 2">
            <a:extLst>
              <a:ext uri="{FF2B5EF4-FFF2-40B4-BE49-F238E27FC236}">
                <a16:creationId xmlns:a16="http://schemas.microsoft.com/office/drawing/2014/main" id="{45EAA12B-9BD5-4940-A66D-EBEAA011C889}"/>
              </a:ext>
            </a:extLst>
          </p:cNvPr>
          <p:cNvSpPr>
            <a:spLocks noGrp="1"/>
          </p:cNvSpPr>
          <p:nvPr>
            <p:ph type="body" sz="quarter" idx="73" hasCustomPrompt="1"/>
          </p:nvPr>
        </p:nvSpPr>
        <p:spPr>
          <a:xfrm>
            <a:off x="58008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148" name="Text Placeholder 2">
            <a:extLst>
              <a:ext uri="{FF2B5EF4-FFF2-40B4-BE49-F238E27FC236}">
                <a16:creationId xmlns:a16="http://schemas.microsoft.com/office/drawing/2014/main" id="{96C5B3B6-A460-489A-ACD8-FADB2CC261F4}"/>
              </a:ext>
            </a:extLst>
          </p:cNvPr>
          <p:cNvSpPr>
            <a:spLocks noGrp="1"/>
          </p:cNvSpPr>
          <p:nvPr>
            <p:ph type="body" sz="quarter" idx="75" hasCustomPrompt="1"/>
          </p:nvPr>
        </p:nvSpPr>
        <p:spPr>
          <a:xfrm>
            <a:off x="6973238" y="3625794"/>
            <a:ext cx="1023300" cy="207749"/>
          </a:xfrm>
          <a:prstGeom prst="rect">
            <a:avLst/>
          </a:prstGeom>
        </p:spPr>
        <p:txBody>
          <a:bodyPr anchor="t">
            <a:spAutoFit/>
          </a:bodyPr>
          <a:lstStyle>
            <a:lvl1pPr marL="0" indent="0">
              <a:lnSpc>
                <a:spcPct val="100000"/>
              </a:lnSpc>
              <a:buNone/>
              <a:defRPr lang="en-US" sz="750" dirty="0">
                <a:solidFill>
                  <a:schemeClr val="tx1"/>
                </a:solidFill>
                <a:latin typeface="+mn-lt"/>
              </a:defRPr>
            </a:lvl1pPr>
          </a:lstStyle>
          <a:p>
            <a:pPr marL="171450" lvl="0" indent="-171450">
              <a:lnSpc>
                <a:spcPct val="100000"/>
              </a:lnSpc>
              <a:spcBef>
                <a:spcPts val="0"/>
              </a:spcBef>
            </a:pPr>
            <a:r>
              <a:rPr lang="en-GB"/>
              <a:t>Body Text</a:t>
            </a:r>
          </a:p>
        </p:txBody>
      </p:sp>
      <p:sp>
        <p:nvSpPr>
          <p:cNvPr id="56" name="Title 1">
            <a:extLst>
              <a:ext uri="{FF2B5EF4-FFF2-40B4-BE49-F238E27FC236}">
                <a16:creationId xmlns:a16="http://schemas.microsoft.com/office/drawing/2014/main" id="{53E2515F-C5CF-4897-BE5F-E86B2876C356}"/>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Open Sans" panose="020B0606030504020204" pitchFamily="34" charset="0"/>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1822485827"/>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ub Title + Content + Visual">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3479860" y="483394"/>
            <a:ext cx="5123597" cy="4176713"/>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8" name="Text Placeholder 3">
            <a:extLst>
              <a:ext uri="{FF2B5EF4-FFF2-40B4-BE49-F238E27FC236}">
                <a16:creationId xmlns:a16="http://schemas.microsoft.com/office/drawing/2014/main" id="{C4689938-8426-F245-8F5B-4165AD09FA1B}"/>
              </a:ext>
            </a:extLst>
          </p:cNvPr>
          <p:cNvSpPr>
            <a:spLocks noGrp="1"/>
          </p:cNvSpPr>
          <p:nvPr>
            <p:ph type="body" sz="half" idx="13" hasCustomPrompt="1"/>
          </p:nvPr>
        </p:nvSpPr>
        <p:spPr>
          <a:xfrm>
            <a:off x="466329" y="1478756"/>
            <a:ext cx="2944812" cy="1892826"/>
          </a:xfrm>
          <a:prstGeom prst="rect">
            <a:avLst/>
          </a:prstGeom>
        </p:spPr>
        <p:txBody>
          <a:bodyPr>
            <a:spAutoFit/>
          </a:bodyPr>
          <a:lstStyle>
            <a:lvl1pPr marL="0" indent="0">
              <a:lnSpc>
                <a:spcPct val="100000"/>
              </a:lnSpc>
              <a:buNone/>
              <a:defRPr sz="1950" b="0">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Short Sub Title that describes the image and fits in maximum four lines. Any highlighting to be done in bold or blue</a:t>
            </a:r>
          </a:p>
        </p:txBody>
      </p:sp>
      <p:sp>
        <p:nvSpPr>
          <p:cNvPr id="9" name="Title 1">
            <a:extLst>
              <a:ext uri="{FF2B5EF4-FFF2-40B4-BE49-F238E27FC236}">
                <a16:creationId xmlns:a16="http://schemas.microsoft.com/office/drawing/2014/main" id="{88E9B09B-82CB-4F50-BE65-AAEE816D17B1}"/>
              </a:ext>
            </a:extLst>
          </p:cNvPr>
          <p:cNvSpPr>
            <a:spLocks noGrp="1"/>
          </p:cNvSpPr>
          <p:nvPr>
            <p:ph type="title"/>
          </p:nvPr>
        </p:nvSpPr>
        <p:spPr>
          <a:xfrm>
            <a:off x="461963" y="395770"/>
            <a:ext cx="2944812" cy="692497"/>
          </a:xfrm>
          <a:prstGeom prst="rect">
            <a:avLst/>
          </a:prstGeom>
        </p:spPr>
        <p:txBody>
          <a:bodyPr>
            <a:spAutoFit/>
          </a:bodyPr>
          <a:lstStyle>
            <a:lvl1pPr>
              <a:defRPr lang="en-IN" sz="1950" b="1" i="0" dirty="0">
                <a:latin typeface="+mn-lt"/>
                <a:ea typeface="+mn-ea"/>
                <a:cs typeface="+mn-cs"/>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2682175728"/>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 Bullet + Visual">
    <p:spTree>
      <p:nvGrpSpPr>
        <p:cNvPr id="1" name=""/>
        <p:cNvGrpSpPr/>
        <p:nvPr/>
      </p:nvGrpSpPr>
      <p:grpSpPr>
        <a:xfrm>
          <a:off x="0" y="0"/>
          <a:ext cx="0" cy="0"/>
          <a:chOff x="0" y="0"/>
          <a:chExt cx="0" cy="0"/>
        </a:xfrm>
      </p:grpSpPr>
      <p:sp>
        <p:nvSpPr>
          <p:cNvPr id="5" name="Text Placeholder 14">
            <a:extLst>
              <a:ext uri="{FF2B5EF4-FFF2-40B4-BE49-F238E27FC236}">
                <a16:creationId xmlns:a16="http://schemas.microsoft.com/office/drawing/2014/main" id="{DABD7FFA-69E5-41E8-B82E-34B75DFB7888}"/>
              </a:ext>
            </a:extLst>
          </p:cNvPr>
          <p:cNvSpPr>
            <a:spLocks noGrp="1"/>
          </p:cNvSpPr>
          <p:nvPr>
            <p:ph type="body" sz="quarter" idx="15" hasCustomPrompt="1"/>
          </p:nvPr>
        </p:nvSpPr>
        <p:spPr>
          <a:xfrm>
            <a:off x="453628" y="2058591"/>
            <a:ext cx="3403997" cy="1674305"/>
          </a:xfrm>
          <a:prstGeom prst="rect">
            <a:avLst/>
          </a:prstGeom>
        </p:spPr>
        <p:txBody>
          <a:bodyPr wrap="square">
            <a:spAutoFit/>
          </a:bodyPr>
          <a:lstStyle>
            <a:lvl1pPr marL="0" marR="0" indent="0" algn="l" defTabSz="685800" rtl="0" eaLnBrk="1" fontAlgn="auto" latinLnBrk="0" hangingPunct="1">
              <a:lnSpc>
                <a:spcPct val="100000"/>
              </a:lnSpc>
              <a:spcBef>
                <a:spcPts val="750"/>
              </a:spcBef>
              <a:spcAft>
                <a:spcPts val="0"/>
              </a:spcAft>
              <a:buClr>
                <a:schemeClr val="accent4"/>
              </a:buClr>
              <a:buSzTx/>
              <a:buFont typeface="Arial" panose="020B0604020202020204" pitchFamily="34" charset="0"/>
              <a:buNone/>
              <a:tabLst/>
              <a:defRPr sz="1200">
                <a:solidFill>
                  <a:schemeClr val="tx1"/>
                </a:solidFill>
                <a:latin typeface="+mn-lt"/>
              </a:defRPr>
            </a:lvl1pPr>
            <a:lvl2pPr marL="159544" indent="-159544">
              <a:lnSpc>
                <a:spcPct val="100000"/>
              </a:lnSpc>
              <a:buClr>
                <a:schemeClr val="tx1"/>
              </a:buClr>
              <a:defRPr sz="1200">
                <a:solidFill>
                  <a:schemeClr val="tx1"/>
                </a:solidFill>
              </a:defRPr>
            </a:lvl2pPr>
            <a:lvl3pPr marL="358379" indent="-185738">
              <a:lnSpc>
                <a:spcPct val="100000"/>
              </a:lnSpc>
              <a:spcAft>
                <a:spcPts val="0"/>
              </a:spcAft>
              <a:buClr>
                <a:schemeClr val="tx1"/>
              </a:buClr>
              <a:buFont typeface="Arial" panose="020B0604020202020204" pitchFamily="34" charset="0"/>
              <a:buChar char="•"/>
              <a:defRPr sz="1200">
                <a:solidFill>
                  <a:schemeClr val="tx1"/>
                </a:solidFill>
              </a:defRPr>
            </a:lvl3pPr>
            <a:lvl4pPr marL="191700" marR="0" indent="0" algn="l" defTabSz="685800" rtl="0" eaLnBrk="1" fontAlgn="auto" latinLnBrk="0" hangingPunct="1">
              <a:lnSpc>
                <a:spcPct val="100000"/>
              </a:lnSpc>
              <a:spcBef>
                <a:spcPts val="375"/>
              </a:spcBef>
              <a:spcAft>
                <a:spcPts val="0"/>
              </a:spcAft>
              <a:buClr>
                <a:schemeClr val="tx1"/>
              </a:buClr>
              <a:buSzTx/>
              <a:buFont typeface="Arial" panose="020B0604020202020204" pitchFamily="34" charset="0"/>
              <a:buNone/>
              <a:tabLst/>
              <a:defRPr sz="1200">
                <a:solidFill>
                  <a:schemeClr val="tx1"/>
                </a:solidFill>
              </a:defRPr>
            </a:lvl4pPr>
            <a:lvl5pPr marL="348300" indent="-213300">
              <a:lnSpc>
                <a:spcPct val="100000"/>
              </a:lnSpc>
              <a:defRPr sz="1200"/>
            </a:lvl5pPr>
          </a:lstStyle>
          <a:p>
            <a:pPr lvl="0"/>
            <a:r>
              <a:rPr lang="en-GB"/>
              <a:t>Text that needs to go in bullet points need to follow this template</a:t>
            </a:r>
          </a:p>
          <a:p>
            <a:pPr marL="214313" marR="0" lvl="0" indent="-214313" algn="l" defTabSz="685800" rtl="0" eaLnBrk="1" fontAlgn="auto" latinLnBrk="0" hangingPunct="1">
              <a:lnSpc>
                <a:spcPct val="90000"/>
              </a:lnSpc>
              <a:spcBef>
                <a:spcPts val="750"/>
              </a:spcBef>
              <a:spcAft>
                <a:spcPts val="0"/>
              </a:spcAft>
              <a:buClrTx/>
              <a:buSzTx/>
              <a:tabLst/>
              <a:defRPr/>
            </a:pPr>
            <a:r>
              <a:rPr lang="en-GB"/>
              <a:t>First level - Sub text in preferably in one line</a:t>
            </a:r>
          </a:p>
          <a:p>
            <a:pPr lvl="1"/>
            <a:r>
              <a:rPr lang="en-GB"/>
              <a:t>Second level</a:t>
            </a:r>
          </a:p>
          <a:p>
            <a:pPr lvl="2"/>
            <a:r>
              <a:rPr lang="en-GB"/>
              <a:t>Sub- Second level</a:t>
            </a:r>
          </a:p>
          <a:p>
            <a:pPr lvl="1"/>
            <a:r>
              <a:rPr lang="en-GB"/>
              <a:t>Third level</a:t>
            </a:r>
          </a:p>
          <a:p>
            <a:pPr lvl="2"/>
            <a:r>
              <a:rPr lang="en-GB"/>
              <a:t>Sub- Third level</a:t>
            </a:r>
          </a:p>
        </p:txBody>
      </p:sp>
      <p:sp>
        <p:nvSpPr>
          <p:cNvPr id="6" name="Content Placeholder 2">
            <a:extLst>
              <a:ext uri="{FF2B5EF4-FFF2-40B4-BE49-F238E27FC236}">
                <a16:creationId xmlns:a16="http://schemas.microsoft.com/office/drawing/2014/main" id="{B60FAA21-A344-43D4-BDA4-FD3275200231}"/>
              </a:ext>
            </a:extLst>
          </p:cNvPr>
          <p:cNvSpPr>
            <a:spLocks noGrp="1"/>
          </p:cNvSpPr>
          <p:nvPr>
            <p:ph idx="1" hasCustomPrompt="1"/>
          </p:nvPr>
        </p:nvSpPr>
        <p:spPr>
          <a:xfrm>
            <a:off x="3968354" y="483394"/>
            <a:ext cx="4635103" cy="4176713"/>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7" name="Title 1">
            <a:extLst>
              <a:ext uri="{FF2B5EF4-FFF2-40B4-BE49-F238E27FC236}">
                <a16:creationId xmlns:a16="http://schemas.microsoft.com/office/drawing/2014/main" id="{55630796-9AED-4972-A5CF-D6D6E73B6F62}"/>
              </a:ext>
            </a:extLst>
          </p:cNvPr>
          <p:cNvSpPr>
            <a:spLocks noGrp="1"/>
          </p:cNvSpPr>
          <p:nvPr>
            <p:ph type="title" hasCustomPrompt="1"/>
          </p:nvPr>
        </p:nvSpPr>
        <p:spPr>
          <a:xfrm>
            <a:off x="453600" y="353528"/>
            <a:ext cx="3404025" cy="1615827"/>
          </a:xfrm>
          <a:prstGeom prst="rect">
            <a:avLst/>
          </a:prstGeom>
        </p:spPr>
        <p:txBody>
          <a:bodyPr>
            <a:spAutoFit/>
          </a:bodyPr>
          <a:lstStyle>
            <a:lvl1pPr>
              <a:lnSpc>
                <a:spcPct val="100000"/>
              </a:lnSpc>
              <a:defRPr b="1">
                <a:latin typeface="+mn-lt"/>
              </a:defRPr>
            </a:lvl1pPr>
          </a:lstStyle>
          <a:p>
            <a:r>
              <a:rPr lang="en-GB"/>
              <a:t>Title in maximum </a:t>
            </a:r>
            <a:br>
              <a:rPr lang="en-GB"/>
            </a:br>
            <a:r>
              <a:rPr lang="en-GB"/>
              <a:t>three lines</a:t>
            </a:r>
            <a:endParaRPr lang="en-IN"/>
          </a:p>
        </p:txBody>
      </p:sp>
    </p:spTree>
    <p:extLst>
      <p:ext uri="{BB962C8B-B14F-4D97-AF65-F5344CB8AC3E}">
        <p14:creationId xmlns:p14="http://schemas.microsoft.com/office/powerpoint/2010/main" val="834008975"/>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 content + 2 Visual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461963" y="3075385"/>
            <a:ext cx="3515916" cy="1292662"/>
          </a:xfrm>
          <a:prstGeom prst="rect">
            <a:avLst/>
          </a:prstGeom>
        </p:spPr>
        <p:txBody>
          <a:bodyPr anchor="t">
            <a:spAutoFit/>
          </a:bodyPr>
          <a:lstStyle>
            <a:lvl1pPr marL="0" indent="0" algn="l">
              <a:lnSpc>
                <a:spcPct val="100000"/>
              </a:lnSpc>
              <a:buNone/>
              <a:defRPr sz="195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in three of four lines maximum. Any highlighting to be done in bold or blue</a:t>
            </a:r>
            <a:endParaRPr lang="en-US"/>
          </a:p>
        </p:txBody>
      </p:sp>
      <p:sp>
        <p:nvSpPr>
          <p:cNvPr id="13" name="Content Placeholder 2">
            <a:extLst>
              <a:ext uri="{FF2B5EF4-FFF2-40B4-BE49-F238E27FC236}">
                <a16:creationId xmlns:a16="http://schemas.microsoft.com/office/drawing/2014/main" id="{17CE1F37-C7DA-0242-B2C0-160371F28412}"/>
              </a:ext>
            </a:extLst>
          </p:cNvPr>
          <p:cNvSpPr>
            <a:spLocks noGrp="1"/>
          </p:cNvSpPr>
          <p:nvPr>
            <p:ph idx="12" hasCustomPrompt="1"/>
          </p:nvPr>
        </p:nvSpPr>
        <p:spPr>
          <a:xfrm>
            <a:off x="5193506" y="2608030"/>
            <a:ext cx="3409950" cy="2060972"/>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5193506" y="483394"/>
            <a:ext cx="3409950" cy="2060972"/>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8" name="Title 1">
            <a:extLst>
              <a:ext uri="{FF2B5EF4-FFF2-40B4-BE49-F238E27FC236}">
                <a16:creationId xmlns:a16="http://schemas.microsoft.com/office/drawing/2014/main" id="{2301CBD1-44C8-42DF-AEB1-BC9CB069B9B2}"/>
              </a:ext>
            </a:extLst>
          </p:cNvPr>
          <p:cNvSpPr>
            <a:spLocks noGrp="1"/>
          </p:cNvSpPr>
          <p:nvPr>
            <p:ph type="title"/>
          </p:nvPr>
        </p:nvSpPr>
        <p:spPr>
          <a:xfrm>
            <a:off x="454023" y="373999"/>
            <a:ext cx="4320000" cy="1061829"/>
          </a:xfrm>
          <a:prstGeom prst="rect">
            <a:avLst/>
          </a:prstGeom>
        </p:spPr>
        <p:txBody>
          <a:bodyPr wrap="square">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926354205"/>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 graphs + Highlight">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FC5EC474-5D54-473F-9E3A-41A08DB05227}"/>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13" name="Text Placeholder 6">
            <a:extLst>
              <a:ext uri="{FF2B5EF4-FFF2-40B4-BE49-F238E27FC236}">
                <a16:creationId xmlns:a16="http://schemas.microsoft.com/office/drawing/2014/main" id="{6EC92998-E102-43FB-9F0D-FE0513A0B097}"/>
              </a:ext>
            </a:extLst>
          </p:cNvPr>
          <p:cNvSpPr>
            <a:spLocks noGrp="1"/>
          </p:cNvSpPr>
          <p:nvPr>
            <p:ph type="body" sz="quarter" idx="18" hasCustomPrompt="1"/>
          </p:nvPr>
        </p:nvSpPr>
        <p:spPr>
          <a:xfrm>
            <a:off x="480732" y="4584835"/>
            <a:ext cx="8037865" cy="184666"/>
          </a:xfrm>
          <a:prstGeom prst="rect">
            <a:avLst/>
          </a:prstGeom>
        </p:spPr>
        <p:txBody>
          <a:bodyPr wrap="square" anchor="b">
            <a:spAutoFit/>
          </a:bodyPr>
          <a:lstStyle>
            <a:lvl1pPr marL="0" indent="0" algn="l">
              <a:lnSpc>
                <a:spcPct val="100000"/>
              </a:lnSpc>
              <a:spcBef>
                <a:spcPts val="0"/>
              </a:spcBef>
              <a:buNone/>
              <a:defRPr sz="600">
                <a:solidFill>
                  <a:schemeClr val="bg1">
                    <a:lumMod val="50000"/>
                  </a:schemeClr>
                </a:solidFill>
                <a:latin typeface="+mn-lt"/>
              </a:defRPr>
            </a:lvl1pPr>
            <a:lvl2pPr marL="342900" indent="0">
              <a:buNone/>
              <a:defRPr sz="1200"/>
            </a:lvl2pPr>
            <a:lvl3pPr marL="685800" indent="0">
              <a:buNone/>
              <a:defRPr sz="1200"/>
            </a:lvl3pPr>
            <a:lvl4pPr marL="1028700" indent="0">
              <a:buNone/>
              <a:defRPr sz="1200"/>
            </a:lvl4pPr>
            <a:lvl5pPr marL="1371600" indent="0">
              <a:buNone/>
              <a:defRPr sz="1200"/>
            </a:lvl5pPr>
          </a:lstStyle>
          <a:p>
            <a:pPr lvl="0"/>
            <a:r>
              <a:rPr lang="en-GB"/>
              <a:t>Enter annotations or hyperlinks or websites here</a:t>
            </a:r>
          </a:p>
        </p:txBody>
      </p:sp>
      <p:sp>
        <p:nvSpPr>
          <p:cNvPr id="14" name="Content Placeholder 2">
            <a:extLst>
              <a:ext uri="{FF2B5EF4-FFF2-40B4-BE49-F238E27FC236}">
                <a16:creationId xmlns:a16="http://schemas.microsoft.com/office/drawing/2014/main" id="{0799E852-07DB-4C48-BE1E-6E5A5264B339}"/>
              </a:ext>
            </a:extLst>
          </p:cNvPr>
          <p:cNvSpPr>
            <a:spLocks noGrp="1"/>
          </p:cNvSpPr>
          <p:nvPr>
            <p:ph idx="1" hasCustomPrompt="1"/>
          </p:nvPr>
        </p:nvSpPr>
        <p:spPr>
          <a:xfrm>
            <a:off x="488700" y="1384554"/>
            <a:ext cx="3709920" cy="1891355"/>
          </a:xfrm>
          <a:prstGeom prst="rect">
            <a:avLst/>
          </a:prstGeom>
        </p:spPr>
        <p:txBody>
          <a:bodyPr/>
          <a:lstStyle>
            <a:lvl1pPr marL="0" indent="0">
              <a:lnSpc>
                <a:spcPct val="100000"/>
              </a:lnSpc>
              <a:buNone/>
              <a:defRPr sz="1200">
                <a:solidFill>
                  <a:srgbClr val="6B6B6B"/>
                </a:solidFill>
                <a:latin typeface="+mn-lt"/>
              </a:defRPr>
            </a:lvl1pPr>
          </a:lstStyle>
          <a:p>
            <a:r>
              <a:rPr lang="en-US"/>
              <a:t>INSERT CHART</a:t>
            </a:r>
          </a:p>
        </p:txBody>
      </p:sp>
      <p:sp>
        <p:nvSpPr>
          <p:cNvPr id="16" name="Content Placeholder 2">
            <a:extLst>
              <a:ext uri="{FF2B5EF4-FFF2-40B4-BE49-F238E27FC236}">
                <a16:creationId xmlns:a16="http://schemas.microsoft.com/office/drawing/2014/main" id="{62BA6F40-D5C2-4C17-B2BB-13A1683A1A7B}"/>
              </a:ext>
            </a:extLst>
          </p:cNvPr>
          <p:cNvSpPr>
            <a:spLocks noGrp="1"/>
          </p:cNvSpPr>
          <p:nvPr>
            <p:ph idx="14" hasCustomPrompt="1"/>
          </p:nvPr>
        </p:nvSpPr>
        <p:spPr>
          <a:xfrm>
            <a:off x="4808677" y="1384554"/>
            <a:ext cx="3709920" cy="1891355"/>
          </a:xfrm>
          <a:prstGeom prst="rect">
            <a:avLst/>
          </a:prstGeom>
        </p:spPr>
        <p:txBody>
          <a:bodyPr/>
          <a:lstStyle>
            <a:lvl1pPr marL="0" indent="0">
              <a:lnSpc>
                <a:spcPct val="100000"/>
              </a:lnSpc>
              <a:buNone/>
              <a:defRPr sz="1200">
                <a:solidFill>
                  <a:srgbClr val="6B6B6B"/>
                </a:solidFill>
                <a:latin typeface="+mn-lt"/>
              </a:defRPr>
            </a:lvl1pPr>
          </a:lstStyle>
          <a:p>
            <a:r>
              <a:rPr lang="en-US"/>
              <a:t>INSERT CHART</a:t>
            </a:r>
          </a:p>
        </p:txBody>
      </p:sp>
      <p:sp>
        <p:nvSpPr>
          <p:cNvPr id="22" name="Text Placeholder 2">
            <a:extLst>
              <a:ext uri="{FF2B5EF4-FFF2-40B4-BE49-F238E27FC236}">
                <a16:creationId xmlns:a16="http://schemas.microsoft.com/office/drawing/2014/main" id="{E6F2106F-239F-421B-9DAB-8226991E879A}"/>
              </a:ext>
            </a:extLst>
          </p:cNvPr>
          <p:cNvSpPr>
            <a:spLocks noGrp="1"/>
          </p:cNvSpPr>
          <p:nvPr>
            <p:ph type="body" sz="quarter" idx="15" hasCustomPrompt="1"/>
          </p:nvPr>
        </p:nvSpPr>
        <p:spPr>
          <a:xfrm>
            <a:off x="4805874" y="3511387"/>
            <a:ext cx="3715200" cy="392415"/>
          </a:xfrm>
          <a:prstGeom prst="rect">
            <a:avLst/>
          </a:prstGeom>
        </p:spPr>
        <p:txBody>
          <a:bodyPr anchor="b">
            <a:spAutoFit/>
          </a:bodyPr>
          <a:lstStyle>
            <a:lvl1pPr marL="0" indent="0" algn="l">
              <a:lnSpc>
                <a:spcPct val="100000"/>
              </a:lnSpc>
              <a:buNone/>
              <a:defRPr sz="195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Insight highlight</a:t>
            </a:r>
            <a:endParaRPr lang="en-US"/>
          </a:p>
        </p:txBody>
      </p:sp>
      <p:sp>
        <p:nvSpPr>
          <p:cNvPr id="23" name="Text Placeholder 2">
            <a:extLst>
              <a:ext uri="{FF2B5EF4-FFF2-40B4-BE49-F238E27FC236}">
                <a16:creationId xmlns:a16="http://schemas.microsoft.com/office/drawing/2014/main" id="{0B6A52CA-AF91-4DF6-8C12-8A93EEFACDA9}"/>
              </a:ext>
            </a:extLst>
          </p:cNvPr>
          <p:cNvSpPr>
            <a:spLocks noGrp="1"/>
          </p:cNvSpPr>
          <p:nvPr>
            <p:ph type="body" sz="quarter" idx="13" hasCustomPrompt="1"/>
          </p:nvPr>
        </p:nvSpPr>
        <p:spPr>
          <a:xfrm>
            <a:off x="485897" y="3511387"/>
            <a:ext cx="3715200" cy="392415"/>
          </a:xfrm>
          <a:prstGeom prst="rect">
            <a:avLst/>
          </a:prstGeom>
        </p:spPr>
        <p:txBody>
          <a:bodyPr anchor="b">
            <a:spAutoFit/>
          </a:bodyPr>
          <a:lstStyle>
            <a:lvl1pPr marL="0" indent="0" algn="l">
              <a:lnSpc>
                <a:spcPct val="100000"/>
              </a:lnSpc>
              <a:buNone/>
              <a:defRPr sz="195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Insight highlight</a:t>
            </a:r>
            <a:endParaRPr lang="en-US"/>
          </a:p>
        </p:txBody>
      </p:sp>
      <p:sp>
        <p:nvSpPr>
          <p:cNvPr id="24" name="Text Placeholder 6">
            <a:extLst>
              <a:ext uri="{FF2B5EF4-FFF2-40B4-BE49-F238E27FC236}">
                <a16:creationId xmlns:a16="http://schemas.microsoft.com/office/drawing/2014/main" id="{F8C68E73-4694-4068-A989-F6E6EAB35B26}"/>
              </a:ext>
            </a:extLst>
          </p:cNvPr>
          <p:cNvSpPr>
            <a:spLocks noGrp="1"/>
          </p:cNvSpPr>
          <p:nvPr>
            <p:ph type="body" sz="quarter" idx="16" hasCustomPrompt="1"/>
          </p:nvPr>
        </p:nvSpPr>
        <p:spPr>
          <a:xfrm>
            <a:off x="485897" y="3965788"/>
            <a:ext cx="3715200" cy="276999"/>
          </a:xfrm>
          <a:prstGeom prst="rect">
            <a:avLst/>
          </a:prstGeom>
        </p:spPr>
        <p:txBody>
          <a:bodyPr anchor="t">
            <a:spAutoFit/>
          </a:bodyPr>
          <a:lstStyle>
            <a:lvl1pPr marL="0" indent="0" algn="l">
              <a:lnSpc>
                <a:spcPct val="100000"/>
              </a:lnSpc>
              <a:spcBef>
                <a:spcPts val="0"/>
              </a:spcBef>
              <a:buNone/>
              <a:defRPr sz="1200">
                <a:latin typeface="+mn-lt"/>
              </a:defRPr>
            </a:lvl1pPr>
            <a:lvl2pPr marL="342900" indent="0">
              <a:buNone/>
              <a:defRPr sz="1200"/>
            </a:lvl2pPr>
            <a:lvl3pPr marL="685800" indent="0">
              <a:buNone/>
              <a:defRPr sz="1200"/>
            </a:lvl3pPr>
            <a:lvl4pPr marL="1028700" indent="0">
              <a:buNone/>
              <a:defRPr sz="1200"/>
            </a:lvl4pPr>
            <a:lvl5pPr marL="1371600" indent="0">
              <a:buNone/>
              <a:defRPr sz="1200"/>
            </a:lvl5pPr>
          </a:lstStyle>
          <a:p>
            <a:pPr lvl="0"/>
            <a:r>
              <a:rPr lang="en-GB"/>
              <a:t>Enter body text here</a:t>
            </a:r>
          </a:p>
        </p:txBody>
      </p:sp>
      <p:sp>
        <p:nvSpPr>
          <p:cNvPr id="25" name="Text Placeholder 6">
            <a:extLst>
              <a:ext uri="{FF2B5EF4-FFF2-40B4-BE49-F238E27FC236}">
                <a16:creationId xmlns:a16="http://schemas.microsoft.com/office/drawing/2014/main" id="{D97D5BBB-3C42-4532-BBD4-50DFB00BA9D0}"/>
              </a:ext>
            </a:extLst>
          </p:cNvPr>
          <p:cNvSpPr>
            <a:spLocks noGrp="1"/>
          </p:cNvSpPr>
          <p:nvPr>
            <p:ph type="body" sz="quarter" idx="17" hasCustomPrompt="1"/>
          </p:nvPr>
        </p:nvSpPr>
        <p:spPr>
          <a:xfrm>
            <a:off x="4805874" y="3965788"/>
            <a:ext cx="3715200" cy="276999"/>
          </a:xfrm>
          <a:prstGeom prst="rect">
            <a:avLst/>
          </a:prstGeom>
        </p:spPr>
        <p:txBody>
          <a:bodyPr anchor="t">
            <a:spAutoFit/>
          </a:bodyPr>
          <a:lstStyle>
            <a:lvl1pPr marL="0" indent="0" algn="l">
              <a:lnSpc>
                <a:spcPct val="100000"/>
              </a:lnSpc>
              <a:spcBef>
                <a:spcPts val="0"/>
              </a:spcBef>
              <a:buNone/>
              <a:defRPr sz="1200">
                <a:latin typeface="+mn-lt"/>
              </a:defRPr>
            </a:lvl1pPr>
            <a:lvl2pPr marL="342900" indent="0">
              <a:buNone/>
              <a:defRPr sz="1200"/>
            </a:lvl2pPr>
            <a:lvl3pPr marL="685800" indent="0">
              <a:buNone/>
              <a:defRPr sz="1200"/>
            </a:lvl3pPr>
            <a:lvl4pPr marL="1028700" indent="0">
              <a:buNone/>
              <a:defRPr sz="1200"/>
            </a:lvl4pPr>
            <a:lvl5pPr marL="1371600" indent="0">
              <a:buNone/>
              <a:defRPr sz="1200"/>
            </a:lvl5pPr>
          </a:lstStyle>
          <a:p>
            <a:pPr lvl="0"/>
            <a:r>
              <a:rPr lang="en-GB"/>
              <a:t>Enter body text here</a:t>
            </a:r>
          </a:p>
        </p:txBody>
      </p:sp>
    </p:spTree>
    <p:extLst>
      <p:ext uri="{BB962C8B-B14F-4D97-AF65-F5344CB8AC3E}">
        <p14:creationId xmlns:p14="http://schemas.microsoft.com/office/powerpoint/2010/main" val="2584244572"/>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 card horizontal layout">
    <p:bg>
      <p:bgPr>
        <a:solidFill>
          <a:schemeClr val="bg2">
            <a:alpha val="40000"/>
          </a:schemeClr>
        </a:solidFill>
        <a:effectLst/>
      </p:bgPr>
    </p:bg>
    <p:spTree>
      <p:nvGrpSpPr>
        <p:cNvPr id="1" name=""/>
        <p:cNvGrpSpPr/>
        <p:nvPr/>
      </p:nvGrpSpPr>
      <p:grpSpPr>
        <a:xfrm>
          <a:off x="0" y="0"/>
          <a:ext cx="0" cy="0"/>
          <a:chOff x="0" y="0"/>
          <a:chExt cx="0" cy="0"/>
        </a:xfrm>
      </p:grpSpPr>
      <p:cxnSp>
        <p:nvCxnSpPr>
          <p:cNvPr id="89" name="Straight Connector 88">
            <a:extLst>
              <a:ext uri="{FF2B5EF4-FFF2-40B4-BE49-F238E27FC236}">
                <a16:creationId xmlns:a16="http://schemas.microsoft.com/office/drawing/2014/main" id="{35D85233-F60E-624E-A783-92937421B2FD}"/>
              </a:ext>
            </a:extLst>
          </p:cNvPr>
          <p:cNvCxnSpPr>
            <a:cxnSpLocks/>
          </p:cNvCxnSpPr>
          <p:nvPr/>
        </p:nvCxnSpPr>
        <p:spPr>
          <a:xfrm flipH="1" flipV="1">
            <a:off x="1639235" y="872400"/>
            <a:ext cx="6225" cy="35"/>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3" name="Title 1">
            <a:extLst>
              <a:ext uri="{FF2B5EF4-FFF2-40B4-BE49-F238E27FC236}">
                <a16:creationId xmlns:a16="http://schemas.microsoft.com/office/drawing/2014/main" id="{3AC1F3C0-0D2C-42BA-AE4B-0D8BAA8BAAA1}"/>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Open Sans" panose="020B0606030504020204" pitchFamily="34" charset="0"/>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25" name="Text Placeholder 2">
            <a:extLst>
              <a:ext uri="{FF2B5EF4-FFF2-40B4-BE49-F238E27FC236}">
                <a16:creationId xmlns:a16="http://schemas.microsoft.com/office/drawing/2014/main" id="{DDCB3788-B640-4E0C-8D72-5AE250E17347}"/>
              </a:ext>
            </a:extLst>
          </p:cNvPr>
          <p:cNvSpPr>
            <a:spLocks noGrp="1"/>
          </p:cNvSpPr>
          <p:nvPr>
            <p:ph type="body" sz="quarter" idx="26" hasCustomPrompt="1"/>
          </p:nvPr>
        </p:nvSpPr>
        <p:spPr>
          <a:xfrm>
            <a:off x="534591" y="1121229"/>
            <a:ext cx="2025000" cy="1134000"/>
          </a:xfrm>
          <a:prstGeom prst="roundRect">
            <a:avLst>
              <a:gd name="adj" fmla="val 8828"/>
            </a:avLst>
          </a:prstGeom>
          <a:solidFill>
            <a:schemeClr val="bg1"/>
          </a:solidFill>
        </p:spPr>
        <p:txBody>
          <a:bodyPr lIns="144000" tIns="72000" rIns="108000" bIns="72000" anchor="ctr">
            <a:noAutofit/>
          </a:bodyPr>
          <a:lstStyle>
            <a:lvl1pPr marL="0" indent="0" algn="l">
              <a:lnSpc>
                <a:spcPct val="100000"/>
              </a:lnSpc>
              <a:buNone/>
              <a:defRPr sz="135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1</a:t>
            </a:r>
            <a:endParaRPr lang="en-US"/>
          </a:p>
        </p:txBody>
      </p:sp>
      <p:sp>
        <p:nvSpPr>
          <p:cNvPr id="27" name="Text Placeholder 2">
            <a:extLst>
              <a:ext uri="{FF2B5EF4-FFF2-40B4-BE49-F238E27FC236}">
                <a16:creationId xmlns:a16="http://schemas.microsoft.com/office/drawing/2014/main" id="{103C16C2-B4D8-41F9-81B8-E71F2940694C}"/>
              </a:ext>
            </a:extLst>
          </p:cNvPr>
          <p:cNvSpPr>
            <a:spLocks noGrp="1"/>
          </p:cNvSpPr>
          <p:nvPr>
            <p:ph type="body" sz="quarter" idx="37" hasCustomPrompt="1"/>
          </p:nvPr>
        </p:nvSpPr>
        <p:spPr>
          <a:xfrm>
            <a:off x="534591" y="2321479"/>
            <a:ext cx="2025000" cy="1134000"/>
          </a:xfrm>
          <a:prstGeom prst="roundRect">
            <a:avLst>
              <a:gd name="adj" fmla="val 11067"/>
            </a:avLst>
          </a:prstGeom>
          <a:solidFill>
            <a:schemeClr val="bg1"/>
          </a:solidFill>
        </p:spPr>
        <p:txBody>
          <a:bodyPr lIns="144000" tIns="72000" rIns="108000" bIns="72000" anchor="ctr">
            <a:noAutofit/>
          </a:bodyPr>
          <a:lstStyle>
            <a:lvl1pPr marL="0" indent="0" algn="l">
              <a:lnSpc>
                <a:spcPct val="100000"/>
              </a:lnSpc>
              <a:buNone/>
              <a:defRPr sz="135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2</a:t>
            </a:r>
            <a:endParaRPr lang="en-US"/>
          </a:p>
        </p:txBody>
      </p:sp>
      <p:sp>
        <p:nvSpPr>
          <p:cNvPr id="30" name="Text Placeholder 2">
            <a:extLst>
              <a:ext uri="{FF2B5EF4-FFF2-40B4-BE49-F238E27FC236}">
                <a16:creationId xmlns:a16="http://schemas.microsoft.com/office/drawing/2014/main" id="{AF91E91A-6668-489F-B084-A6DE167813D9}"/>
              </a:ext>
            </a:extLst>
          </p:cNvPr>
          <p:cNvSpPr>
            <a:spLocks noGrp="1"/>
          </p:cNvSpPr>
          <p:nvPr>
            <p:ph type="body" sz="quarter" idx="39" hasCustomPrompt="1"/>
          </p:nvPr>
        </p:nvSpPr>
        <p:spPr>
          <a:xfrm>
            <a:off x="534591" y="3521729"/>
            <a:ext cx="2025000" cy="1134000"/>
          </a:xfrm>
          <a:prstGeom prst="roundRect">
            <a:avLst>
              <a:gd name="adj" fmla="val 9947"/>
            </a:avLst>
          </a:prstGeom>
          <a:solidFill>
            <a:schemeClr val="bg1"/>
          </a:solidFill>
        </p:spPr>
        <p:txBody>
          <a:bodyPr lIns="144000" tIns="72000" rIns="108000" bIns="72000" anchor="ctr">
            <a:noAutofit/>
          </a:bodyPr>
          <a:lstStyle>
            <a:lvl1pPr marL="0" indent="0" algn="l">
              <a:lnSpc>
                <a:spcPct val="100000"/>
              </a:lnSpc>
              <a:buNone/>
              <a:defRPr sz="135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3</a:t>
            </a:r>
            <a:endParaRPr lang="en-US"/>
          </a:p>
        </p:txBody>
      </p:sp>
      <p:sp>
        <p:nvSpPr>
          <p:cNvPr id="35" name="Text Placeholder 2">
            <a:extLst>
              <a:ext uri="{FF2B5EF4-FFF2-40B4-BE49-F238E27FC236}">
                <a16:creationId xmlns:a16="http://schemas.microsoft.com/office/drawing/2014/main" id="{8089179D-B2A0-4A15-A6DF-CF99DC9C5D99}"/>
              </a:ext>
            </a:extLst>
          </p:cNvPr>
          <p:cNvSpPr>
            <a:spLocks noGrp="1"/>
          </p:cNvSpPr>
          <p:nvPr>
            <p:ph type="body" sz="quarter" idx="41" hasCustomPrompt="1"/>
          </p:nvPr>
        </p:nvSpPr>
        <p:spPr>
          <a:xfrm>
            <a:off x="2651032" y="1121229"/>
            <a:ext cx="5934240" cy="1134000"/>
          </a:xfrm>
          <a:prstGeom prst="roundRect">
            <a:avLst>
              <a:gd name="adj" fmla="val 8828"/>
            </a:avLst>
          </a:prstGeom>
          <a:solidFill>
            <a:schemeClr val="bg1"/>
          </a:solidFill>
        </p:spPr>
        <p:txBody>
          <a:bodyPr lIns="144000" tIns="72000" rIns="108000" bIns="72000" anchor="ctr">
            <a:noAutofit/>
          </a:bodyPr>
          <a:lstStyle>
            <a:lvl1pPr marL="0" indent="0" algn="l">
              <a:lnSpc>
                <a:spcPct val="100000"/>
              </a:lnSpc>
              <a:buNone/>
              <a:defRPr sz="135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Text in maximum 3 lines</a:t>
            </a:r>
          </a:p>
        </p:txBody>
      </p:sp>
      <p:sp>
        <p:nvSpPr>
          <p:cNvPr id="36" name="Text Placeholder 2">
            <a:extLst>
              <a:ext uri="{FF2B5EF4-FFF2-40B4-BE49-F238E27FC236}">
                <a16:creationId xmlns:a16="http://schemas.microsoft.com/office/drawing/2014/main" id="{B7EAB319-3FDE-498E-AA33-CDBFDCDB7E66}"/>
              </a:ext>
            </a:extLst>
          </p:cNvPr>
          <p:cNvSpPr>
            <a:spLocks noGrp="1"/>
          </p:cNvSpPr>
          <p:nvPr>
            <p:ph type="body" sz="quarter" idx="42" hasCustomPrompt="1"/>
          </p:nvPr>
        </p:nvSpPr>
        <p:spPr>
          <a:xfrm>
            <a:off x="2651032" y="2321479"/>
            <a:ext cx="5934240" cy="1134000"/>
          </a:xfrm>
          <a:prstGeom prst="roundRect">
            <a:avLst>
              <a:gd name="adj" fmla="val 11067"/>
            </a:avLst>
          </a:prstGeom>
          <a:solidFill>
            <a:schemeClr val="bg1"/>
          </a:solidFill>
        </p:spPr>
        <p:txBody>
          <a:bodyPr lIns="144000" tIns="72000" rIns="108000" bIns="72000" anchor="ctr">
            <a:noAutofit/>
          </a:bodyPr>
          <a:lstStyle>
            <a:lvl1pPr marL="0" indent="0" algn="l">
              <a:lnSpc>
                <a:spcPct val="100000"/>
              </a:lnSpc>
              <a:buNone/>
              <a:defRPr sz="135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Text in maximum 3 lines</a:t>
            </a:r>
          </a:p>
        </p:txBody>
      </p:sp>
      <p:sp>
        <p:nvSpPr>
          <p:cNvPr id="37" name="Text Placeholder 2">
            <a:extLst>
              <a:ext uri="{FF2B5EF4-FFF2-40B4-BE49-F238E27FC236}">
                <a16:creationId xmlns:a16="http://schemas.microsoft.com/office/drawing/2014/main" id="{743B7E32-F244-4B56-AC4B-5E0E39764812}"/>
              </a:ext>
            </a:extLst>
          </p:cNvPr>
          <p:cNvSpPr>
            <a:spLocks noGrp="1"/>
          </p:cNvSpPr>
          <p:nvPr>
            <p:ph type="body" sz="quarter" idx="43" hasCustomPrompt="1"/>
          </p:nvPr>
        </p:nvSpPr>
        <p:spPr>
          <a:xfrm>
            <a:off x="2651032" y="3521729"/>
            <a:ext cx="5934240" cy="1134000"/>
          </a:xfrm>
          <a:prstGeom prst="roundRect">
            <a:avLst>
              <a:gd name="adj" fmla="val 9947"/>
            </a:avLst>
          </a:prstGeom>
          <a:solidFill>
            <a:schemeClr val="bg1"/>
          </a:solidFill>
        </p:spPr>
        <p:txBody>
          <a:bodyPr lIns="144000" tIns="72000" rIns="108000" bIns="72000" anchor="ctr">
            <a:noAutofit/>
          </a:bodyPr>
          <a:lstStyle>
            <a:lvl1pPr marL="0" indent="0" algn="l">
              <a:lnSpc>
                <a:spcPct val="100000"/>
              </a:lnSpc>
              <a:buNone/>
              <a:defRPr sz="135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Text in maximum 3 lines</a:t>
            </a:r>
          </a:p>
        </p:txBody>
      </p:sp>
    </p:spTree>
    <p:extLst>
      <p:ext uri="{BB962C8B-B14F-4D97-AF65-F5344CB8AC3E}">
        <p14:creationId xmlns:p14="http://schemas.microsoft.com/office/powerpoint/2010/main" val="2747862849"/>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 cards">
    <p:bg>
      <p:bgPr>
        <a:solidFill>
          <a:schemeClr val="bg2">
            <a:alpha val="40000"/>
          </a:schemeClr>
        </a:solidFill>
        <a:effectLst/>
      </p:bgPr>
    </p:bg>
    <p:spTree>
      <p:nvGrpSpPr>
        <p:cNvPr id="1" name=""/>
        <p:cNvGrpSpPr/>
        <p:nvPr/>
      </p:nvGrpSpPr>
      <p:grpSpPr>
        <a:xfrm>
          <a:off x="0" y="0"/>
          <a:ext cx="0" cy="0"/>
          <a:chOff x="0" y="0"/>
          <a:chExt cx="0" cy="0"/>
        </a:xfrm>
      </p:grpSpPr>
      <p:sp>
        <p:nvSpPr>
          <p:cNvPr id="22" name="Rounded Rectangle 21">
            <a:extLst>
              <a:ext uri="{FF2B5EF4-FFF2-40B4-BE49-F238E27FC236}">
                <a16:creationId xmlns:a16="http://schemas.microsoft.com/office/drawing/2014/main" id="{4F6E4A95-165C-5040-B76F-D5419E1A0D2A}"/>
              </a:ext>
            </a:extLst>
          </p:cNvPr>
          <p:cNvSpPr/>
          <p:nvPr/>
        </p:nvSpPr>
        <p:spPr>
          <a:xfrm>
            <a:off x="550534" y="1478756"/>
            <a:ext cx="3966233"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4" name="Rounded Rectangle 23">
            <a:extLst>
              <a:ext uri="{FF2B5EF4-FFF2-40B4-BE49-F238E27FC236}">
                <a16:creationId xmlns:a16="http://schemas.microsoft.com/office/drawing/2014/main" id="{58A2D04A-6C44-4145-81D0-1AB218484459}"/>
              </a:ext>
            </a:extLst>
          </p:cNvPr>
          <p:cNvSpPr/>
          <p:nvPr/>
        </p:nvSpPr>
        <p:spPr>
          <a:xfrm>
            <a:off x="4618037" y="1478756"/>
            <a:ext cx="3966233"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6" name="Text Placeholder 2">
            <a:extLst>
              <a:ext uri="{FF2B5EF4-FFF2-40B4-BE49-F238E27FC236}">
                <a16:creationId xmlns:a16="http://schemas.microsoft.com/office/drawing/2014/main" id="{72AFDBBF-EDC4-6148-9022-57EB4425C5F2}"/>
              </a:ext>
            </a:extLst>
          </p:cNvPr>
          <p:cNvSpPr>
            <a:spLocks noGrp="1"/>
          </p:cNvSpPr>
          <p:nvPr>
            <p:ph type="body" sz="quarter" idx="16" hasCustomPrompt="1"/>
          </p:nvPr>
        </p:nvSpPr>
        <p:spPr>
          <a:xfrm>
            <a:off x="4711613" y="1619887"/>
            <a:ext cx="3761636"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one line</a:t>
            </a:r>
            <a:endParaRPr lang="en-US"/>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644110" y="1619887"/>
            <a:ext cx="3761636"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one line</a:t>
            </a:r>
            <a:endParaRPr lang="en-US"/>
          </a:p>
        </p:txBody>
      </p:sp>
      <p:sp>
        <p:nvSpPr>
          <p:cNvPr id="14" name="Text Placeholder 13">
            <a:extLst>
              <a:ext uri="{FF2B5EF4-FFF2-40B4-BE49-F238E27FC236}">
                <a16:creationId xmlns:a16="http://schemas.microsoft.com/office/drawing/2014/main" id="{F942D11D-43C3-FD4E-B872-AC26CECB3FFD}"/>
              </a:ext>
            </a:extLst>
          </p:cNvPr>
          <p:cNvSpPr>
            <a:spLocks noGrp="1"/>
          </p:cNvSpPr>
          <p:nvPr>
            <p:ph type="body" sz="quarter" idx="18" hasCustomPrompt="1"/>
          </p:nvPr>
        </p:nvSpPr>
        <p:spPr>
          <a:xfrm>
            <a:off x="644129" y="2114312"/>
            <a:ext cx="3761184" cy="1200329"/>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 You can also add images/ or charts here.</a:t>
            </a:r>
            <a:endParaRPr lang="en-US"/>
          </a:p>
        </p:txBody>
      </p:sp>
      <p:sp>
        <p:nvSpPr>
          <p:cNvPr id="12" name="Title 1">
            <a:extLst>
              <a:ext uri="{FF2B5EF4-FFF2-40B4-BE49-F238E27FC236}">
                <a16:creationId xmlns:a16="http://schemas.microsoft.com/office/drawing/2014/main" id="{A4208F43-5ED5-4F0B-8C92-B60C9EBCE152}"/>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9" name="Text Placeholder 13">
            <a:extLst>
              <a:ext uri="{FF2B5EF4-FFF2-40B4-BE49-F238E27FC236}">
                <a16:creationId xmlns:a16="http://schemas.microsoft.com/office/drawing/2014/main" id="{D093CA32-3824-4AEC-BAA2-3AD477C44622}"/>
              </a:ext>
            </a:extLst>
          </p:cNvPr>
          <p:cNvSpPr>
            <a:spLocks noGrp="1"/>
          </p:cNvSpPr>
          <p:nvPr>
            <p:ph type="body" sz="quarter" idx="19" hasCustomPrompt="1"/>
          </p:nvPr>
        </p:nvSpPr>
        <p:spPr>
          <a:xfrm>
            <a:off x="4711613" y="2114312"/>
            <a:ext cx="3761184" cy="1200329"/>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 You can also add images/ or charts here.</a:t>
            </a:r>
            <a:endParaRPr lang="en-US"/>
          </a:p>
        </p:txBody>
      </p:sp>
    </p:spTree>
    <p:extLst>
      <p:ext uri="{BB962C8B-B14F-4D97-AF65-F5344CB8AC3E}">
        <p14:creationId xmlns:p14="http://schemas.microsoft.com/office/powerpoint/2010/main" val="4154038273"/>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3 cards">
    <p:bg>
      <p:bgPr>
        <a:solidFill>
          <a:schemeClr val="bg2">
            <a:alpha val="40000"/>
          </a:schemeClr>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68C864F8-CC83-446D-8CD0-6FB8DDA66FB3}"/>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30" name="Rounded Rectangle 16">
            <a:extLst>
              <a:ext uri="{FF2B5EF4-FFF2-40B4-BE49-F238E27FC236}">
                <a16:creationId xmlns:a16="http://schemas.microsoft.com/office/drawing/2014/main" id="{26A9BF2E-939C-41BF-9350-64DA0A2C9415}"/>
              </a:ext>
            </a:extLst>
          </p:cNvPr>
          <p:cNvSpPr/>
          <p:nvPr/>
        </p:nvSpPr>
        <p:spPr>
          <a:xfrm>
            <a:off x="3296221" y="1478756"/>
            <a:ext cx="2557982"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1" name="Text Placeholder 2">
            <a:extLst>
              <a:ext uri="{FF2B5EF4-FFF2-40B4-BE49-F238E27FC236}">
                <a16:creationId xmlns:a16="http://schemas.microsoft.com/office/drawing/2014/main" id="{DF130D2E-C413-438C-86A3-381F6D4B2F31}"/>
              </a:ext>
            </a:extLst>
          </p:cNvPr>
          <p:cNvSpPr>
            <a:spLocks noGrp="1"/>
          </p:cNvSpPr>
          <p:nvPr>
            <p:ph type="body" sz="quarter" idx="19" hasCustomPrompt="1"/>
          </p:nvPr>
        </p:nvSpPr>
        <p:spPr>
          <a:xfrm>
            <a:off x="3386161" y="1577500"/>
            <a:ext cx="2294912" cy="692497"/>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 two lines</a:t>
            </a:r>
            <a:endParaRPr lang="en-US"/>
          </a:p>
        </p:txBody>
      </p:sp>
      <p:sp>
        <p:nvSpPr>
          <p:cNvPr id="32" name="Text Placeholder 13">
            <a:extLst>
              <a:ext uri="{FF2B5EF4-FFF2-40B4-BE49-F238E27FC236}">
                <a16:creationId xmlns:a16="http://schemas.microsoft.com/office/drawing/2014/main" id="{0CAD4D6D-121A-48D2-B58C-3502E9124B74}"/>
              </a:ext>
            </a:extLst>
          </p:cNvPr>
          <p:cNvSpPr>
            <a:spLocks noGrp="1"/>
          </p:cNvSpPr>
          <p:nvPr>
            <p:ph type="body" sz="quarter" idx="20" hasCustomPrompt="1"/>
          </p:nvPr>
        </p:nvSpPr>
        <p:spPr>
          <a:xfrm>
            <a:off x="3386162" y="2325066"/>
            <a:ext cx="2294890" cy="1569660"/>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
        <p:nvSpPr>
          <p:cNvPr id="34" name="Rounded Rectangle 11">
            <a:extLst>
              <a:ext uri="{FF2B5EF4-FFF2-40B4-BE49-F238E27FC236}">
                <a16:creationId xmlns:a16="http://schemas.microsoft.com/office/drawing/2014/main" id="{AEB82AF5-8A2C-4A53-81D2-312F9A7972BC}"/>
              </a:ext>
            </a:extLst>
          </p:cNvPr>
          <p:cNvSpPr/>
          <p:nvPr/>
        </p:nvSpPr>
        <p:spPr>
          <a:xfrm>
            <a:off x="545306" y="1478756"/>
            <a:ext cx="2557982"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5" name="Text Placeholder 2">
            <a:extLst>
              <a:ext uri="{FF2B5EF4-FFF2-40B4-BE49-F238E27FC236}">
                <a16:creationId xmlns:a16="http://schemas.microsoft.com/office/drawing/2014/main" id="{C4BF43E2-7B80-4FFF-91BE-9326EB09F6BC}"/>
              </a:ext>
            </a:extLst>
          </p:cNvPr>
          <p:cNvSpPr>
            <a:spLocks noGrp="1"/>
          </p:cNvSpPr>
          <p:nvPr>
            <p:ph type="body" sz="quarter" idx="14" hasCustomPrompt="1"/>
          </p:nvPr>
        </p:nvSpPr>
        <p:spPr>
          <a:xfrm>
            <a:off x="624004" y="1577500"/>
            <a:ext cx="2294912" cy="692497"/>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 two lines</a:t>
            </a:r>
            <a:endParaRPr lang="en-US"/>
          </a:p>
        </p:txBody>
      </p:sp>
      <p:sp>
        <p:nvSpPr>
          <p:cNvPr id="36" name="Text Placeholder 13">
            <a:extLst>
              <a:ext uri="{FF2B5EF4-FFF2-40B4-BE49-F238E27FC236}">
                <a16:creationId xmlns:a16="http://schemas.microsoft.com/office/drawing/2014/main" id="{8D3252AC-30AF-4915-9390-47EF6E7E526E}"/>
              </a:ext>
            </a:extLst>
          </p:cNvPr>
          <p:cNvSpPr>
            <a:spLocks noGrp="1"/>
          </p:cNvSpPr>
          <p:nvPr>
            <p:ph type="body" sz="quarter" idx="18" hasCustomPrompt="1"/>
          </p:nvPr>
        </p:nvSpPr>
        <p:spPr>
          <a:xfrm>
            <a:off x="624004" y="2325066"/>
            <a:ext cx="2294890" cy="1569660"/>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
        <p:nvSpPr>
          <p:cNvPr id="37" name="Rounded Rectangle 15">
            <a:extLst>
              <a:ext uri="{FF2B5EF4-FFF2-40B4-BE49-F238E27FC236}">
                <a16:creationId xmlns:a16="http://schemas.microsoft.com/office/drawing/2014/main" id="{4792AB79-EEE5-4FAC-B89D-5544B31C9B31}"/>
              </a:ext>
            </a:extLst>
          </p:cNvPr>
          <p:cNvSpPr/>
          <p:nvPr/>
        </p:nvSpPr>
        <p:spPr>
          <a:xfrm>
            <a:off x="6047137" y="1478756"/>
            <a:ext cx="2557982"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8" name="Text Placeholder 2">
            <a:extLst>
              <a:ext uri="{FF2B5EF4-FFF2-40B4-BE49-F238E27FC236}">
                <a16:creationId xmlns:a16="http://schemas.microsoft.com/office/drawing/2014/main" id="{EA57752D-BEFB-4BBD-B333-56BAFD1F04C6}"/>
              </a:ext>
            </a:extLst>
          </p:cNvPr>
          <p:cNvSpPr>
            <a:spLocks noGrp="1"/>
          </p:cNvSpPr>
          <p:nvPr>
            <p:ph type="body" sz="quarter" idx="21" hasCustomPrompt="1"/>
          </p:nvPr>
        </p:nvSpPr>
        <p:spPr>
          <a:xfrm>
            <a:off x="6125835" y="1577500"/>
            <a:ext cx="2294912" cy="692497"/>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 two lines</a:t>
            </a:r>
            <a:endParaRPr lang="en-US"/>
          </a:p>
        </p:txBody>
      </p:sp>
      <p:sp>
        <p:nvSpPr>
          <p:cNvPr id="39" name="Text Placeholder 13">
            <a:extLst>
              <a:ext uri="{FF2B5EF4-FFF2-40B4-BE49-F238E27FC236}">
                <a16:creationId xmlns:a16="http://schemas.microsoft.com/office/drawing/2014/main" id="{F6E44EEB-A30C-4411-8788-3DD526977077}"/>
              </a:ext>
            </a:extLst>
          </p:cNvPr>
          <p:cNvSpPr>
            <a:spLocks noGrp="1"/>
          </p:cNvSpPr>
          <p:nvPr>
            <p:ph type="body" sz="quarter" idx="22" hasCustomPrompt="1"/>
          </p:nvPr>
        </p:nvSpPr>
        <p:spPr>
          <a:xfrm>
            <a:off x="6125835" y="2325066"/>
            <a:ext cx="2294890" cy="1569660"/>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Tree>
    <p:extLst>
      <p:ext uri="{BB962C8B-B14F-4D97-AF65-F5344CB8AC3E}">
        <p14:creationId xmlns:p14="http://schemas.microsoft.com/office/powerpoint/2010/main" val="2764882656"/>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4 cards">
    <p:bg>
      <p:bgPr>
        <a:solidFill>
          <a:schemeClr val="bg2">
            <a:alpha val="40000"/>
          </a:schemeClr>
        </a:solidFill>
        <a:effectLst/>
      </p:bgPr>
    </p:bg>
    <p:spTree>
      <p:nvGrpSpPr>
        <p:cNvPr id="1" name=""/>
        <p:cNvGrpSpPr/>
        <p:nvPr/>
      </p:nvGrpSpPr>
      <p:grpSpPr>
        <a:xfrm>
          <a:off x="0" y="0"/>
          <a:ext cx="0" cy="0"/>
          <a:chOff x="0" y="0"/>
          <a:chExt cx="0" cy="0"/>
        </a:xfrm>
      </p:grpSpPr>
      <p:sp>
        <p:nvSpPr>
          <p:cNvPr id="15" name="Rounded Rectangle 14">
            <a:extLst>
              <a:ext uri="{FF2B5EF4-FFF2-40B4-BE49-F238E27FC236}">
                <a16:creationId xmlns:a16="http://schemas.microsoft.com/office/drawing/2014/main" id="{E76C2E72-5089-B443-B7F9-E689DB0766B3}"/>
              </a:ext>
            </a:extLst>
          </p:cNvPr>
          <p:cNvSpPr/>
          <p:nvPr/>
        </p:nvSpPr>
        <p:spPr>
          <a:xfrm>
            <a:off x="534592" y="1528763"/>
            <a:ext cx="1960520"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5" name="Rounded Rectangle 24">
            <a:extLst>
              <a:ext uri="{FF2B5EF4-FFF2-40B4-BE49-F238E27FC236}">
                <a16:creationId xmlns:a16="http://schemas.microsoft.com/office/drawing/2014/main" id="{E082C6D0-04B4-4C4A-B8F4-A2322184414F}"/>
              </a:ext>
            </a:extLst>
          </p:cNvPr>
          <p:cNvSpPr/>
          <p:nvPr/>
        </p:nvSpPr>
        <p:spPr>
          <a:xfrm>
            <a:off x="2572537" y="1528763"/>
            <a:ext cx="1960520"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8" name="Rounded Rectangle 27">
            <a:extLst>
              <a:ext uri="{FF2B5EF4-FFF2-40B4-BE49-F238E27FC236}">
                <a16:creationId xmlns:a16="http://schemas.microsoft.com/office/drawing/2014/main" id="{9AFEE3B1-DBFF-9149-9A70-602B0BDC7C68}"/>
              </a:ext>
            </a:extLst>
          </p:cNvPr>
          <p:cNvSpPr/>
          <p:nvPr/>
        </p:nvSpPr>
        <p:spPr>
          <a:xfrm>
            <a:off x="4601496" y="1528763"/>
            <a:ext cx="1960520"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1" name="Rounded Rectangle 30">
            <a:extLst>
              <a:ext uri="{FF2B5EF4-FFF2-40B4-BE49-F238E27FC236}">
                <a16:creationId xmlns:a16="http://schemas.microsoft.com/office/drawing/2014/main" id="{04654EF6-85F9-BD4A-83BB-9AFC9B2E95B9}"/>
              </a:ext>
            </a:extLst>
          </p:cNvPr>
          <p:cNvSpPr/>
          <p:nvPr/>
        </p:nvSpPr>
        <p:spPr>
          <a:xfrm>
            <a:off x="6634603" y="1528763"/>
            <a:ext cx="1960520" cy="3131344"/>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626206" y="1612713"/>
            <a:ext cx="1777291" cy="646331"/>
          </a:xfrm>
          <a:prstGeom prst="rect">
            <a:avLst/>
          </a:prstGeom>
        </p:spPr>
        <p:txBody>
          <a:bodyPr anchor="b">
            <a:spAutoFit/>
          </a:bodyPr>
          <a:lstStyle>
            <a:lvl1pPr marL="0" indent="0" algn="l">
              <a:lnSpc>
                <a:spcPct val="100000"/>
              </a:lnSpc>
              <a:buNone/>
              <a:defRPr sz="18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two lines</a:t>
            </a:r>
            <a:endParaRPr lang="en-US"/>
          </a:p>
        </p:txBody>
      </p:sp>
      <p:sp>
        <p:nvSpPr>
          <p:cNvPr id="14" name="Text Placeholder 13">
            <a:extLst>
              <a:ext uri="{FF2B5EF4-FFF2-40B4-BE49-F238E27FC236}">
                <a16:creationId xmlns:a16="http://schemas.microsoft.com/office/drawing/2014/main" id="{F942D11D-43C3-FD4E-B872-AC26CECB3FFD}"/>
              </a:ext>
            </a:extLst>
          </p:cNvPr>
          <p:cNvSpPr>
            <a:spLocks noGrp="1"/>
          </p:cNvSpPr>
          <p:nvPr>
            <p:ph type="body" sz="quarter" idx="18" hasCustomPrompt="1"/>
          </p:nvPr>
        </p:nvSpPr>
        <p:spPr>
          <a:xfrm>
            <a:off x="626217" y="2314113"/>
            <a:ext cx="1777268" cy="1015663"/>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19" name="Text Placeholder 2">
            <a:extLst>
              <a:ext uri="{FF2B5EF4-FFF2-40B4-BE49-F238E27FC236}">
                <a16:creationId xmlns:a16="http://schemas.microsoft.com/office/drawing/2014/main" id="{34A9FF0C-3BAE-2142-9B47-4AFF32473A3F}"/>
              </a:ext>
            </a:extLst>
          </p:cNvPr>
          <p:cNvSpPr>
            <a:spLocks noGrp="1"/>
          </p:cNvSpPr>
          <p:nvPr>
            <p:ph type="body" sz="quarter" idx="19" hasCustomPrompt="1"/>
          </p:nvPr>
        </p:nvSpPr>
        <p:spPr>
          <a:xfrm>
            <a:off x="2664152" y="1612713"/>
            <a:ext cx="1777291" cy="646331"/>
          </a:xfrm>
          <a:prstGeom prst="rect">
            <a:avLst/>
          </a:prstGeom>
        </p:spPr>
        <p:txBody>
          <a:bodyPr anchor="b">
            <a:spAutoFit/>
          </a:bodyPr>
          <a:lstStyle>
            <a:lvl1pPr marL="0" indent="0" algn="l">
              <a:lnSpc>
                <a:spcPct val="100000"/>
              </a:lnSpc>
              <a:buNone/>
              <a:defRPr sz="18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two lines</a:t>
            </a:r>
            <a:endParaRPr lang="en-US"/>
          </a:p>
        </p:txBody>
      </p:sp>
      <p:sp>
        <p:nvSpPr>
          <p:cNvPr id="20" name="Text Placeholder 13">
            <a:extLst>
              <a:ext uri="{FF2B5EF4-FFF2-40B4-BE49-F238E27FC236}">
                <a16:creationId xmlns:a16="http://schemas.microsoft.com/office/drawing/2014/main" id="{4526AB58-817C-DC46-9C5B-C6C8A4FF4056}"/>
              </a:ext>
            </a:extLst>
          </p:cNvPr>
          <p:cNvSpPr>
            <a:spLocks noGrp="1"/>
          </p:cNvSpPr>
          <p:nvPr>
            <p:ph type="body" sz="quarter" idx="20" hasCustomPrompt="1"/>
          </p:nvPr>
        </p:nvSpPr>
        <p:spPr>
          <a:xfrm>
            <a:off x="2664163" y="2314113"/>
            <a:ext cx="1777268" cy="1015663"/>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21" name="Text Placeholder 2">
            <a:extLst>
              <a:ext uri="{FF2B5EF4-FFF2-40B4-BE49-F238E27FC236}">
                <a16:creationId xmlns:a16="http://schemas.microsoft.com/office/drawing/2014/main" id="{0498259F-A942-8C44-B339-590E6B1B14D1}"/>
              </a:ext>
            </a:extLst>
          </p:cNvPr>
          <p:cNvSpPr>
            <a:spLocks noGrp="1"/>
          </p:cNvSpPr>
          <p:nvPr>
            <p:ph type="body" sz="quarter" idx="21" hasCustomPrompt="1"/>
          </p:nvPr>
        </p:nvSpPr>
        <p:spPr>
          <a:xfrm>
            <a:off x="4693110" y="1612713"/>
            <a:ext cx="1777291" cy="646331"/>
          </a:xfrm>
          <a:prstGeom prst="rect">
            <a:avLst/>
          </a:prstGeom>
        </p:spPr>
        <p:txBody>
          <a:bodyPr anchor="b">
            <a:spAutoFit/>
          </a:bodyPr>
          <a:lstStyle>
            <a:lvl1pPr marL="0" indent="0" algn="l">
              <a:lnSpc>
                <a:spcPct val="100000"/>
              </a:lnSpc>
              <a:buNone/>
              <a:defRPr sz="18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two lines</a:t>
            </a:r>
            <a:endParaRPr lang="en-US"/>
          </a:p>
        </p:txBody>
      </p:sp>
      <p:sp>
        <p:nvSpPr>
          <p:cNvPr id="22" name="Text Placeholder 13">
            <a:extLst>
              <a:ext uri="{FF2B5EF4-FFF2-40B4-BE49-F238E27FC236}">
                <a16:creationId xmlns:a16="http://schemas.microsoft.com/office/drawing/2014/main" id="{AA1F0924-098C-2C40-883B-43B65B44D7F0}"/>
              </a:ext>
            </a:extLst>
          </p:cNvPr>
          <p:cNvSpPr>
            <a:spLocks noGrp="1"/>
          </p:cNvSpPr>
          <p:nvPr>
            <p:ph type="body" sz="quarter" idx="22" hasCustomPrompt="1"/>
          </p:nvPr>
        </p:nvSpPr>
        <p:spPr>
          <a:xfrm>
            <a:off x="4693121" y="2314113"/>
            <a:ext cx="1777268" cy="1015663"/>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23" name="Text Placeholder 2">
            <a:extLst>
              <a:ext uri="{FF2B5EF4-FFF2-40B4-BE49-F238E27FC236}">
                <a16:creationId xmlns:a16="http://schemas.microsoft.com/office/drawing/2014/main" id="{DE577571-274C-A94F-AF4E-4A72174E3ABF}"/>
              </a:ext>
            </a:extLst>
          </p:cNvPr>
          <p:cNvSpPr>
            <a:spLocks noGrp="1"/>
          </p:cNvSpPr>
          <p:nvPr>
            <p:ph type="body" sz="quarter" idx="23" hasCustomPrompt="1"/>
          </p:nvPr>
        </p:nvSpPr>
        <p:spPr>
          <a:xfrm>
            <a:off x="6726217" y="1612713"/>
            <a:ext cx="1777291" cy="646331"/>
          </a:xfrm>
          <a:prstGeom prst="rect">
            <a:avLst/>
          </a:prstGeom>
        </p:spPr>
        <p:txBody>
          <a:bodyPr anchor="b">
            <a:spAutoFit/>
          </a:bodyPr>
          <a:lstStyle>
            <a:lvl1pPr marL="0" indent="0" algn="l">
              <a:lnSpc>
                <a:spcPct val="100000"/>
              </a:lnSpc>
              <a:buNone/>
              <a:defRPr sz="18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two lines</a:t>
            </a:r>
            <a:endParaRPr lang="en-US"/>
          </a:p>
        </p:txBody>
      </p:sp>
      <p:sp>
        <p:nvSpPr>
          <p:cNvPr id="24" name="Text Placeholder 13">
            <a:extLst>
              <a:ext uri="{FF2B5EF4-FFF2-40B4-BE49-F238E27FC236}">
                <a16:creationId xmlns:a16="http://schemas.microsoft.com/office/drawing/2014/main" id="{9B5B9A6F-E17B-984B-B995-324A217E33FE}"/>
              </a:ext>
            </a:extLst>
          </p:cNvPr>
          <p:cNvSpPr>
            <a:spLocks noGrp="1"/>
          </p:cNvSpPr>
          <p:nvPr>
            <p:ph type="body" sz="quarter" idx="24" hasCustomPrompt="1"/>
          </p:nvPr>
        </p:nvSpPr>
        <p:spPr>
          <a:xfrm>
            <a:off x="6726228" y="2314113"/>
            <a:ext cx="1777268" cy="1015663"/>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26" name="Title 1">
            <a:extLst>
              <a:ext uri="{FF2B5EF4-FFF2-40B4-BE49-F238E27FC236}">
                <a16:creationId xmlns:a16="http://schemas.microsoft.com/office/drawing/2014/main" id="{473198A7-04CB-4634-82ED-C7D465DF1C45}"/>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3192483202"/>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5 cards">
    <p:bg>
      <p:bgPr>
        <a:solidFill>
          <a:schemeClr val="bg2">
            <a:alpha val="40000"/>
          </a:schemeClr>
        </a:solidFill>
        <a:effectLst/>
      </p:bgPr>
    </p:bg>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39112710-93EC-4A43-A143-6D58C784FF93}"/>
              </a:ext>
            </a:extLst>
          </p:cNvPr>
          <p:cNvSpPr/>
          <p:nvPr/>
        </p:nvSpPr>
        <p:spPr>
          <a:xfrm>
            <a:off x="533400" y="1525191"/>
            <a:ext cx="1565172" cy="313491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34" name="Rounded Rectangle 33">
            <a:extLst>
              <a:ext uri="{FF2B5EF4-FFF2-40B4-BE49-F238E27FC236}">
                <a16:creationId xmlns:a16="http://schemas.microsoft.com/office/drawing/2014/main" id="{96E6FCCD-FDE0-2141-961A-355E07354DD0}"/>
              </a:ext>
            </a:extLst>
          </p:cNvPr>
          <p:cNvSpPr/>
          <p:nvPr/>
        </p:nvSpPr>
        <p:spPr>
          <a:xfrm>
            <a:off x="2157538" y="1525191"/>
            <a:ext cx="1565172" cy="313491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37" name="Rounded Rectangle 36">
            <a:extLst>
              <a:ext uri="{FF2B5EF4-FFF2-40B4-BE49-F238E27FC236}">
                <a16:creationId xmlns:a16="http://schemas.microsoft.com/office/drawing/2014/main" id="{7CA1BEC8-6A59-CF4A-A1DE-2992DA6DE8E6}"/>
              </a:ext>
            </a:extLst>
          </p:cNvPr>
          <p:cNvSpPr/>
          <p:nvPr/>
        </p:nvSpPr>
        <p:spPr>
          <a:xfrm>
            <a:off x="3781676" y="1525191"/>
            <a:ext cx="1565172" cy="313491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40" name="Rounded Rectangle 39">
            <a:extLst>
              <a:ext uri="{FF2B5EF4-FFF2-40B4-BE49-F238E27FC236}">
                <a16:creationId xmlns:a16="http://schemas.microsoft.com/office/drawing/2014/main" id="{8E47931E-3171-5F4D-AF57-F522EBE78F9C}"/>
              </a:ext>
            </a:extLst>
          </p:cNvPr>
          <p:cNvSpPr/>
          <p:nvPr/>
        </p:nvSpPr>
        <p:spPr>
          <a:xfrm>
            <a:off x="5405813" y="1525191"/>
            <a:ext cx="1565172" cy="313491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43" name="Rounded Rectangle 42">
            <a:extLst>
              <a:ext uri="{FF2B5EF4-FFF2-40B4-BE49-F238E27FC236}">
                <a16:creationId xmlns:a16="http://schemas.microsoft.com/office/drawing/2014/main" id="{3492EAE1-3C78-DE47-92C4-503042C68CC1}"/>
              </a:ext>
            </a:extLst>
          </p:cNvPr>
          <p:cNvSpPr/>
          <p:nvPr/>
        </p:nvSpPr>
        <p:spPr>
          <a:xfrm>
            <a:off x="7029950" y="1525191"/>
            <a:ext cx="1565172" cy="313491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613959" y="2070106"/>
            <a:ext cx="1404055" cy="646331"/>
          </a:xfrm>
          <a:prstGeom prst="rect">
            <a:avLst/>
          </a:prstGeom>
        </p:spPr>
        <p:txBody>
          <a:bodyPr anchor="t">
            <a:spAutoFit/>
          </a:bodyPr>
          <a:lstStyle>
            <a:lvl1pPr marL="0" indent="0" algn="l">
              <a:lnSpc>
                <a:spcPct val="100000"/>
              </a:lnSpc>
              <a:buNone/>
              <a:defRPr sz="120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body copy text</a:t>
            </a:r>
            <a:endParaRPr lang="en-US"/>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613959" y="1580799"/>
            <a:ext cx="1404055"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a:t>
            </a:r>
            <a:endParaRPr lang="en-US"/>
          </a:p>
        </p:txBody>
      </p:sp>
      <p:sp>
        <p:nvSpPr>
          <p:cNvPr id="24" name="Text Placeholder 2">
            <a:extLst>
              <a:ext uri="{FF2B5EF4-FFF2-40B4-BE49-F238E27FC236}">
                <a16:creationId xmlns:a16="http://schemas.microsoft.com/office/drawing/2014/main" id="{E995B304-7A90-8741-990F-A8C42EE76A1C}"/>
              </a:ext>
            </a:extLst>
          </p:cNvPr>
          <p:cNvSpPr>
            <a:spLocks noGrp="1"/>
          </p:cNvSpPr>
          <p:nvPr>
            <p:ph type="body" sz="quarter" idx="15" hasCustomPrompt="1"/>
          </p:nvPr>
        </p:nvSpPr>
        <p:spPr>
          <a:xfrm>
            <a:off x="2238097" y="2070106"/>
            <a:ext cx="1404055" cy="646331"/>
          </a:xfrm>
          <a:prstGeom prst="rect">
            <a:avLst/>
          </a:prstGeom>
        </p:spPr>
        <p:txBody>
          <a:bodyPr anchor="t">
            <a:spAutoFit/>
          </a:bodyPr>
          <a:lstStyle>
            <a:lvl1pPr marL="0" indent="0" algn="l">
              <a:lnSpc>
                <a:spcPct val="100000"/>
              </a:lnSpc>
              <a:buNone/>
              <a:defRPr sz="120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body copy text</a:t>
            </a:r>
            <a:endParaRPr lang="en-US"/>
          </a:p>
        </p:txBody>
      </p:sp>
      <p:sp>
        <p:nvSpPr>
          <p:cNvPr id="25" name="Text Placeholder 2">
            <a:extLst>
              <a:ext uri="{FF2B5EF4-FFF2-40B4-BE49-F238E27FC236}">
                <a16:creationId xmlns:a16="http://schemas.microsoft.com/office/drawing/2014/main" id="{7531DAAE-FE72-714F-AA22-B72AD73548F2}"/>
              </a:ext>
            </a:extLst>
          </p:cNvPr>
          <p:cNvSpPr>
            <a:spLocks noGrp="1"/>
          </p:cNvSpPr>
          <p:nvPr>
            <p:ph type="body" sz="quarter" idx="16" hasCustomPrompt="1"/>
          </p:nvPr>
        </p:nvSpPr>
        <p:spPr>
          <a:xfrm>
            <a:off x="2238097" y="1580799"/>
            <a:ext cx="1404055"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a:t>
            </a:r>
            <a:endParaRPr lang="en-US"/>
          </a:p>
        </p:txBody>
      </p:sp>
      <p:sp>
        <p:nvSpPr>
          <p:cNvPr id="26" name="Text Placeholder 2">
            <a:extLst>
              <a:ext uri="{FF2B5EF4-FFF2-40B4-BE49-F238E27FC236}">
                <a16:creationId xmlns:a16="http://schemas.microsoft.com/office/drawing/2014/main" id="{72CB5D55-B826-C841-BAB8-4BE94A3E58AF}"/>
              </a:ext>
            </a:extLst>
          </p:cNvPr>
          <p:cNvSpPr>
            <a:spLocks noGrp="1"/>
          </p:cNvSpPr>
          <p:nvPr>
            <p:ph type="body" sz="quarter" idx="17" hasCustomPrompt="1"/>
          </p:nvPr>
        </p:nvSpPr>
        <p:spPr>
          <a:xfrm>
            <a:off x="3862235" y="2070106"/>
            <a:ext cx="1404055" cy="646331"/>
          </a:xfrm>
          <a:prstGeom prst="rect">
            <a:avLst/>
          </a:prstGeom>
        </p:spPr>
        <p:txBody>
          <a:bodyPr anchor="t">
            <a:spAutoFit/>
          </a:bodyPr>
          <a:lstStyle>
            <a:lvl1pPr marL="0" indent="0" algn="l">
              <a:lnSpc>
                <a:spcPct val="100000"/>
              </a:lnSpc>
              <a:buNone/>
              <a:defRPr sz="120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body copy text</a:t>
            </a:r>
            <a:endParaRPr lang="en-US"/>
          </a:p>
        </p:txBody>
      </p:sp>
      <p:sp>
        <p:nvSpPr>
          <p:cNvPr id="27" name="Text Placeholder 2">
            <a:extLst>
              <a:ext uri="{FF2B5EF4-FFF2-40B4-BE49-F238E27FC236}">
                <a16:creationId xmlns:a16="http://schemas.microsoft.com/office/drawing/2014/main" id="{EB0E953D-2181-B14D-B81B-DE2760F52E45}"/>
              </a:ext>
            </a:extLst>
          </p:cNvPr>
          <p:cNvSpPr>
            <a:spLocks noGrp="1"/>
          </p:cNvSpPr>
          <p:nvPr>
            <p:ph type="body" sz="quarter" idx="18" hasCustomPrompt="1"/>
          </p:nvPr>
        </p:nvSpPr>
        <p:spPr>
          <a:xfrm>
            <a:off x="3862235" y="1580799"/>
            <a:ext cx="1404055"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a:t>
            </a:r>
            <a:endParaRPr lang="en-US"/>
          </a:p>
        </p:txBody>
      </p:sp>
      <p:sp>
        <p:nvSpPr>
          <p:cNvPr id="28" name="Text Placeholder 2">
            <a:extLst>
              <a:ext uri="{FF2B5EF4-FFF2-40B4-BE49-F238E27FC236}">
                <a16:creationId xmlns:a16="http://schemas.microsoft.com/office/drawing/2014/main" id="{78CD5C4A-1D40-4D41-979E-E0BF5D00A6C7}"/>
              </a:ext>
            </a:extLst>
          </p:cNvPr>
          <p:cNvSpPr>
            <a:spLocks noGrp="1"/>
          </p:cNvSpPr>
          <p:nvPr>
            <p:ph type="body" sz="quarter" idx="19" hasCustomPrompt="1"/>
          </p:nvPr>
        </p:nvSpPr>
        <p:spPr>
          <a:xfrm>
            <a:off x="5486373" y="2070106"/>
            <a:ext cx="1404055" cy="646331"/>
          </a:xfrm>
          <a:prstGeom prst="rect">
            <a:avLst/>
          </a:prstGeom>
        </p:spPr>
        <p:txBody>
          <a:bodyPr anchor="t">
            <a:spAutoFit/>
          </a:bodyPr>
          <a:lstStyle>
            <a:lvl1pPr marL="0" indent="0" algn="l">
              <a:lnSpc>
                <a:spcPct val="100000"/>
              </a:lnSpc>
              <a:buNone/>
              <a:defRPr sz="120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body copy text</a:t>
            </a:r>
            <a:endParaRPr lang="en-US"/>
          </a:p>
        </p:txBody>
      </p:sp>
      <p:sp>
        <p:nvSpPr>
          <p:cNvPr id="29" name="Text Placeholder 2">
            <a:extLst>
              <a:ext uri="{FF2B5EF4-FFF2-40B4-BE49-F238E27FC236}">
                <a16:creationId xmlns:a16="http://schemas.microsoft.com/office/drawing/2014/main" id="{A07A4B7E-C23A-C848-AAEF-294D2D1AFBD8}"/>
              </a:ext>
            </a:extLst>
          </p:cNvPr>
          <p:cNvSpPr>
            <a:spLocks noGrp="1"/>
          </p:cNvSpPr>
          <p:nvPr>
            <p:ph type="body" sz="quarter" idx="20" hasCustomPrompt="1"/>
          </p:nvPr>
        </p:nvSpPr>
        <p:spPr>
          <a:xfrm>
            <a:off x="5486373" y="1580799"/>
            <a:ext cx="1404055"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a:t>
            </a:r>
            <a:endParaRPr lang="en-US"/>
          </a:p>
        </p:txBody>
      </p:sp>
      <p:sp>
        <p:nvSpPr>
          <p:cNvPr id="30" name="Text Placeholder 2">
            <a:extLst>
              <a:ext uri="{FF2B5EF4-FFF2-40B4-BE49-F238E27FC236}">
                <a16:creationId xmlns:a16="http://schemas.microsoft.com/office/drawing/2014/main" id="{E16C5C97-4A3F-6D45-820F-5ACFFA7EBA52}"/>
              </a:ext>
            </a:extLst>
          </p:cNvPr>
          <p:cNvSpPr>
            <a:spLocks noGrp="1"/>
          </p:cNvSpPr>
          <p:nvPr>
            <p:ph type="body" sz="quarter" idx="21" hasCustomPrompt="1"/>
          </p:nvPr>
        </p:nvSpPr>
        <p:spPr>
          <a:xfrm>
            <a:off x="7110510" y="2070106"/>
            <a:ext cx="1404055" cy="646331"/>
          </a:xfrm>
          <a:prstGeom prst="rect">
            <a:avLst/>
          </a:prstGeom>
        </p:spPr>
        <p:txBody>
          <a:bodyPr anchor="t">
            <a:spAutoFit/>
          </a:bodyPr>
          <a:lstStyle>
            <a:lvl1pPr marL="0" indent="0" algn="l">
              <a:lnSpc>
                <a:spcPct val="100000"/>
              </a:lnSpc>
              <a:buNone/>
              <a:defRPr sz="120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Short description body copy text</a:t>
            </a:r>
            <a:endParaRPr lang="en-US"/>
          </a:p>
        </p:txBody>
      </p:sp>
      <p:sp>
        <p:nvSpPr>
          <p:cNvPr id="31" name="Text Placeholder 2">
            <a:extLst>
              <a:ext uri="{FF2B5EF4-FFF2-40B4-BE49-F238E27FC236}">
                <a16:creationId xmlns:a16="http://schemas.microsoft.com/office/drawing/2014/main" id="{5AA87B6F-02A5-1544-A70B-698D2E5B0558}"/>
              </a:ext>
            </a:extLst>
          </p:cNvPr>
          <p:cNvSpPr>
            <a:spLocks noGrp="1"/>
          </p:cNvSpPr>
          <p:nvPr>
            <p:ph type="body" sz="quarter" idx="22" hasCustomPrompt="1"/>
          </p:nvPr>
        </p:nvSpPr>
        <p:spPr>
          <a:xfrm>
            <a:off x="7110510" y="1580799"/>
            <a:ext cx="1404055" cy="392415"/>
          </a:xfrm>
          <a:prstGeom prst="rect">
            <a:avLst/>
          </a:prstGeom>
        </p:spPr>
        <p:txBody>
          <a:bodyPr anchor="b">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a:t>
            </a:r>
            <a:endParaRPr lang="en-US"/>
          </a:p>
        </p:txBody>
      </p:sp>
      <p:sp>
        <p:nvSpPr>
          <p:cNvPr id="22" name="Title 1">
            <a:extLst>
              <a:ext uri="{FF2B5EF4-FFF2-40B4-BE49-F238E27FC236}">
                <a16:creationId xmlns:a16="http://schemas.microsoft.com/office/drawing/2014/main" id="{26778A26-3C32-4323-A61B-8DB36072A9D6}"/>
              </a:ext>
            </a:extLst>
          </p:cNvPr>
          <p:cNvSpPr>
            <a:spLocks noGrp="1"/>
          </p:cNvSpPr>
          <p:nvPr>
            <p:ph type="title"/>
          </p:nvPr>
        </p:nvSpPr>
        <p:spPr>
          <a:xfrm>
            <a:off x="454023" y="373999"/>
            <a:ext cx="8141098" cy="577081"/>
          </a:xfrm>
          <a:prstGeom prst="rect">
            <a:avLst/>
          </a:prstGeom>
        </p:spPr>
        <p:txBody>
          <a:bodyPr wrap="square" anchor="t">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2441997088"/>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6 cards">
    <p:bg>
      <p:bgPr>
        <a:solidFill>
          <a:schemeClr val="bg2">
            <a:alpha val="40000"/>
          </a:schemeClr>
        </a:solidFill>
        <a:effectLst/>
      </p:bgPr>
    </p:bg>
    <p:spTree>
      <p:nvGrpSpPr>
        <p:cNvPr id="1" name=""/>
        <p:cNvGrpSpPr/>
        <p:nvPr/>
      </p:nvGrpSpPr>
      <p:grpSpPr>
        <a:xfrm>
          <a:off x="0" y="0"/>
          <a:ext cx="0" cy="0"/>
          <a:chOff x="0" y="0"/>
          <a:chExt cx="0" cy="0"/>
        </a:xfrm>
      </p:grpSpPr>
      <p:sp>
        <p:nvSpPr>
          <p:cNvPr id="26" name="Rounded Rectangle 25">
            <a:extLst>
              <a:ext uri="{FF2B5EF4-FFF2-40B4-BE49-F238E27FC236}">
                <a16:creationId xmlns:a16="http://schemas.microsoft.com/office/drawing/2014/main" id="{3F8D3419-B8FB-DD4F-AA34-154EA631B9DC}"/>
              </a:ext>
            </a:extLst>
          </p:cNvPr>
          <p:cNvSpPr/>
          <p:nvPr/>
        </p:nvSpPr>
        <p:spPr>
          <a:xfrm>
            <a:off x="3288506" y="1480327"/>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7" name="Rounded Rectangle 26">
            <a:extLst>
              <a:ext uri="{FF2B5EF4-FFF2-40B4-BE49-F238E27FC236}">
                <a16:creationId xmlns:a16="http://schemas.microsoft.com/office/drawing/2014/main" id="{48526222-E811-6645-9D04-A0AF7431982A}"/>
              </a:ext>
            </a:extLst>
          </p:cNvPr>
          <p:cNvSpPr/>
          <p:nvPr/>
        </p:nvSpPr>
        <p:spPr>
          <a:xfrm>
            <a:off x="6038775" y="1480327"/>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29" name="Rounded Rectangle 28">
            <a:extLst>
              <a:ext uri="{FF2B5EF4-FFF2-40B4-BE49-F238E27FC236}">
                <a16:creationId xmlns:a16="http://schemas.microsoft.com/office/drawing/2014/main" id="{8FFA1DFF-6593-E241-B48A-BD1E74935819}"/>
              </a:ext>
            </a:extLst>
          </p:cNvPr>
          <p:cNvSpPr/>
          <p:nvPr/>
        </p:nvSpPr>
        <p:spPr>
          <a:xfrm>
            <a:off x="545306" y="3127662"/>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0" name="Text Placeholder 2">
            <a:extLst>
              <a:ext uri="{FF2B5EF4-FFF2-40B4-BE49-F238E27FC236}">
                <a16:creationId xmlns:a16="http://schemas.microsoft.com/office/drawing/2014/main" id="{BCC5A599-7A69-BF4C-A01A-3AF4515ACB37}"/>
              </a:ext>
            </a:extLst>
          </p:cNvPr>
          <p:cNvSpPr>
            <a:spLocks noGrp="1"/>
          </p:cNvSpPr>
          <p:nvPr>
            <p:ph type="body" sz="quarter" idx="23" hasCustomPrompt="1"/>
          </p:nvPr>
        </p:nvSpPr>
        <p:spPr>
          <a:xfrm>
            <a:off x="632807" y="3163571"/>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32" name="Text Placeholder 13">
            <a:extLst>
              <a:ext uri="{FF2B5EF4-FFF2-40B4-BE49-F238E27FC236}">
                <a16:creationId xmlns:a16="http://schemas.microsoft.com/office/drawing/2014/main" id="{428B7788-3E4F-824C-B16A-5B2E1595EF79}"/>
              </a:ext>
            </a:extLst>
          </p:cNvPr>
          <p:cNvSpPr>
            <a:spLocks noGrp="1"/>
          </p:cNvSpPr>
          <p:nvPr>
            <p:ph type="body" sz="quarter" idx="24" hasCustomPrompt="1"/>
          </p:nvPr>
        </p:nvSpPr>
        <p:spPr>
          <a:xfrm>
            <a:off x="644128" y="3618547"/>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4" name="Rounded Rectangle 33">
            <a:extLst>
              <a:ext uri="{FF2B5EF4-FFF2-40B4-BE49-F238E27FC236}">
                <a16:creationId xmlns:a16="http://schemas.microsoft.com/office/drawing/2014/main" id="{09546C7B-1047-4B4D-A907-7B12EE3B41C5}"/>
              </a:ext>
            </a:extLst>
          </p:cNvPr>
          <p:cNvSpPr/>
          <p:nvPr/>
        </p:nvSpPr>
        <p:spPr>
          <a:xfrm>
            <a:off x="3288506" y="3127662"/>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5" name="Text Placeholder 2">
            <a:extLst>
              <a:ext uri="{FF2B5EF4-FFF2-40B4-BE49-F238E27FC236}">
                <a16:creationId xmlns:a16="http://schemas.microsoft.com/office/drawing/2014/main" id="{F3DB1F31-41AD-AE49-847C-7A380E3AF4CF}"/>
              </a:ext>
            </a:extLst>
          </p:cNvPr>
          <p:cNvSpPr>
            <a:spLocks noGrp="1"/>
          </p:cNvSpPr>
          <p:nvPr>
            <p:ph type="body" sz="quarter" idx="25" hasCustomPrompt="1"/>
          </p:nvPr>
        </p:nvSpPr>
        <p:spPr>
          <a:xfrm>
            <a:off x="3376007" y="3163571"/>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36" name="Text Placeholder 13">
            <a:extLst>
              <a:ext uri="{FF2B5EF4-FFF2-40B4-BE49-F238E27FC236}">
                <a16:creationId xmlns:a16="http://schemas.microsoft.com/office/drawing/2014/main" id="{81164B21-23EB-EF40-900E-5BDADBE458CB}"/>
              </a:ext>
            </a:extLst>
          </p:cNvPr>
          <p:cNvSpPr>
            <a:spLocks noGrp="1"/>
          </p:cNvSpPr>
          <p:nvPr>
            <p:ph type="body" sz="quarter" idx="26" hasCustomPrompt="1"/>
          </p:nvPr>
        </p:nvSpPr>
        <p:spPr>
          <a:xfrm>
            <a:off x="3387328" y="3618547"/>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7" name="Rounded Rectangle 36">
            <a:extLst>
              <a:ext uri="{FF2B5EF4-FFF2-40B4-BE49-F238E27FC236}">
                <a16:creationId xmlns:a16="http://schemas.microsoft.com/office/drawing/2014/main" id="{DA41FCA4-42DE-B84D-B9EA-F58C34C4EB6B}"/>
              </a:ext>
            </a:extLst>
          </p:cNvPr>
          <p:cNvSpPr/>
          <p:nvPr/>
        </p:nvSpPr>
        <p:spPr>
          <a:xfrm>
            <a:off x="6038775" y="3127662"/>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38" name="Text Placeholder 2">
            <a:extLst>
              <a:ext uri="{FF2B5EF4-FFF2-40B4-BE49-F238E27FC236}">
                <a16:creationId xmlns:a16="http://schemas.microsoft.com/office/drawing/2014/main" id="{3E05BB9B-1C80-F64C-93F4-B72F86189BB6}"/>
              </a:ext>
            </a:extLst>
          </p:cNvPr>
          <p:cNvSpPr>
            <a:spLocks noGrp="1"/>
          </p:cNvSpPr>
          <p:nvPr>
            <p:ph type="body" sz="quarter" idx="27" hasCustomPrompt="1"/>
          </p:nvPr>
        </p:nvSpPr>
        <p:spPr>
          <a:xfrm>
            <a:off x="6126276" y="3163571"/>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39" name="Text Placeholder 13">
            <a:extLst>
              <a:ext uri="{FF2B5EF4-FFF2-40B4-BE49-F238E27FC236}">
                <a16:creationId xmlns:a16="http://schemas.microsoft.com/office/drawing/2014/main" id="{B0A1DFCD-C101-6C46-8B94-AF8628244711}"/>
              </a:ext>
            </a:extLst>
          </p:cNvPr>
          <p:cNvSpPr>
            <a:spLocks noGrp="1"/>
          </p:cNvSpPr>
          <p:nvPr>
            <p:ph type="body" sz="quarter" idx="28" hasCustomPrompt="1"/>
          </p:nvPr>
        </p:nvSpPr>
        <p:spPr>
          <a:xfrm>
            <a:off x="6137598" y="3618547"/>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40" name="Rounded Rectangle 39">
            <a:extLst>
              <a:ext uri="{FF2B5EF4-FFF2-40B4-BE49-F238E27FC236}">
                <a16:creationId xmlns:a16="http://schemas.microsoft.com/office/drawing/2014/main" id="{084CA5E0-F916-F94A-A4F7-CA5867FFF468}"/>
              </a:ext>
            </a:extLst>
          </p:cNvPr>
          <p:cNvSpPr/>
          <p:nvPr/>
        </p:nvSpPr>
        <p:spPr>
          <a:xfrm>
            <a:off x="545306" y="1480327"/>
            <a:ext cx="2559844" cy="154846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n-lt"/>
            </a:endParaRPr>
          </a:p>
        </p:txBody>
      </p:sp>
      <p:sp>
        <p:nvSpPr>
          <p:cNvPr id="41" name="Text Placeholder 2">
            <a:extLst>
              <a:ext uri="{FF2B5EF4-FFF2-40B4-BE49-F238E27FC236}">
                <a16:creationId xmlns:a16="http://schemas.microsoft.com/office/drawing/2014/main" id="{FB498EF0-EEC4-F146-845C-C2D72D9E8EA7}"/>
              </a:ext>
            </a:extLst>
          </p:cNvPr>
          <p:cNvSpPr>
            <a:spLocks noGrp="1"/>
          </p:cNvSpPr>
          <p:nvPr>
            <p:ph type="body" sz="quarter" idx="14" hasCustomPrompt="1"/>
          </p:nvPr>
        </p:nvSpPr>
        <p:spPr>
          <a:xfrm>
            <a:off x="632807" y="1516237"/>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42" name="Text Placeholder 13">
            <a:extLst>
              <a:ext uri="{FF2B5EF4-FFF2-40B4-BE49-F238E27FC236}">
                <a16:creationId xmlns:a16="http://schemas.microsoft.com/office/drawing/2014/main" id="{79A67EA1-6BCB-5A43-963F-E15F65923E78}"/>
              </a:ext>
            </a:extLst>
          </p:cNvPr>
          <p:cNvSpPr>
            <a:spLocks noGrp="1"/>
          </p:cNvSpPr>
          <p:nvPr>
            <p:ph type="body" sz="quarter" idx="18" hasCustomPrompt="1"/>
          </p:nvPr>
        </p:nvSpPr>
        <p:spPr>
          <a:xfrm>
            <a:off x="644128" y="1971212"/>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43" name="Text Placeholder 2">
            <a:extLst>
              <a:ext uri="{FF2B5EF4-FFF2-40B4-BE49-F238E27FC236}">
                <a16:creationId xmlns:a16="http://schemas.microsoft.com/office/drawing/2014/main" id="{32980E6D-0D3C-3C44-B752-A28A21BED5A4}"/>
              </a:ext>
            </a:extLst>
          </p:cNvPr>
          <p:cNvSpPr>
            <a:spLocks noGrp="1"/>
          </p:cNvSpPr>
          <p:nvPr>
            <p:ph type="body" sz="quarter" idx="19" hasCustomPrompt="1"/>
          </p:nvPr>
        </p:nvSpPr>
        <p:spPr>
          <a:xfrm>
            <a:off x="3376007" y="1516237"/>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44" name="Text Placeholder 13">
            <a:extLst>
              <a:ext uri="{FF2B5EF4-FFF2-40B4-BE49-F238E27FC236}">
                <a16:creationId xmlns:a16="http://schemas.microsoft.com/office/drawing/2014/main" id="{02354588-70BC-224B-AE50-5093D92BA564}"/>
              </a:ext>
            </a:extLst>
          </p:cNvPr>
          <p:cNvSpPr>
            <a:spLocks noGrp="1"/>
          </p:cNvSpPr>
          <p:nvPr>
            <p:ph type="body" sz="quarter" idx="20" hasCustomPrompt="1"/>
          </p:nvPr>
        </p:nvSpPr>
        <p:spPr>
          <a:xfrm>
            <a:off x="3387328" y="1971212"/>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45" name="Text Placeholder 2">
            <a:extLst>
              <a:ext uri="{FF2B5EF4-FFF2-40B4-BE49-F238E27FC236}">
                <a16:creationId xmlns:a16="http://schemas.microsoft.com/office/drawing/2014/main" id="{3CE21FEB-540A-DE43-8666-63B85B077C1B}"/>
              </a:ext>
            </a:extLst>
          </p:cNvPr>
          <p:cNvSpPr>
            <a:spLocks noGrp="1"/>
          </p:cNvSpPr>
          <p:nvPr>
            <p:ph type="body" sz="quarter" idx="21" hasCustomPrompt="1"/>
          </p:nvPr>
        </p:nvSpPr>
        <p:spPr>
          <a:xfrm>
            <a:off x="6126276" y="1516237"/>
            <a:ext cx="2384841" cy="461665"/>
          </a:xfrm>
          <a:prstGeom prst="rect">
            <a:avLst/>
          </a:prstGeom>
        </p:spPr>
        <p:txBody>
          <a:bodyPr anchor="b">
            <a:spAutoFit/>
          </a:bodyPr>
          <a:lstStyle>
            <a:lvl1pPr marL="0" indent="0" algn="l">
              <a:lnSpc>
                <a:spcPct val="100000"/>
              </a:lnSpc>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in maximum two lines</a:t>
            </a:r>
            <a:endParaRPr lang="en-US"/>
          </a:p>
        </p:txBody>
      </p:sp>
      <p:sp>
        <p:nvSpPr>
          <p:cNvPr id="46" name="Text Placeholder 13">
            <a:extLst>
              <a:ext uri="{FF2B5EF4-FFF2-40B4-BE49-F238E27FC236}">
                <a16:creationId xmlns:a16="http://schemas.microsoft.com/office/drawing/2014/main" id="{9FB74C92-5EA4-B843-A476-AC4B9F95E9BD}"/>
              </a:ext>
            </a:extLst>
          </p:cNvPr>
          <p:cNvSpPr>
            <a:spLocks noGrp="1"/>
          </p:cNvSpPr>
          <p:nvPr>
            <p:ph type="body" sz="quarter" idx="22" hasCustomPrompt="1"/>
          </p:nvPr>
        </p:nvSpPr>
        <p:spPr>
          <a:xfrm>
            <a:off x="6137598" y="1971212"/>
            <a:ext cx="2384822" cy="830997"/>
          </a:xfrm>
          <a:prstGeom prst="rect">
            <a:avLst/>
          </a:prstGeom>
        </p:spPr>
        <p:txBody>
          <a:bodyPr>
            <a:spAutoFit/>
          </a:bodyPr>
          <a:lstStyle>
            <a:lvl1pPr marL="0" indent="0">
              <a:lnSpc>
                <a:spcPct val="100000"/>
              </a:lnSpc>
              <a:buNone/>
              <a:defRPr sz="120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24" name="Title 1">
            <a:extLst>
              <a:ext uri="{FF2B5EF4-FFF2-40B4-BE49-F238E27FC236}">
                <a16:creationId xmlns:a16="http://schemas.microsoft.com/office/drawing/2014/main" id="{91963E8D-2FF2-4001-9B8D-7FE754685AF9}"/>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105595269"/>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roduct Logo + Subtitle + Image  ">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4031456" y="483394"/>
            <a:ext cx="4572000" cy="4176713"/>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4" name="Text Placeholder 3">
            <a:extLst>
              <a:ext uri="{FF2B5EF4-FFF2-40B4-BE49-F238E27FC236}">
                <a16:creationId xmlns:a16="http://schemas.microsoft.com/office/drawing/2014/main" id="{2B123F89-7EFA-469E-85C4-C2C4535BDDE0}"/>
              </a:ext>
            </a:extLst>
          </p:cNvPr>
          <p:cNvSpPr>
            <a:spLocks noGrp="1"/>
          </p:cNvSpPr>
          <p:nvPr>
            <p:ph type="body" sz="quarter" idx="14" hasCustomPrompt="1"/>
          </p:nvPr>
        </p:nvSpPr>
        <p:spPr>
          <a:xfrm>
            <a:off x="466329" y="1478757"/>
            <a:ext cx="2944812" cy="1292662"/>
          </a:xfrm>
          <a:prstGeom prst="rect">
            <a:avLst/>
          </a:prstGeom>
        </p:spPr>
        <p:txBody>
          <a:bodyPr>
            <a:spAutoFit/>
          </a:bodyPr>
          <a:lstStyle>
            <a:lvl1pPr marL="0" indent="0" algn="l">
              <a:lnSpc>
                <a:spcPct val="100000"/>
              </a:lnSpc>
              <a:buNone/>
              <a:defRPr sz="1950"/>
            </a:lvl1pPr>
            <a:lvl2pPr marL="342900" indent="0">
              <a:buNone/>
              <a:defRPr/>
            </a:lvl2pPr>
            <a:lvl3pPr marL="685800" indent="0">
              <a:buNone/>
              <a:defRPr/>
            </a:lvl3pPr>
            <a:lvl4pPr marL="1028700" indent="0">
              <a:buNone/>
              <a:defRPr/>
            </a:lvl4pPr>
            <a:lvl5pPr marL="1371600" indent="0">
              <a:buNone/>
              <a:defRPr/>
            </a:lvl5pPr>
          </a:lstStyle>
          <a:p>
            <a:pPr lvl="0"/>
            <a:r>
              <a:rPr lang="en-US"/>
              <a:t>Short Sub Title that describes the image and fits in maximum four lines</a:t>
            </a:r>
            <a:endParaRPr lang="en-IN"/>
          </a:p>
        </p:txBody>
      </p:sp>
      <p:sp>
        <p:nvSpPr>
          <p:cNvPr id="5" name="Text Placeholder 7">
            <a:extLst>
              <a:ext uri="{FF2B5EF4-FFF2-40B4-BE49-F238E27FC236}">
                <a16:creationId xmlns:a16="http://schemas.microsoft.com/office/drawing/2014/main" id="{403ABB45-0CC5-4414-B609-0F6CDC509A38}"/>
              </a:ext>
            </a:extLst>
          </p:cNvPr>
          <p:cNvSpPr>
            <a:spLocks noGrp="1"/>
          </p:cNvSpPr>
          <p:nvPr>
            <p:ph type="body" sz="quarter" idx="11" hasCustomPrompt="1"/>
          </p:nvPr>
        </p:nvSpPr>
        <p:spPr>
          <a:xfrm>
            <a:off x="466329" y="460311"/>
            <a:ext cx="2276871" cy="507831"/>
          </a:xfrm>
          <a:prstGeom prst="rect">
            <a:avLst/>
          </a:prstGeom>
        </p:spPr>
        <p:txBody>
          <a:bodyPr wrap="square" anchor="b">
            <a:spAutoFit/>
          </a:bodyPr>
          <a:lstStyle>
            <a:lvl1pPr marL="0" indent="0">
              <a:lnSpc>
                <a:spcPct val="100000"/>
              </a:lnSpc>
              <a:spcBef>
                <a:spcPts val="0"/>
              </a:spcBef>
              <a:buNone/>
              <a:defRPr sz="1350">
                <a:solidFill>
                  <a:schemeClr val="bg1">
                    <a:lumMod val="65000"/>
                  </a:schemeClr>
                </a:solidFill>
              </a:defRPr>
            </a:lvl1pPr>
            <a:lvl5pPr marL="1371600" indent="0">
              <a:buNone/>
              <a:defRPr sz="825"/>
            </a:lvl5pPr>
          </a:lstStyle>
          <a:p>
            <a:pPr lvl="0"/>
            <a:r>
              <a:rPr lang="en-US"/>
              <a:t>Space to add respective</a:t>
            </a:r>
            <a:br>
              <a:rPr lang="en-US"/>
            </a:br>
            <a:r>
              <a:rPr lang="en-US"/>
              <a:t>Product logo, e.g., Cuddle</a:t>
            </a:r>
          </a:p>
        </p:txBody>
      </p:sp>
    </p:spTree>
    <p:extLst>
      <p:ext uri="{BB962C8B-B14F-4D97-AF65-F5344CB8AC3E}">
        <p14:creationId xmlns:p14="http://schemas.microsoft.com/office/powerpoint/2010/main" val="3050262211"/>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Product Logo +Subtitle + Visual">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2276476" y="1478756"/>
            <a:ext cx="6326981" cy="3181350"/>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8" name="Text Placeholder 7">
            <a:extLst>
              <a:ext uri="{FF2B5EF4-FFF2-40B4-BE49-F238E27FC236}">
                <a16:creationId xmlns:a16="http://schemas.microsoft.com/office/drawing/2014/main" id="{974E908D-F0C8-43B8-88EE-AF9BBE439300}"/>
              </a:ext>
            </a:extLst>
          </p:cNvPr>
          <p:cNvSpPr>
            <a:spLocks noGrp="1"/>
          </p:cNvSpPr>
          <p:nvPr>
            <p:ph type="body" sz="quarter" idx="11" hasCustomPrompt="1"/>
          </p:nvPr>
        </p:nvSpPr>
        <p:spPr>
          <a:xfrm>
            <a:off x="466329" y="460311"/>
            <a:ext cx="2276871" cy="507831"/>
          </a:xfrm>
          <a:prstGeom prst="rect">
            <a:avLst/>
          </a:prstGeom>
        </p:spPr>
        <p:txBody>
          <a:bodyPr wrap="square" anchor="b">
            <a:spAutoFit/>
          </a:bodyPr>
          <a:lstStyle>
            <a:lvl1pPr marL="0" indent="0">
              <a:lnSpc>
                <a:spcPct val="100000"/>
              </a:lnSpc>
              <a:spcBef>
                <a:spcPts val="0"/>
              </a:spcBef>
              <a:buNone/>
              <a:defRPr sz="1350">
                <a:solidFill>
                  <a:schemeClr val="bg1">
                    <a:lumMod val="65000"/>
                  </a:schemeClr>
                </a:solidFill>
              </a:defRPr>
            </a:lvl1pPr>
            <a:lvl5pPr marL="1371600" indent="0">
              <a:buNone/>
              <a:defRPr sz="825"/>
            </a:lvl5pPr>
          </a:lstStyle>
          <a:p>
            <a:pPr lvl="0"/>
            <a:r>
              <a:rPr lang="en-US"/>
              <a:t>Space to add respective</a:t>
            </a:r>
            <a:br>
              <a:rPr lang="en-US"/>
            </a:br>
            <a:r>
              <a:rPr lang="en-US"/>
              <a:t>Product logo, e.g., Cuddle</a:t>
            </a:r>
          </a:p>
        </p:txBody>
      </p:sp>
      <p:sp>
        <p:nvSpPr>
          <p:cNvPr id="5" name="Text Placeholder 3">
            <a:extLst>
              <a:ext uri="{FF2B5EF4-FFF2-40B4-BE49-F238E27FC236}">
                <a16:creationId xmlns:a16="http://schemas.microsoft.com/office/drawing/2014/main" id="{325C07C5-6398-42F9-BB80-665B2901EE3A}"/>
              </a:ext>
            </a:extLst>
          </p:cNvPr>
          <p:cNvSpPr>
            <a:spLocks noGrp="1"/>
          </p:cNvSpPr>
          <p:nvPr>
            <p:ph type="body" sz="quarter" idx="14" hasCustomPrompt="1"/>
          </p:nvPr>
        </p:nvSpPr>
        <p:spPr>
          <a:xfrm>
            <a:off x="466329" y="1478756"/>
            <a:ext cx="1705371" cy="1292662"/>
          </a:xfrm>
          <a:prstGeom prst="rect">
            <a:avLst/>
          </a:prstGeom>
        </p:spPr>
        <p:txBody>
          <a:bodyPr wrap="square">
            <a:spAutoFit/>
          </a:bodyPr>
          <a:lstStyle>
            <a:lvl1pPr marL="0" indent="0" algn="l">
              <a:lnSpc>
                <a:spcPct val="100000"/>
              </a:lnSpc>
              <a:buNone/>
              <a:defRPr sz="1950"/>
            </a:lvl1pPr>
            <a:lvl2pPr marL="342900" indent="0">
              <a:buNone/>
              <a:defRPr/>
            </a:lvl2pPr>
            <a:lvl3pPr marL="685800" indent="0">
              <a:buNone/>
              <a:defRPr/>
            </a:lvl3pPr>
            <a:lvl4pPr marL="1028700" indent="0">
              <a:buNone/>
              <a:defRPr/>
            </a:lvl4pPr>
            <a:lvl5pPr marL="1371600" indent="0">
              <a:buNone/>
              <a:defRPr/>
            </a:lvl5pPr>
          </a:lstStyle>
          <a:p>
            <a:pPr lvl="0"/>
            <a:r>
              <a:rPr lang="en-US"/>
              <a:t>Sub Title that describes the image</a:t>
            </a:r>
            <a:endParaRPr lang="en-IN"/>
          </a:p>
        </p:txBody>
      </p:sp>
    </p:spTree>
    <p:extLst>
      <p:ext uri="{BB962C8B-B14F-4D97-AF65-F5344CB8AC3E}">
        <p14:creationId xmlns:p14="http://schemas.microsoft.com/office/powerpoint/2010/main" val="115987084"/>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Product Logo + Image + Subtitle">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533401" y="1672467"/>
            <a:ext cx="8070056" cy="2987639"/>
          </a:xfrm>
          <a:prstGeom prst="rect">
            <a:avLst/>
          </a:prstGeom>
        </p:spPr>
        <p:txBody>
          <a:bodyPr/>
          <a:lstStyle>
            <a:lvl1pPr marL="0" indent="0">
              <a:lnSpc>
                <a:spcPct val="100000"/>
              </a:lnSpc>
              <a:buNone/>
              <a:defRPr sz="1200">
                <a:solidFill>
                  <a:srgbClr val="6B6B6B"/>
                </a:solidFill>
                <a:latin typeface="+mn-lt"/>
              </a:defRPr>
            </a:lvl1pPr>
          </a:lstStyle>
          <a:p>
            <a:r>
              <a:rPr lang="en-US"/>
              <a:t>INSERT IMAGES/CHART/MEDIA/GRAPHIC</a:t>
            </a:r>
          </a:p>
        </p:txBody>
      </p:sp>
      <p:sp>
        <p:nvSpPr>
          <p:cNvPr id="11" name="Title 1">
            <a:extLst>
              <a:ext uri="{FF2B5EF4-FFF2-40B4-BE49-F238E27FC236}">
                <a16:creationId xmlns:a16="http://schemas.microsoft.com/office/drawing/2014/main" id="{E10CC725-6E89-4083-B26D-E98DE4D4B5F8}"/>
              </a:ext>
            </a:extLst>
          </p:cNvPr>
          <p:cNvSpPr>
            <a:spLocks noGrp="1"/>
          </p:cNvSpPr>
          <p:nvPr>
            <p:ph type="title" hasCustomPrompt="1"/>
          </p:nvPr>
        </p:nvSpPr>
        <p:spPr>
          <a:xfrm>
            <a:off x="466329" y="1214572"/>
            <a:ext cx="8137127" cy="392415"/>
          </a:xfrm>
          <a:prstGeom prst="rect">
            <a:avLst/>
          </a:prstGeom>
        </p:spPr>
        <p:txBody>
          <a:bodyPr wrap="square">
            <a:spAutoFit/>
          </a:bodyPr>
          <a:lstStyle>
            <a:lvl1pPr>
              <a:defRPr lang="en-IN" sz="1950" b="0" i="0" dirty="0">
                <a:latin typeface="+mn-lt"/>
                <a:ea typeface="+mn-ea"/>
                <a:cs typeface="+mn-cs"/>
              </a:defRPr>
            </a:lvl1pPr>
          </a:lstStyle>
          <a:p>
            <a:pPr marL="0" lvl="0" indent="0">
              <a:lnSpc>
                <a:spcPct val="100000"/>
              </a:lnSpc>
              <a:spcBef>
                <a:spcPts val="750"/>
              </a:spcBef>
              <a:buFont typeface="Arial" panose="020B0604020202020204" pitchFamily="34" charset="0"/>
            </a:pPr>
            <a:r>
              <a:rPr lang="en-US"/>
              <a:t>Sub Title that describes the image.</a:t>
            </a:r>
          </a:p>
        </p:txBody>
      </p:sp>
      <p:sp>
        <p:nvSpPr>
          <p:cNvPr id="8" name="Text Placeholder 7">
            <a:extLst>
              <a:ext uri="{FF2B5EF4-FFF2-40B4-BE49-F238E27FC236}">
                <a16:creationId xmlns:a16="http://schemas.microsoft.com/office/drawing/2014/main" id="{34DD6C36-E4DD-4B7E-9561-6D5EC33E1BA7}"/>
              </a:ext>
            </a:extLst>
          </p:cNvPr>
          <p:cNvSpPr>
            <a:spLocks noGrp="1"/>
          </p:cNvSpPr>
          <p:nvPr>
            <p:ph type="body" sz="quarter" idx="11" hasCustomPrompt="1"/>
          </p:nvPr>
        </p:nvSpPr>
        <p:spPr>
          <a:xfrm>
            <a:off x="466329" y="460311"/>
            <a:ext cx="2276871" cy="507831"/>
          </a:xfrm>
          <a:prstGeom prst="rect">
            <a:avLst/>
          </a:prstGeom>
        </p:spPr>
        <p:txBody>
          <a:bodyPr wrap="square" anchor="b">
            <a:spAutoFit/>
          </a:bodyPr>
          <a:lstStyle>
            <a:lvl1pPr marL="0" indent="0">
              <a:lnSpc>
                <a:spcPct val="100000"/>
              </a:lnSpc>
              <a:spcBef>
                <a:spcPts val="0"/>
              </a:spcBef>
              <a:buNone/>
              <a:defRPr sz="1350">
                <a:solidFill>
                  <a:schemeClr val="bg1">
                    <a:lumMod val="65000"/>
                  </a:schemeClr>
                </a:solidFill>
              </a:defRPr>
            </a:lvl1pPr>
            <a:lvl5pPr marL="1371600" indent="0">
              <a:buNone/>
              <a:defRPr sz="825"/>
            </a:lvl5pPr>
          </a:lstStyle>
          <a:p>
            <a:pPr lvl="0"/>
            <a:r>
              <a:rPr lang="en-US"/>
              <a:t>Space to add respective</a:t>
            </a:r>
            <a:br>
              <a:rPr lang="en-US"/>
            </a:br>
            <a:r>
              <a:rPr lang="en-US"/>
              <a:t>Product logo, e.g., Cuddle</a:t>
            </a:r>
          </a:p>
        </p:txBody>
      </p:sp>
    </p:spTree>
    <p:extLst>
      <p:ext uri="{BB962C8B-B14F-4D97-AF65-F5344CB8AC3E}">
        <p14:creationId xmlns:p14="http://schemas.microsoft.com/office/powerpoint/2010/main" val="1047612960"/>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ase study ">
    <p:bg>
      <p:bgPr>
        <a:solidFill>
          <a:schemeClr val="bg2">
            <a:alpha val="40000"/>
          </a:schemeClr>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10D1EB5-2605-6140-8954-5BCC4EDBE605}"/>
              </a:ext>
            </a:extLst>
          </p:cNvPr>
          <p:cNvSpPr>
            <a:spLocks noGrp="1"/>
          </p:cNvSpPr>
          <p:nvPr>
            <p:ph type="pic" sz="quarter" idx="17" hasCustomPrompt="1"/>
          </p:nvPr>
        </p:nvSpPr>
        <p:spPr>
          <a:xfrm>
            <a:off x="533400" y="1233808"/>
            <a:ext cx="2283619" cy="3429869"/>
          </a:xfrm>
          <a:prstGeom prst="roundRect">
            <a:avLst>
              <a:gd name="adj" fmla="val 4672"/>
            </a:avLst>
          </a:prstGeom>
          <a:solidFill>
            <a:schemeClr val="bg1"/>
          </a:solidFill>
        </p:spPr>
        <p:txBody>
          <a:bodyPr/>
          <a:lstStyle>
            <a:lvl1pPr marL="0" indent="0">
              <a:lnSpc>
                <a:spcPct val="100000"/>
              </a:lnSpc>
              <a:buFont typeface="Arial" panose="020B0604020202020204" pitchFamily="34" charset="0"/>
              <a:buNone/>
              <a:defRPr sz="1200">
                <a:latin typeface="+mn-lt"/>
              </a:defRPr>
            </a:lvl1pPr>
          </a:lstStyle>
          <a:p>
            <a:r>
              <a:rPr lang="en-US"/>
              <a:t>Insert Picture / Graphic</a:t>
            </a:r>
          </a:p>
        </p:txBody>
      </p:sp>
      <p:sp>
        <p:nvSpPr>
          <p:cNvPr id="16" name="Rounded Rectangle 15">
            <a:extLst>
              <a:ext uri="{FF2B5EF4-FFF2-40B4-BE49-F238E27FC236}">
                <a16:creationId xmlns:a16="http://schemas.microsoft.com/office/drawing/2014/main" id="{AB0FD3F0-CADA-2A43-A855-218DC961FA55}"/>
              </a:ext>
            </a:extLst>
          </p:cNvPr>
          <p:cNvSpPr/>
          <p:nvPr/>
        </p:nvSpPr>
        <p:spPr>
          <a:xfrm>
            <a:off x="2884823" y="1233808"/>
            <a:ext cx="2835000" cy="3429869"/>
          </a:xfrm>
          <a:prstGeom prst="roundRect">
            <a:avLst>
              <a:gd name="adj" fmla="val 3933"/>
            </a:avLst>
          </a:prstGeom>
          <a:solidFill>
            <a:srgbClr val="FFFFFF"/>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AFFFF"/>
              </a:solidFill>
              <a:effectLst/>
              <a:uLnTx/>
              <a:uFillTx/>
              <a:latin typeface="+mn-lt"/>
              <a:ea typeface="+mn-ea"/>
              <a:cs typeface="+mn-cs"/>
            </a:endParaRPr>
          </a:p>
        </p:txBody>
      </p:sp>
      <p:sp>
        <p:nvSpPr>
          <p:cNvPr id="26" name="Text Placeholder 3">
            <a:extLst>
              <a:ext uri="{FF2B5EF4-FFF2-40B4-BE49-F238E27FC236}">
                <a16:creationId xmlns:a16="http://schemas.microsoft.com/office/drawing/2014/main" id="{144FD2C0-1C4A-AE42-B253-49EAA65CE990}"/>
              </a:ext>
            </a:extLst>
          </p:cNvPr>
          <p:cNvSpPr>
            <a:spLocks noGrp="1"/>
          </p:cNvSpPr>
          <p:nvPr>
            <p:ph type="body" sz="half" idx="13" hasCustomPrompt="1"/>
          </p:nvPr>
        </p:nvSpPr>
        <p:spPr>
          <a:xfrm>
            <a:off x="2925164" y="1305662"/>
            <a:ext cx="2695638" cy="392415"/>
          </a:xfrm>
          <a:prstGeom prst="rect">
            <a:avLst/>
          </a:prstGeom>
        </p:spPr>
        <p:txBody>
          <a:bodyPr anchor="b">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Heading 1</a:t>
            </a:r>
          </a:p>
        </p:txBody>
      </p:sp>
      <p:sp>
        <p:nvSpPr>
          <p:cNvPr id="28" name="Rounded Rectangle 27">
            <a:extLst>
              <a:ext uri="{FF2B5EF4-FFF2-40B4-BE49-F238E27FC236}">
                <a16:creationId xmlns:a16="http://schemas.microsoft.com/office/drawing/2014/main" id="{23297810-B42F-4E43-AAF0-9C880E9E5776}"/>
              </a:ext>
            </a:extLst>
          </p:cNvPr>
          <p:cNvSpPr/>
          <p:nvPr/>
        </p:nvSpPr>
        <p:spPr>
          <a:xfrm>
            <a:off x="5787628" y="1233808"/>
            <a:ext cx="2835000" cy="3429869"/>
          </a:xfrm>
          <a:prstGeom prst="roundRect">
            <a:avLst>
              <a:gd name="adj" fmla="val 2891"/>
            </a:avLst>
          </a:prstGeom>
          <a:solidFill>
            <a:srgbClr val="FFFFFF"/>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AFFFF"/>
              </a:solidFill>
              <a:effectLst/>
              <a:uLnTx/>
              <a:uFillTx/>
              <a:latin typeface="+mn-lt"/>
              <a:ea typeface="+mn-ea"/>
              <a:cs typeface="+mn-cs"/>
            </a:endParaRPr>
          </a:p>
        </p:txBody>
      </p:sp>
      <p:sp>
        <p:nvSpPr>
          <p:cNvPr id="30" name="Text Placeholder 3">
            <a:extLst>
              <a:ext uri="{FF2B5EF4-FFF2-40B4-BE49-F238E27FC236}">
                <a16:creationId xmlns:a16="http://schemas.microsoft.com/office/drawing/2014/main" id="{7B936880-5BF6-594A-8BAD-B4D73AACDF8D}"/>
              </a:ext>
            </a:extLst>
          </p:cNvPr>
          <p:cNvSpPr>
            <a:spLocks noGrp="1"/>
          </p:cNvSpPr>
          <p:nvPr>
            <p:ph type="body" sz="half" idx="16" hasCustomPrompt="1"/>
          </p:nvPr>
        </p:nvSpPr>
        <p:spPr>
          <a:xfrm>
            <a:off x="5827969" y="1305662"/>
            <a:ext cx="2666387" cy="392415"/>
          </a:xfrm>
          <a:prstGeom prst="rect">
            <a:avLst/>
          </a:prstGeom>
        </p:spPr>
        <p:txBody>
          <a:bodyPr anchor="b">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Heading 2</a:t>
            </a:r>
          </a:p>
        </p:txBody>
      </p:sp>
      <p:sp>
        <p:nvSpPr>
          <p:cNvPr id="31" name="Text Placeholder 13">
            <a:extLst>
              <a:ext uri="{FF2B5EF4-FFF2-40B4-BE49-F238E27FC236}">
                <a16:creationId xmlns:a16="http://schemas.microsoft.com/office/drawing/2014/main" id="{FCA37391-5567-454B-8A95-829FE162E13F}"/>
              </a:ext>
            </a:extLst>
          </p:cNvPr>
          <p:cNvSpPr>
            <a:spLocks noGrp="1"/>
          </p:cNvSpPr>
          <p:nvPr>
            <p:ph type="body" sz="quarter" idx="18" hasCustomPrompt="1"/>
          </p:nvPr>
        </p:nvSpPr>
        <p:spPr>
          <a:xfrm>
            <a:off x="2925164" y="1791187"/>
            <a:ext cx="2695637" cy="577081"/>
          </a:xfrm>
          <a:prstGeom prst="rect">
            <a:avLst/>
          </a:prstGeom>
        </p:spPr>
        <p:txBody>
          <a:bodyPr wrap="square">
            <a:spAutoFit/>
          </a:bodyPr>
          <a:lstStyle>
            <a:lvl1pPr marL="0" indent="0">
              <a:lnSpc>
                <a:spcPct val="100000"/>
              </a:lnSpc>
              <a:buFont typeface="Arial" panose="020B0604020202020204" pitchFamily="34" charset="0"/>
              <a:buNone/>
              <a:defRPr sz="105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2" name="Text Placeholder 13">
            <a:extLst>
              <a:ext uri="{FF2B5EF4-FFF2-40B4-BE49-F238E27FC236}">
                <a16:creationId xmlns:a16="http://schemas.microsoft.com/office/drawing/2014/main" id="{2AEF9A3F-C3D4-5749-90E3-1547F3B8F260}"/>
              </a:ext>
            </a:extLst>
          </p:cNvPr>
          <p:cNvSpPr>
            <a:spLocks noGrp="1"/>
          </p:cNvSpPr>
          <p:nvPr>
            <p:ph type="body" sz="quarter" idx="19" hasCustomPrompt="1"/>
          </p:nvPr>
        </p:nvSpPr>
        <p:spPr>
          <a:xfrm>
            <a:off x="5827969" y="1791187"/>
            <a:ext cx="2666387" cy="577081"/>
          </a:xfrm>
          <a:prstGeom prst="rect">
            <a:avLst/>
          </a:prstGeom>
        </p:spPr>
        <p:txBody>
          <a:bodyPr wrap="square">
            <a:spAutoFit/>
          </a:bodyPr>
          <a:lstStyle>
            <a:lvl1pPr marL="0" indent="0">
              <a:lnSpc>
                <a:spcPct val="100000"/>
              </a:lnSpc>
              <a:buFont typeface="Arial" panose="020B0604020202020204" pitchFamily="34" charset="0"/>
              <a:buNone/>
              <a:defRPr sz="105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17" name="Title 1">
            <a:extLst>
              <a:ext uri="{FF2B5EF4-FFF2-40B4-BE49-F238E27FC236}">
                <a16:creationId xmlns:a16="http://schemas.microsoft.com/office/drawing/2014/main" id="{0336F1B1-07AE-44D7-B87E-02D7F71C3645}"/>
              </a:ext>
            </a:extLst>
          </p:cNvPr>
          <p:cNvSpPr>
            <a:spLocks noGrp="1"/>
          </p:cNvSpPr>
          <p:nvPr>
            <p:ph type="title"/>
          </p:nvPr>
        </p:nvSpPr>
        <p:spPr>
          <a:xfrm>
            <a:off x="1196340" y="384228"/>
            <a:ext cx="7434142" cy="392415"/>
          </a:xfrm>
          <a:prstGeom prst="rect">
            <a:avLst/>
          </a:prstGeom>
        </p:spPr>
        <p:txBody>
          <a:bodyPr wrap="square" anchor="ctr">
            <a:spAutoFit/>
          </a:bodyPr>
          <a:lstStyle>
            <a:lvl1pPr>
              <a:lnSpc>
                <a:spcPct val="100000"/>
              </a:lnSpc>
              <a:defRPr lang="en-IN" sz="19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grpSp>
        <p:nvGrpSpPr>
          <p:cNvPr id="18" name="Group 17">
            <a:extLst>
              <a:ext uri="{FF2B5EF4-FFF2-40B4-BE49-F238E27FC236}">
                <a16:creationId xmlns:a16="http://schemas.microsoft.com/office/drawing/2014/main" id="{691BF75A-D0A4-4185-9701-031ACC826FD3}"/>
              </a:ext>
            </a:extLst>
          </p:cNvPr>
          <p:cNvGrpSpPr/>
          <p:nvPr/>
        </p:nvGrpSpPr>
        <p:grpSpPr>
          <a:xfrm>
            <a:off x="538082" y="311354"/>
            <a:ext cx="597890" cy="538163"/>
            <a:chOff x="644873" y="545729"/>
            <a:chExt cx="797186" cy="717551"/>
          </a:xfrm>
        </p:grpSpPr>
        <p:sp>
          <p:nvSpPr>
            <p:cNvPr id="19" name="Rectangle: Rounded Corners 18">
              <a:extLst>
                <a:ext uri="{FF2B5EF4-FFF2-40B4-BE49-F238E27FC236}">
                  <a16:creationId xmlns:a16="http://schemas.microsoft.com/office/drawing/2014/main" id="{61A1FB06-2971-449C-BE12-C3834072DB9C}"/>
                </a:ext>
              </a:extLst>
            </p:cNvPr>
            <p:cNvSpPr/>
            <p:nvPr userDrawn="1"/>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latin typeface="+mn-lt"/>
              </a:endParaRPr>
            </a:p>
          </p:txBody>
        </p:sp>
        <p:pic>
          <p:nvPicPr>
            <p:cNvPr id="20" name="Graphic 24">
              <a:extLst>
                <a:ext uri="{FF2B5EF4-FFF2-40B4-BE49-F238E27FC236}">
                  <a16:creationId xmlns:a16="http://schemas.microsoft.com/office/drawing/2014/main" id="{08ABD3B6-14ED-4371-A7B8-7D60D76F0123}"/>
                </a:ext>
              </a:extLst>
            </p:cNvPr>
            <p:cNvPicPr>
              <a:picLocks noChangeAspect="1"/>
            </p:cNvPicPr>
            <p:nvPr userDrawn="1"/>
          </p:nvPicPr>
          <p:blipFill>
            <a:blip r:embed="rId2"/>
            <a:srcRect/>
            <a:stretch/>
          </p:blipFill>
          <p:spPr>
            <a:xfrm>
              <a:off x="684691" y="545730"/>
              <a:ext cx="717550" cy="717550"/>
            </a:xfrm>
            <a:prstGeom prst="roundRect">
              <a:avLst>
                <a:gd name="adj" fmla="val 11357"/>
              </a:avLst>
            </a:prstGeom>
          </p:spPr>
        </p:pic>
      </p:grpSp>
    </p:spTree>
    <p:extLst>
      <p:ext uri="{BB962C8B-B14F-4D97-AF65-F5344CB8AC3E}">
        <p14:creationId xmlns:p14="http://schemas.microsoft.com/office/powerpoint/2010/main" val="3194111806"/>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ase study continuation">
    <p:bg>
      <p:bgPr>
        <a:solidFill>
          <a:schemeClr val="bg2">
            <a:alpha val="40000"/>
          </a:schemeClr>
        </a:solidFill>
        <a:effectLst/>
      </p:bgPr>
    </p:bg>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1ADC7FFF-64D4-054B-B83A-FCCD216E7154}"/>
              </a:ext>
            </a:extLst>
          </p:cNvPr>
          <p:cNvSpPr/>
          <p:nvPr/>
        </p:nvSpPr>
        <p:spPr>
          <a:xfrm>
            <a:off x="536419" y="486727"/>
            <a:ext cx="3976688" cy="2057639"/>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15" name="Rounded Rectangle 14">
            <a:extLst>
              <a:ext uri="{FF2B5EF4-FFF2-40B4-BE49-F238E27FC236}">
                <a16:creationId xmlns:a16="http://schemas.microsoft.com/office/drawing/2014/main" id="{9518A8F8-E3DA-BF48-9557-22BE8356F5E8}"/>
              </a:ext>
            </a:extLst>
          </p:cNvPr>
          <p:cNvSpPr/>
          <p:nvPr/>
        </p:nvSpPr>
        <p:spPr>
          <a:xfrm>
            <a:off x="536419" y="2601277"/>
            <a:ext cx="3976688" cy="2057400"/>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18" name="Rounded Rectangle 17">
            <a:extLst>
              <a:ext uri="{FF2B5EF4-FFF2-40B4-BE49-F238E27FC236}">
                <a16:creationId xmlns:a16="http://schemas.microsoft.com/office/drawing/2014/main" id="{741C1DAA-C674-5E44-BA02-3C1C16913FF4}"/>
              </a:ext>
            </a:extLst>
          </p:cNvPr>
          <p:cNvSpPr/>
          <p:nvPr/>
        </p:nvSpPr>
        <p:spPr>
          <a:xfrm>
            <a:off x="4591541" y="2601277"/>
            <a:ext cx="3976688" cy="2057400"/>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sp>
        <p:nvSpPr>
          <p:cNvPr id="32" name="Text Placeholder 13">
            <a:extLst>
              <a:ext uri="{FF2B5EF4-FFF2-40B4-BE49-F238E27FC236}">
                <a16:creationId xmlns:a16="http://schemas.microsoft.com/office/drawing/2014/main" id="{A5D640D8-F686-C042-81BE-C77EE1652A8F}"/>
              </a:ext>
            </a:extLst>
          </p:cNvPr>
          <p:cNvSpPr>
            <a:spLocks noGrp="1"/>
          </p:cNvSpPr>
          <p:nvPr>
            <p:ph type="body" sz="quarter" idx="22" hasCustomPrompt="1"/>
          </p:nvPr>
        </p:nvSpPr>
        <p:spPr>
          <a:xfrm>
            <a:off x="630548" y="1111172"/>
            <a:ext cx="3798587" cy="415498"/>
          </a:xfrm>
          <a:prstGeom prst="rect">
            <a:avLst/>
          </a:prstGeom>
        </p:spPr>
        <p:txBody>
          <a:bodyPr anchor="t">
            <a:spAutoFit/>
          </a:bodyPr>
          <a:lstStyle>
            <a:lvl1pPr marL="0" indent="0">
              <a:lnSpc>
                <a:spcPct val="100000"/>
              </a:lnSpc>
              <a:buFont typeface="Arial" panose="020B0604020202020204" pitchFamily="34" charset="0"/>
              <a:buNone/>
              <a:defRPr sz="105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3" name="Text Placeholder 13">
            <a:extLst>
              <a:ext uri="{FF2B5EF4-FFF2-40B4-BE49-F238E27FC236}">
                <a16:creationId xmlns:a16="http://schemas.microsoft.com/office/drawing/2014/main" id="{82BD860B-B439-8942-977F-6323060861B4}"/>
              </a:ext>
            </a:extLst>
          </p:cNvPr>
          <p:cNvSpPr>
            <a:spLocks noGrp="1"/>
          </p:cNvSpPr>
          <p:nvPr>
            <p:ph type="body" sz="quarter" idx="23" hasCustomPrompt="1"/>
          </p:nvPr>
        </p:nvSpPr>
        <p:spPr>
          <a:xfrm>
            <a:off x="630548" y="3231634"/>
            <a:ext cx="3798587" cy="415498"/>
          </a:xfrm>
          <a:prstGeom prst="rect">
            <a:avLst/>
          </a:prstGeom>
        </p:spPr>
        <p:txBody>
          <a:bodyPr anchor="t">
            <a:spAutoFit/>
          </a:bodyPr>
          <a:lstStyle>
            <a:lvl1pPr marL="0" indent="0">
              <a:lnSpc>
                <a:spcPct val="100000"/>
              </a:lnSpc>
              <a:buFont typeface="Arial" panose="020B0604020202020204" pitchFamily="34" charset="0"/>
              <a:buNone/>
              <a:defRPr sz="105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4" name="Text Placeholder 13">
            <a:extLst>
              <a:ext uri="{FF2B5EF4-FFF2-40B4-BE49-F238E27FC236}">
                <a16:creationId xmlns:a16="http://schemas.microsoft.com/office/drawing/2014/main" id="{93AB9F4F-57DE-4942-8FFC-B506FA460B1B}"/>
              </a:ext>
            </a:extLst>
          </p:cNvPr>
          <p:cNvSpPr>
            <a:spLocks noGrp="1"/>
          </p:cNvSpPr>
          <p:nvPr>
            <p:ph type="body" sz="quarter" idx="24" hasCustomPrompt="1"/>
          </p:nvPr>
        </p:nvSpPr>
        <p:spPr>
          <a:xfrm>
            <a:off x="4685670" y="3231634"/>
            <a:ext cx="3798587" cy="415498"/>
          </a:xfrm>
          <a:prstGeom prst="rect">
            <a:avLst/>
          </a:prstGeom>
        </p:spPr>
        <p:txBody>
          <a:bodyPr anchor="t">
            <a:spAutoFit/>
          </a:bodyPr>
          <a:lstStyle>
            <a:lvl1pPr marL="0" indent="0">
              <a:lnSpc>
                <a:spcPct val="100000"/>
              </a:lnSpc>
              <a:buFont typeface="Arial" panose="020B0604020202020204" pitchFamily="34" charset="0"/>
              <a:buNone/>
              <a:defRPr sz="1050">
                <a:solidFill>
                  <a:schemeClr val="tx1"/>
                </a:solidFill>
                <a:latin typeface="+mn-lt"/>
              </a:defRPr>
            </a:lvl1pPr>
            <a:lvl2pPr marL="342900" indent="0">
              <a:lnSpc>
                <a:spcPct val="100000"/>
              </a:lnSpc>
              <a:buNone/>
              <a:defRPr sz="1200">
                <a:solidFill>
                  <a:schemeClr val="accent3"/>
                </a:solidFill>
              </a:defRPr>
            </a:lvl2pPr>
            <a:lvl3pPr marL="685800" indent="0">
              <a:lnSpc>
                <a:spcPct val="100000"/>
              </a:lnSpc>
              <a:buNone/>
              <a:defRPr sz="1200">
                <a:solidFill>
                  <a:schemeClr val="accent3"/>
                </a:solidFill>
              </a:defRPr>
            </a:lvl3pPr>
            <a:lvl4pPr marL="1028700" indent="0">
              <a:lnSpc>
                <a:spcPct val="100000"/>
              </a:lnSpc>
              <a:buNone/>
              <a:defRPr sz="1200">
                <a:solidFill>
                  <a:schemeClr val="accent3"/>
                </a:solidFill>
              </a:defRPr>
            </a:lvl4pPr>
            <a:lvl5pPr marL="1371600" indent="0">
              <a:lnSpc>
                <a:spcPct val="100000"/>
              </a:lnSpc>
              <a:buNone/>
              <a:defRPr sz="1200">
                <a:solidFill>
                  <a:schemeClr val="accent3"/>
                </a:solidFill>
              </a:defRPr>
            </a:lvl5pPr>
          </a:lstStyle>
          <a:p>
            <a:pPr lvl="0"/>
            <a:r>
              <a:rPr lang="en-GB"/>
              <a:t>Description body copy text that flows in point form without bullets unless specified in the template.</a:t>
            </a:r>
          </a:p>
        </p:txBody>
      </p:sp>
      <p:sp>
        <p:nvSpPr>
          <p:cNvPr id="3" name="Picture Placeholder 2">
            <a:extLst>
              <a:ext uri="{FF2B5EF4-FFF2-40B4-BE49-F238E27FC236}">
                <a16:creationId xmlns:a16="http://schemas.microsoft.com/office/drawing/2014/main" id="{E10D1EB5-2605-6140-8954-5BCC4EDBE605}"/>
              </a:ext>
            </a:extLst>
          </p:cNvPr>
          <p:cNvSpPr>
            <a:spLocks noGrp="1"/>
          </p:cNvSpPr>
          <p:nvPr>
            <p:ph type="pic" sz="quarter" idx="17" hasCustomPrompt="1"/>
          </p:nvPr>
        </p:nvSpPr>
        <p:spPr>
          <a:xfrm>
            <a:off x="4591541" y="486966"/>
            <a:ext cx="3976688" cy="2057400"/>
          </a:xfrm>
          <a:prstGeom prst="roundRect">
            <a:avLst>
              <a:gd name="adj" fmla="val 3541"/>
            </a:avLst>
          </a:prstGeom>
          <a:solidFill>
            <a:schemeClr val="bg1"/>
          </a:solidFill>
        </p:spPr>
        <p:txBody>
          <a:bodyPr/>
          <a:lstStyle>
            <a:lvl1pPr marL="0" indent="0">
              <a:lnSpc>
                <a:spcPct val="100000"/>
              </a:lnSpc>
              <a:buFont typeface="Arial" panose="020B0604020202020204" pitchFamily="34" charset="0"/>
              <a:buNone/>
              <a:defRPr sz="1200">
                <a:latin typeface="+mn-lt"/>
              </a:defRPr>
            </a:lvl1pPr>
          </a:lstStyle>
          <a:p>
            <a:r>
              <a:rPr lang="en-US"/>
              <a:t>Insert Picture / Architecture</a:t>
            </a:r>
          </a:p>
        </p:txBody>
      </p:sp>
      <p:sp>
        <p:nvSpPr>
          <p:cNvPr id="26" name="Text Placeholder 3">
            <a:extLst>
              <a:ext uri="{FF2B5EF4-FFF2-40B4-BE49-F238E27FC236}">
                <a16:creationId xmlns:a16="http://schemas.microsoft.com/office/drawing/2014/main" id="{144FD2C0-1C4A-AE42-B253-49EAA65CE990}"/>
              </a:ext>
            </a:extLst>
          </p:cNvPr>
          <p:cNvSpPr>
            <a:spLocks noGrp="1"/>
          </p:cNvSpPr>
          <p:nvPr>
            <p:ph type="body" sz="half" idx="13" hasCustomPrompt="1"/>
          </p:nvPr>
        </p:nvSpPr>
        <p:spPr>
          <a:xfrm>
            <a:off x="630548" y="573335"/>
            <a:ext cx="3798587" cy="392415"/>
          </a:xfrm>
          <a:prstGeom prst="rect">
            <a:avLst/>
          </a:prstGeom>
        </p:spPr>
        <p:txBody>
          <a:bodyPr anchor="b">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Heading 1</a:t>
            </a:r>
          </a:p>
        </p:txBody>
      </p:sp>
      <p:sp>
        <p:nvSpPr>
          <p:cNvPr id="22" name="Text Placeholder 3">
            <a:extLst>
              <a:ext uri="{FF2B5EF4-FFF2-40B4-BE49-F238E27FC236}">
                <a16:creationId xmlns:a16="http://schemas.microsoft.com/office/drawing/2014/main" id="{BB3941A8-BFDA-994C-8AF2-7C35E145566F}"/>
              </a:ext>
            </a:extLst>
          </p:cNvPr>
          <p:cNvSpPr>
            <a:spLocks noGrp="1"/>
          </p:cNvSpPr>
          <p:nvPr>
            <p:ph type="body" sz="half" idx="19" hasCustomPrompt="1"/>
          </p:nvPr>
        </p:nvSpPr>
        <p:spPr>
          <a:xfrm>
            <a:off x="630548" y="2697102"/>
            <a:ext cx="3798587" cy="392415"/>
          </a:xfrm>
          <a:prstGeom prst="rect">
            <a:avLst/>
          </a:prstGeom>
        </p:spPr>
        <p:txBody>
          <a:bodyPr anchor="b">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Heading 2</a:t>
            </a:r>
          </a:p>
        </p:txBody>
      </p:sp>
      <p:sp>
        <p:nvSpPr>
          <p:cNvPr id="31" name="Text Placeholder 3">
            <a:extLst>
              <a:ext uri="{FF2B5EF4-FFF2-40B4-BE49-F238E27FC236}">
                <a16:creationId xmlns:a16="http://schemas.microsoft.com/office/drawing/2014/main" id="{F28D07AB-DC67-684B-B587-A42D95B261D7}"/>
              </a:ext>
            </a:extLst>
          </p:cNvPr>
          <p:cNvSpPr>
            <a:spLocks noGrp="1"/>
          </p:cNvSpPr>
          <p:nvPr>
            <p:ph type="body" sz="half" idx="21" hasCustomPrompt="1"/>
          </p:nvPr>
        </p:nvSpPr>
        <p:spPr>
          <a:xfrm>
            <a:off x="4685670" y="2697102"/>
            <a:ext cx="3798587" cy="392415"/>
          </a:xfrm>
          <a:prstGeom prst="rect">
            <a:avLst/>
          </a:prstGeom>
        </p:spPr>
        <p:txBody>
          <a:bodyPr anchor="b">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Sub Heading 3</a:t>
            </a:r>
          </a:p>
        </p:txBody>
      </p:sp>
    </p:spTree>
    <p:extLst>
      <p:ext uri="{BB962C8B-B14F-4D97-AF65-F5344CB8AC3E}">
        <p14:creationId xmlns:p14="http://schemas.microsoft.com/office/powerpoint/2010/main" val="3501006319"/>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ase study blank">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8B8B1CD-FDA0-4656-842E-5BC6BE592A2B}"/>
              </a:ext>
            </a:extLst>
          </p:cNvPr>
          <p:cNvSpPr>
            <a:spLocks noGrp="1"/>
          </p:cNvSpPr>
          <p:nvPr>
            <p:ph type="title"/>
          </p:nvPr>
        </p:nvSpPr>
        <p:spPr>
          <a:xfrm>
            <a:off x="1196340" y="384228"/>
            <a:ext cx="7434142" cy="392415"/>
          </a:xfrm>
          <a:prstGeom prst="rect">
            <a:avLst/>
          </a:prstGeom>
        </p:spPr>
        <p:txBody>
          <a:bodyPr wrap="square" anchor="ctr">
            <a:spAutoFit/>
          </a:bodyPr>
          <a:lstStyle>
            <a:lvl1pPr>
              <a:lnSpc>
                <a:spcPct val="100000"/>
              </a:lnSpc>
              <a:defRPr lang="en-IN" sz="19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grpSp>
        <p:nvGrpSpPr>
          <p:cNvPr id="7" name="Group 6">
            <a:extLst>
              <a:ext uri="{FF2B5EF4-FFF2-40B4-BE49-F238E27FC236}">
                <a16:creationId xmlns:a16="http://schemas.microsoft.com/office/drawing/2014/main" id="{E1FCAE3B-8C74-4DFB-B8E8-0A8A42F5508D}"/>
              </a:ext>
            </a:extLst>
          </p:cNvPr>
          <p:cNvGrpSpPr/>
          <p:nvPr/>
        </p:nvGrpSpPr>
        <p:grpSpPr>
          <a:xfrm>
            <a:off x="538082" y="311354"/>
            <a:ext cx="597890" cy="538163"/>
            <a:chOff x="644873" y="545729"/>
            <a:chExt cx="797186" cy="717551"/>
          </a:xfrm>
        </p:grpSpPr>
        <p:sp>
          <p:nvSpPr>
            <p:cNvPr id="8" name="Rectangle: Rounded Corners 7">
              <a:extLst>
                <a:ext uri="{FF2B5EF4-FFF2-40B4-BE49-F238E27FC236}">
                  <a16:creationId xmlns:a16="http://schemas.microsoft.com/office/drawing/2014/main" id="{FC41C30E-7AAD-46DD-9E01-3D7B0ED290AC}"/>
                </a:ext>
              </a:extLst>
            </p:cNvPr>
            <p:cNvSpPr/>
            <p:nvPr userDrawn="1"/>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latin typeface="+mn-lt"/>
              </a:endParaRPr>
            </a:p>
          </p:txBody>
        </p:sp>
        <p:pic>
          <p:nvPicPr>
            <p:cNvPr id="9" name="Graphic 24">
              <a:extLst>
                <a:ext uri="{FF2B5EF4-FFF2-40B4-BE49-F238E27FC236}">
                  <a16:creationId xmlns:a16="http://schemas.microsoft.com/office/drawing/2014/main" id="{B051F9DC-86F3-42DD-8409-02013402BF3F}"/>
                </a:ext>
              </a:extLst>
            </p:cNvPr>
            <p:cNvPicPr>
              <a:picLocks noChangeAspect="1"/>
            </p:cNvPicPr>
            <p:nvPr userDrawn="1"/>
          </p:nvPicPr>
          <p:blipFill>
            <a:blip r:embed="rId2"/>
            <a:srcRect/>
            <a:stretch/>
          </p:blipFill>
          <p:spPr>
            <a:xfrm>
              <a:off x="684691" y="545730"/>
              <a:ext cx="717550" cy="717550"/>
            </a:xfrm>
            <a:prstGeom prst="roundRect">
              <a:avLst>
                <a:gd name="adj" fmla="val 11357"/>
              </a:avLst>
            </a:prstGeom>
          </p:spPr>
        </p:pic>
      </p:grpSp>
    </p:spTree>
    <p:extLst>
      <p:ext uri="{BB962C8B-B14F-4D97-AF65-F5344CB8AC3E}">
        <p14:creationId xmlns:p14="http://schemas.microsoft.com/office/powerpoint/2010/main" val="3678104147"/>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Engagement Model">
    <p:bg>
      <p:bgPr>
        <a:solidFill>
          <a:schemeClr val="bg2">
            <a:alpha val="40000"/>
          </a:schemeClr>
        </a:solidFill>
        <a:effectLst/>
      </p:bgPr>
    </p:bg>
    <p:spTree>
      <p:nvGrpSpPr>
        <p:cNvPr id="1" name=""/>
        <p:cNvGrpSpPr/>
        <p:nvPr/>
      </p:nvGrpSpPr>
      <p:grpSpPr>
        <a:xfrm>
          <a:off x="0" y="0"/>
          <a:ext cx="0" cy="0"/>
          <a:chOff x="0" y="0"/>
          <a:chExt cx="0" cy="0"/>
        </a:xfrm>
      </p:grpSpPr>
      <p:sp>
        <p:nvSpPr>
          <p:cNvPr id="6" name="Rounded Rectangle 8">
            <a:extLst>
              <a:ext uri="{FF2B5EF4-FFF2-40B4-BE49-F238E27FC236}">
                <a16:creationId xmlns:a16="http://schemas.microsoft.com/office/drawing/2014/main" id="{FAF27359-B05D-4355-8F09-EC1B22D472EA}"/>
              </a:ext>
            </a:extLst>
          </p:cNvPr>
          <p:cNvSpPr/>
          <p:nvPr/>
        </p:nvSpPr>
        <p:spPr>
          <a:xfrm>
            <a:off x="550533" y="1006079"/>
            <a:ext cx="8044589" cy="3654028"/>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350">
              <a:latin typeface="+mn-lt"/>
            </a:endParaRPr>
          </a:p>
        </p:txBody>
      </p:sp>
      <p:pic>
        <p:nvPicPr>
          <p:cNvPr id="10" name="Picture 8" descr="pasted-image.pdf">
            <a:extLst>
              <a:ext uri="{FF2B5EF4-FFF2-40B4-BE49-F238E27FC236}">
                <a16:creationId xmlns:a16="http://schemas.microsoft.com/office/drawing/2014/main" id="{847C4804-25FF-4E4D-A750-2866A85069C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0454" y="1195846"/>
            <a:ext cx="918965" cy="193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7">
            <a:extLst>
              <a:ext uri="{FF2B5EF4-FFF2-40B4-BE49-F238E27FC236}">
                <a16:creationId xmlns:a16="http://schemas.microsoft.com/office/drawing/2014/main" id="{3F7EBD02-0E9E-4C16-A191-F287F79CA41D}"/>
              </a:ext>
            </a:extLst>
          </p:cNvPr>
          <p:cNvSpPr>
            <a:spLocks noGrp="1"/>
          </p:cNvSpPr>
          <p:nvPr>
            <p:ph type="body" sz="quarter" idx="11" hasCustomPrompt="1"/>
          </p:nvPr>
        </p:nvSpPr>
        <p:spPr>
          <a:xfrm>
            <a:off x="4927013" y="1195846"/>
            <a:ext cx="1062887" cy="507831"/>
          </a:xfrm>
          <a:prstGeom prst="rect">
            <a:avLst/>
          </a:prstGeom>
        </p:spPr>
        <p:txBody>
          <a:bodyPr wrap="square">
            <a:spAutoFit/>
          </a:bodyPr>
          <a:lstStyle>
            <a:lvl1pPr marL="0" indent="0">
              <a:lnSpc>
                <a:spcPct val="100000"/>
              </a:lnSpc>
              <a:buNone/>
              <a:defRPr sz="1350"/>
            </a:lvl1pPr>
            <a:lvl5pPr marL="1371600" indent="0">
              <a:buNone/>
              <a:defRPr sz="825"/>
            </a:lvl5pPr>
          </a:lstStyle>
          <a:p>
            <a:pPr lvl="0"/>
            <a:r>
              <a:rPr lang="en-US"/>
              <a:t>Client Logo</a:t>
            </a:r>
          </a:p>
        </p:txBody>
      </p:sp>
      <p:sp>
        <p:nvSpPr>
          <p:cNvPr id="9" name="Title 1">
            <a:extLst>
              <a:ext uri="{FF2B5EF4-FFF2-40B4-BE49-F238E27FC236}">
                <a16:creationId xmlns:a16="http://schemas.microsoft.com/office/drawing/2014/main" id="{78E77AAB-E79E-4F03-BA3D-B669B5E75A5A}"/>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Open Sans" panose="020B0606030504020204" pitchFamily="34" charset="0"/>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Tree>
    <p:extLst>
      <p:ext uri="{BB962C8B-B14F-4D97-AF65-F5344CB8AC3E}">
        <p14:creationId xmlns:p14="http://schemas.microsoft.com/office/powerpoint/2010/main" val="3058133026"/>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am profile - 4 picture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700A166-0BD3-47A9-A0E9-AE7D1F956088}"/>
              </a:ext>
            </a:extLst>
          </p:cNvPr>
          <p:cNvSpPr>
            <a:spLocks noGrp="1"/>
          </p:cNvSpPr>
          <p:nvPr>
            <p:ph type="title"/>
          </p:nvPr>
        </p:nvSpPr>
        <p:spPr>
          <a:xfrm>
            <a:off x="454023" y="373999"/>
            <a:ext cx="8141098" cy="577081"/>
          </a:xfrm>
          <a:prstGeom prst="rect">
            <a:avLst/>
          </a:prstGeom>
        </p:spPr>
        <p:txBody>
          <a:bodyPr wrap="square">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11" name="Text Placeholder 2">
            <a:extLst>
              <a:ext uri="{FF2B5EF4-FFF2-40B4-BE49-F238E27FC236}">
                <a16:creationId xmlns:a16="http://schemas.microsoft.com/office/drawing/2014/main" id="{910495AC-282D-4204-9498-121084FBA8B9}"/>
              </a:ext>
            </a:extLst>
          </p:cNvPr>
          <p:cNvSpPr>
            <a:spLocks noGrp="1"/>
          </p:cNvSpPr>
          <p:nvPr>
            <p:ph type="body" sz="quarter" idx="13" hasCustomPrompt="1"/>
          </p:nvPr>
        </p:nvSpPr>
        <p:spPr>
          <a:xfrm>
            <a:off x="453600" y="3240420"/>
            <a:ext cx="1603800" cy="276999"/>
          </a:xfrm>
          <a:prstGeom prst="rect">
            <a:avLst/>
          </a:prstGeom>
        </p:spPr>
        <p:txBody>
          <a:bodyPr anchor="b">
            <a:spAutoFit/>
          </a:bodyPr>
          <a:lstStyle>
            <a:lvl1pPr marL="0" indent="0" algn="l">
              <a:lnSpc>
                <a:spcPct val="100000"/>
              </a:lnSpc>
              <a:buNone/>
              <a:defRPr sz="120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Name</a:t>
            </a:r>
            <a:endParaRPr lang="en-US"/>
          </a:p>
        </p:txBody>
      </p:sp>
      <p:sp>
        <p:nvSpPr>
          <p:cNvPr id="12" name="Text Placeholder 2">
            <a:extLst>
              <a:ext uri="{FF2B5EF4-FFF2-40B4-BE49-F238E27FC236}">
                <a16:creationId xmlns:a16="http://schemas.microsoft.com/office/drawing/2014/main" id="{575F9165-A1E1-4467-90AB-8B52D75ABAC1}"/>
              </a:ext>
            </a:extLst>
          </p:cNvPr>
          <p:cNvSpPr>
            <a:spLocks noGrp="1"/>
          </p:cNvSpPr>
          <p:nvPr>
            <p:ph type="body" sz="quarter" idx="15" hasCustomPrompt="1"/>
          </p:nvPr>
        </p:nvSpPr>
        <p:spPr>
          <a:xfrm>
            <a:off x="453600" y="3598627"/>
            <a:ext cx="1603800" cy="276999"/>
          </a:xfrm>
          <a:prstGeom prst="rect">
            <a:avLst/>
          </a:prstGeom>
        </p:spPr>
        <p:txBody>
          <a:bodyPr anchor="t">
            <a:spAutoFit/>
          </a:bodyPr>
          <a:lstStyle>
            <a:lvl1pPr marL="0" indent="0" algn="l">
              <a:lnSpc>
                <a:spcPct val="100000"/>
              </a:lnSpc>
              <a:buNone/>
              <a:defRPr sz="1200" b="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Designation</a:t>
            </a:r>
            <a:endParaRPr lang="en-US"/>
          </a:p>
        </p:txBody>
      </p:sp>
      <p:sp>
        <p:nvSpPr>
          <p:cNvPr id="13" name="Text Placeholder 2">
            <a:extLst>
              <a:ext uri="{FF2B5EF4-FFF2-40B4-BE49-F238E27FC236}">
                <a16:creationId xmlns:a16="http://schemas.microsoft.com/office/drawing/2014/main" id="{8973D04A-22DF-4D73-A661-04A169E546A7}"/>
              </a:ext>
            </a:extLst>
          </p:cNvPr>
          <p:cNvSpPr>
            <a:spLocks noGrp="1"/>
          </p:cNvSpPr>
          <p:nvPr>
            <p:ph type="body" sz="quarter" idx="16" hasCustomPrompt="1"/>
          </p:nvPr>
        </p:nvSpPr>
        <p:spPr>
          <a:xfrm>
            <a:off x="2629800" y="3240420"/>
            <a:ext cx="1603800" cy="276999"/>
          </a:xfrm>
          <a:prstGeom prst="rect">
            <a:avLst/>
          </a:prstGeom>
        </p:spPr>
        <p:txBody>
          <a:bodyPr anchor="b">
            <a:spAutoFit/>
          </a:bodyPr>
          <a:lstStyle>
            <a:lvl1pPr marL="0" indent="0" algn="l">
              <a:lnSpc>
                <a:spcPct val="100000"/>
              </a:lnSpc>
              <a:buNone/>
              <a:defRPr sz="120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Name</a:t>
            </a:r>
            <a:endParaRPr lang="en-US"/>
          </a:p>
        </p:txBody>
      </p:sp>
      <p:sp>
        <p:nvSpPr>
          <p:cNvPr id="15" name="Text Placeholder 2">
            <a:extLst>
              <a:ext uri="{FF2B5EF4-FFF2-40B4-BE49-F238E27FC236}">
                <a16:creationId xmlns:a16="http://schemas.microsoft.com/office/drawing/2014/main" id="{9F4A8D6C-5106-480D-8F98-7C4599774806}"/>
              </a:ext>
            </a:extLst>
          </p:cNvPr>
          <p:cNvSpPr>
            <a:spLocks noGrp="1"/>
          </p:cNvSpPr>
          <p:nvPr>
            <p:ph type="body" sz="quarter" idx="17" hasCustomPrompt="1"/>
          </p:nvPr>
        </p:nvSpPr>
        <p:spPr>
          <a:xfrm>
            <a:off x="2629800" y="3598627"/>
            <a:ext cx="1603800" cy="276999"/>
          </a:xfrm>
          <a:prstGeom prst="rect">
            <a:avLst/>
          </a:prstGeom>
        </p:spPr>
        <p:txBody>
          <a:bodyPr anchor="t">
            <a:spAutoFit/>
          </a:bodyPr>
          <a:lstStyle>
            <a:lvl1pPr marL="0" indent="0" algn="l">
              <a:lnSpc>
                <a:spcPct val="100000"/>
              </a:lnSpc>
              <a:buNone/>
              <a:defRPr sz="1200" b="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Designation</a:t>
            </a:r>
            <a:endParaRPr lang="en-US"/>
          </a:p>
        </p:txBody>
      </p:sp>
      <p:sp>
        <p:nvSpPr>
          <p:cNvPr id="16" name="Text Placeholder 2">
            <a:extLst>
              <a:ext uri="{FF2B5EF4-FFF2-40B4-BE49-F238E27FC236}">
                <a16:creationId xmlns:a16="http://schemas.microsoft.com/office/drawing/2014/main" id="{69EEA2FF-9BB2-4F6B-9BB5-5EAE344BDA6C}"/>
              </a:ext>
            </a:extLst>
          </p:cNvPr>
          <p:cNvSpPr>
            <a:spLocks noGrp="1"/>
          </p:cNvSpPr>
          <p:nvPr>
            <p:ph type="body" sz="quarter" idx="18" hasCustomPrompt="1"/>
          </p:nvPr>
        </p:nvSpPr>
        <p:spPr>
          <a:xfrm>
            <a:off x="4806000" y="3240420"/>
            <a:ext cx="1603800" cy="276999"/>
          </a:xfrm>
          <a:prstGeom prst="rect">
            <a:avLst/>
          </a:prstGeom>
        </p:spPr>
        <p:txBody>
          <a:bodyPr anchor="b">
            <a:spAutoFit/>
          </a:bodyPr>
          <a:lstStyle>
            <a:lvl1pPr marL="0" indent="0" algn="l">
              <a:lnSpc>
                <a:spcPct val="100000"/>
              </a:lnSpc>
              <a:buNone/>
              <a:defRPr sz="120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Name</a:t>
            </a:r>
            <a:endParaRPr lang="en-US"/>
          </a:p>
        </p:txBody>
      </p:sp>
      <p:sp>
        <p:nvSpPr>
          <p:cNvPr id="17" name="Text Placeholder 2">
            <a:extLst>
              <a:ext uri="{FF2B5EF4-FFF2-40B4-BE49-F238E27FC236}">
                <a16:creationId xmlns:a16="http://schemas.microsoft.com/office/drawing/2014/main" id="{61EE2008-2F92-4E81-83EB-843A870920A7}"/>
              </a:ext>
            </a:extLst>
          </p:cNvPr>
          <p:cNvSpPr>
            <a:spLocks noGrp="1"/>
          </p:cNvSpPr>
          <p:nvPr>
            <p:ph type="body" sz="quarter" idx="19" hasCustomPrompt="1"/>
          </p:nvPr>
        </p:nvSpPr>
        <p:spPr>
          <a:xfrm>
            <a:off x="4806000" y="3598627"/>
            <a:ext cx="1603800" cy="276999"/>
          </a:xfrm>
          <a:prstGeom prst="rect">
            <a:avLst/>
          </a:prstGeom>
        </p:spPr>
        <p:txBody>
          <a:bodyPr anchor="t">
            <a:spAutoFit/>
          </a:bodyPr>
          <a:lstStyle>
            <a:lvl1pPr marL="0" indent="0" algn="l">
              <a:lnSpc>
                <a:spcPct val="100000"/>
              </a:lnSpc>
              <a:buNone/>
              <a:defRPr sz="1200" b="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Designation</a:t>
            </a:r>
            <a:endParaRPr lang="en-US"/>
          </a:p>
        </p:txBody>
      </p:sp>
      <p:sp>
        <p:nvSpPr>
          <p:cNvPr id="18" name="Text Placeholder 2">
            <a:extLst>
              <a:ext uri="{FF2B5EF4-FFF2-40B4-BE49-F238E27FC236}">
                <a16:creationId xmlns:a16="http://schemas.microsoft.com/office/drawing/2014/main" id="{E1BC066D-D49E-490B-91B0-8BFBD1493881}"/>
              </a:ext>
            </a:extLst>
          </p:cNvPr>
          <p:cNvSpPr>
            <a:spLocks noGrp="1"/>
          </p:cNvSpPr>
          <p:nvPr>
            <p:ph type="body" sz="quarter" idx="20" hasCustomPrompt="1"/>
          </p:nvPr>
        </p:nvSpPr>
        <p:spPr>
          <a:xfrm>
            <a:off x="6982200" y="3240420"/>
            <a:ext cx="1603800" cy="276999"/>
          </a:xfrm>
          <a:prstGeom prst="rect">
            <a:avLst/>
          </a:prstGeom>
        </p:spPr>
        <p:txBody>
          <a:bodyPr anchor="b">
            <a:spAutoFit/>
          </a:bodyPr>
          <a:lstStyle>
            <a:lvl1pPr marL="0" indent="0" algn="l">
              <a:lnSpc>
                <a:spcPct val="100000"/>
              </a:lnSpc>
              <a:buNone/>
              <a:defRPr sz="1200" b="1">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Name</a:t>
            </a:r>
            <a:endParaRPr lang="en-US"/>
          </a:p>
        </p:txBody>
      </p:sp>
      <p:sp>
        <p:nvSpPr>
          <p:cNvPr id="19" name="Text Placeholder 2">
            <a:extLst>
              <a:ext uri="{FF2B5EF4-FFF2-40B4-BE49-F238E27FC236}">
                <a16:creationId xmlns:a16="http://schemas.microsoft.com/office/drawing/2014/main" id="{856E1F5E-5F64-4E8A-BF08-F6A1BCB0695C}"/>
              </a:ext>
            </a:extLst>
          </p:cNvPr>
          <p:cNvSpPr>
            <a:spLocks noGrp="1"/>
          </p:cNvSpPr>
          <p:nvPr>
            <p:ph type="body" sz="quarter" idx="21" hasCustomPrompt="1"/>
          </p:nvPr>
        </p:nvSpPr>
        <p:spPr>
          <a:xfrm>
            <a:off x="6982200" y="3598627"/>
            <a:ext cx="1603800" cy="276999"/>
          </a:xfrm>
          <a:prstGeom prst="rect">
            <a:avLst/>
          </a:prstGeom>
        </p:spPr>
        <p:txBody>
          <a:bodyPr anchor="t">
            <a:spAutoFit/>
          </a:bodyPr>
          <a:lstStyle>
            <a:lvl1pPr marL="0" indent="0" algn="l">
              <a:lnSpc>
                <a:spcPct val="100000"/>
              </a:lnSpc>
              <a:buNone/>
              <a:defRPr sz="1200" b="0">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Designation</a:t>
            </a:r>
            <a:endParaRPr lang="en-US"/>
          </a:p>
        </p:txBody>
      </p:sp>
      <p:sp>
        <p:nvSpPr>
          <p:cNvPr id="32" name="Picture Placeholder 12">
            <a:extLst>
              <a:ext uri="{FF2B5EF4-FFF2-40B4-BE49-F238E27FC236}">
                <a16:creationId xmlns:a16="http://schemas.microsoft.com/office/drawing/2014/main" id="{CBFB457F-60E3-43EF-B593-882BACB2F310}"/>
              </a:ext>
            </a:extLst>
          </p:cNvPr>
          <p:cNvSpPr>
            <a:spLocks noGrp="1"/>
          </p:cNvSpPr>
          <p:nvPr>
            <p:ph type="pic" sz="quarter" idx="26" hasCustomPrompt="1"/>
          </p:nvPr>
        </p:nvSpPr>
        <p:spPr>
          <a:xfrm>
            <a:off x="675666" y="1541362"/>
            <a:ext cx="1161000" cy="1161000"/>
          </a:xfrm>
          <a:prstGeom prst="ellipse">
            <a:avLst/>
          </a:prstGeom>
        </p:spPr>
        <p:txBody>
          <a:bodyPr anchor="ctr" anchorCtr="0"/>
          <a:lstStyle>
            <a:lvl1pPr marL="0" indent="0" algn="ctr">
              <a:lnSpc>
                <a:spcPct val="100000"/>
              </a:lnSpc>
              <a:buNone/>
              <a:defRPr sz="1200">
                <a:solidFill>
                  <a:srgbClr val="6B6B6B"/>
                </a:solidFill>
                <a:latin typeface="+mn-lt"/>
              </a:defRPr>
            </a:lvl1pPr>
          </a:lstStyle>
          <a:p>
            <a:r>
              <a:rPr lang="en-US"/>
              <a:t>Insert image</a:t>
            </a:r>
          </a:p>
        </p:txBody>
      </p:sp>
      <p:sp>
        <p:nvSpPr>
          <p:cNvPr id="33" name="Picture Placeholder 12">
            <a:extLst>
              <a:ext uri="{FF2B5EF4-FFF2-40B4-BE49-F238E27FC236}">
                <a16:creationId xmlns:a16="http://schemas.microsoft.com/office/drawing/2014/main" id="{B84A6687-418A-46AE-B213-7D943209C6F8}"/>
              </a:ext>
            </a:extLst>
          </p:cNvPr>
          <p:cNvSpPr>
            <a:spLocks noGrp="1"/>
          </p:cNvSpPr>
          <p:nvPr>
            <p:ph type="pic" sz="quarter" idx="27" hasCustomPrompt="1"/>
          </p:nvPr>
        </p:nvSpPr>
        <p:spPr>
          <a:xfrm>
            <a:off x="2851200" y="1541362"/>
            <a:ext cx="1161000" cy="1161000"/>
          </a:xfrm>
          <a:prstGeom prst="ellipse">
            <a:avLst/>
          </a:prstGeom>
        </p:spPr>
        <p:txBody>
          <a:bodyPr anchor="ctr" anchorCtr="0"/>
          <a:lstStyle>
            <a:lvl1pPr marL="0" indent="0" algn="ctr">
              <a:lnSpc>
                <a:spcPct val="100000"/>
              </a:lnSpc>
              <a:buNone/>
              <a:defRPr sz="1200">
                <a:solidFill>
                  <a:srgbClr val="6B6B6B"/>
                </a:solidFill>
                <a:latin typeface="+mn-lt"/>
              </a:defRPr>
            </a:lvl1pPr>
          </a:lstStyle>
          <a:p>
            <a:r>
              <a:rPr lang="en-US"/>
              <a:t>Insert image</a:t>
            </a:r>
          </a:p>
        </p:txBody>
      </p:sp>
      <p:sp>
        <p:nvSpPr>
          <p:cNvPr id="34" name="Picture Placeholder 12">
            <a:extLst>
              <a:ext uri="{FF2B5EF4-FFF2-40B4-BE49-F238E27FC236}">
                <a16:creationId xmlns:a16="http://schemas.microsoft.com/office/drawing/2014/main" id="{8B6C4EAA-626F-4A76-AD74-FA19C19D0B35}"/>
              </a:ext>
            </a:extLst>
          </p:cNvPr>
          <p:cNvSpPr>
            <a:spLocks noGrp="1"/>
          </p:cNvSpPr>
          <p:nvPr>
            <p:ph type="pic" sz="quarter" idx="28" hasCustomPrompt="1"/>
          </p:nvPr>
        </p:nvSpPr>
        <p:spPr>
          <a:xfrm>
            <a:off x="5027400" y="1541362"/>
            <a:ext cx="1161000" cy="1161000"/>
          </a:xfrm>
          <a:prstGeom prst="ellipse">
            <a:avLst/>
          </a:prstGeom>
        </p:spPr>
        <p:txBody>
          <a:bodyPr anchor="ctr" anchorCtr="0"/>
          <a:lstStyle>
            <a:lvl1pPr marL="0" indent="0" algn="ctr">
              <a:lnSpc>
                <a:spcPct val="100000"/>
              </a:lnSpc>
              <a:buNone/>
              <a:defRPr sz="1200">
                <a:solidFill>
                  <a:srgbClr val="6B6B6B"/>
                </a:solidFill>
                <a:latin typeface="+mn-lt"/>
              </a:defRPr>
            </a:lvl1pPr>
          </a:lstStyle>
          <a:p>
            <a:r>
              <a:rPr lang="en-US"/>
              <a:t>Insert image</a:t>
            </a:r>
          </a:p>
        </p:txBody>
      </p:sp>
      <p:sp>
        <p:nvSpPr>
          <p:cNvPr id="35" name="Picture Placeholder 12">
            <a:extLst>
              <a:ext uri="{FF2B5EF4-FFF2-40B4-BE49-F238E27FC236}">
                <a16:creationId xmlns:a16="http://schemas.microsoft.com/office/drawing/2014/main" id="{04E769F0-5E4B-4E9B-AAC2-EFA27CC86476}"/>
              </a:ext>
            </a:extLst>
          </p:cNvPr>
          <p:cNvSpPr>
            <a:spLocks noGrp="1"/>
          </p:cNvSpPr>
          <p:nvPr>
            <p:ph type="pic" sz="quarter" idx="29" hasCustomPrompt="1"/>
          </p:nvPr>
        </p:nvSpPr>
        <p:spPr>
          <a:xfrm>
            <a:off x="7203600" y="1541362"/>
            <a:ext cx="1161000" cy="1161000"/>
          </a:xfrm>
          <a:prstGeom prst="ellipse">
            <a:avLst/>
          </a:prstGeom>
        </p:spPr>
        <p:txBody>
          <a:bodyPr anchor="ctr" anchorCtr="0"/>
          <a:lstStyle>
            <a:lvl1pPr marL="0" indent="0" algn="ctr">
              <a:lnSpc>
                <a:spcPct val="100000"/>
              </a:lnSpc>
              <a:buNone/>
              <a:defRPr sz="1200">
                <a:solidFill>
                  <a:srgbClr val="6B6B6B"/>
                </a:solidFill>
                <a:latin typeface="+mn-lt"/>
              </a:defRPr>
            </a:lvl1pPr>
          </a:lstStyle>
          <a:p>
            <a:r>
              <a:rPr lang="en-US"/>
              <a:t>Insert image</a:t>
            </a:r>
          </a:p>
        </p:txBody>
      </p:sp>
    </p:spTree>
    <p:extLst>
      <p:ext uri="{BB962C8B-B14F-4D97-AF65-F5344CB8AC3E}">
        <p14:creationId xmlns:p14="http://schemas.microsoft.com/office/powerpoint/2010/main" val="1408079523"/>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am profile - Individual">
    <p:bg>
      <p:bgPr>
        <a:solidFill>
          <a:schemeClr val="bg2">
            <a:alpha val="40000"/>
          </a:schemeClr>
        </a:solidFill>
        <a:effectLst/>
      </p:bgPr>
    </p:bg>
    <p:spTree>
      <p:nvGrpSpPr>
        <p:cNvPr id="1" name=""/>
        <p:cNvGrpSpPr/>
        <p:nvPr/>
      </p:nvGrpSpPr>
      <p:grpSpPr>
        <a:xfrm>
          <a:off x="0" y="0"/>
          <a:ext cx="0" cy="0"/>
          <a:chOff x="0" y="0"/>
          <a:chExt cx="0" cy="0"/>
        </a:xfrm>
      </p:grpSpPr>
      <p:sp>
        <p:nvSpPr>
          <p:cNvPr id="38" name="Text Placeholder 3">
            <a:extLst>
              <a:ext uri="{FF2B5EF4-FFF2-40B4-BE49-F238E27FC236}">
                <a16:creationId xmlns:a16="http://schemas.microsoft.com/office/drawing/2014/main" id="{824FF929-799B-CC42-AD0A-50DE7C50166F}"/>
              </a:ext>
            </a:extLst>
          </p:cNvPr>
          <p:cNvSpPr>
            <a:spLocks noGrp="1"/>
          </p:cNvSpPr>
          <p:nvPr>
            <p:ph type="body" sz="half" idx="25" hasCustomPrompt="1"/>
          </p:nvPr>
        </p:nvSpPr>
        <p:spPr>
          <a:xfrm>
            <a:off x="456497" y="929343"/>
            <a:ext cx="8146959" cy="392415"/>
          </a:xfrm>
          <a:prstGeom prst="rect">
            <a:avLst/>
          </a:prstGeom>
        </p:spPr>
        <p:txBody>
          <a:bodyPr anchor="t">
            <a:spAutoFit/>
          </a:bodyPr>
          <a:lstStyle>
            <a:lvl1pPr marL="0" indent="0">
              <a:lnSpc>
                <a:spcPct val="100000"/>
              </a:lnSpc>
              <a:buNone/>
              <a:defRPr sz="1950" b="1">
                <a:solidFill>
                  <a:schemeClr val="tx1"/>
                </a:solidFill>
                <a:latin typeface="+mn-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Name (Bold) | Designation (Regular)</a:t>
            </a:r>
          </a:p>
        </p:txBody>
      </p:sp>
      <p:sp>
        <p:nvSpPr>
          <p:cNvPr id="20" name="Title 1">
            <a:extLst>
              <a:ext uri="{FF2B5EF4-FFF2-40B4-BE49-F238E27FC236}">
                <a16:creationId xmlns:a16="http://schemas.microsoft.com/office/drawing/2014/main" id="{CCC14BB6-9D64-4D42-8177-26FEBB446B25}"/>
              </a:ext>
            </a:extLst>
          </p:cNvPr>
          <p:cNvSpPr>
            <a:spLocks noGrp="1"/>
          </p:cNvSpPr>
          <p:nvPr>
            <p:ph type="title"/>
          </p:nvPr>
        </p:nvSpPr>
        <p:spPr>
          <a:xfrm>
            <a:off x="454023" y="373999"/>
            <a:ext cx="8141098" cy="577081"/>
          </a:xfrm>
          <a:prstGeom prst="rect">
            <a:avLst/>
          </a:prstGeom>
        </p:spPr>
        <p:txBody>
          <a:bodyPr wrap="square" anchor="t">
            <a:spAutoFit/>
          </a:bodyPr>
          <a:lstStyle>
            <a:lvl1pPr>
              <a:lnSpc>
                <a:spcPct val="100000"/>
              </a:lnSpc>
              <a:defRPr lang="en-IN" sz="31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15" name="Rounded Rectangle 22">
            <a:extLst>
              <a:ext uri="{FF2B5EF4-FFF2-40B4-BE49-F238E27FC236}">
                <a16:creationId xmlns:a16="http://schemas.microsoft.com/office/drawing/2014/main" id="{3B529447-726C-40E4-B6BA-0A911BD533A8}"/>
              </a:ext>
            </a:extLst>
          </p:cNvPr>
          <p:cNvSpPr/>
          <p:nvPr/>
        </p:nvSpPr>
        <p:spPr>
          <a:xfrm>
            <a:off x="2285306" y="1525192"/>
            <a:ext cx="1957500" cy="3134915"/>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14313" marR="0" lvl="0" indent="-214313" algn="ctr" defTabSz="6858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35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16" name="Text Placeholder 2">
            <a:extLst>
              <a:ext uri="{FF2B5EF4-FFF2-40B4-BE49-F238E27FC236}">
                <a16:creationId xmlns:a16="http://schemas.microsoft.com/office/drawing/2014/main" id="{4989B2EB-AC50-41BF-A86B-8A9FAE74F1B7}"/>
              </a:ext>
            </a:extLst>
          </p:cNvPr>
          <p:cNvSpPr>
            <a:spLocks noGrp="1"/>
          </p:cNvSpPr>
          <p:nvPr>
            <p:ph type="body" sz="quarter" idx="26" hasCustomPrompt="1"/>
          </p:nvPr>
        </p:nvSpPr>
        <p:spPr>
          <a:xfrm>
            <a:off x="2375246" y="1600395"/>
            <a:ext cx="1782000" cy="276999"/>
          </a:xfrm>
          <a:prstGeom prst="rect">
            <a:avLst/>
          </a:prstGeom>
        </p:spPr>
        <p:txBody>
          <a:bodyPr anchor="b">
            <a:spAutoFit/>
          </a:bodyPr>
          <a:lstStyle>
            <a:lvl1pPr marL="0" indent="0" algn="l">
              <a:lnSpc>
                <a:spcPct val="100000"/>
              </a:lnSpc>
              <a:buNone/>
              <a:defRPr sz="1200" b="1">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1</a:t>
            </a:r>
            <a:endParaRPr lang="en-US"/>
          </a:p>
        </p:txBody>
      </p:sp>
      <p:sp>
        <p:nvSpPr>
          <p:cNvPr id="17" name="Text Placeholder 2">
            <a:extLst>
              <a:ext uri="{FF2B5EF4-FFF2-40B4-BE49-F238E27FC236}">
                <a16:creationId xmlns:a16="http://schemas.microsoft.com/office/drawing/2014/main" id="{4C1CC606-90DE-4596-91CB-53B9A7B789E2}"/>
              </a:ext>
            </a:extLst>
          </p:cNvPr>
          <p:cNvSpPr>
            <a:spLocks noGrp="1"/>
          </p:cNvSpPr>
          <p:nvPr>
            <p:ph type="body" sz="quarter" idx="36" hasCustomPrompt="1"/>
          </p:nvPr>
        </p:nvSpPr>
        <p:spPr>
          <a:xfrm>
            <a:off x="2375246" y="2058591"/>
            <a:ext cx="1782000" cy="276999"/>
          </a:xfrm>
          <a:prstGeom prst="rect">
            <a:avLst/>
          </a:prstGeom>
        </p:spPr>
        <p:txBody>
          <a:bodyPr anchor="t">
            <a:spAutoFit/>
          </a:bodyPr>
          <a:lstStyle>
            <a:lvl1pPr marL="0" indent="0" algn="l">
              <a:lnSpc>
                <a:spcPct val="100000"/>
              </a:lnSpc>
              <a:buNone/>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Text Description</a:t>
            </a:r>
            <a:endParaRPr lang="en-US"/>
          </a:p>
        </p:txBody>
      </p:sp>
      <p:sp>
        <p:nvSpPr>
          <p:cNvPr id="18" name="Rounded Rectangle 40">
            <a:extLst>
              <a:ext uri="{FF2B5EF4-FFF2-40B4-BE49-F238E27FC236}">
                <a16:creationId xmlns:a16="http://schemas.microsoft.com/office/drawing/2014/main" id="{EC8FD91C-0DAF-411D-AD4D-B074FD824683}"/>
              </a:ext>
            </a:extLst>
          </p:cNvPr>
          <p:cNvSpPr/>
          <p:nvPr/>
        </p:nvSpPr>
        <p:spPr>
          <a:xfrm>
            <a:off x="6637622" y="1525192"/>
            <a:ext cx="1957500" cy="3134915"/>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14313" marR="0" lvl="0" indent="-214313" algn="ctr" defTabSz="6858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35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19" name="Text Placeholder 2">
            <a:extLst>
              <a:ext uri="{FF2B5EF4-FFF2-40B4-BE49-F238E27FC236}">
                <a16:creationId xmlns:a16="http://schemas.microsoft.com/office/drawing/2014/main" id="{1B8A1763-AFD6-46FE-A164-BECAD744ACC3}"/>
              </a:ext>
            </a:extLst>
          </p:cNvPr>
          <p:cNvSpPr>
            <a:spLocks noGrp="1"/>
          </p:cNvSpPr>
          <p:nvPr>
            <p:ph type="body" sz="quarter" idx="37" hasCustomPrompt="1"/>
          </p:nvPr>
        </p:nvSpPr>
        <p:spPr>
          <a:xfrm>
            <a:off x="6727562" y="1600395"/>
            <a:ext cx="1782000" cy="276999"/>
          </a:xfrm>
          <a:prstGeom prst="rect">
            <a:avLst/>
          </a:prstGeom>
        </p:spPr>
        <p:txBody>
          <a:bodyPr anchor="b">
            <a:spAutoFit/>
          </a:bodyPr>
          <a:lstStyle>
            <a:lvl1pPr marL="0" indent="0" algn="l">
              <a:lnSpc>
                <a:spcPct val="100000"/>
              </a:lnSpc>
              <a:buNone/>
              <a:defRPr sz="1200" b="1">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3</a:t>
            </a:r>
            <a:endParaRPr lang="en-US"/>
          </a:p>
        </p:txBody>
      </p:sp>
      <p:sp>
        <p:nvSpPr>
          <p:cNvPr id="21" name="Text Placeholder 2">
            <a:extLst>
              <a:ext uri="{FF2B5EF4-FFF2-40B4-BE49-F238E27FC236}">
                <a16:creationId xmlns:a16="http://schemas.microsoft.com/office/drawing/2014/main" id="{B863CDCC-69A3-4812-84D1-A4F5EA461831}"/>
              </a:ext>
            </a:extLst>
          </p:cNvPr>
          <p:cNvSpPr>
            <a:spLocks noGrp="1"/>
          </p:cNvSpPr>
          <p:nvPr>
            <p:ph type="body" sz="quarter" idx="38" hasCustomPrompt="1"/>
          </p:nvPr>
        </p:nvSpPr>
        <p:spPr>
          <a:xfrm>
            <a:off x="6727562" y="2058591"/>
            <a:ext cx="1782000" cy="276999"/>
          </a:xfrm>
          <a:prstGeom prst="rect">
            <a:avLst/>
          </a:prstGeom>
        </p:spPr>
        <p:txBody>
          <a:bodyPr anchor="t">
            <a:spAutoFit/>
          </a:bodyPr>
          <a:lstStyle>
            <a:lvl1pPr marL="0" indent="0" algn="l">
              <a:lnSpc>
                <a:spcPct val="100000"/>
              </a:lnSpc>
              <a:buNone/>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Text Description</a:t>
            </a:r>
            <a:endParaRPr lang="en-US"/>
          </a:p>
        </p:txBody>
      </p:sp>
      <p:sp>
        <p:nvSpPr>
          <p:cNvPr id="22" name="Rounded Rectangle 45">
            <a:extLst>
              <a:ext uri="{FF2B5EF4-FFF2-40B4-BE49-F238E27FC236}">
                <a16:creationId xmlns:a16="http://schemas.microsoft.com/office/drawing/2014/main" id="{4E81CAD9-27E6-487A-99E3-9EE1B2201DA6}"/>
              </a:ext>
            </a:extLst>
          </p:cNvPr>
          <p:cNvSpPr/>
          <p:nvPr/>
        </p:nvSpPr>
        <p:spPr>
          <a:xfrm>
            <a:off x="4461464" y="1525192"/>
            <a:ext cx="1957500" cy="3134915"/>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14313" marR="0" lvl="0" indent="-214313" algn="ctr" defTabSz="6858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35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24" name="Text Placeholder 2">
            <a:extLst>
              <a:ext uri="{FF2B5EF4-FFF2-40B4-BE49-F238E27FC236}">
                <a16:creationId xmlns:a16="http://schemas.microsoft.com/office/drawing/2014/main" id="{419715FF-EF9F-4D12-9905-947EA6639F53}"/>
              </a:ext>
            </a:extLst>
          </p:cNvPr>
          <p:cNvSpPr>
            <a:spLocks noGrp="1"/>
          </p:cNvSpPr>
          <p:nvPr>
            <p:ph type="body" sz="quarter" idx="39" hasCustomPrompt="1"/>
          </p:nvPr>
        </p:nvSpPr>
        <p:spPr>
          <a:xfrm>
            <a:off x="4551404" y="1600395"/>
            <a:ext cx="1782000" cy="276999"/>
          </a:xfrm>
          <a:prstGeom prst="rect">
            <a:avLst/>
          </a:prstGeom>
        </p:spPr>
        <p:txBody>
          <a:bodyPr anchor="b">
            <a:spAutoFit/>
          </a:bodyPr>
          <a:lstStyle>
            <a:lvl1pPr marL="0" indent="0" algn="l">
              <a:lnSpc>
                <a:spcPct val="100000"/>
              </a:lnSpc>
              <a:buNone/>
              <a:defRPr sz="1200" b="1">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Head 2</a:t>
            </a:r>
            <a:endParaRPr lang="en-US"/>
          </a:p>
        </p:txBody>
      </p:sp>
      <p:sp>
        <p:nvSpPr>
          <p:cNvPr id="25" name="Text Placeholder 2">
            <a:extLst>
              <a:ext uri="{FF2B5EF4-FFF2-40B4-BE49-F238E27FC236}">
                <a16:creationId xmlns:a16="http://schemas.microsoft.com/office/drawing/2014/main" id="{0DE2BCCD-A7D1-45CC-A565-19E8F5888844}"/>
              </a:ext>
            </a:extLst>
          </p:cNvPr>
          <p:cNvSpPr>
            <a:spLocks noGrp="1"/>
          </p:cNvSpPr>
          <p:nvPr>
            <p:ph type="body" sz="quarter" idx="40" hasCustomPrompt="1"/>
          </p:nvPr>
        </p:nvSpPr>
        <p:spPr>
          <a:xfrm>
            <a:off x="4551404" y="2058591"/>
            <a:ext cx="1782000" cy="276999"/>
          </a:xfrm>
          <a:prstGeom prst="rect">
            <a:avLst/>
          </a:prstGeom>
        </p:spPr>
        <p:txBody>
          <a:bodyPr anchor="t">
            <a:spAutoFit/>
          </a:bodyPr>
          <a:lstStyle>
            <a:lvl1pPr marL="0" indent="0" algn="l">
              <a:lnSpc>
                <a:spcPct val="100000"/>
              </a:lnSpc>
              <a:buNone/>
              <a:defRPr sz="1200" b="0">
                <a:solidFill>
                  <a:schemeClr val="tx1"/>
                </a:solidFill>
                <a:latin typeface="+mn-lt"/>
                <a:ea typeface="Open Sans" panose="020B0606030504020204" pitchFamily="34" charset="0"/>
                <a:cs typeface="Open Sans" panose="020B0606030504020204" pitchFamily="34" charset="0"/>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Text Description</a:t>
            </a:r>
            <a:endParaRPr lang="en-US"/>
          </a:p>
        </p:txBody>
      </p:sp>
      <p:sp>
        <p:nvSpPr>
          <p:cNvPr id="23" name="Picture Placeholder 12">
            <a:extLst>
              <a:ext uri="{FF2B5EF4-FFF2-40B4-BE49-F238E27FC236}">
                <a16:creationId xmlns:a16="http://schemas.microsoft.com/office/drawing/2014/main" id="{397B0893-417B-4DE0-B1BD-2B1BD471F523}"/>
              </a:ext>
            </a:extLst>
          </p:cNvPr>
          <p:cNvSpPr>
            <a:spLocks noGrp="1"/>
          </p:cNvSpPr>
          <p:nvPr>
            <p:ph type="pic" sz="quarter" idx="41" hasCustomPrompt="1"/>
          </p:nvPr>
        </p:nvSpPr>
        <p:spPr>
          <a:xfrm>
            <a:off x="675666" y="1541362"/>
            <a:ext cx="1161000" cy="1161000"/>
          </a:xfrm>
          <a:prstGeom prst="ellipse">
            <a:avLst/>
          </a:prstGeom>
        </p:spPr>
        <p:txBody>
          <a:bodyPr anchor="ctr" anchorCtr="0"/>
          <a:lstStyle>
            <a:lvl1pPr marL="0" indent="0" algn="ctr">
              <a:lnSpc>
                <a:spcPct val="100000"/>
              </a:lnSpc>
              <a:buNone/>
              <a:defRPr sz="1200">
                <a:solidFill>
                  <a:srgbClr val="6B6B6B"/>
                </a:solidFill>
                <a:latin typeface="+mn-lt"/>
              </a:defRPr>
            </a:lvl1pPr>
          </a:lstStyle>
          <a:p>
            <a:r>
              <a:rPr lang="en-US"/>
              <a:t>Insert image</a:t>
            </a:r>
          </a:p>
        </p:txBody>
      </p:sp>
    </p:spTree>
    <p:extLst>
      <p:ext uri="{BB962C8B-B14F-4D97-AF65-F5344CB8AC3E}">
        <p14:creationId xmlns:p14="http://schemas.microsoft.com/office/powerpoint/2010/main" val="3465438637"/>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 KPI + Chart + Insight">
    <p:bg>
      <p:bgPr>
        <a:solidFill>
          <a:schemeClr val="bg2">
            <a:alpha val="40000"/>
          </a:schemeClr>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AF5089CB-7511-41A5-8BB2-19BFBF1AA219}"/>
              </a:ext>
            </a:extLst>
          </p:cNvPr>
          <p:cNvSpPr>
            <a:spLocks noGrp="1"/>
          </p:cNvSpPr>
          <p:nvPr>
            <p:ph type="body" sz="quarter" idx="34" hasCustomPrompt="1"/>
          </p:nvPr>
        </p:nvSpPr>
        <p:spPr>
          <a:xfrm>
            <a:off x="533399" y="476902"/>
            <a:ext cx="2278857" cy="999473"/>
          </a:xfrm>
          <a:prstGeom prst="roundRect">
            <a:avLst>
              <a:gd name="adj" fmla="val 713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KPI Title in maximum two lines (Delete unused arrow)</a:t>
            </a:r>
            <a:endParaRPr lang="en-US"/>
          </a:p>
        </p:txBody>
      </p:sp>
      <p:sp>
        <p:nvSpPr>
          <p:cNvPr id="24" name="Text Placeholder 2">
            <a:extLst>
              <a:ext uri="{FF2B5EF4-FFF2-40B4-BE49-F238E27FC236}">
                <a16:creationId xmlns:a16="http://schemas.microsoft.com/office/drawing/2014/main" id="{B53BDD87-8487-47E6-9940-D76772149479}"/>
              </a:ext>
            </a:extLst>
          </p:cNvPr>
          <p:cNvSpPr>
            <a:spLocks noGrp="1"/>
          </p:cNvSpPr>
          <p:nvPr>
            <p:ph type="body" sz="quarter" idx="19" hasCustomPrompt="1"/>
          </p:nvPr>
        </p:nvSpPr>
        <p:spPr>
          <a:xfrm>
            <a:off x="893584" y="1044189"/>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18" name="Text Placeholder 2">
            <a:extLst>
              <a:ext uri="{FF2B5EF4-FFF2-40B4-BE49-F238E27FC236}">
                <a16:creationId xmlns:a16="http://schemas.microsoft.com/office/drawing/2014/main" id="{620836B1-9C69-4E0F-BAAD-CE5281147C9C}"/>
              </a:ext>
            </a:extLst>
          </p:cNvPr>
          <p:cNvSpPr>
            <a:spLocks noGrp="1"/>
          </p:cNvSpPr>
          <p:nvPr>
            <p:ph type="body" sz="quarter" idx="32" hasCustomPrompt="1"/>
          </p:nvPr>
        </p:nvSpPr>
        <p:spPr>
          <a:xfrm>
            <a:off x="533398" y="1529858"/>
            <a:ext cx="8061724" cy="3130248"/>
          </a:xfrm>
          <a:prstGeom prst="roundRect">
            <a:avLst>
              <a:gd name="adj" fmla="val 246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Chart / Graph Title with time period</a:t>
            </a:r>
          </a:p>
        </p:txBody>
      </p:sp>
      <p:sp>
        <p:nvSpPr>
          <p:cNvPr id="21" name="Text Placeholder 2">
            <a:extLst>
              <a:ext uri="{FF2B5EF4-FFF2-40B4-BE49-F238E27FC236}">
                <a16:creationId xmlns:a16="http://schemas.microsoft.com/office/drawing/2014/main" id="{0E30B14A-4BE2-413A-ADB3-6F948978664F}"/>
              </a:ext>
            </a:extLst>
          </p:cNvPr>
          <p:cNvSpPr>
            <a:spLocks noGrp="1"/>
          </p:cNvSpPr>
          <p:nvPr>
            <p:ph type="body" sz="quarter" idx="22" hasCustomPrompt="1"/>
          </p:nvPr>
        </p:nvSpPr>
        <p:spPr>
          <a:xfrm>
            <a:off x="2870598" y="476902"/>
            <a:ext cx="5730475" cy="999473"/>
          </a:xfrm>
          <a:prstGeom prst="roundRect">
            <a:avLst>
              <a:gd name="adj" fmla="val 7772"/>
            </a:avLst>
          </a:prstGeom>
          <a:solidFill>
            <a:schemeClr val="bg1">
              <a:lumMod val="85000"/>
            </a:schemeClr>
          </a:solidFill>
        </p:spPr>
        <p:txBody>
          <a:bodyPr wrap="square" anchor="ctr">
            <a:noAutofit/>
          </a:bodyPr>
          <a:lstStyle>
            <a:lvl1pPr marL="10800" indent="0" algn="l">
              <a:lnSpc>
                <a:spcPct val="100000"/>
              </a:lnSpc>
              <a:spcBef>
                <a:spcPts val="0"/>
              </a:spcBef>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or Important Insight / Takeaway from the data in maximum two lines</a:t>
            </a:r>
          </a:p>
        </p:txBody>
      </p:sp>
      <p:sp>
        <p:nvSpPr>
          <p:cNvPr id="8" name="Text Placeholder 2">
            <a:extLst>
              <a:ext uri="{FF2B5EF4-FFF2-40B4-BE49-F238E27FC236}">
                <a16:creationId xmlns:a16="http://schemas.microsoft.com/office/drawing/2014/main" id="{6C14C1E8-22CB-416D-B781-FF68BA042A4E}"/>
              </a:ext>
            </a:extLst>
          </p:cNvPr>
          <p:cNvSpPr>
            <a:spLocks noGrp="1"/>
          </p:cNvSpPr>
          <p:nvPr>
            <p:ph type="body" sz="quarter" idx="31" hasCustomPrompt="1"/>
          </p:nvPr>
        </p:nvSpPr>
        <p:spPr>
          <a:xfrm>
            <a:off x="703831" y="1097462"/>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1" name="Text Placeholder 2">
            <a:extLst>
              <a:ext uri="{FF2B5EF4-FFF2-40B4-BE49-F238E27FC236}">
                <a16:creationId xmlns:a16="http://schemas.microsoft.com/office/drawing/2014/main" id="{57F1FA94-5B2F-4916-81BF-8C7F82789638}"/>
              </a:ext>
            </a:extLst>
          </p:cNvPr>
          <p:cNvSpPr>
            <a:spLocks noGrp="1"/>
          </p:cNvSpPr>
          <p:nvPr>
            <p:ph type="body" sz="quarter" idx="37" hasCustomPrompt="1"/>
          </p:nvPr>
        </p:nvSpPr>
        <p:spPr>
          <a:xfrm flipV="1">
            <a:off x="703831" y="1237573"/>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Tree>
    <p:extLst>
      <p:ext uri="{BB962C8B-B14F-4D97-AF65-F5344CB8AC3E}">
        <p14:creationId xmlns:p14="http://schemas.microsoft.com/office/powerpoint/2010/main" val="4087048996"/>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 KPI + Chart + Table + Insight">
    <p:bg>
      <p:bgPr>
        <a:solidFill>
          <a:schemeClr val="bg2">
            <a:alpha val="40000"/>
          </a:schemeClr>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AF5089CB-7511-41A5-8BB2-19BFBF1AA219}"/>
              </a:ext>
            </a:extLst>
          </p:cNvPr>
          <p:cNvSpPr>
            <a:spLocks noGrp="1"/>
          </p:cNvSpPr>
          <p:nvPr>
            <p:ph type="body" sz="quarter" idx="34" hasCustomPrompt="1"/>
          </p:nvPr>
        </p:nvSpPr>
        <p:spPr>
          <a:xfrm>
            <a:off x="533399" y="476902"/>
            <a:ext cx="2278857" cy="999473"/>
          </a:xfrm>
          <a:prstGeom prst="roundRect">
            <a:avLst>
              <a:gd name="adj" fmla="val 713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KPI Title in maximum two lines (Delete unused arrow)</a:t>
            </a:r>
          </a:p>
          <a:p>
            <a:pPr lvl="0"/>
            <a:endParaRPr lang="en-US"/>
          </a:p>
        </p:txBody>
      </p:sp>
      <p:sp>
        <p:nvSpPr>
          <p:cNvPr id="24" name="Text Placeholder 2">
            <a:extLst>
              <a:ext uri="{FF2B5EF4-FFF2-40B4-BE49-F238E27FC236}">
                <a16:creationId xmlns:a16="http://schemas.microsoft.com/office/drawing/2014/main" id="{B53BDD87-8487-47E6-9940-D76772149479}"/>
              </a:ext>
            </a:extLst>
          </p:cNvPr>
          <p:cNvSpPr>
            <a:spLocks noGrp="1"/>
          </p:cNvSpPr>
          <p:nvPr>
            <p:ph type="body" sz="quarter" idx="19" hasCustomPrompt="1"/>
          </p:nvPr>
        </p:nvSpPr>
        <p:spPr>
          <a:xfrm>
            <a:off x="893584" y="1044189"/>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18" name="Text Placeholder 2">
            <a:extLst>
              <a:ext uri="{FF2B5EF4-FFF2-40B4-BE49-F238E27FC236}">
                <a16:creationId xmlns:a16="http://schemas.microsoft.com/office/drawing/2014/main" id="{620836B1-9C69-4E0F-BAAD-CE5281147C9C}"/>
              </a:ext>
            </a:extLst>
          </p:cNvPr>
          <p:cNvSpPr>
            <a:spLocks noGrp="1"/>
          </p:cNvSpPr>
          <p:nvPr>
            <p:ph type="body" sz="quarter" idx="32" hasCustomPrompt="1"/>
          </p:nvPr>
        </p:nvSpPr>
        <p:spPr>
          <a:xfrm>
            <a:off x="533399" y="1529858"/>
            <a:ext cx="4001400" cy="3130248"/>
          </a:xfrm>
          <a:prstGeom prst="roundRect">
            <a:avLst>
              <a:gd name="adj" fmla="val 246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Chart / Graph Title with time period</a:t>
            </a:r>
          </a:p>
        </p:txBody>
      </p:sp>
      <p:sp>
        <p:nvSpPr>
          <p:cNvPr id="19" name="Text Placeholder 2">
            <a:extLst>
              <a:ext uri="{FF2B5EF4-FFF2-40B4-BE49-F238E27FC236}">
                <a16:creationId xmlns:a16="http://schemas.microsoft.com/office/drawing/2014/main" id="{5B436396-7387-4332-BF8F-0A614F03B93A}"/>
              </a:ext>
            </a:extLst>
          </p:cNvPr>
          <p:cNvSpPr>
            <a:spLocks noGrp="1"/>
          </p:cNvSpPr>
          <p:nvPr>
            <p:ph type="body" sz="quarter" idx="33" hasCustomPrompt="1"/>
          </p:nvPr>
        </p:nvSpPr>
        <p:spPr>
          <a:xfrm>
            <a:off x="4599672" y="1529858"/>
            <a:ext cx="4001400" cy="3130248"/>
          </a:xfrm>
          <a:prstGeom prst="roundRect">
            <a:avLst>
              <a:gd name="adj" fmla="val 317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Insert Table</a:t>
            </a:r>
          </a:p>
        </p:txBody>
      </p:sp>
      <p:sp>
        <p:nvSpPr>
          <p:cNvPr id="21" name="Text Placeholder 2">
            <a:extLst>
              <a:ext uri="{FF2B5EF4-FFF2-40B4-BE49-F238E27FC236}">
                <a16:creationId xmlns:a16="http://schemas.microsoft.com/office/drawing/2014/main" id="{0E30B14A-4BE2-413A-ADB3-6F948978664F}"/>
              </a:ext>
            </a:extLst>
          </p:cNvPr>
          <p:cNvSpPr>
            <a:spLocks noGrp="1"/>
          </p:cNvSpPr>
          <p:nvPr>
            <p:ph type="body" sz="quarter" idx="22" hasCustomPrompt="1"/>
          </p:nvPr>
        </p:nvSpPr>
        <p:spPr>
          <a:xfrm>
            <a:off x="2870598" y="476902"/>
            <a:ext cx="5730475" cy="999473"/>
          </a:xfrm>
          <a:prstGeom prst="roundRect">
            <a:avLst>
              <a:gd name="adj" fmla="val 7772"/>
            </a:avLst>
          </a:prstGeom>
          <a:solidFill>
            <a:schemeClr val="bg1">
              <a:lumMod val="85000"/>
            </a:schemeClr>
          </a:solidFill>
        </p:spPr>
        <p:txBody>
          <a:bodyPr wrap="square" anchor="ctr">
            <a:noAutofit/>
          </a:bodyPr>
          <a:lstStyle>
            <a:lvl1pPr marL="10800" indent="0" algn="l">
              <a:lnSpc>
                <a:spcPct val="100000"/>
              </a:lnSpc>
              <a:spcBef>
                <a:spcPts val="0"/>
              </a:spcBef>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or Important Insight / Takeaway from the data in maximum three lines</a:t>
            </a:r>
          </a:p>
        </p:txBody>
      </p:sp>
      <p:sp>
        <p:nvSpPr>
          <p:cNvPr id="8" name="Text Placeholder 2">
            <a:extLst>
              <a:ext uri="{FF2B5EF4-FFF2-40B4-BE49-F238E27FC236}">
                <a16:creationId xmlns:a16="http://schemas.microsoft.com/office/drawing/2014/main" id="{6C14C1E8-22CB-416D-B781-FF68BA042A4E}"/>
              </a:ext>
            </a:extLst>
          </p:cNvPr>
          <p:cNvSpPr>
            <a:spLocks noGrp="1"/>
          </p:cNvSpPr>
          <p:nvPr>
            <p:ph type="body" sz="quarter" idx="31" hasCustomPrompt="1"/>
          </p:nvPr>
        </p:nvSpPr>
        <p:spPr>
          <a:xfrm>
            <a:off x="703831" y="1097462"/>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1" name="Text Placeholder 2">
            <a:extLst>
              <a:ext uri="{FF2B5EF4-FFF2-40B4-BE49-F238E27FC236}">
                <a16:creationId xmlns:a16="http://schemas.microsoft.com/office/drawing/2014/main" id="{57F1FA94-5B2F-4916-81BF-8C7F82789638}"/>
              </a:ext>
            </a:extLst>
          </p:cNvPr>
          <p:cNvSpPr>
            <a:spLocks noGrp="1"/>
          </p:cNvSpPr>
          <p:nvPr>
            <p:ph type="body" sz="quarter" idx="37" hasCustomPrompt="1"/>
          </p:nvPr>
        </p:nvSpPr>
        <p:spPr>
          <a:xfrm flipV="1">
            <a:off x="703831" y="1237573"/>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Tree>
    <p:extLst>
      <p:ext uri="{BB962C8B-B14F-4D97-AF65-F5344CB8AC3E}">
        <p14:creationId xmlns:p14="http://schemas.microsoft.com/office/powerpoint/2010/main" val="2701815779"/>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2KPIs + Insight + chart">
    <p:bg>
      <p:bgPr>
        <a:solidFill>
          <a:schemeClr val="bg2">
            <a:alpha val="40000"/>
          </a:schemeClr>
        </a:solidFill>
        <a:effectLst/>
      </p:bgPr>
    </p:bg>
    <p:spTree>
      <p:nvGrpSpPr>
        <p:cNvPr id="1" name=""/>
        <p:cNvGrpSpPr/>
        <p:nvPr/>
      </p:nvGrpSpPr>
      <p:grpSpPr>
        <a:xfrm>
          <a:off x="0" y="0"/>
          <a:ext cx="0" cy="0"/>
          <a:chOff x="0" y="0"/>
          <a:chExt cx="0" cy="0"/>
        </a:xfrm>
      </p:grpSpPr>
      <p:sp>
        <p:nvSpPr>
          <p:cNvPr id="29" name="Text Placeholder 2">
            <a:extLst>
              <a:ext uri="{FF2B5EF4-FFF2-40B4-BE49-F238E27FC236}">
                <a16:creationId xmlns:a16="http://schemas.microsoft.com/office/drawing/2014/main" id="{9AC613AD-8235-4A79-9642-52D062C164AA}"/>
              </a:ext>
            </a:extLst>
          </p:cNvPr>
          <p:cNvSpPr>
            <a:spLocks noGrp="1"/>
          </p:cNvSpPr>
          <p:nvPr>
            <p:ph type="body" sz="quarter" idx="14" hasCustomPrompt="1"/>
          </p:nvPr>
        </p:nvSpPr>
        <p:spPr>
          <a:xfrm>
            <a:off x="533399" y="476902"/>
            <a:ext cx="2278857" cy="999473"/>
          </a:xfrm>
          <a:prstGeom prst="roundRect">
            <a:avLst>
              <a:gd name="adj" fmla="val 713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KPI Title in maximum two lines (Delete unused arrow)</a:t>
            </a:r>
          </a:p>
        </p:txBody>
      </p:sp>
      <p:sp>
        <p:nvSpPr>
          <p:cNvPr id="30" name="Text Placeholder 2">
            <a:extLst>
              <a:ext uri="{FF2B5EF4-FFF2-40B4-BE49-F238E27FC236}">
                <a16:creationId xmlns:a16="http://schemas.microsoft.com/office/drawing/2014/main" id="{C0563764-0DA7-4CFF-8301-A953289685C4}"/>
              </a:ext>
            </a:extLst>
          </p:cNvPr>
          <p:cNvSpPr>
            <a:spLocks noGrp="1"/>
          </p:cNvSpPr>
          <p:nvPr>
            <p:ph type="body" sz="quarter" idx="21" hasCustomPrompt="1"/>
          </p:nvPr>
        </p:nvSpPr>
        <p:spPr>
          <a:xfrm>
            <a:off x="2873591" y="476902"/>
            <a:ext cx="2278857" cy="999473"/>
          </a:xfrm>
          <a:prstGeom prst="roundRect">
            <a:avLst>
              <a:gd name="adj" fmla="val 8090"/>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KPI Title in maximum two lines (Delete unused arrow)</a:t>
            </a:r>
          </a:p>
        </p:txBody>
      </p:sp>
      <p:sp>
        <p:nvSpPr>
          <p:cNvPr id="24" name="Text Placeholder 2">
            <a:extLst>
              <a:ext uri="{FF2B5EF4-FFF2-40B4-BE49-F238E27FC236}">
                <a16:creationId xmlns:a16="http://schemas.microsoft.com/office/drawing/2014/main" id="{B7CDD66C-B2F6-4749-AE42-AEC20A5F48F8}"/>
              </a:ext>
            </a:extLst>
          </p:cNvPr>
          <p:cNvSpPr>
            <a:spLocks noGrp="1"/>
          </p:cNvSpPr>
          <p:nvPr>
            <p:ph type="body" sz="quarter" idx="19" hasCustomPrompt="1"/>
          </p:nvPr>
        </p:nvSpPr>
        <p:spPr>
          <a:xfrm>
            <a:off x="893584" y="1044189"/>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32" name="Text Placeholder 2">
            <a:extLst>
              <a:ext uri="{FF2B5EF4-FFF2-40B4-BE49-F238E27FC236}">
                <a16:creationId xmlns:a16="http://schemas.microsoft.com/office/drawing/2014/main" id="{41DBA1B1-CCCD-47AC-9977-51C5A1090B02}"/>
              </a:ext>
            </a:extLst>
          </p:cNvPr>
          <p:cNvSpPr>
            <a:spLocks noGrp="1"/>
          </p:cNvSpPr>
          <p:nvPr>
            <p:ph type="body" sz="quarter" idx="30" hasCustomPrompt="1"/>
          </p:nvPr>
        </p:nvSpPr>
        <p:spPr>
          <a:xfrm>
            <a:off x="3233776" y="1044189"/>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33" name="Text Placeholder 2">
            <a:extLst>
              <a:ext uri="{FF2B5EF4-FFF2-40B4-BE49-F238E27FC236}">
                <a16:creationId xmlns:a16="http://schemas.microsoft.com/office/drawing/2014/main" id="{081ABFB0-EF3F-4F37-8A1C-C2879001CF11}"/>
              </a:ext>
            </a:extLst>
          </p:cNvPr>
          <p:cNvSpPr>
            <a:spLocks noGrp="1"/>
          </p:cNvSpPr>
          <p:nvPr>
            <p:ph type="body" sz="quarter" idx="31" hasCustomPrompt="1"/>
          </p:nvPr>
        </p:nvSpPr>
        <p:spPr>
          <a:xfrm>
            <a:off x="703831" y="1104837"/>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34" name="Text Placeholder 2">
            <a:extLst>
              <a:ext uri="{FF2B5EF4-FFF2-40B4-BE49-F238E27FC236}">
                <a16:creationId xmlns:a16="http://schemas.microsoft.com/office/drawing/2014/main" id="{4487B58C-9A6E-4D70-858F-B041D458DF29}"/>
              </a:ext>
            </a:extLst>
          </p:cNvPr>
          <p:cNvSpPr>
            <a:spLocks noGrp="1"/>
          </p:cNvSpPr>
          <p:nvPr>
            <p:ph type="body" sz="quarter" idx="32" hasCustomPrompt="1"/>
          </p:nvPr>
        </p:nvSpPr>
        <p:spPr>
          <a:xfrm flipV="1">
            <a:off x="3007547" y="1244947"/>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5" name="Text Placeholder 2">
            <a:extLst>
              <a:ext uri="{FF2B5EF4-FFF2-40B4-BE49-F238E27FC236}">
                <a16:creationId xmlns:a16="http://schemas.microsoft.com/office/drawing/2014/main" id="{A1F59B7B-92F7-4E94-A5F5-8BF72D3C9249}"/>
              </a:ext>
            </a:extLst>
          </p:cNvPr>
          <p:cNvSpPr>
            <a:spLocks noGrp="1"/>
          </p:cNvSpPr>
          <p:nvPr>
            <p:ph type="body" sz="quarter" idx="22" hasCustomPrompt="1"/>
          </p:nvPr>
        </p:nvSpPr>
        <p:spPr>
          <a:xfrm>
            <a:off x="5213784" y="476902"/>
            <a:ext cx="3387289" cy="999473"/>
          </a:xfrm>
          <a:prstGeom prst="roundRect">
            <a:avLst>
              <a:gd name="adj" fmla="val 8993"/>
            </a:avLst>
          </a:prstGeom>
          <a:solidFill>
            <a:schemeClr val="bg1">
              <a:lumMod val="85000"/>
            </a:schemeClr>
          </a:solidFill>
        </p:spPr>
        <p:txBody>
          <a:bodyPr anchor="ctr">
            <a:noAutofit/>
          </a:bodyPr>
          <a:lstStyle>
            <a:lvl1pPr marL="10800" indent="0" algn="l">
              <a:lnSpc>
                <a:spcPct val="100000"/>
              </a:lnSpc>
              <a:spcBef>
                <a:spcPts val="0"/>
              </a:spcBef>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or Important Insight / Takeaway from the data in maximum four lines</a:t>
            </a:r>
            <a:endParaRPr lang="en-US"/>
          </a:p>
        </p:txBody>
      </p:sp>
      <p:sp>
        <p:nvSpPr>
          <p:cNvPr id="19" name="Text Placeholder 2">
            <a:extLst>
              <a:ext uri="{FF2B5EF4-FFF2-40B4-BE49-F238E27FC236}">
                <a16:creationId xmlns:a16="http://schemas.microsoft.com/office/drawing/2014/main" id="{001620DB-988A-43D0-9AFF-640BE1F8A9D7}"/>
              </a:ext>
            </a:extLst>
          </p:cNvPr>
          <p:cNvSpPr>
            <a:spLocks noGrp="1"/>
          </p:cNvSpPr>
          <p:nvPr>
            <p:ph type="body" sz="quarter" idx="29" hasCustomPrompt="1"/>
          </p:nvPr>
        </p:nvSpPr>
        <p:spPr>
          <a:xfrm>
            <a:off x="533400" y="1529860"/>
            <a:ext cx="8067673" cy="3130247"/>
          </a:xfrm>
          <a:prstGeom prst="roundRect">
            <a:avLst>
              <a:gd name="adj" fmla="val 3430"/>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Chart / Graph Title with time period</a:t>
            </a:r>
          </a:p>
        </p:txBody>
      </p:sp>
      <p:sp>
        <p:nvSpPr>
          <p:cNvPr id="10" name="Text Placeholder 2">
            <a:extLst>
              <a:ext uri="{FF2B5EF4-FFF2-40B4-BE49-F238E27FC236}">
                <a16:creationId xmlns:a16="http://schemas.microsoft.com/office/drawing/2014/main" id="{1D9909DD-F223-4431-8E15-DC413D95670E}"/>
              </a:ext>
            </a:extLst>
          </p:cNvPr>
          <p:cNvSpPr>
            <a:spLocks noGrp="1"/>
          </p:cNvSpPr>
          <p:nvPr>
            <p:ph type="body" sz="quarter" idx="33" hasCustomPrompt="1"/>
          </p:nvPr>
        </p:nvSpPr>
        <p:spPr>
          <a:xfrm>
            <a:off x="3007547" y="1104837"/>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1" name="Text Placeholder 2">
            <a:extLst>
              <a:ext uri="{FF2B5EF4-FFF2-40B4-BE49-F238E27FC236}">
                <a16:creationId xmlns:a16="http://schemas.microsoft.com/office/drawing/2014/main" id="{39764314-F0BB-4810-BAD9-EE48461D49C7}"/>
              </a:ext>
            </a:extLst>
          </p:cNvPr>
          <p:cNvSpPr>
            <a:spLocks noGrp="1"/>
          </p:cNvSpPr>
          <p:nvPr>
            <p:ph type="body" sz="quarter" idx="34" hasCustomPrompt="1"/>
          </p:nvPr>
        </p:nvSpPr>
        <p:spPr>
          <a:xfrm flipV="1">
            <a:off x="703831" y="1244947"/>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Tree>
    <p:extLst>
      <p:ext uri="{BB962C8B-B14F-4D97-AF65-F5344CB8AC3E}">
        <p14:creationId xmlns:p14="http://schemas.microsoft.com/office/powerpoint/2010/main" val="177502056"/>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2 KPI + Chart + Table + Insight + Subtitle">
    <p:bg>
      <p:bgPr>
        <a:solidFill>
          <a:schemeClr val="bg2">
            <a:alpha val="40000"/>
          </a:schemeClr>
        </a:solidFill>
        <a:effectLst/>
      </p:bgPr>
    </p:bg>
    <p:spTree>
      <p:nvGrpSpPr>
        <p:cNvPr id="1" name=""/>
        <p:cNvGrpSpPr/>
        <p:nvPr/>
      </p:nvGrpSpPr>
      <p:grpSpPr>
        <a:xfrm>
          <a:off x="0" y="0"/>
          <a:ext cx="0" cy="0"/>
          <a:chOff x="0" y="0"/>
          <a:chExt cx="0" cy="0"/>
        </a:xfrm>
      </p:grpSpPr>
      <p:sp>
        <p:nvSpPr>
          <p:cNvPr id="23" name="Text Placeholder 2">
            <a:extLst>
              <a:ext uri="{FF2B5EF4-FFF2-40B4-BE49-F238E27FC236}">
                <a16:creationId xmlns:a16="http://schemas.microsoft.com/office/drawing/2014/main" id="{0227ED67-A913-4C02-A8B1-C4D8A92EF4F4}"/>
              </a:ext>
            </a:extLst>
          </p:cNvPr>
          <p:cNvSpPr>
            <a:spLocks noGrp="1"/>
          </p:cNvSpPr>
          <p:nvPr>
            <p:ph type="body" sz="quarter" idx="37" hasCustomPrompt="1"/>
          </p:nvPr>
        </p:nvSpPr>
        <p:spPr>
          <a:xfrm>
            <a:off x="2873591" y="979477"/>
            <a:ext cx="2278857" cy="999473"/>
          </a:xfrm>
          <a:prstGeom prst="roundRect">
            <a:avLst>
              <a:gd name="adj" fmla="val 7137"/>
            </a:avLst>
          </a:prstGeom>
          <a:solidFill>
            <a:schemeClr val="bg1"/>
          </a:solidFill>
        </p:spPr>
        <p:txBody>
          <a:bodyPr anchor="t">
            <a:no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GB"/>
              <a:t>KPI Title in maximum two lines (Delete unused arrow)</a:t>
            </a:r>
            <a:endParaRPr lang="en-US"/>
          </a:p>
          <a:p>
            <a:pPr lvl="0"/>
            <a:endParaRPr lang="en-US"/>
          </a:p>
        </p:txBody>
      </p:sp>
      <p:sp>
        <p:nvSpPr>
          <p:cNvPr id="20" name="Text Placeholder 2">
            <a:extLst>
              <a:ext uri="{FF2B5EF4-FFF2-40B4-BE49-F238E27FC236}">
                <a16:creationId xmlns:a16="http://schemas.microsoft.com/office/drawing/2014/main" id="{95680F84-7CA0-4A76-A066-EE3509ABFAA5}"/>
              </a:ext>
            </a:extLst>
          </p:cNvPr>
          <p:cNvSpPr>
            <a:spLocks noGrp="1"/>
          </p:cNvSpPr>
          <p:nvPr>
            <p:ph type="body" sz="quarter" idx="35" hasCustomPrompt="1"/>
          </p:nvPr>
        </p:nvSpPr>
        <p:spPr>
          <a:xfrm>
            <a:off x="533399" y="979477"/>
            <a:ext cx="2278857" cy="999473"/>
          </a:xfrm>
          <a:prstGeom prst="roundRect">
            <a:avLst>
              <a:gd name="adj" fmla="val 7137"/>
            </a:avLst>
          </a:prstGeom>
          <a:solidFill>
            <a:schemeClr val="bg1"/>
          </a:solidFill>
        </p:spPr>
        <p:txBody>
          <a:bodyPr anchor="t">
            <a:no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GB"/>
              <a:t>KPI Title in maximum two lines (Delete unused arrow)</a:t>
            </a:r>
            <a:endParaRPr lang="en-US"/>
          </a:p>
          <a:p>
            <a:pPr lvl="0"/>
            <a:endParaRPr lang="en-US"/>
          </a:p>
        </p:txBody>
      </p:sp>
      <p:sp>
        <p:nvSpPr>
          <p:cNvPr id="22" name="Text Placeholder 2">
            <a:extLst>
              <a:ext uri="{FF2B5EF4-FFF2-40B4-BE49-F238E27FC236}">
                <a16:creationId xmlns:a16="http://schemas.microsoft.com/office/drawing/2014/main" id="{2B5ACE8A-00AB-4751-B44E-BC98A2C47FDF}"/>
              </a:ext>
            </a:extLst>
          </p:cNvPr>
          <p:cNvSpPr>
            <a:spLocks noGrp="1"/>
          </p:cNvSpPr>
          <p:nvPr>
            <p:ph type="body" sz="quarter" idx="36" hasCustomPrompt="1"/>
          </p:nvPr>
        </p:nvSpPr>
        <p:spPr>
          <a:xfrm>
            <a:off x="5213784" y="979477"/>
            <a:ext cx="3387289" cy="999473"/>
          </a:xfrm>
          <a:prstGeom prst="roundRect">
            <a:avLst>
              <a:gd name="adj" fmla="val 8993"/>
            </a:avLst>
          </a:prstGeom>
          <a:solidFill>
            <a:schemeClr val="bg1">
              <a:lumMod val="85000"/>
            </a:schemeClr>
          </a:solidFill>
        </p:spPr>
        <p:txBody>
          <a:bodyPr anchor="ctr">
            <a:noAutofit/>
          </a:bodyPr>
          <a:lstStyle>
            <a:lvl1pPr marL="10800" indent="0" algn="l">
              <a:lnSpc>
                <a:spcPct val="100000"/>
              </a:lnSpc>
              <a:spcBef>
                <a:spcPts val="0"/>
              </a:spcBef>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or Important Insight / Takeaway from the data in maximum four lines</a:t>
            </a:r>
            <a:endParaRPr lang="en-US"/>
          </a:p>
        </p:txBody>
      </p:sp>
      <p:sp>
        <p:nvSpPr>
          <p:cNvPr id="30" name="Title 1">
            <a:extLst>
              <a:ext uri="{FF2B5EF4-FFF2-40B4-BE49-F238E27FC236}">
                <a16:creationId xmlns:a16="http://schemas.microsoft.com/office/drawing/2014/main" id="{A5F196B3-494F-4A41-BB7B-AD9B60DBC551}"/>
              </a:ext>
            </a:extLst>
          </p:cNvPr>
          <p:cNvSpPr>
            <a:spLocks noGrp="1"/>
          </p:cNvSpPr>
          <p:nvPr>
            <p:ph type="title"/>
          </p:nvPr>
        </p:nvSpPr>
        <p:spPr>
          <a:xfrm>
            <a:off x="454023" y="395770"/>
            <a:ext cx="8141098" cy="392415"/>
          </a:xfrm>
          <a:prstGeom prst="rect">
            <a:avLst/>
          </a:prstGeom>
        </p:spPr>
        <p:txBody>
          <a:bodyPr wrap="square" anchor="t">
            <a:spAutoFit/>
          </a:bodyPr>
          <a:lstStyle>
            <a:lvl1pPr>
              <a:lnSpc>
                <a:spcPct val="100000"/>
              </a:lnSpc>
              <a:defRPr lang="en-IN" sz="19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35" name="Text Placeholder 2">
            <a:extLst>
              <a:ext uri="{FF2B5EF4-FFF2-40B4-BE49-F238E27FC236}">
                <a16:creationId xmlns:a16="http://schemas.microsoft.com/office/drawing/2014/main" id="{5CEC8C48-72E4-4A29-87D0-B1134274908E}"/>
              </a:ext>
            </a:extLst>
          </p:cNvPr>
          <p:cNvSpPr>
            <a:spLocks noGrp="1"/>
          </p:cNvSpPr>
          <p:nvPr>
            <p:ph type="body" sz="quarter" idx="26" hasCustomPrompt="1"/>
          </p:nvPr>
        </p:nvSpPr>
        <p:spPr>
          <a:xfrm>
            <a:off x="893584" y="1559244"/>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37" name="Text Placeholder 2">
            <a:extLst>
              <a:ext uri="{FF2B5EF4-FFF2-40B4-BE49-F238E27FC236}">
                <a16:creationId xmlns:a16="http://schemas.microsoft.com/office/drawing/2014/main" id="{EA1F07C0-0A41-47D4-8349-0FC63CDE2EE6}"/>
              </a:ext>
            </a:extLst>
          </p:cNvPr>
          <p:cNvSpPr>
            <a:spLocks noGrp="1"/>
          </p:cNvSpPr>
          <p:nvPr>
            <p:ph type="body" sz="quarter" idx="28" hasCustomPrompt="1"/>
          </p:nvPr>
        </p:nvSpPr>
        <p:spPr>
          <a:xfrm>
            <a:off x="3233776" y="1559244"/>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13" name="Text Placeholder 2">
            <a:extLst>
              <a:ext uri="{FF2B5EF4-FFF2-40B4-BE49-F238E27FC236}">
                <a16:creationId xmlns:a16="http://schemas.microsoft.com/office/drawing/2014/main" id="{E6134188-DB8A-4DF9-87F8-34A8BEDCA7FC}"/>
              </a:ext>
            </a:extLst>
          </p:cNvPr>
          <p:cNvSpPr>
            <a:spLocks noGrp="1"/>
          </p:cNvSpPr>
          <p:nvPr>
            <p:ph type="body" sz="quarter" idx="41" hasCustomPrompt="1"/>
          </p:nvPr>
        </p:nvSpPr>
        <p:spPr>
          <a:xfrm>
            <a:off x="2998975" y="1624558"/>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4" name="Text Placeholder 2">
            <a:extLst>
              <a:ext uri="{FF2B5EF4-FFF2-40B4-BE49-F238E27FC236}">
                <a16:creationId xmlns:a16="http://schemas.microsoft.com/office/drawing/2014/main" id="{D5941F27-B6F5-4E44-8310-0328CB9A3F91}"/>
              </a:ext>
            </a:extLst>
          </p:cNvPr>
          <p:cNvSpPr>
            <a:spLocks noGrp="1"/>
          </p:cNvSpPr>
          <p:nvPr>
            <p:ph type="body" sz="quarter" idx="42" hasCustomPrompt="1"/>
          </p:nvPr>
        </p:nvSpPr>
        <p:spPr>
          <a:xfrm flipV="1">
            <a:off x="2998975" y="1764669"/>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6" name="Text Placeholder 2">
            <a:extLst>
              <a:ext uri="{FF2B5EF4-FFF2-40B4-BE49-F238E27FC236}">
                <a16:creationId xmlns:a16="http://schemas.microsoft.com/office/drawing/2014/main" id="{015AA8D5-E7C5-48A7-860E-F1C92F07CF88}"/>
              </a:ext>
            </a:extLst>
          </p:cNvPr>
          <p:cNvSpPr>
            <a:spLocks noGrp="1"/>
          </p:cNvSpPr>
          <p:nvPr>
            <p:ph type="body" sz="quarter" idx="31" hasCustomPrompt="1"/>
          </p:nvPr>
        </p:nvSpPr>
        <p:spPr>
          <a:xfrm>
            <a:off x="678010" y="1623138"/>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8" name="Text Placeholder 2">
            <a:extLst>
              <a:ext uri="{FF2B5EF4-FFF2-40B4-BE49-F238E27FC236}">
                <a16:creationId xmlns:a16="http://schemas.microsoft.com/office/drawing/2014/main" id="{A31D3082-BA96-40FA-85B8-3D8F90E67B79}"/>
              </a:ext>
            </a:extLst>
          </p:cNvPr>
          <p:cNvSpPr>
            <a:spLocks noGrp="1"/>
          </p:cNvSpPr>
          <p:nvPr>
            <p:ph type="body" sz="quarter" idx="43" hasCustomPrompt="1"/>
          </p:nvPr>
        </p:nvSpPr>
        <p:spPr>
          <a:xfrm flipV="1">
            <a:off x="678010" y="1763248"/>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5" name="Text Placeholder 2">
            <a:extLst>
              <a:ext uri="{FF2B5EF4-FFF2-40B4-BE49-F238E27FC236}">
                <a16:creationId xmlns:a16="http://schemas.microsoft.com/office/drawing/2014/main" id="{1CB3C3F8-03F6-41D1-BC35-CE9BDCFD64DE}"/>
              </a:ext>
            </a:extLst>
          </p:cNvPr>
          <p:cNvSpPr>
            <a:spLocks noGrp="1"/>
          </p:cNvSpPr>
          <p:nvPr>
            <p:ph type="body" sz="quarter" idx="32" hasCustomPrompt="1"/>
          </p:nvPr>
        </p:nvSpPr>
        <p:spPr>
          <a:xfrm>
            <a:off x="533399" y="2040370"/>
            <a:ext cx="4001400" cy="2619736"/>
          </a:xfrm>
          <a:prstGeom prst="roundRect">
            <a:avLst>
              <a:gd name="adj" fmla="val 246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Chart / Graph Title with time period</a:t>
            </a:r>
          </a:p>
        </p:txBody>
      </p:sp>
      <p:sp>
        <p:nvSpPr>
          <p:cNvPr id="21" name="Text Placeholder 2">
            <a:extLst>
              <a:ext uri="{FF2B5EF4-FFF2-40B4-BE49-F238E27FC236}">
                <a16:creationId xmlns:a16="http://schemas.microsoft.com/office/drawing/2014/main" id="{2C63D07C-8DA6-4872-BED2-04DD278713B4}"/>
              </a:ext>
            </a:extLst>
          </p:cNvPr>
          <p:cNvSpPr>
            <a:spLocks noGrp="1"/>
          </p:cNvSpPr>
          <p:nvPr>
            <p:ph type="body" sz="quarter" idx="44" hasCustomPrompt="1"/>
          </p:nvPr>
        </p:nvSpPr>
        <p:spPr>
          <a:xfrm>
            <a:off x="4599672" y="2040370"/>
            <a:ext cx="4001400" cy="2619736"/>
          </a:xfrm>
          <a:prstGeom prst="roundRect">
            <a:avLst>
              <a:gd name="adj" fmla="val 317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Insert Table</a:t>
            </a:r>
          </a:p>
        </p:txBody>
      </p:sp>
    </p:spTree>
    <p:extLst>
      <p:ext uri="{BB962C8B-B14F-4D97-AF65-F5344CB8AC3E}">
        <p14:creationId xmlns:p14="http://schemas.microsoft.com/office/powerpoint/2010/main" val="2162175315"/>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 KPI + Chart + Insight + Subtitle">
    <p:bg>
      <p:bgPr>
        <a:solidFill>
          <a:schemeClr val="bg2">
            <a:alpha val="40000"/>
          </a:schemeClr>
        </a:solidFill>
        <a:effectLst/>
      </p:bgPr>
    </p:bg>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1CF79DE6-489F-4295-A9F8-2AC173EAE383}"/>
              </a:ext>
            </a:extLst>
          </p:cNvPr>
          <p:cNvSpPr>
            <a:spLocks noGrp="1"/>
          </p:cNvSpPr>
          <p:nvPr>
            <p:ph type="body" sz="quarter" idx="38" hasCustomPrompt="1"/>
          </p:nvPr>
        </p:nvSpPr>
        <p:spPr>
          <a:xfrm>
            <a:off x="2873591" y="979477"/>
            <a:ext cx="2278857" cy="999473"/>
          </a:xfrm>
          <a:prstGeom prst="roundRect">
            <a:avLst>
              <a:gd name="adj" fmla="val 713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KPI Title in maximum two lines (Delete unused arrow)</a:t>
            </a:r>
            <a:endParaRPr lang="en-US"/>
          </a:p>
        </p:txBody>
      </p:sp>
      <p:sp>
        <p:nvSpPr>
          <p:cNvPr id="16" name="Text Placeholder 2">
            <a:extLst>
              <a:ext uri="{FF2B5EF4-FFF2-40B4-BE49-F238E27FC236}">
                <a16:creationId xmlns:a16="http://schemas.microsoft.com/office/drawing/2014/main" id="{C7071110-F302-4469-BCA4-6E70028B0AA7}"/>
              </a:ext>
            </a:extLst>
          </p:cNvPr>
          <p:cNvSpPr>
            <a:spLocks noGrp="1"/>
          </p:cNvSpPr>
          <p:nvPr>
            <p:ph type="body" sz="quarter" idx="35" hasCustomPrompt="1"/>
          </p:nvPr>
        </p:nvSpPr>
        <p:spPr>
          <a:xfrm>
            <a:off x="533399" y="979477"/>
            <a:ext cx="2278857" cy="999473"/>
          </a:xfrm>
          <a:prstGeom prst="roundRect">
            <a:avLst>
              <a:gd name="adj" fmla="val 713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KPI Title in maximum two lines (Delete unused arrow)</a:t>
            </a:r>
            <a:endParaRPr lang="en-US"/>
          </a:p>
        </p:txBody>
      </p:sp>
      <p:sp>
        <p:nvSpPr>
          <p:cNvPr id="19" name="Text Placeholder 2">
            <a:extLst>
              <a:ext uri="{FF2B5EF4-FFF2-40B4-BE49-F238E27FC236}">
                <a16:creationId xmlns:a16="http://schemas.microsoft.com/office/drawing/2014/main" id="{FD9FF712-8955-4640-BEE9-B35894011E84}"/>
              </a:ext>
            </a:extLst>
          </p:cNvPr>
          <p:cNvSpPr>
            <a:spLocks noGrp="1"/>
          </p:cNvSpPr>
          <p:nvPr>
            <p:ph type="body" sz="quarter" idx="36" hasCustomPrompt="1"/>
          </p:nvPr>
        </p:nvSpPr>
        <p:spPr>
          <a:xfrm>
            <a:off x="5213784" y="979477"/>
            <a:ext cx="3387289" cy="999473"/>
          </a:xfrm>
          <a:prstGeom prst="roundRect">
            <a:avLst>
              <a:gd name="adj" fmla="val 8993"/>
            </a:avLst>
          </a:prstGeom>
          <a:solidFill>
            <a:schemeClr val="bg1">
              <a:lumMod val="85000"/>
            </a:schemeClr>
          </a:solidFill>
        </p:spPr>
        <p:txBody>
          <a:bodyPr anchor="ctr">
            <a:noAutofit/>
          </a:bodyPr>
          <a:lstStyle>
            <a:lvl1pPr marL="10800" indent="0" algn="l">
              <a:lnSpc>
                <a:spcPct val="100000"/>
              </a:lnSpc>
              <a:spcBef>
                <a:spcPts val="0"/>
              </a:spcBef>
              <a:buNone/>
              <a:defRPr sz="120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Sub Title or Important Insight / Takeaway from the data in maximum four lines</a:t>
            </a:r>
            <a:endParaRPr lang="en-US"/>
          </a:p>
        </p:txBody>
      </p:sp>
      <p:sp>
        <p:nvSpPr>
          <p:cNvPr id="15" name="Text Placeholder 2">
            <a:extLst>
              <a:ext uri="{FF2B5EF4-FFF2-40B4-BE49-F238E27FC236}">
                <a16:creationId xmlns:a16="http://schemas.microsoft.com/office/drawing/2014/main" id="{9E5A48BC-DC4F-4ACA-8BFB-82DF79BF4A9E}"/>
              </a:ext>
            </a:extLst>
          </p:cNvPr>
          <p:cNvSpPr>
            <a:spLocks noGrp="1"/>
          </p:cNvSpPr>
          <p:nvPr>
            <p:ph type="body" sz="quarter" idx="33" hasCustomPrompt="1"/>
          </p:nvPr>
        </p:nvSpPr>
        <p:spPr>
          <a:xfrm>
            <a:off x="533399" y="2040371"/>
            <a:ext cx="8061722" cy="2619735"/>
          </a:xfrm>
          <a:prstGeom prst="roundRect">
            <a:avLst>
              <a:gd name="adj" fmla="val 2467"/>
            </a:avLst>
          </a:prstGeom>
          <a:solidFill>
            <a:schemeClr val="bg1"/>
          </a:solidFill>
        </p:spPr>
        <p:txBody>
          <a:bodyPr anchor="t">
            <a:noAutofit/>
          </a:bodyPr>
          <a:lstStyle>
            <a:lvl1pPr marL="0" indent="0" algn="l">
              <a:lnSpc>
                <a:spcPct val="100000"/>
              </a:lnSpc>
              <a:buNone/>
              <a:defRPr sz="1200" b="0">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marL="0" lvl="0" indent="0">
              <a:lnSpc>
                <a:spcPct val="100000"/>
              </a:lnSpc>
              <a:buNone/>
            </a:pPr>
            <a:r>
              <a:rPr lang="en-US"/>
              <a:t>Chart / Graph Title with time period</a:t>
            </a:r>
          </a:p>
        </p:txBody>
      </p:sp>
      <p:sp>
        <p:nvSpPr>
          <p:cNvPr id="30" name="Title 1">
            <a:extLst>
              <a:ext uri="{FF2B5EF4-FFF2-40B4-BE49-F238E27FC236}">
                <a16:creationId xmlns:a16="http://schemas.microsoft.com/office/drawing/2014/main" id="{A5F196B3-494F-4A41-BB7B-AD9B60DBC551}"/>
              </a:ext>
            </a:extLst>
          </p:cNvPr>
          <p:cNvSpPr>
            <a:spLocks noGrp="1"/>
          </p:cNvSpPr>
          <p:nvPr>
            <p:ph type="title"/>
          </p:nvPr>
        </p:nvSpPr>
        <p:spPr>
          <a:xfrm>
            <a:off x="454023" y="395770"/>
            <a:ext cx="8141098" cy="392415"/>
          </a:xfrm>
          <a:prstGeom prst="rect">
            <a:avLst/>
          </a:prstGeom>
        </p:spPr>
        <p:txBody>
          <a:bodyPr wrap="square" anchor="t">
            <a:spAutoFit/>
          </a:bodyPr>
          <a:lstStyle>
            <a:lvl1pPr>
              <a:lnSpc>
                <a:spcPct val="100000"/>
              </a:lnSpc>
              <a:defRPr lang="en-IN" sz="1950" b="1" i="0">
                <a:latin typeface="+mn-lt"/>
                <a:ea typeface="Open Sans" panose="020B0606030504020204" pitchFamily="34" charset="0"/>
                <a:cs typeface="Open Sans" panose="020B0606030504020204" pitchFamily="34" charset="0"/>
              </a:defRPr>
            </a:lvl1pPr>
          </a:lstStyle>
          <a:p>
            <a:pPr marL="0" lvl="0" indent="0">
              <a:lnSpc>
                <a:spcPct val="100000"/>
              </a:lnSpc>
              <a:spcBef>
                <a:spcPts val="750"/>
              </a:spcBef>
              <a:buFont typeface="Arial" panose="020B0604020202020204" pitchFamily="34" charset="0"/>
            </a:pPr>
            <a:r>
              <a:rPr lang="en-GB"/>
              <a:t>Click to edit Master title style</a:t>
            </a:r>
            <a:endParaRPr lang="en-IN"/>
          </a:p>
        </p:txBody>
      </p:sp>
      <p:sp>
        <p:nvSpPr>
          <p:cNvPr id="35" name="Text Placeholder 2">
            <a:extLst>
              <a:ext uri="{FF2B5EF4-FFF2-40B4-BE49-F238E27FC236}">
                <a16:creationId xmlns:a16="http://schemas.microsoft.com/office/drawing/2014/main" id="{5CEC8C48-72E4-4A29-87D0-B1134274908E}"/>
              </a:ext>
            </a:extLst>
          </p:cNvPr>
          <p:cNvSpPr>
            <a:spLocks noGrp="1"/>
          </p:cNvSpPr>
          <p:nvPr>
            <p:ph type="body" sz="quarter" idx="26" hasCustomPrompt="1"/>
          </p:nvPr>
        </p:nvSpPr>
        <p:spPr>
          <a:xfrm>
            <a:off x="893584" y="1559244"/>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37" name="Text Placeholder 2">
            <a:extLst>
              <a:ext uri="{FF2B5EF4-FFF2-40B4-BE49-F238E27FC236}">
                <a16:creationId xmlns:a16="http://schemas.microsoft.com/office/drawing/2014/main" id="{EA1F07C0-0A41-47D4-8349-0FC63CDE2EE6}"/>
              </a:ext>
            </a:extLst>
          </p:cNvPr>
          <p:cNvSpPr>
            <a:spLocks noGrp="1"/>
          </p:cNvSpPr>
          <p:nvPr>
            <p:ph type="body" sz="quarter" idx="28" hasCustomPrompt="1"/>
          </p:nvPr>
        </p:nvSpPr>
        <p:spPr>
          <a:xfrm>
            <a:off x="3233776" y="1559244"/>
            <a:ext cx="1382891" cy="372785"/>
          </a:xfrm>
          <a:prstGeom prst="rect">
            <a:avLst/>
          </a:prstGeom>
        </p:spPr>
        <p:txBody>
          <a:bodyPr tIns="36000" bIns="36000" anchor="ctr" anchorCtr="0">
            <a:spAutoFit/>
          </a:bodyPr>
          <a:lstStyle>
            <a:lvl1pPr marL="0" indent="0" algn="l">
              <a:lnSpc>
                <a:spcPct val="100000"/>
              </a:lnSpc>
              <a:buNone/>
              <a:defRPr sz="1950" b="1">
                <a:solidFill>
                  <a:schemeClr val="tx1"/>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GB"/>
              <a:t>0.00%</a:t>
            </a:r>
            <a:endParaRPr lang="en-US"/>
          </a:p>
        </p:txBody>
      </p:sp>
      <p:sp>
        <p:nvSpPr>
          <p:cNvPr id="11" name="Text Placeholder 2">
            <a:extLst>
              <a:ext uri="{FF2B5EF4-FFF2-40B4-BE49-F238E27FC236}">
                <a16:creationId xmlns:a16="http://schemas.microsoft.com/office/drawing/2014/main" id="{34B3935D-25DE-4CF1-9411-C911A59E6897}"/>
              </a:ext>
            </a:extLst>
          </p:cNvPr>
          <p:cNvSpPr>
            <a:spLocks noGrp="1"/>
          </p:cNvSpPr>
          <p:nvPr>
            <p:ph type="body" sz="quarter" idx="31" hasCustomPrompt="1"/>
          </p:nvPr>
        </p:nvSpPr>
        <p:spPr>
          <a:xfrm>
            <a:off x="678010" y="1623138"/>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2" name="Text Placeholder 2">
            <a:extLst>
              <a:ext uri="{FF2B5EF4-FFF2-40B4-BE49-F238E27FC236}">
                <a16:creationId xmlns:a16="http://schemas.microsoft.com/office/drawing/2014/main" id="{ACE0E8C8-A862-4F77-BD30-287974C85C87}"/>
              </a:ext>
            </a:extLst>
          </p:cNvPr>
          <p:cNvSpPr>
            <a:spLocks noGrp="1"/>
          </p:cNvSpPr>
          <p:nvPr>
            <p:ph type="body" sz="quarter" idx="32" hasCustomPrompt="1"/>
          </p:nvPr>
        </p:nvSpPr>
        <p:spPr>
          <a:xfrm flipV="1">
            <a:off x="3007547" y="1763248"/>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3" name="Text Placeholder 2">
            <a:extLst>
              <a:ext uri="{FF2B5EF4-FFF2-40B4-BE49-F238E27FC236}">
                <a16:creationId xmlns:a16="http://schemas.microsoft.com/office/drawing/2014/main" id="{480E203D-96C0-4E30-8CCA-4B1C46536594}"/>
              </a:ext>
            </a:extLst>
          </p:cNvPr>
          <p:cNvSpPr>
            <a:spLocks noGrp="1"/>
          </p:cNvSpPr>
          <p:nvPr>
            <p:ph type="body" sz="quarter" idx="37" hasCustomPrompt="1"/>
          </p:nvPr>
        </p:nvSpPr>
        <p:spPr>
          <a:xfrm>
            <a:off x="3007547" y="1623138"/>
            <a:ext cx="154238" cy="100796"/>
          </a:xfrm>
          <a:prstGeom prst="triangle">
            <a:avLst/>
          </a:prstGeom>
          <a:solidFill>
            <a:srgbClr val="00B050"/>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
        <p:nvSpPr>
          <p:cNvPr id="14" name="Text Placeholder 2">
            <a:extLst>
              <a:ext uri="{FF2B5EF4-FFF2-40B4-BE49-F238E27FC236}">
                <a16:creationId xmlns:a16="http://schemas.microsoft.com/office/drawing/2014/main" id="{E9060D44-04A5-496A-8472-D89D3962E2FD}"/>
              </a:ext>
            </a:extLst>
          </p:cNvPr>
          <p:cNvSpPr>
            <a:spLocks noGrp="1"/>
          </p:cNvSpPr>
          <p:nvPr>
            <p:ph type="body" sz="quarter" idx="34" hasCustomPrompt="1"/>
          </p:nvPr>
        </p:nvSpPr>
        <p:spPr>
          <a:xfrm flipV="1">
            <a:off x="678010" y="1763248"/>
            <a:ext cx="154238" cy="100796"/>
          </a:xfrm>
          <a:prstGeom prst="triangle">
            <a:avLst/>
          </a:prstGeom>
          <a:solidFill>
            <a:schemeClr val="accent3"/>
          </a:solidFill>
        </p:spPr>
        <p:txBody>
          <a:bodyPr tIns="36000" bIns="36000" anchor="ctr" anchorCtr="0">
            <a:noAutofit/>
          </a:bodyPr>
          <a:lstStyle>
            <a:lvl1pPr marL="0" indent="0" algn="l">
              <a:lnSpc>
                <a:spcPct val="100000"/>
              </a:lnSpc>
              <a:buNone/>
              <a:defRPr sz="100" b="1">
                <a:solidFill>
                  <a:srgbClr val="00B050"/>
                </a:solidFill>
                <a:latin typeface="+mn-lt"/>
              </a:defRPr>
            </a:lvl1pPr>
            <a:lvl2pPr marL="342900" indent="0">
              <a:buNone/>
              <a:defRPr sz="1950"/>
            </a:lvl2pPr>
            <a:lvl3pPr marL="685800" indent="0">
              <a:buNone/>
              <a:defRPr sz="1950"/>
            </a:lvl3pPr>
            <a:lvl4pPr marL="1028700" indent="0">
              <a:buNone/>
              <a:defRPr sz="1950"/>
            </a:lvl4pPr>
            <a:lvl5pPr marL="1371600" indent="0">
              <a:buNone/>
              <a:defRPr sz="1950"/>
            </a:lvl5pPr>
          </a:lstStyle>
          <a:p>
            <a:pPr lvl="0"/>
            <a:r>
              <a:rPr lang="en-US"/>
              <a:t>a</a:t>
            </a:r>
          </a:p>
        </p:txBody>
      </p:sp>
    </p:spTree>
    <p:extLst>
      <p:ext uri="{BB962C8B-B14F-4D97-AF65-F5344CB8AC3E}">
        <p14:creationId xmlns:p14="http://schemas.microsoft.com/office/powerpoint/2010/main" val="3894438817"/>
      </p:ext>
    </p:extLst>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p:bg>
      <p:bgPr>
        <a:solidFill>
          <a:schemeClr val="bg2">
            <a:alpha val="40000"/>
          </a:schemeClr>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76445B9-FF81-4E47-A45B-590DC428B361}"/>
              </a:ext>
            </a:extLst>
          </p:cNvPr>
          <p:cNvGrpSpPr/>
          <p:nvPr/>
        </p:nvGrpSpPr>
        <p:grpSpPr>
          <a:xfrm>
            <a:off x="548878" y="1130689"/>
            <a:ext cx="1091466" cy="634367"/>
            <a:chOff x="7946718" y="2965722"/>
            <a:chExt cx="1455288" cy="845823"/>
          </a:xfrm>
          <a:solidFill>
            <a:schemeClr val="accent4"/>
          </a:solidFill>
        </p:grpSpPr>
        <p:sp>
          <p:nvSpPr>
            <p:cNvPr id="8" name="TextBox 7">
              <a:extLst>
                <a:ext uri="{FF2B5EF4-FFF2-40B4-BE49-F238E27FC236}">
                  <a16:creationId xmlns:a16="http://schemas.microsoft.com/office/drawing/2014/main" id="{0E08AC23-D07F-4E5A-9DA0-FBB0C09B0E8F}"/>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chemeClr val="tx1"/>
                </a:solidFill>
                <a:latin typeface="+mn-lt"/>
              </a:endParaRPr>
            </a:p>
          </p:txBody>
        </p:sp>
        <p:sp>
          <p:nvSpPr>
            <p:cNvPr id="10" name="TextBox 9">
              <a:extLst>
                <a:ext uri="{FF2B5EF4-FFF2-40B4-BE49-F238E27FC236}">
                  <a16:creationId xmlns:a16="http://schemas.microsoft.com/office/drawing/2014/main" id="{6C374CEA-CE97-4473-9FCF-AC562A1AF22E}"/>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chemeClr val="tx1"/>
                </a:solidFill>
                <a:latin typeface="+mn-lt"/>
              </a:endParaRPr>
            </a:p>
          </p:txBody>
        </p:sp>
      </p:grpSp>
      <p:sp>
        <p:nvSpPr>
          <p:cNvPr id="14" name="Text Placeholder 4">
            <a:extLst>
              <a:ext uri="{FF2B5EF4-FFF2-40B4-BE49-F238E27FC236}">
                <a16:creationId xmlns:a16="http://schemas.microsoft.com/office/drawing/2014/main" id="{0D6DD118-6375-439A-BC1B-899B6DC48BBC}"/>
              </a:ext>
            </a:extLst>
          </p:cNvPr>
          <p:cNvSpPr>
            <a:spLocks noGrp="1"/>
          </p:cNvSpPr>
          <p:nvPr>
            <p:ph type="body" sz="quarter" idx="15" hasCustomPrompt="1"/>
          </p:nvPr>
        </p:nvSpPr>
        <p:spPr>
          <a:xfrm>
            <a:off x="776841" y="652975"/>
            <a:ext cx="7812881" cy="392415"/>
          </a:xfrm>
          <a:prstGeom prst="rect">
            <a:avLst/>
          </a:prstGeom>
        </p:spPr>
        <p:txBody>
          <a:bodyPr anchor="t">
            <a:spAutoFit/>
          </a:bodyPr>
          <a:lstStyle>
            <a:lvl1pPr marL="0" indent="0" algn="l">
              <a:lnSpc>
                <a:spcPct val="100000"/>
              </a:lnSpc>
              <a:spcBef>
                <a:spcPts val="0"/>
              </a:spcBef>
              <a:buNone/>
              <a:defRPr sz="1950" b="0" i="0">
                <a:solidFill>
                  <a:schemeClr val="tx1"/>
                </a:solidFill>
                <a:latin typeface="+mn-lt"/>
                <a:ea typeface="Open Sans Semibold" panose="020B0606030504020204" pitchFamily="34" charset="0"/>
                <a:cs typeface="Open Sans Semibold" panose="020B0606030504020204" pitchFamily="34" charset="0"/>
              </a:defRPr>
            </a:lvl1pPr>
            <a:lvl2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Speaker’s name</a:t>
            </a:r>
          </a:p>
        </p:txBody>
      </p:sp>
      <p:sp>
        <p:nvSpPr>
          <p:cNvPr id="15" name="Text Placeholder 4">
            <a:extLst>
              <a:ext uri="{FF2B5EF4-FFF2-40B4-BE49-F238E27FC236}">
                <a16:creationId xmlns:a16="http://schemas.microsoft.com/office/drawing/2014/main" id="{B4ECFA27-67F6-46A2-81A9-B46702AEDC06}"/>
              </a:ext>
            </a:extLst>
          </p:cNvPr>
          <p:cNvSpPr>
            <a:spLocks noGrp="1"/>
          </p:cNvSpPr>
          <p:nvPr>
            <p:ph type="body" sz="quarter" idx="13" hasCustomPrompt="1"/>
          </p:nvPr>
        </p:nvSpPr>
        <p:spPr>
          <a:xfrm>
            <a:off x="782242" y="1284317"/>
            <a:ext cx="7812881" cy="3291634"/>
          </a:xfrm>
          <a:prstGeom prst="rect">
            <a:avLst/>
          </a:prstGeom>
        </p:spPr>
        <p:txBody>
          <a:bodyPr tIns="288000" anchor="t" anchorCtr="0">
            <a:spAutoFit/>
          </a:bodyPr>
          <a:lstStyle>
            <a:lvl1pPr marL="0" indent="0">
              <a:lnSpc>
                <a:spcPct val="100000"/>
              </a:lnSpc>
              <a:spcBef>
                <a:spcPts val="0"/>
              </a:spcBef>
              <a:buNone/>
              <a:defRPr sz="4800" b="1" i="0">
                <a:solidFill>
                  <a:schemeClr val="tx1"/>
                </a:solidFill>
                <a:latin typeface="+mn-lt"/>
                <a:ea typeface="Open Sans Semibold" panose="020B0606030504020204" pitchFamily="34" charset="0"/>
                <a:cs typeface="Open Sans Semibold" panose="020B0606030504020204" pitchFamily="34" charset="0"/>
              </a:defRPr>
            </a:lvl1pPr>
            <a:lvl2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from speech that the speaker has said</a:t>
            </a:r>
          </a:p>
        </p:txBody>
      </p:sp>
    </p:spTree>
    <p:extLst>
      <p:ext uri="{BB962C8B-B14F-4D97-AF65-F5344CB8AC3E}">
        <p14:creationId xmlns:p14="http://schemas.microsoft.com/office/powerpoint/2010/main" val="615437841"/>
      </p:ext>
    </p:extLst>
  </p:cSld>
  <p:clrMapOvr>
    <a:masterClrMapping/>
  </p:clrMapOvr>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Quote + Dark bkgd.">
    <p:bg>
      <p:bgPr>
        <a:solidFill>
          <a:schemeClr val="tx1"/>
        </a:solidFill>
        <a:effectLst/>
      </p:bgPr>
    </p:bg>
    <p:spTree>
      <p:nvGrpSpPr>
        <p:cNvPr id="1" name=""/>
        <p:cNvGrpSpPr/>
        <p:nvPr/>
      </p:nvGrpSpPr>
      <p:grpSpPr>
        <a:xfrm>
          <a:off x="0" y="0"/>
          <a:ext cx="0" cy="0"/>
          <a:chOff x="0" y="0"/>
          <a:chExt cx="0" cy="0"/>
        </a:xfrm>
      </p:grpSpPr>
      <p:pic>
        <p:nvPicPr>
          <p:cNvPr id="13" name="Picture 12" descr="A close up of a logo&#10;&#10;Description generated with very high confidence">
            <a:extLst>
              <a:ext uri="{FF2B5EF4-FFF2-40B4-BE49-F238E27FC236}">
                <a16:creationId xmlns:a16="http://schemas.microsoft.com/office/drawing/2014/main" id="{C49040EA-FE23-4B53-8BE5-BD8E2C4178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87896" y="4917668"/>
            <a:ext cx="514608" cy="110400"/>
          </a:xfrm>
          <a:prstGeom prst="rect">
            <a:avLst/>
          </a:prstGeom>
        </p:spPr>
      </p:pic>
      <p:sp>
        <p:nvSpPr>
          <p:cNvPr id="14" name="Title 1">
            <a:extLst>
              <a:ext uri="{FF2B5EF4-FFF2-40B4-BE49-F238E27FC236}">
                <a16:creationId xmlns:a16="http://schemas.microsoft.com/office/drawing/2014/main" id="{848B6007-B878-459B-95AA-ADC9B06B3C01}"/>
              </a:ext>
            </a:extLst>
          </p:cNvPr>
          <p:cNvSpPr txBox="1">
            <a:spLocks/>
          </p:cNvSpPr>
          <p:nvPr/>
        </p:nvSpPr>
        <p:spPr>
          <a:xfrm>
            <a:off x="4403800" y="4892437"/>
            <a:ext cx="336401" cy="163991"/>
          </a:xfrm>
          <a:prstGeom prst="rect">
            <a:avLst/>
          </a:prstGeom>
        </p:spPr>
        <p:txBody>
          <a:bodyPr/>
          <a:lstStyle>
            <a:defPPr>
              <a:defRPr lang="en-US"/>
            </a:defPPr>
            <a:lvl1pPr algn="ct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a:lnSpc>
                <a:spcPct val="100000"/>
              </a:lnSpc>
            </a:pPr>
            <a:fld id="{8CDB8CBA-EB11-894E-8631-17E36B7DB51E}" type="slidenum">
              <a:rPr lang="en-US" sz="600" smtClean="0">
                <a:solidFill>
                  <a:schemeClr val="bg1">
                    <a:lumMod val="75000"/>
                  </a:schemeClr>
                </a:solidFill>
                <a:latin typeface="+mn-lt"/>
              </a:rPr>
              <a:pPr>
                <a:lnSpc>
                  <a:spcPct val="100000"/>
                </a:lnSpc>
              </a:pPr>
              <a:t>‹#›</a:t>
            </a:fld>
            <a:endParaRPr lang="en-US" sz="600">
              <a:solidFill>
                <a:schemeClr val="bg1">
                  <a:lumMod val="75000"/>
                </a:schemeClr>
              </a:solidFill>
              <a:latin typeface="+mn-lt"/>
            </a:endParaRPr>
          </a:p>
        </p:txBody>
      </p:sp>
      <p:sp>
        <p:nvSpPr>
          <p:cNvPr id="15" name="Title 1">
            <a:extLst>
              <a:ext uri="{FF2B5EF4-FFF2-40B4-BE49-F238E27FC236}">
                <a16:creationId xmlns:a16="http://schemas.microsoft.com/office/drawing/2014/main" id="{C6629807-3F1E-438A-BAAD-E5AEF947C5F5}"/>
              </a:ext>
            </a:extLst>
          </p:cNvPr>
          <p:cNvSpPr txBox="1">
            <a:spLocks/>
          </p:cNvSpPr>
          <p:nvPr/>
        </p:nvSpPr>
        <p:spPr>
          <a:xfrm>
            <a:off x="489348" y="4892437"/>
            <a:ext cx="2400299" cy="163991"/>
          </a:xfrm>
          <a:prstGeom prst="rect">
            <a:avLst/>
          </a:prstGeom>
        </p:spPr>
        <p:txBody>
          <a:bodyPr/>
          <a:lstStyle>
            <a:defPPr>
              <a:defRPr lang="en-US"/>
            </a:defPPr>
            <a:lvl1pP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lvl="0">
              <a:lnSpc>
                <a:spcPct val="100000"/>
              </a:lnSpc>
            </a:pPr>
            <a:r>
              <a:rPr lang="en-US" sz="600">
                <a:solidFill>
                  <a:schemeClr val="bg1">
                    <a:lumMod val="75000"/>
                  </a:schemeClr>
                </a:solidFill>
                <a:latin typeface="+mn-lt"/>
              </a:rPr>
              <a:t>© 2026 CellStrat. All rights reserved | CCA Intensive</a:t>
            </a:r>
          </a:p>
        </p:txBody>
      </p:sp>
      <p:grpSp>
        <p:nvGrpSpPr>
          <p:cNvPr id="10" name="Group 9">
            <a:extLst>
              <a:ext uri="{FF2B5EF4-FFF2-40B4-BE49-F238E27FC236}">
                <a16:creationId xmlns:a16="http://schemas.microsoft.com/office/drawing/2014/main" id="{D4EF20FE-8CE2-47D4-BA67-42C359E87A36}"/>
              </a:ext>
            </a:extLst>
          </p:cNvPr>
          <p:cNvGrpSpPr/>
          <p:nvPr/>
        </p:nvGrpSpPr>
        <p:grpSpPr>
          <a:xfrm>
            <a:off x="548878" y="1130689"/>
            <a:ext cx="1091466" cy="634367"/>
            <a:chOff x="4640712" y="1507584"/>
            <a:chExt cx="1455288" cy="845823"/>
          </a:xfrm>
        </p:grpSpPr>
        <p:sp>
          <p:nvSpPr>
            <p:cNvPr id="16" name="TextBox 15">
              <a:extLst>
                <a:ext uri="{FF2B5EF4-FFF2-40B4-BE49-F238E27FC236}">
                  <a16:creationId xmlns:a16="http://schemas.microsoft.com/office/drawing/2014/main" id="{AC591764-F364-4147-B28C-D6CF0DD6FF88}"/>
                </a:ext>
              </a:extLst>
            </p:cNvPr>
            <p:cNvSpPr txBox="1">
              <a:spLocks/>
            </p:cNvSpPr>
            <p:nvPr userDrawn="1"/>
          </p:nvSpPr>
          <p:spPr>
            <a:xfrm>
              <a:off x="4640712" y="1507584"/>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solidFill>
              <a:srgbClr val="6B6B6B"/>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rgbClr val="383637"/>
                </a:solidFill>
                <a:latin typeface="+mn-lt"/>
              </a:endParaRPr>
            </a:p>
          </p:txBody>
        </p:sp>
        <p:sp>
          <p:nvSpPr>
            <p:cNvPr id="17" name="TextBox 16">
              <a:extLst>
                <a:ext uri="{FF2B5EF4-FFF2-40B4-BE49-F238E27FC236}">
                  <a16:creationId xmlns:a16="http://schemas.microsoft.com/office/drawing/2014/main" id="{5B56254D-ECCA-4335-A674-D290293E0913}"/>
                </a:ext>
              </a:extLst>
            </p:cNvPr>
            <p:cNvSpPr txBox="1">
              <a:spLocks/>
            </p:cNvSpPr>
            <p:nvPr userDrawn="1"/>
          </p:nvSpPr>
          <p:spPr>
            <a:xfrm>
              <a:off x="5429133" y="1507584"/>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solidFill>
              <a:srgbClr val="6B6B6B"/>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rgbClr val="383637"/>
                </a:solidFill>
                <a:latin typeface="+mn-lt"/>
              </a:endParaRPr>
            </a:p>
          </p:txBody>
        </p:sp>
      </p:grpSp>
      <p:sp>
        <p:nvSpPr>
          <p:cNvPr id="18" name="Text Placeholder 4">
            <a:extLst>
              <a:ext uri="{FF2B5EF4-FFF2-40B4-BE49-F238E27FC236}">
                <a16:creationId xmlns:a16="http://schemas.microsoft.com/office/drawing/2014/main" id="{539A892A-E0A3-4F85-AC15-00958250E5A0}"/>
              </a:ext>
            </a:extLst>
          </p:cNvPr>
          <p:cNvSpPr>
            <a:spLocks noGrp="1"/>
          </p:cNvSpPr>
          <p:nvPr>
            <p:ph type="body" sz="quarter" idx="13" hasCustomPrompt="1"/>
          </p:nvPr>
        </p:nvSpPr>
        <p:spPr>
          <a:xfrm>
            <a:off x="782242" y="1284317"/>
            <a:ext cx="7812881" cy="3291634"/>
          </a:xfrm>
          <a:prstGeom prst="rect">
            <a:avLst/>
          </a:prstGeom>
        </p:spPr>
        <p:txBody>
          <a:bodyPr tIns="288000" anchor="t" anchorCtr="0">
            <a:spAutoFit/>
          </a:bodyPr>
          <a:lstStyle>
            <a:lvl1pPr marL="0" indent="0">
              <a:lnSpc>
                <a:spcPct val="100000"/>
              </a:lnSpc>
              <a:spcBef>
                <a:spcPts val="0"/>
              </a:spcBef>
              <a:buNone/>
              <a:defRPr sz="4800" b="1" i="0">
                <a:solidFill>
                  <a:srgbClr val="FFFFFF"/>
                </a:solidFill>
                <a:latin typeface="+mn-lt"/>
                <a:ea typeface="Open Sans Semibold" panose="020B0606030504020204" pitchFamily="34" charset="0"/>
                <a:cs typeface="Open Sans Semibold" panose="020B0606030504020204" pitchFamily="34" charset="0"/>
              </a:defRPr>
            </a:lvl1pPr>
            <a:lvl2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from speech that the speaker has said</a:t>
            </a:r>
          </a:p>
        </p:txBody>
      </p:sp>
      <p:sp>
        <p:nvSpPr>
          <p:cNvPr id="19" name="Text Placeholder 4">
            <a:extLst>
              <a:ext uri="{FF2B5EF4-FFF2-40B4-BE49-F238E27FC236}">
                <a16:creationId xmlns:a16="http://schemas.microsoft.com/office/drawing/2014/main" id="{73946CEA-176B-4058-93BA-D0D282E61443}"/>
              </a:ext>
            </a:extLst>
          </p:cNvPr>
          <p:cNvSpPr>
            <a:spLocks noGrp="1"/>
          </p:cNvSpPr>
          <p:nvPr>
            <p:ph type="body" sz="quarter" idx="15" hasCustomPrompt="1"/>
          </p:nvPr>
        </p:nvSpPr>
        <p:spPr>
          <a:xfrm>
            <a:off x="776841" y="652975"/>
            <a:ext cx="7812881" cy="392415"/>
          </a:xfrm>
          <a:prstGeom prst="rect">
            <a:avLst/>
          </a:prstGeom>
        </p:spPr>
        <p:txBody>
          <a:bodyPr anchor="t">
            <a:spAutoFit/>
          </a:bodyPr>
          <a:lstStyle>
            <a:lvl1pPr marL="0" indent="0" algn="l">
              <a:lnSpc>
                <a:spcPct val="100000"/>
              </a:lnSpc>
              <a:spcBef>
                <a:spcPts val="0"/>
              </a:spcBef>
              <a:buNone/>
              <a:defRPr sz="1950" b="0" i="0">
                <a:solidFill>
                  <a:srgbClr val="FFFFFF"/>
                </a:solidFill>
                <a:latin typeface="+mn-lt"/>
                <a:ea typeface="Open Sans Semibold" panose="020B0606030504020204" pitchFamily="34" charset="0"/>
                <a:cs typeface="Open Sans Semibold" panose="020B0606030504020204" pitchFamily="34" charset="0"/>
              </a:defRPr>
            </a:lvl1pPr>
            <a:lvl2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Speaker’s name</a:t>
            </a:r>
          </a:p>
        </p:txBody>
      </p:sp>
    </p:spTree>
    <p:extLst>
      <p:ext uri="{BB962C8B-B14F-4D97-AF65-F5344CB8AC3E}">
        <p14:creationId xmlns:p14="http://schemas.microsoft.com/office/powerpoint/2010/main" val="2736487752"/>
      </p:ext>
    </p:extLst>
  </p:cSld>
  <p:clrMapOvr>
    <a:masterClrMapping/>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 speaker image">
    <p:bg>
      <p:bgPr>
        <a:solidFill>
          <a:srgbClr val="FFFFFF"/>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19EA7E8-D58C-4823-96CC-7C58457E2C33}"/>
              </a:ext>
            </a:extLst>
          </p:cNvPr>
          <p:cNvGrpSpPr/>
          <p:nvPr/>
        </p:nvGrpSpPr>
        <p:grpSpPr>
          <a:xfrm>
            <a:off x="461360" y="500412"/>
            <a:ext cx="1091466" cy="634367"/>
            <a:chOff x="7946718" y="2965722"/>
            <a:chExt cx="1455288" cy="845823"/>
          </a:xfrm>
          <a:solidFill>
            <a:srgbClr val="D6D6D6"/>
          </a:solidFill>
        </p:grpSpPr>
        <p:sp>
          <p:nvSpPr>
            <p:cNvPr id="10" name="TextBox 9">
              <a:extLst>
                <a:ext uri="{FF2B5EF4-FFF2-40B4-BE49-F238E27FC236}">
                  <a16:creationId xmlns:a16="http://schemas.microsoft.com/office/drawing/2014/main" id="{252B4F35-079E-4266-92C5-94E8876B874B}"/>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rgbClr val="383637"/>
                </a:solidFill>
                <a:latin typeface="+mn-lt"/>
              </a:endParaRPr>
            </a:p>
          </p:txBody>
        </p:sp>
        <p:sp>
          <p:nvSpPr>
            <p:cNvPr id="11" name="TextBox 10">
              <a:extLst>
                <a:ext uri="{FF2B5EF4-FFF2-40B4-BE49-F238E27FC236}">
                  <a16:creationId xmlns:a16="http://schemas.microsoft.com/office/drawing/2014/main" id="{12BE29EC-219E-4956-B6C5-7099FDB8AC2F}"/>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0400">
                <a:solidFill>
                  <a:srgbClr val="383637"/>
                </a:solidFill>
                <a:latin typeface="+mn-lt"/>
              </a:endParaRPr>
            </a:p>
          </p:txBody>
        </p:sp>
      </p:grpSp>
      <p:sp>
        <p:nvSpPr>
          <p:cNvPr id="12" name="Picture Placeholder 6">
            <a:extLst>
              <a:ext uri="{FF2B5EF4-FFF2-40B4-BE49-F238E27FC236}">
                <a16:creationId xmlns:a16="http://schemas.microsoft.com/office/drawing/2014/main" id="{C4CCC91B-5611-41BA-BE62-D049438FE5F4}"/>
              </a:ext>
            </a:extLst>
          </p:cNvPr>
          <p:cNvSpPr>
            <a:spLocks noGrp="1"/>
          </p:cNvSpPr>
          <p:nvPr>
            <p:ph type="pic" sz="quarter" idx="14" hasCustomPrompt="1"/>
          </p:nvPr>
        </p:nvSpPr>
        <p:spPr>
          <a:xfrm>
            <a:off x="5164768" y="1"/>
            <a:ext cx="3979232" cy="4660106"/>
          </a:xfrm>
          <a:prstGeom prst="rect">
            <a:avLst/>
          </a:prstGeom>
        </p:spPr>
        <p:txBody>
          <a:bodyPr/>
          <a:lstStyle>
            <a:lvl1pPr marL="0" indent="0">
              <a:lnSpc>
                <a:spcPct val="100000"/>
              </a:lnSpc>
              <a:buNone/>
              <a:defRPr sz="1200">
                <a:solidFill>
                  <a:srgbClr val="6B6B6B"/>
                </a:solidFill>
                <a:latin typeface="+mn-lt"/>
              </a:defRPr>
            </a:lvl1pPr>
          </a:lstStyle>
          <a:p>
            <a:r>
              <a:rPr lang="en-US"/>
              <a:t>INSERT SPEAKER IMAGE ONLY</a:t>
            </a:r>
          </a:p>
        </p:txBody>
      </p:sp>
      <p:sp>
        <p:nvSpPr>
          <p:cNvPr id="13" name="Text Placeholder 16">
            <a:extLst>
              <a:ext uri="{FF2B5EF4-FFF2-40B4-BE49-F238E27FC236}">
                <a16:creationId xmlns:a16="http://schemas.microsoft.com/office/drawing/2014/main" id="{33B46CD2-E3EF-4444-AEB6-327ED5FB15BA}"/>
              </a:ext>
            </a:extLst>
          </p:cNvPr>
          <p:cNvSpPr>
            <a:spLocks noGrp="1"/>
          </p:cNvSpPr>
          <p:nvPr>
            <p:ph type="body" sz="quarter" idx="16" hasCustomPrompt="1"/>
          </p:nvPr>
        </p:nvSpPr>
        <p:spPr>
          <a:xfrm>
            <a:off x="1073944" y="845908"/>
            <a:ext cx="4069556" cy="3462486"/>
          </a:xfrm>
          <a:prstGeom prst="rect">
            <a:avLst/>
          </a:prstGeom>
        </p:spPr>
        <p:txBody>
          <a:bodyPr anchor="t">
            <a:spAutoFit/>
          </a:bodyPr>
          <a:lstStyle>
            <a:lvl1pPr marL="0" indent="0">
              <a:lnSpc>
                <a:spcPct val="100000"/>
              </a:lnSpc>
              <a:spcBef>
                <a:spcPts val="0"/>
              </a:spcBef>
              <a:buNone/>
              <a:defRPr sz="3150" b="1" i="0">
                <a:solidFill>
                  <a:schemeClr val="tx1"/>
                </a:solidFill>
                <a:latin typeface="+mn-lt"/>
                <a:ea typeface="Open Sans Semibold" panose="020B0606030504020204" pitchFamily="34" charset="0"/>
                <a:cs typeface="Open Sans Semibold" panose="020B0606030504020204" pitchFamily="34" charset="0"/>
              </a:defRPr>
            </a:lvl1pPr>
            <a:lvl2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phrase or passage from speech or text that someone has said or written.</a:t>
            </a:r>
            <a:endParaRPr lang="en-US"/>
          </a:p>
        </p:txBody>
      </p:sp>
      <p:sp>
        <p:nvSpPr>
          <p:cNvPr id="18" name="Text Placeholder 16">
            <a:extLst>
              <a:ext uri="{FF2B5EF4-FFF2-40B4-BE49-F238E27FC236}">
                <a16:creationId xmlns:a16="http://schemas.microsoft.com/office/drawing/2014/main" id="{F5851328-40A6-45EA-AF35-C383544429D3}"/>
              </a:ext>
            </a:extLst>
          </p:cNvPr>
          <p:cNvSpPr>
            <a:spLocks noGrp="1"/>
          </p:cNvSpPr>
          <p:nvPr>
            <p:ph type="body" sz="quarter" idx="18" hasCustomPrompt="1"/>
          </p:nvPr>
        </p:nvSpPr>
        <p:spPr>
          <a:xfrm>
            <a:off x="1073944" y="4297593"/>
            <a:ext cx="4069556" cy="392415"/>
          </a:xfrm>
          <a:prstGeom prst="rect">
            <a:avLst/>
          </a:prstGeom>
        </p:spPr>
        <p:txBody>
          <a:bodyPr anchor="t">
            <a:spAutoFit/>
          </a:bodyPr>
          <a:lstStyle>
            <a:lvl1pPr marL="0" indent="0" algn="r">
              <a:lnSpc>
                <a:spcPct val="100000"/>
              </a:lnSpc>
              <a:spcBef>
                <a:spcPts val="0"/>
              </a:spcBef>
              <a:buNone/>
              <a:defRPr sz="1950" b="1" i="0">
                <a:solidFill>
                  <a:schemeClr val="accent4"/>
                </a:solidFill>
                <a:latin typeface="+mn-lt"/>
                <a:ea typeface="Open Sans Semibold" panose="020B0606030504020204" pitchFamily="34" charset="0"/>
                <a:cs typeface="Open Sans Semibold" panose="020B0606030504020204" pitchFamily="34" charset="0"/>
              </a:defRPr>
            </a:lvl1pPr>
            <a:lvl2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lnSpc>
                <a:spcPct val="100000"/>
              </a:lnSpc>
              <a:buNone/>
              <a:defRPr sz="315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 Speaker name</a:t>
            </a:r>
            <a:endParaRPr lang="en-US"/>
          </a:p>
        </p:txBody>
      </p:sp>
    </p:spTree>
    <p:extLst>
      <p:ext uri="{BB962C8B-B14F-4D97-AF65-F5344CB8AC3E}">
        <p14:creationId xmlns:p14="http://schemas.microsoft.com/office/powerpoint/2010/main" val="3571931737"/>
      </p:ext>
    </p:extLst>
  </p:cSld>
  <p:clrMapOvr>
    <a:masterClrMapping/>
  </p:clrMapOvr>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losing Slide/ Thank You">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CB712C1D-486A-B749-B52A-C169E419CDA4}"/>
              </a:ext>
            </a:extLst>
          </p:cNvPr>
          <p:cNvSpPr txBox="1">
            <a:spLocks/>
          </p:cNvSpPr>
          <p:nvPr/>
        </p:nvSpPr>
        <p:spPr>
          <a:xfrm>
            <a:off x="435477" y="1946613"/>
            <a:ext cx="3752476" cy="1569660"/>
          </a:xfrm>
          <a:prstGeom prst="rect">
            <a:avLst/>
          </a:prstGeom>
          <a:noFill/>
        </p:spPr>
        <p:txBody>
          <a:bodyPr tIns="0" bIns="0" anchor="t">
            <a:spAutoFit/>
          </a:bodyPr>
          <a:lstStyle>
            <a:lvl1pPr algn="l" defTabSz="914400" rtl="0" eaLnBrk="1" latinLnBrk="0" hangingPunct="1">
              <a:lnSpc>
                <a:spcPct val="90000"/>
              </a:lnSpc>
              <a:spcBef>
                <a:spcPct val="0"/>
              </a:spcBef>
              <a:buNone/>
              <a:defRPr sz="6800" b="1"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nSpc>
                <a:spcPct val="100000"/>
              </a:lnSpc>
            </a:pPr>
            <a:r>
              <a:rPr lang="en-GB" sz="5100"/>
              <a:t>Thank You.</a:t>
            </a:r>
            <a:endParaRPr lang="en-US" sz="5100"/>
          </a:p>
        </p:txBody>
      </p:sp>
      <p:sp>
        <p:nvSpPr>
          <p:cNvPr id="18" name="TextBox 17">
            <a:extLst>
              <a:ext uri="{FF2B5EF4-FFF2-40B4-BE49-F238E27FC236}">
                <a16:creationId xmlns:a16="http://schemas.microsoft.com/office/drawing/2014/main" id="{0FAC5960-9DFE-4FCE-9F3E-7E71D5335D59}"/>
              </a:ext>
            </a:extLst>
          </p:cNvPr>
          <p:cNvSpPr txBox="1"/>
          <p:nvPr/>
        </p:nvSpPr>
        <p:spPr>
          <a:xfrm>
            <a:off x="547218" y="4036859"/>
            <a:ext cx="3269822" cy="646331"/>
          </a:xfrm>
          <a:prstGeom prst="rect">
            <a:avLst/>
          </a:prstGeom>
          <a:noFill/>
        </p:spPr>
        <p:txBody>
          <a:bodyPr wrap="square" rtlCol="0">
            <a:spAutoFit/>
          </a:bodyPr>
          <a:lstStyle/>
          <a:p>
            <a:r>
              <a:rPr lang="en-US" sz="900">
                <a:solidFill>
                  <a:schemeClr val="tx2"/>
                </a:solidFill>
                <a:latin typeface="Open Sans" panose="020B0606030504020204" pitchFamily="34" charset="0"/>
                <a:ea typeface="Open Sans" panose="020B0606030504020204" pitchFamily="34" charset="0"/>
                <a:cs typeface="Open Sans" panose="020B0606030504020204" pitchFamily="34" charset="0"/>
              </a:rPr>
              <a:t>Claude Code Certified Architect (CCA) · a hands-on CellStrat intensive. Build, break, secure, test and ship.</a:t>
            </a:r>
          </a:p>
        </p:txBody>
      </p:sp>
      <p:sp>
        <p:nvSpPr>
          <p:cNvPr id="19" name="TextBox 18">
            <a:extLst>
              <a:ext uri="{FF2B5EF4-FFF2-40B4-BE49-F238E27FC236}">
                <a16:creationId xmlns:a16="http://schemas.microsoft.com/office/drawing/2014/main" id="{436E1585-D766-4B04-A7D7-9B27FF597730}"/>
              </a:ext>
            </a:extLst>
          </p:cNvPr>
          <p:cNvSpPr txBox="1"/>
          <p:nvPr/>
        </p:nvSpPr>
        <p:spPr>
          <a:xfrm>
            <a:off x="7763322" y="4521928"/>
            <a:ext cx="899777" cy="369332"/>
          </a:xfrm>
          <a:prstGeom prst="rect">
            <a:avLst/>
          </a:prstGeom>
          <a:noFill/>
        </p:spPr>
        <p:txBody>
          <a:bodyPr wrap="square" rtlCol="0">
            <a:spAutoFit/>
          </a:bodyPr>
          <a:lstStyle/>
          <a:p>
            <a:r>
              <a:rPr lang="en-US" sz="900" err="1">
                <a:solidFill>
                  <a:srgbClr val="6B6B6B"/>
                </a:solidFill>
                <a:latin typeface="Open Sans" panose="020B0606030504020204" pitchFamily="34" charset="0"/>
                <a:ea typeface="Open Sans" panose="020B0606030504020204" pitchFamily="34" charset="0"/>
                <a:cs typeface="Open Sans" panose="020B0606030504020204" pitchFamily="34" charset="0"/>
              </a:rPr>
              <a:t>CellStrat</a:t>
            </a:r>
            <a:endParaRPr lang="en-US" sz="900">
              <a:solidFill>
                <a:srgbClr val="6B6B6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Freeform 6">
            <a:extLst>
              <a:ext uri="{FF2B5EF4-FFF2-40B4-BE49-F238E27FC236}">
                <a16:creationId xmlns:a16="http://schemas.microsoft.com/office/drawing/2014/main" id="{B6C1155E-5832-4871-A7A9-F568C266B18F}"/>
              </a:ext>
            </a:extLst>
          </p:cNvPr>
          <p:cNvSpPr>
            <a:spLocks noEditPoints="1"/>
          </p:cNvSpPr>
          <p:nvPr/>
        </p:nvSpPr>
        <p:spPr bwMode="auto">
          <a:xfrm>
            <a:off x="6750798" y="4456955"/>
            <a:ext cx="232199" cy="251621"/>
          </a:xfrm>
          <a:custGeom>
            <a:avLst/>
            <a:gdLst>
              <a:gd name="T0" fmla="*/ 6321 w 8634"/>
              <a:gd name="T1" fmla="*/ 3305 h 9592"/>
              <a:gd name="T2" fmla="*/ 6622 w 8634"/>
              <a:gd name="T3" fmla="*/ 3222 h 9592"/>
              <a:gd name="T4" fmla="*/ 6304 w 8634"/>
              <a:gd name="T5" fmla="*/ 3665 h 9592"/>
              <a:gd name="T6" fmla="*/ 5563 w 8634"/>
              <a:gd name="T7" fmla="*/ 5255 h 9592"/>
              <a:gd name="T8" fmla="*/ 4494 w 8634"/>
              <a:gd name="T9" fmla="*/ 5709 h 9592"/>
              <a:gd name="T10" fmla="*/ 3218 w 8634"/>
              <a:gd name="T11" fmla="*/ 5420 h 9592"/>
              <a:gd name="T12" fmla="*/ 3739 w 8634"/>
              <a:gd name="T13" fmla="*/ 5338 h 9592"/>
              <a:gd name="T14" fmla="*/ 4172 w 8634"/>
              <a:gd name="T15" fmla="*/ 5136 h 9592"/>
              <a:gd name="T16" fmla="*/ 3575 w 8634"/>
              <a:gd name="T17" fmla="*/ 4644 h 9592"/>
              <a:gd name="T18" fmla="*/ 3600 w 8634"/>
              <a:gd name="T19" fmla="*/ 4634 h 9592"/>
              <a:gd name="T20" fmla="*/ 3818 w 8634"/>
              <a:gd name="T21" fmla="*/ 4598 h 9592"/>
              <a:gd name="T22" fmla="*/ 3295 w 8634"/>
              <a:gd name="T23" fmla="*/ 3892 h 9592"/>
              <a:gd name="T24" fmla="*/ 3558 w 8634"/>
              <a:gd name="T25" fmla="*/ 3942 h 9592"/>
              <a:gd name="T26" fmla="*/ 3412 w 8634"/>
              <a:gd name="T27" fmla="*/ 3003 h 9592"/>
              <a:gd name="T28" fmla="*/ 3991 w 8634"/>
              <a:gd name="T29" fmla="*/ 3486 h 9592"/>
              <a:gd name="T30" fmla="*/ 4863 w 8634"/>
              <a:gd name="T31" fmla="*/ 3748 h 9592"/>
              <a:gd name="T32" fmla="*/ 6009 w 8634"/>
              <a:gd name="T33" fmla="*/ 3024 h 9592"/>
              <a:gd name="T34" fmla="*/ 6538 w 8634"/>
              <a:gd name="T35" fmla="*/ 2936 h 9592"/>
              <a:gd name="T36" fmla="*/ 6321 w 8634"/>
              <a:gd name="T37" fmla="*/ 3305 h 9592"/>
              <a:gd name="T38" fmla="*/ 8393 w 8634"/>
              <a:gd name="T39" fmla="*/ 4538 h 9592"/>
              <a:gd name="T40" fmla="*/ 3555 w 8634"/>
              <a:gd name="T41" fmla="*/ 990 h 9592"/>
              <a:gd name="T42" fmla="*/ 1699 w 8634"/>
              <a:gd name="T43" fmla="*/ 2664 h 9592"/>
              <a:gd name="T44" fmla="*/ 7236 w 8634"/>
              <a:gd name="T45" fmla="*/ 6930 h 9592"/>
              <a:gd name="T46" fmla="*/ 8393 w 8634"/>
              <a:gd name="T47" fmla="*/ 4538 h 9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34" h="9592">
                <a:moveTo>
                  <a:pt x="6321" y="3305"/>
                </a:moveTo>
                <a:lnTo>
                  <a:pt x="6622" y="3222"/>
                </a:lnTo>
                <a:cubicBezTo>
                  <a:pt x="6520" y="3400"/>
                  <a:pt x="6336" y="3508"/>
                  <a:pt x="6304" y="3665"/>
                </a:cubicBezTo>
                <a:cubicBezTo>
                  <a:pt x="6198" y="4171"/>
                  <a:pt x="6196" y="4748"/>
                  <a:pt x="5563" y="5255"/>
                </a:cubicBezTo>
                <a:cubicBezTo>
                  <a:pt x="5297" y="5468"/>
                  <a:pt x="4960" y="5664"/>
                  <a:pt x="4494" y="5709"/>
                </a:cubicBezTo>
                <a:cubicBezTo>
                  <a:pt x="4093" y="5749"/>
                  <a:pt x="3440" y="5639"/>
                  <a:pt x="3218" y="5420"/>
                </a:cubicBezTo>
                <a:cubicBezTo>
                  <a:pt x="3350" y="5361"/>
                  <a:pt x="3576" y="5384"/>
                  <a:pt x="3739" y="5338"/>
                </a:cubicBezTo>
                <a:cubicBezTo>
                  <a:pt x="3916" y="5289"/>
                  <a:pt x="4054" y="5210"/>
                  <a:pt x="4172" y="5136"/>
                </a:cubicBezTo>
                <a:cubicBezTo>
                  <a:pt x="4013" y="5025"/>
                  <a:pt x="3707" y="5000"/>
                  <a:pt x="3575" y="4644"/>
                </a:cubicBezTo>
                <a:cubicBezTo>
                  <a:pt x="3583" y="4639"/>
                  <a:pt x="3596" y="4626"/>
                  <a:pt x="3600" y="4634"/>
                </a:cubicBezTo>
                <a:lnTo>
                  <a:pt x="3818" y="4598"/>
                </a:lnTo>
                <a:cubicBezTo>
                  <a:pt x="3508" y="4393"/>
                  <a:pt x="3360" y="4352"/>
                  <a:pt x="3295" y="3892"/>
                </a:cubicBezTo>
                <a:lnTo>
                  <a:pt x="3558" y="3942"/>
                </a:lnTo>
                <a:cubicBezTo>
                  <a:pt x="3373" y="3718"/>
                  <a:pt x="3184" y="3367"/>
                  <a:pt x="3412" y="3003"/>
                </a:cubicBezTo>
                <a:cubicBezTo>
                  <a:pt x="3614" y="3174"/>
                  <a:pt x="3609" y="3272"/>
                  <a:pt x="3991" y="3486"/>
                </a:cubicBezTo>
                <a:cubicBezTo>
                  <a:pt x="4253" y="3632"/>
                  <a:pt x="4505" y="3715"/>
                  <a:pt x="4863" y="3748"/>
                </a:cubicBezTo>
                <a:cubicBezTo>
                  <a:pt x="4837" y="3016"/>
                  <a:pt x="5390" y="2650"/>
                  <a:pt x="6009" y="3024"/>
                </a:cubicBezTo>
                <a:cubicBezTo>
                  <a:pt x="6201" y="3141"/>
                  <a:pt x="6311" y="3009"/>
                  <a:pt x="6538" y="2936"/>
                </a:cubicBezTo>
                <a:cubicBezTo>
                  <a:pt x="6481" y="3106"/>
                  <a:pt x="6394" y="3160"/>
                  <a:pt x="6321" y="3305"/>
                </a:cubicBezTo>
                <a:close/>
                <a:moveTo>
                  <a:pt x="8393" y="4538"/>
                </a:moveTo>
                <a:cubicBezTo>
                  <a:pt x="8634" y="2125"/>
                  <a:pt x="6090" y="0"/>
                  <a:pt x="3555" y="990"/>
                </a:cubicBezTo>
                <a:cubicBezTo>
                  <a:pt x="2733" y="1311"/>
                  <a:pt x="2094" y="1889"/>
                  <a:pt x="1699" y="2664"/>
                </a:cubicBezTo>
                <a:cubicBezTo>
                  <a:pt x="0" y="5997"/>
                  <a:pt x="3979" y="9592"/>
                  <a:pt x="7236" y="6930"/>
                </a:cubicBezTo>
                <a:cubicBezTo>
                  <a:pt x="7915" y="6376"/>
                  <a:pt x="8302" y="5446"/>
                  <a:pt x="8393" y="4538"/>
                </a:cubicBezTo>
                <a:close/>
              </a:path>
            </a:pathLst>
          </a:custGeom>
          <a:solidFill>
            <a:srgbClr val="00B0F0"/>
          </a:solid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Freeform 11">
            <a:extLst>
              <a:ext uri="{FF2B5EF4-FFF2-40B4-BE49-F238E27FC236}">
                <a16:creationId xmlns:a16="http://schemas.microsoft.com/office/drawing/2014/main" id="{123AD49C-4EAA-4A9F-8D0C-E2B97FC4CB79}"/>
              </a:ext>
            </a:extLst>
          </p:cNvPr>
          <p:cNvSpPr>
            <a:spLocks noEditPoints="1"/>
          </p:cNvSpPr>
          <p:nvPr/>
        </p:nvSpPr>
        <p:spPr bwMode="auto">
          <a:xfrm>
            <a:off x="7040194" y="4472723"/>
            <a:ext cx="201861" cy="197774"/>
          </a:xfrm>
          <a:custGeom>
            <a:avLst/>
            <a:gdLst>
              <a:gd name="T0" fmla="*/ 1829 w 7029"/>
              <a:gd name="T1" fmla="*/ 2378 h 7017"/>
              <a:gd name="T2" fmla="*/ 2499 w 7029"/>
              <a:gd name="T3" fmla="*/ 2376 h 7017"/>
              <a:gd name="T4" fmla="*/ 2495 w 7029"/>
              <a:gd name="T5" fmla="*/ 4751 h 7017"/>
              <a:gd name="T6" fmla="*/ 1829 w 7029"/>
              <a:gd name="T7" fmla="*/ 4741 h 7017"/>
              <a:gd name="T8" fmla="*/ 1829 w 7029"/>
              <a:gd name="T9" fmla="*/ 2378 h 7017"/>
              <a:gd name="T10" fmla="*/ 3807 w 7029"/>
              <a:gd name="T11" fmla="*/ 2623 h 7017"/>
              <a:gd name="T12" fmla="*/ 5220 w 7029"/>
              <a:gd name="T13" fmla="*/ 2756 h 7017"/>
              <a:gd name="T14" fmla="*/ 5359 w 7029"/>
              <a:gd name="T15" fmla="*/ 4751 h 7017"/>
              <a:gd name="T16" fmla="*/ 4688 w 7029"/>
              <a:gd name="T17" fmla="*/ 4739 h 7017"/>
              <a:gd name="T18" fmla="*/ 4688 w 7029"/>
              <a:gd name="T19" fmla="*/ 3585 h 7017"/>
              <a:gd name="T20" fmla="*/ 4216 w 7029"/>
              <a:gd name="T21" fmla="*/ 2871 h 7017"/>
              <a:gd name="T22" fmla="*/ 3788 w 7029"/>
              <a:gd name="T23" fmla="*/ 3621 h 7017"/>
              <a:gd name="T24" fmla="*/ 3788 w 7029"/>
              <a:gd name="T25" fmla="*/ 4750 h 7017"/>
              <a:gd name="T26" fmla="*/ 3119 w 7029"/>
              <a:gd name="T27" fmla="*/ 4746 h 7017"/>
              <a:gd name="T28" fmla="*/ 3123 w 7029"/>
              <a:gd name="T29" fmla="*/ 2377 h 7017"/>
              <a:gd name="T30" fmla="*/ 3807 w 7029"/>
              <a:gd name="T31" fmla="*/ 2623 h 7017"/>
              <a:gd name="T32" fmla="*/ 2078 w 7029"/>
              <a:gd name="T33" fmla="*/ 1430 h 7017"/>
              <a:gd name="T34" fmla="*/ 2300 w 7029"/>
              <a:gd name="T35" fmla="*/ 2167 h 7017"/>
              <a:gd name="T36" fmla="*/ 2078 w 7029"/>
              <a:gd name="T37" fmla="*/ 1430 h 7017"/>
              <a:gd name="T38" fmla="*/ 3018 w 7029"/>
              <a:gd name="T39" fmla="*/ 294 h 7017"/>
              <a:gd name="T40" fmla="*/ 288 w 7029"/>
              <a:gd name="T41" fmla="*/ 3992 h 7017"/>
              <a:gd name="T42" fmla="*/ 4023 w 7029"/>
              <a:gd name="T43" fmla="*/ 6708 h 7017"/>
              <a:gd name="T44" fmla="*/ 6733 w 7029"/>
              <a:gd name="T45" fmla="*/ 3005 h 7017"/>
              <a:gd name="T46" fmla="*/ 3018 w 7029"/>
              <a:gd name="T47" fmla="*/ 294 h 7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29" h="7017">
                <a:moveTo>
                  <a:pt x="1829" y="2378"/>
                </a:moveTo>
                <a:lnTo>
                  <a:pt x="2499" y="2376"/>
                </a:lnTo>
                <a:lnTo>
                  <a:pt x="2495" y="4751"/>
                </a:lnTo>
                <a:lnTo>
                  <a:pt x="1829" y="4741"/>
                </a:lnTo>
                <a:lnTo>
                  <a:pt x="1829" y="2378"/>
                </a:lnTo>
                <a:close/>
                <a:moveTo>
                  <a:pt x="3807" y="2623"/>
                </a:moveTo>
                <a:cubicBezTo>
                  <a:pt x="4148" y="2196"/>
                  <a:pt x="4940" y="2286"/>
                  <a:pt x="5220" y="2756"/>
                </a:cubicBezTo>
                <a:cubicBezTo>
                  <a:pt x="5446" y="3134"/>
                  <a:pt x="5370" y="4239"/>
                  <a:pt x="5359" y="4751"/>
                </a:cubicBezTo>
                <a:lnTo>
                  <a:pt x="4688" y="4739"/>
                </a:lnTo>
                <a:cubicBezTo>
                  <a:pt x="4691" y="4355"/>
                  <a:pt x="4688" y="3970"/>
                  <a:pt x="4688" y="3585"/>
                </a:cubicBezTo>
                <a:cubicBezTo>
                  <a:pt x="4688" y="3207"/>
                  <a:pt x="4670" y="2818"/>
                  <a:pt x="4216" y="2871"/>
                </a:cubicBezTo>
                <a:cubicBezTo>
                  <a:pt x="3845" y="2913"/>
                  <a:pt x="3786" y="3247"/>
                  <a:pt x="3788" y="3621"/>
                </a:cubicBezTo>
                <a:cubicBezTo>
                  <a:pt x="3790" y="3997"/>
                  <a:pt x="3788" y="4374"/>
                  <a:pt x="3788" y="4750"/>
                </a:cubicBezTo>
                <a:lnTo>
                  <a:pt x="3119" y="4746"/>
                </a:lnTo>
                <a:lnTo>
                  <a:pt x="3123" y="2377"/>
                </a:lnTo>
                <a:cubicBezTo>
                  <a:pt x="3927" y="2374"/>
                  <a:pt x="3741" y="2318"/>
                  <a:pt x="3807" y="2623"/>
                </a:cubicBezTo>
                <a:close/>
                <a:moveTo>
                  <a:pt x="2078" y="1430"/>
                </a:moveTo>
                <a:cubicBezTo>
                  <a:pt x="2577" y="1304"/>
                  <a:pt x="2732" y="2029"/>
                  <a:pt x="2300" y="2167"/>
                </a:cubicBezTo>
                <a:cubicBezTo>
                  <a:pt x="1779" y="2333"/>
                  <a:pt x="1529" y="1568"/>
                  <a:pt x="2078" y="1430"/>
                </a:cubicBezTo>
                <a:close/>
                <a:moveTo>
                  <a:pt x="3018" y="294"/>
                </a:moveTo>
                <a:cubicBezTo>
                  <a:pt x="1398" y="540"/>
                  <a:pt x="0" y="2030"/>
                  <a:pt x="288" y="3992"/>
                </a:cubicBezTo>
                <a:cubicBezTo>
                  <a:pt x="525" y="5610"/>
                  <a:pt x="2082" y="7017"/>
                  <a:pt x="4023" y="6708"/>
                </a:cubicBezTo>
                <a:cubicBezTo>
                  <a:pt x="5629" y="6453"/>
                  <a:pt x="7029" y="4935"/>
                  <a:pt x="6733" y="3005"/>
                </a:cubicBezTo>
                <a:cubicBezTo>
                  <a:pt x="6484" y="1382"/>
                  <a:pt x="4950" y="0"/>
                  <a:pt x="3018" y="294"/>
                </a:cubicBezTo>
                <a:close/>
              </a:path>
            </a:pathLst>
          </a:custGeom>
          <a:solidFill>
            <a:srgbClr val="0070C0"/>
          </a:solid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 name="Picture 35">
            <a:extLst>
              <a:ext uri="{FF2B5EF4-FFF2-40B4-BE49-F238E27FC236}">
                <a16:creationId xmlns:a16="http://schemas.microsoft.com/office/drawing/2014/main" id="{B982B858-E814-42A5-B633-8AC8151FA0C2}"/>
              </a:ext>
            </a:extLst>
          </p:cNvPr>
          <p:cNvPicPr>
            <a:picLocks noChangeAspect="1"/>
          </p:cNvPicPr>
          <p:nvPr/>
        </p:nvPicPr>
        <p:blipFill>
          <a:blip r:embed="rId5"/>
          <a:srcRect/>
          <a:stretch/>
        </p:blipFill>
        <p:spPr>
          <a:xfrm>
            <a:off x="572126" y="3596334"/>
            <a:ext cx="1353095" cy="346947"/>
          </a:xfrm>
          <a:prstGeom prst="rect">
            <a:avLst/>
          </a:prstGeom>
        </p:spPr>
      </p:pic>
      <p:pic>
        <p:nvPicPr>
          <p:cNvPr id="37" name="Picture 36" descr="Logo&#10;&#10;Description automatically generated">
            <a:extLst>
              <a:ext uri="{FF2B5EF4-FFF2-40B4-BE49-F238E27FC236}">
                <a16:creationId xmlns:a16="http://schemas.microsoft.com/office/drawing/2014/main" id="{F94D8FD5-CAB5-47A9-976D-DFB774A6BE63}"/>
              </a:ext>
            </a:extLst>
          </p:cNvPr>
          <p:cNvPicPr>
            <a:picLocks noChangeAspect="1"/>
          </p:cNvPicPr>
          <p:nvPr/>
        </p:nvPicPr>
        <p:blipFill>
          <a:blip r:embed="rId6"/>
          <a:stretch>
            <a:fillRect/>
          </a:stretch>
        </p:blipFill>
        <p:spPr>
          <a:xfrm>
            <a:off x="7530370" y="4481906"/>
            <a:ext cx="178200" cy="178200"/>
          </a:xfrm>
          <a:prstGeom prst="rect">
            <a:avLst/>
          </a:prstGeom>
        </p:spPr>
      </p:pic>
      <p:pic>
        <p:nvPicPr>
          <p:cNvPr id="38" name="Picture 37" descr="Icon&#10;&#10;Description automatically generated">
            <a:extLst>
              <a:ext uri="{FF2B5EF4-FFF2-40B4-BE49-F238E27FC236}">
                <a16:creationId xmlns:a16="http://schemas.microsoft.com/office/drawing/2014/main" id="{C546B0A2-978B-4322-9B77-B8BAE7EEE896}"/>
              </a:ext>
            </a:extLst>
          </p:cNvPr>
          <p:cNvPicPr>
            <a:picLocks noChangeAspect="1"/>
          </p:cNvPicPr>
          <p:nvPr/>
        </p:nvPicPr>
        <p:blipFill>
          <a:blip r:embed="rId7"/>
          <a:stretch>
            <a:fillRect/>
          </a:stretch>
        </p:blipFill>
        <p:spPr>
          <a:xfrm>
            <a:off x="7294973" y="4481906"/>
            <a:ext cx="178200" cy="178200"/>
          </a:xfrm>
          <a:prstGeom prst="rect">
            <a:avLst/>
          </a:prstGeom>
        </p:spPr>
      </p:pic>
    </p:spTree>
    <p:extLst>
      <p:ext uri="{BB962C8B-B14F-4D97-AF65-F5344CB8AC3E}">
        <p14:creationId xmlns:p14="http://schemas.microsoft.com/office/powerpoint/2010/main" val="31738013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80373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theme" Target="../theme/theme1.xml"/><Relationship Id="rId47" Type="http://schemas.openxmlformats.org/officeDocument/2006/relationships/image" Target="../media/image1_cellstrat.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40CAB4F-5315-40D1-8058-A8F38B46EFA8}"/>
              </a:ext>
            </a:extLst>
          </p:cNvPr>
          <p:cNvSpPr txBox="1">
            <a:spLocks/>
          </p:cNvSpPr>
          <p:nvPr/>
        </p:nvSpPr>
        <p:spPr>
          <a:xfrm>
            <a:off x="4403800" y="4892437"/>
            <a:ext cx="336401" cy="163991"/>
          </a:xfrm>
          <a:prstGeom prst="rect">
            <a:avLst/>
          </a:prstGeom>
        </p:spPr>
        <p:txBody>
          <a:bodyPr/>
          <a:lstStyle>
            <a:defPPr>
              <a:defRPr lang="en-US"/>
            </a:defPPr>
            <a:lvl1pPr algn="ct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fld id="{8CDB8CBA-EB11-894E-8631-17E36B7DB51E}" type="slidenum">
              <a:rPr lang="en-US" sz="600" smtClean="0"/>
              <a:pPr/>
              <a:t>‹#›</a:t>
            </a:fld>
            <a:endParaRPr lang="en-US" sz="600"/>
          </a:p>
        </p:txBody>
      </p:sp>
      <p:sp>
        <p:nvSpPr>
          <p:cNvPr id="5" name="Title 1">
            <a:extLst>
              <a:ext uri="{FF2B5EF4-FFF2-40B4-BE49-F238E27FC236}">
                <a16:creationId xmlns:a16="http://schemas.microsoft.com/office/drawing/2014/main" id="{F24B51A2-DD97-4295-83B2-4725824AC004}"/>
              </a:ext>
            </a:extLst>
          </p:cNvPr>
          <p:cNvSpPr txBox="1">
            <a:spLocks/>
          </p:cNvSpPr>
          <p:nvPr/>
        </p:nvSpPr>
        <p:spPr>
          <a:xfrm>
            <a:off x="489348" y="4892437"/>
            <a:ext cx="2400299" cy="163991"/>
          </a:xfrm>
          <a:prstGeom prst="rect">
            <a:avLst/>
          </a:prstGeom>
        </p:spPr>
        <p:txBody>
          <a:bodyPr/>
          <a:lstStyle>
            <a:defPPr>
              <a:defRPr lang="en-US"/>
            </a:defPPr>
            <a:lvl1pP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sz="600"/>
              <a:t>© 2026 CellStrat. All rights reserved | CCA Intensive</a:t>
            </a:r>
          </a:p>
        </p:txBody>
      </p:sp>
      <p:pic>
        <p:nvPicPr>
          <p:cNvPr id="6" name="Picture 5">
            <a:extLst>
              <a:ext uri="{FF2B5EF4-FFF2-40B4-BE49-F238E27FC236}">
                <a16:creationId xmlns:a16="http://schemas.microsoft.com/office/drawing/2014/main" id="{34A67515-0D27-4632-837D-002EE0CF30EF}"/>
              </a:ext>
            </a:extLst>
          </p:cNvPr>
          <p:cNvPicPr>
            <a:picLocks noChangeAspect="1"/>
          </p:cNvPicPr>
          <p:nvPr/>
        </p:nvPicPr>
        <p:blipFill rotWithShape="1">
          <a:blip r:embed="rId47">
            <a:extLst>
              <a:ext uri="{28A0092B-C50C-407E-A947-70E740481C1C}">
                <a14:useLocalDpi xmlns:a14="http://schemas.microsoft.com/office/drawing/2010/main" val="0"/>
              </a:ext>
            </a:extLst>
          </a:blip>
          <a:srcRect b="24104"/>
          <a:stretch/>
        </p:blipFill>
        <p:spPr>
          <a:xfrm>
            <a:off x="8087896" y="4917264"/>
            <a:ext cx="514608" cy="112234"/>
          </a:xfrm>
          <a:prstGeom prst="rect">
            <a:avLst/>
          </a:prstGeom>
        </p:spPr>
      </p:pic>
    </p:spTree>
    <p:extLst>
      <p:ext uri="{BB962C8B-B14F-4D97-AF65-F5344CB8AC3E}">
        <p14:creationId xmlns:p14="http://schemas.microsoft.com/office/powerpoint/2010/main" val="375830730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 id="2147483675" r:id="rId24"/>
    <p:sldLayoutId id="2147483676" r:id="rId25"/>
    <p:sldLayoutId id="2147483677" r:id="rId26"/>
    <p:sldLayoutId id="2147483678" r:id="rId27"/>
    <p:sldLayoutId id="2147483679" r:id="rId28"/>
    <p:sldLayoutId id="2147483680" r:id="rId29"/>
    <p:sldLayoutId id="2147483681" r:id="rId30"/>
    <p:sldLayoutId id="2147483682" r:id="rId31"/>
    <p:sldLayoutId id="2147483683" r:id="rId32"/>
    <p:sldLayoutId id="2147483684" r:id="rId33"/>
    <p:sldLayoutId id="2147483685" r:id="rId34"/>
    <p:sldLayoutId id="2147483686" r:id="rId35"/>
    <p:sldLayoutId id="2147483687" r:id="rId36"/>
    <p:sldLayoutId id="2147483688" r:id="rId37"/>
    <p:sldLayoutId id="2147483689" r:id="rId38"/>
    <p:sldLayoutId id="2147483690" r:id="rId39"/>
    <p:sldLayoutId id="2147483691" r:id="rId40"/>
    <p:sldLayoutId id="2147483692" r:id="rId41"/>
    <p:sldLayoutId id="2147483693" r:id="rId42"/>
    <p:sldLayoutId id="2147483694" r:id="rId43"/>
    <p:sldLayoutId id="2147483695" r:id="rId44"/>
    <p:sldLayoutId id="2147483696" r:id="rId45"/>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Open Sans" panose="020B0606030504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Open Sans" panose="020B0606030504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Open Sans" panose="020B0606030504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Open Sans" panose="020B0606030504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0">
          <p15:clr>
            <a:srgbClr val="F26B43"/>
          </p15:clr>
        </p15:guide>
        <p15:guide id="2" pos="448">
          <p15:clr>
            <a:srgbClr val="F26B43"/>
          </p15:clr>
        </p15:guide>
        <p15:guide id="29" orient="horz" pos="809">
          <p15:clr>
            <a:srgbClr val="F26B43"/>
          </p15:clr>
        </p15:guide>
        <p15:guide id="43" orient="horz" pos="3914">
          <p15:clr>
            <a:srgbClr val="F26B43"/>
          </p15:clr>
        </p15:guide>
        <p15:guide id="44" pos="721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FBE3F-BDDA-ADE0-6189-4517FD231D11}"/>
              </a:ext>
            </a:extLst>
          </p:cNvPr>
          <p:cNvSpPr>
            <a:spLocks noGrp="1"/>
          </p:cNvSpPr>
          <p:nvPr>
            <p:ph type="ctrTitle"/>
          </p:nvPr>
        </p:nvSpPr>
        <p:spPr>
          <a:xfrm>
            <a:off x="696009" y="2284246"/>
            <a:ext cx="6725419" cy="1661993"/>
          </a:xfrm>
        </p:spPr>
        <p:txBody>
          <a:bodyPr lIns="0" tIns="0" rIns="0" bIns="0"/>
          <a:lstStyle/>
          <a:p>
            <a:r>
              <a:rPr lang="en-US" sz="5400">
                <a:latin typeface="Arial"/>
                <a:ea typeface="Arial" pitchFamily="34" charset="-122"/>
                <a:cs typeface="Arial"/>
              </a:rPr>
              <a:t>Ship Your</a:t>
            </a:r>
            <a:br>
              <a:rPr lang="en-US" sz="5400" dirty="0">
                <a:latin typeface="Arial" pitchFamily="34" charset="0"/>
                <a:ea typeface="Arial" pitchFamily="34" charset="-122"/>
                <a:cs typeface="Arial" pitchFamily="34" charset="-120"/>
              </a:rPr>
            </a:br>
            <a:r>
              <a:rPr lang="en-US" sz="5400">
                <a:solidFill>
                  <a:schemeClr val="accent2"/>
                </a:solidFill>
                <a:latin typeface="Arial"/>
                <a:ea typeface="Arial" pitchFamily="34" charset="-122"/>
                <a:cs typeface="Arial"/>
              </a:rPr>
              <a:t>PoC</a:t>
            </a:r>
            <a:endParaRPr lang="en-US" sz="5400">
              <a:solidFill>
                <a:schemeClr val="accent2"/>
              </a:solidFill>
              <a:latin typeface="Arial"/>
              <a:cs typeface="Arial"/>
            </a:endParaRPr>
          </a:p>
        </p:txBody>
      </p:sp>
      <p:sp>
        <p:nvSpPr>
          <p:cNvPr id="3" name="Subtitle 2">
            <a:extLst>
              <a:ext uri="{FF2B5EF4-FFF2-40B4-BE49-F238E27FC236}">
                <a16:creationId xmlns:a16="http://schemas.microsoft.com/office/drawing/2014/main" id="{20314030-E065-08AE-A755-D187CB825F15}"/>
              </a:ext>
            </a:extLst>
          </p:cNvPr>
          <p:cNvSpPr>
            <a:spLocks noGrp="1"/>
          </p:cNvSpPr>
          <p:nvPr>
            <p:ph type="subTitle" idx="1"/>
          </p:nvPr>
        </p:nvSpPr>
        <p:spPr>
          <a:xfrm>
            <a:off x="696009" y="4087606"/>
            <a:ext cx="6583680" cy="184666"/>
          </a:xfrm>
        </p:spPr>
        <p:txBody>
          <a:bodyPr lIns="0" tIns="0" rIns="0" bIns="0"/>
          <a:lstStyle/>
          <a:p>
            <a:r>
              <a:rPr lang="en-US">
                <a:solidFill>
                  <a:schemeClr val="tx2"/>
                </a:solidFill>
                <a:latin typeface="Calibri" pitchFamily="34" charset="0"/>
                <a:ea typeface="Calibri" pitchFamily="34" charset="-122"/>
                <a:cs typeface="Calibri" pitchFamily="34" charset="-120"/>
              </a:rPr>
              <a:t>Claude Code Certified Architect (CCA)  |  Module 5  |  CellStrat Intensive  |  Final Module</a:t>
            </a:r>
            <a:endParaRPr lang="en-US">
              <a:solidFill>
                <a:schemeClr val="tx2"/>
              </a:solidFill>
            </a:endParaRPr>
          </a:p>
        </p:txBody>
      </p:sp>
      <p:sp>
        <p:nvSpPr>
          <p:cNvPr id="5" name="Shape 10">
            <a:extLst>
              <a:ext uri="{FF2B5EF4-FFF2-40B4-BE49-F238E27FC236}">
                <a16:creationId xmlns:a16="http://schemas.microsoft.com/office/drawing/2014/main" id="{D1A2A319-805A-A6E5-04EF-EFF027E090A2}"/>
              </a:ext>
            </a:extLst>
          </p:cNvPr>
          <p:cNvSpPr/>
          <p:nvPr/>
        </p:nvSpPr>
        <p:spPr>
          <a:xfrm>
            <a:off x="689302" y="1602841"/>
            <a:ext cx="2786912" cy="515420"/>
          </a:xfrm>
          <a:prstGeom prst="roundRect">
            <a:avLst>
              <a:gd name="adj" fmla="val 11905"/>
            </a:avLst>
          </a:prstGeom>
          <a:solidFill>
            <a:schemeClr val="accent1"/>
          </a:solidFill>
          <a:ln w="12700">
            <a:noFill/>
            <a:prstDash val="solid"/>
          </a:ln>
        </p:spPr>
        <p:txBody>
          <a:bodyPr/>
          <a:ls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Title 2">
            <a:extLst>
              <a:ext uri="{FF2B5EF4-FFF2-40B4-BE49-F238E27FC236}">
                <a16:creationId xmlns:a16="http://schemas.microsoft.com/office/drawing/2014/main" id="{C81D6E02-DB5A-C964-32B1-090C32F51BA4}"/>
              </a:ext>
            </a:extLst>
          </p:cNvPr>
          <p:cNvSpPr txBox="1">
            <a:spLocks/>
          </p:cNvSpPr>
          <p:nvPr/>
        </p:nvSpPr>
        <p:spPr>
          <a:xfrm>
            <a:off x="731089" y="1583552"/>
            <a:ext cx="2703339" cy="584775"/>
          </a:xfrm>
          <a:prstGeom prst="rect">
            <a:avLst/>
          </a:prstGeom>
        </p:spPr>
        <p:txBody>
          <a:bodyPr wrap="square" lIns="91440" tIns="45720" rIns="91440" bIns="45720" anchor="b">
            <a:spAutoFit/>
          </a:bodyPr>
          <a:lstStyle>
            <a:lvl1pPr marL="0" algn="l" defTabSz="685800" rtl="0" eaLnBrk="1" latinLnBrk="0" hangingPunct="1">
              <a:lnSpc>
                <a:spcPct val="100000"/>
              </a:lnSpc>
              <a:spcBef>
                <a:spcPct val="0"/>
              </a:spcBef>
              <a:buNone/>
              <a:defRPr sz="5100" b="1" i="0" kern="1200">
                <a:solidFill>
                  <a:schemeClr val="tx1"/>
                </a:solidFill>
                <a:latin typeface="+mn-lt"/>
                <a:ea typeface="Open Sans" panose="020B0606030504020204" pitchFamily="34" charset="0"/>
                <a:cs typeface="Open Sans" panose="020B0606030504020204" pitchFamily="34" charset="0"/>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a:lstStyle>
          <a:p>
            <a:pPr algn="ctr"/>
            <a:r>
              <a:rPr lang="en-IN" sz="3200">
                <a:solidFill>
                  <a:schemeClr val="bg1"/>
                </a:solidFill>
                <a:latin typeface="Open Sans"/>
                <a:ea typeface="Open Sans"/>
                <a:cs typeface="Open Sans"/>
              </a:rPr>
              <a:t>Module 5:</a:t>
            </a:r>
            <a:endParaRPr lang="en-US" sz="3200">
              <a:solidFill>
                <a:schemeClr val="bg1"/>
              </a:solidFill>
              <a:latin typeface="Open Sans"/>
              <a:ea typeface="Open Sans"/>
              <a:cs typeface="Open Sans"/>
            </a:endParaRPr>
          </a:p>
        </p:txBody>
      </p:sp>
    </p:spTree>
    <p:extLst>
      <p:ext uri="{BB962C8B-B14F-4D97-AF65-F5344CB8AC3E}">
        <p14:creationId xmlns:p14="http://schemas.microsoft.com/office/powerpoint/2010/main" val="238751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56DB97A-B73C-0104-3691-9EFD2E3EA529}"/>
              </a:ext>
            </a:extLst>
          </p:cNvPr>
          <p:cNvSpPr/>
          <p:nvPr/>
        </p:nvSpPr>
        <p:spPr>
          <a:xfrm>
            <a:off x="38475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Module 4 Recap</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BD95FE53-2489-38D2-5FDA-6B619ECF19C7}"/>
              </a:ext>
            </a:extLst>
          </p:cNvPr>
          <p:cNvSpPr/>
          <p:nvPr/>
        </p:nvSpPr>
        <p:spPr>
          <a:xfrm>
            <a:off x="384752" y="676656"/>
            <a:ext cx="8595360" cy="292608"/>
          </a:xfrm>
          <a:prstGeom prst="rect">
            <a:avLst/>
          </a:prstGeom>
          <a:noFill/>
          <a:ln/>
        </p:spPr>
        <p:txBody>
          <a:bodyPr wrap="square" lIns="0" tIns="0" rIns="0" bIns="0" rtlCol="0" anchor="t"/>
          <a:lstStyle/>
          <a:p>
            <a:pPr marL="0" indent="0">
              <a:buNone/>
            </a:pPr>
            <a:r>
              <a:rPr lang="en-US" sz="1200">
                <a:solidFill>
                  <a:schemeClr val="tx2"/>
                </a:solidFill>
                <a:latin typeface="Open Sans" pitchFamily="2" charset="0"/>
                <a:ea typeface="Open Sans" pitchFamily="2" charset="0"/>
                <a:cs typeface="Open Sans" pitchFamily="2" charset="0"/>
              </a:rPr>
              <a:t>What You Produced</a:t>
            </a:r>
          </a:p>
        </p:txBody>
      </p:sp>
      <p:sp>
        <p:nvSpPr>
          <p:cNvPr id="5" name="Shape 2">
            <a:extLst>
              <a:ext uri="{FF2B5EF4-FFF2-40B4-BE49-F238E27FC236}">
                <a16:creationId xmlns:a16="http://schemas.microsoft.com/office/drawing/2014/main" id="{96D382CE-8A14-94F3-ECEC-11B3DD24BEB5}"/>
              </a:ext>
            </a:extLst>
          </p:cNvPr>
          <p:cNvSpPr/>
          <p:nvPr/>
        </p:nvSpPr>
        <p:spPr>
          <a:xfrm>
            <a:off x="292608" y="1380744"/>
            <a:ext cx="2697480" cy="2743200"/>
          </a:xfrm>
          <a:prstGeom prst="roundRect">
            <a:avLst>
              <a:gd name="adj" fmla="val 2034"/>
            </a:avLst>
          </a:prstGeom>
          <a:solidFill>
            <a:srgbClr val="FFFFFF"/>
          </a:solidFill>
          <a:ln w="12700">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8" name="Text 5">
            <a:extLst>
              <a:ext uri="{FF2B5EF4-FFF2-40B4-BE49-F238E27FC236}">
                <a16:creationId xmlns:a16="http://schemas.microsoft.com/office/drawing/2014/main" id="{D78639C0-4120-74B0-569E-C122F10E3821}"/>
              </a:ext>
            </a:extLst>
          </p:cNvPr>
          <p:cNvSpPr/>
          <p:nvPr/>
        </p:nvSpPr>
        <p:spPr>
          <a:xfrm>
            <a:off x="438912" y="1627632"/>
            <a:ext cx="2404872" cy="621792"/>
          </a:xfrm>
          <a:prstGeom prst="rect">
            <a:avLst/>
          </a:prstGeom>
          <a:noFill/>
          <a:ln/>
        </p:spPr>
        <p:txBody>
          <a:bodyPr wrap="square" lIns="0" tIns="0" rIns="0" bIns="0" rtlCol="0" anchor="t"/>
          <a:lstStyle/>
          <a:p>
            <a:pPr marL="0" indent="0">
              <a:lnSpc>
                <a:spcPct val="108000"/>
              </a:lnSpc>
              <a:buNone/>
            </a:pPr>
            <a:r>
              <a:rPr lang="en-US" sz="1100" b="1">
                <a:solidFill>
                  <a:schemeClr val="accent3"/>
                </a:solidFill>
                <a:latin typeface="Open Sans" pitchFamily="2" charset="0"/>
                <a:ea typeface="Open Sans" pitchFamily="2" charset="0"/>
                <a:cs typeface="Open Sans" pitchFamily="2" charset="0"/>
              </a:rPr>
              <a:t>✓</a:t>
            </a:r>
            <a:r>
              <a:rPr lang="en-US" sz="1100" b="1">
                <a:solidFill>
                  <a:srgbClr val="E53E3E"/>
                </a:solidFill>
                <a:latin typeface="Open Sans" pitchFamily="2" charset="0"/>
                <a:ea typeface="Open Sans" pitchFamily="2" charset="0"/>
                <a:cs typeface="Open Sans" pitchFamily="2" charset="0"/>
              </a:rPr>
              <a:t>  </a:t>
            </a:r>
            <a:r>
              <a:rPr lang="en-US" sz="1100">
                <a:solidFill>
                  <a:schemeClr val="tx2"/>
                </a:solidFill>
                <a:latin typeface="Open Sans" pitchFamily="2" charset="0"/>
                <a:ea typeface="Open Sans" pitchFamily="2" charset="0"/>
                <a:cs typeface="Open Sans" pitchFamily="2" charset="0"/>
              </a:rPr>
              <a:t>5-step debugging loop applied to a broken project</a:t>
            </a:r>
          </a:p>
        </p:txBody>
      </p:sp>
      <p:sp>
        <p:nvSpPr>
          <p:cNvPr id="9" name="Text 6">
            <a:extLst>
              <a:ext uri="{FF2B5EF4-FFF2-40B4-BE49-F238E27FC236}">
                <a16:creationId xmlns:a16="http://schemas.microsoft.com/office/drawing/2014/main" id="{31878AA4-7EF3-A447-679E-5B8B9689BE53}"/>
              </a:ext>
            </a:extLst>
          </p:cNvPr>
          <p:cNvSpPr/>
          <p:nvPr/>
        </p:nvSpPr>
        <p:spPr>
          <a:xfrm>
            <a:off x="438912" y="2231136"/>
            <a:ext cx="2404872" cy="621792"/>
          </a:xfrm>
          <a:prstGeom prst="rect">
            <a:avLst/>
          </a:prstGeom>
          <a:noFill/>
          <a:ln/>
        </p:spPr>
        <p:txBody>
          <a:bodyPr wrap="square" lIns="0" tIns="0" rIns="0" bIns="0" rtlCol="0" anchor="t"/>
          <a:lstStyle/>
          <a:p>
            <a:pPr marL="0" indent="0">
              <a:lnSpc>
                <a:spcPct val="108000"/>
              </a:lnSpc>
              <a:buNone/>
            </a:pPr>
            <a:r>
              <a:rPr lang="en-US" sz="1100" b="1">
                <a:solidFill>
                  <a:schemeClr val="accent3"/>
                </a:solidFill>
                <a:latin typeface="Open Sans" pitchFamily="2" charset="0"/>
                <a:ea typeface="Open Sans" pitchFamily="2" charset="0"/>
                <a:cs typeface="Open Sans" pitchFamily="2" charset="0"/>
              </a:rPr>
              <a:t>✓</a:t>
            </a:r>
            <a:r>
              <a:rPr lang="en-US" sz="1100" b="1">
                <a:solidFill>
                  <a:srgbClr val="E53E3E"/>
                </a:solidFill>
                <a:latin typeface="Open Sans" pitchFamily="2" charset="0"/>
                <a:ea typeface="Open Sans" pitchFamily="2" charset="0"/>
                <a:cs typeface="Open Sans" pitchFamily="2" charset="0"/>
              </a:rPr>
              <a:t>  </a:t>
            </a:r>
            <a:r>
              <a:rPr lang="en-US" sz="1100">
                <a:solidFill>
                  <a:schemeClr val="tx2"/>
                </a:solidFill>
                <a:latin typeface="Open Sans" pitchFamily="2" charset="0"/>
                <a:ea typeface="Open Sans" pitchFamily="2" charset="0"/>
                <a:cs typeface="Open Sans" pitchFamily="2" charset="0"/>
              </a:rPr>
              <a:t>Root cause named before every fix</a:t>
            </a:r>
          </a:p>
        </p:txBody>
      </p:sp>
      <p:sp>
        <p:nvSpPr>
          <p:cNvPr id="10" name="Text 7">
            <a:extLst>
              <a:ext uri="{FF2B5EF4-FFF2-40B4-BE49-F238E27FC236}">
                <a16:creationId xmlns:a16="http://schemas.microsoft.com/office/drawing/2014/main" id="{889264D8-DFBC-039C-595D-185CCAFBBB57}"/>
              </a:ext>
            </a:extLst>
          </p:cNvPr>
          <p:cNvSpPr/>
          <p:nvPr/>
        </p:nvSpPr>
        <p:spPr>
          <a:xfrm>
            <a:off x="438912" y="2834640"/>
            <a:ext cx="2404872" cy="621792"/>
          </a:xfrm>
          <a:prstGeom prst="rect">
            <a:avLst/>
          </a:prstGeom>
          <a:noFill/>
          <a:ln/>
        </p:spPr>
        <p:txBody>
          <a:bodyPr wrap="square" lIns="0" tIns="0" rIns="0" bIns="0" rtlCol="0" anchor="t"/>
          <a:lstStyle/>
          <a:p>
            <a:pPr marL="0" indent="0">
              <a:lnSpc>
                <a:spcPct val="108000"/>
              </a:lnSpc>
              <a:buNone/>
            </a:pPr>
            <a:r>
              <a:rPr lang="en-US" sz="1100" b="1">
                <a:solidFill>
                  <a:schemeClr val="accent3"/>
                </a:solidFill>
                <a:latin typeface="Open Sans" pitchFamily="2" charset="0"/>
                <a:ea typeface="Open Sans" pitchFamily="2" charset="0"/>
                <a:cs typeface="Open Sans" pitchFamily="2" charset="0"/>
              </a:rPr>
              <a:t>✓</a:t>
            </a:r>
            <a:r>
              <a:rPr lang="en-US" sz="1100" b="1">
                <a:solidFill>
                  <a:srgbClr val="E53E3E"/>
                </a:solidFill>
                <a:latin typeface="Open Sans" pitchFamily="2" charset="0"/>
                <a:ea typeface="Open Sans" pitchFamily="2" charset="0"/>
                <a:cs typeface="Open Sans" pitchFamily="2" charset="0"/>
              </a:rPr>
              <a:t>  </a:t>
            </a:r>
            <a:r>
              <a:rPr lang="en-US" sz="1100">
                <a:solidFill>
                  <a:schemeClr val="tx2"/>
                </a:solidFill>
                <a:latin typeface="Open Sans" pitchFamily="2" charset="0"/>
                <a:ea typeface="Open Sans" pitchFamily="2" charset="0"/>
                <a:cs typeface="Open Sans" pitchFamily="2" charset="0"/>
              </a:rPr>
              <a:t>Regression test written and passing</a:t>
            </a:r>
          </a:p>
        </p:txBody>
      </p:sp>
      <p:sp>
        <p:nvSpPr>
          <p:cNvPr id="11" name="Text 8">
            <a:extLst>
              <a:ext uri="{FF2B5EF4-FFF2-40B4-BE49-F238E27FC236}">
                <a16:creationId xmlns:a16="http://schemas.microsoft.com/office/drawing/2014/main" id="{BA5FC4F6-43C7-2869-896B-2FA291123A02}"/>
              </a:ext>
            </a:extLst>
          </p:cNvPr>
          <p:cNvSpPr/>
          <p:nvPr/>
        </p:nvSpPr>
        <p:spPr>
          <a:xfrm>
            <a:off x="438912" y="3438144"/>
            <a:ext cx="2404872" cy="621792"/>
          </a:xfrm>
          <a:prstGeom prst="rect">
            <a:avLst/>
          </a:prstGeom>
          <a:noFill/>
          <a:ln/>
        </p:spPr>
        <p:txBody>
          <a:bodyPr wrap="square" lIns="0" tIns="0" rIns="0" bIns="0" rtlCol="0" anchor="t"/>
          <a:lstStyle/>
          <a:p>
            <a:pPr marL="0" indent="0">
              <a:lnSpc>
                <a:spcPct val="108000"/>
              </a:lnSpc>
              <a:buNone/>
            </a:pPr>
            <a:r>
              <a:rPr lang="en-US" sz="1100" b="1">
                <a:solidFill>
                  <a:schemeClr val="accent3"/>
                </a:solidFill>
                <a:latin typeface="Open Sans" pitchFamily="2" charset="0"/>
                <a:ea typeface="Open Sans" pitchFamily="2" charset="0"/>
                <a:cs typeface="Open Sans" pitchFamily="2" charset="0"/>
              </a:rPr>
              <a:t>✓</a:t>
            </a:r>
            <a:r>
              <a:rPr lang="en-US" sz="1100" b="1">
                <a:solidFill>
                  <a:srgbClr val="E53E3E"/>
                </a:solidFill>
                <a:latin typeface="Open Sans" pitchFamily="2" charset="0"/>
                <a:ea typeface="Open Sans" pitchFamily="2" charset="0"/>
                <a:cs typeface="Open Sans" pitchFamily="2" charset="0"/>
              </a:rPr>
              <a:t>  </a:t>
            </a:r>
            <a:r>
              <a:rPr lang="en-US" sz="1100">
                <a:solidFill>
                  <a:schemeClr val="tx2"/>
                </a:solidFill>
                <a:latin typeface="Open Sans" pitchFamily="2" charset="0"/>
                <a:ea typeface="Open Sans" pitchFamily="2" charset="0"/>
                <a:cs typeface="Open Sans" pitchFamily="2" charset="0"/>
              </a:rPr>
              <a:t>Habit established: read the diff before accepting</a:t>
            </a:r>
          </a:p>
        </p:txBody>
      </p:sp>
      <p:sp>
        <p:nvSpPr>
          <p:cNvPr id="12" name="Shape 9">
            <a:extLst>
              <a:ext uri="{FF2B5EF4-FFF2-40B4-BE49-F238E27FC236}">
                <a16:creationId xmlns:a16="http://schemas.microsoft.com/office/drawing/2014/main" id="{0862AF6B-7098-AC21-5EE2-275CB43C8B57}"/>
              </a:ext>
            </a:extLst>
          </p:cNvPr>
          <p:cNvSpPr/>
          <p:nvPr/>
        </p:nvSpPr>
        <p:spPr>
          <a:xfrm>
            <a:off x="3246120" y="1380744"/>
            <a:ext cx="2697480" cy="2743200"/>
          </a:xfrm>
          <a:prstGeom prst="roundRect">
            <a:avLst>
              <a:gd name="adj" fmla="val 2034"/>
            </a:avLst>
          </a:prstGeom>
          <a:solidFill>
            <a:srgbClr val="FFFFFF"/>
          </a:solidFill>
          <a:ln w="12700">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3D16DD5D-D631-4E9F-FB03-86BF3D0A4F02}"/>
              </a:ext>
            </a:extLst>
          </p:cNvPr>
          <p:cNvSpPr/>
          <p:nvPr/>
        </p:nvSpPr>
        <p:spPr>
          <a:xfrm>
            <a:off x="3392424" y="1627632"/>
            <a:ext cx="2404872" cy="621792"/>
          </a:xfrm>
          <a:prstGeom prst="rect">
            <a:avLst/>
          </a:prstGeom>
          <a:noFill/>
          <a:ln/>
        </p:spPr>
        <p:txBody>
          <a:bodyPr wrap="square" lIns="0" tIns="0" rIns="0" bIns="0" rtlCol="0" anchor="t"/>
          <a:lstStyle/>
          <a:p>
            <a:pPr marL="0" indent="0">
              <a:lnSpc>
                <a:spcPct val="108000"/>
              </a:lnSpc>
              <a:buNone/>
            </a:pPr>
            <a:r>
              <a:rPr lang="en-US" sz="1100" b="1">
                <a:solidFill>
                  <a:schemeClr val="accent2"/>
                </a:solidFill>
                <a:latin typeface="Open Sans" pitchFamily="2" charset="0"/>
                <a:ea typeface="Open Sans" pitchFamily="2" charset="0"/>
                <a:cs typeface="Open Sans" pitchFamily="2" charset="0"/>
              </a:rPr>
              <a:t>✓</a:t>
            </a:r>
            <a:r>
              <a:rPr lang="en-US" sz="1100" b="1">
                <a:solidFill>
                  <a:srgbClr val="3182CE"/>
                </a:solidFill>
                <a:latin typeface="Open Sans" pitchFamily="2" charset="0"/>
                <a:ea typeface="Open Sans" pitchFamily="2" charset="0"/>
                <a:cs typeface="Open Sans" pitchFamily="2" charset="0"/>
              </a:rPr>
              <a:t>  </a:t>
            </a:r>
            <a:r>
              <a:rPr lang="en-US" sz="1100">
                <a:solidFill>
                  <a:schemeClr val="tx2"/>
                </a:solidFill>
                <a:latin typeface="Open Sans" pitchFamily="2" charset="0"/>
                <a:ea typeface="Open Sans" pitchFamily="2" charset="0"/>
                <a:cs typeface="Open Sans" pitchFamily="2" charset="0"/>
              </a:rPr>
              <a:t>Structured review run on your own PoC</a:t>
            </a:r>
          </a:p>
        </p:txBody>
      </p:sp>
      <p:sp>
        <p:nvSpPr>
          <p:cNvPr id="16" name="Text 13">
            <a:extLst>
              <a:ext uri="{FF2B5EF4-FFF2-40B4-BE49-F238E27FC236}">
                <a16:creationId xmlns:a16="http://schemas.microsoft.com/office/drawing/2014/main" id="{A1DAF3F3-064C-6869-9933-4C20B0950928}"/>
              </a:ext>
            </a:extLst>
          </p:cNvPr>
          <p:cNvSpPr/>
          <p:nvPr/>
        </p:nvSpPr>
        <p:spPr>
          <a:xfrm>
            <a:off x="3392424" y="2231136"/>
            <a:ext cx="2404872" cy="621792"/>
          </a:xfrm>
          <a:prstGeom prst="rect">
            <a:avLst/>
          </a:prstGeom>
          <a:noFill/>
          <a:ln/>
        </p:spPr>
        <p:txBody>
          <a:bodyPr wrap="square" lIns="0" tIns="0" rIns="0" bIns="0" rtlCol="0" anchor="t"/>
          <a:lstStyle/>
          <a:p>
            <a:pPr marL="0" indent="0">
              <a:lnSpc>
                <a:spcPct val="108000"/>
              </a:lnSpc>
              <a:buNone/>
            </a:pPr>
            <a:r>
              <a:rPr lang="en-US" sz="1100" b="1">
                <a:solidFill>
                  <a:schemeClr val="accent2"/>
                </a:solidFill>
                <a:latin typeface="Open Sans" pitchFamily="2" charset="0"/>
                <a:ea typeface="Open Sans" pitchFamily="2" charset="0"/>
                <a:cs typeface="Open Sans" pitchFamily="2" charset="0"/>
              </a:rPr>
              <a:t>✓</a:t>
            </a:r>
            <a:r>
              <a:rPr lang="en-US" sz="1100" b="1">
                <a:solidFill>
                  <a:srgbClr val="3182CE"/>
                </a:solidFill>
                <a:latin typeface="Open Sans" pitchFamily="2" charset="0"/>
                <a:ea typeface="Open Sans" pitchFamily="2" charset="0"/>
                <a:cs typeface="Open Sans" pitchFamily="2" charset="0"/>
              </a:rPr>
              <a:t>  </a:t>
            </a:r>
            <a:r>
              <a:rPr lang="en-US" sz="1100">
                <a:solidFill>
                  <a:schemeClr val="tx2"/>
                </a:solidFill>
                <a:latin typeface="Open Sans" pitchFamily="2" charset="0"/>
                <a:ea typeface="Open Sans" pitchFamily="2" charset="0"/>
                <a:cs typeface="Open Sans" pitchFamily="2" charset="0"/>
              </a:rPr>
              <a:t>Issues classified: Critical, High, Medium, Low</a:t>
            </a:r>
          </a:p>
        </p:txBody>
      </p:sp>
      <p:sp>
        <p:nvSpPr>
          <p:cNvPr id="17" name="Text 14">
            <a:extLst>
              <a:ext uri="{FF2B5EF4-FFF2-40B4-BE49-F238E27FC236}">
                <a16:creationId xmlns:a16="http://schemas.microsoft.com/office/drawing/2014/main" id="{8DB5B3EE-5EFE-663E-424A-BB391D01B68E}"/>
              </a:ext>
            </a:extLst>
          </p:cNvPr>
          <p:cNvSpPr/>
          <p:nvPr/>
        </p:nvSpPr>
        <p:spPr>
          <a:xfrm>
            <a:off x="3392424" y="2834640"/>
            <a:ext cx="2404872" cy="621792"/>
          </a:xfrm>
          <a:prstGeom prst="rect">
            <a:avLst/>
          </a:prstGeom>
          <a:noFill/>
          <a:ln/>
        </p:spPr>
        <p:txBody>
          <a:bodyPr wrap="square" lIns="0" tIns="0" rIns="0" bIns="0" rtlCol="0" anchor="t"/>
          <a:lstStyle/>
          <a:p>
            <a:pPr marL="0" indent="0">
              <a:lnSpc>
                <a:spcPct val="108000"/>
              </a:lnSpc>
              <a:buNone/>
            </a:pPr>
            <a:r>
              <a:rPr lang="en-US" sz="1100" b="1">
                <a:solidFill>
                  <a:schemeClr val="accent2"/>
                </a:solidFill>
                <a:latin typeface="Open Sans" pitchFamily="2" charset="0"/>
                <a:ea typeface="Open Sans" pitchFamily="2" charset="0"/>
                <a:cs typeface="Open Sans" pitchFamily="2" charset="0"/>
              </a:rPr>
              <a:t>✓</a:t>
            </a:r>
            <a:r>
              <a:rPr lang="en-US" sz="1100" b="1">
                <a:solidFill>
                  <a:srgbClr val="3182CE"/>
                </a:solidFill>
                <a:latin typeface="Open Sans" pitchFamily="2" charset="0"/>
                <a:ea typeface="Open Sans" pitchFamily="2" charset="0"/>
                <a:cs typeface="Open Sans" pitchFamily="2" charset="0"/>
              </a:rPr>
              <a:t>  </a:t>
            </a:r>
            <a:r>
              <a:rPr lang="en-US" sz="1100">
                <a:solidFill>
                  <a:schemeClr val="tx2"/>
                </a:solidFill>
                <a:latin typeface="Open Sans" pitchFamily="2" charset="0"/>
                <a:ea typeface="Open Sans" pitchFamily="2" charset="0"/>
                <a:cs typeface="Open Sans" pitchFamily="2" charset="0"/>
              </a:rPr>
              <a:t>Critical and High issues fixed and re-verified</a:t>
            </a:r>
          </a:p>
        </p:txBody>
      </p:sp>
      <p:sp>
        <p:nvSpPr>
          <p:cNvPr id="18" name="Text 15">
            <a:extLst>
              <a:ext uri="{FF2B5EF4-FFF2-40B4-BE49-F238E27FC236}">
                <a16:creationId xmlns:a16="http://schemas.microsoft.com/office/drawing/2014/main" id="{96BD3831-AB60-CBEA-2217-CFCD1278093D}"/>
              </a:ext>
            </a:extLst>
          </p:cNvPr>
          <p:cNvSpPr/>
          <p:nvPr/>
        </p:nvSpPr>
        <p:spPr>
          <a:xfrm>
            <a:off x="3392424" y="3438144"/>
            <a:ext cx="2404872" cy="621792"/>
          </a:xfrm>
          <a:prstGeom prst="rect">
            <a:avLst/>
          </a:prstGeom>
          <a:noFill/>
          <a:ln/>
        </p:spPr>
        <p:txBody>
          <a:bodyPr wrap="square" lIns="0" tIns="0" rIns="0" bIns="0" rtlCol="0" anchor="t"/>
          <a:lstStyle/>
          <a:p>
            <a:pPr marL="0" indent="0">
              <a:lnSpc>
                <a:spcPct val="108000"/>
              </a:lnSpc>
              <a:buNone/>
            </a:pPr>
            <a:r>
              <a:rPr lang="en-US" sz="1100" b="1">
                <a:solidFill>
                  <a:schemeClr val="accent2"/>
                </a:solidFill>
                <a:latin typeface="Open Sans" pitchFamily="2" charset="0"/>
                <a:ea typeface="Open Sans" pitchFamily="2" charset="0"/>
                <a:cs typeface="Open Sans" pitchFamily="2" charset="0"/>
              </a:rPr>
              <a:t>✓</a:t>
            </a:r>
            <a:r>
              <a:rPr lang="en-US" sz="1100" b="1">
                <a:solidFill>
                  <a:srgbClr val="3182CE"/>
                </a:solidFill>
                <a:latin typeface="Open Sans" pitchFamily="2" charset="0"/>
                <a:ea typeface="Open Sans" pitchFamily="2" charset="0"/>
                <a:cs typeface="Open Sans" pitchFamily="2" charset="0"/>
              </a:rPr>
              <a:t>  </a:t>
            </a:r>
            <a:r>
              <a:rPr lang="en-US" sz="1100">
                <a:solidFill>
                  <a:schemeClr val="tx2"/>
                </a:solidFill>
                <a:latin typeface="Open Sans" pitchFamily="2" charset="0"/>
                <a:ea typeface="Open Sans" pitchFamily="2" charset="0"/>
                <a:cs typeface="Open Sans" pitchFamily="2" charset="0"/>
              </a:rPr>
              <a:t>Medium issues noted in README</a:t>
            </a:r>
          </a:p>
        </p:txBody>
      </p:sp>
      <p:sp>
        <p:nvSpPr>
          <p:cNvPr id="19" name="Shape 16">
            <a:extLst>
              <a:ext uri="{FF2B5EF4-FFF2-40B4-BE49-F238E27FC236}">
                <a16:creationId xmlns:a16="http://schemas.microsoft.com/office/drawing/2014/main" id="{B4128124-DDB4-BD3D-7462-440E3DBD7A5A}"/>
              </a:ext>
            </a:extLst>
          </p:cNvPr>
          <p:cNvSpPr/>
          <p:nvPr/>
        </p:nvSpPr>
        <p:spPr>
          <a:xfrm>
            <a:off x="6199632" y="1380744"/>
            <a:ext cx="2697480" cy="2743200"/>
          </a:xfrm>
          <a:prstGeom prst="roundRect">
            <a:avLst>
              <a:gd name="adj" fmla="val 2034"/>
            </a:avLst>
          </a:prstGeom>
          <a:solidFill>
            <a:srgbClr val="FFFFFF"/>
          </a:solidFill>
          <a:ln w="12700">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2" name="Text 19">
            <a:extLst>
              <a:ext uri="{FF2B5EF4-FFF2-40B4-BE49-F238E27FC236}">
                <a16:creationId xmlns:a16="http://schemas.microsoft.com/office/drawing/2014/main" id="{76136811-EBDA-9C33-BB72-CB85417F8523}"/>
              </a:ext>
            </a:extLst>
          </p:cNvPr>
          <p:cNvSpPr/>
          <p:nvPr/>
        </p:nvSpPr>
        <p:spPr>
          <a:xfrm>
            <a:off x="6345936" y="1627632"/>
            <a:ext cx="2404872" cy="621792"/>
          </a:xfrm>
          <a:prstGeom prst="rect">
            <a:avLst/>
          </a:prstGeom>
          <a:noFill/>
          <a:ln/>
        </p:spPr>
        <p:txBody>
          <a:bodyPr wrap="square" lIns="0" tIns="0" rIns="0" bIns="0" rtlCol="0" anchor="t"/>
          <a:lstStyle/>
          <a:p>
            <a:pPr marL="0" indent="0">
              <a:lnSpc>
                <a:spcPct val="108000"/>
              </a:lnSpc>
              <a:buNone/>
            </a:pPr>
            <a:r>
              <a:rPr lang="en-US" sz="1100" b="1">
                <a:solidFill>
                  <a:srgbClr val="00B050"/>
                </a:solidFill>
                <a:latin typeface="Open Sans" pitchFamily="2" charset="0"/>
                <a:ea typeface="Open Sans" pitchFamily="2" charset="0"/>
                <a:cs typeface="Open Sans" pitchFamily="2" charset="0"/>
              </a:rPr>
              <a:t>✓</a:t>
            </a:r>
            <a:r>
              <a:rPr lang="en-US" sz="1100" b="1">
                <a:solidFill>
                  <a:srgbClr val="2E7D32"/>
                </a:solidFill>
                <a:latin typeface="Open Sans" pitchFamily="2" charset="0"/>
                <a:ea typeface="Open Sans" pitchFamily="2" charset="0"/>
                <a:cs typeface="Open Sans" pitchFamily="2" charset="0"/>
              </a:rPr>
              <a:t>  </a:t>
            </a:r>
            <a:r>
              <a:rPr lang="en-US" sz="1100">
                <a:solidFill>
                  <a:schemeClr val="tx2"/>
                </a:solidFill>
                <a:latin typeface="Open Sans" pitchFamily="2" charset="0"/>
                <a:ea typeface="Open Sans" pitchFamily="2" charset="0"/>
                <a:cs typeface="Open Sans" pitchFamily="2" charset="0"/>
              </a:rPr>
              <a:t>Reviewed branch created with a descriptive commit message</a:t>
            </a:r>
          </a:p>
        </p:txBody>
      </p:sp>
      <p:sp>
        <p:nvSpPr>
          <p:cNvPr id="23" name="Text 20">
            <a:extLst>
              <a:ext uri="{FF2B5EF4-FFF2-40B4-BE49-F238E27FC236}">
                <a16:creationId xmlns:a16="http://schemas.microsoft.com/office/drawing/2014/main" id="{E9D55C55-89F7-AE77-5E56-8C867075785F}"/>
              </a:ext>
            </a:extLst>
          </p:cNvPr>
          <p:cNvSpPr/>
          <p:nvPr/>
        </p:nvSpPr>
        <p:spPr>
          <a:xfrm>
            <a:off x="6345936" y="2231136"/>
            <a:ext cx="2404872" cy="621792"/>
          </a:xfrm>
          <a:prstGeom prst="rect">
            <a:avLst/>
          </a:prstGeom>
          <a:noFill/>
          <a:ln/>
        </p:spPr>
        <p:txBody>
          <a:bodyPr wrap="square" lIns="0" tIns="0" rIns="0" bIns="0" rtlCol="0" anchor="t"/>
          <a:lstStyle/>
          <a:p>
            <a:pPr marL="0" indent="0">
              <a:lnSpc>
                <a:spcPct val="108000"/>
              </a:lnSpc>
              <a:buNone/>
            </a:pPr>
            <a:r>
              <a:rPr lang="en-US" sz="1100" b="1">
                <a:solidFill>
                  <a:srgbClr val="00B050"/>
                </a:solidFill>
                <a:latin typeface="Open Sans" pitchFamily="2" charset="0"/>
                <a:ea typeface="Open Sans" pitchFamily="2" charset="0"/>
                <a:cs typeface="Open Sans" pitchFamily="2" charset="0"/>
              </a:rPr>
              <a:t>✓</a:t>
            </a:r>
            <a:r>
              <a:rPr lang="en-US" sz="1100" b="1">
                <a:solidFill>
                  <a:srgbClr val="2E7D32"/>
                </a:solidFill>
                <a:latin typeface="Open Sans" pitchFamily="2" charset="0"/>
                <a:ea typeface="Open Sans" pitchFamily="2" charset="0"/>
                <a:cs typeface="Open Sans" pitchFamily="2" charset="0"/>
              </a:rPr>
              <a:t>  </a:t>
            </a:r>
            <a:r>
              <a:rPr lang="en-US" sz="1100">
                <a:solidFill>
                  <a:schemeClr val="tx2"/>
                </a:solidFill>
                <a:latin typeface="Open Sans" pitchFamily="2" charset="0"/>
                <a:ea typeface="Open Sans" pitchFamily="2" charset="0"/>
                <a:cs typeface="Open Sans" pitchFamily="2" charset="0"/>
              </a:rPr>
              <a:t>HANDOFF.md generated, edited, and committed to Git</a:t>
            </a:r>
          </a:p>
        </p:txBody>
      </p:sp>
      <p:sp>
        <p:nvSpPr>
          <p:cNvPr id="24" name="Shape 21">
            <a:extLst>
              <a:ext uri="{FF2B5EF4-FFF2-40B4-BE49-F238E27FC236}">
                <a16:creationId xmlns:a16="http://schemas.microsoft.com/office/drawing/2014/main" id="{0DC9C59B-5F2C-75A9-C5A3-149BADD653A6}"/>
              </a:ext>
            </a:extLst>
          </p:cNvPr>
          <p:cNvSpPr/>
          <p:nvPr/>
        </p:nvSpPr>
        <p:spPr>
          <a:xfrm>
            <a:off x="292608" y="4274820"/>
            <a:ext cx="8558784" cy="384048"/>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2">
            <a:extLst>
              <a:ext uri="{FF2B5EF4-FFF2-40B4-BE49-F238E27FC236}">
                <a16:creationId xmlns:a16="http://schemas.microsoft.com/office/drawing/2014/main" id="{5D1048DF-DE3E-F52A-7DA6-B265387AA63E}"/>
              </a:ext>
            </a:extLst>
          </p:cNvPr>
          <p:cNvSpPr/>
          <p:nvPr/>
        </p:nvSpPr>
        <p:spPr>
          <a:xfrm>
            <a:off x="493776" y="4274820"/>
            <a:ext cx="8156448" cy="384048"/>
          </a:xfrm>
          <a:prstGeom prst="rect">
            <a:avLst/>
          </a:prstGeom>
          <a:noFill/>
          <a:ln/>
        </p:spPr>
        <p:txBody>
          <a:bodyPr wrap="square" lIns="0" tIns="0" rIns="0" bIns="0" rtlCol="0" anchor="ctr"/>
          <a:lstStyle/>
          <a:p>
            <a:pPr marL="0" indent="0" algn="ctr">
              <a:buNone/>
            </a:pPr>
            <a:r>
              <a:rPr lang="en-US" sz="1200">
                <a:solidFill>
                  <a:schemeClr val="tx2"/>
                </a:solidFill>
                <a:latin typeface="Open Sans" pitchFamily="2" charset="0"/>
                <a:ea typeface="Open Sans" pitchFamily="2" charset="0"/>
                <a:cs typeface="Open Sans" pitchFamily="2" charset="0"/>
              </a:rPr>
              <a:t>You have a working, reviewed, documented PoC. Today you find out what it would actually take to ship it.</a:t>
            </a:r>
          </a:p>
        </p:txBody>
      </p:sp>
      <p:sp>
        <p:nvSpPr>
          <p:cNvPr id="26" name="Shape 3">
            <a:extLst>
              <a:ext uri="{FF2B5EF4-FFF2-40B4-BE49-F238E27FC236}">
                <a16:creationId xmlns:a16="http://schemas.microsoft.com/office/drawing/2014/main" id="{780CA6B1-73BC-E90B-80C6-0E7DFFCEAE2F}"/>
              </a:ext>
            </a:extLst>
          </p:cNvPr>
          <p:cNvSpPr/>
          <p:nvPr/>
        </p:nvSpPr>
        <p:spPr>
          <a:xfrm>
            <a:off x="278892" y="987552"/>
            <a:ext cx="2724912" cy="384048"/>
          </a:xfrm>
          <a:prstGeom prst="roundRect">
            <a:avLst>
              <a:gd name="adj" fmla="val 11905"/>
            </a:avLst>
          </a:prstGeom>
          <a:solidFill>
            <a:schemeClr val="accent3"/>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27" name="Shape 10">
            <a:extLst>
              <a:ext uri="{FF2B5EF4-FFF2-40B4-BE49-F238E27FC236}">
                <a16:creationId xmlns:a16="http://schemas.microsoft.com/office/drawing/2014/main" id="{4DE612CB-2076-24F2-D0FA-E693F8299C76}"/>
              </a:ext>
            </a:extLst>
          </p:cNvPr>
          <p:cNvSpPr/>
          <p:nvPr/>
        </p:nvSpPr>
        <p:spPr>
          <a:xfrm>
            <a:off x="3234730" y="987552"/>
            <a:ext cx="2724912" cy="384048"/>
          </a:xfrm>
          <a:prstGeom prst="roundRect">
            <a:avLst>
              <a:gd name="adj" fmla="val 11905"/>
            </a:avLst>
          </a:prstGeom>
          <a:solidFill>
            <a:schemeClr val="accent2"/>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28" name="Shape 17">
            <a:extLst>
              <a:ext uri="{FF2B5EF4-FFF2-40B4-BE49-F238E27FC236}">
                <a16:creationId xmlns:a16="http://schemas.microsoft.com/office/drawing/2014/main" id="{2D9986FA-292F-ACD2-DB1E-3FE7AB33013C}"/>
              </a:ext>
            </a:extLst>
          </p:cNvPr>
          <p:cNvSpPr/>
          <p:nvPr/>
        </p:nvSpPr>
        <p:spPr>
          <a:xfrm>
            <a:off x="6199952" y="987552"/>
            <a:ext cx="2724912" cy="384048"/>
          </a:xfrm>
          <a:prstGeom prst="roundRect">
            <a:avLst>
              <a:gd name="adj" fmla="val 11905"/>
            </a:avLst>
          </a:prstGeom>
          <a:solidFill>
            <a:srgbClr val="00B05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1C8312BE-D24F-3DEE-B079-64327CBC73C2}"/>
              </a:ext>
            </a:extLst>
          </p:cNvPr>
          <p:cNvSpPr/>
          <p:nvPr/>
        </p:nvSpPr>
        <p:spPr>
          <a:xfrm>
            <a:off x="438912" y="996696"/>
            <a:ext cx="2404872" cy="365760"/>
          </a:xfrm>
          <a:prstGeom prst="rect">
            <a:avLst/>
          </a:prstGeom>
          <a:noFill/>
          <a:ln/>
        </p:spPr>
        <p:txBody>
          <a:bodyPr wrap="square" lIns="0" tIns="0" rIns="0" bIns="0" rtlCol="0" anchor="ctr"/>
          <a:lstStyle/>
          <a:p>
            <a:pPr marL="0" indent="0" algn="ctr">
              <a:buNone/>
            </a:pPr>
            <a:r>
              <a:rPr lang="en-US" sz="1200" b="1">
                <a:solidFill>
                  <a:srgbClr val="FFFFFF"/>
                </a:solidFill>
                <a:latin typeface="Open Sans" pitchFamily="2" charset="0"/>
                <a:ea typeface="Open Sans" pitchFamily="2" charset="0"/>
                <a:cs typeface="Open Sans" pitchFamily="2" charset="0"/>
              </a:rPr>
              <a:t>DEBUGGED</a:t>
            </a:r>
            <a:endParaRPr lang="en-US" sz="1200">
              <a:latin typeface="Open Sans" pitchFamily="2" charset="0"/>
              <a:ea typeface="Open Sans" pitchFamily="2" charset="0"/>
              <a:cs typeface="Open Sans" pitchFamily="2" charset="0"/>
            </a:endParaRPr>
          </a:p>
        </p:txBody>
      </p:sp>
      <p:sp>
        <p:nvSpPr>
          <p:cNvPr id="14" name="Text 11">
            <a:extLst>
              <a:ext uri="{FF2B5EF4-FFF2-40B4-BE49-F238E27FC236}">
                <a16:creationId xmlns:a16="http://schemas.microsoft.com/office/drawing/2014/main" id="{4D6C083D-00C2-57AE-4A48-B8993882AB4D}"/>
              </a:ext>
            </a:extLst>
          </p:cNvPr>
          <p:cNvSpPr/>
          <p:nvPr/>
        </p:nvSpPr>
        <p:spPr>
          <a:xfrm>
            <a:off x="3392424" y="996696"/>
            <a:ext cx="2404872" cy="365760"/>
          </a:xfrm>
          <a:prstGeom prst="rect">
            <a:avLst/>
          </a:prstGeom>
          <a:noFill/>
          <a:ln/>
        </p:spPr>
        <p:txBody>
          <a:bodyPr wrap="square" lIns="0" tIns="0" rIns="0" bIns="0" rtlCol="0" anchor="ctr"/>
          <a:lstStyle/>
          <a:p>
            <a:pPr marL="0" indent="0" algn="ctr">
              <a:buNone/>
            </a:pPr>
            <a:r>
              <a:rPr lang="en-US" sz="1200" b="1">
                <a:solidFill>
                  <a:srgbClr val="FFFFFF"/>
                </a:solidFill>
                <a:latin typeface="Open Sans" pitchFamily="2" charset="0"/>
                <a:ea typeface="Open Sans" pitchFamily="2" charset="0"/>
                <a:cs typeface="Open Sans" pitchFamily="2" charset="0"/>
              </a:rPr>
              <a:t>REVIEWED</a:t>
            </a:r>
            <a:endParaRPr lang="en-US" sz="1200">
              <a:latin typeface="Open Sans" pitchFamily="2" charset="0"/>
              <a:ea typeface="Open Sans" pitchFamily="2" charset="0"/>
              <a:cs typeface="Open Sans" pitchFamily="2" charset="0"/>
            </a:endParaRPr>
          </a:p>
        </p:txBody>
      </p:sp>
      <p:sp>
        <p:nvSpPr>
          <p:cNvPr id="21" name="Text 18">
            <a:extLst>
              <a:ext uri="{FF2B5EF4-FFF2-40B4-BE49-F238E27FC236}">
                <a16:creationId xmlns:a16="http://schemas.microsoft.com/office/drawing/2014/main" id="{A095DF77-10DD-021E-B896-7C3DA927DD31}"/>
              </a:ext>
            </a:extLst>
          </p:cNvPr>
          <p:cNvSpPr/>
          <p:nvPr/>
        </p:nvSpPr>
        <p:spPr>
          <a:xfrm>
            <a:off x="6345936" y="996696"/>
            <a:ext cx="2404872" cy="365760"/>
          </a:xfrm>
          <a:prstGeom prst="rect">
            <a:avLst/>
          </a:prstGeom>
          <a:noFill/>
          <a:ln/>
        </p:spPr>
        <p:txBody>
          <a:bodyPr wrap="square" lIns="0" tIns="0" rIns="0" bIns="0" rtlCol="0" anchor="ctr"/>
          <a:lstStyle/>
          <a:p>
            <a:pPr marL="0" indent="0" algn="ctr">
              <a:buNone/>
            </a:pPr>
            <a:r>
              <a:rPr lang="en-US" sz="1200" b="1">
                <a:solidFill>
                  <a:srgbClr val="FFFFFF"/>
                </a:solidFill>
                <a:latin typeface="Open Sans" pitchFamily="2" charset="0"/>
                <a:ea typeface="Open Sans" pitchFamily="2" charset="0"/>
                <a:cs typeface="Open Sans" pitchFamily="2" charset="0"/>
              </a:rPr>
              <a:t>COMMITTED &amp; DOCUMENTED</a:t>
            </a:r>
            <a:endParaRPr lang="en-US" sz="120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375640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80D82ACF-E818-7E4E-625C-1EC0D1A43ECA}"/>
              </a:ext>
            </a:extLst>
          </p:cNvPr>
          <p:cNvSpPr/>
          <p:nvPr/>
        </p:nvSpPr>
        <p:spPr>
          <a:xfrm>
            <a:off x="377664"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After Four Modules</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C02E770B-9A46-B8DF-EA0D-CF15F63C2EF1}"/>
              </a:ext>
            </a:extLst>
          </p:cNvPr>
          <p:cNvSpPr/>
          <p:nvPr/>
        </p:nvSpPr>
        <p:spPr>
          <a:xfrm>
            <a:off x="377664" y="676656"/>
            <a:ext cx="8595360" cy="292608"/>
          </a:xfrm>
          <a:prstGeom prst="rect">
            <a:avLst/>
          </a:prstGeom>
          <a:noFill/>
          <a:ln/>
        </p:spPr>
        <p:txBody>
          <a:bodyPr wrap="square" lIns="0" tIns="0" rIns="0" bIns="0" rtlCol="0" anchor="t"/>
          <a:lstStyle/>
          <a:p>
            <a:pPr marL="0" indent="0">
              <a:buNone/>
            </a:pPr>
            <a:r>
              <a:rPr lang="en-US" sz="1400">
                <a:solidFill>
                  <a:srgbClr val="757575"/>
                </a:solidFill>
                <a:latin typeface="Open Sans" pitchFamily="2" charset="0"/>
                <a:ea typeface="Open Sans" pitchFamily="2" charset="0"/>
                <a:cs typeface="Open Sans" pitchFamily="2" charset="0"/>
              </a:rPr>
              <a:t>One question. Vote honestly.</a:t>
            </a:r>
            <a:endParaRPr lang="en-US" sz="1400">
              <a:latin typeface="Open Sans" pitchFamily="2" charset="0"/>
              <a:ea typeface="Open Sans" pitchFamily="2" charset="0"/>
              <a:cs typeface="Open Sans" pitchFamily="2" charset="0"/>
            </a:endParaRPr>
          </a:p>
        </p:txBody>
      </p:sp>
      <p:sp>
        <p:nvSpPr>
          <p:cNvPr id="5" name="Shape 2">
            <a:extLst>
              <a:ext uri="{FF2B5EF4-FFF2-40B4-BE49-F238E27FC236}">
                <a16:creationId xmlns:a16="http://schemas.microsoft.com/office/drawing/2014/main" id="{DBA6A203-C60E-716F-6753-290EF3BB2083}"/>
              </a:ext>
            </a:extLst>
          </p:cNvPr>
          <p:cNvSpPr/>
          <p:nvPr/>
        </p:nvSpPr>
        <p:spPr>
          <a:xfrm>
            <a:off x="8107070" y="201168"/>
            <a:ext cx="689458" cy="292608"/>
          </a:xfrm>
          <a:prstGeom prst="roundRect">
            <a:avLst>
              <a:gd name="adj" fmla="val 15625"/>
            </a:avLst>
          </a:prstGeom>
          <a:solidFill>
            <a:schemeClr val="accent2"/>
          </a:solidFill>
          <a:ln w="15875">
            <a:noFill/>
            <a:prstDash val="solid"/>
          </a:ln>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59D7D728-445B-8D2E-D535-C07CFA12A29D}"/>
              </a:ext>
            </a:extLst>
          </p:cNvPr>
          <p:cNvSpPr/>
          <p:nvPr/>
        </p:nvSpPr>
        <p:spPr>
          <a:xfrm>
            <a:off x="8107070" y="201168"/>
            <a:ext cx="689458" cy="292608"/>
          </a:xfrm>
          <a:prstGeom prst="rect">
            <a:avLst/>
          </a:prstGeom>
          <a:noFill/>
          <a:ln/>
        </p:spPr>
        <p:txBody>
          <a:bodyPr wrap="square" lIns="0" tIns="0" rIns="0" bIns="0" rtlCol="0" anchor="ctr"/>
          <a:lstStyle/>
          <a:p>
            <a:pPr marL="0" indent="0" algn="ctr">
              <a:buNone/>
            </a:pPr>
            <a:r>
              <a:rPr lang="en-US" sz="850" b="1" kern="0" spc="100">
                <a:solidFill>
                  <a:schemeClr val="bg1"/>
                </a:solidFill>
                <a:latin typeface="Open Sans" pitchFamily="2" charset="0"/>
                <a:ea typeface="Open Sans" pitchFamily="2" charset="0"/>
                <a:cs typeface="Open Sans" pitchFamily="2" charset="0"/>
              </a:rPr>
              <a:t>REFLECT</a:t>
            </a:r>
            <a:endParaRPr lang="en-US" sz="850">
              <a:solidFill>
                <a:schemeClr val="bg1"/>
              </a:solidFill>
              <a:latin typeface="Open Sans" pitchFamily="2" charset="0"/>
              <a:ea typeface="Open Sans" pitchFamily="2" charset="0"/>
              <a:cs typeface="Open Sans" pitchFamily="2" charset="0"/>
            </a:endParaRPr>
          </a:p>
        </p:txBody>
      </p:sp>
      <p:sp>
        <p:nvSpPr>
          <p:cNvPr id="7" name="Shape 4">
            <a:extLst>
              <a:ext uri="{FF2B5EF4-FFF2-40B4-BE49-F238E27FC236}">
                <a16:creationId xmlns:a16="http://schemas.microsoft.com/office/drawing/2014/main" id="{E371F38B-6F17-D5C4-6695-B6B5A38FE521}"/>
              </a:ext>
            </a:extLst>
          </p:cNvPr>
          <p:cNvSpPr/>
          <p:nvPr/>
        </p:nvSpPr>
        <p:spPr>
          <a:xfrm>
            <a:off x="432528" y="1004486"/>
            <a:ext cx="8237339" cy="914400"/>
          </a:xfrm>
          <a:prstGeom prst="roundRect">
            <a:avLst>
              <a:gd name="adj" fmla="val 6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8" name="Text 5">
            <a:extLst>
              <a:ext uri="{FF2B5EF4-FFF2-40B4-BE49-F238E27FC236}">
                <a16:creationId xmlns:a16="http://schemas.microsoft.com/office/drawing/2014/main" id="{AA7B5160-1506-9709-6550-7A526DB61C33}"/>
              </a:ext>
            </a:extLst>
          </p:cNvPr>
          <p:cNvSpPr/>
          <p:nvPr/>
        </p:nvSpPr>
        <p:spPr>
          <a:xfrm>
            <a:off x="642840" y="1059350"/>
            <a:ext cx="7730693" cy="804672"/>
          </a:xfrm>
          <a:prstGeom prst="rect">
            <a:avLst/>
          </a:prstGeom>
          <a:noFill/>
          <a:ln/>
        </p:spPr>
        <p:txBody>
          <a:bodyPr wrap="square" lIns="0" tIns="0" rIns="0" bIns="0" rtlCol="0" anchor="ctr"/>
          <a:lstStyle/>
          <a:p>
            <a:pPr marL="0" indent="0">
              <a:lnSpc>
                <a:spcPct val="112000"/>
              </a:lnSpc>
              <a:buNone/>
            </a:pPr>
            <a:r>
              <a:rPr lang="en-US" sz="1200" i="1">
                <a:solidFill>
                  <a:schemeClr val="tx2"/>
                </a:solidFill>
                <a:latin typeface="Open Sans" pitchFamily="2" charset="0"/>
                <a:ea typeface="Open Sans" pitchFamily="2" charset="0"/>
                <a:cs typeface="Open Sans" pitchFamily="2" charset="0"/>
              </a:rPr>
              <a:t>Your PoC is built, reviewed, and documented. An engineering team is about to pick it up. What are you most uncertain about?</a:t>
            </a:r>
            <a:endParaRPr lang="en-US" sz="1200">
              <a:solidFill>
                <a:schemeClr val="tx2"/>
              </a:solidFill>
              <a:latin typeface="Open Sans" pitchFamily="2" charset="0"/>
              <a:ea typeface="Open Sans" pitchFamily="2" charset="0"/>
              <a:cs typeface="Open Sans" pitchFamily="2" charset="0"/>
            </a:endParaRPr>
          </a:p>
        </p:txBody>
      </p:sp>
      <p:sp>
        <p:nvSpPr>
          <p:cNvPr id="9" name="Shape 6">
            <a:extLst>
              <a:ext uri="{FF2B5EF4-FFF2-40B4-BE49-F238E27FC236}">
                <a16:creationId xmlns:a16="http://schemas.microsoft.com/office/drawing/2014/main" id="{98FCD62D-7985-401B-9803-2C6705C6F04E}"/>
              </a:ext>
            </a:extLst>
          </p:cNvPr>
          <p:cNvSpPr/>
          <p:nvPr/>
        </p:nvSpPr>
        <p:spPr>
          <a:xfrm>
            <a:off x="432528" y="2083478"/>
            <a:ext cx="8237339" cy="512064"/>
          </a:xfrm>
          <a:prstGeom prst="roundRect">
            <a:avLst>
              <a:gd name="adj" fmla="val 8929"/>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7">
            <a:extLst>
              <a:ext uri="{FF2B5EF4-FFF2-40B4-BE49-F238E27FC236}">
                <a16:creationId xmlns:a16="http://schemas.microsoft.com/office/drawing/2014/main" id="{3E6853AD-B12D-661F-189B-AE48506FDE06}"/>
              </a:ext>
            </a:extLst>
          </p:cNvPr>
          <p:cNvSpPr/>
          <p:nvPr/>
        </p:nvSpPr>
        <p:spPr>
          <a:xfrm>
            <a:off x="642840" y="2083478"/>
            <a:ext cx="7832513"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A.  </a:t>
            </a:r>
            <a:r>
              <a:rPr lang="en-US" sz="1200">
                <a:solidFill>
                  <a:schemeClr val="tx2"/>
                </a:solidFill>
                <a:latin typeface="Open Sans" pitchFamily="2" charset="0"/>
                <a:ea typeface="Open Sans" pitchFamily="2" charset="0"/>
                <a:cs typeface="Open Sans" pitchFamily="2" charset="0"/>
              </a:rPr>
              <a:t>Whether the code actually works correctly</a:t>
            </a:r>
          </a:p>
        </p:txBody>
      </p:sp>
      <p:sp>
        <p:nvSpPr>
          <p:cNvPr id="11" name="Shape 8">
            <a:extLst>
              <a:ext uri="{FF2B5EF4-FFF2-40B4-BE49-F238E27FC236}">
                <a16:creationId xmlns:a16="http://schemas.microsoft.com/office/drawing/2014/main" id="{FEE6CCE1-3462-63AD-3BC5-5F08E596326F}"/>
              </a:ext>
            </a:extLst>
          </p:cNvPr>
          <p:cNvSpPr/>
          <p:nvPr/>
        </p:nvSpPr>
        <p:spPr>
          <a:xfrm>
            <a:off x="432528" y="2691554"/>
            <a:ext cx="8237339" cy="512064"/>
          </a:xfrm>
          <a:prstGeom prst="roundRect">
            <a:avLst>
              <a:gd name="adj" fmla="val 8929"/>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9">
            <a:extLst>
              <a:ext uri="{FF2B5EF4-FFF2-40B4-BE49-F238E27FC236}">
                <a16:creationId xmlns:a16="http://schemas.microsoft.com/office/drawing/2014/main" id="{85B1AB47-37C8-4ADF-2596-EE299E8B64DE}"/>
              </a:ext>
            </a:extLst>
          </p:cNvPr>
          <p:cNvSpPr/>
          <p:nvPr/>
        </p:nvSpPr>
        <p:spPr>
          <a:xfrm>
            <a:off x="642840" y="2691554"/>
            <a:ext cx="7832513"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B.  </a:t>
            </a:r>
            <a:r>
              <a:rPr lang="en-US" sz="1200">
                <a:solidFill>
                  <a:schemeClr val="tx2"/>
                </a:solidFill>
                <a:latin typeface="Open Sans" pitchFamily="2" charset="0"/>
                <a:ea typeface="Open Sans" pitchFamily="2" charset="0"/>
                <a:cs typeface="Open Sans" pitchFamily="2" charset="0"/>
              </a:rPr>
              <a:t>Whether engineering will understand what it does</a:t>
            </a:r>
          </a:p>
        </p:txBody>
      </p:sp>
      <p:sp>
        <p:nvSpPr>
          <p:cNvPr id="13" name="Shape 10">
            <a:extLst>
              <a:ext uri="{FF2B5EF4-FFF2-40B4-BE49-F238E27FC236}">
                <a16:creationId xmlns:a16="http://schemas.microsoft.com/office/drawing/2014/main" id="{51E0CF24-2467-22A1-FFC3-1A71EEC8448E}"/>
              </a:ext>
            </a:extLst>
          </p:cNvPr>
          <p:cNvSpPr/>
          <p:nvPr/>
        </p:nvSpPr>
        <p:spPr>
          <a:xfrm>
            <a:off x="432528" y="3299630"/>
            <a:ext cx="8237339" cy="512064"/>
          </a:xfrm>
          <a:prstGeom prst="roundRect">
            <a:avLst>
              <a:gd name="adj" fmla="val 8929"/>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1">
            <a:extLst>
              <a:ext uri="{FF2B5EF4-FFF2-40B4-BE49-F238E27FC236}">
                <a16:creationId xmlns:a16="http://schemas.microsoft.com/office/drawing/2014/main" id="{732701BB-6F24-53BD-B247-C796C1DDD20F}"/>
              </a:ext>
            </a:extLst>
          </p:cNvPr>
          <p:cNvSpPr/>
          <p:nvPr/>
        </p:nvSpPr>
        <p:spPr>
          <a:xfrm>
            <a:off x="642840" y="3299630"/>
            <a:ext cx="7832513" cy="512064"/>
          </a:xfrm>
          <a:prstGeom prst="rect">
            <a:avLst/>
          </a:prstGeom>
          <a:noFill/>
          <a:ln/>
        </p:spPr>
        <p:txBody>
          <a:bodyPr wrap="square" lIns="0" tIns="0" rIns="0" bIns="0" rtlCol="0" anchor="ctr"/>
          <a:lstStyle/>
          <a:p>
            <a:pPr marL="0" indent="0">
              <a:buNone/>
            </a:pPr>
            <a:r>
              <a:rPr lang="en-US" sz="1200" b="1">
                <a:solidFill>
                  <a:srgbClr val="2D2D2D"/>
                </a:solidFill>
                <a:latin typeface="Open Sans" pitchFamily="2" charset="0"/>
                <a:ea typeface="Open Sans" pitchFamily="2" charset="0"/>
                <a:cs typeface="Open Sans" pitchFamily="2" charset="0"/>
              </a:rPr>
              <a:t>C.  </a:t>
            </a:r>
            <a:r>
              <a:rPr lang="en-US" sz="1200">
                <a:solidFill>
                  <a:srgbClr val="424242"/>
                </a:solidFill>
                <a:latin typeface="Open Sans" pitchFamily="2" charset="0"/>
                <a:ea typeface="Open Sans" pitchFamily="2" charset="0"/>
                <a:cs typeface="Open Sans" pitchFamily="2" charset="0"/>
              </a:rPr>
              <a:t>How long it will actually take to make it production-ready</a:t>
            </a:r>
            <a:endParaRPr lang="en-US" sz="1200">
              <a:latin typeface="Open Sans" pitchFamily="2" charset="0"/>
              <a:ea typeface="Open Sans" pitchFamily="2" charset="0"/>
              <a:cs typeface="Open Sans" pitchFamily="2" charset="0"/>
            </a:endParaRPr>
          </a:p>
        </p:txBody>
      </p:sp>
      <p:sp>
        <p:nvSpPr>
          <p:cNvPr id="15" name="Shape 12">
            <a:extLst>
              <a:ext uri="{FF2B5EF4-FFF2-40B4-BE49-F238E27FC236}">
                <a16:creationId xmlns:a16="http://schemas.microsoft.com/office/drawing/2014/main" id="{BD72F1D6-0B9D-AB11-EE96-E74C967A101A}"/>
              </a:ext>
            </a:extLst>
          </p:cNvPr>
          <p:cNvSpPr/>
          <p:nvPr/>
        </p:nvSpPr>
        <p:spPr>
          <a:xfrm>
            <a:off x="440426" y="4044064"/>
            <a:ext cx="8237339" cy="512064"/>
          </a:xfrm>
          <a:prstGeom prst="roundRect">
            <a:avLst>
              <a:gd name="adj" fmla="val 8929"/>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3">
            <a:extLst>
              <a:ext uri="{FF2B5EF4-FFF2-40B4-BE49-F238E27FC236}">
                <a16:creationId xmlns:a16="http://schemas.microsoft.com/office/drawing/2014/main" id="{7745B03F-2186-D672-90B3-CCC658EB0874}"/>
              </a:ext>
            </a:extLst>
          </p:cNvPr>
          <p:cNvSpPr/>
          <p:nvPr/>
        </p:nvSpPr>
        <p:spPr>
          <a:xfrm>
            <a:off x="642840" y="4044064"/>
            <a:ext cx="7832513"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D.  </a:t>
            </a:r>
            <a:r>
              <a:rPr lang="en-US" sz="1200">
                <a:solidFill>
                  <a:schemeClr val="tx2"/>
                </a:solidFill>
                <a:latin typeface="Open Sans" pitchFamily="2" charset="0"/>
                <a:ea typeface="Open Sans" pitchFamily="2" charset="0"/>
                <a:cs typeface="Open Sans" pitchFamily="2" charset="0"/>
              </a:rPr>
              <a:t>Whether the problem it solves is worth productionising</a:t>
            </a:r>
          </a:p>
        </p:txBody>
      </p:sp>
    </p:spTree>
    <p:extLst>
      <p:ext uri="{BB962C8B-B14F-4D97-AF65-F5344CB8AC3E}">
        <p14:creationId xmlns:p14="http://schemas.microsoft.com/office/powerpoint/2010/main" val="2608455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4B9AAA6A-3C21-9343-4286-834ECC6DD63F}"/>
              </a:ext>
            </a:extLst>
          </p:cNvPr>
          <p:cNvSpPr/>
          <p:nvPr/>
        </p:nvSpPr>
        <p:spPr>
          <a:xfrm>
            <a:off x="385745"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Learning Outcomes</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41ACE75D-C55D-83BD-6061-014C390CEB8D}"/>
              </a:ext>
            </a:extLst>
          </p:cNvPr>
          <p:cNvSpPr/>
          <p:nvPr/>
        </p:nvSpPr>
        <p:spPr>
          <a:xfrm>
            <a:off x="385745" y="676656"/>
            <a:ext cx="8595360" cy="292608"/>
          </a:xfrm>
          <a:prstGeom prst="rect">
            <a:avLst/>
          </a:prstGeom>
          <a:noFill/>
          <a:ln/>
        </p:spPr>
        <p:txBody>
          <a:bodyPr wrap="square" lIns="0" tIns="0" rIns="0" bIns="0" rtlCol="0" anchor="t"/>
          <a:lstStyle/>
          <a:p>
            <a:pPr marL="0" indent="0">
              <a:buNone/>
            </a:pPr>
            <a:r>
              <a:rPr lang="en-US" sz="1400">
                <a:solidFill>
                  <a:srgbClr val="757575"/>
                </a:solidFill>
                <a:latin typeface="Open Sans" pitchFamily="2" charset="0"/>
                <a:ea typeface="Open Sans" pitchFamily="2" charset="0"/>
                <a:cs typeface="Open Sans" pitchFamily="2" charset="0"/>
              </a:rPr>
              <a:t>By the end of this module, you will be able to:</a:t>
            </a:r>
            <a:endParaRPr lang="en-US" sz="1400">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BD31AA77-9B3A-5A90-5FC0-2544472BA886}"/>
              </a:ext>
            </a:extLst>
          </p:cNvPr>
          <p:cNvSpPr/>
          <p:nvPr/>
        </p:nvSpPr>
        <p:spPr>
          <a:xfrm>
            <a:off x="1107547" y="1064153"/>
            <a:ext cx="7065906" cy="777240"/>
          </a:xfrm>
          <a:prstGeom prst="rect">
            <a:avLst/>
          </a:prstGeom>
          <a:noFill/>
          <a:ln/>
        </p:spPr>
        <p:txBody>
          <a:bodyPr wrap="square" lIns="0" tIns="0" rIns="0" bIns="0" rtlCol="0" anchor="ctr"/>
          <a:lstStyle/>
          <a:p>
            <a:pPr marL="0" indent="0">
              <a:lnSpc>
                <a:spcPct val="115000"/>
              </a:lnSpc>
              <a:buNone/>
            </a:pPr>
            <a:r>
              <a:rPr lang="en-US" sz="1200">
                <a:solidFill>
                  <a:schemeClr val="tx2"/>
                </a:solidFill>
                <a:latin typeface="Open Sans" pitchFamily="2" charset="0"/>
                <a:ea typeface="Open Sans" pitchFamily="2" charset="0"/>
                <a:cs typeface="Open Sans" pitchFamily="2" charset="0"/>
              </a:rPr>
              <a:t>Apply the production gap checklist and 10x rule to estimate the engineering effort required to take your PoC to production</a:t>
            </a:r>
          </a:p>
        </p:txBody>
      </p:sp>
      <p:sp>
        <p:nvSpPr>
          <p:cNvPr id="10" name="Text 7">
            <a:extLst>
              <a:ext uri="{FF2B5EF4-FFF2-40B4-BE49-F238E27FC236}">
                <a16:creationId xmlns:a16="http://schemas.microsoft.com/office/drawing/2014/main" id="{F1E538B7-7467-40D1-F8AF-4C8E72C40987}"/>
              </a:ext>
            </a:extLst>
          </p:cNvPr>
          <p:cNvSpPr/>
          <p:nvPr/>
        </p:nvSpPr>
        <p:spPr>
          <a:xfrm>
            <a:off x="1107547" y="2013106"/>
            <a:ext cx="7772400" cy="777240"/>
          </a:xfrm>
          <a:prstGeom prst="rect">
            <a:avLst/>
          </a:prstGeom>
          <a:noFill/>
          <a:ln/>
        </p:spPr>
        <p:txBody>
          <a:bodyPr wrap="square" lIns="0" tIns="0" rIns="0" bIns="0" rtlCol="0" anchor="ctr"/>
          <a:lstStyle/>
          <a:p>
            <a:pPr marL="0" indent="0">
              <a:lnSpc>
                <a:spcPct val="115000"/>
              </a:lnSpc>
              <a:buNone/>
            </a:pPr>
            <a:r>
              <a:rPr lang="en-US" sz="1200">
                <a:solidFill>
                  <a:schemeClr val="tx2"/>
                </a:solidFill>
                <a:latin typeface="Open Sans" pitchFamily="2" charset="0"/>
                <a:ea typeface="Open Sans" pitchFamily="2" charset="0"/>
                <a:cs typeface="Open Sans" pitchFamily="2" charset="0"/>
              </a:rPr>
              <a:t>Generate and critique a data model for your PoC domain using Claude Code to surface structural assumptions</a:t>
            </a:r>
          </a:p>
        </p:txBody>
      </p:sp>
      <p:sp>
        <p:nvSpPr>
          <p:cNvPr id="13" name="Text 10">
            <a:extLst>
              <a:ext uri="{FF2B5EF4-FFF2-40B4-BE49-F238E27FC236}">
                <a16:creationId xmlns:a16="http://schemas.microsoft.com/office/drawing/2014/main" id="{FE483E5A-9E40-1209-F280-8124B8A0967C}"/>
              </a:ext>
            </a:extLst>
          </p:cNvPr>
          <p:cNvSpPr/>
          <p:nvPr/>
        </p:nvSpPr>
        <p:spPr>
          <a:xfrm>
            <a:off x="1107547" y="2895502"/>
            <a:ext cx="7772400" cy="777240"/>
          </a:xfrm>
          <a:prstGeom prst="rect">
            <a:avLst/>
          </a:prstGeom>
          <a:noFill/>
          <a:ln/>
        </p:spPr>
        <p:txBody>
          <a:bodyPr wrap="square" lIns="0" tIns="0" rIns="0" bIns="0" rtlCol="0" anchor="ctr"/>
          <a:lstStyle/>
          <a:p>
            <a:pPr marL="0" indent="0">
              <a:lnSpc>
                <a:spcPct val="115000"/>
              </a:lnSpc>
              <a:buNone/>
            </a:pPr>
            <a:r>
              <a:rPr lang="en-US" sz="1200">
                <a:solidFill>
                  <a:schemeClr val="tx2"/>
                </a:solidFill>
                <a:latin typeface="Open Sans" pitchFamily="2" charset="0"/>
                <a:ea typeface="Open Sans" pitchFamily="2" charset="0"/>
                <a:cs typeface="Open Sans" pitchFamily="2" charset="0"/>
              </a:rPr>
              <a:t>Identify data privacy, security, and governance risks in your PoC and produce a brief risk assessment</a:t>
            </a:r>
          </a:p>
        </p:txBody>
      </p:sp>
      <p:sp>
        <p:nvSpPr>
          <p:cNvPr id="14" name="Shape 5">
            <a:extLst>
              <a:ext uri="{FF2B5EF4-FFF2-40B4-BE49-F238E27FC236}">
                <a16:creationId xmlns:a16="http://schemas.microsoft.com/office/drawing/2014/main" id="{DA15C147-7162-18A0-3533-70417B4BF27B}"/>
              </a:ext>
            </a:extLst>
          </p:cNvPr>
          <p:cNvSpPr/>
          <p:nvPr/>
        </p:nvSpPr>
        <p:spPr>
          <a:xfrm>
            <a:off x="458323" y="1207065"/>
            <a:ext cx="502920" cy="502920"/>
          </a:xfrm>
          <a:prstGeom prst="ellipse">
            <a:avLst/>
          </a:prstGeom>
          <a:solidFill>
            <a:schemeClr val="accent2"/>
          </a:solidFill>
          <a:ln/>
        </p:spPr>
        <p:txBody>
          <a:bodyPr/>
          <a:lstStyle/>
          <a:p>
            <a:endParaRPr lang="en-IN"/>
          </a:p>
        </p:txBody>
      </p:sp>
      <p:sp>
        <p:nvSpPr>
          <p:cNvPr id="15" name="Text 2">
            <a:extLst>
              <a:ext uri="{FF2B5EF4-FFF2-40B4-BE49-F238E27FC236}">
                <a16:creationId xmlns:a16="http://schemas.microsoft.com/office/drawing/2014/main" id="{1C97DAC3-F4C0-A4E9-F361-2A469EE0EA00}"/>
              </a:ext>
            </a:extLst>
          </p:cNvPr>
          <p:cNvSpPr/>
          <p:nvPr/>
        </p:nvSpPr>
        <p:spPr>
          <a:xfrm>
            <a:off x="389743" y="1141877"/>
            <a:ext cx="640080" cy="658368"/>
          </a:xfrm>
          <a:prstGeom prst="rect">
            <a:avLst/>
          </a:prstGeom>
          <a:noFill/>
          <a:ln/>
        </p:spPr>
        <p:txBody>
          <a:bodyPr wrap="square" lIns="0" tIns="0" rIns="0" bIns="0" rtlCol="0" anchor="ctr"/>
          <a:lstStyle/>
          <a:p>
            <a:pPr marL="0" indent="0" algn="ctr">
              <a:buNone/>
            </a:pPr>
            <a:r>
              <a:rPr lang="en-US" sz="1400" b="1">
                <a:solidFill>
                  <a:schemeClr val="bg1"/>
                </a:solidFill>
                <a:latin typeface="Open Sans" pitchFamily="2" charset="0"/>
                <a:ea typeface="Open Sans" pitchFamily="2" charset="0"/>
                <a:cs typeface="Open Sans" pitchFamily="2" charset="0"/>
              </a:rPr>
              <a:t>01</a:t>
            </a:r>
          </a:p>
        </p:txBody>
      </p:sp>
      <p:sp>
        <p:nvSpPr>
          <p:cNvPr id="16" name="Shape 5">
            <a:extLst>
              <a:ext uri="{FF2B5EF4-FFF2-40B4-BE49-F238E27FC236}">
                <a16:creationId xmlns:a16="http://schemas.microsoft.com/office/drawing/2014/main" id="{F0C8798E-6F69-F044-1499-A67E3A5AF6F4}"/>
              </a:ext>
            </a:extLst>
          </p:cNvPr>
          <p:cNvSpPr/>
          <p:nvPr/>
        </p:nvSpPr>
        <p:spPr>
          <a:xfrm>
            <a:off x="458323" y="2126131"/>
            <a:ext cx="502920" cy="502920"/>
          </a:xfrm>
          <a:prstGeom prst="ellipse">
            <a:avLst/>
          </a:prstGeom>
          <a:solidFill>
            <a:schemeClr val="accent2"/>
          </a:solidFill>
          <a:ln/>
        </p:spPr>
        <p:txBody>
          <a:bodyPr/>
          <a:lstStyle/>
          <a:p>
            <a:endParaRPr lang="en-IN" b="1">
              <a:latin typeface="Open Sans" pitchFamily="2" charset="0"/>
              <a:ea typeface="Open Sans" pitchFamily="2" charset="0"/>
              <a:cs typeface="Open Sans" pitchFamily="2" charset="0"/>
            </a:endParaRPr>
          </a:p>
        </p:txBody>
      </p:sp>
      <p:sp>
        <p:nvSpPr>
          <p:cNvPr id="17" name="Text 5">
            <a:extLst>
              <a:ext uri="{FF2B5EF4-FFF2-40B4-BE49-F238E27FC236}">
                <a16:creationId xmlns:a16="http://schemas.microsoft.com/office/drawing/2014/main" id="{886915D7-562B-26EC-839F-7DD9E2760318}"/>
              </a:ext>
            </a:extLst>
          </p:cNvPr>
          <p:cNvSpPr/>
          <p:nvPr/>
        </p:nvSpPr>
        <p:spPr>
          <a:xfrm>
            <a:off x="389743" y="2048407"/>
            <a:ext cx="640080" cy="658368"/>
          </a:xfrm>
          <a:prstGeom prst="rect">
            <a:avLst/>
          </a:prstGeom>
          <a:noFill/>
          <a:ln/>
        </p:spPr>
        <p:txBody>
          <a:bodyPr wrap="square" lIns="0" tIns="0" rIns="0" bIns="0" rtlCol="0" anchor="ctr"/>
          <a:lstStyle/>
          <a:p>
            <a:pPr marL="0" indent="0" algn="ctr">
              <a:buNone/>
            </a:pPr>
            <a:r>
              <a:rPr lang="en-US" sz="1400" b="1">
                <a:solidFill>
                  <a:schemeClr val="bg1"/>
                </a:solidFill>
                <a:latin typeface="Open Sans" pitchFamily="2" charset="0"/>
                <a:ea typeface="Open Sans" pitchFamily="2" charset="0"/>
                <a:cs typeface="Open Sans" pitchFamily="2" charset="0"/>
              </a:rPr>
              <a:t>02</a:t>
            </a:r>
          </a:p>
        </p:txBody>
      </p:sp>
      <p:sp>
        <p:nvSpPr>
          <p:cNvPr id="18" name="Shape 5">
            <a:extLst>
              <a:ext uri="{FF2B5EF4-FFF2-40B4-BE49-F238E27FC236}">
                <a16:creationId xmlns:a16="http://schemas.microsoft.com/office/drawing/2014/main" id="{EA9DACDA-C189-5493-C9F7-FA058ED02C4F}"/>
              </a:ext>
            </a:extLst>
          </p:cNvPr>
          <p:cNvSpPr/>
          <p:nvPr/>
        </p:nvSpPr>
        <p:spPr>
          <a:xfrm>
            <a:off x="458323" y="3032662"/>
            <a:ext cx="502920" cy="502920"/>
          </a:xfrm>
          <a:prstGeom prst="ellipse">
            <a:avLst/>
          </a:prstGeom>
          <a:solidFill>
            <a:schemeClr val="accent2"/>
          </a:solidFill>
          <a:ln/>
        </p:spPr>
        <p:txBody>
          <a:bodyPr/>
          <a:lstStyle/>
          <a:p>
            <a:endParaRPr lang="en-IN" b="1">
              <a:latin typeface="Open Sans" pitchFamily="2" charset="0"/>
              <a:ea typeface="Open Sans" pitchFamily="2" charset="0"/>
              <a:cs typeface="Open Sans" pitchFamily="2" charset="0"/>
            </a:endParaRPr>
          </a:p>
        </p:txBody>
      </p:sp>
      <p:sp>
        <p:nvSpPr>
          <p:cNvPr id="19" name="Text 8">
            <a:extLst>
              <a:ext uri="{FF2B5EF4-FFF2-40B4-BE49-F238E27FC236}">
                <a16:creationId xmlns:a16="http://schemas.microsoft.com/office/drawing/2014/main" id="{E6FE6179-64BF-990F-EE6E-3D17177FB9C7}"/>
              </a:ext>
            </a:extLst>
          </p:cNvPr>
          <p:cNvSpPr/>
          <p:nvPr/>
        </p:nvSpPr>
        <p:spPr>
          <a:xfrm>
            <a:off x="389743" y="2954938"/>
            <a:ext cx="640080" cy="658368"/>
          </a:xfrm>
          <a:prstGeom prst="rect">
            <a:avLst/>
          </a:prstGeom>
          <a:noFill/>
          <a:ln/>
        </p:spPr>
        <p:txBody>
          <a:bodyPr wrap="square" lIns="0" tIns="0" rIns="0" bIns="0" rtlCol="0" anchor="ctr"/>
          <a:lstStyle/>
          <a:p>
            <a:pPr marL="0" indent="0" algn="ctr">
              <a:buNone/>
            </a:pPr>
            <a:r>
              <a:rPr lang="en-US" sz="1400" b="1">
                <a:solidFill>
                  <a:schemeClr val="bg1"/>
                </a:solidFill>
                <a:latin typeface="Open Sans" pitchFamily="2" charset="0"/>
                <a:ea typeface="Open Sans" pitchFamily="2" charset="0"/>
                <a:cs typeface="Open Sans" pitchFamily="2" charset="0"/>
              </a:rPr>
              <a:t>03</a:t>
            </a:r>
          </a:p>
        </p:txBody>
      </p:sp>
    </p:spTree>
    <p:extLst>
      <p:ext uri="{BB962C8B-B14F-4D97-AF65-F5344CB8AC3E}">
        <p14:creationId xmlns:p14="http://schemas.microsoft.com/office/powerpoint/2010/main" val="2946276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0">
            <a:extLst>
              <a:ext uri="{FF2B5EF4-FFF2-40B4-BE49-F238E27FC236}">
                <a16:creationId xmlns:a16="http://schemas.microsoft.com/office/drawing/2014/main" id="{6AD87B94-1DA9-7B7D-2517-72A1A9604BB2}"/>
              </a:ext>
            </a:extLst>
          </p:cNvPr>
          <p:cNvSpPr/>
          <p:nvPr/>
        </p:nvSpPr>
        <p:spPr>
          <a:xfrm>
            <a:off x="337811" y="634302"/>
            <a:ext cx="8412480" cy="47548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800" b="1">
                <a:latin typeface="Open Sans" panose="020B0606030504020204" pitchFamily="34" charset="0"/>
                <a:ea typeface="Open Sans" panose="020B0606030504020204" pitchFamily="34" charset="0"/>
                <a:cs typeface="Open Sans" panose="020B0606030504020204" pitchFamily="34" charset="0"/>
              </a:rPr>
              <a:t>Today's Agenda</a:t>
            </a:r>
          </a:p>
        </p:txBody>
      </p:sp>
      <p:sp>
        <p:nvSpPr>
          <p:cNvPr id="28" name="Shape 5">
            <a:extLst>
              <a:ext uri="{FF2B5EF4-FFF2-40B4-BE49-F238E27FC236}">
                <a16:creationId xmlns:a16="http://schemas.microsoft.com/office/drawing/2014/main" id="{5F86781E-A701-D5D3-03D9-30F8D4699D6C}"/>
              </a:ext>
            </a:extLst>
          </p:cNvPr>
          <p:cNvSpPr/>
          <p:nvPr/>
        </p:nvSpPr>
        <p:spPr>
          <a:xfrm>
            <a:off x="281912" y="1537397"/>
            <a:ext cx="2582477" cy="2971800"/>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9" name="Rounded Rectangle 28">
            <a:extLst>
              <a:ext uri="{FF2B5EF4-FFF2-40B4-BE49-F238E27FC236}">
                <a16:creationId xmlns:a16="http://schemas.microsoft.com/office/drawing/2014/main" id="{D323428B-8164-9A9E-4A44-A9F41D6CA1F6}"/>
              </a:ext>
            </a:extLst>
          </p:cNvPr>
          <p:cNvSpPr/>
          <p:nvPr/>
        </p:nvSpPr>
        <p:spPr>
          <a:xfrm>
            <a:off x="296661" y="1605068"/>
            <a:ext cx="2508736" cy="2810665"/>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IN" sz="1400" b="1">
              <a:solidFill>
                <a:schemeClr val="tx1"/>
              </a:solidFill>
            </a:endParaRPr>
          </a:p>
          <a:p>
            <a:r>
              <a:rPr lang="en-IN" sz="1400" b="1">
                <a:solidFill>
                  <a:schemeClr val="accent2"/>
                </a:solidFill>
              </a:rPr>
              <a:t>PART 1                   ~ 40 min</a:t>
            </a:r>
          </a:p>
          <a:p>
            <a:endParaRPr lang="en-IN" sz="1400">
              <a:solidFill>
                <a:schemeClr val="tx1"/>
              </a:solidFill>
            </a:endParaRPr>
          </a:p>
          <a:p>
            <a:endParaRPr lang="en-IN" sz="1400">
              <a:solidFill>
                <a:schemeClr val="tx1"/>
              </a:solidFill>
            </a:endParaRPr>
          </a:p>
          <a:p>
            <a:pPr marL="285750" indent="-285750">
              <a:buFont typeface="Arial" panose="020B0604020202020204" pitchFamily="34" charset="0"/>
              <a:buChar char="•"/>
            </a:pPr>
            <a:r>
              <a:rPr lang="en-US" sz="1400">
                <a:solidFill>
                  <a:schemeClr val="tx2"/>
                </a:solidFill>
                <a:latin typeface="Open Sans" pitchFamily="2" charset="0"/>
                <a:ea typeface="Open Sans" pitchFamily="2" charset="0"/>
                <a:cs typeface="Open Sans" pitchFamily="2" charset="0"/>
              </a:rPr>
              <a:t>PoC to Production</a:t>
            </a:r>
            <a:br>
              <a:rPr lang="en-IN" sz="1400">
                <a:solidFill>
                  <a:schemeClr val="tx2"/>
                </a:solidFill>
                <a:latin typeface="Open Sans" panose="020B0606030504020204" pitchFamily="34" charset="0"/>
                <a:ea typeface="Open Sans" panose="020B0606030504020204" pitchFamily="34" charset="0"/>
                <a:cs typeface="Open Sans" panose="020B0606030504020204" pitchFamily="34" charset="0"/>
              </a:rPr>
            </a:br>
            <a:endParaRPr lang="en-US" sz="140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US" sz="1400">
                <a:solidFill>
                  <a:schemeClr val="tx2"/>
                </a:solidFill>
                <a:latin typeface="Open Sans" pitchFamily="2" charset="0"/>
                <a:ea typeface="Open Sans" pitchFamily="2" charset="0"/>
                <a:cs typeface="Open Sans" pitchFamily="2" charset="0"/>
              </a:rPr>
              <a:t>Production gap · 10x rule · Greenlight vs. kill · Gap audit</a:t>
            </a:r>
          </a:p>
        </p:txBody>
      </p:sp>
      <p:sp>
        <p:nvSpPr>
          <p:cNvPr id="30" name="Shape 5">
            <a:extLst>
              <a:ext uri="{FF2B5EF4-FFF2-40B4-BE49-F238E27FC236}">
                <a16:creationId xmlns:a16="http://schemas.microsoft.com/office/drawing/2014/main" id="{08F369F1-971C-3174-0564-8DF87D5F02D2}"/>
              </a:ext>
            </a:extLst>
          </p:cNvPr>
          <p:cNvSpPr/>
          <p:nvPr/>
        </p:nvSpPr>
        <p:spPr>
          <a:xfrm>
            <a:off x="3224863" y="1537397"/>
            <a:ext cx="2582477" cy="2971800"/>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1" name="Rounded Rectangle 30">
            <a:extLst>
              <a:ext uri="{FF2B5EF4-FFF2-40B4-BE49-F238E27FC236}">
                <a16:creationId xmlns:a16="http://schemas.microsoft.com/office/drawing/2014/main" id="{2CD90691-BC0C-41EE-B3A9-B015C967AE87}"/>
              </a:ext>
            </a:extLst>
          </p:cNvPr>
          <p:cNvSpPr/>
          <p:nvPr/>
        </p:nvSpPr>
        <p:spPr>
          <a:xfrm>
            <a:off x="3239612" y="1605068"/>
            <a:ext cx="2508736" cy="2810665"/>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IN" sz="1400" b="1">
              <a:solidFill>
                <a:schemeClr val="tx1"/>
              </a:solidFill>
            </a:endParaRPr>
          </a:p>
          <a:p>
            <a:r>
              <a:rPr lang="en-IN" sz="1400" b="1">
                <a:solidFill>
                  <a:schemeClr val="accent2"/>
                </a:solidFill>
              </a:rPr>
              <a:t>PART 2                   ~ 40 min</a:t>
            </a:r>
          </a:p>
          <a:p>
            <a:endParaRPr lang="en-IN" sz="1400">
              <a:solidFill>
                <a:schemeClr val="tx1"/>
              </a:solidFill>
            </a:endParaRPr>
          </a:p>
          <a:p>
            <a:endParaRPr lang="en-IN" sz="1400">
              <a:solidFill>
                <a:schemeClr val="tx2"/>
              </a:solidFill>
              <a:latin typeface="Open Sans" pitchFamily="2" charset="0"/>
              <a:ea typeface="Open Sans" pitchFamily="2" charset="0"/>
              <a:cs typeface="Open Sans" pitchFamily="2" charset="0"/>
            </a:endParaRPr>
          </a:p>
          <a:p>
            <a:pPr marL="285750" indent="-285750">
              <a:buFont typeface="Arial" panose="020B0604020202020204" pitchFamily="34" charset="0"/>
              <a:buChar char="•"/>
            </a:pPr>
            <a:r>
              <a:rPr lang="en-US" sz="1400">
                <a:solidFill>
                  <a:schemeClr val="tx2"/>
                </a:solidFill>
                <a:latin typeface="Open Sans" pitchFamily="2" charset="0"/>
                <a:ea typeface="Open Sans" pitchFamily="2" charset="0"/>
                <a:cs typeface="Open Sans" pitchFamily="2" charset="0"/>
              </a:rPr>
              <a:t>Ontology &amp; Structural Thinking</a:t>
            </a:r>
            <a:br>
              <a:rPr lang="en-IN" sz="1400">
                <a:solidFill>
                  <a:schemeClr val="tx2"/>
                </a:solidFill>
                <a:latin typeface="Open Sans" panose="020B0606030504020204" pitchFamily="34" charset="0"/>
                <a:ea typeface="Open Sans" panose="020B0606030504020204" pitchFamily="34" charset="0"/>
                <a:cs typeface="Open Sans" panose="020B0606030504020204" pitchFamily="34" charset="0"/>
              </a:rPr>
            </a:br>
            <a:endParaRPr lang="en-US" sz="140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US" sz="1400">
                <a:solidFill>
                  <a:schemeClr val="tx2"/>
                </a:solidFill>
                <a:latin typeface="Open Sans" pitchFamily="2" charset="0"/>
                <a:ea typeface="Open Sans" pitchFamily="2" charset="0"/>
                <a:cs typeface="Open Sans" pitchFamily="2" charset="0"/>
              </a:rPr>
              <a:t>Data models · Structural assumptions · Domain-driven design · Critique</a:t>
            </a:r>
          </a:p>
        </p:txBody>
      </p:sp>
      <p:sp>
        <p:nvSpPr>
          <p:cNvPr id="32" name="Shape 5">
            <a:extLst>
              <a:ext uri="{FF2B5EF4-FFF2-40B4-BE49-F238E27FC236}">
                <a16:creationId xmlns:a16="http://schemas.microsoft.com/office/drawing/2014/main" id="{BB929D66-03A1-7C41-4D2F-50E6D057EB5B}"/>
              </a:ext>
            </a:extLst>
          </p:cNvPr>
          <p:cNvSpPr/>
          <p:nvPr/>
        </p:nvSpPr>
        <p:spPr>
          <a:xfrm>
            <a:off x="6167814" y="1537397"/>
            <a:ext cx="2582477" cy="2971800"/>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3" name="Rounded Rectangle 32">
            <a:extLst>
              <a:ext uri="{FF2B5EF4-FFF2-40B4-BE49-F238E27FC236}">
                <a16:creationId xmlns:a16="http://schemas.microsoft.com/office/drawing/2014/main" id="{2F2E4775-FFCD-8335-A3EA-A87BF530F271}"/>
              </a:ext>
            </a:extLst>
          </p:cNvPr>
          <p:cNvSpPr/>
          <p:nvPr/>
        </p:nvSpPr>
        <p:spPr>
          <a:xfrm>
            <a:off x="6182563" y="1605068"/>
            <a:ext cx="2508736" cy="2810665"/>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IN" sz="1400" b="1">
              <a:solidFill>
                <a:schemeClr val="tx1"/>
              </a:solidFill>
            </a:endParaRPr>
          </a:p>
          <a:p>
            <a:r>
              <a:rPr lang="en-IN" sz="1400" b="1">
                <a:solidFill>
                  <a:schemeClr val="accent2"/>
                </a:solidFill>
              </a:rPr>
              <a:t>PART 3                   ~ 40 min</a:t>
            </a:r>
          </a:p>
          <a:p>
            <a:endParaRPr lang="en-IN" sz="1400">
              <a:solidFill>
                <a:schemeClr val="tx1"/>
              </a:solidFill>
            </a:endParaRPr>
          </a:p>
          <a:p>
            <a:endParaRPr lang="en-IN" sz="1400">
              <a:solidFill>
                <a:schemeClr val="tx2"/>
              </a:solidFill>
              <a:latin typeface="Open Sans" pitchFamily="2" charset="0"/>
              <a:ea typeface="Open Sans" pitchFamily="2" charset="0"/>
              <a:cs typeface="Open Sans" pitchFamily="2" charset="0"/>
            </a:endParaRPr>
          </a:p>
          <a:p>
            <a:pPr marL="285750" indent="-285750">
              <a:buFont typeface="Arial" panose="020B0604020202020204" pitchFamily="34" charset="0"/>
              <a:buChar char="•"/>
            </a:pPr>
            <a:r>
              <a:rPr lang="en-US" sz="1400">
                <a:solidFill>
                  <a:schemeClr val="tx2"/>
                </a:solidFill>
                <a:latin typeface="Open Sans" pitchFamily="2" charset="0"/>
                <a:ea typeface="Open Sans" pitchFamily="2" charset="0"/>
                <a:cs typeface="Open Sans" pitchFamily="2" charset="0"/>
              </a:rPr>
              <a:t>Risks &amp; Responsible AI Coding</a:t>
            </a:r>
            <a:br>
              <a:rPr lang="en-IN" sz="1400">
                <a:solidFill>
                  <a:schemeClr val="tx2"/>
                </a:solidFill>
                <a:latin typeface="Open Sans" panose="020B0606030504020204" pitchFamily="34" charset="0"/>
                <a:ea typeface="Open Sans" panose="020B0606030504020204" pitchFamily="34" charset="0"/>
                <a:cs typeface="Open Sans" panose="020B0606030504020204" pitchFamily="34" charset="0"/>
              </a:rPr>
            </a:br>
            <a:endParaRPr lang="en-US" sz="1400">
              <a:solidFill>
                <a:schemeClr val="tx2"/>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US" sz="1400">
                <a:solidFill>
                  <a:schemeClr val="tx2"/>
                </a:solidFill>
                <a:latin typeface="Open Sans" pitchFamily="2" charset="0"/>
                <a:ea typeface="Open Sans" pitchFamily="2" charset="0"/>
                <a:cs typeface="Open Sans" pitchFamily="2" charset="0"/>
              </a:rPr>
              <a:t>Data privacy · Security · Governance · Team &amp; cost · Risk assessment</a:t>
            </a:r>
          </a:p>
        </p:txBody>
      </p:sp>
    </p:spTree>
    <p:extLst>
      <p:ext uri="{BB962C8B-B14F-4D97-AF65-F5344CB8AC3E}">
        <p14:creationId xmlns:p14="http://schemas.microsoft.com/office/powerpoint/2010/main" val="153768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22">
            <a:extLst>
              <a:ext uri="{FF2B5EF4-FFF2-40B4-BE49-F238E27FC236}">
                <a16:creationId xmlns:a16="http://schemas.microsoft.com/office/drawing/2014/main" id="{21109226-78A3-1135-BB1A-DD53C75BB307}"/>
              </a:ext>
            </a:extLst>
          </p:cNvPr>
          <p:cNvSpPr/>
          <p:nvPr/>
        </p:nvSpPr>
        <p:spPr>
          <a:xfrm>
            <a:off x="443315" y="1554481"/>
            <a:ext cx="1463040" cy="1645920"/>
          </a:xfrm>
          <a:prstGeom prst="rect">
            <a:avLst/>
          </a:prstGeom>
          <a:noFill/>
          <a:ln/>
        </p:spPr>
        <p:txBody>
          <a:bodyPr wrap="square" lIns="0" tIns="0" rIns="0" bIns="0" rtlCol="0" anchor="ctr"/>
          <a:lstStyle/>
          <a:p>
            <a:pPr marL="0" indent="0">
              <a:buNone/>
            </a:pPr>
            <a:r>
              <a:rPr lang="en-US" sz="8000" b="1">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13" name="Text 23">
            <a:extLst>
              <a:ext uri="{FF2B5EF4-FFF2-40B4-BE49-F238E27FC236}">
                <a16:creationId xmlns:a16="http://schemas.microsoft.com/office/drawing/2014/main" id="{2AFBFD5E-5EE2-345B-613F-982D20485D98}"/>
              </a:ext>
            </a:extLst>
          </p:cNvPr>
          <p:cNvSpPr/>
          <p:nvPr/>
        </p:nvSpPr>
        <p:spPr>
          <a:xfrm>
            <a:off x="1997795" y="1640108"/>
            <a:ext cx="6949440" cy="1474666"/>
          </a:xfrm>
          <a:prstGeom prst="rect">
            <a:avLst/>
          </a:prstGeom>
          <a:noFill/>
          <a:ln/>
        </p:spPr>
        <p:txBody>
          <a:bodyPr wrap="square" lIns="0" tIns="0" rIns="0" bIns="0" rtlCol="0" anchor="ctr"/>
          <a:lstStyle/>
          <a:p>
            <a:r>
              <a:rPr lang="en-US" sz="4800" b="1">
                <a:latin typeface="Arial" pitchFamily="34" charset="0"/>
                <a:ea typeface="Arial" pitchFamily="34" charset="-122"/>
                <a:cs typeface="Arial" pitchFamily="34" charset="-120"/>
              </a:rPr>
              <a:t>PoC To</a:t>
            </a:r>
          </a:p>
          <a:p>
            <a:r>
              <a:rPr lang="en-US" sz="4800" b="1">
                <a:latin typeface="Arial" pitchFamily="34" charset="0"/>
                <a:ea typeface="Arial" pitchFamily="34" charset="-122"/>
                <a:cs typeface="Arial" pitchFamily="34" charset="-120"/>
              </a:rPr>
              <a:t>Production</a:t>
            </a:r>
            <a:endParaRPr lang="en-US" sz="4800"/>
          </a:p>
        </p:txBody>
      </p:sp>
    </p:spTree>
    <p:extLst>
      <p:ext uri="{BB962C8B-B14F-4D97-AF65-F5344CB8AC3E}">
        <p14:creationId xmlns:p14="http://schemas.microsoft.com/office/powerpoint/2010/main" val="3736756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DC57F06-F39D-AE68-EBC7-E6529CB17CD2}"/>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Why Most PoCs Never Ship</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4FC84882-7297-7271-8374-7264C566E083}"/>
              </a:ext>
            </a:extLst>
          </p:cNvPr>
          <p:cNvSpPr/>
          <p:nvPr/>
        </p:nvSpPr>
        <p:spPr>
          <a:xfrm>
            <a:off x="394212" y="676656"/>
            <a:ext cx="8604504" cy="420624"/>
          </a:xfrm>
          <a:prstGeom prst="rect">
            <a:avLst/>
          </a:prstGeom>
          <a:noFill/>
          <a:ln/>
        </p:spPr>
        <p:txBody>
          <a:bodyPr wrap="square" lIns="0" tIns="0" rIns="0" bIns="0" rtlCol="0" anchor="t"/>
          <a:lstStyle/>
          <a:p>
            <a:pPr marL="0" indent="0">
              <a:buNone/>
            </a:pPr>
            <a:r>
              <a:rPr lang="en-US" sz="1300">
                <a:solidFill>
                  <a:schemeClr val="tx2"/>
                </a:solidFill>
                <a:latin typeface="Open Sans" pitchFamily="2" charset="0"/>
                <a:ea typeface="Open Sans" pitchFamily="2" charset="0"/>
                <a:cs typeface="Open Sans" pitchFamily="2" charset="0"/>
              </a:rPr>
              <a:t>The problem is rarely the PoC itself. It is the gap between what a PoC proves and what production requires.</a:t>
            </a:r>
          </a:p>
        </p:txBody>
      </p:sp>
      <p:sp>
        <p:nvSpPr>
          <p:cNvPr id="5" name="Shape 2">
            <a:extLst>
              <a:ext uri="{FF2B5EF4-FFF2-40B4-BE49-F238E27FC236}">
                <a16:creationId xmlns:a16="http://schemas.microsoft.com/office/drawing/2014/main" id="{31170B8D-1F7F-00FB-0DA3-9076B934A459}"/>
              </a:ext>
            </a:extLst>
          </p:cNvPr>
          <p:cNvSpPr/>
          <p:nvPr/>
        </p:nvSpPr>
        <p:spPr>
          <a:xfrm>
            <a:off x="292608" y="1239991"/>
            <a:ext cx="2697480" cy="2335229"/>
          </a:xfrm>
          <a:prstGeom prst="roundRect">
            <a:avLst>
              <a:gd name="adj" fmla="val 2034"/>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6072C493-052C-1B35-6656-F717C73E493F}"/>
              </a:ext>
            </a:extLst>
          </p:cNvPr>
          <p:cNvSpPr/>
          <p:nvPr/>
        </p:nvSpPr>
        <p:spPr>
          <a:xfrm>
            <a:off x="292608" y="1449200"/>
            <a:ext cx="2697480" cy="201168"/>
          </a:xfrm>
          <a:prstGeom prst="rect">
            <a:avLst/>
          </a:prstGeom>
          <a:noFill/>
          <a:ln/>
        </p:spPr>
        <p:txBody>
          <a:bodyPr wrap="square" lIns="0" tIns="0" rIns="0" bIns="0" rtlCol="0" anchor="t"/>
          <a:lstStyle/>
          <a:p>
            <a:pPr marL="0" indent="0" algn="ctr">
              <a:buNone/>
            </a:pPr>
            <a:r>
              <a:rPr lang="en-US" sz="1300" b="1">
                <a:solidFill>
                  <a:schemeClr val="accent2"/>
                </a:solidFill>
                <a:latin typeface="Open Sans" pitchFamily="2" charset="0"/>
                <a:ea typeface="Open Sans" pitchFamily="2" charset="0"/>
                <a:cs typeface="Open Sans" pitchFamily="2" charset="0"/>
              </a:rPr>
              <a:t>THE DEMO PROBLEM</a:t>
            </a:r>
            <a:endParaRPr lang="en-US" sz="13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7F82CD55-A3B4-448B-CBCE-020A4228269F}"/>
              </a:ext>
            </a:extLst>
          </p:cNvPr>
          <p:cNvSpPr/>
          <p:nvPr/>
        </p:nvSpPr>
        <p:spPr>
          <a:xfrm>
            <a:off x="475488" y="1794464"/>
            <a:ext cx="2331720" cy="1651390"/>
          </a:xfrm>
          <a:prstGeom prst="rect">
            <a:avLst/>
          </a:prstGeom>
          <a:noFill/>
          <a:ln/>
        </p:spPr>
        <p:txBody>
          <a:bodyPr wrap="square" lIns="0" tIns="0" rIns="0" bIns="0" rtlCol="0" anchor="t"/>
          <a:lstStyle/>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Built for one question, one dataset, one predictable input.</a:t>
            </a:r>
          </a:p>
          <a:p>
            <a:pPr marL="171450" indent="-171450">
              <a:lnSpc>
                <a:spcPct val="108000"/>
              </a:lnSpc>
              <a:buFont typeface="Arial" panose="020B0604020202020204" pitchFamily="34" charset="0"/>
              <a:buChar char="•"/>
            </a:pPr>
            <a:endParaRPr lang="en-US" sz="12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Production has none of these.</a:t>
            </a:r>
          </a:p>
        </p:txBody>
      </p:sp>
      <p:sp>
        <p:nvSpPr>
          <p:cNvPr id="8" name="Shape 5">
            <a:extLst>
              <a:ext uri="{FF2B5EF4-FFF2-40B4-BE49-F238E27FC236}">
                <a16:creationId xmlns:a16="http://schemas.microsoft.com/office/drawing/2014/main" id="{E26ADDF6-4098-EE98-9E46-B7D8BE999771}"/>
              </a:ext>
            </a:extLst>
          </p:cNvPr>
          <p:cNvSpPr/>
          <p:nvPr/>
        </p:nvSpPr>
        <p:spPr>
          <a:xfrm>
            <a:off x="3246120" y="1239991"/>
            <a:ext cx="2697480" cy="2335229"/>
          </a:xfrm>
          <a:prstGeom prst="roundRect">
            <a:avLst>
              <a:gd name="adj" fmla="val 2034"/>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C08F2FBD-3F4D-8E36-953C-499A27350A36}"/>
              </a:ext>
            </a:extLst>
          </p:cNvPr>
          <p:cNvSpPr/>
          <p:nvPr/>
        </p:nvSpPr>
        <p:spPr>
          <a:xfrm>
            <a:off x="3246120" y="1449200"/>
            <a:ext cx="2697480" cy="201168"/>
          </a:xfrm>
          <a:prstGeom prst="rect">
            <a:avLst/>
          </a:prstGeom>
          <a:noFill/>
          <a:ln/>
        </p:spPr>
        <p:txBody>
          <a:bodyPr wrap="square" lIns="0" tIns="0" rIns="0" bIns="0" rtlCol="0" anchor="t"/>
          <a:lstStyle/>
          <a:p>
            <a:pPr marL="0" indent="0" algn="ctr">
              <a:buNone/>
            </a:pPr>
            <a:r>
              <a:rPr lang="en-US" sz="1300" b="1">
                <a:solidFill>
                  <a:schemeClr val="accent2"/>
                </a:solidFill>
                <a:latin typeface="Open Sans" pitchFamily="2" charset="0"/>
                <a:ea typeface="Open Sans" pitchFamily="2" charset="0"/>
                <a:cs typeface="Open Sans" pitchFamily="2" charset="0"/>
              </a:rPr>
              <a:t>THE COMPLEXITY PROBLEM</a:t>
            </a:r>
            <a:endParaRPr lang="en-US" sz="1300">
              <a:solidFill>
                <a:schemeClr val="accent2"/>
              </a:solidFill>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DD2EF5EB-50DB-0CE7-6703-CD0C51674106}"/>
              </a:ext>
            </a:extLst>
          </p:cNvPr>
          <p:cNvSpPr/>
          <p:nvPr/>
        </p:nvSpPr>
        <p:spPr>
          <a:xfrm>
            <a:off x="3429000" y="1794464"/>
            <a:ext cx="2331720" cy="1651390"/>
          </a:xfrm>
          <a:prstGeom prst="rect">
            <a:avLst/>
          </a:prstGeom>
          <a:noFill/>
          <a:ln/>
        </p:spPr>
        <p:txBody>
          <a:bodyPr wrap="square" lIns="0" tIns="0" rIns="0" bIns="0" rtlCol="0" anchor="t"/>
          <a:lstStyle/>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Auth, error recovery, audit logging, monitoring, rate limiting — none of it was forgotten. It was deliberately left out.</a:t>
            </a:r>
          </a:p>
          <a:p>
            <a:pPr marL="171450" indent="-171450">
              <a:lnSpc>
                <a:spcPct val="108000"/>
              </a:lnSpc>
              <a:buFont typeface="Arial" panose="020B0604020202020204" pitchFamily="34" charset="0"/>
              <a:buChar char="•"/>
            </a:pPr>
            <a:endParaRPr lang="en-US" sz="12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Production puts it all back.</a:t>
            </a:r>
          </a:p>
        </p:txBody>
      </p:sp>
      <p:sp>
        <p:nvSpPr>
          <p:cNvPr id="11" name="Shape 8">
            <a:extLst>
              <a:ext uri="{FF2B5EF4-FFF2-40B4-BE49-F238E27FC236}">
                <a16:creationId xmlns:a16="http://schemas.microsoft.com/office/drawing/2014/main" id="{DDB9D746-3EDF-FC08-1D2A-94AB9FE3FA1D}"/>
              </a:ext>
            </a:extLst>
          </p:cNvPr>
          <p:cNvSpPr/>
          <p:nvPr/>
        </p:nvSpPr>
        <p:spPr>
          <a:xfrm>
            <a:off x="6199632" y="1239991"/>
            <a:ext cx="2697480" cy="2335229"/>
          </a:xfrm>
          <a:prstGeom prst="roundRect">
            <a:avLst>
              <a:gd name="adj" fmla="val 2034"/>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05261BAA-7AB0-9C32-CE37-26BCD064CAEF}"/>
              </a:ext>
            </a:extLst>
          </p:cNvPr>
          <p:cNvSpPr/>
          <p:nvPr/>
        </p:nvSpPr>
        <p:spPr>
          <a:xfrm>
            <a:off x="6199632" y="1449200"/>
            <a:ext cx="2697480" cy="201168"/>
          </a:xfrm>
          <a:prstGeom prst="rect">
            <a:avLst/>
          </a:prstGeom>
          <a:noFill/>
          <a:ln/>
        </p:spPr>
        <p:txBody>
          <a:bodyPr wrap="square" lIns="0" tIns="0" rIns="0" bIns="0" rtlCol="0" anchor="t"/>
          <a:lstStyle/>
          <a:p>
            <a:pPr marL="0" indent="0" algn="ctr">
              <a:buNone/>
            </a:pPr>
            <a:r>
              <a:rPr lang="en-US" sz="1300" b="1">
                <a:solidFill>
                  <a:schemeClr val="accent2"/>
                </a:solidFill>
                <a:latin typeface="Open Sans" pitchFamily="2" charset="0"/>
                <a:ea typeface="Open Sans" pitchFamily="2" charset="0"/>
                <a:cs typeface="Open Sans" pitchFamily="2" charset="0"/>
              </a:rPr>
              <a:t>THE EXPECTATION PROBLEM</a:t>
            </a:r>
            <a:endParaRPr lang="en-US" sz="1300">
              <a:solidFill>
                <a:schemeClr val="accent2"/>
              </a:solidFill>
              <a:latin typeface="Open Sans" pitchFamily="2" charset="0"/>
              <a:ea typeface="Open Sans" pitchFamily="2" charset="0"/>
              <a:cs typeface="Open Sans" pitchFamily="2" charset="0"/>
            </a:endParaRPr>
          </a:p>
        </p:txBody>
      </p:sp>
      <p:sp>
        <p:nvSpPr>
          <p:cNvPr id="13" name="Text 10">
            <a:extLst>
              <a:ext uri="{FF2B5EF4-FFF2-40B4-BE49-F238E27FC236}">
                <a16:creationId xmlns:a16="http://schemas.microsoft.com/office/drawing/2014/main" id="{4C3136E7-D434-109D-D745-7284858CDC7B}"/>
              </a:ext>
            </a:extLst>
          </p:cNvPr>
          <p:cNvSpPr/>
          <p:nvPr/>
        </p:nvSpPr>
        <p:spPr>
          <a:xfrm>
            <a:off x="6382512" y="1794464"/>
            <a:ext cx="2331720" cy="1651390"/>
          </a:xfrm>
          <a:prstGeom prst="rect">
            <a:avLst/>
          </a:prstGeom>
          <a:noFill/>
          <a:ln/>
        </p:spPr>
        <p:txBody>
          <a:bodyPr wrap="square" lIns="0" tIns="0" rIns="0" bIns="0" rtlCol="0" anchor="t"/>
          <a:lstStyle/>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The demo proved the happy path.</a:t>
            </a:r>
          </a:p>
          <a:p>
            <a:pPr marL="171450" indent="-171450">
              <a:lnSpc>
                <a:spcPct val="108000"/>
              </a:lnSpc>
              <a:buFont typeface="Arial" panose="020B0604020202020204" pitchFamily="34" charset="0"/>
              <a:buChar char="•"/>
            </a:pPr>
            <a:endParaRPr lang="en-US" sz="12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Engineering sees 10–20% of what production needs.</a:t>
            </a:r>
          </a:p>
          <a:p>
            <a:pPr marL="171450" indent="-171450">
              <a:lnSpc>
                <a:spcPct val="108000"/>
              </a:lnSpc>
              <a:buFont typeface="Arial" panose="020B0604020202020204" pitchFamily="34" charset="0"/>
              <a:buChar char="•"/>
            </a:pPr>
            <a:endParaRPr lang="en-US" sz="12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Both are right. This module bridges that gap.</a:t>
            </a:r>
          </a:p>
        </p:txBody>
      </p:sp>
      <p:sp>
        <p:nvSpPr>
          <p:cNvPr id="14" name="Shape 11">
            <a:extLst>
              <a:ext uri="{FF2B5EF4-FFF2-40B4-BE49-F238E27FC236}">
                <a16:creationId xmlns:a16="http://schemas.microsoft.com/office/drawing/2014/main" id="{6DE7D5B5-6B2E-8205-0C51-9F1C188E6F1C}"/>
              </a:ext>
            </a:extLst>
          </p:cNvPr>
          <p:cNvSpPr/>
          <p:nvPr/>
        </p:nvSpPr>
        <p:spPr>
          <a:xfrm>
            <a:off x="292608" y="3917998"/>
            <a:ext cx="8558784" cy="384048"/>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3C0CD7A1-DF89-AC8B-DBA4-794D2817E93D}"/>
              </a:ext>
            </a:extLst>
          </p:cNvPr>
          <p:cNvSpPr/>
          <p:nvPr/>
        </p:nvSpPr>
        <p:spPr>
          <a:xfrm>
            <a:off x="493776" y="3917998"/>
            <a:ext cx="8156448"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A PoC that never ships is not a failure. A PoC whose production cost was never estimated is a missed conversation.</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913972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The Production Gap</a:t>
            </a:r>
            <a:endParaRPr lang="en-US" sz="2800">
              <a:latin typeface="Open Sans" pitchFamily="2" charset="0"/>
              <a:ea typeface="Open Sans" pitchFamily="2" charset="0"/>
              <a:cs typeface="Open Sans" pitchFamily="2" charset="0"/>
            </a:endParaRPr>
          </a:p>
        </p:txBody>
      </p:sp>
      <p:sp>
        <p:nvSpPr>
          <p:cNvPr id="3" name="Text 1"/>
          <p:cNvSpPr/>
          <p:nvPr/>
        </p:nvSpPr>
        <p:spPr>
          <a:xfrm>
            <a:off x="394212" y="676656"/>
            <a:ext cx="845718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What Claude Code builds vs. what production needs. Production requires everything you forgot to ask for.</a:t>
            </a:r>
          </a:p>
        </p:txBody>
      </p:sp>
      <p:sp>
        <p:nvSpPr>
          <p:cNvPr id="4" name="Shape 2"/>
          <p:cNvSpPr/>
          <p:nvPr/>
        </p:nvSpPr>
        <p:spPr>
          <a:xfrm>
            <a:off x="394211" y="1156716"/>
            <a:ext cx="4190397" cy="347472"/>
          </a:xfrm>
          <a:prstGeom prst="rect">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5" name="Shape 3"/>
          <p:cNvSpPr/>
          <p:nvPr/>
        </p:nvSpPr>
        <p:spPr>
          <a:xfrm>
            <a:off x="4584609" y="1156716"/>
            <a:ext cx="4177788" cy="347472"/>
          </a:xfrm>
          <a:prstGeom prst="rect">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6" name="Text 4"/>
          <p:cNvSpPr/>
          <p:nvPr/>
        </p:nvSpPr>
        <p:spPr>
          <a:xfrm>
            <a:off x="540516" y="1156716"/>
            <a:ext cx="3909981" cy="347472"/>
          </a:xfrm>
          <a:prstGeom prst="rect">
            <a:avLst/>
          </a:prstGeom>
          <a:noFill/>
          <a:ln/>
        </p:spPr>
        <p:txBody>
          <a:bodyPr wrap="square" lIns="0" tIns="0" rIns="0" bIns="0" rtlCol="0" anchor="ctr"/>
          <a:lstStyle/>
          <a:p>
            <a:pPr marL="0" indent="0">
              <a:buNone/>
            </a:pPr>
            <a:r>
              <a:rPr lang="en-US" sz="1300" b="1">
                <a:solidFill>
                  <a:schemeClr val="bg1"/>
                </a:solidFill>
                <a:latin typeface="Open Sans" pitchFamily="2" charset="0"/>
                <a:ea typeface="Open Sans" pitchFamily="2" charset="0"/>
                <a:cs typeface="Open Sans" pitchFamily="2" charset="0"/>
              </a:rPr>
              <a:t>WHAT YOUR PoC HAS</a:t>
            </a:r>
            <a:endParaRPr lang="en-US" sz="1300">
              <a:solidFill>
                <a:schemeClr val="bg1"/>
              </a:solidFill>
              <a:latin typeface="Open Sans" pitchFamily="2" charset="0"/>
              <a:ea typeface="Open Sans" pitchFamily="2" charset="0"/>
              <a:cs typeface="Open Sans" pitchFamily="2" charset="0"/>
            </a:endParaRPr>
          </a:p>
        </p:txBody>
      </p:sp>
      <p:sp>
        <p:nvSpPr>
          <p:cNvPr id="7" name="Text 5"/>
          <p:cNvSpPr/>
          <p:nvPr/>
        </p:nvSpPr>
        <p:spPr>
          <a:xfrm>
            <a:off x="4819908" y="1156716"/>
            <a:ext cx="3909981" cy="347472"/>
          </a:xfrm>
          <a:prstGeom prst="rect">
            <a:avLst/>
          </a:prstGeom>
          <a:noFill/>
          <a:ln/>
        </p:spPr>
        <p:txBody>
          <a:bodyPr wrap="square" lIns="0" tIns="0" rIns="0" bIns="0" rtlCol="0" anchor="ctr"/>
          <a:lstStyle/>
          <a:p>
            <a:pPr marL="0" indent="0">
              <a:buNone/>
            </a:pPr>
            <a:r>
              <a:rPr lang="en-US" sz="1300" b="1">
                <a:solidFill>
                  <a:schemeClr val="bg1"/>
                </a:solidFill>
                <a:latin typeface="Open Sans" pitchFamily="2" charset="0"/>
                <a:ea typeface="Open Sans" pitchFamily="2" charset="0"/>
                <a:cs typeface="Open Sans" pitchFamily="2" charset="0"/>
              </a:rPr>
              <a:t>WHAT PRODUCTION NEEDS</a:t>
            </a:r>
            <a:endParaRPr lang="en-US" sz="1300">
              <a:solidFill>
                <a:schemeClr val="bg1"/>
              </a:solidFill>
              <a:latin typeface="Open Sans" pitchFamily="2" charset="0"/>
              <a:ea typeface="Open Sans" pitchFamily="2" charset="0"/>
              <a:cs typeface="Open Sans" pitchFamily="2" charset="0"/>
            </a:endParaRPr>
          </a:p>
        </p:txBody>
      </p:sp>
      <p:sp>
        <p:nvSpPr>
          <p:cNvPr id="8" name="Shape 6"/>
          <p:cNvSpPr/>
          <p:nvPr/>
        </p:nvSpPr>
        <p:spPr>
          <a:xfrm>
            <a:off x="394212" y="1504188"/>
            <a:ext cx="8355576" cy="324612"/>
          </a:xfrm>
          <a:prstGeom prst="rect">
            <a:avLst/>
          </a:prstGeom>
          <a:solidFill>
            <a:srgbClr val="FFFFFF"/>
          </a:solidFill>
          <a:ln w="6350">
            <a:solidFill>
              <a:srgbClr val="DEDEDE"/>
            </a:solidFill>
            <a:prstDash val="solid"/>
          </a:ln>
        </p:spPr>
        <p:txBody>
          <a:bodyPr/>
          <a:lstStyle/>
          <a:p>
            <a:endParaRPr lang="en-US">
              <a:solidFill>
                <a:schemeClr val="bg2"/>
              </a:solidFill>
              <a:latin typeface="Open Sans" pitchFamily="2" charset="0"/>
              <a:ea typeface="Open Sans" pitchFamily="2" charset="0"/>
              <a:cs typeface="Open Sans" pitchFamily="2" charset="0"/>
            </a:endParaRPr>
          </a:p>
        </p:txBody>
      </p:sp>
      <p:sp>
        <p:nvSpPr>
          <p:cNvPr id="9" name="Text 7"/>
          <p:cNvSpPr/>
          <p:nvPr/>
        </p:nvSpPr>
        <p:spPr>
          <a:xfrm>
            <a:off x="540516" y="1504188"/>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Core logic that runs</a:t>
            </a:r>
          </a:p>
        </p:txBody>
      </p:sp>
      <p:sp>
        <p:nvSpPr>
          <p:cNvPr id="10" name="Text 8"/>
          <p:cNvSpPr/>
          <p:nvPr/>
        </p:nvSpPr>
        <p:spPr>
          <a:xfrm>
            <a:off x="4819908" y="1504188"/>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Core logic that runs at scale, with concurrent users</a:t>
            </a:r>
          </a:p>
        </p:txBody>
      </p:sp>
      <p:sp>
        <p:nvSpPr>
          <p:cNvPr id="11" name="Shape 9"/>
          <p:cNvSpPr/>
          <p:nvPr/>
        </p:nvSpPr>
        <p:spPr>
          <a:xfrm>
            <a:off x="394212" y="1828800"/>
            <a:ext cx="8355576" cy="324612"/>
          </a:xfrm>
          <a:prstGeom prst="rect">
            <a:avLst/>
          </a:prstGeom>
          <a:solidFill>
            <a:srgbClr val="F5F5F5"/>
          </a:solidFill>
          <a:ln w="6350">
            <a:solidFill>
              <a:srgbClr val="DEDEDE"/>
            </a:solidFill>
            <a:prstDash val="solid"/>
          </a:ln>
        </p:spPr>
        <p:txBody>
          <a:bodyPr/>
          <a:lstStyle/>
          <a:p>
            <a:endParaRPr lang="en-US">
              <a:solidFill>
                <a:schemeClr val="tx2"/>
              </a:solidFill>
              <a:latin typeface="Open Sans" pitchFamily="2" charset="0"/>
              <a:ea typeface="Open Sans" pitchFamily="2" charset="0"/>
              <a:cs typeface="Open Sans" pitchFamily="2" charset="0"/>
            </a:endParaRPr>
          </a:p>
        </p:txBody>
      </p:sp>
      <p:sp>
        <p:nvSpPr>
          <p:cNvPr id="12" name="Text 10"/>
          <p:cNvSpPr/>
          <p:nvPr/>
        </p:nvSpPr>
        <p:spPr>
          <a:xfrm>
            <a:off x="540516" y="1828800"/>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Hardcoded credentials</a:t>
            </a:r>
          </a:p>
        </p:txBody>
      </p:sp>
      <p:sp>
        <p:nvSpPr>
          <p:cNvPr id="13" name="Text 11"/>
          <p:cNvSpPr/>
          <p:nvPr/>
        </p:nvSpPr>
        <p:spPr>
          <a:xfrm>
            <a:off x="4819908" y="1828800"/>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Secrets management and credential rotation</a:t>
            </a:r>
          </a:p>
        </p:txBody>
      </p:sp>
      <p:sp>
        <p:nvSpPr>
          <p:cNvPr id="14" name="Shape 12"/>
          <p:cNvSpPr/>
          <p:nvPr/>
        </p:nvSpPr>
        <p:spPr>
          <a:xfrm>
            <a:off x="394212" y="2153412"/>
            <a:ext cx="8355576" cy="324612"/>
          </a:xfrm>
          <a:prstGeom prst="rect">
            <a:avLst/>
          </a:prstGeom>
          <a:solidFill>
            <a:srgbClr val="FFFFFF"/>
          </a:solidFill>
          <a:ln w="6350">
            <a:solidFill>
              <a:srgbClr val="DEDEDE"/>
            </a:solidFill>
            <a:prstDash val="solid"/>
          </a:ln>
        </p:spPr>
        <p:txBody>
          <a:bodyPr/>
          <a:lstStyle/>
          <a:p>
            <a:endParaRPr lang="en-US">
              <a:solidFill>
                <a:schemeClr val="bg2"/>
              </a:solidFill>
              <a:latin typeface="Open Sans" pitchFamily="2" charset="0"/>
              <a:ea typeface="Open Sans" pitchFamily="2" charset="0"/>
              <a:cs typeface="Open Sans" pitchFamily="2" charset="0"/>
            </a:endParaRPr>
          </a:p>
        </p:txBody>
      </p:sp>
      <p:sp>
        <p:nvSpPr>
          <p:cNvPr id="15" name="Text 13"/>
          <p:cNvSpPr/>
          <p:nvPr/>
        </p:nvSpPr>
        <p:spPr>
          <a:xfrm>
            <a:off x="540516" y="2153412"/>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CLI output</a:t>
            </a:r>
          </a:p>
        </p:txBody>
      </p:sp>
      <p:sp>
        <p:nvSpPr>
          <p:cNvPr id="16" name="Text 14"/>
          <p:cNvSpPr/>
          <p:nvPr/>
        </p:nvSpPr>
        <p:spPr>
          <a:xfrm>
            <a:off x="4819908" y="2153412"/>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Logging, monitoring, and alerting</a:t>
            </a:r>
          </a:p>
        </p:txBody>
      </p:sp>
      <p:sp>
        <p:nvSpPr>
          <p:cNvPr id="17" name="Shape 15"/>
          <p:cNvSpPr/>
          <p:nvPr/>
        </p:nvSpPr>
        <p:spPr>
          <a:xfrm>
            <a:off x="394212" y="2478024"/>
            <a:ext cx="8355576" cy="324612"/>
          </a:xfrm>
          <a:prstGeom prst="rect">
            <a:avLst/>
          </a:prstGeom>
          <a:solidFill>
            <a:srgbClr val="F5F5F5"/>
          </a:solidFill>
          <a:ln w="6350">
            <a:solidFill>
              <a:srgbClr val="DEDEDE"/>
            </a:solidFill>
            <a:prstDash val="solid"/>
          </a:ln>
        </p:spPr>
        <p:txBody>
          <a:bodyPr/>
          <a:lstStyle/>
          <a:p>
            <a:endParaRPr lang="en-US">
              <a:solidFill>
                <a:schemeClr val="tx2"/>
              </a:solidFill>
              <a:latin typeface="Open Sans" pitchFamily="2" charset="0"/>
              <a:ea typeface="Open Sans" pitchFamily="2" charset="0"/>
              <a:cs typeface="Open Sans" pitchFamily="2" charset="0"/>
            </a:endParaRPr>
          </a:p>
        </p:txBody>
      </p:sp>
      <p:sp>
        <p:nvSpPr>
          <p:cNvPr id="18" name="Text 16"/>
          <p:cNvSpPr/>
          <p:nvPr/>
        </p:nvSpPr>
        <p:spPr>
          <a:xfrm>
            <a:off x="540516" y="2478024"/>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One tested path</a:t>
            </a:r>
          </a:p>
        </p:txBody>
      </p:sp>
      <p:sp>
        <p:nvSpPr>
          <p:cNvPr id="19" name="Text 17"/>
          <p:cNvSpPr/>
          <p:nvPr/>
        </p:nvSpPr>
        <p:spPr>
          <a:xfrm>
            <a:off x="4819908" y="2478024"/>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Full error handling and graceful failure</a:t>
            </a:r>
          </a:p>
        </p:txBody>
      </p:sp>
      <p:sp>
        <p:nvSpPr>
          <p:cNvPr id="20" name="Shape 18"/>
          <p:cNvSpPr/>
          <p:nvPr/>
        </p:nvSpPr>
        <p:spPr>
          <a:xfrm>
            <a:off x="394212" y="2802636"/>
            <a:ext cx="8355576" cy="324612"/>
          </a:xfrm>
          <a:prstGeom prst="rect">
            <a:avLst/>
          </a:prstGeom>
          <a:solidFill>
            <a:srgbClr val="FFFFFF"/>
          </a:solidFill>
          <a:ln w="6350">
            <a:solidFill>
              <a:srgbClr val="DEDEDE"/>
            </a:solidFill>
            <a:prstDash val="solid"/>
          </a:ln>
        </p:spPr>
        <p:txBody>
          <a:bodyPr/>
          <a:lstStyle/>
          <a:p>
            <a:endParaRPr lang="en-US">
              <a:solidFill>
                <a:schemeClr val="bg2"/>
              </a:solidFill>
              <a:latin typeface="Open Sans" pitchFamily="2" charset="0"/>
              <a:ea typeface="Open Sans" pitchFamily="2" charset="0"/>
              <a:cs typeface="Open Sans" pitchFamily="2" charset="0"/>
            </a:endParaRPr>
          </a:p>
        </p:txBody>
      </p:sp>
      <p:sp>
        <p:nvSpPr>
          <p:cNvPr id="21" name="Text 19"/>
          <p:cNvSpPr/>
          <p:nvPr/>
        </p:nvSpPr>
        <p:spPr>
          <a:xfrm>
            <a:off x="540516" y="2802636"/>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A README</a:t>
            </a:r>
          </a:p>
        </p:txBody>
      </p:sp>
      <p:sp>
        <p:nvSpPr>
          <p:cNvPr id="22" name="Text 20"/>
          <p:cNvSpPr/>
          <p:nvPr/>
        </p:nvSpPr>
        <p:spPr>
          <a:xfrm>
            <a:off x="4819908" y="2802636"/>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Architecture docs, API contracts, runbooks</a:t>
            </a:r>
          </a:p>
        </p:txBody>
      </p:sp>
      <p:sp>
        <p:nvSpPr>
          <p:cNvPr id="23" name="Shape 21"/>
          <p:cNvSpPr/>
          <p:nvPr/>
        </p:nvSpPr>
        <p:spPr>
          <a:xfrm>
            <a:off x="394212" y="3127248"/>
            <a:ext cx="8355576" cy="324612"/>
          </a:xfrm>
          <a:prstGeom prst="rect">
            <a:avLst/>
          </a:prstGeom>
          <a:solidFill>
            <a:srgbClr val="F5F5F5"/>
          </a:solidFill>
          <a:ln w="6350">
            <a:solidFill>
              <a:srgbClr val="DEDEDE"/>
            </a:solidFill>
            <a:prstDash val="solid"/>
          </a:ln>
        </p:spPr>
        <p:txBody>
          <a:bodyPr/>
          <a:lstStyle/>
          <a:p>
            <a:endParaRPr lang="en-US">
              <a:solidFill>
                <a:schemeClr val="tx2"/>
              </a:solidFill>
              <a:latin typeface="Open Sans" pitchFamily="2" charset="0"/>
              <a:ea typeface="Open Sans" pitchFamily="2" charset="0"/>
              <a:cs typeface="Open Sans" pitchFamily="2" charset="0"/>
            </a:endParaRPr>
          </a:p>
        </p:txBody>
      </p:sp>
      <p:sp>
        <p:nvSpPr>
          <p:cNvPr id="24" name="Text 22"/>
          <p:cNvSpPr/>
          <p:nvPr/>
        </p:nvSpPr>
        <p:spPr>
          <a:xfrm>
            <a:off x="540516" y="3127248"/>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Committed to Git</a:t>
            </a:r>
          </a:p>
        </p:txBody>
      </p:sp>
      <p:sp>
        <p:nvSpPr>
          <p:cNvPr id="25" name="Text 23"/>
          <p:cNvSpPr/>
          <p:nvPr/>
        </p:nvSpPr>
        <p:spPr>
          <a:xfrm>
            <a:off x="4819908" y="3127248"/>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CI/CD pipeline and automated tests</a:t>
            </a:r>
          </a:p>
        </p:txBody>
      </p:sp>
      <p:sp>
        <p:nvSpPr>
          <p:cNvPr id="26" name="Shape 24"/>
          <p:cNvSpPr/>
          <p:nvPr/>
        </p:nvSpPr>
        <p:spPr>
          <a:xfrm>
            <a:off x="394212" y="3451860"/>
            <a:ext cx="8355576" cy="324612"/>
          </a:xfrm>
          <a:prstGeom prst="rect">
            <a:avLst/>
          </a:prstGeom>
          <a:solidFill>
            <a:srgbClr val="FFFFFF"/>
          </a:solidFill>
          <a:ln w="6350">
            <a:solidFill>
              <a:srgbClr val="DEDEDE"/>
            </a:solidFill>
            <a:prstDash val="solid"/>
          </a:ln>
        </p:spPr>
        <p:txBody>
          <a:bodyPr/>
          <a:lstStyle/>
          <a:p>
            <a:endParaRPr lang="en-US">
              <a:solidFill>
                <a:schemeClr val="bg2"/>
              </a:solidFill>
              <a:latin typeface="Open Sans" pitchFamily="2" charset="0"/>
              <a:ea typeface="Open Sans" pitchFamily="2" charset="0"/>
              <a:cs typeface="Open Sans" pitchFamily="2" charset="0"/>
            </a:endParaRPr>
          </a:p>
        </p:txBody>
      </p:sp>
      <p:sp>
        <p:nvSpPr>
          <p:cNvPr id="27" name="Text 25"/>
          <p:cNvSpPr/>
          <p:nvPr/>
        </p:nvSpPr>
        <p:spPr>
          <a:xfrm>
            <a:off x="540516" y="3451860"/>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One user, you</a:t>
            </a:r>
          </a:p>
        </p:txBody>
      </p:sp>
      <p:sp>
        <p:nvSpPr>
          <p:cNvPr id="28" name="Text 26"/>
          <p:cNvSpPr/>
          <p:nvPr/>
        </p:nvSpPr>
        <p:spPr>
          <a:xfrm>
            <a:off x="4819908" y="3451860"/>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Authentication and authorisation</a:t>
            </a:r>
          </a:p>
        </p:txBody>
      </p:sp>
      <p:sp>
        <p:nvSpPr>
          <p:cNvPr id="29" name="Shape 27"/>
          <p:cNvSpPr/>
          <p:nvPr/>
        </p:nvSpPr>
        <p:spPr>
          <a:xfrm>
            <a:off x="394212" y="3776472"/>
            <a:ext cx="8355576" cy="324612"/>
          </a:xfrm>
          <a:prstGeom prst="rect">
            <a:avLst/>
          </a:prstGeom>
          <a:solidFill>
            <a:srgbClr val="F5F5F5"/>
          </a:solidFill>
          <a:ln w="6350">
            <a:solidFill>
              <a:srgbClr val="DEDEDE"/>
            </a:solidFill>
            <a:prstDash val="solid"/>
          </a:ln>
        </p:spPr>
        <p:txBody>
          <a:bodyPr/>
          <a:lstStyle/>
          <a:p>
            <a:endParaRPr lang="en-US">
              <a:solidFill>
                <a:schemeClr val="tx2"/>
              </a:solidFill>
              <a:latin typeface="Open Sans" pitchFamily="2" charset="0"/>
              <a:ea typeface="Open Sans" pitchFamily="2" charset="0"/>
              <a:cs typeface="Open Sans" pitchFamily="2" charset="0"/>
            </a:endParaRPr>
          </a:p>
        </p:txBody>
      </p:sp>
      <p:sp>
        <p:nvSpPr>
          <p:cNvPr id="30" name="Text 28"/>
          <p:cNvSpPr/>
          <p:nvPr/>
        </p:nvSpPr>
        <p:spPr>
          <a:xfrm>
            <a:off x="540516" y="3776472"/>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Works on your machine</a:t>
            </a:r>
          </a:p>
        </p:txBody>
      </p:sp>
      <p:sp>
        <p:nvSpPr>
          <p:cNvPr id="31" name="Text 29"/>
          <p:cNvSpPr/>
          <p:nvPr/>
        </p:nvSpPr>
        <p:spPr>
          <a:xfrm>
            <a:off x="4819908" y="3776472"/>
            <a:ext cx="3909981" cy="324612"/>
          </a:xfrm>
          <a:prstGeom prst="rect">
            <a:avLst/>
          </a:prstGeom>
          <a:noFill/>
          <a:ln/>
        </p:spPr>
        <p:txBody>
          <a:bodyPr wrap="square" lIns="0" tIns="0" rIns="0" bIns="0" rtlCol="0" anchor="ctr"/>
          <a:lstStyle/>
          <a:p>
            <a:pPr marL="0" indent="0">
              <a:buNone/>
            </a:pPr>
            <a:r>
              <a:rPr lang="en-US" sz="1200">
                <a:solidFill>
                  <a:schemeClr val="tx2"/>
                </a:solidFill>
                <a:latin typeface="Open Sans" pitchFamily="2" charset="0"/>
                <a:ea typeface="Open Sans" pitchFamily="2" charset="0"/>
                <a:cs typeface="Open Sans" pitchFamily="2" charset="0"/>
              </a:rPr>
              <a:t>Works on any machine, any time, any load</a:t>
            </a:r>
          </a:p>
        </p:txBody>
      </p:sp>
      <p:sp>
        <p:nvSpPr>
          <p:cNvPr id="32" name="Shape 30"/>
          <p:cNvSpPr/>
          <p:nvPr/>
        </p:nvSpPr>
        <p:spPr>
          <a:xfrm>
            <a:off x="394212" y="4329684"/>
            <a:ext cx="8355576" cy="384048"/>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33" name="Text 31"/>
          <p:cNvSpPr/>
          <p:nvPr/>
        </p:nvSpPr>
        <p:spPr>
          <a:xfrm>
            <a:off x="595380" y="4329684"/>
            <a:ext cx="7962793"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None of the right column is a criticism of the PoC. All of it is the honest cost of production.</a:t>
            </a:r>
            <a:endParaRPr lang="en-US" sz="1200">
              <a:solidFill>
                <a:schemeClr val="tx2"/>
              </a:solidFill>
              <a:latin typeface="Open Sans" pitchFamily="2" charset="0"/>
              <a:ea typeface="Open Sans" pitchFamily="2" charset="0"/>
              <a:cs typeface="Open Sans" pitchFamily="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hape 3">
            <a:extLst>
              <a:ext uri="{FF2B5EF4-FFF2-40B4-BE49-F238E27FC236}">
                <a16:creationId xmlns:a16="http://schemas.microsoft.com/office/drawing/2014/main" id="{DE71DBFC-C20E-85C4-5D1E-73105A8067D1}"/>
              </a:ext>
            </a:extLst>
          </p:cNvPr>
          <p:cNvSpPr/>
          <p:nvPr/>
        </p:nvSpPr>
        <p:spPr>
          <a:xfrm>
            <a:off x="6828559" y="1333484"/>
            <a:ext cx="2130461" cy="384048"/>
          </a:xfrm>
          <a:prstGeom prst="roundRect">
            <a:avLst>
              <a:gd name="adj" fmla="val 23810"/>
            </a:avLst>
          </a:prstGeom>
          <a:solidFill>
            <a:schemeClr val="tx1"/>
          </a:solidFill>
          <a:ln w="12700">
            <a:noFill/>
            <a:prstDash val="solid"/>
          </a:ln>
        </p:spPr>
        <p:txBody>
          <a:bodyPr/>
          <a:lstStyle/>
          <a:p>
            <a:endParaRPr lang="en-US" sz="1200">
              <a:latin typeface="Open Sans" pitchFamily="2" charset="0"/>
              <a:ea typeface="Open Sans" pitchFamily="2" charset="0"/>
              <a:cs typeface="Open Sans" pitchFamily="2" charset="0"/>
            </a:endParaRPr>
          </a:p>
        </p:txBody>
      </p:sp>
      <p:sp>
        <p:nvSpPr>
          <p:cNvPr id="42" name="Shape 3">
            <a:extLst>
              <a:ext uri="{FF2B5EF4-FFF2-40B4-BE49-F238E27FC236}">
                <a16:creationId xmlns:a16="http://schemas.microsoft.com/office/drawing/2014/main" id="{FC90BF73-BAEA-852E-642B-34D390BB348F}"/>
              </a:ext>
            </a:extLst>
          </p:cNvPr>
          <p:cNvSpPr/>
          <p:nvPr/>
        </p:nvSpPr>
        <p:spPr>
          <a:xfrm>
            <a:off x="4612342" y="1333484"/>
            <a:ext cx="2130461" cy="384048"/>
          </a:xfrm>
          <a:prstGeom prst="roundRect">
            <a:avLst>
              <a:gd name="adj" fmla="val 23810"/>
            </a:avLst>
          </a:prstGeom>
          <a:solidFill>
            <a:schemeClr val="accent3"/>
          </a:solidFill>
          <a:ln w="12700">
            <a:noFill/>
            <a:prstDash val="solid"/>
          </a:ln>
        </p:spPr>
        <p:txBody>
          <a:bodyPr/>
          <a:lstStyle/>
          <a:p>
            <a:endParaRPr lang="en-US" sz="1200">
              <a:latin typeface="Open Sans" pitchFamily="2" charset="0"/>
              <a:ea typeface="Open Sans" pitchFamily="2" charset="0"/>
              <a:cs typeface="Open Sans" pitchFamily="2" charset="0"/>
            </a:endParaRPr>
          </a:p>
        </p:txBody>
      </p:sp>
      <p:sp>
        <p:nvSpPr>
          <p:cNvPr id="41" name="Shape 3">
            <a:extLst>
              <a:ext uri="{FF2B5EF4-FFF2-40B4-BE49-F238E27FC236}">
                <a16:creationId xmlns:a16="http://schemas.microsoft.com/office/drawing/2014/main" id="{BAFEB61B-FB35-A647-8982-45DEA03F9563}"/>
              </a:ext>
            </a:extLst>
          </p:cNvPr>
          <p:cNvSpPr/>
          <p:nvPr/>
        </p:nvSpPr>
        <p:spPr>
          <a:xfrm>
            <a:off x="2403419" y="1333484"/>
            <a:ext cx="2130461" cy="384048"/>
          </a:xfrm>
          <a:prstGeom prst="roundRect">
            <a:avLst>
              <a:gd name="adj" fmla="val 23810"/>
            </a:avLst>
          </a:prstGeom>
          <a:solidFill>
            <a:schemeClr val="accent1"/>
          </a:solidFill>
          <a:ln w="12700">
            <a:noFill/>
            <a:prstDash val="solid"/>
          </a:ln>
        </p:spPr>
        <p:txBody>
          <a:bodyPr/>
          <a:lstStyle/>
          <a:p>
            <a:endParaRPr lang="en-US" sz="1200">
              <a:latin typeface="Open Sans" pitchFamily="2" charset="0"/>
              <a:ea typeface="Open Sans" pitchFamily="2" charset="0"/>
              <a:cs typeface="Open Sans" pitchFamily="2" charset="0"/>
            </a:endParaRPr>
          </a:p>
        </p:txBody>
      </p:sp>
      <p:sp>
        <p:nvSpPr>
          <p:cNvPr id="40" name="Shape 3">
            <a:extLst>
              <a:ext uri="{FF2B5EF4-FFF2-40B4-BE49-F238E27FC236}">
                <a16:creationId xmlns:a16="http://schemas.microsoft.com/office/drawing/2014/main" id="{271E1F9A-02DB-A6AF-7C28-7C2428532CE5}"/>
              </a:ext>
            </a:extLst>
          </p:cNvPr>
          <p:cNvSpPr/>
          <p:nvPr/>
        </p:nvSpPr>
        <p:spPr>
          <a:xfrm>
            <a:off x="191613" y="1333484"/>
            <a:ext cx="2130461" cy="384048"/>
          </a:xfrm>
          <a:prstGeom prst="roundRect">
            <a:avLst>
              <a:gd name="adj" fmla="val 23810"/>
            </a:avLst>
          </a:prstGeom>
          <a:solidFill>
            <a:schemeClr val="accent2"/>
          </a:solidFill>
          <a:ln w="12700">
            <a:noFill/>
            <a:prstDash val="solid"/>
          </a:ln>
        </p:spPr>
        <p:txBody>
          <a:bodyPr/>
          <a:lstStyle/>
          <a:p>
            <a:endParaRPr lang="en-US" sz="1200">
              <a:latin typeface="Open Sans" pitchFamily="2" charset="0"/>
              <a:ea typeface="Open Sans" pitchFamily="2" charset="0"/>
              <a:cs typeface="Open Sans" pitchFamily="2" charset="0"/>
            </a:endParaRPr>
          </a:p>
        </p:txBody>
      </p:sp>
      <p:sp>
        <p:nvSpPr>
          <p:cNvPr id="19" name="Text 0">
            <a:extLst>
              <a:ext uri="{FF2B5EF4-FFF2-40B4-BE49-F238E27FC236}">
                <a16:creationId xmlns:a16="http://schemas.microsoft.com/office/drawing/2014/main" id="{AB9312EC-46B9-1F49-7450-C7C206D88F37}"/>
              </a:ext>
            </a:extLst>
          </p:cNvPr>
          <p:cNvSpPr/>
          <p:nvPr/>
        </p:nvSpPr>
        <p:spPr>
          <a:xfrm>
            <a:off x="394212" y="201168"/>
            <a:ext cx="7315200" cy="502920"/>
          </a:xfrm>
          <a:prstGeom prst="rect">
            <a:avLst/>
          </a:prstGeom>
          <a:noFill/>
          <a:ln/>
        </p:spPr>
        <p:txBody>
          <a:bodyPr wrap="square" lIns="0" tIns="0" rIns="0" bIns="0" rtlCol="0" anchor="ctr"/>
          <a:lstStyle/>
          <a:p>
            <a:r>
              <a:rPr lang="en-US" sz="2800" b="1">
                <a:latin typeface="Open Sans" pitchFamily="2" charset="0"/>
                <a:ea typeface="Open Sans" pitchFamily="2" charset="0"/>
                <a:cs typeface="Open Sans" pitchFamily="2" charset="0"/>
              </a:rPr>
              <a:t>Technical Gaps from AI Code</a:t>
            </a:r>
            <a:endParaRPr lang="en-US" sz="2800">
              <a:latin typeface="Open Sans" pitchFamily="2" charset="0"/>
              <a:ea typeface="Open Sans" pitchFamily="2" charset="0"/>
              <a:cs typeface="Open Sans" pitchFamily="2" charset="0"/>
            </a:endParaRPr>
          </a:p>
        </p:txBody>
      </p:sp>
      <p:sp>
        <p:nvSpPr>
          <p:cNvPr id="20" name="Text 1">
            <a:extLst>
              <a:ext uri="{FF2B5EF4-FFF2-40B4-BE49-F238E27FC236}">
                <a16:creationId xmlns:a16="http://schemas.microsoft.com/office/drawing/2014/main" id="{302E41CA-8999-D2DE-60B6-AA04C091A7EC}"/>
              </a:ext>
            </a:extLst>
          </p:cNvPr>
          <p:cNvSpPr/>
          <p:nvPr/>
        </p:nvSpPr>
        <p:spPr>
          <a:xfrm>
            <a:off x="394212" y="676656"/>
            <a:ext cx="8595360" cy="420624"/>
          </a:xfrm>
          <a:prstGeom prst="rect">
            <a:avLst/>
          </a:prstGeom>
          <a:noFill/>
          <a:ln/>
        </p:spPr>
        <p:txBody>
          <a:bodyPr wrap="square" lIns="0" tIns="0" rIns="0" bIns="0" rtlCol="0" anchor="t"/>
          <a:lstStyle/>
          <a:p>
            <a:pPr>
              <a:tabLst>
                <a:tab pos="1949450" algn="l"/>
              </a:tabLst>
            </a:pPr>
            <a:r>
              <a:rPr lang="en-US" sz="1400">
                <a:solidFill>
                  <a:srgbClr val="757575"/>
                </a:solidFill>
                <a:latin typeface="Open Sans" pitchFamily="2" charset="0"/>
                <a:ea typeface="Open Sans" pitchFamily="2" charset="0"/>
                <a:cs typeface="Open Sans" pitchFamily="2" charset="0"/>
              </a:rPr>
              <a:t>In general, AI-generated code has a predictable pattern of gaps. Knowing them lets you find them before engineering does.</a:t>
            </a:r>
            <a:endParaRPr lang="en-US" sz="1400">
              <a:latin typeface="Open Sans" pitchFamily="2" charset="0"/>
              <a:ea typeface="Open Sans" pitchFamily="2" charset="0"/>
              <a:cs typeface="Open Sans" pitchFamily="2" charset="0"/>
            </a:endParaRPr>
          </a:p>
        </p:txBody>
      </p:sp>
      <p:sp>
        <p:nvSpPr>
          <p:cNvPr id="21" name="Shape 2">
            <a:extLst>
              <a:ext uri="{FF2B5EF4-FFF2-40B4-BE49-F238E27FC236}">
                <a16:creationId xmlns:a16="http://schemas.microsoft.com/office/drawing/2014/main" id="{F0270932-816B-8C89-F583-382B2A42F936}"/>
              </a:ext>
            </a:extLst>
          </p:cNvPr>
          <p:cNvSpPr/>
          <p:nvPr/>
        </p:nvSpPr>
        <p:spPr>
          <a:xfrm>
            <a:off x="191612" y="1729946"/>
            <a:ext cx="2130462" cy="1853284"/>
          </a:xfrm>
          <a:prstGeom prst="roundRect">
            <a:avLst>
              <a:gd name="adj" fmla="val 2715"/>
            </a:avLst>
          </a:prstGeom>
          <a:solidFill>
            <a:srgbClr val="F5F5F5"/>
          </a:solidFill>
          <a:ln w="6350">
            <a:solidFill>
              <a:srgbClr val="DDDDDD"/>
            </a:solidFill>
            <a:prstDash val="solid"/>
          </a:ln>
          <a:effectLst>
            <a:outerShdw blurRad="63500" dist="25400" dir="2700000" algn="bl" rotWithShape="0">
              <a:srgbClr val="000000">
                <a:alpha val="9000"/>
              </a:srgbClr>
            </a:outerShdw>
          </a:effectLst>
        </p:spPr>
        <p:txBody>
          <a:bodyPr/>
          <a:lstStyle/>
          <a:p>
            <a:endParaRPr lang="en-US" sz="1200">
              <a:latin typeface="Open Sans" pitchFamily="2" charset="0"/>
              <a:ea typeface="Open Sans" pitchFamily="2" charset="0"/>
              <a:cs typeface="Open Sans" pitchFamily="2" charset="0"/>
            </a:endParaRPr>
          </a:p>
        </p:txBody>
      </p:sp>
      <p:sp>
        <p:nvSpPr>
          <p:cNvPr id="22" name="Text 3">
            <a:extLst>
              <a:ext uri="{FF2B5EF4-FFF2-40B4-BE49-F238E27FC236}">
                <a16:creationId xmlns:a16="http://schemas.microsoft.com/office/drawing/2014/main" id="{60F832C2-1838-A92B-9E54-71BE2835CE6C}"/>
              </a:ext>
            </a:extLst>
          </p:cNvPr>
          <p:cNvSpPr/>
          <p:nvPr/>
        </p:nvSpPr>
        <p:spPr>
          <a:xfrm>
            <a:off x="191613" y="1432717"/>
            <a:ext cx="2130461" cy="185582"/>
          </a:xfrm>
          <a:prstGeom prst="rect">
            <a:avLst/>
          </a:prstGeom>
          <a:noFill/>
          <a:ln/>
        </p:spPr>
        <p:txBody>
          <a:bodyPr wrap="square" lIns="0" tIns="0" rIns="0" bIns="0" rtlCol="0" anchor="t"/>
          <a:lstStyle/>
          <a:p>
            <a:pPr marL="0" indent="0" algn="ctr">
              <a:buNone/>
            </a:pPr>
            <a:r>
              <a:rPr lang="en-US" sz="1200" b="1">
                <a:solidFill>
                  <a:schemeClr val="bg1"/>
                </a:solidFill>
                <a:latin typeface="Open Sans" pitchFamily="2" charset="0"/>
                <a:ea typeface="Open Sans" pitchFamily="2" charset="0"/>
                <a:cs typeface="Open Sans" pitchFamily="2" charset="0"/>
              </a:rPr>
              <a:t>No input validation</a:t>
            </a:r>
            <a:endParaRPr lang="en-US" sz="1200">
              <a:solidFill>
                <a:schemeClr val="bg1"/>
              </a:solidFill>
              <a:latin typeface="Open Sans" pitchFamily="2" charset="0"/>
              <a:ea typeface="Open Sans" pitchFamily="2" charset="0"/>
              <a:cs typeface="Open Sans" pitchFamily="2" charset="0"/>
            </a:endParaRPr>
          </a:p>
        </p:txBody>
      </p:sp>
      <p:sp>
        <p:nvSpPr>
          <p:cNvPr id="23" name="Text 4">
            <a:extLst>
              <a:ext uri="{FF2B5EF4-FFF2-40B4-BE49-F238E27FC236}">
                <a16:creationId xmlns:a16="http://schemas.microsoft.com/office/drawing/2014/main" id="{934E0733-4903-3B16-D4FC-C43F727F29BF}"/>
              </a:ext>
            </a:extLst>
          </p:cNvPr>
          <p:cNvSpPr/>
          <p:nvPr/>
        </p:nvSpPr>
        <p:spPr>
          <a:xfrm>
            <a:off x="429311" y="1809295"/>
            <a:ext cx="1655064" cy="1938528"/>
          </a:xfrm>
          <a:prstGeom prst="rect">
            <a:avLst/>
          </a:prstGeom>
          <a:noFill/>
          <a:ln/>
        </p:spPr>
        <p:txBody>
          <a:bodyPr wrap="square" lIns="0" tIns="0" rIns="0" bIns="0" rtlCol="0" anchor="t"/>
          <a:lstStyle/>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Built for the input you described, not the one you forgot</a:t>
            </a:r>
          </a:p>
          <a:p>
            <a:pPr marL="171450" indent="-171450">
              <a:lnSpc>
                <a:spcPct val="108000"/>
              </a:lnSpc>
              <a:buFont typeface="Arial" panose="020B0604020202020204" pitchFamily="34" charset="0"/>
              <a:buChar char="•"/>
            </a:pPr>
            <a:endParaRPr lang="en-US" sz="12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Every unvalidated input is a crash waiting to happen</a:t>
            </a:r>
          </a:p>
        </p:txBody>
      </p:sp>
      <p:sp>
        <p:nvSpPr>
          <p:cNvPr id="24" name="Shape 5">
            <a:extLst>
              <a:ext uri="{FF2B5EF4-FFF2-40B4-BE49-F238E27FC236}">
                <a16:creationId xmlns:a16="http://schemas.microsoft.com/office/drawing/2014/main" id="{F22598B5-501B-E61A-59E9-F5F62C8A926A}"/>
              </a:ext>
            </a:extLst>
          </p:cNvPr>
          <p:cNvSpPr/>
          <p:nvPr/>
        </p:nvSpPr>
        <p:spPr>
          <a:xfrm>
            <a:off x="2403418" y="1729946"/>
            <a:ext cx="2130462" cy="1853284"/>
          </a:xfrm>
          <a:prstGeom prst="roundRect">
            <a:avLst>
              <a:gd name="adj" fmla="val 2715"/>
            </a:avLst>
          </a:prstGeom>
          <a:solidFill>
            <a:srgbClr val="F5F5F5"/>
          </a:solidFill>
          <a:ln w="6350">
            <a:solidFill>
              <a:srgbClr val="DDDDDD"/>
            </a:solidFill>
            <a:prstDash val="solid"/>
          </a:ln>
          <a:effectLst>
            <a:outerShdw blurRad="63500" dist="25400" dir="2700000" algn="bl" rotWithShape="0">
              <a:srgbClr val="000000">
                <a:alpha val="9000"/>
              </a:srgbClr>
            </a:outerShdw>
          </a:effectLst>
        </p:spPr>
        <p:txBody>
          <a:bodyPr/>
          <a:lstStyle/>
          <a:p>
            <a:endParaRPr lang="en-US" sz="1200">
              <a:latin typeface="Open Sans" pitchFamily="2" charset="0"/>
              <a:ea typeface="Open Sans" pitchFamily="2" charset="0"/>
              <a:cs typeface="Open Sans" pitchFamily="2" charset="0"/>
            </a:endParaRPr>
          </a:p>
        </p:txBody>
      </p:sp>
      <p:sp>
        <p:nvSpPr>
          <p:cNvPr id="25" name="Text 6">
            <a:extLst>
              <a:ext uri="{FF2B5EF4-FFF2-40B4-BE49-F238E27FC236}">
                <a16:creationId xmlns:a16="http://schemas.microsoft.com/office/drawing/2014/main" id="{D118333F-69C2-50FF-AD5C-64BE6DE6D1ED}"/>
              </a:ext>
            </a:extLst>
          </p:cNvPr>
          <p:cNvSpPr/>
          <p:nvPr/>
        </p:nvSpPr>
        <p:spPr>
          <a:xfrm>
            <a:off x="2403419" y="1432717"/>
            <a:ext cx="2130461" cy="185582"/>
          </a:xfrm>
          <a:prstGeom prst="rect">
            <a:avLst/>
          </a:prstGeom>
          <a:noFill/>
          <a:ln/>
        </p:spPr>
        <p:txBody>
          <a:bodyPr wrap="square" lIns="0" tIns="0" rIns="0" bIns="0" rtlCol="0" anchor="t"/>
          <a:lstStyle/>
          <a:p>
            <a:pPr marL="0" indent="0" algn="ctr">
              <a:buNone/>
            </a:pPr>
            <a:r>
              <a:rPr lang="en-US" sz="1200" b="1">
                <a:solidFill>
                  <a:schemeClr val="bg1"/>
                </a:solidFill>
                <a:latin typeface="Open Sans" pitchFamily="2" charset="0"/>
                <a:ea typeface="Open Sans" pitchFamily="2" charset="0"/>
                <a:cs typeface="Open Sans" pitchFamily="2" charset="0"/>
              </a:rPr>
              <a:t>Hardcoded secrets</a:t>
            </a:r>
            <a:endParaRPr lang="en-US" sz="1200">
              <a:solidFill>
                <a:schemeClr val="bg1"/>
              </a:solidFill>
              <a:latin typeface="Open Sans" pitchFamily="2" charset="0"/>
              <a:ea typeface="Open Sans" pitchFamily="2" charset="0"/>
              <a:cs typeface="Open Sans" pitchFamily="2" charset="0"/>
            </a:endParaRPr>
          </a:p>
        </p:txBody>
      </p:sp>
      <p:sp>
        <p:nvSpPr>
          <p:cNvPr id="26" name="Text 7">
            <a:extLst>
              <a:ext uri="{FF2B5EF4-FFF2-40B4-BE49-F238E27FC236}">
                <a16:creationId xmlns:a16="http://schemas.microsoft.com/office/drawing/2014/main" id="{0D5BAC84-A75D-F243-EDFA-61120F02157A}"/>
              </a:ext>
            </a:extLst>
          </p:cNvPr>
          <p:cNvSpPr/>
          <p:nvPr/>
        </p:nvSpPr>
        <p:spPr>
          <a:xfrm>
            <a:off x="2641117" y="1809295"/>
            <a:ext cx="1655064" cy="1938528"/>
          </a:xfrm>
          <a:prstGeom prst="rect">
            <a:avLst/>
          </a:prstGeom>
          <a:noFill/>
          <a:ln/>
        </p:spPr>
        <p:txBody>
          <a:bodyPr wrap="square" lIns="0" tIns="0" rIns="0" bIns="0" rtlCol="0" anchor="t"/>
          <a:lstStyle/>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API keys and passwords written directly into the code</a:t>
            </a:r>
          </a:p>
          <a:p>
            <a:pPr marL="171450" indent="-171450">
              <a:lnSpc>
                <a:spcPct val="108000"/>
              </a:lnSpc>
              <a:buFont typeface="Arial" panose="020B0604020202020204" pitchFamily="34" charset="0"/>
              <a:buChar char="•"/>
            </a:pPr>
            <a:endParaRPr lang="en-US" sz="12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Fine in a PoC. A security incident in production.</a:t>
            </a:r>
          </a:p>
        </p:txBody>
      </p:sp>
      <p:sp>
        <p:nvSpPr>
          <p:cNvPr id="27" name="Shape 8">
            <a:extLst>
              <a:ext uri="{FF2B5EF4-FFF2-40B4-BE49-F238E27FC236}">
                <a16:creationId xmlns:a16="http://schemas.microsoft.com/office/drawing/2014/main" id="{35D90C75-2B9E-65A0-44C3-6FBB2E1D73CF}"/>
              </a:ext>
            </a:extLst>
          </p:cNvPr>
          <p:cNvSpPr/>
          <p:nvPr/>
        </p:nvSpPr>
        <p:spPr>
          <a:xfrm>
            <a:off x="4612341" y="1729946"/>
            <a:ext cx="2130462" cy="1853284"/>
          </a:xfrm>
          <a:prstGeom prst="roundRect">
            <a:avLst>
              <a:gd name="adj" fmla="val 2715"/>
            </a:avLst>
          </a:prstGeom>
          <a:solidFill>
            <a:srgbClr val="F5F5F5"/>
          </a:solidFill>
          <a:ln w="6350">
            <a:solidFill>
              <a:srgbClr val="DDDDDD"/>
            </a:solidFill>
            <a:prstDash val="solid"/>
          </a:ln>
          <a:effectLst>
            <a:outerShdw blurRad="63500" dist="25400" dir="2700000" algn="bl" rotWithShape="0">
              <a:srgbClr val="000000">
                <a:alpha val="9000"/>
              </a:srgbClr>
            </a:outerShdw>
          </a:effectLst>
        </p:spPr>
        <p:txBody>
          <a:bodyPr/>
          <a:lstStyle/>
          <a:p>
            <a:endParaRPr lang="en-US" sz="1200">
              <a:latin typeface="Open Sans" pitchFamily="2" charset="0"/>
              <a:ea typeface="Open Sans" pitchFamily="2" charset="0"/>
              <a:cs typeface="Open Sans" pitchFamily="2" charset="0"/>
            </a:endParaRPr>
          </a:p>
        </p:txBody>
      </p:sp>
      <p:sp>
        <p:nvSpPr>
          <p:cNvPr id="28" name="Text 9">
            <a:extLst>
              <a:ext uri="{FF2B5EF4-FFF2-40B4-BE49-F238E27FC236}">
                <a16:creationId xmlns:a16="http://schemas.microsoft.com/office/drawing/2014/main" id="{E99CA8D5-B010-6646-598E-1B1D9E880AB5}"/>
              </a:ext>
            </a:extLst>
          </p:cNvPr>
          <p:cNvSpPr/>
          <p:nvPr/>
        </p:nvSpPr>
        <p:spPr>
          <a:xfrm>
            <a:off x="4612341" y="1432717"/>
            <a:ext cx="2130462" cy="185582"/>
          </a:xfrm>
          <a:prstGeom prst="rect">
            <a:avLst/>
          </a:prstGeom>
          <a:noFill/>
          <a:ln/>
        </p:spPr>
        <p:txBody>
          <a:bodyPr wrap="square" lIns="0" tIns="0" rIns="0" bIns="0" rtlCol="0" anchor="t"/>
          <a:lstStyle/>
          <a:p>
            <a:pPr marL="0" indent="0" algn="ctr">
              <a:buNone/>
            </a:pPr>
            <a:r>
              <a:rPr lang="en-US" sz="1200" b="1">
                <a:solidFill>
                  <a:schemeClr val="bg1"/>
                </a:solidFill>
                <a:latin typeface="Open Sans" pitchFamily="2" charset="0"/>
                <a:ea typeface="Open Sans" pitchFamily="2" charset="0"/>
                <a:cs typeface="Open Sans" pitchFamily="2" charset="0"/>
              </a:rPr>
              <a:t>No retry logic</a:t>
            </a:r>
            <a:endParaRPr lang="en-US" sz="1200">
              <a:solidFill>
                <a:schemeClr val="bg1"/>
              </a:solidFill>
              <a:latin typeface="Open Sans" pitchFamily="2" charset="0"/>
              <a:ea typeface="Open Sans" pitchFamily="2" charset="0"/>
              <a:cs typeface="Open Sans" pitchFamily="2" charset="0"/>
            </a:endParaRPr>
          </a:p>
        </p:txBody>
      </p:sp>
      <p:sp>
        <p:nvSpPr>
          <p:cNvPr id="29" name="Text 10">
            <a:extLst>
              <a:ext uri="{FF2B5EF4-FFF2-40B4-BE49-F238E27FC236}">
                <a16:creationId xmlns:a16="http://schemas.microsoft.com/office/drawing/2014/main" id="{C3B33D46-9BA0-BB26-DB24-ACF444CBB923}"/>
              </a:ext>
            </a:extLst>
          </p:cNvPr>
          <p:cNvSpPr/>
          <p:nvPr/>
        </p:nvSpPr>
        <p:spPr>
          <a:xfrm>
            <a:off x="4850040" y="1809295"/>
            <a:ext cx="1655064" cy="1938528"/>
          </a:xfrm>
          <a:prstGeom prst="rect">
            <a:avLst/>
          </a:prstGeom>
          <a:noFill/>
          <a:ln/>
        </p:spPr>
        <p:txBody>
          <a:bodyPr wrap="square" lIns="0" tIns="0" rIns="0" bIns="0" rtlCol="0" anchor="t"/>
          <a:lstStyle/>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External API fails, the script crashes</a:t>
            </a:r>
          </a:p>
          <a:p>
            <a:pPr marL="171450" indent="-171450">
              <a:lnSpc>
                <a:spcPct val="108000"/>
              </a:lnSpc>
              <a:buFont typeface="Arial" panose="020B0604020202020204" pitchFamily="34" charset="0"/>
              <a:buChar char="•"/>
            </a:pPr>
            <a:endParaRPr lang="en-US" sz="12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Claude will not add retry or graceful failure unless asked</a:t>
            </a:r>
          </a:p>
        </p:txBody>
      </p:sp>
      <p:sp>
        <p:nvSpPr>
          <p:cNvPr id="30" name="Shape 11">
            <a:extLst>
              <a:ext uri="{FF2B5EF4-FFF2-40B4-BE49-F238E27FC236}">
                <a16:creationId xmlns:a16="http://schemas.microsoft.com/office/drawing/2014/main" id="{25BD1059-3B81-07A9-6D19-B5410AA227D5}"/>
              </a:ext>
            </a:extLst>
          </p:cNvPr>
          <p:cNvSpPr/>
          <p:nvPr/>
        </p:nvSpPr>
        <p:spPr>
          <a:xfrm>
            <a:off x="6828558" y="1729946"/>
            <a:ext cx="2130462" cy="1853284"/>
          </a:xfrm>
          <a:prstGeom prst="roundRect">
            <a:avLst>
              <a:gd name="adj" fmla="val 2715"/>
            </a:avLst>
          </a:prstGeom>
          <a:solidFill>
            <a:srgbClr val="F5F5F5"/>
          </a:solidFill>
          <a:ln w="6350">
            <a:solidFill>
              <a:srgbClr val="DDDDDD"/>
            </a:solidFill>
            <a:prstDash val="solid"/>
          </a:ln>
          <a:effectLst>
            <a:outerShdw blurRad="63500" dist="25400" dir="2700000" algn="bl" rotWithShape="0">
              <a:srgbClr val="000000">
                <a:alpha val="9000"/>
              </a:srgbClr>
            </a:outerShdw>
          </a:effectLst>
        </p:spPr>
        <p:txBody>
          <a:bodyPr/>
          <a:lstStyle/>
          <a:p>
            <a:endParaRPr lang="en-US" sz="1200">
              <a:latin typeface="Open Sans" pitchFamily="2" charset="0"/>
              <a:ea typeface="Open Sans" pitchFamily="2" charset="0"/>
              <a:cs typeface="Open Sans" pitchFamily="2" charset="0"/>
            </a:endParaRPr>
          </a:p>
        </p:txBody>
      </p:sp>
      <p:sp>
        <p:nvSpPr>
          <p:cNvPr id="31" name="Text 12">
            <a:extLst>
              <a:ext uri="{FF2B5EF4-FFF2-40B4-BE49-F238E27FC236}">
                <a16:creationId xmlns:a16="http://schemas.microsoft.com/office/drawing/2014/main" id="{52DF1A5E-5011-2A6A-8B66-CF88E8057410}"/>
              </a:ext>
            </a:extLst>
          </p:cNvPr>
          <p:cNvSpPr/>
          <p:nvPr/>
        </p:nvSpPr>
        <p:spPr>
          <a:xfrm>
            <a:off x="6831125" y="1432717"/>
            <a:ext cx="2125329" cy="185582"/>
          </a:xfrm>
          <a:prstGeom prst="rect">
            <a:avLst/>
          </a:prstGeom>
          <a:noFill/>
          <a:ln/>
        </p:spPr>
        <p:txBody>
          <a:bodyPr wrap="square" lIns="0" tIns="0" rIns="0" bIns="0" rtlCol="0" anchor="t"/>
          <a:lstStyle/>
          <a:p>
            <a:pPr marL="0" indent="0" algn="ctr">
              <a:buNone/>
            </a:pPr>
            <a:r>
              <a:rPr lang="en-US" sz="1200" b="1">
                <a:solidFill>
                  <a:schemeClr val="bg1"/>
                </a:solidFill>
                <a:latin typeface="Open Sans" pitchFamily="2" charset="0"/>
                <a:ea typeface="Open Sans" pitchFamily="2" charset="0"/>
                <a:cs typeface="Open Sans" pitchFamily="2" charset="0"/>
              </a:rPr>
              <a:t>Brittle dependencies</a:t>
            </a:r>
            <a:endParaRPr lang="en-US" sz="1200">
              <a:solidFill>
                <a:schemeClr val="bg1"/>
              </a:solidFill>
              <a:latin typeface="Open Sans" pitchFamily="2" charset="0"/>
              <a:ea typeface="Open Sans" pitchFamily="2" charset="0"/>
              <a:cs typeface="Open Sans" pitchFamily="2" charset="0"/>
            </a:endParaRPr>
          </a:p>
        </p:txBody>
      </p:sp>
      <p:sp>
        <p:nvSpPr>
          <p:cNvPr id="32" name="Text 13">
            <a:extLst>
              <a:ext uri="{FF2B5EF4-FFF2-40B4-BE49-F238E27FC236}">
                <a16:creationId xmlns:a16="http://schemas.microsoft.com/office/drawing/2014/main" id="{34AB30A7-5E80-D79A-A6FA-2A4F0951338E}"/>
              </a:ext>
            </a:extLst>
          </p:cNvPr>
          <p:cNvSpPr/>
          <p:nvPr/>
        </p:nvSpPr>
        <p:spPr>
          <a:xfrm>
            <a:off x="7066257" y="1809295"/>
            <a:ext cx="1655064" cy="1938528"/>
          </a:xfrm>
          <a:prstGeom prst="rect">
            <a:avLst/>
          </a:prstGeom>
          <a:noFill/>
          <a:ln/>
        </p:spPr>
        <p:txBody>
          <a:bodyPr wrap="square" lIns="0" tIns="0" rIns="0" bIns="0" rtlCol="0" anchor="t"/>
          <a:lstStyle/>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Library versions from Claude's training data</a:t>
            </a:r>
          </a:p>
          <a:p>
            <a:pPr marL="171450" indent="-171450">
              <a:lnSpc>
                <a:spcPct val="108000"/>
              </a:lnSpc>
              <a:buFont typeface="Arial" panose="020B0604020202020204" pitchFamily="34" charset="0"/>
              <a:buChar char="•"/>
            </a:pPr>
            <a:endParaRPr lang="en-US" sz="12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May not be current, maintained, or org-approved</a:t>
            </a:r>
          </a:p>
        </p:txBody>
      </p:sp>
      <p:sp>
        <p:nvSpPr>
          <p:cNvPr id="33" name="Shape 14">
            <a:extLst>
              <a:ext uri="{FF2B5EF4-FFF2-40B4-BE49-F238E27FC236}">
                <a16:creationId xmlns:a16="http://schemas.microsoft.com/office/drawing/2014/main" id="{3350AE1C-BDF9-B4EF-C623-93B03BD5352C}"/>
              </a:ext>
            </a:extLst>
          </p:cNvPr>
          <p:cNvSpPr/>
          <p:nvPr/>
        </p:nvSpPr>
        <p:spPr>
          <a:xfrm>
            <a:off x="292608" y="3975770"/>
            <a:ext cx="8558784" cy="384048"/>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34" name="Text 15">
            <a:extLst>
              <a:ext uri="{FF2B5EF4-FFF2-40B4-BE49-F238E27FC236}">
                <a16:creationId xmlns:a16="http://schemas.microsoft.com/office/drawing/2014/main" id="{C5F97422-BA3C-6D6C-46A1-EC6D64C153B1}"/>
              </a:ext>
            </a:extLst>
          </p:cNvPr>
          <p:cNvSpPr/>
          <p:nvPr/>
        </p:nvSpPr>
        <p:spPr>
          <a:xfrm>
            <a:off x="493776" y="3975770"/>
            <a:ext cx="8156448"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These are not mistakes. They are the natural output of code built for proof, not production. To fix this, we have 10x rule.</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550846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CADB1D8D-FB6C-5BB8-4F62-49571710E6D2}"/>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The 10x Rule</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5962E60C-06E3-F838-5455-94775E07939C}"/>
              </a:ext>
            </a:extLst>
          </p:cNvPr>
          <p:cNvSpPr/>
          <p:nvPr/>
        </p:nvSpPr>
        <p:spPr>
          <a:xfrm>
            <a:off x="394212" y="676656"/>
            <a:ext cx="859536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A practical framework for estimating the real engineering effort to productionise a PoC, and for communicating it honestly to stakeholders.</a:t>
            </a:r>
          </a:p>
        </p:txBody>
      </p:sp>
      <p:sp>
        <p:nvSpPr>
          <p:cNvPr id="5" name="Shape 2">
            <a:extLst>
              <a:ext uri="{FF2B5EF4-FFF2-40B4-BE49-F238E27FC236}">
                <a16:creationId xmlns:a16="http://schemas.microsoft.com/office/drawing/2014/main" id="{536F1737-B701-16B1-7F23-A967CE995412}"/>
              </a:ext>
            </a:extLst>
          </p:cNvPr>
          <p:cNvSpPr/>
          <p:nvPr/>
        </p:nvSpPr>
        <p:spPr>
          <a:xfrm>
            <a:off x="292608" y="1207008"/>
            <a:ext cx="4133088" cy="2880360"/>
          </a:xfrm>
          <a:prstGeom prst="roundRect">
            <a:avLst>
              <a:gd name="adj" fmla="val 1905"/>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229D5EF3-3715-544F-1F69-36DEE35FF2E5}"/>
              </a:ext>
            </a:extLst>
          </p:cNvPr>
          <p:cNvSpPr/>
          <p:nvPr/>
        </p:nvSpPr>
        <p:spPr>
          <a:xfrm>
            <a:off x="-777240" y="1337732"/>
            <a:ext cx="3730752" cy="320040"/>
          </a:xfrm>
          <a:prstGeom prst="rect">
            <a:avLst/>
          </a:prstGeom>
          <a:noFill/>
          <a:ln/>
        </p:spPr>
        <p:txBody>
          <a:bodyPr wrap="square" lIns="0" tIns="0" rIns="0" bIns="0" rtlCol="0" anchor="ctr"/>
          <a:lstStyle/>
          <a:p>
            <a:pPr marL="0" indent="0" algn="ctr">
              <a:buNone/>
            </a:pPr>
            <a:r>
              <a:rPr lang="en-US" sz="1400" b="1">
                <a:solidFill>
                  <a:schemeClr val="accent2"/>
                </a:solidFill>
                <a:latin typeface="Open Sans" pitchFamily="2" charset="0"/>
                <a:ea typeface="Open Sans" pitchFamily="2" charset="0"/>
                <a:cs typeface="Open Sans" pitchFamily="2" charset="0"/>
              </a:rPr>
              <a:t>THE RULE</a:t>
            </a:r>
            <a:endParaRPr lang="en-US" sz="14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6E763711-C7B5-4CCA-AFA2-ADF47B2AB09A}"/>
              </a:ext>
            </a:extLst>
          </p:cNvPr>
          <p:cNvSpPr/>
          <p:nvPr/>
        </p:nvSpPr>
        <p:spPr>
          <a:xfrm>
            <a:off x="661910" y="1719072"/>
            <a:ext cx="3394483" cy="2185416"/>
          </a:xfrm>
          <a:prstGeom prst="rect">
            <a:avLst/>
          </a:prstGeom>
          <a:noFill/>
          <a:ln/>
        </p:spPr>
        <p:txBody>
          <a:bodyPr wrap="square" lIns="0" tIns="0" rIns="0" bIns="0" rtlCol="0" anchor="t"/>
          <a:lstStyle/>
          <a:p>
            <a:pPr marL="0" indent="0">
              <a:lnSpc>
                <a:spcPct val="116000"/>
              </a:lnSpc>
              <a:buNone/>
            </a:pPr>
            <a:r>
              <a:rPr lang="en-US" sz="1200">
                <a:solidFill>
                  <a:schemeClr val="tx2"/>
                </a:solidFill>
                <a:latin typeface="Open Sans" pitchFamily="2" charset="0"/>
                <a:ea typeface="Open Sans" pitchFamily="2" charset="0"/>
                <a:cs typeface="Open Sans" pitchFamily="2" charset="0"/>
              </a:rPr>
              <a:t>For every unit of effort it took to build the PoC, estimate 10 units to make it production-ready.</a:t>
            </a:r>
          </a:p>
          <a:p>
            <a:pPr marL="0" indent="0">
              <a:lnSpc>
                <a:spcPct val="116000"/>
              </a:lnSpc>
              <a:buNone/>
            </a:pPr>
            <a:endParaRPr lang="en-US" sz="1200">
              <a:solidFill>
                <a:schemeClr val="tx2"/>
              </a:solidFill>
              <a:latin typeface="Open Sans" pitchFamily="2" charset="0"/>
              <a:ea typeface="Open Sans" pitchFamily="2" charset="0"/>
              <a:cs typeface="Open Sans" pitchFamily="2" charset="0"/>
            </a:endParaRPr>
          </a:p>
          <a:p>
            <a:pPr marL="0" indent="0">
              <a:lnSpc>
                <a:spcPct val="116000"/>
              </a:lnSpc>
              <a:buNone/>
            </a:pPr>
            <a:r>
              <a:rPr lang="en-US" sz="1200">
                <a:solidFill>
                  <a:schemeClr val="tx2"/>
                </a:solidFill>
                <a:latin typeface="Open Sans" pitchFamily="2" charset="0"/>
                <a:ea typeface="Open Sans" pitchFamily="2" charset="0"/>
                <a:cs typeface="Open Sans" pitchFamily="2" charset="0"/>
              </a:rPr>
              <a:t>A PoC built in one session means roughly 10 sessions of engineering effort to ship it.</a:t>
            </a:r>
          </a:p>
          <a:p>
            <a:pPr marL="0" indent="0">
              <a:lnSpc>
                <a:spcPct val="116000"/>
              </a:lnSpc>
              <a:buNone/>
            </a:pPr>
            <a:endParaRPr lang="en-US" sz="1200">
              <a:solidFill>
                <a:schemeClr val="tx2"/>
              </a:solidFill>
              <a:latin typeface="Open Sans" pitchFamily="2" charset="0"/>
              <a:ea typeface="Open Sans" pitchFamily="2" charset="0"/>
              <a:cs typeface="Open Sans" pitchFamily="2" charset="0"/>
            </a:endParaRPr>
          </a:p>
          <a:p>
            <a:pPr marL="0" indent="0">
              <a:lnSpc>
                <a:spcPct val="116000"/>
              </a:lnSpc>
              <a:buNone/>
            </a:pPr>
            <a:r>
              <a:rPr lang="en-US" sz="1200">
                <a:solidFill>
                  <a:schemeClr val="tx2"/>
                </a:solidFill>
                <a:latin typeface="Open Sans" pitchFamily="2" charset="0"/>
                <a:ea typeface="Open Sans" pitchFamily="2" charset="0"/>
                <a:cs typeface="Open Sans" pitchFamily="2" charset="0"/>
              </a:rPr>
              <a:t>This is a heuristic, not a formula. The multiplier shrinks for simple scripts with no external dependencies, and grows for anything touching authentication, compliance, or scale.</a:t>
            </a:r>
          </a:p>
        </p:txBody>
      </p:sp>
      <p:sp>
        <p:nvSpPr>
          <p:cNvPr id="8" name="Shape 5">
            <a:extLst>
              <a:ext uri="{FF2B5EF4-FFF2-40B4-BE49-F238E27FC236}">
                <a16:creationId xmlns:a16="http://schemas.microsoft.com/office/drawing/2014/main" id="{FA2AD0BD-0CE6-1502-8534-F009214B8E32}"/>
              </a:ext>
            </a:extLst>
          </p:cNvPr>
          <p:cNvSpPr/>
          <p:nvPr/>
        </p:nvSpPr>
        <p:spPr>
          <a:xfrm>
            <a:off x="4718304" y="1207008"/>
            <a:ext cx="4133088" cy="2880360"/>
          </a:xfrm>
          <a:prstGeom prst="roundRect">
            <a:avLst>
              <a:gd name="adj" fmla="val 1905"/>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1DA9D214-68E0-D5C9-9449-10A5FB43AB95}"/>
              </a:ext>
            </a:extLst>
          </p:cNvPr>
          <p:cNvSpPr/>
          <p:nvPr/>
        </p:nvSpPr>
        <p:spPr>
          <a:xfrm>
            <a:off x="3716314" y="1337732"/>
            <a:ext cx="3730752" cy="320040"/>
          </a:xfrm>
          <a:prstGeom prst="rect">
            <a:avLst/>
          </a:prstGeom>
          <a:noFill/>
          <a:ln/>
        </p:spPr>
        <p:txBody>
          <a:bodyPr wrap="square" lIns="0" tIns="0" rIns="0" bIns="0" rtlCol="0" anchor="ctr"/>
          <a:lstStyle/>
          <a:p>
            <a:pPr marL="0" indent="0" algn="ctr">
              <a:buNone/>
            </a:pPr>
            <a:r>
              <a:rPr lang="en-US" sz="1400" b="1">
                <a:solidFill>
                  <a:schemeClr val="accent2"/>
                </a:solidFill>
                <a:latin typeface="Open Sans" pitchFamily="2" charset="0"/>
                <a:ea typeface="Open Sans" pitchFamily="2" charset="0"/>
                <a:cs typeface="Open Sans" pitchFamily="2" charset="0"/>
              </a:rPr>
              <a:t>WHY IT EXISTS</a:t>
            </a:r>
            <a:endParaRPr lang="en-US" sz="1400">
              <a:solidFill>
                <a:schemeClr val="accent2"/>
              </a:solidFill>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48718EB2-6411-829E-5D99-37B74DBDEB74}"/>
              </a:ext>
            </a:extLst>
          </p:cNvPr>
          <p:cNvSpPr/>
          <p:nvPr/>
        </p:nvSpPr>
        <p:spPr>
          <a:xfrm>
            <a:off x="4960450" y="1719072"/>
            <a:ext cx="3648795" cy="2185416"/>
          </a:xfrm>
          <a:prstGeom prst="rect">
            <a:avLst/>
          </a:prstGeom>
          <a:noFill/>
          <a:ln/>
        </p:spPr>
        <p:txBody>
          <a:bodyPr wrap="square" lIns="0" tIns="0" rIns="0" bIns="0" rtlCol="0" anchor="t"/>
          <a:lstStyle/>
          <a:p>
            <a:pPr marL="0" indent="0">
              <a:lnSpc>
                <a:spcPct val="116000"/>
              </a:lnSpc>
              <a:buNone/>
            </a:pPr>
            <a:r>
              <a:rPr lang="en-US" sz="1200">
                <a:solidFill>
                  <a:schemeClr val="tx2"/>
                </a:solidFill>
                <a:latin typeface="Open Sans" pitchFamily="2" charset="0"/>
                <a:ea typeface="Open Sans" pitchFamily="2" charset="0"/>
                <a:cs typeface="Open Sans" pitchFamily="2" charset="0"/>
              </a:rPr>
              <a:t>The 10x rule is not pessimism, it is calibration. The gap is structurally large because:</a:t>
            </a:r>
          </a:p>
          <a:p>
            <a:pPr marL="0" indent="0">
              <a:lnSpc>
                <a:spcPct val="116000"/>
              </a:lnSpc>
              <a:buNone/>
            </a:pPr>
            <a:endParaRPr lang="en-US" sz="1200">
              <a:solidFill>
                <a:schemeClr val="tx2"/>
              </a:solidFill>
              <a:latin typeface="Open Sans" pitchFamily="2" charset="0"/>
              <a:ea typeface="Open Sans" pitchFamily="2" charset="0"/>
              <a:cs typeface="Open Sans" pitchFamily="2" charset="0"/>
            </a:endParaRP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Security, compliance, and observability were all out of scope by design</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AI-generated code assumes ideal conditions; production provides none</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Code that works once needs to work every time, for every user, when things go wrong</a:t>
            </a:r>
          </a:p>
        </p:txBody>
      </p:sp>
      <p:sp>
        <p:nvSpPr>
          <p:cNvPr id="11" name="Shape 8">
            <a:extLst>
              <a:ext uri="{FF2B5EF4-FFF2-40B4-BE49-F238E27FC236}">
                <a16:creationId xmlns:a16="http://schemas.microsoft.com/office/drawing/2014/main" id="{714F2895-27C9-4C41-2B63-780274EF0F88}"/>
              </a:ext>
            </a:extLst>
          </p:cNvPr>
          <p:cNvSpPr/>
          <p:nvPr/>
        </p:nvSpPr>
        <p:spPr>
          <a:xfrm>
            <a:off x="292608" y="4248336"/>
            <a:ext cx="8558784" cy="384048"/>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2BF9A926-B6B2-5C15-6372-9DA414892A8C}"/>
              </a:ext>
            </a:extLst>
          </p:cNvPr>
          <p:cNvSpPr/>
          <p:nvPr/>
        </p:nvSpPr>
        <p:spPr>
          <a:xfrm>
            <a:off x="493776" y="4248336"/>
            <a:ext cx="8156448"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When a stakeholder asks, “how hard to build can it be?”, the 10x rule is your answer.</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697310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hape 2">
            <a:extLst>
              <a:ext uri="{FF2B5EF4-FFF2-40B4-BE49-F238E27FC236}">
                <a16:creationId xmlns:a16="http://schemas.microsoft.com/office/drawing/2014/main" id="{69672042-4BB1-5700-A085-DABA0EA80E2C}"/>
              </a:ext>
            </a:extLst>
          </p:cNvPr>
          <p:cNvSpPr/>
          <p:nvPr/>
        </p:nvSpPr>
        <p:spPr>
          <a:xfrm>
            <a:off x="4716327" y="1181223"/>
            <a:ext cx="4133088" cy="3520439"/>
          </a:xfrm>
          <a:prstGeom prst="roundRect">
            <a:avLst>
              <a:gd name="adj" fmla="val 3367"/>
            </a:avLst>
          </a:prstGeom>
          <a:solidFill>
            <a:srgbClr val="FFF8E1"/>
          </a:solidFill>
          <a:ln w="12700">
            <a:solidFill>
              <a:schemeClr val="accent1"/>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6" name="Shape 2">
            <a:extLst>
              <a:ext uri="{FF2B5EF4-FFF2-40B4-BE49-F238E27FC236}">
                <a16:creationId xmlns:a16="http://schemas.microsoft.com/office/drawing/2014/main" id="{B26D970D-EF18-4DFF-4169-158E53F30E80}"/>
              </a:ext>
            </a:extLst>
          </p:cNvPr>
          <p:cNvSpPr/>
          <p:nvPr/>
        </p:nvSpPr>
        <p:spPr>
          <a:xfrm>
            <a:off x="292608" y="1181223"/>
            <a:ext cx="4133088" cy="3520439"/>
          </a:xfrm>
          <a:prstGeom prst="roundRect">
            <a:avLst>
              <a:gd name="adj" fmla="val 3367"/>
            </a:avLst>
          </a:prstGeom>
          <a:solidFill>
            <a:schemeClr val="accent5">
              <a:lumMod val="20000"/>
              <a:lumOff val="80000"/>
            </a:schemeClr>
          </a:solidFill>
          <a:ln w="12700">
            <a:solidFill>
              <a:schemeClr val="accent2"/>
            </a:solidFill>
            <a:prstDash val="solid"/>
          </a:ln>
          <a:effectLst>
            <a:outerShdw blurRad="63500" dist="25400" dir="2700000" algn="bl" rotWithShape="0">
              <a:srgbClr val="000000">
                <a:alpha val="9000"/>
              </a:srgbClr>
            </a:outerShdw>
          </a:effectLst>
        </p:spPr>
        <p:txBody>
          <a:bodyPr/>
          <a:lstStyle/>
          <a:p>
            <a:endParaRPr lang="en-US"/>
          </a:p>
        </p:txBody>
      </p:sp>
      <p:sp>
        <p:nvSpPr>
          <p:cNvPr id="3" name="Text 0">
            <a:extLst>
              <a:ext uri="{FF2B5EF4-FFF2-40B4-BE49-F238E27FC236}">
                <a16:creationId xmlns:a16="http://schemas.microsoft.com/office/drawing/2014/main" id="{F3CAF923-CC61-7776-76A7-6B353F40144B}"/>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Translating a PoC into a Spec</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C4823688-0691-B34A-573D-1113B7AF6A24}"/>
              </a:ext>
            </a:extLst>
          </p:cNvPr>
          <p:cNvSpPr/>
          <p:nvPr/>
        </p:nvSpPr>
        <p:spPr>
          <a:xfrm>
            <a:off x="394212" y="676656"/>
            <a:ext cx="859536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Engineering needs artefacts, not a demo. These close the handoff gap.</a:t>
            </a:r>
          </a:p>
        </p:txBody>
      </p:sp>
      <p:sp>
        <p:nvSpPr>
          <p:cNvPr id="6" name="Text 3">
            <a:extLst>
              <a:ext uri="{FF2B5EF4-FFF2-40B4-BE49-F238E27FC236}">
                <a16:creationId xmlns:a16="http://schemas.microsoft.com/office/drawing/2014/main" id="{D8F1FD39-A863-35DC-FA3F-D90ACF86D0C2}"/>
              </a:ext>
            </a:extLst>
          </p:cNvPr>
          <p:cNvSpPr/>
          <p:nvPr/>
        </p:nvSpPr>
        <p:spPr>
          <a:xfrm>
            <a:off x="493776" y="1329629"/>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ARCHITECTURE DECISION RECORD</a:t>
            </a:r>
            <a:endParaRPr lang="en-US" sz="14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0BEEF16A-B588-B38E-32A6-C6D68C8351DB}"/>
              </a:ext>
            </a:extLst>
          </p:cNvPr>
          <p:cNvSpPr/>
          <p:nvPr/>
        </p:nvSpPr>
        <p:spPr>
          <a:xfrm>
            <a:off x="493776" y="1693671"/>
            <a:ext cx="3730752" cy="1005840"/>
          </a:xfrm>
          <a:prstGeom prst="rect">
            <a:avLst/>
          </a:prstGeom>
          <a:noFill/>
          <a:ln/>
        </p:spPr>
        <p:txBody>
          <a:bodyPr wrap="square" lIns="0" tIns="0" rIns="0" bIns="0" rtlCol="0" anchor="t"/>
          <a:lstStyle/>
          <a:p>
            <a:pPr marL="0" indent="0">
              <a:lnSpc>
                <a:spcPct val="116000"/>
              </a:lnSpc>
              <a:buNone/>
            </a:pPr>
            <a:r>
              <a:rPr lang="en-US" sz="1200">
                <a:solidFill>
                  <a:schemeClr val="tx2"/>
                </a:solidFill>
                <a:latin typeface="Open Sans" pitchFamily="2" charset="0"/>
                <a:ea typeface="Open Sans" pitchFamily="2" charset="0"/>
                <a:cs typeface="Open Sans" pitchFamily="2" charset="0"/>
              </a:rPr>
              <a:t>Records the key technical decisions made during the build, and why alternatives were ruled out. Claude made choices on your behalf; the ADR names the ones that matter.</a:t>
            </a:r>
          </a:p>
        </p:txBody>
      </p:sp>
      <p:sp>
        <p:nvSpPr>
          <p:cNvPr id="8" name="Shape 5">
            <a:extLst>
              <a:ext uri="{FF2B5EF4-FFF2-40B4-BE49-F238E27FC236}">
                <a16:creationId xmlns:a16="http://schemas.microsoft.com/office/drawing/2014/main" id="{EFD758AB-0AC2-9140-3F45-F9B2A07E49ED}"/>
              </a:ext>
            </a:extLst>
          </p:cNvPr>
          <p:cNvSpPr/>
          <p:nvPr/>
        </p:nvSpPr>
        <p:spPr>
          <a:xfrm>
            <a:off x="475488" y="2756916"/>
            <a:ext cx="3767328" cy="1709928"/>
          </a:xfrm>
          <a:prstGeom prst="roundRect">
            <a:avLst>
              <a:gd name="adj" fmla="val 3209"/>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D0D05FAD-34B0-10F7-5F55-66A5EB987CBF}"/>
              </a:ext>
            </a:extLst>
          </p:cNvPr>
          <p:cNvSpPr/>
          <p:nvPr/>
        </p:nvSpPr>
        <p:spPr>
          <a:xfrm>
            <a:off x="676656" y="3075493"/>
            <a:ext cx="3364992" cy="1077345"/>
          </a:xfrm>
          <a:prstGeom prst="rect">
            <a:avLst/>
          </a:prstGeom>
          <a:noFill/>
          <a:ln/>
        </p:spPr>
        <p:txBody>
          <a:bodyPr wrap="square" lIns="0" tIns="0" rIns="0" bIns="0" rtlCol="0" anchor="t"/>
          <a:lstStyle/>
          <a:p>
            <a:pPr marL="0" indent="0">
              <a:lnSpc>
                <a:spcPct val="118000"/>
              </a:lnSpc>
              <a:buNone/>
            </a:pPr>
            <a:r>
              <a:rPr lang="en-US" sz="1200">
                <a:solidFill>
                  <a:srgbClr val="00B050"/>
                </a:solidFill>
                <a:latin typeface="Open Sans" pitchFamily="2" charset="0"/>
                <a:ea typeface="Open Sans" pitchFamily="2" charset="0"/>
                <a:cs typeface="Open Sans" pitchFamily="2" charset="0"/>
              </a:rPr>
              <a:t>claude "List every architectural</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decision made in building this</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PoC. For each, name the</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alternative considered and</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why this choice was made."</a:t>
            </a:r>
          </a:p>
        </p:txBody>
      </p:sp>
      <p:sp>
        <p:nvSpPr>
          <p:cNvPr id="11" name="Text 8">
            <a:extLst>
              <a:ext uri="{FF2B5EF4-FFF2-40B4-BE49-F238E27FC236}">
                <a16:creationId xmlns:a16="http://schemas.microsoft.com/office/drawing/2014/main" id="{503DDC18-6FEE-F83B-6FB1-F0E8E644B70E}"/>
              </a:ext>
            </a:extLst>
          </p:cNvPr>
          <p:cNvSpPr/>
          <p:nvPr/>
        </p:nvSpPr>
        <p:spPr>
          <a:xfrm>
            <a:off x="4919472" y="1329629"/>
            <a:ext cx="3730752" cy="347472"/>
          </a:xfrm>
          <a:prstGeom prst="rect">
            <a:avLst/>
          </a:prstGeom>
          <a:noFill/>
          <a:ln/>
        </p:spPr>
        <p:txBody>
          <a:bodyPr wrap="square" lIns="0" tIns="0" rIns="0" bIns="0" rtlCol="0" anchor="ctr"/>
          <a:lstStyle/>
          <a:p>
            <a:pPr marL="0" indent="0">
              <a:buNone/>
            </a:pPr>
            <a:r>
              <a:rPr lang="en-US" sz="1400" b="1">
                <a:solidFill>
                  <a:schemeClr val="accent1"/>
                </a:solidFill>
                <a:latin typeface="Open Sans" pitchFamily="2" charset="0"/>
                <a:ea typeface="Open Sans" pitchFamily="2" charset="0"/>
                <a:cs typeface="Open Sans" pitchFamily="2" charset="0"/>
              </a:rPr>
              <a:t>DATA FLOW DIAGRAM</a:t>
            </a:r>
            <a:endParaRPr lang="en-US" sz="1400">
              <a:solidFill>
                <a:schemeClr val="accent1"/>
              </a:solidFill>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024E78A4-E9A4-8C3C-71B1-7C65554F4442}"/>
              </a:ext>
            </a:extLst>
          </p:cNvPr>
          <p:cNvSpPr/>
          <p:nvPr/>
        </p:nvSpPr>
        <p:spPr>
          <a:xfrm>
            <a:off x="4919472" y="1693671"/>
            <a:ext cx="3730752" cy="1005840"/>
          </a:xfrm>
          <a:prstGeom prst="rect">
            <a:avLst/>
          </a:prstGeom>
          <a:noFill/>
          <a:ln/>
        </p:spPr>
        <p:txBody>
          <a:bodyPr wrap="square" lIns="0" tIns="0" rIns="0" bIns="0" rtlCol="0" anchor="t"/>
          <a:lstStyle/>
          <a:p>
            <a:pPr marL="0" indent="0">
              <a:lnSpc>
                <a:spcPct val="116000"/>
              </a:lnSpc>
              <a:buNone/>
            </a:pPr>
            <a:r>
              <a:rPr lang="en-US" sz="1200">
                <a:solidFill>
                  <a:schemeClr val="tx2"/>
                </a:solidFill>
                <a:latin typeface="Open Sans" pitchFamily="2" charset="0"/>
                <a:ea typeface="Open Sans" pitchFamily="2" charset="0"/>
                <a:cs typeface="Open Sans" pitchFamily="2" charset="0"/>
              </a:rPr>
              <a:t>A plain-text map of where data comes from, where it goes, and what transforms it. The most expensive production surprises come from data; a diagram surfaces them early.</a:t>
            </a:r>
          </a:p>
        </p:txBody>
      </p:sp>
      <p:sp>
        <p:nvSpPr>
          <p:cNvPr id="13" name="Shape 10">
            <a:extLst>
              <a:ext uri="{FF2B5EF4-FFF2-40B4-BE49-F238E27FC236}">
                <a16:creationId xmlns:a16="http://schemas.microsoft.com/office/drawing/2014/main" id="{E3583325-9A58-3CDD-C2E7-191631DF318A}"/>
              </a:ext>
            </a:extLst>
          </p:cNvPr>
          <p:cNvSpPr/>
          <p:nvPr/>
        </p:nvSpPr>
        <p:spPr>
          <a:xfrm>
            <a:off x="4901184" y="2756916"/>
            <a:ext cx="3767328" cy="1709928"/>
          </a:xfrm>
          <a:prstGeom prst="roundRect">
            <a:avLst>
              <a:gd name="adj" fmla="val 3209"/>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14" name="Text 11">
            <a:extLst>
              <a:ext uri="{FF2B5EF4-FFF2-40B4-BE49-F238E27FC236}">
                <a16:creationId xmlns:a16="http://schemas.microsoft.com/office/drawing/2014/main" id="{19465DE0-9223-E306-39D7-47B81E46D7DF}"/>
              </a:ext>
            </a:extLst>
          </p:cNvPr>
          <p:cNvSpPr/>
          <p:nvPr/>
        </p:nvSpPr>
        <p:spPr>
          <a:xfrm>
            <a:off x="5102352" y="3075493"/>
            <a:ext cx="3364992" cy="1077345"/>
          </a:xfrm>
          <a:prstGeom prst="rect">
            <a:avLst/>
          </a:prstGeom>
          <a:noFill/>
          <a:ln/>
        </p:spPr>
        <p:txBody>
          <a:bodyPr wrap="square" lIns="0" tIns="0" rIns="0" bIns="0" rtlCol="0" anchor="t"/>
          <a:lstStyle/>
          <a:p>
            <a:pPr marL="0" indent="0">
              <a:lnSpc>
                <a:spcPct val="118000"/>
              </a:lnSpc>
              <a:buNone/>
            </a:pPr>
            <a:r>
              <a:rPr lang="en-US" sz="1200">
                <a:solidFill>
                  <a:srgbClr val="00B050"/>
                </a:solidFill>
                <a:latin typeface="Open Sans" pitchFamily="2" charset="0"/>
                <a:ea typeface="Open Sans" pitchFamily="2" charset="0"/>
                <a:cs typeface="Open Sans" pitchFamily="2" charset="0"/>
              </a:rPr>
              <a:t>claude "Generate a simple data</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flow diagram for this project,</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inputs, transformations,</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outputs, and any external</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services."</a:t>
            </a:r>
          </a:p>
        </p:txBody>
      </p:sp>
    </p:spTree>
    <p:extLst>
      <p:ext uri="{BB962C8B-B14F-4D97-AF65-F5344CB8AC3E}">
        <p14:creationId xmlns:p14="http://schemas.microsoft.com/office/powerpoint/2010/main" val="2486761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hape 14">
            <a:extLst>
              <a:ext uri="{FF2B5EF4-FFF2-40B4-BE49-F238E27FC236}">
                <a16:creationId xmlns:a16="http://schemas.microsoft.com/office/drawing/2014/main" id="{009C1F26-E70F-39A6-38EA-E66456AFFE50}"/>
              </a:ext>
            </a:extLst>
          </p:cNvPr>
          <p:cNvSpPr/>
          <p:nvPr/>
        </p:nvSpPr>
        <p:spPr>
          <a:xfrm>
            <a:off x="292608" y="1179575"/>
            <a:ext cx="4133088" cy="3520439"/>
          </a:xfrm>
          <a:prstGeom prst="roundRect">
            <a:avLst>
              <a:gd name="adj" fmla="val 3367"/>
            </a:avLst>
          </a:prstGeom>
          <a:solidFill>
            <a:srgbClr val="E8F5E9"/>
          </a:solidFill>
          <a:ln w="12700">
            <a:solidFill>
              <a:srgbClr val="00B050"/>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3" name="Text 0">
            <a:extLst>
              <a:ext uri="{FF2B5EF4-FFF2-40B4-BE49-F238E27FC236}">
                <a16:creationId xmlns:a16="http://schemas.microsoft.com/office/drawing/2014/main" id="{A5F8722F-3AD1-4B8B-9A88-FD4F907965ED}"/>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Translating a PoC into a Spec</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54520E5F-DF56-2CC2-3B49-F206CA3B1BD5}"/>
              </a:ext>
            </a:extLst>
          </p:cNvPr>
          <p:cNvSpPr/>
          <p:nvPr/>
        </p:nvSpPr>
        <p:spPr>
          <a:xfrm>
            <a:off x="394212" y="676656"/>
            <a:ext cx="859536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Engineering needs artefacts, not a demo. These close the handoff gap.</a:t>
            </a:r>
          </a:p>
        </p:txBody>
      </p:sp>
      <p:sp>
        <p:nvSpPr>
          <p:cNvPr id="6" name="Text 3">
            <a:extLst>
              <a:ext uri="{FF2B5EF4-FFF2-40B4-BE49-F238E27FC236}">
                <a16:creationId xmlns:a16="http://schemas.microsoft.com/office/drawing/2014/main" id="{A3F1F4A7-1E1D-2463-9F37-A1E8BD273A5A}"/>
              </a:ext>
            </a:extLst>
          </p:cNvPr>
          <p:cNvSpPr/>
          <p:nvPr/>
        </p:nvSpPr>
        <p:spPr>
          <a:xfrm>
            <a:off x="512064" y="1346199"/>
            <a:ext cx="3730752" cy="347472"/>
          </a:xfrm>
          <a:prstGeom prst="rect">
            <a:avLst/>
          </a:prstGeom>
          <a:noFill/>
          <a:ln/>
        </p:spPr>
        <p:txBody>
          <a:bodyPr wrap="square" lIns="0" tIns="0" rIns="0" bIns="0" rtlCol="0" anchor="ctr"/>
          <a:lstStyle/>
          <a:p>
            <a:pPr marL="0" indent="0">
              <a:buNone/>
            </a:pPr>
            <a:r>
              <a:rPr lang="en-US" sz="1400" b="1">
                <a:solidFill>
                  <a:srgbClr val="00B050"/>
                </a:solidFill>
                <a:latin typeface="Open Sans" pitchFamily="2" charset="0"/>
                <a:ea typeface="Open Sans" pitchFamily="2" charset="0"/>
                <a:cs typeface="Open Sans" pitchFamily="2" charset="0"/>
              </a:rPr>
              <a:t>API CONTRACT</a:t>
            </a:r>
            <a:endParaRPr lang="en-US" sz="1400">
              <a:solidFill>
                <a:srgbClr val="00B050"/>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7C8E5C3D-D5AC-6232-4856-730EBB053E31}"/>
              </a:ext>
            </a:extLst>
          </p:cNvPr>
          <p:cNvSpPr/>
          <p:nvPr/>
        </p:nvSpPr>
        <p:spPr>
          <a:xfrm>
            <a:off x="512064" y="1738714"/>
            <a:ext cx="3547872" cy="1045217"/>
          </a:xfrm>
          <a:prstGeom prst="rect">
            <a:avLst/>
          </a:prstGeom>
          <a:noFill/>
          <a:ln/>
        </p:spPr>
        <p:txBody>
          <a:bodyPr wrap="square" lIns="0" tIns="0" rIns="0" bIns="0" rtlCol="0" anchor="t"/>
          <a:lstStyle/>
          <a:p>
            <a:pPr marL="0" indent="0">
              <a:lnSpc>
                <a:spcPct val="116000"/>
              </a:lnSpc>
              <a:buNone/>
            </a:pPr>
            <a:r>
              <a:rPr lang="en-US" sz="1200">
                <a:solidFill>
                  <a:schemeClr val="tx2"/>
                </a:solidFill>
                <a:latin typeface="Open Sans" pitchFamily="2" charset="0"/>
                <a:ea typeface="Open Sans" pitchFamily="2" charset="0"/>
                <a:cs typeface="Open Sans" pitchFamily="2" charset="0"/>
              </a:rPr>
              <a:t>Every external API this PoC calls: endpoint, authentication method, expected response, and failure modes. Engineering needs to know which APIs are required, and which are not approved for production.</a:t>
            </a:r>
          </a:p>
        </p:txBody>
      </p:sp>
      <p:sp>
        <p:nvSpPr>
          <p:cNvPr id="8" name="Shape 5">
            <a:extLst>
              <a:ext uri="{FF2B5EF4-FFF2-40B4-BE49-F238E27FC236}">
                <a16:creationId xmlns:a16="http://schemas.microsoft.com/office/drawing/2014/main" id="{9831E133-0846-EC67-B87A-A91159E6E310}"/>
              </a:ext>
            </a:extLst>
          </p:cNvPr>
          <p:cNvSpPr/>
          <p:nvPr/>
        </p:nvSpPr>
        <p:spPr>
          <a:xfrm>
            <a:off x="475488" y="2985516"/>
            <a:ext cx="3767328" cy="1481328"/>
          </a:xfrm>
          <a:prstGeom prst="roundRect">
            <a:avLst>
              <a:gd name="adj" fmla="val 3704"/>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0735C3E8-AA62-567C-06A3-8D73490F708A}"/>
              </a:ext>
            </a:extLst>
          </p:cNvPr>
          <p:cNvSpPr/>
          <p:nvPr/>
        </p:nvSpPr>
        <p:spPr>
          <a:xfrm>
            <a:off x="676656" y="3206326"/>
            <a:ext cx="3364992" cy="1117133"/>
          </a:xfrm>
          <a:prstGeom prst="rect">
            <a:avLst/>
          </a:prstGeom>
          <a:noFill/>
          <a:ln/>
        </p:spPr>
        <p:txBody>
          <a:bodyPr wrap="square" lIns="0" tIns="0" rIns="0" bIns="0" rtlCol="0" anchor="t"/>
          <a:lstStyle/>
          <a:p>
            <a:pPr marL="0" indent="0">
              <a:lnSpc>
                <a:spcPct val="118000"/>
              </a:lnSpc>
              <a:buNone/>
            </a:pPr>
            <a:r>
              <a:rPr lang="en-US" sz="1200">
                <a:solidFill>
                  <a:srgbClr val="00B050"/>
                </a:solidFill>
                <a:latin typeface="Open Sans" pitchFamily="2" charset="0"/>
                <a:ea typeface="Open Sans" pitchFamily="2" charset="0"/>
                <a:cs typeface="Open Sans" pitchFamily="2" charset="0"/>
              </a:rPr>
              <a:t>claude "List every external API</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or service this PoC calls. Name</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the endpoint, the auth method,</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and what happens if it is</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unavailable."</a:t>
            </a:r>
          </a:p>
        </p:txBody>
      </p:sp>
      <p:sp>
        <p:nvSpPr>
          <p:cNvPr id="10" name="Shape 7">
            <a:extLst>
              <a:ext uri="{FF2B5EF4-FFF2-40B4-BE49-F238E27FC236}">
                <a16:creationId xmlns:a16="http://schemas.microsoft.com/office/drawing/2014/main" id="{C43BC4F3-F32A-B52B-2EE4-E97D3CD55C29}"/>
              </a:ext>
            </a:extLst>
          </p:cNvPr>
          <p:cNvSpPr/>
          <p:nvPr/>
        </p:nvSpPr>
        <p:spPr>
          <a:xfrm>
            <a:off x="4718304" y="1188720"/>
            <a:ext cx="4133088" cy="3520440"/>
          </a:xfrm>
          <a:prstGeom prst="roundRect">
            <a:avLst>
              <a:gd name="adj" fmla="val 1558"/>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21394292-685D-1733-2A64-63B38B118398}"/>
              </a:ext>
            </a:extLst>
          </p:cNvPr>
          <p:cNvSpPr/>
          <p:nvPr/>
        </p:nvSpPr>
        <p:spPr>
          <a:xfrm>
            <a:off x="4919472" y="1346199"/>
            <a:ext cx="3730752" cy="347472"/>
          </a:xfrm>
          <a:prstGeom prst="rect">
            <a:avLst/>
          </a:prstGeom>
          <a:noFill/>
          <a:ln/>
        </p:spPr>
        <p:txBody>
          <a:bodyPr wrap="square" lIns="0" tIns="0" rIns="0" bIns="0" rtlCol="0" anchor="ctr"/>
          <a:lstStyle/>
          <a:p>
            <a:pPr marL="0" indent="0">
              <a:buNone/>
            </a:pPr>
            <a:r>
              <a:rPr lang="en-US" sz="1250" b="1">
                <a:latin typeface="Open Sans" pitchFamily="2" charset="0"/>
                <a:ea typeface="Open Sans" pitchFamily="2" charset="0"/>
                <a:cs typeface="Open Sans" pitchFamily="2" charset="0"/>
              </a:rPr>
              <a:t>NON-FUNCTIONAL REQUIREMENTS</a:t>
            </a:r>
            <a:endParaRPr lang="en-US" sz="1250">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523B1D11-6D52-7AD9-070C-F5332E06AF57}"/>
              </a:ext>
            </a:extLst>
          </p:cNvPr>
          <p:cNvSpPr/>
          <p:nvPr/>
        </p:nvSpPr>
        <p:spPr>
          <a:xfrm>
            <a:off x="4919472" y="1738714"/>
            <a:ext cx="3730752" cy="822960"/>
          </a:xfrm>
          <a:prstGeom prst="rect">
            <a:avLst/>
          </a:prstGeom>
          <a:noFill/>
          <a:ln/>
        </p:spPr>
        <p:txBody>
          <a:bodyPr wrap="square" lIns="0" tIns="0" rIns="0" bIns="0" rtlCol="0" anchor="t"/>
          <a:lstStyle/>
          <a:p>
            <a:pPr marL="0" indent="0">
              <a:lnSpc>
                <a:spcPct val="116000"/>
              </a:lnSpc>
              <a:buNone/>
            </a:pPr>
            <a:r>
              <a:rPr lang="en-US" sz="1200">
                <a:solidFill>
                  <a:schemeClr val="tx2"/>
                </a:solidFill>
                <a:latin typeface="Open Sans" pitchFamily="2" charset="0"/>
                <a:ea typeface="Open Sans" pitchFamily="2" charset="0"/>
                <a:cs typeface="Open Sans" pitchFamily="2" charset="0"/>
              </a:rPr>
              <a:t>The requirements that never show up in the demo. Naming them upfront prevents scope surprises in the engineering sprint.</a:t>
            </a:r>
          </a:p>
        </p:txBody>
      </p:sp>
      <p:sp>
        <p:nvSpPr>
          <p:cNvPr id="13" name="Shape 10">
            <a:extLst>
              <a:ext uri="{FF2B5EF4-FFF2-40B4-BE49-F238E27FC236}">
                <a16:creationId xmlns:a16="http://schemas.microsoft.com/office/drawing/2014/main" id="{3C9C8687-ED48-7B6D-9D0F-7F295317D77D}"/>
              </a:ext>
            </a:extLst>
          </p:cNvPr>
          <p:cNvSpPr/>
          <p:nvPr/>
        </p:nvSpPr>
        <p:spPr>
          <a:xfrm>
            <a:off x="4919472" y="2697480"/>
            <a:ext cx="1025957" cy="329184"/>
          </a:xfrm>
          <a:prstGeom prst="roundRect">
            <a:avLst>
              <a:gd name="adj" fmla="val 50000"/>
            </a:avLst>
          </a:prstGeom>
          <a:solidFill>
            <a:schemeClr val="accent2"/>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4" name="Text 11">
            <a:extLst>
              <a:ext uri="{FF2B5EF4-FFF2-40B4-BE49-F238E27FC236}">
                <a16:creationId xmlns:a16="http://schemas.microsoft.com/office/drawing/2014/main" id="{D6992FA8-DB37-29E2-B1BE-33D8B868AF33}"/>
              </a:ext>
            </a:extLst>
          </p:cNvPr>
          <p:cNvSpPr/>
          <p:nvPr/>
        </p:nvSpPr>
        <p:spPr>
          <a:xfrm>
            <a:off x="4919472" y="2697480"/>
            <a:ext cx="1025957" cy="329184"/>
          </a:xfrm>
          <a:prstGeom prst="rect">
            <a:avLst/>
          </a:prstGeom>
          <a:noFill/>
          <a:ln/>
        </p:spPr>
        <p:txBody>
          <a:bodyPr wrap="square" lIns="0" tIns="0" rIns="0" bIns="0" rtlCol="0" anchor="ctr"/>
          <a:lstStyle/>
          <a:p>
            <a:pPr marL="0" indent="0" algn="ctr">
              <a:buNone/>
            </a:pPr>
            <a:r>
              <a:rPr lang="en-US" sz="1000">
                <a:solidFill>
                  <a:schemeClr val="bg1"/>
                </a:solidFill>
                <a:latin typeface="Open Sans" pitchFamily="2" charset="0"/>
                <a:ea typeface="Open Sans" pitchFamily="2" charset="0"/>
                <a:cs typeface="Open Sans" pitchFamily="2" charset="0"/>
              </a:rPr>
              <a:t>Performance</a:t>
            </a:r>
          </a:p>
        </p:txBody>
      </p:sp>
      <p:sp>
        <p:nvSpPr>
          <p:cNvPr id="15" name="Shape 12">
            <a:extLst>
              <a:ext uri="{FF2B5EF4-FFF2-40B4-BE49-F238E27FC236}">
                <a16:creationId xmlns:a16="http://schemas.microsoft.com/office/drawing/2014/main" id="{4EBEF766-CAAC-B5F7-A2B7-2A0CDF4769FF}"/>
              </a:ext>
            </a:extLst>
          </p:cNvPr>
          <p:cNvSpPr/>
          <p:nvPr/>
        </p:nvSpPr>
        <p:spPr>
          <a:xfrm>
            <a:off x="6073445" y="2697480"/>
            <a:ext cx="801014" cy="329184"/>
          </a:xfrm>
          <a:prstGeom prst="roundRect">
            <a:avLst>
              <a:gd name="adj" fmla="val 50000"/>
            </a:avLst>
          </a:prstGeom>
          <a:solidFill>
            <a:schemeClr val="accent2"/>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81AAE453-E61F-BC31-423F-DA145924A0F9}"/>
              </a:ext>
            </a:extLst>
          </p:cNvPr>
          <p:cNvSpPr/>
          <p:nvPr/>
        </p:nvSpPr>
        <p:spPr>
          <a:xfrm>
            <a:off x="6073445" y="2697480"/>
            <a:ext cx="801014" cy="329184"/>
          </a:xfrm>
          <a:prstGeom prst="rect">
            <a:avLst/>
          </a:prstGeom>
          <a:noFill/>
          <a:ln/>
        </p:spPr>
        <p:txBody>
          <a:bodyPr wrap="square" lIns="0" tIns="0" rIns="0" bIns="0" rtlCol="0" anchor="ctr"/>
          <a:lstStyle/>
          <a:p>
            <a:pPr marL="0" indent="0" algn="ctr">
              <a:buNone/>
            </a:pPr>
            <a:r>
              <a:rPr lang="en-US" sz="1000">
                <a:solidFill>
                  <a:schemeClr val="bg1"/>
                </a:solidFill>
                <a:latin typeface="Open Sans" pitchFamily="2" charset="0"/>
                <a:ea typeface="Open Sans" pitchFamily="2" charset="0"/>
                <a:cs typeface="Open Sans" pitchFamily="2" charset="0"/>
              </a:rPr>
              <a:t>Security</a:t>
            </a:r>
          </a:p>
        </p:txBody>
      </p:sp>
      <p:sp>
        <p:nvSpPr>
          <p:cNvPr id="17" name="Shape 14">
            <a:extLst>
              <a:ext uri="{FF2B5EF4-FFF2-40B4-BE49-F238E27FC236}">
                <a16:creationId xmlns:a16="http://schemas.microsoft.com/office/drawing/2014/main" id="{F13FB32E-25B9-8FFE-5F59-23990645F340}"/>
              </a:ext>
            </a:extLst>
          </p:cNvPr>
          <p:cNvSpPr/>
          <p:nvPr/>
        </p:nvSpPr>
        <p:spPr>
          <a:xfrm>
            <a:off x="7002475" y="2697480"/>
            <a:ext cx="950976" cy="329184"/>
          </a:xfrm>
          <a:prstGeom prst="roundRect">
            <a:avLst>
              <a:gd name="adj" fmla="val 50000"/>
            </a:avLst>
          </a:prstGeom>
          <a:solidFill>
            <a:schemeClr val="accent2"/>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8" name="Text 15">
            <a:extLst>
              <a:ext uri="{FF2B5EF4-FFF2-40B4-BE49-F238E27FC236}">
                <a16:creationId xmlns:a16="http://schemas.microsoft.com/office/drawing/2014/main" id="{D3073316-C892-8378-B054-1659F4DA5152}"/>
              </a:ext>
            </a:extLst>
          </p:cNvPr>
          <p:cNvSpPr/>
          <p:nvPr/>
        </p:nvSpPr>
        <p:spPr>
          <a:xfrm>
            <a:off x="7002475" y="2697480"/>
            <a:ext cx="950976" cy="329184"/>
          </a:xfrm>
          <a:prstGeom prst="rect">
            <a:avLst/>
          </a:prstGeom>
          <a:noFill/>
          <a:ln/>
        </p:spPr>
        <p:txBody>
          <a:bodyPr wrap="square" lIns="0" tIns="0" rIns="0" bIns="0" rtlCol="0" anchor="ctr"/>
          <a:lstStyle/>
          <a:p>
            <a:pPr marL="0" indent="0" algn="ctr">
              <a:buNone/>
            </a:pPr>
            <a:r>
              <a:rPr lang="en-US" sz="1000">
                <a:solidFill>
                  <a:schemeClr val="bg1"/>
                </a:solidFill>
                <a:latin typeface="Open Sans" pitchFamily="2" charset="0"/>
                <a:ea typeface="Open Sans" pitchFamily="2" charset="0"/>
                <a:cs typeface="Open Sans" pitchFamily="2" charset="0"/>
              </a:rPr>
              <a:t>Compliance</a:t>
            </a:r>
          </a:p>
        </p:txBody>
      </p:sp>
      <p:sp>
        <p:nvSpPr>
          <p:cNvPr id="19" name="Shape 16">
            <a:extLst>
              <a:ext uri="{FF2B5EF4-FFF2-40B4-BE49-F238E27FC236}">
                <a16:creationId xmlns:a16="http://schemas.microsoft.com/office/drawing/2014/main" id="{E178BF01-B2EC-7D43-DDF7-4908B9116687}"/>
              </a:ext>
            </a:extLst>
          </p:cNvPr>
          <p:cNvSpPr/>
          <p:nvPr/>
        </p:nvSpPr>
        <p:spPr>
          <a:xfrm>
            <a:off x="4919472" y="3136392"/>
            <a:ext cx="1100938" cy="329184"/>
          </a:xfrm>
          <a:prstGeom prst="roundRect">
            <a:avLst>
              <a:gd name="adj" fmla="val 50000"/>
            </a:avLst>
          </a:prstGeom>
          <a:solidFill>
            <a:schemeClr val="accent2"/>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367A94AB-C55F-5B78-52AC-8B0B07B2F325}"/>
              </a:ext>
            </a:extLst>
          </p:cNvPr>
          <p:cNvSpPr/>
          <p:nvPr/>
        </p:nvSpPr>
        <p:spPr>
          <a:xfrm>
            <a:off x="4919472" y="3136392"/>
            <a:ext cx="1100938" cy="329184"/>
          </a:xfrm>
          <a:prstGeom prst="rect">
            <a:avLst/>
          </a:prstGeom>
          <a:noFill/>
          <a:ln/>
        </p:spPr>
        <p:txBody>
          <a:bodyPr wrap="square" lIns="0" tIns="0" rIns="0" bIns="0" rtlCol="0" anchor="ctr"/>
          <a:lstStyle/>
          <a:p>
            <a:pPr marL="0" indent="0" algn="ctr">
              <a:buNone/>
            </a:pPr>
            <a:r>
              <a:rPr lang="en-US" sz="1000">
                <a:solidFill>
                  <a:schemeClr val="bg1"/>
                </a:solidFill>
                <a:latin typeface="Open Sans" pitchFamily="2" charset="0"/>
                <a:ea typeface="Open Sans" pitchFamily="2" charset="0"/>
                <a:cs typeface="Open Sans" pitchFamily="2" charset="0"/>
              </a:rPr>
              <a:t>Availability</a:t>
            </a:r>
          </a:p>
        </p:txBody>
      </p:sp>
    </p:spTree>
    <p:extLst>
      <p:ext uri="{BB962C8B-B14F-4D97-AF65-F5344CB8AC3E}">
        <p14:creationId xmlns:p14="http://schemas.microsoft.com/office/powerpoint/2010/main" val="3927720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F0C2F40B-EF2E-20EB-3CBA-350D76ED833A}"/>
              </a:ext>
            </a:extLst>
          </p:cNvPr>
          <p:cNvSpPr/>
          <p:nvPr/>
        </p:nvSpPr>
        <p:spPr>
          <a:xfrm>
            <a:off x="386330" y="201168"/>
            <a:ext cx="8588264" cy="487155"/>
          </a:xfrm>
          <a:prstGeom prst="rect">
            <a:avLst/>
          </a:prstGeom>
          <a:noFill/>
          <a:ln/>
        </p:spPr>
        <p:txBody>
          <a:bodyPr wrap="square" lIns="0" tIns="0" rIns="0" bIns="0" rtlCol="0" anchor="ctr"/>
          <a:lstStyle/>
          <a:p>
            <a:r>
              <a:rPr lang="en-US" sz="2800" b="1">
                <a:latin typeface="Open Sans" pitchFamily="2" charset="0"/>
                <a:ea typeface="Open Sans" pitchFamily="2" charset="0"/>
                <a:cs typeface="Open Sans" pitchFamily="2" charset="0"/>
              </a:rPr>
              <a:t>Ask Before Going to Production?</a:t>
            </a:r>
          </a:p>
        </p:txBody>
      </p:sp>
      <p:sp>
        <p:nvSpPr>
          <p:cNvPr id="4" name="Text 1">
            <a:extLst>
              <a:ext uri="{FF2B5EF4-FFF2-40B4-BE49-F238E27FC236}">
                <a16:creationId xmlns:a16="http://schemas.microsoft.com/office/drawing/2014/main" id="{D84459D1-04D0-07C4-3D8E-DAF6EAF9FBB8}"/>
              </a:ext>
            </a:extLst>
          </p:cNvPr>
          <p:cNvSpPr/>
          <p:nvPr/>
        </p:nvSpPr>
        <p:spPr>
          <a:xfrm>
            <a:off x="394212" y="676656"/>
            <a:ext cx="859536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Now that you can see the full gap and the spec it would take to close it, ask these four questions in order.</a:t>
            </a:r>
          </a:p>
        </p:txBody>
      </p:sp>
      <p:sp>
        <p:nvSpPr>
          <p:cNvPr id="17" name="Shape 14">
            <a:extLst>
              <a:ext uri="{FF2B5EF4-FFF2-40B4-BE49-F238E27FC236}">
                <a16:creationId xmlns:a16="http://schemas.microsoft.com/office/drawing/2014/main" id="{805B6087-5788-C841-F8F7-5A634159C3DC}"/>
              </a:ext>
            </a:extLst>
          </p:cNvPr>
          <p:cNvSpPr/>
          <p:nvPr/>
        </p:nvSpPr>
        <p:spPr>
          <a:xfrm>
            <a:off x="411480" y="4233672"/>
            <a:ext cx="8321040" cy="384048"/>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15">
            <a:extLst>
              <a:ext uri="{FF2B5EF4-FFF2-40B4-BE49-F238E27FC236}">
                <a16:creationId xmlns:a16="http://schemas.microsoft.com/office/drawing/2014/main" id="{268318DA-F5EF-C385-CAE5-AB97EF65FE4D}"/>
              </a:ext>
            </a:extLst>
          </p:cNvPr>
          <p:cNvSpPr/>
          <p:nvPr/>
        </p:nvSpPr>
        <p:spPr>
          <a:xfrm>
            <a:off x="493776" y="4233672"/>
            <a:ext cx="8156448"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Two yeses and two nos: rework. Four yeses: greenlight. Any no on question 1 or 2: kill it now and learn from it.</a:t>
            </a:r>
            <a:endParaRPr lang="en-US" sz="1200">
              <a:solidFill>
                <a:schemeClr val="tx2"/>
              </a:solidFill>
              <a:latin typeface="Open Sans" pitchFamily="2" charset="0"/>
              <a:ea typeface="Open Sans" pitchFamily="2" charset="0"/>
              <a:cs typeface="Open Sans" pitchFamily="2" charset="0"/>
            </a:endParaRPr>
          </a:p>
        </p:txBody>
      </p:sp>
      <p:sp>
        <p:nvSpPr>
          <p:cNvPr id="35" name="Shape 6">
            <a:extLst>
              <a:ext uri="{FF2B5EF4-FFF2-40B4-BE49-F238E27FC236}">
                <a16:creationId xmlns:a16="http://schemas.microsoft.com/office/drawing/2014/main" id="{6F2B271B-12D1-96C5-C563-1E9BB57AECC6}"/>
              </a:ext>
            </a:extLst>
          </p:cNvPr>
          <p:cNvSpPr/>
          <p:nvPr/>
        </p:nvSpPr>
        <p:spPr>
          <a:xfrm>
            <a:off x="411480" y="1243584"/>
            <a:ext cx="8321040"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6" name="Shape 7">
            <a:extLst>
              <a:ext uri="{FF2B5EF4-FFF2-40B4-BE49-F238E27FC236}">
                <a16:creationId xmlns:a16="http://schemas.microsoft.com/office/drawing/2014/main" id="{06B2A926-2846-FFBB-C4FD-1E9038E13044}"/>
              </a:ext>
            </a:extLst>
          </p:cNvPr>
          <p:cNvSpPr/>
          <p:nvPr/>
        </p:nvSpPr>
        <p:spPr>
          <a:xfrm>
            <a:off x="566928" y="1371600"/>
            <a:ext cx="402336" cy="402336"/>
          </a:xfrm>
          <a:prstGeom prst="ellipse">
            <a:avLst/>
          </a:prstGeom>
          <a:solidFill>
            <a:schemeClr val="accent1"/>
          </a:solidFill>
          <a:ln w="12700">
            <a:noFill/>
            <a:prstDash val="solid"/>
          </a:ln>
        </p:spPr>
        <p:txBody>
          <a:bodyPr/>
          <a:lstStyle/>
          <a:p>
            <a:endParaRPr lang="en-US" sz="1100">
              <a:latin typeface="Open Sans" pitchFamily="2" charset="0"/>
              <a:ea typeface="Open Sans" pitchFamily="2" charset="0"/>
              <a:cs typeface="Open Sans" pitchFamily="2" charset="0"/>
            </a:endParaRPr>
          </a:p>
        </p:txBody>
      </p:sp>
      <p:sp>
        <p:nvSpPr>
          <p:cNvPr id="37" name="Text 8">
            <a:extLst>
              <a:ext uri="{FF2B5EF4-FFF2-40B4-BE49-F238E27FC236}">
                <a16:creationId xmlns:a16="http://schemas.microsoft.com/office/drawing/2014/main" id="{BEB5F723-E84C-1618-00FF-D3428646F097}"/>
              </a:ext>
            </a:extLst>
          </p:cNvPr>
          <p:cNvSpPr/>
          <p:nvPr/>
        </p:nvSpPr>
        <p:spPr>
          <a:xfrm>
            <a:off x="566928" y="1371600"/>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Open Sans" pitchFamily="2" charset="0"/>
                <a:ea typeface="Open Sans" pitchFamily="2" charset="0"/>
                <a:cs typeface="Open Sans" pitchFamily="2" charset="0"/>
              </a:rPr>
              <a:t>01</a:t>
            </a:r>
            <a:endParaRPr lang="en-US" sz="1100" b="1">
              <a:latin typeface="Open Sans" pitchFamily="2" charset="0"/>
              <a:ea typeface="Open Sans" pitchFamily="2" charset="0"/>
              <a:cs typeface="Open Sans" pitchFamily="2" charset="0"/>
            </a:endParaRPr>
          </a:p>
        </p:txBody>
      </p:sp>
      <p:sp>
        <p:nvSpPr>
          <p:cNvPr id="38" name="Text 9">
            <a:extLst>
              <a:ext uri="{FF2B5EF4-FFF2-40B4-BE49-F238E27FC236}">
                <a16:creationId xmlns:a16="http://schemas.microsoft.com/office/drawing/2014/main" id="{3A0AB862-3DF0-DB9B-93AC-D7AC7F3C109E}"/>
              </a:ext>
            </a:extLst>
          </p:cNvPr>
          <p:cNvSpPr/>
          <p:nvPr/>
        </p:nvSpPr>
        <p:spPr>
          <a:xfrm>
            <a:off x="1115567" y="1316736"/>
            <a:ext cx="7237599" cy="256032"/>
          </a:xfrm>
          <a:prstGeom prst="rect">
            <a:avLst/>
          </a:prstGeom>
          <a:noFill/>
          <a:ln/>
        </p:spPr>
        <p:txBody>
          <a:bodyPr wrap="square" lIns="0" tIns="0" rIns="0" bIns="0" rtlCol="0" anchor="ctr"/>
          <a:lstStyle/>
          <a:p>
            <a:pPr>
              <a:lnSpc>
                <a:spcPct val="114000"/>
              </a:lnSpc>
            </a:pPr>
            <a:r>
              <a:rPr lang="en-US" sz="1200" b="1">
                <a:latin typeface="Open Sans" pitchFamily="2" charset="0"/>
                <a:ea typeface="Open Sans" pitchFamily="2" charset="0"/>
                <a:cs typeface="Open Sans" pitchFamily="2" charset="0"/>
              </a:rPr>
              <a:t>Does it answer a real question with measurable value?  </a:t>
            </a:r>
          </a:p>
        </p:txBody>
      </p:sp>
      <p:sp>
        <p:nvSpPr>
          <p:cNvPr id="39" name="Text 10">
            <a:extLst>
              <a:ext uri="{FF2B5EF4-FFF2-40B4-BE49-F238E27FC236}">
                <a16:creationId xmlns:a16="http://schemas.microsoft.com/office/drawing/2014/main" id="{2C843724-534F-EBCD-3A41-0EB2378859ED}"/>
              </a:ext>
            </a:extLst>
          </p:cNvPr>
          <p:cNvSpPr/>
          <p:nvPr/>
        </p:nvSpPr>
        <p:spPr>
          <a:xfrm>
            <a:off x="1115568" y="1591056"/>
            <a:ext cx="7406640" cy="256032"/>
          </a:xfrm>
          <a:prstGeom prst="rect">
            <a:avLst/>
          </a:prstGeom>
          <a:noFill/>
          <a:ln/>
        </p:spPr>
        <p:txBody>
          <a:bodyPr wrap="square" lIns="0" tIns="0" rIns="0" bIns="0" rtlCol="0" anchor="t"/>
          <a:lstStyle/>
          <a:p>
            <a:pPr>
              <a:lnSpc>
                <a:spcPct val="114000"/>
              </a:lnSpc>
            </a:pPr>
            <a:r>
              <a:rPr lang="en-US" sz="1000">
                <a:solidFill>
                  <a:schemeClr val="tx2"/>
                </a:solidFill>
                <a:latin typeface="Open Sans" pitchFamily="2" charset="0"/>
                <a:ea typeface="Open Sans" pitchFamily="2" charset="0"/>
                <a:cs typeface="Open Sans" pitchFamily="2" charset="0"/>
              </a:rPr>
              <a:t>If you cannot name the business metric that improves, the PoC should not go to production, no matter how well it runs.</a:t>
            </a:r>
          </a:p>
        </p:txBody>
      </p:sp>
      <p:sp>
        <p:nvSpPr>
          <p:cNvPr id="40" name="Shape 11">
            <a:extLst>
              <a:ext uri="{FF2B5EF4-FFF2-40B4-BE49-F238E27FC236}">
                <a16:creationId xmlns:a16="http://schemas.microsoft.com/office/drawing/2014/main" id="{AC6E0CBC-37DA-04D5-213F-CE8048DA3BE4}"/>
              </a:ext>
            </a:extLst>
          </p:cNvPr>
          <p:cNvSpPr/>
          <p:nvPr/>
        </p:nvSpPr>
        <p:spPr>
          <a:xfrm>
            <a:off x="1033272" y="1316736"/>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1" name="Shape 12">
            <a:extLst>
              <a:ext uri="{FF2B5EF4-FFF2-40B4-BE49-F238E27FC236}">
                <a16:creationId xmlns:a16="http://schemas.microsoft.com/office/drawing/2014/main" id="{049C96B9-9CC4-B7C3-B013-3B55CDD14FE9}"/>
              </a:ext>
            </a:extLst>
          </p:cNvPr>
          <p:cNvSpPr/>
          <p:nvPr/>
        </p:nvSpPr>
        <p:spPr>
          <a:xfrm>
            <a:off x="411480" y="1962852"/>
            <a:ext cx="8321040"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2" name="Shape 13">
            <a:extLst>
              <a:ext uri="{FF2B5EF4-FFF2-40B4-BE49-F238E27FC236}">
                <a16:creationId xmlns:a16="http://schemas.microsoft.com/office/drawing/2014/main" id="{DAE19461-0743-40F2-222E-A682C5D20886}"/>
              </a:ext>
            </a:extLst>
          </p:cNvPr>
          <p:cNvSpPr/>
          <p:nvPr/>
        </p:nvSpPr>
        <p:spPr>
          <a:xfrm>
            <a:off x="566928" y="2090868"/>
            <a:ext cx="402336" cy="402336"/>
          </a:xfrm>
          <a:prstGeom prst="ellipse">
            <a:avLst/>
          </a:prstGeom>
          <a:solidFill>
            <a:schemeClr val="accent1"/>
          </a:solidFill>
          <a:ln w="12700">
            <a:noFill/>
            <a:prstDash val="solid"/>
          </a:ln>
        </p:spPr>
        <p:txBody>
          <a:bodyPr/>
          <a:lstStyle/>
          <a:p>
            <a:endParaRPr lang="en-US" sz="1100" b="1">
              <a:latin typeface="Open Sans" pitchFamily="2" charset="0"/>
              <a:ea typeface="Open Sans" pitchFamily="2" charset="0"/>
              <a:cs typeface="Open Sans" pitchFamily="2" charset="0"/>
            </a:endParaRPr>
          </a:p>
        </p:txBody>
      </p:sp>
      <p:sp>
        <p:nvSpPr>
          <p:cNvPr id="43" name="Text 14">
            <a:extLst>
              <a:ext uri="{FF2B5EF4-FFF2-40B4-BE49-F238E27FC236}">
                <a16:creationId xmlns:a16="http://schemas.microsoft.com/office/drawing/2014/main" id="{52D590EA-FF21-55D2-0625-EBA35A963C93}"/>
              </a:ext>
            </a:extLst>
          </p:cNvPr>
          <p:cNvSpPr/>
          <p:nvPr/>
        </p:nvSpPr>
        <p:spPr>
          <a:xfrm>
            <a:off x="566928" y="2090868"/>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Open Sans" pitchFamily="2" charset="0"/>
                <a:ea typeface="Open Sans" pitchFamily="2" charset="0"/>
                <a:cs typeface="Open Sans" pitchFamily="2" charset="0"/>
              </a:rPr>
              <a:t>02</a:t>
            </a:r>
            <a:endParaRPr lang="en-US" sz="1100">
              <a:latin typeface="Open Sans" pitchFamily="2" charset="0"/>
              <a:ea typeface="Open Sans" pitchFamily="2" charset="0"/>
              <a:cs typeface="Open Sans" pitchFamily="2" charset="0"/>
            </a:endParaRPr>
          </a:p>
        </p:txBody>
      </p:sp>
      <p:sp>
        <p:nvSpPr>
          <p:cNvPr id="44" name="Text 15">
            <a:extLst>
              <a:ext uri="{FF2B5EF4-FFF2-40B4-BE49-F238E27FC236}">
                <a16:creationId xmlns:a16="http://schemas.microsoft.com/office/drawing/2014/main" id="{D2FD7AB4-3E07-8320-6752-395E66DE9719}"/>
              </a:ext>
            </a:extLst>
          </p:cNvPr>
          <p:cNvSpPr/>
          <p:nvPr/>
        </p:nvSpPr>
        <p:spPr>
          <a:xfrm>
            <a:off x="1115567" y="2036004"/>
            <a:ext cx="6866893" cy="256032"/>
          </a:xfrm>
          <a:prstGeom prst="rect">
            <a:avLst/>
          </a:prstGeom>
          <a:noFill/>
          <a:ln/>
        </p:spPr>
        <p:txBody>
          <a:bodyPr wrap="square" lIns="0" tIns="0" rIns="0" bIns="0" rtlCol="0" anchor="ctr"/>
          <a:lstStyle/>
          <a:p>
            <a:pPr>
              <a:lnSpc>
                <a:spcPct val="114000"/>
              </a:lnSpc>
            </a:pPr>
            <a:r>
              <a:rPr lang="en-US" sz="1200" b="1">
                <a:latin typeface="Open Sans" pitchFamily="2" charset="0"/>
                <a:ea typeface="Open Sans" pitchFamily="2" charset="0"/>
                <a:cs typeface="Open Sans" pitchFamily="2" charset="0"/>
              </a:rPr>
              <a:t>Is the production gap closable within a realistic budget and timeline?  </a:t>
            </a:r>
          </a:p>
        </p:txBody>
      </p:sp>
      <p:sp>
        <p:nvSpPr>
          <p:cNvPr id="45" name="Text 16">
            <a:extLst>
              <a:ext uri="{FF2B5EF4-FFF2-40B4-BE49-F238E27FC236}">
                <a16:creationId xmlns:a16="http://schemas.microsoft.com/office/drawing/2014/main" id="{491C1537-4F23-2C19-3BAE-0B55C55CD222}"/>
              </a:ext>
            </a:extLst>
          </p:cNvPr>
          <p:cNvSpPr/>
          <p:nvPr/>
        </p:nvSpPr>
        <p:spPr>
          <a:xfrm>
            <a:off x="1115568" y="2310324"/>
            <a:ext cx="7406640" cy="256032"/>
          </a:xfrm>
          <a:prstGeom prst="rect">
            <a:avLst/>
          </a:prstGeom>
          <a:noFill/>
          <a:ln/>
        </p:spPr>
        <p:txBody>
          <a:bodyPr wrap="square" lIns="0" tIns="0" rIns="0" bIns="0" rtlCol="0" anchor="t"/>
          <a:lstStyle/>
          <a:p>
            <a:pPr>
              <a:lnSpc>
                <a:spcPct val="114000"/>
              </a:lnSpc>
            </a:pPr>
            <a:r>
              <a:rPr lang="en-US" sz="1000">
                <a:solidFill>
                  <a:schemeClr val="tx2"/>
                </a:solidFill>
                <a:latin typeface="Open Sans" pitchFamily="2" charset="0"/>
                <a:ea typeface="Open Sans" pitchFamily="2" charset="0"/>
                <a:cs typeface="Open Sans" pitchFamily="2" charset="0"/>
              </a:rPr>
              <a:t>Apply the 10x rule. If the estimate exceeds what the business will invest, the conversation ends here, not in month four.</a:t>
            </a:r>
          </a:p>
        </p:txBody>
      </p:sp>
      <p:sp>
        <p:nvSpPr>
          <p:cNvPr id="46" name="Shape 17">
            <a:extLst>
              <a:ext uri="{FF2B5EF4-FFF2-40B4-BE49-F238E27FC236}">
                <a16:creationId xmlns:a16="http://schemas.microsoft.com/office/drawing/2014/main" id="{EB24701C-9F47-9185-00BE-F03A5E9AE8AB}"/>
              </a:ext>
            </a:extLst>
          </p:cNvPr>
          <p:cNvSpPr/>
          <p:nvPr/>
        </p:nvSpPr>
        <p:spPr>
          <a:xfrm>
            <a:off x="1033272" y="2036004"/>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7" name="Shape 18">
            <a:extLst>
              <a:ext uri="{FF2B5EF4-FFF2-40B4-BE49-F238E27FC236}">
                <a16:creationId xmlns:a16="http://schemas.microsoft.com/office/drawing/2014/main" id="{8941136A-0AC0-D9BD-1DAD-26C81676E8B0}"/>
              </a:ext>
            </a:extLst>
          </p:cNvPr>
          <p:cNvSpPr/>
          <p:nvPr/>
        </p:nvSpPr>
        <p:spPr>
          <a:xfrm>
            <a:off x="411480" y="2671602"/>
            <a:ext cx="8321040"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8" name="Shape 19">
            <a:extLst>
              <a:ext uri="{FF2B5EF4-FFF2-40B4-BE49-F238E27FC236}">
                <a16:creationId xmlns:a16="http://schemas.microsoft.com/office/drawing/2014/main" id="{1A557038-5CE2-5E9A-82A7-8FA182D4781E}"/>
              </a:ext>
            </a:extLst>
          </p:cNvPr>
          <p:cNvSpPr/>
          <p:nvPr/>
        </p:nvSpPr>
        <p:spPr>
          <a:xfrm>
            <a:off x="566928" y="2799618"/>
            <a:ext cx="402336" cy="402336"/>
          </a:xfrm>
          <a:prstGeom prst="ellipse">
            <a:avLst/>
          </a:prstGeom>
          <a:solidFill>
            <a:schemeClr val="accent1"/>
          </a:solidFill>
          <a:ln w="12700">
            <a:noFill/>
            <a:prstDash val="solid"/>
          </a:ln>
        </p:spPr>
        <p:txBody>
          <a:bodyPr/>
          <a:lstStyle/>
          <a:p>
            <a:endParaRPr lang="en-US" sz="1100">
              <a:latin typeface="Open Sans" pitchFamily="2" charset="0"/>
              <a:ea typeface="Open Sans" pitchFamily="2" charset="0"/>
              <a:cs typeface="Open Sans" pitchFamily="2" charset="0"/>
            </a:endParaRPr>
          </a:p>
        </p:txBody>
      </p:sp>
      <p:sp>
        <p:nvSpPr>
          <p:cNvPr id="49" name="Text 20">
            <a:extLst>
              <a:ext uri="{FF2B5EF4-FFF2-40B4-BE49-F238E27FC236}">
                <a16:creationId xmlns:a16="http://schemas.microsoft.com/office/drawing/2014/main" id="{D38B28AC-BA27-0C53-97C5-4DF64B645F59}"/>
              </a:ext>
            </a:extLst>
          </p:cNvPr>
          <p:cNvSpPr/>
          <p:nvPr/>
        </p:nvSpPr>
        <p:spPr>
          <a:xfrm>
            <a:off x="566928" y="2799618"/>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Open Sans" pitchFamily="2" charset="0"/>
                <a:ea typeface="Open Sans" pitchFamily="2" charset="0"/>
                <a:cs typeface="Open Sans" pitchFamily="2" charset="0"/>
              </a:rPr>
              <a:t>03</a:t>
            </a:r>
            <a:endParaRPr lang="en-US" sz="1100" b="1">
              <a:latin typeface="Open Sans" pitchFamily="2" charset="0"/>
              <a:ea typeface="Open Sans" pitchFamily="2" charset="0"/>
              <a:cs typeface="Open Sans" pitchFamily="2" charset="0"/>
            </a:endParaRPr>
          </a:p>
        </p:txBody>
      </p:sp>
      <p:sp>
        <p:nvSpPr>
          <p:cNvPr id="50" name="Text 21">
            <a:extLst>
              <a:ext uri="{FF2B5EF4-FFF2-40B4-BE49-F238E27FC236}">
                <a16:creationId xmlns:a16="http://schemas.microsoft.com/office/drawing/2014/main" id="{83CB4CA6-375A-D9E7-DCF3-F7B5C7C08E4C}"/>
              </a:ext>
            </a:extLst>
          </p:cNvPr>
          <p:cNvSpPr/>
          <p:nvPr/>
        </p:nvSpPr>
        <p:spPr>
          <a:xfrm>
            <a:off x="1115567" y="2744754"/>
            <a:ext cx="6455000" cy="256032"/>
          </a:xfrm>
          <a:prstGeom prst="rect">
            <a:avLst/>
          </a:prstGeom>
          <a:noFill/>
          <a:ln/>
        </p:spPr>
        <p:txBody>
          <a:bodyPr wrap="square" lIns="0" tIns="0" rIns="0" bIns="0" rtlCol="0" anchor="ctr"/>
          <a:lstStyle/>
          <a:p>
            <a:pPr>
              <a:lnSpc>
                <a:spcPct val="114000"/>
              </a:lnSpc>
            </a:pPr>
            <a:r>
              <a:rPr lang="en-US" sz="1200" b="1">
                <a:latin typeface="Open Sans" pitchFamily="2" charset="0"/>
                <a:ea typeface="Open Sans" pitchFamily="2" charset="0"/>
                <a:cs typeface="Open Sans" pitchFamily="2" charset="0"/>
              </a:rPr>
              <a:t>Does engineering have what they need to pick it up?  </a:t>
            </a:r>
          </a:p>
        </p:txBody>
      </p:sp>
      <p:sp>
        <p:nvSpPr>
          <p:cNvPr id="51" name="Text 22">
            <a:extLst>
              <a:ext uri="{FF2B5EF4-FFF2-40B4-BE49-F238E27FC236}">
                <a16:creationId xmlns:a16="http://schemas.microsoft.com/office/drawing/2014/main" id="{6FA18F99-D003-E60B-828A-96C9AF11B397}"/>
              </a:ext>
            </a:extLst>
          </p:cNvPr>
          <p:cNvSpPr/>
          <p:nvPr/>
        </p:nvSpPr>
        <p:spPr>
          <a:xfrm>
            <a:off x="1115568" y="3019074"/>
            <a:ext cx="7406640" cy="256032"/>
          </a:xfrm>
          <a:prstGeom prst="rect">
            <a:avLst/>
          </a:prstGeom>
          <a:noFill/>
          <a:ln/>
        </p:spPr>
        <p:txBody>
          <a:bodyPr wrap="square" lIns="0" tIns="0" rIns="0" bIns="0" rtlCol="0" anchor="t"/>
          <a:lstStyle/>
          <a:p>
            <a:pPr>
              <a:lnSpc>
                <a:spcPct val="114000"/>
              </a:lnSpc>
            </a:pPr>
            <a:r>
              <a:rPr lang="en-US" sz="1000" err="1">
                <a:solidFill>
                  <a:schemeClr val="tx2"/>
                </a:solidFill>
                <a:latin typeface="Open Sans" pitchFamily="2" charset="0"/>
                <a:ea typeface="Open Sans" pitchFamily="2" charset="0"/>
                <a:cs typeface="Open Sans" pitchFamily="2" charset="0"/>
              </a:rPr>
              <a:t>CLAUDE.md</a:t>
            </a:r>
            <a:r>
              <a:rPr lang="en-US" sz="1000">
                <a:solidFill>
                  <a:schemeClr val="tx2"/>
                </a:solidFill>
                <a:latin typeface="Open Sans" pitchFamily="2" charset="0"/>
                <a:ea typeface="Open Sans" pitchFamily="2" charset="0"/>
                <a:cs typeface="Open Sans" pitchFamily="2" charset="0"/>
              </a:rPr>
              <a:t>, </a:t>
            </a:r>
            <a:r>
              <a:rPr lang="en-US" sz="1000" err="1">
                <a:solidFill>
                  <a:schemeClr val="tx2"/>
                </a:solidFill>
                <a:latin typeface="Open Sans" pitchFamily="2" charset="0"/>
                <a:ea typeface="Open Sans" pitchFamily="2" charset="0"/>
                <a:cs typeface="Open Sans" pitchFamily="2" charset="0"/>
              </a:rPr>
              <a:t>HANDOFF.md</a:t>
            </a:r>
            <a:r>
              <a:rPr lang="en-US" sz="1000">
                <a:solidFill>
                  <a:schemeClr val="tx2"/>
                </a:solidFill>
                <a:latin typeface="Open Sans" pitchFamily="2" charset="0"/>
                <a:ea typeface="Open Sans" pitchFamily="2" charset="0"/>
                <a:cs typeface="Open Sans" pitchFamily="2" charset="0"/>
              </a:rPr>
              <a:t>, review findings, a clear scope boundary. If any of these are missing, it is not ready to hand over.</a:t>
            </a:r>
          </a:p>
        </p:txBody>
      </p:sp>
      <p:sp>
        <p:nvSpPr>
          <p:cNvPr id="52" name="Shape 23">
            <a:extLst>
              <a:ext uri="{FF2B5EF4-FFF2-40B4-BE49-F238E27FC236}">
                <a16:creationId xmlns:a16="http://schemas.microsoft.com/office/drawing/2014/main" id="{2C933D5D-C0C2-CD0E-4071-DA9A5FF22866}"/>
              </a:ext>
            </a:extLst>
          </p:cNvPr>
          <p:cNvSpPr/>
          <p:nvPr/>
        </p:nvSpPr>
        <p:spPr>
          <a:xfrm>
            <a:off x="1033272" y="2744754"/>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3" name="Shape 24">
            <a:extLst>
              <a:ext uri="{FF2B5EF4-FFF2-40B4-BE49-F238E27FC236}">
                <a16:creationId xmlns:a16="http://schemas.microsoft.com/office/drawing/2014/main" id="{B83E0F88-8D1F-7D0E-81B9-572A6755D504}"/>
              </a:ext>
            </a:extLst>
          </p:cNvPr>
          <p:cNvSpPr/>
          <p:nvPr/>
        </p:nvSpPr>
        <p:spPr>
          <a:xfrm>
            <a:off x="411480" y="3403122"/>
            <a:ext cx="8321040"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4" name="Shape 25">
            <a:extLst>
              <a:ext uri="{FF2B5EF4-FFF2-40B4-BE49-F238E27FC236}">
                <a16:creationId xmlns:a16="http://schemas.microsoft.com/office/drawing/2014/main" id="{CD2E601E-1106-9901-DC8A-B80C373F417C}"/>
              </a:ext>
            </a:extLst>
          </p:cNvPr>
          <p:cNvSpPr/>
          <p:nvPr/>
        </p:nvSpPr>
        <p:spPr>
          <a:xfrm>
            <a:off x="566928" y="3531138"/>
            <a:ext cx="402336" cy="402336"/>
          </a:xfrm>
          <a:prstGeom prst="ellipse">
            <a:avLst/>
          </a:prstGeom>
          <a:solidFill>
            <a:schemeClr val="accent1"/>
          </a:solidFill>
          <a:ln w="12700">
            <a:noFill/>
            <a:prstDash val="solid"/>
          </a:ln>
        </p:spPr>
        <p:txBody>
          <a:bodyPr/>
          <a:lstStyle/>
          <a:p>
            <a:endParaRPr lang="en-US" sz="1100">
              <a:latin typeface="Open Sans" pitchFamily="2" charset="0"/>
              <a:ea typeface="Open Sans" pitchFamily="2" charset="0"/>
              <a:cs typeface="Open Sans" pitchFamily="2" charset="0"/>
            </a:endParaRPr>
          </a:p>
        </p:txBody>
      </p:sp>
      <p:sp>
        <p:nvSpPr>
          <p:cNvPr id="55" name="Text 26">
            <a:extLst>
              <a:ext uri="{FF2B5EF4-FFF2-40B4-BE49-F238E27FC236}">
                <a16:creationId xmlns:a16="http://schemas.microsoft.com/office/drawing/2014/main" id="{B3E84DA9-8D18-D2CE-E570-D2437C2763EF}"/>
              </a:ext>
            </a:extLst>
          </p:cNvPr>
          <p:cNvSpPr/>
          <p:nvPr/>
        </p:nvSpPr>
        <p:spPr>
          <a:xfrm>
            <a:off x="566928" y="3531138"/>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Open Sans" pitchFamily="2" charset="0"/>
                <a:ea typeface="Open Sans" pitchFamily="2" charset="0"/>
                <a:cs typeface="Open Sans" pitchFamily="2" charset="0"/>
              </a:rPr>
              <a:t>04</a:t>
            </a:r>
            <a:endParaRPr lang="en-US" sz="1100" b="1">
              <a:latin typeface="Open Sans" pitchFamily="2" charset="0"/>
              <a:ea typeface="Open Sans" pitchFamily="2" charset="0"/>
              <a:cs typeface="Open Sans" pitchFamily="2" charset="0"/>
            </a:endParaRPr>
          </a:p>
        </p:txBody>
      </p:sp>
      <p:sp>
        <p:nvSpPr>
          <p:cNvPr id="56" name="Text 27">
            <a:extLst>
              <a:ext uri="{FF2B5EF4-FFF2-40B4-BE49-F238E27FC236}">
                <a16:creationId xmlns:a16="http://schemas.microsoft.com/office/drawing/2014/main" id="{95278686-52E9-1F45-941C-229F6D34F972}"/>
              </a:ext>
            </a:extLst>
          </p:cNvPr>
          <p:cNvSpPr/>
          <p:nvPr/>
        </p:nvSpPr>
        <p:spPr>
          <a:xfrm>
            <a:off x="1115567" y="3476274"/>
            <a:ext cx="4988667" cy="256032"/>
          </a:xfrm>
          <a:prstGeom prst="rect">
            <a:avLst/>
          </a:prstGeom>
          <a:noFill/>
          <a:ln/>
        </p:spPr>
        <p:txBody>
          <a:bodyPr wrap="square" lIns="0" tIns="0" rIns="0" bIns="0" rtlCol="0" anchor="ctr"/>
          <a:lstStyle/>
          <a:p>
            <a:pPr>
              <a:lnSpc>
                <a:spcPct val="114000"/>
              </a:lnSpc>
            </a:pPr>
            <a:r>
              <a:rPr lang="en-US" sz="1200" b="1">
                <a:latin typeface="Open Sans" pitchFamily="2" charset="0"/>
                <a:ea typeface="Open Sans" pitchFamily="2" charset="0"/>
                <a:cs typeface="Open Sans" pitchFamily="2" charset="0"/>
              </a:rPr>
              <a:t>Is there a named owner on the other side?  </a:t>
            </a:r>
          </a:p>
        </p:txBody>
      </p:sp>
      <p:sp>
        <p:nvSpPr>
          <p:cNvPr id="57" name="Text 28">
            <a:extLst>
              <a:ext uri="{FF2B5EF4-FFF2-40B4-BE49-F238E27FC236}">
                <a16:creationId xmlns:a16="http://schemas.microsoft.com/office/drawing/2014/main" id="{3C44E633-C4C3-1109-E453-D876001235B4}"/>
              </a:ext>
            </a:extLst>
          </p:cNvPr>
          <p:cNvSpPr/>
          <p:nvPr/>
        </p:nvSpPr>
        <p:spPr>
          <a:xfrm>
            <a:off x="1115568" y="3750594"/>
            <a:ext cx="7406640" cy="256032"/>
          </a:xfrm>
          <a:prstGeom prst="rect">
            <a:avLst/>
          </a:prstGeom>
          <a:noFill/>
          <a:ln/>
        </p:spPr>
        <p:txBody>
          <a:bodyPr wrap="square" lIns="0" tIns="0" rIns="0" bIns="0" rtlCol="0" anchor="t"/>
          <a:lstStyle/>
          <a:p>
            <a:pPr>
              <a:lnSpc>
                <a:spcPct val="114000"/>
              </a:lnSpc>
            </a:pPr>
            <a:r>
              <a:rPr lang="en-US" sz="1000">
                <a:solidFill>
                  <a:schemeClr val="tx2"/>
                </a:solidFill>
                <a:latin typeface="Open Sans" pitchFamily="2" charset="0"/>
                <a:ea typeface="Open Sans" pitchFamily="2" charset="0"/>
                <a:cs typeface="Open Sans" pitchFamily="2" charset="0"/>
              </a:rPr>
              <a:t>Production code needs someone to maintain it, monitor it, and fix it. No named owner means no production path.</a:t>
            </a:r>
          </a:p>
        </p:txBody>
      </p:sp>
      <p:sp>
        <p:nvSpPr>
          <p:cNvPr id="58" name="Shape 29">
            <a:extLst>
              <a:ext uri="{FF2B5EF4-FFF2-40B4-BE49-F238E27FC236}">
                <a16:creationId xmlns:a16="http://schemas.microsoft.com/office/drawing/2014/main" id="{3B7304BB-DD76-BF10-95C4-DF27B78153E0}"/>
              </a:ext>
            </a:extLst>
          </p:cNvPr>
          <p:cNvSpPr/>
          <p:nvPr/>
        </p:nvSpPr>
        <p:spPr>
          <a:xfrm>
            <a:off x="1033272" y="3476274"/>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224027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4EE56097-2859-8210-8816-60672FA0A084}"/>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Greenlight or Kill?</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6E39C905-BAFB-33D7-FEAC-DB29150A682D}"/>
              </a:ext>
            </a:extLst>
          </p:cNvPr>
          <p:cNvSpPr/>
          <p:nvPr/>
        </p:nvSpPr>
        <p:spPr>
          <a:xfrm>
            <a:off x="394212" y="676656"/>
            <a:ext cx="8595360" cy="292608"/>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Read the scenario. Vote before we discuss.</a:t>
            </a:r>
          </a:p>
        </p:txBody>
      </p:sp>
      <p:sp>
        <p:nvSpPr>
          <p:cNvPr id="5" name="Shape 2">
            <a:extLst>
              <a:ext uri="{FF2B5EF4-FFF2-40B4-BE49-F238E27FC236}">
                <a16:creationId xmlns:a16="http://schemas.microsoft.com/office/drawing/2014/main" id="{59B18542-EF4A-9471-C457-170BF679B00C}"/>
              </a:ext>
            </a:extLst>
          </p:cNvPr>
          <p:cNvSpPr/>
          <p:nvPr/>
        </p:nvSpPr>
        <p:spPr>
          <a:xfrm>
            <a:off x="8107070" y="201168"/>
            <a:ext cx="689458" cy="292608"/>
          </a:xfrm>
          <a:prstGeom prst="roundRect">
            <a:avLst>
              <a:gd name="adj" fmla="val 15625"/>
            </a:avLst>
          </a:prstGeom>
          <a:solidFill>
            <a:schemeClr val="accent2"/>
          </a:solidFill>
          <a:ln w="15875">
            <a:noFill/>
            <a:prstDash val="solid"/>
          </a:ln>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376D88EA-A379-643F-DFFD-C6221391C111}"/>
              </a:ext>
            </a:extLst>
          </p:cNvPr>
          <p:cNvSpPr/>
          <p:nvPr/>
        </p:nvSpPr>
        <p:spPr>
          <a:xfrm>
            <a:off x="8107070" y="201168"/>
            <a:ext cx="689458" cy="292608"/>
          </a:xfrm>
          <a:prstGeom prst="rect">
            <a:avLst/>
          </a:prstGeom>
          <a:noFill/>
          <a:ln/>
        </p:spPr>
        <p:txBody>
          <a:bodyPr wrap="square" lIns="0" tIns="0" rIns="0" bIns="0" rtlCol="0" anchor="ctr"/>
          <a:lstStyle/>
          <a:p>
            <a:pPr marL="0" indent="0" algn="ctr">
              <a:buNone/>
            </a:pPr>
            <a:r>
              <a:rPr lang="en-US" sz="850" b="1" kern="0" spc="100">
                <a:solidFill>
                  <a:schemeClr val="bg1"/>
                </a:solidFill>
                <a:latin typeface="Open Sans" pitchFamily="2" charset="0"/>
                <a:ea typeface="Open Sans" pitchFamily="2" charset="0"/>
                <a:cs typeface="Open Sans" pitchFamily="2" charset="0"/>
              </a:rPr>
              <a:t>REFLECT</a:t>
            </a:r>
            <a:endParaRPr lang="en-US" sz="850">
              <a:solidFill>
                <a:schemeClr val="bg1"/>
              </a:solidFill>
              <a:latin typeface="Open Sans" pitchFamily="2" charset="0"/>
              <a:ea typeface="Open Sans" pitchFamily="2" charset="0"/>
              <a:cs typeface="Open Sans" pitchFamily="2" charset="0"/>
            </a:endParaRPr>
          </a:p>
        </p:txBody>
      </p:sp>
      <p:sp>
        <p:nvSpPr>
          <p:cNvPr id="7" name="Shape 5">
            <a:extLst>
              <a:ext uri="{FF2B5EF4-FFF2-40B4-BE49-F238E27FC236}">
                <a16:creationId xmlns:a16="http://schemas.microsoft.com/office/drawing/2014/main" id="{0A209132-03D3-FF52-9428-8B71ED2A099A}"/>
              </a:ext>
            </a:extLst>
          </p:cNvPr>
          <p:cNvSpPr/>
          <p:nvPr/>
        </p:nvSpPr>
        <p:spPr>
          <a:xfrm>
            <a:off x="428080" y="1097280"/>
            <a:ext cx="8284121" cy="914400"/>
          </a:xfrm>
          <a:prstGeom prst="roundRect">
            <a:avLst>
              <a:gd name="adj" fmla="val 6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8" name="Text 6">
            <a:extLst>
              <a:ext uri="{FF2B5EF4-FFF2-40B4-BE49-F238E27FC236}">
                <a16:creationId xmlns:a16="http://schemas.microsoft.com/office/drawing/2014/main" id="{DF1CC457-0040-FBD0-D3A1-E2855101C6A4}"/>
              </a:ext>
            </a:extLst>
          </p:cNvPr>
          <p:cNvSpPr/>
          <p:nvPr/>
        </p:nvSpPr>
        <p:spPr>
          <a:xfrm>
            <a:off x="638392" y="1152144"/>
            <a:ext cx="7876996" cy="804672"/>
          </a:xfrm>
          <a:prstGeom prst="rect">
            <a:avLst/>
          </a:prstGeom>
          <a:noFill/>
          <a:ln/>
        </p:spPr>
        <p:txBody>
          <a:bodyPr wrap="square" lIns="0" tIns="0" rIns="0" bIns="0" rtlCol="0" anchor="ctr"/>
          <a:lstStyle/>
          <a:p>
            <a:pPr marL="0" indent="0">
              <a:lnSpc>
                <a:spcPct val="112000"/>
              </a:lnSpc>
              <a:buNone/>
            </a:pPr>
            <a:r>
              <a:rPr lang="en-US" sz="1200" i="1">
                <a:solidFill>
                  <a:schemeClr val="tx2"/>
                </a:solidFill>
                <a:latin typeface="Open Sans" pitchFamily="2" charset="0"/>
                <a:ea typeface="Open Sans" pitchFamily="2" charset="0"/>
                <a:cs typeface="Open Sans" pitchFamily="2" charset="0"/>
              </a:rPr>
              <a:t>An intern built an LLM agent that auto-drafts replies to internal IT tickets. It runs correctly on sample data, with a README and HANDOFF.md. The 10x estimate is 8 weeks (auth, PII masking, evals, monitoring). Projected impact: 1 hour saved per week across a team of 3.</a:t>
            </a:r>
            <a:endParaRPr lang="en-US" sz="1200">
              <a:solidFill>
                <a:schemeClr val="tx2"/>
              </a:solidFill>
              <a:latin typeface="Open Sans" pitchFamily="2" charset="0"/>
              <a:ea typeface="Open Sans" pitchFamily="2" charset="0"/>
              <a:cs typeface="Open Sans" pitchFamily="2" charset="0"/>
            </a:endParaRPr>
          </a:p>
        </p:txBody>
      </p:sp>
      <p:sp>
        <p:nvSpPr>
          <p:cNvPr id="9" name="Shape 7">
            <a:extLst>
              <a:ext uri="{FF2B5EF4-FFF2-40B4-BE49-F238E27FC236}">
                <a16:creationId xmlns:a16="http://schemas.microsoft.com/office/drawing/2014/main" id="{00247416-87C7-AA39-7D69-134977A42463}"/>
              </a:ext>
            </a:extLst>
          </p:cNvPr>
          <p:cNvSpPr/>
          <p:nvPr/>
        </p:nvSpPr>
        <p:spPr>
          <a:xfrm>
            <a:off x="428080" y="2176272"/>
            <a:ext cx="8284121"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0" name="Text 8">
            <a:extLst>
              <a:ext uri="{FF2B5EF4-FFF2-40B4-BE49-F238E27FC236}">
                <a16:creationId xmlns:a16="http://schemas.microsoft.com/office/drawing/2014/main" id="{7E5B44B6-DAE0-5F6D-93EF-E99B25BF0CDC}"/>
              </a:ext>
            </a:extLst>
          </p:cNvPr>
          <p:cNvSpPr/>
          <p:nvPr/>
        </p:nvSpPr>
        <p:spPr>
          <a:xfrm>
            <a:off x="638392" y="2176272"/>
            <a:ext cx="7876996"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A.  </a:t>
            </a:r>
            <a:r>
              <a:rPr lang="en-US" sz="1200">
                <a:solidFill>
                  <a:schemeClr val="tx2"/>
                </a:solidFill>
                <a:latin typeface="Open Sans" pitchFamily="2" charset="0"/>
                <a:ea typeface="Open Sans" pitchFamily="2" charset="0"/>
                <a:cs typeface="Open Sans" pitchFamily="2" charset="0"/>
              </a:rPr>
              <a:t>Greenlight, it works, it is documented, and it saves time</a:t>
            </a:r>
          </a:p>
        </p:txBody>
      </p:sp>
      <p:sp>
        <p:nvSpPr>
          <p:cNvPr id="11" name="Shape 9">
            <a:extLst>
              <a:ext uri="{FF2B5EF4-FFF2-40B4-BE49-F238E27FC236}">
                <a16:creationId xmlns:a16="http://schemas.microsoft.com/office/drawing/2014/main" id="{B54FC4EF-3DC3-C3F8-CE22-FB8C4512FD0D}"/>
              </a:ext>
            </a:extLst>
          </p:cNvPr>
          <p:cNvSpPr/>
          <p:nvPr/>
        </p:nvSpPr>
        <p:spPr>
          <a:xfrm>
            <a:off x="428080" y="2784348"/>
            <a:ext cx="8284121"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2" name="Text 10">
            <a:extLst>
              <a:ext uri="{FF2B5EF4-FFF2-40B4-BE49-F238E27FC236}">
                <a16:creationId xmlns:a16="http://schemas.microsoft.com/office/drawing/2014/main" id="{933753AD-2C6A-91E6-ED46-8C968722A3A4}"/>
              </a:ext>
            </a:extLst>
          </p:cNvPr>
          <p:cNvSpPr/>
          <p:nvPr/>
        </p:nvSpPr>
        <p:spPr>
          <a:xfrm>
            <a:off x="638392" y="2784348"/>
            <a:ext cx="7876996"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B.  </a:t>
            </a:r>
            <a:r>
              <a:rPr lang="en-US" sz="1200">
                <a:solidFill>
                  <a:schemeClr val="tx2"/>
                </a:solidFill>
                <a:latin typeface="Open Sans" pitchFamily="2" charset="0"/>
                <a:ea typeface="Open Sans" pitchFamily="2" charset="0"/>
                <a:cs typeface="Open Sans" pitchFamily="2" charset="0"/>
              </a:rPr>
              <a:t>Rework, the scope needs to be tighter before engineering touches it</a:t>
            </a:r>
          </a:p>
        </p:txBody>
      </p:sp>
      <p:sp>
        <p:nvSpPr>
          <p:cNvPr id="15" name="Shape 13">
            <a:extLst>
              <a:ext uri="{FF2B5EF4-FFF2-40B4-BE49-F238E27FC236}">
                <a16:creationId xmlns:a16="http://schemas.microsoft.com/office/drawing/2014/main" id="{B9AB8341-81ED-A49B-371F-6A6748AFA141}"/>
              </a:ext>
            </a:extLst>
          </p:cNvPr>
          <p:cNvSpPr/>
          <p:nvPr/>
        </p:nvSpPr>
        <p:spPr>
          <a:xfrm>
            <a:off x="428080" y="4000500"/>
            <a:ext cx="8284121"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6" name="Text 14">
            <a:extLst>
              <a:ext uri="{FF2B5EF4-FFF2-40B4-BE49-F238E27FC236}">
                <a16:creationId xmlns:a16="http://schemas.microsoft.com/office/drawing/2014/main" id="{441A267B-921A-8E43-2941-BA1DE0A63EC1}"/>
              </a:ext>
            </a:extLst>
          </p:cNvPr>
          <p:cNvSpPr/>
          <p:nvPr/>
        </p:nvSpPr>
        <p:spPr>
          <a:xfrm>
            <a:off x="638392" y="4000500"/>
            <a:ext cx="7876996"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D.  </a:t>
            </a:r>
            <a:r>
              <a:rPr lang="en-US" sz="1200">
                <a:solidFill>
                  <a:schemeClr val="tx2"/>
                </a:solidFill>
                <a:latin typeface="Open Sans" pitchFamily="2" charset="0"/>
                <a:ea typeface="Open Sans" pitchFamily="2" charset="0"/>
                <a:cs typeface="Open Sans" pitchFamily="2" charset="0"/>
              </a:rPr>
              <a:t>Greenlight, any time saving is worth engineering investment</a:t>
            </a:r>
          </a:p>
        </p:txBody>
      </p:sp>
      <p:sp>
        <p:nvSpPr>
          <p:cNvPr id="2" name="Shape 9">
            <a:extLst>
              <a:ext uri="{FF2B5EF4-FFF2-40B4-BE49-F238E27FC236}">
                <a16:creationId xmlns:a16="http://schemas.microsoft.com/office/drawing/2014/main" id="{476E7969-92FC-2134-A1DB-E88BEB51F39F}"/>
              </a:ext>
            </a:extLst>
          </p:cNvPr>
          <p:cNvSpPr/>
          <p:nvPr/>
        </p:nvSpPr>
        <p:spPr>
          <a:xfrm>
            <a:off x="428080" y="3392424"/>
            <a:ext cx="8284121"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7" name="Text 10">
            <a:extLst>
              <a:ext uri="{FF2B5EF4-FFF2-40B4-BE49-F238E27FC236}">
                <a16:creationId xmlns:a16="http://schemas.microsoft.com/office/drawing/2014/main" id="{4864B02A-30A8-8397-E1C1-1AA7FF34AA95}"/>
              </a:ext>
            </a:extLst>
          </p:cNvPr>
          <p:cNvSpPr/>
          <p:nvPr/>
        </p:nvSpPr>
        <p:spPr>
          <a:xfrm>
            <a:off x="638392" y="3392424"/>
            <a:ext cx="7876996" cy="512064"/>
          </a:xfrm>
          <a:prstGeom prst="rect">
            <a:avLst/>
          </a:prstGeom>
          <a:noFill/>
          <a:ln/>
        </p:spPr>
        <p:txBody>
          <a:bodyPr wrap="square" lIns="0" tIns="0" rIns="0" bIns="0" rtlCol="0" anchor="ctr"/>
          <a:lstStyle/>
          <a:p>
            <a:pPr marL="0" indent="0">
              <a:buNone/>
            </a:pPr>
            <a:r>
              <a:rPr lang="en-US" sz="1200" b="1" dirty="0">
                <a:solidFill>
                  <a:schemeClr val="tx2"/>
                </a:solidFill>
                <a:latin typeface="Open Sans" pitchFamily="2" charset="0"/>
                <a:ea typeface="Open Sans" pitchFamily="2" charset="0"/>
                <a:cs typeface="Open Sans" pitchFamily="2" charset="0"/>
              </a:rPr>
              <a:t>C.  </a:t>
            </a:r>
            <a:r>
              <a:rPr lang="en-US" sz="1200" dirty="0">
                <a:solidFill>
                  <a:schemeClr val="tx2"/>
                </a:solidFill>
                <a:latin typeface="Open Sans" pitchFamily="2" charset="0"/>
                <a:ea typeface="Open Sans" pitchFamily="2" charset="0"/>
                <a:cs typeface="Open Sans" pitchFamily="2" charset="0"/>
              </a:rPr>
              <a:t>Kill, the 10x estimate does not justify the projected savings</a:t>
            </a:r>
          </a:p>
        </p:txBody>
      </p:sp>
    </p:spTree>
    <p:extLst>
      <p:ext uri="{BB962C8B-B14F-4D97-AF65-F5344CB8AC3E}">
        <p14:creationId xmlns:p14="http://schemas.microsoft.com/office/powerpoint/2010/main" val="29779987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08E0E-467D-17CF-48A8-A1B3CBD1169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36474E77-B91D-132D-F3A5-64436C9AD4BD}"/>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Greenlight or Kill?</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62A803BF-DD60-FCF6-7CF1-CB7F0EEE7B21}"/>
              </a:ext>
            </a:extLst>
          </p:cNvPr>
          <p:cNvSpPr/>
          <p:nvPr/>
        </p:nvSpPr>
        <p:spPr>
          <a:xfrm>
            <a:off x="394212" y="676656"/>
            <a:ext cx="8595360" cy="292608"/>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Read the scenario. Vote before we discuss.</a:t>
            </a:r>
          </a:p>
        </p:txBody>
      </p:sp>
      <p:sp>
        <p:nvSpPr>
          <p:cNvPr id="5" name="Shape 2">
            <a:extLst>
              <a:ext uri="{FF2B5EF4-FFF2-40B4-BE49-F238E27FC236}">
                <a16:creationId xmlns:a16="http://schemas.microsoft.com/office/drawing/2014/main" id="{8A854ECB-E698-0749-51BF-9D8D36600D7A}"/>
              </a:ext>
            </a:extLst>
          </p:cNvPr>
          <p:cNvSpPr/>
          <p:nvPr/>
        </p:nvSpPr>
        <p:spPr>
          <a:xfrm>
            <a:off x="8107070" y="201168"/>
            <a:ext cx="689458" cy="292608"/>
          </a:xfrm>
          <a:prstGeom prst="roundRect">
            <a:avLst>
              <a:gd name="adj" fmla="val 15625"/>
            </a:avLst>
          </a:prstGeom>
          <a:solidFill>
            <a:schemeClr val="accent2"/>
          </a:solidFill>
          <a:ln w="15875">
            <a:noFill/>
            <a:prstDash val="solid"/>
          </a:ln>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99B9C1C4-0A66-786E-FC67-1770C0E4B893}"/>
              </a:ext>
            </a:extLst>
          </p:cNvPr>
          <p:cNvSpPr/>
          <p:nvPr/>
        </p:nvSpPr>
        <p:spPr>
          <a:xfrm>
            <a:off x="8107070" y="201168"/>
            <a:ext cx="689458" cy="292608"/>
          </a:xfrm>
          <a:prstGeom prst="rect">
            <a:avLst/>
          </a:prstGeom>
          <a:noFill/>
          <a:ln/>
        </p:spPr>
        <p:txBody>
          <a:bodyPr wrap="square" lIns="0" tIns="0" rIns="0" bIns="0" rtlCol="0" anchor="ctr"/>
          <a:lstStyle/>
          <a:p>
            <a:pPr marL="0" indent="0" algn="ctr">
              <a:buNone/>
            </a:pPr>
            <a:r>
              <a:rPr lang="en-US" sz="850" b="1" kern="0" spc="100">
                <a:solidFill>
                  <a:schemeClr val="bg1"/>
                </a:solidFill>
                <a:latin typeface="Open Sans" pitchFamily="2" charset="0"/>
                <a:ea typeface="Open Sans" pitchFamily="2" charset="0"/>
                <a:cs typeface="Open Sans" pitchFamily="2" charset="0"/>
              </a:rPr>
              <a:t>REFLECT</a:t>
            </a:r>
            <a:endParaRPr lang="en-US" sz="850">
              <a:solidFill>
                <a:schemeClr val="bg1"/>
              </a:solidFill>
              <a:latin typeface="Open Sans" pitchFamily="2" charset="0"/>
              <a:ea typeface="Open Sans" pitchFamily="2" charset="0"/>
              <a:cs typeface="Open Sans" pitchFamily="2" charset="0"/>
            </a:endParaRPr>
          </a:p>
        </p:txBody>
      </p:sp>
      <p:sp>
        <p:nvSpPr>
          <p:cNvPr id="7" name="Shape 5">
            <a:extLst>
              <a:ext uri="{FF2B5EF4-FFF2-40B4-BE49-F238E27FC236}">
                <a16:creationId xmlns:a16="http://schemas.microsoft.com/office/drawing/2014/main" id="{7B333D3E-CD62-623A-4F7E-A85E33743EDE}"/>
              </a:ext>
            </a:extLst>
          </p:cNvPr>
          <p:cNvSpPr/>
          <p:nvPr/>
        </p:nvSpPr>
        <p:spPr>
          <a:xfrm>
            <a:off x="428080" y="1097280"/>
            <a:ext cx="8284121" cy="914400"/>
          </a:xfrm>
          <a:prstGeom prst="roundRect">
            <a:avLst>
              <a:gd name="adj" fmla="val 6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8" name="Text 6">
            <a:extLst>
              <a:ext uri="{FF2B5EF4-FFF2-40B4-BE49-F238E27FC236}">
                <a16:creationId xmlns:a16="http://schemas.microsoft.com/office/drawing/2014/main" id="{5A825CE9-B57B-8605-B557-C8A017470E52}"/>
              </a:ext>
            </a:extLst>
          </p:cNvPr>
          <p:cNvSpPr/>
          <p:nvPr/>
        </p:nvSpPr>
        <p:spPr>
          <a:xfrm>
            <a:off x="638392" y="1152144"/>
            <a:ext cx="7876996" cy="804672"/>
          </a:xfrm>
          <a:prstGeom prst="rect">
            <a:avLst/>
          </a:prstGeom>
          <a:noFill/>
          <a:ln/>
        </p:spPr>
        <p:txBody>
          <a:bodyPr wrap="square" lIns="0" tIns="0" rIns="0" bIns="0" rtlCol="0" anchor="ctr"/>
          <a:lstStyle/>
          <a:p>
            <a:pPr marL="0" indent="0">
              <a:lnSpc>
                <a:spcPct val="112000"/>
              </a:lnSpc>
              <a:buNone/>
            </a:pPr>
            <a:r>
              <a:rPr lang="en-US" sz="1200" i="1">
                <a:solidFill>
                  <a:schemeClr val="tx2"/>
                </a:solidFill>
                <a:latin typeface="Open Sans" pitchFamily="2" charset="0"/>
                <a:ea typeface="Open Sans" pitchFamily="2" charset="0"/>
                <a:cs typeface="Open Sans" pitchFamily="2" charset="0"/>
              </a:rPr>
              <a:t>An intern built an LLM agent that auto-drafts replies to internal IT tickets. It runs correctly on sample data, with a README and HANDOFF.md. The 10x estimate is 8 weeks (auth, PII masking, evals, monitoring). Projected impact: 1 hour saved per week across a team of 3.</a:t>
            </a:r>
            <a:endParaRPr lang="en-US" sz="1200">
              <a:solidFill>
                <a:schemeClr val="tx2"/>
              </a:solidFill>
              <a:latin typeface="Open Sans" pitchFamily="2" charset="0"/>
              <a:ea typeface="Open Sans" pitchFamily="2" charset="0"/>
              <a:cs typeface="Open Sans" pitchFamily="2" charset="0"/>
            </a:endParaRPr>
          </a:p>
        </p:txBody>
      </p:sp>
      <p:sp>
        <p:nvSpPr>
          <p:cNvPr id="9" name="Shape 7">
            <a:extLst>
              <a:ext uri="{FF2B5EF4-FFF2-40B4-BE49-F238E27FC236}">
                <a16:creationId xmlns:a16="http://schemas.microsoft.com/office/drawing/2014/main" id="{FD3A2691-D98F-07B9-4675-F2690F11578E}"/>
              </a:ext>
            </a:extLst>
          </p:cNvPr>
          <p:cNvSpPr/>
          <p:nvPr/>
        </p:nvSpPr>
        <p:spPr>
          <a:xfrm>
            <a:off x="428080" y="2176272"/>
            <a:ext cx="8284121"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0" name="Text 8">
            <a:extLst>
              <a:ext uri="{FF2B5EF4-FFF2-40B4-BE49-F238E27FC236}">
                <a16:creationId xmlns:a16="http://schemas.microsoft.com/office/drawing/2014/main" id="{B09A5292-5F40-5372-9ED8-C17E42ED2D13}"/>
              </a:ext>
            </a:extLst>
          </p:cNvPr>
          <p:cNvSpPr/>
          <p:nvPr/>
        </p:nvSpPr>
        <p:spPr>
          <a:xfrm>
            <a:off x="638392" y="2176272"/>
            <a:ext cx="7876996"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A.  </a:t>
            </a:r>
            <a:r>
              <a:rPr lang="en-US" sz="1200">
                <a:solidFill>
                  <a:schemeClr val="tx2"/>
                </a:solidFill>
                <a:latin typeface="Open Sans" pitchFamily="2" charset="0"/>
                <a:ea typeface="Open Sans" pitchFamily="2" charset="0"/>
                <a:cs typeface="Open Sans" pitchFamily="2" charset="0"/>
              </a:rPr>
              <a:t>Greenlight, it works, it is documented, and it saves time</a:t>
            </a:r>
          </a:p>
        </p:txBody>
      </p:sp>
      <p:sp>
        <p:nvSpPr>
          <p:cNvPr id="11" name="Shape 9">
            <a:extLst>
              <a:ext uri="{FF2B5EF4-FFF2-40B4-BE49-F238E27FC236}">
                <a16:creationId xmlns:a16="http://schemas.microsoft.com/office/drawing/2014/main" id="{EA108D7F-CC8B-5D93-DB16-A13F0D99380E}"/>
              </a:ext>
            </a:extLst>
          </p:cNvPr>
          <p:cNvSpPr/>
          <p:nvPr/>
        </p:nvSpPr>
        <p:spPr>
          <a:xfrm>
            <a:off x="428080" y="2784348"/>
            <a:ext cx="8284121"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2" name="Text 10">
            <a:extLst>
              <a:ext uri="{FF2B5EF4-FFF2-40B4-BE49-F238E27FC236}">
                <a16:creationId xmlns:a16="http://schemas.microsoft.com/office/drawing/2014/main" id="{3804C560-90B7-7243-D746-C64CAD067915}"/>
              </a:ext>
            </a:extLst>
          </p:cNvPr>
          <p:cNvSpPr/>
          <p:nvPr/>
        </p:nvSpPr>
        <p:spPr>
          <a:xfrm>
            <a:off x="638392" y="2784348"/>
            <a:ext cx="7876996"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B.  </a:t>
            </a:r>
            <a:r>
              <a:rPr lang="en-US" sz="1200">
                <a:solidFill>
                  <a:schemeClr val="tx2"/>
                </a:solidFill>
                <a:latin typeface="Open Sans" pitchFamily="2" charset="0"/>
                <a:ea typeface="Open Sans" pitchFamily="2" charset="0"/>
                <a:cs typeface="Open Sans" pitchFamily="2" charset="0"/>
              </a:rPr>
              <a:t>Rework, the scope needs to be tighter before engineering touches it</a:t>
            </a:r>
          </a:p>
        </p:txBody>
      </p:sp>
      <p:sp>
        <p:nvSpPr>
          <p:cNvPr id="13" name="Shape 11">
            <a:extLst>
              <a:ext uri="{FF2B5EF4-FFF2-40B4-BE49-F238E27FC236}">
                <a16:creationId xmlns:a16="http://schemas.microsoft.com/office/drawing/2014/main" id="{F4B46582-5D67-34EE-E910-0E54AF5D0B01}"/>
              </a:ext>
            </a:extLst>
          </p:cNvPr>
          <p:cNvSpPr/>
          <p:nvPr/>
        </p:nvSpPr>
        <p:spPr>
          <a:xfrm>
            <a:off x="428080" y="3399299"/>
            <a:ext cx="8284121" cy="512064"/>
          </a:xfrm>
          <a:prstGeom prst="roundRect">
            <a:avLst>
              <a:gd name="adj" fmla="val 8929"/>
            </a:avLst>
          </a:prstGeom>
          <a:solidFill>
            <a:srgbClr val="ECFEF6"/>
          </a:solidFill>
          <a:ln w="19050">
            <a:solidFill>
              <a:srgbClr val="00B050"/>
            </a:solidFill>
            <a:prstDash val="solid"/>
          </a:ln>
        </p:spPr>
        <p:txBody>
          <a:bodyPr/>
          <a:lstStyle/>
          <a:p>
            <a:endParaRPr lang="en-US" sz="1350">
              <a:latin typeface="Open Sans" pitchFamily="2" charset="0"/>
              <a:ea typeface="Open Sans" pitchFamily="2" charset="0"/>
              <a:cs typeface="Open Sans" pitchFamily="2" charset="0"/>
            </a:endParaRPr>
          </a:p>
        </p:txBody>
      </p:sp>
      <p:sp>
        <p:nvSpPr>
          <p:cNvPr id="14" name="Text 12">
            <a:extLst>
              <a:ext uri="{FF2B5EF4-FFF2-40B4-BE49-F238E27FC236}">
                <a16:creationId xmlns:a16="http://schemas.microsoft.com/office/drawing/2014/main" id="{9B5FB2DC-4D0E-F854-E3EB-568734B867C9}"/>
              </a:ext>
            </a:extLst>
          </p:cNvPr>
          <p:cNvSpPr/>
          <p:nvPr/>
        </p:nvSpPr>
        <p:spPr>
          <a:xfrm>
            <a:off x="638392" y="3392424"/>
            <a:ext cx="7876996" cy="512064"/>
          </a:xfrm>
          <a:prstGeom prst="rect">
            <a:avLst/>
          </a:prstGeom>
          <a:noFill/>
          <a:ln/>
        </p:spPr>
        <p:txBody>
          <a:bodyPr wrap="square" lIns="0" tIns="0" rIns="0" bIns="0" rtlCol="0" anchor="ctr"/>
          <a:lstStyle/>
          <a:p>
            <a:pPr marL="0" indent="0">
              <a:buNone/>
            </a:pPr>
            <a:r>
              <a:rPr lang="en-US" sz="1200" b="1" dirty="0">
                <a:latin typeface="Open Sans" pitchFamily="2" charset="0"/>
                <a:ea typeface="Open Sans" pitchFamily="2" charset="0"/>
                <a:cs typeface="Open Sans" pitchFamily="2" charset="0"/>
              </a:rPr>
              <a:t>C.  </a:t>
            </a:r>
            <a:r>
              <a:rPr lang="en-US" sz="1200" dirty="0">
                <a:latin typeface="Open Sans" pitchFamily="2" charset="0"/>
                <a:ea typeface="Open Sans" pitchFamily="2" charset="0"/>
                <a:cs typeface="Open Sans" pitchFamily="2" charset="0"/>
              </a:rPr>
              <a:t>Kill, the 10x estimate does not justify the projected savings</a:t>
            </a:r>
          </a:p>
        </p:txBody>
      </p:sp>
      <p:sp>
        <p:nvSpPr>
          <p:cNvPr id="15" name="Shape 13">
            <a:extLst>
              <a:ext uri="{FF2B5EF4-FFF2-40B4-BE49-F238E27FC236}">
                <a16:creationId xmlns:a16="http://schemas.microsoft.com/office/drawing/2014/main" id="{FE1F6A52-801F-9898-85D7-F2BCB81CC46B}"/>
              </a:ext>
            </a:extLst>
          </p:cNvPr>
          <p:cNvSpPr/>
          <p:nvPr/>
        </p:nvSpPr>
        <p:spPr>
          <a:xfrm>
            <a:off x="428080" y="4000500"/>
            <a:ext cx="8284121"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6" name="Text 14">
            <a:extLst>
              <a:ext uri="{FF2B5EF4-FFF2-40B4-BE49-F238E27FC236}">
                <a16:creationId xmlns:a16="http://schemas.microsoft.com/office/drawing/2014/main" id="{2E8C907C-AC24-E9AC-30F2-ADD835AD4BD7}"/>
              </a:ext>
            </a:extLst>
          </p:cNvPr>
          <p:cNvSpPr/>
          <p:nvPr/>
        </p:nvSpPr>
        <p:spPr>
          <a:xfrm>
            <a:off x="638392" y="4000500"/>
            <a:ext cx="7876996"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D.  </a:t>
            </a:r>
            <a:r>
              <a:rPr lang="en-US" sz="1200">
                <a:solidFill>
                  <a:schemeClr val="tx2"/>
                </a:solidFill>
                <a:latin typeface="Open Sans" pitchFamily="2" charset="0"/>
                <a:ea typeface="Open Sans" pitchFamily="2" charset="0"/>
                <a:cs typeface="Open Sans" pitchFamily="2" charset="0"/>
              </a:rPr>
              <a:t>Greenlight, any time saving is worth engineering investment</a:t>
            </a:r>
          </a:p>
        </p:txBody>
      </p:sp>
    </p:spTree>
    <p:extLst>
      <p:ext uri="{BB962C8B-B14F-4D97-AF65-F5344CB8AC3E}">
        <p14:creationId xmlns:p14="http://schemas.microsoft.com/office/powerpoint/2010/main" val="2349769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hape 6">
            <a:extLst>
              <a:ext uri="{FF2B5EF4-FFF2-40B4-BE49-F238E27FC236}">
                <a16:creationId xmlns:a16="http://schemas.microsoft.com/office/drawing/2014/main" id="{166E9C7B-0932-A3B0-1D2A-C6665179675B}"/>
              </a:ext>
            </a:extLst>
          </p:cNvPr>
          <p:cNvSpPr/>
          <p:nvPr/>
        </p:nvSpPr>
        <p:spPr>
          <a:xfrm>
            <a:off x="292608" y="914191"/>
            <a:ext cx="8275320" cy="1162194"/>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3" name="Text 0">
            <a:extLst>
              <a:ext uri="{FF2B5EF4-FFF2-40B4-BE49-F238E27FC236}">
                <a16:creationId xmlns:a16="http://schemas.microsoft.com/office/drawing/2014/main" id="{328E977B-3662-CAC6-E217-CAE99F9D81C8}"/>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Production Gap Audit</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BAB0CA9A-7700-EBB7-6CD4-8B8E85DCBB82}"/>
              </a:ext>
            </a:extLst>
          </p:cNvPr>
          <p:cNvSpPr/>
          <p:nvPr/>
        </p:nvSpPr>
        <p:spPr>
          <a:xfrm>
            <a:off x="394212" y="676656"/>
            <a:ext cx="8595360" cy="365760"/>
          </a:xfrm>
          <a:prstGeom prst="rect">
            <a:avLst/>
          </a:prstGeom>
          <a:noFill/>
          <a:ln/>
        </p:spPr>
        <p:txBody>
          <a:bodyPr wrap="square" lIns="0" tIns="0" rIns="0" bIns="0" rtlCol="0" anchor="t"/>
          <a:lstStyle/>
          <a:p>
            <a:pPr marL="0" indent="0">
              <a:buNone/>
            </a:pPr>
            <a:r>
              <a:rPr lang="en-US" sz="1200">
                <a:solidFill>
                  <a:srgbClr val="757575"/>
                </a:solidFill>
                <a:latin typeface="Open Sans" pitchFamily="2" charset="0"/>
                <a:ea typeface="Open Sans" pitchFamily="2" charset="0"/>
                <a:cs typeface="Open Sans" pitchFamily="2" charset="0"/>
              </a:rPr>
              <a:t>Apply the gap checklist to your own PoC. Name every gap, estimate effort, classify each as blocking or deferrable.</a:t>
            </a:r>
            <a:endParaRPr lang="en-US" sz="1200">
              <a:latin typeface="Open Sans" pitchFamily="2" charset="0"/>
              <a:ea typeface="Open Sans" pitchFamily="2" charset="0"/>
              <a:cs typeface="Open Sans" pitchFamily="2" charset="0"/>
            </a:endParaRPr>
          </a:p>
        </p:txBody>
      </p:sp>
      <p:sp>
        <p:nvSpPr>
          <p:cNvPr id="8" name="Shape 5">
            <a:extLst>
              <a:ext uri="{FF2B5EF4-FFF2-40B4-BE49-F238E27FC236}">
                <a16:creationId xmlns:a16="http://schemas.microsoft.com/office/drawing/2014/main" id="{4C286632-1140-C063-5014-8FA7A591F03F}"/>
              </a:ext>
            </a:extLst>
          </p:cNvPr>
          <p:cNvSpPr/>
          <p:nvPr/>
        </p:nvSpPr>
        <p:spPr>
          <a:xfrm>
            <a:off x="366254" y="1312820"/>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4E404C53-71E4-C2CF-ADC6-F663E798EE04}"/>
              </a:ext>
            </a:extLst>
          </p:cNvPr>
          <p:cNvSpPr/>
          <p:nvPr/>
        </p:nvSpPr>
        <p:spPr>
          <a:xfrm>
            <a:off x="366254" y="1312820"/>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1</a:t>
            </a:r>
            <a:endParaRPr lang="en-US" sz="1500">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B0B5E513-BE51-6FCC-304E-225116876A50}"/>
              </a:ext>
            </a:extLst>
          </p:cNvPr>
          <p:cNvSpPr/>
          <p:nvPr/>
        </p:nvSpPr>
        <p:spPr>
          <a:xfrm>
            <a:off x="914894" y="954886"/>
            <a:ext cx="8010144" cy="274320"/>
          </a:xfrm>
          <a:prstGeom prst="rect">
            <a:avLst/>
          </a:prstGeom>
          <a:noFill/>
          <a:ln/>
        </p:spPr>
        <p:txBody>
          <a:bodyPr wrap="square" lIns="0" tIns="0" rIns="0" bIns="0" rtlCol="0" anchor="ctr"/>
          <a:lstStyle/>
          <a:p>
            <a:pPr marL="0" indent="0">
              <a:buNone/>
            </a:pPr>
            <a:r>
              <a:rPr lang="en-US" sz="1200" b="1">
                <a:latin typeface="Open Sans" pitchFamily="2" charset="0"/>
                <a:ea typeface="Open Sans" pitchFamily="2" charset="0"/>
                <a:cs typeface="Open Sans" pitchFamily="2" charset="0"/>
              </a:rPr>
              <a:t>Run the gap audit prompt</a:t>
            </a:r>
            <a:endParaRPr lang="en-US" sz="1200">
              <a:latin typeface="Open Sans" pitchFamily="2" charset="0"/>
              <a:ea typeface="Open Sans" pitchFamily="2" charset="0"/>
              <a:cs typeface="Open Sans" pitchFamily="2" charset="0"/>
            </a:endParaRPr>
          </a:p>
        </p:txBody>
      </p:sp>
      <p:sp>
        <p:nvSpPr>
          <p:cNvPr id="11" name="Shape 8">
            <a:extLst>
              <a:ext uri="{FF2B5EF4-FFF2-40B4-BE49-F238E27FC236}">
                <a16:creationId xmlns:a16="http://schemas.microsoft.com/office/drawing/2014/main" id="{5154CCA5-B050-0BD9-C475-835C2F236A81}"/>
              </a:ext>
            </a:extLst>
          </p:cNvPr>
          <p:cNvSpPr/>
          <p:nvPr/>
        </p:nvSpPr>
        <p:spPr>
          <a:xfrm>
            <a:off x="914894" y="1256638"/>
            <a:ext cx="4851592" cy="730490"/>
          </a:xfrm>
          <a:prstGeom prst="roundRect">
            <a:avLst>
              <a:gd name="adj" fmla="val 6897"/>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07F09922-230E-12B0-FEB8-D2A95ABEE202}"/>
              </a:ext>
            </a:extLst>
          </p:cNvPr>
          <p:cNvSpPr/>
          <p:nvPr/>
        </p:nvSpPr>
        <p:spPr>
          <a:xfrm>
            <a:off x="1116062" y="1329936"/>
            <a:ext cx="4469192" cy="557784"/>
          </a:xfrm>
          <a:prstGeom prst="rect">
            <a:avLst/>
          </a:prstGeom>
          <a:noFill/>
          <a:ln/>
        </p:spPr>
        <p:txBody>
          <a:bodyPr wrap="square" lIns="0" tIns="0" rIns="0" bIns="0" rtlCol="0" anchor="t"/>
          <a:lstStyle/>
          <a:p>
            <a:pPr marL="0" indent="0">
              <a:lnSpc>
                <a:spcPct val="118000"/>
              </a:lnSpc>
              <a:buNone/>
            </a:pPr>
            <a:r>
              <a:rPr lang="en-US" sz="1100">
                <a:solidFill>
                  <a:srgbClr val="00B050"/>
                </a:solidFill>
                <a:latin typeface="Open Sans" pitchFamily="2" charset="0"/>
                <a:ea typeface="Open Sans" pitchFamily="2" charset="0"/>
                <a:cs typeface="Open Sans" pitchFamily="2" charset="0"/>
              </a:rPr>
              <a:t>claude "Review this PoC against a production checklist: input</a:t>
            </a:r>
          </a:p>
          <a:p>
            <a:pPr marL="0" indent="0">
              <a:lnSpc>
                <a:spcPct val="118000"/>
              </a:lnSpc>
              <a:buNone/>
            </a:pPr>
            <a:r>
              <a:rPr lang="en-US" sz="1100">
                <a:solidFill>
                  <a:srgbClr val="00B050"/>
                </a:solidFill>
                <a:latin typeface="Open Sans" pitchFamily="2" charset="0"/>
                <a:ea typeface="Open Sans" pitchFamily="2" charset="0"/>
                <a:cs typeface="Open Sans" pitchFamily="2" charset="0"/>
              </a:rPr>
              <a:t>validation, secrets management, error handling, retry logic,</a:t>
            </a:r>
          </a:p>
          <a:p>
            <a:pPr marL="0" indent="0">
              <a:lnSpc>
                <a:spcPct val="118000"/>
              </a:lnSpc>
              <a:buNone/>
            </a:pPr>
            <a:r>
              <a:rPr lang="en-US" sz="1100">
                <a:solidFill>
                  <a:srgbClr val="00B050"/>
                </a:solidFill>
                <a:latin typeface="Open Sans" pitchFamily="2" charset="0"/>
                <a:ea typeface="Open Sans" pitchFamily="2" charset="0"/>
                <a:cs typeface="Open Sans" pitchFamily="2" charset="0"/>
              </a:rPr>
              <a:t>logging, tests, auth, docs. Flag each as present, missing, or partial."</a:t>
            </a:r>
          </a:p>
        </p:txBody>
      </p:sp>
      <p:sp>
        <p:nvSpPr>
          <p:cNvPr id="34" name="Shape 6">
            <a:extLst>
              <a:ext uri="{FF2B5EF4-FFF2-40B4-BE49-F238E27FC236}">
                <a16:creationId xmlns:a16="http://schemas.microsoft.com/office/drawing/2014/main" id="{38C3E6B2-4E8E-01A9-200F-672130049360}"/>
              </a:ext>
            </a:extLst>
          </p:cNvPr>
          <p:cNvSpPr/>
          <p:nvPr/>
        </p:nvSpPr>
        <p:spPr>
          <a:xfrm>
            <a:off x="292608" y="2103651"/>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3" name="Shape 10">
            <a:extLst>
              <a:ext uri="{FF2B5EF4-FFF2-40B4-BE49-F238E27FC236}">
                <a16:creationId xmlns:a16="http://schemas.microsoft.com/office/drawing/2014/main" id="{9A00132D-D1F0-CA08-B861-7B7F6A73B141}"/>
              </a:ext>
            </a:extLst>
          </p:cNvPr>
          <p:cNvSpPr/>
          <p:nvPr/>
        </p:nvSpPr>
        <p:spPr>
          <a:xfrm>
            <a:off x="366254" y="2175934"/>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4" name="Text 11">
            <a:extLst>
              <a:ext uri="{FF2B5EF4-FFF2-40B4-BE49-F238E27FC236}">
                <a16:creationId xmlns:a16="http://schemas.microsoft.com/office/drawing/2014/main" id="{9F9BC673-FAD1-9851-7BE6-F1F723880D59}"/>
              </a:ext>
            </a:extLst>
          </p:cNvPr>
          <p:cNvSpPr/>
          <p:nvPr/>
        </p:nvSpPr>
        <p:spPr>
          <a:xfrm>
            <a:off x="366254" y="2175934"/>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2</a:t>
            </a:r>
            <a:endParaRPr lang="en-US" sz="1500">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7F606C73-E500-E310-C382-A13C1801E52B}"/>
              </a:ext>
            </a:extLst>
          </p:cNvPr>
          <p:cNvSpPr/>
          <p:nvPr/>
        </p:nvSpPr>
        <p:spPr>
          <a:xfrm>
            <a:off x="914894" y="2115146"/>
            <a:ext cx="8010144" cy="274320"/>
          </a:xfrm>
          <a:prstGeom prst="rect">
            <a:avLst/>
          </a:prstGeom>
          <a:noFill/>
          <a:ln/>
        </p:spPr>
        <p:txBody>
          <a:bodyPr wrap="square" lIns="0" tIns="0" rIns="0" bIns="0" rtlCol="0" anchor="ctr"/>
          <a:lstStyle/>
          <a:p>
            <a:pPr marL="0" indent="0">
              <a:buNone/>
            </a:pPr>
            <a:r>
              <a:rPr lang="en-US" sz="1200" b="1">
                <a:latin typeface="Open Sans" pitchFamily="2" charset="0"/>
                <a:ea typeface="Open Sans" pitchFamily="2" charset="0"/>
                <a:cs typeface="Open Sans" pitchFamily="2" charset="0"/>
              </a:rPr>
              <a:t>Classify each gap</a:t>
            </a:r>
            <a:endParaRPr lang="en-US" sz="1200">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F20AC5E3-964A-DE15-FFE2-C5F799EEE4FF}"/>
              </a:ext>
            </a:extLst>
          </p:cNvPr>
          <p:cNvSpPr/>
          <p:nvPr/>
        </p:nvSpPr>
        <p:spPr>
          <a:xfrm>
            <a:off x="914894" y="2407754"/>
            <a:ext cx="8010144" cy="237744"/>
          </a:xfrm>
          <a:prstGeom prst="rect">
            <a:avLst/>
          </a:prstGeom>
          <a:noFill/>
          <a:ln/>
        </p:spPr>
        <p:txBody>
          <a:bodyPr wrap="square" lIns="0" tIns="0" rIns="0" bIns="0" rtlCol="0" anchor="t"/>
          <a:lstStyle/>
          <a:p>
            <a:pPr marL="0" indent="0">
              <a:lnSpc>
                <a:spcPct val="112000"/>
              </a:lnSpc>
              <a:buNone/>
            </a:pPr>
            <a:r>
              <a:rPr lang="en-US" sz="1100">
                <a:solidFill>
                  <a:schemeClr val="tx2"/>
                </a:solidFill>
                <a:latin typeface="Open Sans" pitchFamily="2" charset="0"/>
                <a:ea typeface="Open Sans" pitchFamily="2" charset="0"/>
                <a:cs typeface="Open Sans" pitchFamily="2" charset="0"/>
              </a:rPr>
              <a:t>Blocking (must close before production) · Deferrable (can ship with a known limitation) · Not applicable</a:t>
            </a:r>
          </a:p>
        </p:txBody>
      </p:sp>
      <p:sp>
        <p:nvSpPr>
          <p:cNvPr id="35" name="Shape 6">
            <a:extLst>
              <a:ext uri="{FF2B5EF4-FFF2-40B4-BE49-F238E27FC236}">
                <a16:creationId xmlns:a16="http://schemas.microsoft.com/office/drawing/2014/main" id="{6553EBAB-7B19-B645-1FE8-51ADBF50F29B}"/>
              </a:ext>
            </a:extLst>
          </p:cNvPr>
          <p:cNvSpPr/>
          <p:nvPr/>
        </p:nvSpPr>
        <p:spPr>
          <a:xfrm>
            <a:off x="292608" y="2701623"/>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4">
            <a:extLst>
              <a:ext uri="{FF2B5EF4-FFF2-40B4-BE49-F238E27FC236}">
                <a16:creationId xmlns:a16="http://schemas.microsoft.com/office/drawing/2014/main" id="{FF1E0DD8-A301-46EA-45AE-B4B2426DF25F}"/>
              </a:ext>
            </a:extLst>
          </p:cNvPr>
          <p:cNvSpPr/>
          <p:nvPr/>
        </p:nvSpPr>
        <p:spPr>
          <a:xfrm>
            <a:off x="366254" y="2763410"/>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15">
            <a:extLst>
              <a:ext uri="{FF2B5EF4-FFF2-40B4-BE49-F238E27FC236}">
                <a16:creationId xmlns:a16="http://schemas.microsoft.com/office/drawing/2014/main" id="{7C655D02-56CD-2D8B-00F2-0654AC9879DD}"/>
              </a:ext>
            </a:extLst>
          </p:cNvPr>
          <p:cNvSpPr/>
          <p:nvPr/>
        </p:nvSpPr>
        <p:spPr>
          <a:xfrm>
            <a:off x="366254" y="2763410"/>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3</a:t>
            </a:r>
            <a:endParaRPr lang="en-US" sz="1500">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4D2C013A-3DBC-D3B9-DC43-43CC102937B5}"/>
              </a:ext>
            </a:extLst>
          </p:cNvPr>
          <p:cNvSpPr/>
          <p:nvPr/>
        </p:nvSpPr>
        <p:spPr>
          <a:xfrm>
            <a:off x="914894" y="2745122"/>
            <a:ext cx="7653034" cy="274320"/>
          </a:xfrm>
          <a:prstGeom prst="rect">
            <a:avLst/>
          </a:prstGeom>
          <a:noFill/>
          <a:ln/>
        </p:spPr>
        <p:txBody>
          <a:bodyPr wrap="square" lIns="0" tIns="0" rIns="0" bIns="0" rtlCol="0" anchor="ctr"/>
          <a:lstStyle/>
          <a:p>
            <a:pPr marL="0" indent="0">
              <a:buNone/>
            </a:pPr>
            <a:r>
              <a:rPr lang="en-US" sz="1200" b="1">
                <a:latin typeface="Open Sans" pitchFamily="2" charset="0"/>
                <a:ea typeface="Open Sans" pitchFamily="2" charset="0"/>
                <a:cs typeface="Open Sans" pitchFamily="2" charset="0"/>
              </a:rPr>
              <a:t>Apply the 10x rule</a:t>
            </a:r>
            <a:endParaRPr lang="en-US" sz="1200">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4179D9E2-7141-CF7F-1A84-12A47CAE3E04}"/>
              </a:ext>
            </a:extLst>
          </p:cNvPr>
          <p:cNvSpPr/>
          <p:nvPr/>
        </p:nvSpPr>
        <p:spPr>
          <a:xfrm>
            <a:off x="914894" y="3037730"/>
            <a:ext cx="7653034" cy="173736"/>
          </a:xfrm>
          <a:prstGeom prst="rect">
            <a:avLst/>
          </a:prstGeom>
          <a:noFill/>
          <a:ln/>
        </p:spPr>
        <p:txBody>
          <a:bodyPr wrap="square" lIns="0" tIns="0" rIns="0" bIns="0" rtlCol="0" anchor="t"/>
          <a:lstStyle/>
          <a:p>
            <a:pPr marL="0" indent="0">
              <a:lnSpc>
                <a:spcPct val="112000"/>
              </a:lnSpc>
              <a:buNone/>
            </a:pPr>
            <a:r>
              <a:rPr lang="en-US" sz="1100">
                <a:solidFill>
                  <a:schemeClr val="tx2"/>
                </a:solidFill>
                <a:latin typeface="Open Sans" pitchFamily="2" charset="0"/>
                <a:ea typeface="Open Sans" pitchFamily="2" charset="0"/>
                <a:cs typeface="Open Sans" pitchFamily="2" charset="0"/>
              </a:rPr>
              <a:t>Estimate the engineering effort to close every blocking gap. Name the total honestly.</a:t>
            </a:r>
          </a:p>
        </p:txBody>
      </p:sp>
      <p:sp>
        <p:nvSpPr>
          <p:cNvPr id="32" name="Shape 6">
            <a:extLst>
              <a:ext uri="{FF2B5EF4-FFF2-40B4-BE49-F238E27FC236}">
                <a16:creationId xmlns:a16="http://schemas.microsoft.com/office/drawing/2014/main" id="{C4425C01-BF53-B8DE-CD83-97AEA4DF1DAD}"/>
              </a:ext>
            </a:extLst>
          </p:cNvPr>
          <p:cNvSpPr/>
          <p:nvPr/>
        </p:nvSpPr>
        <p:spPr>
          <a:xfrm>
            <a:off x="292608" y="3299595"/>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21" name="Shape 18">
            <a:extLst>
              <a:ext uri="{FF2B5EF4-FFF2-40B4-BE49-F238E27FC236}">
                <a16:creationId xmlns:a16="http://schemas.microsoft.com/office/drawing/2014/main" id="{E1D6FCF7-A413-570D-D21B-2579997C5E55}"/>
              </a:ext>
            </a:extLst>
          </p:cNvPr>
          <p:cNvSpPr/>
          <p:nvPr/>
        </p:nvSpPr>
        <p:spPr>
          <a:xfrm>
            <a:off x="366254" y="3361382"/>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22" name="Text 19">
            <a:extLst>
              <a:ext uri="{FF2B5EF4-FFF2-40B4-BE49-F238E27FC236}">
                <a16:creationId xmlns:a16="http://schemas.microsoft.com/office/drawing/2014/main" id="{4660C2B3-78FA-921D-4E72-7906D23AAD69}"/>
              </a:ext>
            </a:extLst>
          </p:cNvPr>
          <p:cNvSpPr/>
          <p:nvPr/>
        </p:nvSpPr>
        <p:spPr>
          <a:xfrm>
            <a:off x="366254" y="3361382"/>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4</a:t>
            </a:r>
            <a:endParaRPr lang="en-US" sz="1500">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DC1B7333-42A2-C49E-F3A3-CD641907971F}"/>
              </a:ext>
            </a:extLst>
          </p:cNvPr>
          <p:cNvSpPr/>
          <p:nvPr/>
        </p:nvSpPr>
        <p:spPr>
          <a:xfrm>
            <a:off x="914894" y="3343094"/>
            <a:ext cx="7653034" cy="274320"/>
          </a:xfrm>
          <a:prstGeom prst="rect">
            <a:avLst/>
          </a:prstGeom>
          <a:noFill/>
          <a:ln/>
        </p:spPr>
        <p:txBody>
          <a:bodyPr wrap="square" lIns="0" tIns="0" rIns="0" bIns="0" rtlCol="0" anchor="ctr"/>
          <a:lstStyle/>
          <a:p>
            <a:pPr marL="0" indent="0">
              <a:buNone/>
            </a:pPr>
            <a:r>
              <a:rPr lang="en-US" sz="1200" b="1">
                <a:latin typeface="Open Sans" pitchFamily="2" charset="0"/>
                <a:ea typeface="Open Sans" pitchFamily="2" charset="0"/>
                <a:cs typeface="Open Sans" pitchFamily="2" charset="0"/>
              </a:rPr>
              <a:t>Answer the four greenlight questions</a:t>
            </a:r>
            <a:endParaRPr lang="en-US" sz="1200">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BB58CE8E-BBD1-DADC-FE38-37AC857F82CF}"/>
              </a:ext>
            </a:extLst>
          </p:cNvPr>
          <p:cNvSpPr/>
          <p:nvPr/>
        </p:nvSpPr>
        <p:spPr>
          <a:xfrm>
            <a:off x="914894" y="3635702"/>
            <a:ext cx="7653034" cy="173736"/>
          </a:xfrm>
          <a:prstGeom prst="rect">
            <a:avLst/>
          </a:prstGeom>
          <a:noFill/>
          <a:ln/>
        </p:spPr>
        <p:txBody>
          <a:bodyPr wrap="square" lIns="0" tIns="0" rIns="0" bIns="0" rtlCol="0" anchor="t"/>
          <a:lstStyle/>
          <a:p>
            <a:pPr marL="0" indent="0">
              <a:lnSpc>
                <a:spcPct val="112000"/>
              </a:lnSpc>
              <a:buNone/>
            </a:pPr>
            <a:r>
              <a:rPr lang="en-US" sz="1100">
                <a:solidFill>
                  <a:schemeClr val="tx2"/>
                </a:solidFill>
                <a:latin typeface="Open Sans" pitchFamily="2" charset="0"/>
                <a:ea typeface="Open Sans" pitchFamily="2" charset="0"/>
                <a:cs typeface="Open Sans" pitchFamily="2" charset="0"/>
              </a:rPr>
              <a:t>One sentence each. Be honest.</a:t>
            </a:r>
          </a:p>
        </p:txBody>
      </p:sp>
      <p:sp>
        <p:nvSpPr>
          <p:cNvPr id="31" name="Shape 6">
            <a:extLst>
              <a:ext uri="{FF2B5EF4-FFF2-40B4-BE49-F238E27FC236}">
                <a16:creationId xmlns:a16="http://schemas.microsoft.com/office/drawing/2014/main" id="{3FDAC2AD-025E-807D-88B6-28813EE8959F}"/>
              </a:ext>
            </a:extLst>
          </p:cNvPr>
          <p:cNvSpPr/>
          <p:nvPr/>
        </p:nvSpPr>
        <p:spPr>
          <a:xfrm>
            <a:off x="292608" y="3897568"/>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25" name="Shape 22">
            <a:extLst>
              <a:ext uri="{FF2B5EF4-FFF2-40B4-BE49-F238E27FC236}">
                <a16:creationId xmlns:a16="http://schemas.microsoft.com/office/drawing/2014/main" id="{F4E52748-A506-AE21-5932-E5B8D07BB496}"/>
              </a:ext>
            </a:extLst>
          </p:cNvPr>
          <p:cNvSpPr/>
          <p:nvPr/>
        </p:nvSpPr>
        <p:spPr>
          <a:xfrm>
            <a:off x="366254" y="3959355"/>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26" name="Text 23">
            <a:extLst>
              <a:ext uri="{FF2B5EF4-FFF2-40B4-BE49-F238E27FC236}">
                <a16:creationId xmlns:a16="http://schemas.microsoft.com/office/drawing/2014/main" id="{754125E6-BE77-AF49-B794-D8186896C262}"/>
              </a:ext>
            </a:extLst>
          </p:cNvPr>
          <p:cNvSpPr/>
          <p:nvPr/>
        </p:nvSpPr>
        <p:spPr>
          <a:xfrm>
            <a:off x="366254" y="3959355"/>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5</a:t>
            </a:r>
            <a:endParaRPr lang="en-US" sz="1500">
              <a:latin typeface="Open Sans" pitchFamily="2" charset="0"/>
              <a:ea typeface="Open Sans" pitchFamily="2" charset="0"/>
              <a:cs typeface="Open Sans" pitchFamily="2" charset="0"/>
            </a:endParaRPr>
          </a:p>
        </p:txBody>
      </p:sp>
      <p:sp>
        <p:nvSpPr>
          <p:cNvPr id="27" name="Text 24">
            <a:extLst>
              <a:ext uri="{FF2B5EF4-FFF2-40B4-BE49-F238E27FC236}">
                <a16:creationId xmlns:a16="http://schemas.microsoft.com/office/drawing/2014/main" id="{8DBAD9AC-8F77-46EF-6B91-C8C114AF1A02}"/>
              </a:ext>
            </a:extLst>
          </p:cNvPr>
          <p:cNvSpPr/>
          <p:nvPr/>
        </p:nvSpPr>
        <p:spPr>
          <a:xfrm>
            <a:off x="914894" y="3941067"/>
            <a:ext cx="7653034" cy="274320"/>
          </a:xfrm>
          <a:prstGeom prst="rect">
            <a:avLst/>
          </a:prstGeom>
          <a:noFill/>
          <a:ln/>
        </p:spPr>
        <p:txBody>
          <a:bodyPr wrap="square" lIns="0" tIns="0" rIns="0" bIns="0" rtlCol="0" anchor="ctr"/>
          <a:lstStyle/>
          <a:p>
            <a:pPr marL="0" indent="0">
              <a:buNone/>
            </a:pPr>
            <a:r>
              <a:rPr lang="en-US" sz="1200" b="1">
                <a:latin typeface="Open Sans" pitchFamily="2" charset="0"/>
                <a:ea typeface="Open Sans" pitchFamily="2" charset="0"/>
                <a:cs typeface="Open Sans" pitchFamily="2" charset="0"/>
              </a:rPr>
              <a:t>Identify your most surprising gap</a:t>
            </a:r>
            <a:endParaRPr lang="en-US" sz="1200">
              <a:latin typeface="Open Sans" pitchFamily="2" charset="0"/>
              <a:ea typeface="Open Sans" pitchFamily="2" charset="0"/>
              <a:cs typeface="Open Sans" pitchFamily="2" charset="0"/>
            </a:endParaRPr>
          </a:p>
        </p:txBody>
      </p:sp>
      <p:sp>
        <p:nvSpPr>
          <p:cNvPr id="28" name="Text 25">
            <a:extLst>
              <a:ext uri="{FF2B5EF4-FFF2-40B4-BE49-F238E27FC236}">
                <a16:creationId xmlns:a16="http://schemas.microsoft.com/office/drawing/2014/main" id="{E2EF495F-CE02-753B-C0BE-2D2947F0757F}"/>
              </a:ext>
            </a:extLst>
          </p:cNvPr>
          <p:cNvSpPr/>
          <p:nvPr/>
        </p:nvSpPr>
        <p:spPr>
          <a:xfrm>
            <a:off x="914894" y="4233675"/>
            <a:ext cx="7653034" cy="173736"/>
          </a:xfrm>
          <a:prstGeom prst="rect">
            <a:avLst/>
          </a:prstGeom>
          <a:noFill/>
          <a:ln/>
        </p:spPr>
        <p:txBody>
          <a:bodyPr wrap="square" lIns="0" tIns="0" rIns="0" bIns="0" rtlCol="0" anchor="t"/>
          <a:lstStyle/>
          <a:p>
            <a:pPr marL="0" indent="0">
              <a:lnSpc>
                <a:spcPct val="112000"/>
              </a:lnSpc>
              <a:buNone/>
            </a:pPr>
            <a:r>
              <a:rPr lang="en-US" sz="1100">
                <a:solidFill>
                  <a:schemeClr val="tx2"/>
                </a:solidFill>
                <a:latin typeface="Open Sans" pitchFamily="2" charset="0"/>
                <a:ea typeface="Open Sans" pitchFamily="2" charset="0"/>
                <a:cs typeface="Open Sans" pitchFamily="2" charset="0"/>
              </a:rPr>
              <a:t>Not the most obvious one. The one you genuinely did not expect.</a:t>
            </a:r>
          </a:p>
        </p:txBody>
      </p:sp>
      <p:sp>
        <p:nvSpPr>
          <p:cNvPr id="29" name="Shape 26">
            <a:extLst>
              <a:ext uri="{FF2B5EF4-FFF2-40B4-BE49-F238E27FC236}">
                <a16:creationId xmlns:a16="http://schemas.microsoft.com/office/drawing/2014/main" id="{E7096C12-7C78-A51D-8A6B-3A96FCB4D40A}"/>
              </a:ext>
            </a:extLst>
          </p:cNvPr>
          <p:cNvSpPr/>
          <p:nvPr/>
        </p:nvSpPr>
        <p:spPr>
          <a:xfrm>
            <a:off x="292608" y="4512698"/>
            <a:ext cx="8275320" cy="329184"/>
          </a:xfrm>
          <a:prstGeom prst="roundRect">
            <a:avLst>
              <a:gd name="adj" fmla="val 22222"/>
            </a:avLst>
          </a:prstGeom>
          <a:solidFill>
            <a:srgbClr val="E8F5E9"/>
          </a:solidFill>
          <a:ln w="1016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7">
            <a:extLst>
              <a:ext uri="{FF2B5EF4-FFF2-40B4-BE49-F238E27FC236}">
                <a16:creationId xmlns:a16="http://schemas.microsoft.com/office/drawing/2014/main" id="{9A7EFD96-07BA-1A5B-86E0-9391DD422041}"/>
              </a:ext>
            </a:extLst>
          </p:cNvPr>
          <p:cNvSpPr/>
          <p:nvPr/>
        </p:nvSpPr>
        <p:spPr>
          <a:xfrm>
            <a:off x="457200" y="4512698"/>
            <a:ext cx="8229600" cy="329184"/>
          </a:xfrm>
          <a:prstGeom prst="rect">
            <a:avLst/>
          </a:prstGeom>
          <a:noFill/>
          <a:ln/>
        </p:spPr>
        <p:txBody>
          <a:bodyPr wrap="square" lIns="0" tIns="0" rIns="0" bIns="0" rtlCol="0" anchor="ctr"/>
          <a:lstStyle/>
          <a:p>
            <a:pPr marL="0" indent="0" algn="l">
              <a:buNone/>
            </a:pPr>
            <a:r>
              <a:rPr lang="en-US" sz="1000" b="1">
                <a:solidFill>
                  <a:srgbClr val="00B050"/>
                </a:solidFill>
                <a:latin typeface="Open Sans" pitchFamily="2" charset="0"/>
                <a:ea typeface="Open Sans" pitchFamily="2" charset="0"/>
                <a:cs typeface="Open Sans" pitchFamily="2" charset="0"/>
              </a:rPr>
              <a:t>✓  Gap audit complete · Each gap classified · 10x estimate named · Greenlight questions answered · Surprising gap identified</a:t>
            </a:r>
            <a:endParaRPr lang="en-US" sz="1000">
              <a:solidFill>
                <a:srgbClr val="00B050"/>
              </a:solidFill>
              <a:latin typeface="Open Sans" pitchFamily="2" charset="0"/>
              <a:ea typeface="Open Sans" pitchFamily="2" charset="0"/>
              <a:cs typeface="Open Sans" pitchFamily="2" charset="0"/>
            </a:endParaRPr>
          </a:p>
        </p:txBody>
      </p:sp>
      <p:sp>
        <p:nvSpPr>
          <p:cNvPr id="47" name="Text 3">
            <a:extLst>
              <a:ext uri="{FF2B5EF4-FFF2-40B4-BE49-F238E27FC236}">
                <a16:creationId xmlns:a16="http://schemas.microsoft.com/office/drawing/2014/main" id="{DE02F81E-BB02-0D5C-28F7-397B40AF5A91}"/>
              </a:ext>
            </a:extLst>
          </p:cNvPr>
          <p:cNvSpPr/>
          <p:nvPr/>
        </p:nvSpPr>
        <p:spPr>
          <a:xfrm>
            <a:off x="7607808" y="201168"/>
            <a:ext cx="1188720" cy="292608"/>
          </a:xfrm>
          <a:prstGeom prst="rect">
            <a:avLst/>
          </a:prstGeom>
          <a:solidFill>
            <a:schemeClr val="accent2"/>
          </a:solidFill>
          <a:ln>
            <a:noFill/>
          </a:ln>
        </p:spPr>
        <p:txBody>
          <a:bodyPr wrap="square" lIns="0" tIns="0" rIns="0" bIns="0" rtlCol="0" anchor="ctr"/>
          <a:lstStyle/>
          <a:p>
            <a:pPr marL="0" indent="0" algn="ctr">
              <a:buNone/>
            </a:pPr>
            <a:r>
              <a:rPr lang="en-US" sz="850" b="1" kern="0" spc="100">
                <a:solidFill>
                  <a:schemeClr val="bg1"/>
                </a:solidFill>
                <a:latin typeface="Open Sans" pitchFamily="2" charset="0"/>
                <a:ea typeface="Open Sans" pitchFamily="2" charset="0"/>
                <a:cs typeface="Open Sans" pitchFamily="2" charset="0"/>
              </a:rPr>
              <a:t>HANDS-ON LAB</a:t>
            </a:r>
            <a:endParaRPr lang="en-US" sz="850">
              <a:solidFill>
                <a:schemeClr val="bg1"/>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478018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1B66CB6E-35B7-5165-3CF8-9DEE7D237C5D}"/>
              </a:ext>
            </a:extLst>
          </p:cNvPr>
          <p:cNvSpPr txBox="1">
            <a:spLocks/>
          </p:cNvSpPr>
          <p:nvPr/>
        </p:nvSpPr>
        <p:spPr>
          <a:xfrm>
            <a:off x="1797049" y="1848883"/>
            <a:ext cx="7621233" cy="1382478"/>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4500" b="1">
                <a:latin typeface="Open Sans" pitchFamily="2" charset="0"/>
                <a:ea typeface="Open Sans" pitchFamily="2" charset="0"/>
                <a:cs typeface="Open Sans" pitchFamily="2" charset="0"/>
              </a:rPr>
              <a:t>ONTOLOGY &amp;</a:t>
            </a:r>
          </a:p>
          <a:p>
            <a:r>
              <a:rPr lang="en-US" sz="4500" b="1">
                <a:latin typeface="Open Sans" pitchFamily="2" charset="0"/>
                <a:ea typeface="Open Sans" pitchFamily="2" charset="0"/>
                <a:cs typeface="Open Sans" pitchFamily="2" charset="0"/>
              </a:rPr>
              <a:t>STRUCTURAL THINKING</a:t>
            </a:r>
            <a:endParaRPr lang="en-US" sz="4500">
              <a:latin typeface="Open Sans" pitchFamily="2" charset="0"/>
              <a:ea typeface="Open Sans" pitchFamily="2" charset="0"/>
              <a:cs typeface="Open Sans" pitchFamily="2" charset="0"/>
            </a:endParaRPr>
          </a:p>
        </p:txBody>
      </p:sp>
      <p:sp>
        <p:nvSpPr>
          <p:cNvPr id="7" name="Text Placeholder 1">
            <a:extLst>
              <a:ext uri="{FF2B5EF4-FFF2-40B4-BE49-F238E27FC236}">
                <a16:creationId xmlns:a16="http://schemas.microsoft.com/office/drawing/2014/main" id="{6DDF314C-55E7-D3F9-8AE1-1EDE8A20C220}"/>
              </a:ext>
            </a:extLst>
          </p:cNvPr>
          <p:cNvSpPr txBox="1">
            <a:spLocks/>
          </p:cNvSpPr>
          <p:nvPr/>
        </p:nvSpPr>
        <p:spPr>
          <a:xfrm>
            <a:off x="362360" y="1878403"/>
            <a:ext cx="1436943" cy="1323439"/>
          </a:xfrm>
          <a:prstGeom prst="rect">
            <a:avLst/>
          </a:prstGeom>
        </p:spPr>
        <p:txBody>
          <a:bodyPr anchor="b">
            <a:spAutoFit/>
          </a:bodyPr>
          <a:lstStyle>
            <a:lvl1pPr marL="0" indent="0" algn="l" defTabSz="685800" rtl="0" eaLnBrk="1" latinLnBrk="0" hangingPunct="1">
              <a:lnSpc>
                <a:spcPct val="100000"/>
              </a:lnSpc>
              <a:spcBef>
                <a:spcPts val="750"/>
              </a:spcBef>
              <a:buFont typeface="Arial" panose="020B0604020202020204" pitchFamily="34" charset="0"/>
              <a:buNone/>
              <a:defRPr sz="8250" b="1" i="0" kern="1200">
                <a:solidFill>
                  <a:schemeClr val="bg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Extrabold" panose="020B0606030504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8000">
                <a:latin typeface="Open Sans" panose="020B0606030504020204" pitchFamily="34" charset="0"/>
                <a:ea typeface="Open Sans" panose="020B0606030504020204" pitchFamily="34" charset="0"/>
                <a:cs typeface="Open Sans" panose="020B0606030504020204" pitchFamily="34" charset="0"/>
              </a:rPr>
              <a:t>02</a:t>
            </a:r>
          </a:p>
        </p:txBody>
      </p:sp>
    </p:spTree>
    <p:extLst>
      <p:ext uri="{BB962C8B-B14F-4D97-AF65-F5344CB8AC3E}">
        <p14:creationId xmlns:p14="http://schemas.microsoft.com/office/powerpoint/2010/main" val="4292799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D127BF19-2864-35ED-8C3D-6FE266421F8E}"/>
              </a:ext>
            </a:extLst>
          </p:cNvPr>
          <p:cNvSpPr/>
          <p:nvPr/>
        </p:nvSpPr>
        <p:spPr>
          <a:xfrm>
            <a:off x="457200" y="1218088"/>
            <a:ext cx="8229600" cy="640080"/>
          </a:xfrm>
          <a:prstGeom prst="rect">
            <a:avLst/>
          </a:prstGeom>
          <a:noFill/>
          <a:ln/>
        </p:spPr>
        <p:txBody>
          <a:bodyPr wrap="square" lIns="0" tIns="0" rIns="0" bIns="0" rtlCol="0" anchor="ctr"/>
          <a:lstStyle/>
          <a:p>
            <a:pPr marL="0" indent="0" algn="ctr">
              <a:buNone/>
            </a:pPr>
            <a:r>
              <a:rPr lang="en-US" sz="3200" b="1">
                <a:latin typeface="Open Sans" pitchFamily="2" charset="0"/>
                <a:ea typeface="Open Sans" pitchFamily="2" charset="0"/>
                <a:cs typeface="Open Sans" pitchFamily="2" charset="0"/>
              </a:rPr>
              <a:t>The decisions you made</a:t>
            </a:r>
            <a:endParaRPr lang="en-US" sz="32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351A61AA-35DC-5D17-099E-0D680AA52B39}"/>
              </a:ext>
            </a:extLst>
          </p:cNvPr>
          <p:cNvSpPr/>
          <p:nvPr/>
        </p:nvSpPr>
        <p:spPr>
          <a:xfrm>
            <a:off x="457200" y="1894919"/>
            <a:ext cx="8229600" cy="640080"/>
          </a:xfrm>
          <a:prstGeom prst="rect">
            <a:avLst/>
          </a:prstGeom>
          <a:noFill/>
          <a:ln/>
        </p:spPr>
        <p:txBody>
          <a:bodyPr wrap="square" lIns="0" tIns="0" rIns="0" bIns="0" rtlCol="0" anchor="ctr"/>
          <a:lstStyle/>
          <a:p>
            <a:pPr marL="0" indent="0" algn="ctr">
              <a:buNone/>
            </a:pPr>
            <a:r>
              <a:rPr lang="en-US" sz="3200" b="1">
                <a:latin typeface="Open Sans" pitchFamily="2" charset="0"/>
                <a:ea typeface="Open Sans" pitchFamily="2" charset="0"/>
                <a:cs typeface="Open Sans" pitchFamily="2" charset="0"/>
              </a:rPr>
              <a:t>without knowing it.</a:t>
            </a:r>
            <a:endParaRPr lang="en-US" sz="3200">
              <a:latin typeface="Open Sans" pitchFamily="2" charset="0"/>
              <a:ea typeface="Open Sans" pitchFamily="2" charset="0"/>
              <a:cs typeface="Open Sans" pitchFamily="2" charset="0"/>
            </a:endParaRPr>
          </a:p>
        </p:txBody>
      </p:sp>
      <p:sp>
        <p:nvSpPr>
          <p:cNvPr id="5" name="Text 2">
            <a:extLst>
              <a:ext uri="{FF2B5EF4-FFF2-40B4-BE49-F238E27FC236}">
                <a16:creationId xmlns:a16="http://schemas.microsoft.com/office/drawing/2014/main" id="{6F5E1B28-E247-9E68-D483-8EB37C6BF4F0}"/>
              </a:ext>
            </a:extLst>
          </p:cNvPr>
          <p:cNvSpPr/>
          <p:nvPr/>
        </p:nvSpPr>
        <p:spPr>
          <a:xfrm>
            <a:off x="1480186" y="2571750"/>
            <a:ext cx="6183629" cy="1240168"/>
          </a:xfrm>
          <a:prstGeom prst="rect">
            <a:avLst/>
          </a:prstGeom>
          <a:noFill/>
          <a:ln/>
        </p:spPr>
        <p:txBody>
          <a:bodyPr wrap="square" lIns="0" tIns="0" rIns="0" bIns="0" rtlCol="0" anchor="ctr"/>
          <a:lstStyle/>
          <a:p>
            <a:pPr marL="0" indent="0" algn="ctr">
              <a:lnSpc>
                <a:spcPct val="120000"/>
              </a:lnSpc>
              <a:buNone/>
            </a:pPr>
            <a:r>
              <a:rPr lang="en-US" sz="2200" b="1">
                <a:solidFill>
                  <a:schemeClr val="accent2"/>
                </a:solidFill>
                <a:latin typeface="Open Sans" pitchFamily="2" charset="0"/>
                <a:ea typeface="Open Sans" pitchFamily="2" charset="0"/>
                <a:cs typeface="Open Sans" pitchFamily="2" charset="0"/>
              </a:rPr>
              <a:t>Every PoC contains a data model. </a:t>
            </a:r>
          </a:p>
          <a:p>
            <a:pPr marL="0" indent="0" algn="ctr">
              <a:lnSpc>
                <a:spcPct val="120000"/>
              </a:lnSpc>
              <a:buNone/>
            </a:pPr>
            <a:r>
              <a:rPr lang="en-US" sz="2200" b="1">
                <a:solidFill>
                  <a:schemeClr val="accent2"/>
                </a:solidFill>
                <a:latin typeface="Open Sans" pitchFamily="2" charset="0"/>
                <a:ea typeface="Open Sans" pitchFamily="2" charset="0"/>
                <a:cs typeface="Open Sans" pitchFamily="2" charset="0"/>
              </a:rPr>
              <a:t>Claude built one. You approved it. Neither of you named it.</a:t>
            </a:r>
            <a:endParaRPr lang="en-US" sz="2200">
              <a:solidFill>
                <a:schemeClr val="accent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7484936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0C1454EA-BC0F-8F12-8D6C-DCDA63220BBB}"/>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What Ontology Means</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FD23D965-4713-4BCB-56EA-9D248649D35B}"/>
              </a:ext>
            </a:extLst>
          </p:cNvPr>
          <p:cNvSpPr/>
          <p:nvPr/>
        </p:nvSpPr>
        <p:spPr>
          <a:xfrm>
            <a:off x="394212" y="676656"/>
            <a:ext cx="859536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The vocabulary, entities, and relationships that define how a system understands its domain.</a:t>
            </a:r>
          </a:p>
        </p:txBody>
      </p:sp>
      <p:sp>
        <p:nvSpPr>
          <p:cNvPr id="5" name="Shape 2">
            <a:extLst>
              <a:ext uri="{FF2B5EF4-FFF2-40B4-BE49-F238E27FC236}">
                <a16:creationId xmlns:a16="http://schemas.microsoft.com/office/drawing/2014/main" id="{4E2DA5C0-7A1A-00DC-853A-DC1E814A1A1F}"/>
              </a:ext>
            </a:extLst>
          </p:cNvPr>
          <p:cNvSpPr/>
          <p:nvPr/>
        </p:nvSpPr>
        <p:spPr>
          <a:xfrm>
            <a:off x="482078" y="1223484"/>
            <a:ext cx="5758743" cy="2434116"/>
          </a:xfrm>
          <a:prstGeom prst="roundRect">
            <a:avLst>
              <a:gd name="adj" fmla="val 1905"/>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7B30AC59-6DCF-271B-E536-F5758FA27F58}"/>
              </a:ext>
            </a:extLst>
          </p:cNvPr>
          <p:cNvSpPr/>
          <p:nvPr/>
        </p:nvSpPr>
        <p:spPr>
          <a:xfrm>
            <a:off x="722705" y="1362675"/>
            <a:ext cx="5758743" cy="320040"/>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THE PLAIN ENGLISH VERSION</a:t>
            </a:r>
            <a:endParaRPr lang="en-US" sz="14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5397F950-028A-8A8B-F594-8597FF3B36A5}"/>
              </a:ext>
            </a:extLst>
          </p:cNvPr>
          <p:cNvSpPr/>
          <p:nvPr/>
        </p:nvSpPr>
        <p:spPr>
          <a:xfrm>
            <a:off x="722706" y="1735548"/>
            <a:ext cx="5127762" cy="2185416"/>
          </a:xfrm>
          <a:prstGeom prst="rect">
            <a:avLst/>
          </a:prstGeom>
          <a:noFill/>
          <a:ln/>
        </p:spPr>
        <p:txBody>
          <a:bodyPr wrap="square" lIns="0" tIns="0" rIns="0" bIns="0" rtlCol="0" anchor="t"/>
          <a:lstStyle/>
          <a:p>
            <a:pPr marL="0" indent="0">
              <a:lnSpc>
                <a:spcPct val="116000"/>
              </a:lnSpc>
              <a:buNone/>
            </a:pPr>
            <a:r>
              <a:rPr lang="en-US" sz="1200">
                <a:solidFill>
                  <a:schemeClr val="tx2"/>
                </a:solidFill>
                <a:latin typeface="Open Sans" pitchFamily="2" charset="0"/>
                <a:ea typeface="Open Sans" pitchFamily="2" charset="0"/>
                <a:cs typeface="Open Sans" pitchFamily="2" charset="0"/>
              </a:rPr>
              <a:t>Ontology answers three questions about your system:</a:t>
            </a:r>
          </a:p>
          <a:p>
            <a:pPr marL="0" indent="0">
              <a:lnSpc>
                <a:spcPct val="116000"/>
              </a:lnSpc>
              <a:buNone/>
            </a:pPr>
            <a:endParaRPr lang="en-US" sz="1200">
              <a:solidFill>
                <a:schemeClr val="tx2"/>
              </a:solidFill>
              <a:latin typeface="Open Sans" pitchFamily="2" charset="0"/>
              <a:ea typeface="Open Sans" pitchFamily="2" charset="0"/>
              <a:cs typeface="Open Sans" pitchFamily="2" charset="0"/>
            </a:endParaRPr>
          </a:p>
          <a:p>
            <a:pPr marL="171450" indent="-171450">
              <a:lnSpc>
                <a:spcPct val="116000"/>
              </a:lnSpc>
              <a:buFont typeface="Arial"/>
              <a:buChar char="•"/>
            </a:pPr>
            <a:r>
              <a:rPr lang="en-US" sz="1200">
                <a:solidFill>
                  <a:schemeClr val="tx2"/>
                </a:solidFill>
                <a:latin typeface="Open Sans" pitchFamily="2" charset="0"/>
                <a:ea typeface="Open Sans" pitchFamily="2" charset="0"/>
                <a:cs typeface="Open Sans" pitchFamily="2" charset="0"/>
              </a:rPr>
              <a:t>What things exist? Entities, like accounts, deals, contacts, reports.</a:t>
            </a:r>
          </a:p>
          <a:p>
            <a:pPr marL="171450" indent="-171450">
              <a:lnSpc>
                <a:spcPct val="116000"/>
              </a:lnSpc>
              <a:buFont typeface="Arial"/>
              <a:buChar char="•"/>
            </a:pPr>
            <a:endParaRPr lang="en-US" sz="1200">
              <a:solidFill>
                <a:schemeClr val="tx2"/>
              </a:solidFill>
              <a:latin typeface="Open Sans" pitchFamily="2" charset="0"/>
              <a:ea typeface="Open Sans" pitchFamily="2" charset="0"/>
              <a:cs typeface="Open Sans" pitchFamily="2" charset="0"/>
            </a:endParaRPr>
          </a:p>
          <a:p>
            <a:pPr marL="171450" indent="-171450">
              <a:lnSpc>
                <a:spcPct val="116000"/>
              </a:lnSpc>
              <a:buFont typeface="Arial"/>
              <a:buChar char="•"/>
            </a:pPr>
            <a:r>
              <a:rPr lang="en-US" sz="1200">
                <a:solidFill>
                  <a:schemeClr val="tx2"/>
                </a:solidFill>
                <a:latin typeface="Open Sans" pitchFamily="2" charset="0"/>
                <a:ea typeface="Open Sans" pitchFamily="2" charset="0"/>
                <a:cs typeface="Open Sans" pitchFamily="2" charset="0"/>
              </a:rPr>
              <a:t>How do they relate? Relationships, like an account has many contacts.</a:t>
            </a:r>
          </a:p>
          <a:p>
            <a:pPr marL="171450" indent="-171450">
              <a:lnSpc>
                <a:spcPct val="116000"/>
              </a:lnSpc>
              <a:buFont typeface="Arial"/>
              <a:buChar char="•"/>
            </a:pPr>
            <a:endParaRPr lang="en-US" sz="1200">
              <a:solidFill>
                <a:schemeClr val="tx2"/>
              </a:solidFill>
              <a:latin typeface="Open Sans" pitchFamily="2" charset="0"/>
              <a:ea typeface="Open Sans" pitchFamily="2" charset="0"/>
              <a:cs typeface="Open Sans" pitchFamily="2" charset="0"/>
            </a:endParaRPr>
          </a:p>
          <a:p>
            <a:pPr marL="171450" indent="-171450">
              <a:lnSpc>
                <a:spcPct val="116000"/>
              </a:lnSpc>
              <a:buFont typeface="Arial"/>
              <a:buChar char="•"/>
            </a:pPr>
            <a:r>
              <a:rPr lang="en-US" sz="1200">
                <a:solidFill>
                  <a:schemeClr val="tx2"/>
                </a:solidFill>
                <a:latin typeface="Open Sans" pitchFamily="2" charset="0"/>
                <a:ea typeface="Open Sans" pitchFamily="2" charset="0"/>
                <a:cs typeface="Open Sans" pitchFamily="2" charset="0"/>
              </a:rPr>
              <a:t>What do we call them? Vocabulary: is it a “deal” or an “opportunity”? The name matters more than it looks.</a:t>
            </a:r>
          </a:p>
        </p:txBody>
      </p:sp>
    </p:spTree>
    <p:extLst>
      <p:ext uri="{BB962C8B-B14F-4D97-AF65-F5344CB8AC3E}">
        <p14:creationId xmlns:p14="http://schemas.microsoft.com/office/powerpoint/2010/main" val="2214131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46E2352-9499-E29C-3C8B-72B0EFF33FFE}"/>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Why You Should Care About Ontology?</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27C09F2D-7D94-5E18-E63E-BBC6927B33A4}"/>
              </a:ext>
            </a:extLst>
          </p:cNvPr>
          <p:cNvSpPr/>
          <p:nvPr/>
        </p:nvSpPr>
        <p:spPr>
          <a:xfrm>
            <a:off x="394212" y="736290"/>
            <a:ext cx="7632188" cy="420624"/>
          </a:xfrm>
          <a:prstGeom prst="rect">
            <a:avLst/>
          </a:prstGeom>
          <a:noFill/>
          <a:ln/>
        </p:spPr>
        <p:txBody>
          <a:bodyPr wrap="square" lIns="0" tIns="0" rIns="0" bIns="0" rtlCol="0" anchor="t"/>
          <a:lstStyle/>
          <a:p>
            <a:pPr marL="0" indent="0">
              <a:buNone/>
            </a:pPr>
            <a:r>
              <a:rPr lang="en-US" sz="1350" dirty="0">
                <a:solidFill>
                  <a:schemeClr val="tx2"/>
                </a:solidFill>
                <a:latin typeface="Open Sans" pitchFamily="2" charset="0"/>
                <a:ea typeface="Open Sans" pitchFamily="2" charset="0"/>
                <a:cs typeface="Open Sans" pitchFamily="2" charset="0"/>
              </a:rPr>
              <a:t>The upstream decisions that constrain everything downstream, made at the PoC stage whether you are paying attention or not.</a:t>
            </a:r>
          </a:p>
        </p:txBody>
      </p:sp>
      <p:sp>
        <p:nvSpPr>
          <p:cNvPr id="5" name="Shape 2">
            <a:extLst>
              <a:ext uri="{FF2B5EF4-FFF2-40B4-BE49-F238E27FC236}">
                <a16:creationId xmlns:a16="http://schemas.microsoft.com/office/drawing/2014/main" id="{543B5DB2-2466-FF2D-9CF1-CC4B29E9E2C4}"/>
              </a:ext>
            </a:extLst>
          </p:cNvPr>
          <p:cNvSpPr/>
          <p:nvPr/>
        </p:nvSpPr>
        <p:spPr>
          <a:xfrm>
            <a:off x="292608" y="1544934"/>
            <a:ext cx="2697480" cy="2417641"/>
          </a:xfrm>
          <a:prstGeom prst="roundRect">
            <a:avLst>
              <a:gd name="adj" fmla="val 2034"/>
            </a:avLst>
          </a:prstGeom>
          <a:solidFill>
            <a:srgbClr val="F5F5F5"/>
          </a:solidFill>
          <a:ln w="19050">
            <a:solidFill>
              <a:schemeClr val="accent2"/>
            </a:solidFill>
            <a:prstDash val="solid"/>
          </a:ln>
          <a:effectLst>
            <a:outerShdw blurRad="63500" dist="25400" dir="2700000" algn="bl" rotWithShape="0">
              <a:srgbClr val="000000">
                <a:alpha val="11000"/>
              </a:srgbClr>
            </a:outerShdw>
          </a:effectLst>
        </p:spPr>
        <p:txBody>
          <a:bodyPr/>
          <a:lstStyle/>
          <a:p>
            <a:endParaRPr lang="en-US" sz="1200">
              <a:solidFill>
                <a:schemeClr val="tx1">
                  <a:lumMod val="75000"/>
                  <a:lumOff val="25000"/>
                </a:schemeClr>
              </a:solidFill>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0794A4C4-95CC-8376-1860-11C2C127272B}"/>
              </a:ext>
            </a:extLst>
          </p:cNvPr>
          <p:cNvSpPr/>
          <p:nvPr/>
        </p:nvSpPr>
        <p:spPr>
          <a:xfrm>
            <a:off x="475488" y="1709526"/>
            <a:ext cx="2331720" cy="502920"/>
          </a:xfrm>
          <a:prstGeom prst="rect">
            <a:avLst/>
          </a:prstGeom>
          <a:noFill/>
          <a:ln/>
        </p:spPr>
        <p:txBody>
          <a:bodyPr wrap="square" lIns="0" tIns="0" rIns="0" bIns="0" rtlCol="0" anchor="t"/>
          <a:lstStyle/>
          <a:p>
            <a:pPr marL="0" indent="0" algn="ctr">
              <a:buNone/>
            </a:pPr>
            <a:r>
              <a:rPr lang="en-US" sz="1200" b="1">
                <a:solidFill>
                  <a:schemeClr val="accent2"/>
                </a:solidFill>
                <a:latin typeface="Open Sans" pitchFamily="2" charset="0"/>
                <a:ea typeface="Open Sans" pitchFamily="2" charset="0"/>
                <a:cs typeface="Open Sans" pitchFamily="2" charset="0"/>
              </a:rPr>
              <a:t>SCHEMA DESIGN SHAPES EVERYTHING</a:t>
            </a:r>
            <a:endParaRPr lang="en-US" sz="12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C2178376-6925-8E67-E3B6-E716AA5F3CEB}"/>
              </a:ext>
            </a:extLst>
          </p:cNvPr>
          <p:cNvSpPr/>
          <p:nvPr/>
        </p:nvSpPr>
        <p:spPr>
          <a:xfrm>
            <a:off x="475488" y="2204208"/>
            <a:ext cx="2331720" cy="1984248"/>
          </a:xfrm>
          <a:prstGeom prst="rect">
            <a:avLst/>
          </a:prstGeom>
          <a:noFill/>
          <a:ln/>
        </p:spPr>
        <p:txBody>
          <a:bodyPr wrap="square" lIns="0" tIns="0" rIns="0" bIns="0" rtlCol="0" anchor="t"/>
          <a:lstStyle/>
          <a:p>
            <a:pPr marL="171450" indent="-171450">
              <a:lnSpc>
                <a:spcPct val="108000"/>
              </a:lnSpc>
              <a:buFont typeface="Arial" panose="020B0604020202020204" pitchFamily="34" charset="0"/>
              <a:buChar char="•"/>
            </a:pPr>
            <a:r>
              <a:rPr lang="en-US" sz="1100">
                <a:solidFill>
                  <a:schemeClr val="tx2"/>
                </a:solidFill>
                <a:latin typeface="Open Sans" pitchFamily="2" charset="0"/>
                <a:ea typeface="Open Sans" pitchFamily="2" charset="0"/>
                <a:cs typeface="Open Sans" pitchFamily="2" charset="0"/>
              </a:rPr>
              <a:t>Determines what questions you can ask the data</a:t>
            </a:r>
          </a:p>
          <a:p>
            <a:pPr marL="171450" indent="-171450">
              <a:lnSpc>
                <a:spcPct val="108000"/>
              </a:lnSpc>
              <a:buFont typeface="Arial" panose="020B0604020202020204" pitchFamily="34" charset="0"/>
              <a:buChar char="•"/>
            </a:pPr>
            <a:endParaRPr lang="en-US" sz="11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100">
                <a:solidFill>
                  <a:schemeClr val="tx2"/>
                </a:solidFill>
                <a:latin typeface="Open Sans" pitchFamily="2" charset="0"/>
                <a:ea typeface="Open Sans" pitchFamily="2" charset="0"/>
                <a:cs typeface="Open Sans" pitchFamily="2" charset="0"/>
              </a:rPr>
              <a:t>How fast you can query it, how hard it is to change</a:t>
            </a:r>
          </a:p>
          <a:p>
            <a:pPr marL="171450" indent="-171450">
              <a:lnSpc>
                <a:spcPct val="108000"/>
              </a:lnSpc>
              <a:buFont typeface="Arial" panose="020B0604020202020204" pitchFamily="34" charset="0"/>
              <a:buChar char="•"/>
            </a:pPr>
            <a:endParaRPr lang="en-US" sz="11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100">
                <a:solidFill>
                  <a:schemeClr val="tx2"/>
                </a:solidFill>
                <a:latin typeface="Open Sans" pitchFamily="2" charset="0"/>
                <a:ea typeface="Open Sans" pitchFamily="2" charset="0"/>
                <a:cs typeface="Open Sans" pitchFamily="2" charset="0"/>
              </a:rPr>
              <a:t>These decisions get made in the first few prompts</a:t>
            </a:r>
          </a:p>
        </p:txBody>
      </p:sp>
      <p:sp>
        <p:nvSpPr>
          <p:cNvPr id="8" name="Shape 5">
            <a:extLst>
              <a:ext uri="{FF2B5EF4-FFF2-40B4-BE49-F238E27FC236}">
                <a16:creationId xmlns:a16="http://schemas.microsoft.com/office/drawing/2014/main" id="{7CCA9F46-8CF1-231A-70B9-59ADB00A24BC}"/>
              </a:ext>
            </a:extLst>
          </p:cNvPr>
          <p:cNvSpPr/>
          <p:nvPr/>
        </p:nvSpPr>
        <p:spPr>
          <a:xfrm>
            <a:off x="3246120" y="1544934"/>
            <a:ext cx="2697480" cy="2417641"/>
          </a:xfrm>
          <a:prstGeom prst="roundRect">
            <a:avLst>
              <a:gd name="adj" fmla="val 2034"/>
            </a:avLst>
          </a:prstGeom>
          <a:solidFill>
            <a:srgbClr val="F5F5F5"/>
          </a:solidFill>
          <a:ln w="19050">
            <a:solidFill>
              <a:schemeClr val="accent1"/>
            </a:solidFill>
            <a:prstDash val="solid"/>
          </a:ln>
          <a:effectLst>
            <a:outerShdw blurRad="63500" dist="25400" dir="2700000" algn="bl" rotWithShape="0">
              <a:srgbClr val="000000">
                <a:alpha val="11000"/>
              </a:srgbClr>
            </a:outerShdw>
          </a:effectLst>
        </p:spPr>
        <p:txBody>
          <a:bodyPr/>
          <a:lstStyle/>
          <a:p>
            <a:endParaRPr lang="en-US" sz="1200">
              <a:solidFill>
                <a:schemeClr val="tx1">
                  <a:lumMod val="75000"/>
                  <a:lumOff val="25000"/>
                </a:schemeClr>
              </a:solidFill>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F3F1988A-94E0-E671-5FD3-A1A1299C26CD}"/>
              </a:ext>
            </a:extLst>
          </p:cNvPr>
          <p:cNvSpPr/>
          <p:nvPr/>
        </p:nvSpPr>
        <p:spPr>
          <a:xfrm>
            <a:off x="3429000" y="1709526"/>
            <a:ext cx="2331720" cy="502920"/>
          </a:xfrm>
          <a:prstGeom prst="rect">
            <a:avLst/>
          </a:prstGeom>
          <a:noFill/>
          <a:ln/>
        </p:spPr>
        <p:txBody>
          <a:bodyPr wrap="square" lIns="0" tIns="0" rIns="0" bIns="0" rtlCol="0" anchor="t"/>
          <a:lstStyle/>
          <a:p>
            <a:pPr marL="0" indent="0" algn="ctr">
              <a:buNone/>
            </a:pPr>
            <a:r>
              <a:rPr lang="en-US" sz="1200" b="1">
                <a:solidFill>
                  <a:schemeClr val="accent1"/>
                </a:solidFill>
                <a:latin typeface="Open Sans" pitchFamily="2" charset="0"/>
                <a:ea typeface="Open Sans" pitchFamily="2" charset="0"/>
                <a:cs typeface="Open Sans" pitchFamily="2" charset="0"/>
              </a:rPr>
              <a:t>NAMING CONVENTIONS TRAVEL</a:t>
            </a:r>
            <a:endParaRPr lang="en-US" sz="1200">
              <a:solidFill>
                <a:schemeClr val="accent1"/>
              </a:solidFill>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C73B676B-8A55-2B79-F033-4E3B14BD439A}"/>
              </a:ext>
            </a:extLst>
          </p:cNvPr>
          <p:cNvSpPr/>
          <p:nvPr/>
        </p:nvSpPr>
        <p:spPr>
          <a:xfrm>
            <a:off x="3429000" y="2212446"/>
            <a:ext cx="2331720" cy="1984248"/>
          </a:xfrm>
          <a:prstGeom prst="rect">
            <a:avLst/>
          </a:prstGeom>
          <a:noFill/>
          <a:ln/>
        </p:spPr>
        <p:txBody>
          <a:bodyPr wrap="square" lIns="0" tIns="0" rIns="0" bIns="0" rtlCol="0" anchor="t"/>
          <a:lstStyle/>
          <a:p>
            <a:pPr marL="171450" indent="-171450">
              <a:lnSpc>
                <a:spcPct val="108000"/>
              </a:lnSpc>
              <a:buFont typeface="Arial" panose="020B0604020202020204" pitchFamily="34" charset="0"/>
              <a:buChar char="•"/>
            </a:pPr>
            <a:r>
              <a:rPr lang="en-US" sz="1100">
                <a:solidFill>
                  <a:schemeClr val="tx2"/>
                </a:solidFill>
                <a:latin typeface="Open Sans" pitchFamily="2" charset="0"/>
                <a:ea typeface="Open Sans" pitchFamily="2" charset="0"/>
                <a:cs typeface="Open Sans" pitchFamily="2" charset="0"/>
              </a:rPr>
              <a:t>Whatever Claude named your entities appears everywhere</a:t>
            </a:r>
          </a:p>
          <a:p>
            <a:pPr marL="171450" indent="-171450">
              <a:lnSpc>
                <a:spcPct val="108000"/>
              </a:lnSpc>
              <a:buFont typeface="Arial" panose="020B0604020202020204" pitchFamily="34" charset="0"/>
              <a:buChar char="•"/>
            </a:pPr>
            <a:endParaRPr lang="en-US" sz="11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100">
                <a:solidFill>
                  <a:schemeClr val="tx2"/>
                </a:solidFill>
                <a:latin typeface="Open Sans" pitchFamily="2" charset="0"/>
                <a:ea typeface="Open Sans" pitchFamily="2" charset="0"/>
                <a:cs typeface="Open Sans" pitchFamily="2" charset="0"/>
              </a:rPr>
              <a:t>Database, API, frontend, docs</a:t>
            </a:r>
          </a:p>
          <a:p>
            <a:pPr marL="171450" indent="-171450">
              <a:lnSpc>
                <a:spcPct val="108000"/>
              </a:lnSpc>
              <a:buFont typeface="Arial" panose="020B0604020202020204" pitchFamily="34" charset="0"/>
              <a:buChar char="•"/>
            </a:pPr>
            <a:endParaRPr lang="en-US" sz="11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100">
                <a:solidFill>
                  <a:schemeClr val="tx2"/>
                </a:solidFill>
                <a:latin typeface="Open Sans" pitchFamily="2" charset="0"/>
                <a:ea typeface="Open Sans" pitchFamily="2" charset="0"/>
                <a:cs typeface="Open Sans" pitchFamily="2" charset="0"/>
              </a:rPr>
              <a:t>Changing them after production is a migration, not a rename</a:t>
            </a:r>
          </a:p>
        </p:txBody>
      </p:sp>
      <p:sp>
        <p:nvSpPr>
          <p:cNvPr id="11" name="Shape 8">
            <a:extLst>
              <a:ext uri="{FF2B5EF4-FFF2-40B4-BE49-F238E27FC236}">
                <a16:creationId xmlns:a16="http://schemas.microsoft.com/office/drawing/2014/main" id="{FC2722AB-4A95-CB63-FFF3-98B7987A8858}"/>
              </a:ext>
            </a:extLst>
          </p:cNvPr>
          <p:cNvSpPr/>
          <p:nvPr/>
        </p:nvSpPr>
        <p:spPr>
          <a:xfrm>
            <a:off x="6199632" y="1544934"/>
            <a:ext cx="2697480" cy="2417641"/>
          </a:xfrm>
          <a:prstGeom prst="roundRect">
            <a:avLst>
              <a:gd name="adj" fmla="val 2034"/>
            </a:avLst>
          </a:prstGeom>
          <a:solidFill>
            <a:srgbClr val="F5F5F5"/>
          </a:solidFill>
          <a:ln w="19050">
            <a:solidFill>
              <a:schemeClr val="accent3"/>
            </a:solidFill>
            <a:prstDash val="solid"/>
          </a:ln>
          <a:effectLst>
            <a:outerShdw blurRad="63500" dist="25400" dir="2700000" algn="bl" rotWithShape="0">
              <a:srgbClr val="000000">
                <a:alpha val="11000"/>
              </a:srgbClr>
            </a:outerShdw>
          </a:effectLst>
        </p:spPr>
        <p:txBody>
          <a:bodyPr/>
          <a:lstStyle/>
          <a:p>
            <a:endParaRPr lang="en-US" sz="1200">
              <a:solidFill>
                <a:schemeClr val="tx1">
                  <a:lumMod val="75000"/>
                  <a:lumOff val="25000"/>
                </a:schemeClr>
              </a:solidFill>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428B4D92-DBEC-921D-7833-E1642C7844F3}"/>
              </a:ext>
            </a:extLst>
          </p:cNvPr>
          <p:cNvSpPr/>
          <p:nvPr/>
        </p:nvSpPr>
        <p:spPr>
          <a:xfrm>
            <a:off x="6382512" y="1709526"/>
            <a:ext cx="2331720" cy="502920"/>
          </a:xfrm>
          <a:prstGeom prst="rect">
            <a:avLst/>
          </a:prstGeom>
          <a:noFill/>
          <a:ln/>
        </p:spPr>
        <p:txBody>
          <a:bodyPr wrap="square" lIns="0" tIns="0" rIns="0" bIns="0" rtlCol="0" anchor="t"/>
          <a:lstStyle/>
          <a:p>
            <a:pPr marL="0" indent="0" algn="ctr">
              <a:buNone/>
            </a:pPr>
            <a:r>
              <a:rPr lang="en-US" sz="1200" b="1">
                <a:solidFill>
                  <a:schemeClr val="accent3"/>
                </a:solidFill>
                <a:latin typeface="Open Sans" pitchFamily="2" charset="0"/>
                <a:ea typeface="Open Sans" pitchFamily="2" charset="0"/>
                <a:cs typeface="Open Sans" pitchFamily="2" charset="0"/>
              </a:rPr>
              <a:t>MISSING RELATIONSHIPS CREATE DEBT</a:t>
            </a:r>
            <a:endParaRPr lang="en-US" sz="1200">
              <a:solidFill>
                <a:schemeClr val="accent3"/>
              </a:solidFill>
              <a:latin typeface="Open Sans" pitchFamily="2" charset="0"/>
              <a:ea typeface="Open Sans" pitchFamily="2" charset="0"/>
              <a:cs typeface="Open Sans" pitchFamily="2" charset="0"/>
            </a:endParaRPr>
          </a:p>
        </p:txBody>
      </p:sp>
      <p:sp>
        <p:nvSpPr>
          <p:cNvPr id="13" name="Text 10">
            <a:extLst>
              <a:ext uri="{FF2B5EF4-FFF2-40B4-BE49-F238E27FC236}">
                <a16:creationId xmlns:a16="http://schemas.microsoft.com/office/drawing/2014/main" id="{66E168DE-D2F6-A949-CF83-A0FDAAA74788}"/>
              </a:ext>
            </a:extLst>
          </p:cNvPr>
          <p:cNvSpPr/>
          <p:nvPr/>
        </p:nvSpPr>
        <p:spPr>
          <a:xfrm>
            <a:off x="6382512" y="2212446"/>
            <a:ext cx="2331720" cy="1984248"/>
          </a:xfrm>
          <a:prstGeom prst="rect">
            <a:avLst/>
          </a:prstGeom>
          <a:noFill/>
          <a:ln/>
        </p:spPr>
        <p:txBody>
          <a:bodyPr wrap="square" lIns="0" tIns="0" rIns="0" bIns="0" rtlCol="0" anchor="t"/>
          <a:lstStyle/>
          <a:p>
            <a:pPr marL="171450" indent="-171450">
              <a:lnSpc>
                <a:spcPct val="108000"/>
              </a:lnSpc>
              <a:buFont typeface="Arial" panose="020B0604020202020204" pitchFamily="34" charset="0"/>
              <a:buChar char="•"/>
            </a:pPr>
            <a:r>
              <a:rPr lang="en-US" sz="1100" err="1">
                <a:solidFill>
                  <a:schemeClr val="tx2"/>
                </a:solidFill>
                <a:latin typeface="Open Sans" pitchFamily="2" charset="0"/>
                <a:ea typeface="Open Sans" pitchFamily="2" charset="0"/>
                <a:cs typeface="Open Sans" pitchFamily="2" charset="0"/>
              </a:rPr>
              <a:t>PoCs</a:t>
            </a:r>
            <a:r>
              <a:rPr lang="en-US" sz="1100">
                <a:solidFill>
                  <a:schemeClr val="tx2"/>
                </a:solidFill>
                <a:latin typeface="Open Sans" pitchFamily="2" charset="0"/>
                <a:ea typeface="Open Sans" pitchFamily="2" charset="0"/>
                <a:cs typeface="Open Sans" pitchFamily="2" charset="0"/>
              </a:rPr>
              <a:t> model one entity cleanly, leave relationships implicit</a:t>
            </a:r>
          </a:p>
          <a:p>
            <a:pPr marL="171450" indent="-171450">
              <a:lnSpc>
                <a:spcPct val="108000"/>
              </a:lnSpc>
              <a:buFont typeface="Arial" panose="020B0604020202020204" pitchFamily="34" charset="0"/>
              <a:buChar char="•"/>
            </a:pPr>
            <a:endParaRPr lang="en-US" sz="1100">
              <a:solidFill>
                <a:schemeClr val="tx2"/>
              </a:solidFill>
              <a:latin typeface="Open Sans" pitchFamily="2" charset="0"/>
              <a:ea typeface="Open Sans" pitchFamily="2" charset="0"/>
              <a:cs typeface="Open Sans" pitchFamily="2" charset="0"/>
            </a:endParaRPr>
          </a:p>
          <a:p>
            <a:pPr marL="171450" indent="-171450">
              <a:lnSpc>
                <a:spcPct val="108000"/>
              </a:lnSpc>
              <a:buFont typeface="Arial" panose="020B0604020202020204" pitchFamily="34" charset="0"/>
              <a:buChar char="•"/>
            </a:pPr>
            <a:r>
              <a:rPr lang="en-US" sz="1100">
                <a:solidFill>
                  <a:schemeClr val="tx2"/>
                </a:solidFill>
                <a:latin typeface="Open Sans" pitchFamily="2" charset="0"/>
                <a:ea typeface="Open Sans" pitchFamily="2" charset="0"/>
                <a:cs typeface="Open Sans" pitchFamily="2" charset="0"/>
              </a:rPr>
              <a:t>When engineering adds a second entity, that implicit relationship becomes an expensive migration</a:t>
            </a:r>
          </a:p>
        </p:txBody>
      </p:sp>
      <p:sp>
        <p:nvSpPr>
          <p:cNvPr id="14" name="Shape 11">
            <a:extLst>
              <a:ext uri="{FF2B5EF4-FFF2-40B4-BE49-F238E27FC236}">
                <a16:creationId xmlns:a16="http://schemas.microsoft.com/office/drawing/2014/main" id="{C7A0EFB4-B950-B3C6-3F90-37F8FEA055A2}"/>
              </a:ext>
            </a:extLst>
          </p:cNvPr>
          <p:cNvSpPr/>
          <p:nvPr/>
        </p:nvSpPr>
        <p:spPr>
          <a:xfrm>
            <a:off x="292608" y="4273471"/>
            <a:ext cx="8558784" cy="384048"/>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604237D9-E4D6-C4BB-A928-6CCBDFD03BB2}"/>
              </a:ext>
            </a:extLst>
          </p:cNvPr>
          <p:cNvSpPr/>
          <p:nvPr/>
        </p:nvSpPr>
        <p:spPr>
          <a:xfrm>
            <a:off x="493776" y="4273471"/>
            <a:ext cx="8156448"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You do not need to design the data model. You need to review it before engineering inherits it.</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867816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435C385-8A72-8F12-363B-689E11C7D699}"/>
              </a:ext>
            </a:extLst>
          </p:cNvPr>
          <p:cNvSpPr/>
          <p:nvPr/>
        </p:nvSpPr>
        <p:spPr>
          <a:xfrm>
            <a:off x="385745" y="201168"/>
            <a:ext cx="7315200" cy="502920"/>
          </a:xfrm>
          <a:prstGeom prst="rect">
            <a:avLst/>
          </a:prstGeom>
          <a:noFill/>
          <a:ln/>
        </p:spPr>
        <p:txBody>
          <a:bodyPr wrap="square" lIns="0" tIns="0" rIns="0" bIns="0" rtlCol="0" anchor="ctr"/>
          <a:lstStyle/>
          <a:p>
            <a:pPr marL="0" indent="0">
              <a:buNone/>
            </a:pPr>
            <a:r>
              <a:rPr lang="en-US" sz="2700" b="1">
                <a:solidFill>
                  <a:srgbClr val="2D2D2D"/>
                </a:solidFill>
                <a:latin typeface="Open Sans" pitchFamily="2" charset="0"/>
                <a:ea typeface="Open Sans" pitchFamily="2" charset="0"/>
                <a:cs typeface="Open Sans" pitchFamily="2" charset="0"/>
              </a:rPr>
              <a:t>Spot the Assumption</a:t>
            </a:r>
            <a:endParaRPr lang="en-US" sz="27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AF97A3CB-EAE5-FEC9-861C-9170C7957DDE}"/>
              </a:ext>
            </a:extLst>
          </p:cNvPr>
          <p:cNvSpPr/>
          <p:nvPr/>
        </p:nvSpPr>
        <p:spPr>
          <a:xfrm>
            <a:off x="385745" y="676656"/>
            <a:ext cx="8595360" cy="292608"/>
          </a:xfrm>
          <a:prstGeom prst="rect">
            <a:avLst/>
          </a:prstGeom>
          <a:noFill/>
          <a:ln/>
        </p:spPr>
        <p:txBody>
          <a:bodyPr wrap="square" lIns="0" tIns="0" rIns="0" bIns="0" rtlCol="0" anchor="t"/>
          <a:lstStyle/>
          <a:p>
            <a:pPr marL="0" indent="0">
              <a:buNone/>
            </a:pPr>
            <a:r>
              <a:rPr lang="en-US" sz="1400">
                <a:solidFill>
                  <a:srgbClr val="757575"/>
                </a:solidFill>
                <a:latin typeface="Open Sans" pitchFamily="2" charset="0"/>
                <a:ea typeface="Open Sans" pitchFamily="2" charset="0"/>
                <a:cs typeface="Open Sans" pitchFamily="2" charset="0"/>
              </a:rPr>
              <a:t>Read the data model. Vote on the hidden assumption before we discuss.</a:t>
            </a:r>
            <a:endParaRPr lang="en-US" sz="1400">
              <a:latin typeface="Open Sans" pitchFamily="2" charset="0"/>
              <a:ea typeface="Open Sans" pitchFamily="2" charset="0"/>
              <a:cs typeface="Open Sans" pitchFamily="2" charset="0"/>
            </a:endParaRPr>
          </a:p>
        </p:txBody>
      </p:sp>
      <p:sp>
        <p:nvSpPr>
          <p:cNvPr id="5" name="Shape 2">
            <a:extLst>
              <a:ext uri="{FF2B5EF4-FFF2-40B4-BE49-F238E27FC236}">
                <a16:creationId xmlns:a16="http://schemas.microsoft.com/office/drawing/2014/main" id="{2EEFE980-39EF-9BCD-EE3A-EB91F1A923E6}"/>
              </a:ext>
            </a:extLst>
          </p:cNvPr>
          <p:cNvSpPr/>
          <p:nvPr/>
        </p:nvSpPr>
        <p:spPr>
          <a:xfrm>
            <a:off x="7924800" y="201168"/>
            <a:ext cx="871728" cy="292608"/>
          </a:xfrm>
          <a:prstGeom prst="roundRect">
            <a:avLst>
              <a:gd name="adj" fmla="val 15625"/>
            </a:avLst>
          </a:prstGeom>
          <a:solidFill>
            <a:schemeClr val="accent2"/>
          </a:solidFill>
          <a:ln w="15875">
            <a:noFill/>
            <a:prstDash val="solid"/>
          </a:ln>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8B41E731-664A-A5EA-7C52-7AC17AF4265C}"/>
              </a:ext>
            </a:extLst>
          </p:cNvPr>
          <p:cNvSpPr/>
          <p:nvPr/>
        </p:nvSpPr>
        <p:spPr>
          <a:xfrm>
            <a:off x="7924800" y="201168"/>
            <a:ext cx="871728" cy="292608"/>
          </a:xfrm>
          <a:prstGeom prst="rect">
            <a:avLst/>
          </a:prstGeom>
          <a:noFill/>
          <a:ln/>
        </p:spPr>
        <p:txBody>
          <a:bodyPr wrap="square" lIns="0" tIns="0" rIns="0" bIns="0" rtlCol="0" anchor="ctr"/>
          <a:lstStyle/>
          <a:p>
            <a:pPr marL="0" indent="0" algn="ctr">
              <a:buNone/>
            </a:pPr>
            <a:r>
              <a:rPr lang="en-US" sz="850" b="1" kern="0" spc="100">
                <a:solidFill>
                  <a:schemeClr val="bg1"/>
                </a:solidFill>
                <a:latin typeface="Open Sans" pitchFamily="2" charset="0"/>
                <a:ea typeface="Open Sans" pitchFamily="2" charset="0"/>
                <a:cs typeface="Open Sans" pitchFamily="2" charset="0"/>
              </a:rPr>
              <a:t>REFLECT</a:t>
            </a:r>
            <a:endParaRPr lang="en-US" sz="850">
              <a:solidFill>
                <a:schemeClr val="bg1"/>
              </a:solidFill>
              <a:latin typeface="Open Sans" pitchFamily="2" charset="0"/>
              <a:ea typeface="Open Sans" pitchFamily="2" charset="0"/>
              <a:cs typeface="Open Sans" pitchFamily="2" charset="0"/>
            </a:endParaRPr>
          </a:p>
        </p:txBody>
      </p:sp>
      <p:sp>
        <p:nvSpPr>
          <p:cNvPr id="8" name="Shape 5">
            <a:extLst>
              <a:ext uri="{FF2B5EF4-FFF2-40B4-BE49-F238E27FC236}">
                <a16:creationId xmlns:a16="http://schemas.microsoft.com/office/drawing/2014/main" id="{45F80562-F6FE-8CC5-81F4-7ACF695A557C}"/>
              </a:ext>
            </a:extLst>
          </p:cNvPr>
          <p:cNvSpPr/>
          <p:nvPr/>
        </p:nvSpPr>
        <p:spPr>
          <a:xfrm>
            <a:off x="292608" y="1097280"/>
            <a:ext cx="8558784" cy="914400"/>
          </a:xfrm>
          <a:prstGeom prst="roundRect">
            <a:avLst>
              <a:gd name="adj" fmla="val 6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AD7C5E8A-399C-2EE0-A50F-2D5DC12C700B}"/>
              </a:ext>
            </a:extLst>
          </p:cNvPr>
          <p:cNvSpPr/>
          <p:nvPr/>
        </p:nvSpPr>
        <p:spPr>
          <a:xfrm>
            <a:off x="502920" y="1152144"/>
            <a:ext cx="8138160" cy="804672"/>
          </a:xfrm>
          <a:prstGeom prst="rect">
            <a:avLst/>
          </a:prstGeom>
          <a:noFill/>
          <a:ln/>
        </p:spPr>
        <p:txBody>
          <a:bodyPr wrap="square" lIns="0" tIns="0" rIns="0" bIns="0" rtlCol="0" anchor="ctr"/>
          <a:lstStyle/>
          <a:p>
            <a:pPr marL="0" indent="0">
              <a:lnSpc>
                <a:spcPct val="112000"/>
              </a:lnSpc>
              <a:buNone/>
            </a:pPr>
            <a:r>
              <a:rPr lang="en-US" sz="1200" i="1">
                <a:solidFill>
                  <a:schemeClr val="tx2"/>
                </a:solidFill>
                <a:latin typeface="Open Sans" pitchFamily="2" charset="0"/>
                <a:ea typeface="Open Sans" pitchFamily="2" charset="0"/>
                <a:cs typeface="Open Sans" pitchFamily="2" charset="0"/>
              </a:rPr>
              <a:t>Claude built a data model for a customer support PoC with two entities: Ticket and Agent. Each Ticket has a single field called status. The PoC works perfectly for every ticket tested so far.</a:t>
            </a:r>
            <a:endParaRPr lang="en-US" sz="1200">
              <a:solidFill>
                <a:schemeClr val="tx2"/>
              </a:solidFill>
              <a:latin typeface="Open Sans" pitchFamily="2" charset="0"/>
              <a:ea typeface="Open Sans" pitchFamily="2" charset="0"/>
              <a:cs typeface="Open Sans" pitchFamily="2" charset="0"/>
            </a:endParaRPr>
          </a:p>
        </p:txBody>
      </p:sp>
      <p:sp>
        <p:nvSpPr>
          <p:cNvPr id="10" name="Shape 7">
            <a:extLst>
              <a:ext uri="{FF2B5EF4-FFF2-40B4-BE49-F238E27FC236}">
                <a16:creationId xmlns:a16="http://schemas.microsoft.com/office/drawing/2014/main" id="{5805303B-F7CD-A60D-783C-1305E8E16673}"/>
              </a:ext>
            </a:extLst>
          </p:cNvPr>
          <p:cNvSpPr/>
          <p:nvPr/>
        </p:nvSpPr>
        <p:spPr>
          <a:xfrm>
            <a:off x="292608" y="2176272"/>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C4062593-4170-4E35-6AF1-B06A554DB9DB}"/>
              </a:ext>
            </a:extLst>
          </p:cNvPr>
          <p:cNvSpPr/>
          <p:nvPr/>
        </p:nvSpPr>
        <p:spPr>
          <a:xfrm>
            <a:off x="502920" y="2176272"/>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A.  </a:t>
            </a:r>
            <a:r>
              <a:rPr lang="en-US" sz="1200">
                <a:solidFill>
                  <a:schemeClr val="tx2"/>
                </a:solidFill>
                <a:latin typeface="Open Sans" pitchFamily="2" charset="0"/>
                <a:ea typeface="Open Sans" pitchFamily="2" charset="0"/>
                <a:cs typeface="Open Sans" pitchFamily="2" charset="0"/>
              </a:rPr>
              <a:t>The status field needs a default value</a:t>
            </a:r>
          </a:p>
        </p:txBody>
      </p:sp>
      <p:sp>
        <p:nvSpPr>
          <p:cNvPr id="14" name="Shape 11">
            <a:extLst>
              <a:ext uri="{FF2B5EF4-FFF2-40B4-BE49-F238E27FC236}">
                <a16:creationId xmlns:a16="http://schemas.microsoft.com/office/drawing/2014/main" id="{F6DFC861-35FE-FFDD-A335-CBEB1F291A00}"/>
              </a:ext>
            </a:extLst>
          </p:cNvPr>
          <p:cNvSpPr/>
          <p:nvPr/>
        </p:nvSpPr>
        <p:spPr>
          <a:xfrm>
            <a:off x="292608" y="3392424"/>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81A806DB-A28B-53CD-CACF-FC1DE3E788B6}"/>
              </a:ext>
            </a:extLst>
          </p:cNvPr>
          <p:cNvSpPr/>
          <p:nvPr/>
        </p:nvSpPr>
        <p:spPr>
          <a:xfrm>
            <a:off x="502920" y="3392424"/>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C.  </a:t>
            </a:r>
            <a:r>
              <a:rPr lang="en-US" sz="1200">
                <a:solidFill>
                  <a:schemeClr val="tx2"/>
                </a:solidFill>
                <a:latin typeface="Open Sans" pitchFamily="2" charset="0"/>
                <a:ea typeface="Open Sans" pitchFamily="2" charset="0"/>
                <a:cs typeface="Open Sans" pitchFamily="2" charset="0"/>
              </a:rPr>
              <a:t>The Ticket entity needs a timestamp field</a:t>
            </a:r>
          </a:p>
        </p:txBody>
      </p:sp>
      <p:sp>
        <p:nvSpPr>
          <p:cNvPr id="16" name="Shape 13">
            <a:extLst>
              <a:ext uri="{FF2B5EF4-FFF2-40B4-BE49-F238E27FC236}">
                <a16:creationId xmlns:a16="http://schemas.microsoft.com/office/drawing/2014/main" id="{FC06C6B1-2387-51BF-7395-43E695943DE3}"/>
              </a:ext>
            </a:extLst>
          </p:cNvPr>
          <p:cNvSpPr/>
          <p:nvPr/>
        </p:nvSpPr>
        <p:spPr>
          <a:xfrm>
            <a:off x="292608" y="4000500"/>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7" name="Text 14">
            <a:extLst>
              <a:ext uri="{FF2B5EF4-FFF2-40B4-BE49-F238E27FC236}">
                <a16:creationId xmlns:a16="http://schemas.microsoft.com/office/drawing/2014/main" id="{20C23EFA-D47D-3796-F431-B148110C35FD}"/>
              </a:ext>
            </a:extLst>
          </p:cNvPr>
          <p:cNvSpPr/>
          <p:nvPr/>
        </p:nvSpPr>
        <p:spPr>
          <a:xfrm>
            <a:off x="502920" y="4000500"/>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D.  </a:t>
            </a:r>
            <a:r>
              <a:rPr lang="en-US" sz="1200">
                <a:solidFill>
                  <a:schemeClr val="tx2"/>
                </a:solidFill>
                <a:latin typeface="Open Sans" pitchFamily="2" charset="0"/>
                <a:ea typeface="Open Sans" pitchFamily="2" charset="0"/>
                <a:cs typeface="Open Sans" pitchFamily="2" charset="0"/>
              </a:rPr>
              <a:t>Agent should be renamed to User</a:t>
            </a:r>
          </a:p>
        </p:txBody>
      </p:sp>
      <p:sp>
        <p:nvSpPr>
          <p:cNvPr id="2" name="Shape 7">
            <a:extLst>
              <a:ext uri="{FF2B5EF4-FFF2-40B4-BE49-F238E27FC236}">
                <a16:creationId xmlns:a16="http://schemas.microsoft.com/office/drawing/2014/main" id="{8A7708AD-60F7-C6D8-0A10-EF25C130D574}"/>
              </a:ext>
            </a:extLst>
          </p:cNvPr>
          <p:cNvSpPr/>
          <p:nvPr/>
        </p:nvSpPr>
        <p:spPr>
          <a:xfrm>
            <a:off x="292608" y="2784348"/>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7" name="Text 8">
            <a:extLst>
              <a:ext uri="{FF2B5EF4-FFF2-40B4-BE49-F238E27FC236}">
                <a16:creationId xmlns:a16="http://schemas.microsoft.com/office/drawing/2014/main" id="{879005DD-EB9D-1196-190C-8269AD12AB2D}"/>
              </a:ext>
            </a:extLst>
          </p:cNvPr>
          <p:cNvSpPr/>
          <p:nvPr/>
        </p:nvSpPr>
        <p:spPr>
          <a:xfrm>
            <a:off x="502920" y="2784348"/>
            <a:ext cx="8138160" cy="512064"/>
          </a:xfrm>
          <a:prstGeom prst="rect">
            <a:avLst/>
          </a:prstGeom>
          <a:noFill/>
          <a:ln/>
        </p:spPr>
        <p:txBody>
          <a:bodyPr wrap="square" lIns="0" tIns="0" rIns="0" bIns="0" rtlCol="0" anchor="ctr"/>
          <a:lstStyle/>
          <a:p>
            <a:pPr marL="0" indent="0">
              <a:buNone/>
            </a:pPr>
            <a:r>
              <a:rPr lang="en-US" sz="1200" b="1" dirty="0">
                <a:solidFill>
                  <a:schemeClr val="tx2"/>
                </a:solidFill>
                <a:latin typeface="Open Sans" pitchFamily="2" charset="0"/>
                <a:ea typeface="Open Sans" pitchFamily="2" charset="0"/>
                <a:cs typeface="Open Sans" pitchFamily="2" charset="0"/>
              </a:rPr>
              <a:t>B.  </a:t>
            </a:r>
            <a:r>
              <a:rPr lang="en-US" sz="1200" dirty="0">
                <a:solidFill>
                  <a:schemeClr val="tx2"/>
                </a:solidFill>
                <a:latin typeface="Open Sans" pitchFamily="2" charset="0"/>
                <a:ea typeface="Open Sans" pitchFamily="2" charset="0"/>
                <a:cs typeface="Open Sans" pitchFamily="2" charset="0"/>
              </a:rPr>
              <a:t>Status is probably tracking two different things at once: pipeline stage and agent workload</a:t>
            </a:r>
          </a:p>
        </p:txBody>
      </p:sp>
    </p:spTree>
    <p:extLst>
      <p:ext uri="{BB962C8B-B14F-4D97-AF65-F5344CB8AC3E}">
        <p14:creationId xmlns:p14="http://schemas.microsoft.com/office/powerpoint/2010/main" val="38752665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61A2A-C582-1F99-FFD7-28E037580466}"/>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2CA35D9E-0749-5A81-A562-C5E24BEDE342}"/>
              </a:ext>
            </a:extLst>
          </p:cNvPr>
          <p:cNvSpPr/>
          <p:nvPr/>
        </p:nvSpPr>
        <p:spPr>
          <a:xfrm>
            <a:off x="385745" y="201168"/>
            <a:ext cx="7315200" cy="502920"/>
          </a:xfrm>
          <a:prstGeom prst="rect">
            <a:avLst/>
          </a:prstGeom>
          <a:noFill/>
          <a:ln/>
        </p:spPr>
        <p:txBody>
          <a:bodyPr wrap="square" lIns="0" tIns="0" rIns="0" bIns="0" rtlCol="0" anchor="ctr"/>
          <a:lstStyle/>
          <a:p>
            <a:pPr marL="0" indent="0">
              <a:buNone/>
            </a:pPr>
            <a:r>
              <a:rPr lang="en-US" sz="2700" b="1">
                <a:solidFill>
                  <a:srgbClr val="2D2D2D"/>
                </a:solidFill>
                <a:latin typeface="Open Sans" pitchFamily="2" charset="0"/>
                <a:ea typeface="Open Sans" pitchFamily="2" charset="0"/>
                <a:cs typeface="Open Sans" pitchFamily="2" charset="0"/>
              </a:rPr>
              <a:t>Spot the Assumption</a:t>
            </a:r>
            <a:endParaRPr lang="en-US" sz="27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F835059B-B0D9-5BF7-B83A-53079F3D6C87}"/>
              </a:ext>
            </a:extLst>
          </p:cNvPr>
          <p:cNvSpPr/>
          <p:nvPr/>
        </p:nvSpPr>
        <p:spPr>
          <a:xfrm>
            <a:off x="385745" y="676656"/>
            <a:ext cx="8595360" cy="292608"/>
          </a:xfrm>
          <a:prstGeom prst="rect">
            <a:avLst/>
          </a:prstGeom>
          <a:noFill/>
          <a:ln/>
        </p:spPr>
        <p:txBody>
          <a:bodyPr wrap="square" lIns="0" tIns="0" rIns="0" bIns="0" rtlCol="0" anchor="t"/>
          <a:lstStyle/>
          <a:p>
            <a:pPr marL="0" indent="0">
              <a:buNone/>
            </a:pPr>
            <a:r>
              <a:rPr lang="en-US" sz="1400">
                <a:solidFill>
                  <a:srgbClr val="757575"/>
                </a:solidFill>
                <a:latin typeface="Open Sans" pitchFamily="2" charset="0"/>
                <a:ea typeface="Open Sans" pitchFamily="2" charset="0"/>
                <a:cs typeface="Open Sans" pitchFamily="2" charset="0"/>
              </a:rPr>
              <a:t>Read the data model. Vote on the hidden assumption before we discuss.</a:t>
            </a:r>
            <a:endParaRPr lang="en-US" sz="1400">
              <a:latin typeface="Open Sans" pitchFamily="2" charset="0"/>
              <a:ea typeface="Open Sans" pitchFamily="2" charset="0"/>
              <a:cs typeface="Open Sans" pitchFamily="2" charset="0"/>
            </a:endParaRPr>
          </a:p>
        </p:txBody>
      </p:sp>
      <p:sp>
        <p:nvSpPr>
          <p:cNvPr id="5" name="Shape 2">
            <a:extLst>
              <a:ext uri="{FF2B5EF4-FFF2-40B4-BE49-F238E27FC236}">
                <a16:creationId xmlns:a16="http://schemas.microsoft.com/office/drawing/2014/main" id="{712455B5-65A4-1827-C8F4-8562AE7D0827}"/>
              </a:ext>
            </a:extLst>
          </p:cNvPr>
          <p:cNvSpPr/>
          <p:nvPr/>
        </p:nvSpPr>
        <p:spPr>
          <a:xfrm>
            <a:off x="7924800" y="201168"/>
            <a:ext cx="871728" cy="292608"/>
          </a:xfrm>
          <a:prstGeom prst="roundRect">
            <a:avLst>
              <a:gd name="adj" fmla="val 15625"/>
            </a:avLst>
          </a:prstGeom>
          <a:solidFill>
            <a:schemeClr val="accent2"/>
          </a:solidFill>
          <a:ln w="15875">
            <a:noFill/>
            <a:prstDash val="solid"/>
          </a:ln>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6AB8E6F3-70D5-0874-BBF2-52B93D0024CF}"/>
              </a:ext>
            </a:extLst>
          </p:cNvPr>
          <p:cNvSpPr/>
          <p:nvPr/>
        </p:nvSpPr>
        <p:spPr>
          <a:xfrm>
            <a:off x="7924800" y="201168"/>
            <a:ext cx="871728" cy="292608"/>
          </a:xfrm>
          <a:prstGeom prst="rect">
            <a:avLst/>
          </a:prstGeom>
          <a:noFill/>
          <a:ln/>
        </p:spPr>
        <p:txBody>
          <a:bodyPr wrap="square" lIns="0" tIns="0" rIns="0" bIns="0" rtlCol="0" anchor="ctr"/>
          <a:lstStyle/>
          <a:p>
            <a:pPr marL="0" indent="0" algn="ctr">
              <a:buNone/>
            </a:pPr>
            <a:r>
              <a:rPr lang="en-US" sz="850" b="1" kern="0" spc="100">
                <a:solidFill>
                  <a:schemeClr val="bg1"/>
                </a:solidFill>
                <a:latin typeface="Open Sans" pitchFamily="2" charset="0"/>
                <a:ea typeface="Open Sans" pitchFamily="2" charset="0"/>
                <a:cs typeface="Open Sans" pitchFamily="2" charset="0"/>
              </a:rPr>
              <a:t>REFLECT</a:t>
            </a:r>
            <a:endParaRPr lang="en-US" sz="850">
              <a:solidFill>
                <a:schemeClr val="bg1"/>
              </a:solidFill>
              <a:latin typeface="Open Sans" pitchFamily="2" charset="0"/>
              <a:ea typeface="Open Sans" pitchFamily="2" charset="0"/>
              <a:cs typeface="Open Sans" pitchFamily="2" charset="0"/>
            </a:endParaRPr>
          </a:p>
        </p:txBody>
      </p:sp>
      <p:sp>
        <p:nvSpPr>
          <p:cNvPr id="8" name="Shape 5">
            <a:extLst>
              <a:ext uri="{FF2B5EF4-FFF2-40B4-BE49-F238E27FC236}">
                <a16:creationId xmlns:a16="http://schemas.microsoft.com/office/drawing/2014/main" id="{F492DC50-B014-C185-DAA3-93CB47B61D94}"/>
              </a:ext>
            </a:extLst>
          </p:cNvPr>
          <p:cNvSpPr/>
          <p:nvPr/>
        </p:nvSpPr>
        <p:spPr>
          <a:xfrm>
            <a:off x="292608" y="1097280"/>
            <a:ext cx="8558784" cy="914400"/>
          </a:xfrm>
          <a:prstGeom prst="roundRect">
            <a:avLst>
              <a:gd name="adj" fmla="val 6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760D0CCB-879C-46DB-5CE6-691FF66D2D37}"/>
              </a:ext>
            </a:extLst>
          </p:cNvPr>
          <p:cNvSpPr/>
          <p:nvPr/>
        </p:nvSpPr>
        <p:spPr>
          <a:xfrm>
            <a:off x="502920" y="1152144"/>
            <a:ext cx="8138160" cy="804672"/>
          </a:xfrm>
          <a:prstGeom prst="rect">
            <a:avLst/>
          </a:prstGeom>
          <a:noFill/>
          <a:ln/>
        </p:spPr>
        <p:txBody>
          <a:bodyPr wrap="square" lIns="0" tIns="0" rIns="0" bIns="0" rtlCol="0" anchor="ctr"/>
          <a:lstStyle/>
          <a:p>
            <a:pPr marL="0" indent="0">
              <a:lnSpc>
                <a:spcPct val="112000"/>
              </a:lnSpc>
              <a:buNone/>
            </a:pPr>
            <a:r>
              <a:rPr lang="en-US" sz="1200" i="1">
                <a:solidFill>
                  <a:schemeClr val="tx2"/>
                </a:solidFill>
                <a:latin typeface="Open Sans" pitchFamily="2" charset="0"/>
                <a:ea typeface="Open Sans" pitchFamily="2" charset="0"/>
                <a:cs typeface="Open Sans" pitchFamily="2" charset="0"/>
              </a:rPr>
              <a:t>Claude built a data model for a customer support PoC with two entities: Ticket and Agent. Each Ticket has a single field called status. The PoC works perfectly for every ticket tested so far.</a:t>
            </a:r>
            <a:endParaRPr lang="en-US" sz="1200">
              <a:solidFill>
                <a:schemeClr val="tx2"/>
              </a:solidFill>
              <a:latin typeface="Open Sans" pitchFamily="2" charset="0"/>
              <a:ea typeface="Open Sans" pitchFamily="2" charset="0"/>
              <a:cs typeface="Open Sans" pitchFamily="2" charset="0"/>
            </a:endParaRPr>
          </a:p>
        </p:txBody>
      </p:sp>
      <p:sp>
        <p:nvSpPr>
          <p:cNvPr id="10" name="Shape 7">
            <a:extLst>
              <a:ext uri="{FF2B5EF4-FFF2-40B4-BE49-F238E27FC236}">
                <a16:creationId xmlns:a16="http://schemas.microsoft.com/office/drawing/2014/main" id="{29075BB6-7AB6-B27D-B96F-63932E73A604}"/>
              </a:ext>
            </a:extLst>
          </p:cNvPr>
          <p:cNvSpPr/>
          <p:nvPr/>
        </p:nvSpPr>
        <p:spPr>
          <a:xfrm>
            <a:off x="292608" y="2176272"/>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BF7C2A2B-E2DF-CEF7-2661-158D62FF70DC}"/>
              </a:ext>
            </a:extLst>
          </p:cNvPr>
          <p:cNvSpPr/>
          <p:nvPr/>
        </p:nvSpPr>
        <p:spPr>
          <a:xfrm>
            <a:off x="502920" y="2176272"/>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A.  </a:t>
            </a:r>
            <a:r>
              <a:rPr lang="en-US" sz="1200">
                <a:solidFill>
                  <a:schemeClr val="tx2"/>
                </a:solidFill>
                <a:latin typeface="Open Sans" pitchFamily="2" charset="0"/>
                <a:ea typeface="Open Sans" pitchFamily="2" charset="0"/>
                <a:cs typeface="Open Sans" pitchFamily="2" charset="0"/>
              </a:rPr>
              <a:t>The status field needs a default value</a:t>
            </a:r>
          </a:p>
        </p:txBody>
      </p:sp>
      <p:sp>
        <p:nvSpPr>
          <p:cNvPr id="12" name="Shape 9">
            <a:extLst>
              <a:ext uri="{FF2B5EF4-FFF2-40B4-BE49-F238E27FC236}">
                <a16:creationId xmlns:a16="http://schemas.microsoft.com/office/drawing/2014/main" id="{F39FA045-DAF3-EE27-87AD-F3FAB433552B}"/>
              </a:ext>
            </a:extLst>
          </p:cNvPr>
          <p:cNvSpPr/>
          <p:nvPr/>
        </p:nvSpPr>
        <p:spPr>
          <a:xfrm>
            <a:off x="292608" y="2784348"/>
            <a:ext cx="8558784" cy="512064"/>
          </a:xfrm>
          <a:prstGeom prst="roundRect">
            <a:avLst>
              <a:gd name="adj" fmla="val 8929"/>
            </a:avLst>
          </a:prstGeom>
          <a:solidFill>
            <a:srgbClr val="ECFEF6"/>
          </a:solidFill>
          <a:ln w="19050">
            <a:solidFill>
              <a:srgbClr val="00B050"/>
            </a:solidFill>
            <a:prstDash val="solid"/>
          </a:ln>
        </p:spPr>
        <p:txBody>
          <a:bodyPr/>
          <a:lstStyle/>
          <a:p>
            <a:endParaRPr lang="en-US" sz="1350">
              <a:latin typeface="Open Sans" pitchFamily="2" charset="0"/>
              <a:ea typeface="Open Sans" pitchFamily="2" charset="0"/>
              <a:cs typeface="Open Sans" pitchFamily="2" charset="0"/>
            </a:endParaRPr>
          </a:p>
        </p:txBody>
      </p:sp>
      <p:sp>
        <p:nvSpPr>
          <p:cNvPr id="13" name="Text 10">
            <a:extLst>
              <a:ext uri="{FF2B5EF4-FFF2-40B4-BE49-F238E27FC236}">
                <a16:creationId xmlns:a16="http://schemas.microsoft.com/office/drawing/2014/main" id="{AF5D5413-C3C2-93ED-E964-D066EE5B0B01}"/>
              </a:ext>
            </a:extLst>
          </p:cNvPr>
          <p:cNvSpPr/>
          <p:nvPr/>
        </p:nvSpPr>
        <p:spPr>
          <a:xfrm>
            <a:off x="502920" y="2784348"/>
            <a:ext cx="8138160" cy="512064"/>
          </a:xfrm>
          <a:prstGeom prst="rect">
            <a:avLst/>
          </a:prstGeom>
          <a:noFill/>
          <a:ln/>
        </p:spPr>
        <p:txBody>
          <a:bodyPr wrap="square" lIns="0" tIns="0" rIns="0" bIns="0" rtlCol="0" anchor="ctr"/>
          <a:lstStyle/>
          <a:p>
            <a:pPr marL="0" indent="0">
              <a:buNone/>
            </a:pPr>
            <a:r>
              <a:rPr lang="en-US" sz="1200" b="1" dirty="0">
                <a:latin typeface="Open Sans" pitchFamily="2" charset="0"/>
                <a:ea typeface="Open Sans" pitchFamily="2" charset="0"/>
                <a:cs typeface="Open Sans" pitchFamily="2" charset="0"/>
              </a:rPr>
              <a:t>B.  </a:t>
            </a:r>
            <a:r>
              <a:rPr lang="en-US" sz="1200" dirty="0">
                <a:latin typeface="Open Sans" pitchFamily="2" charset="0"/>
                <a:ea typeface="Open Sans" pitchFamily="2" charset="0"/>
                <a:cs typeface="Open Sans" pitchFamily="2" charset="0"/>
              </a:rPr>
              <a:t>Status is probably tracking two different things at once: pipeline stage and agent workload</a:t>
            </a:r>
          </a:p>
        </p:txBody>
      </p:sp>
      <p:sp>
        <p:nvSpPr>
          <p:cNvPr id="14" name="Shape 11">
            <a:extLst>
              <a:ext uri="{FF2B5EF4-FFF2-40B4-BE49-F238E27FC236}">
                <a16:creationId xmlns:a16="http://schemas.microsoft.com/office/drawing/2014/main" id="{3A02B6E1-3BB3-0D6C-736A-C29E5BEEE162}"/>
              </a:ext>
            </a:extLst>
          </p:cNvPr>
          <p:cNvSpPr/>
          <p:nvPr/>
        </p:nvSpPr>
        <p:spPr>
          <a:xfrm>
            <a:off x="292608" y="3392424"/>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E5129697-BDF4-7DEC-8DAD-F61D6876ED49}"/>
              </a:ext>
            </a:extLst>
          </p:cNvPr>
          <p:cNvSpPr/>
          <p:nvPr/>
        </p:nvSpPr>
        <p:spPr>
          <a:xfrm>
            <a:off x="502920" y="3392424"/>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C.  </a:t>
            </a:r>
            <a:r>
              <a:rPr lang="en-US" sz="1200">
                <a:solidFill>
                  <a:schemeClr val="tx2"/>
                </a:solidFill>
                <a:latin typeface="Open Sans" pitchFamily="2" charset="0"/>
                <a:ea typeface="Open Sans" pitchFamily="2" charset="0"/>
                <a:cs typeface="Open Sans" pitchFamily="2" charset="0"/>
              </a:rPr>
              <a:t>The Ticket entity needs a timestamp field</a:t>
            </a:r>
          </a:p>
        </p:txBody>
      </p:sp>
      <p:sp>
        <p:nvSpPr>
          <p:cNvPr id="16" name="Shape 13">
            <a:extLst>
              <a:ext uri="{FF2B5EF4-FFF2-40B4-BE49-F238E27FC236}">
                <a16:creationId xmlns:a16="http://schemas.microsoft.com/office/drawing/2014/main" id="{F75B7364-4120-4AA6-3E10-F7556B9171CF}"/>
              </a:ext>
            </a:extLst>
          </p:cNvPr>
          <p:cNvSpPr/>
          <p:nvPr/>
        </p:nvSpPr>
        <p:spPr>
          <a:xfrm>
            <a:off x="292608" y="4000500"/>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7" name="Text 14">
            <a:extLst>
              <a:ext uri="{FF2B5EF4-FFF2-40B4-BE49-F238E27FC236}">
                <a16:creationId xmlns:a16="http://schemas.microsoft.com/office/drawing/2014/main" id="{E42117D6-7F13-A839-B4B0-4DC8F6DD9730}"/>
              </a:ext>
            </a:extLst>
          </p:cNvPr>
          <p:cNvSpPr/>
          <p:nvPr/>
        </p:nvSpPr>
        <p:spPr>
          <a:xfrm>
            <a:off x="502920" y="4000500"/>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D.  </a:t>
            </a:r>
            <a:r>
              <a:rPr lang="en-US" sz="1200">
                <a:solidFill>
                  <a:schemeClr val="tx2"/>
                </a:solidFill>
                <a:latin typeface="Open Sans" pitchFamily="2" charset="0"/>
                <a:ea typeface="Open Sans" pitchFamily="2" charset="0"/>
                <a:cs typeface="Open Sans" pitchFamily="2" charset="0"/>
              </a:rPr>
              <a:t>Agent should be renamed to User</a:t>
            </a:r>
          </a:p>
        </p:txBody>
      </p:sp>
    </p:spTree>
    <p:extLst>
      <p:ext uri="{BB962C8B-B14F-4D97-AF65-F5344CB8AC3E}">
        <p14:creationId xmlns:p14="http://schemas.microsoft.com/office/powerpoint/2010/main" val="35890302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BBADF48D-7ABE-BE78-DCC2-E8FCE39A57F9}"/>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Common Ontology Mistakes</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68BE839F-00E3-40D9-0583-153C9382E227}"/>
              </a:ext>
            </a:extLst>
          </p:cNvPr>
          <p:cNvSpPr/>
          <p:nvPr/>
        </p:nvSpPr>
        <p:spPr>
          <a:xfrm>
            <a:off x="411146" y="676656"/>
            <a:ext cx="8595360" cy="420624"/>
          </a:xfrm>
          <a:prstGeom prst="rect">
            <a:avLst/>
          </a:prstGeom>
          <a:noFill/>
          <a:ln/>
        </p:spPr>
        <p:txBody>
          <a:bodyPr wrap="square" lIns="0" tIns="0" rIns="0" bIns="0" rtlCol="0" anchor="t"/>
          <a:lstStyle/>
          <a:p>
            <a:pPr marL="0" indent="0">
              <a:buNone/>
            </a:pPr>
            <a:r>
              <a:rPr lang="en-US" sz="1200">
                <a:solidFill>
                  <a:schemeClr val="tx2"/>
                </a:solidFill>
                <a:latin typeface="Open Sans" pitchFamily="2" charset="0"/>
                <a:ea typeface="Open Sans" pitchFamily="2" charset="0"/>
                <a:cs typeface="Open Sans" pitchFamily="2" charset="0"/>
              </a:rPr>
              <a:t>Claude models what you described. These are the structural assumptions it makes that you may not have intended.</a:t>
            </a:r>
          </a:p>
        </p:txBody>
      </p:sp>
      <p:sp>
        <p:nvSpPr>
          <p:cNvPr id="39" name="Shape 1">
            <a:extLst>
              <a:ext uri="{FF2B5EF4-FFF2-40B4-BE49-F238E27FC236}">
                <a16:creationId xmlns:a16="http://schemas.microsoft.com/office/drawing/2014/main" id="{98CE782B-B682-5F11-2E5A-A42ADAE6E077}"/>
              </a:ext>
            </a:extLst>
          </p:cNvPr>
          <p:cNvSpPr/>
          <p:nvPr/>
        </p:nvSpPr>
        <p:spPr>
          <a:xfrm>
            <a:off x="365760" y="988541"/>
            <a:ext cx="3977640" cy="804672"/>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0" name="Text 2">
            <a:extLst>
              <a:ext uri="{FF2B5EF4-FFF2-40B4-BE49-F238E27FC236}">
                <a16:creationId xmlns:a16="http://schemas.microsoft.com/office/drawing/2014/main" id="{AC26B8C9-E2D8-59E9-C59F-E9BBBD6D7924}"/>
              </a:ext>
            </a:extLst>
          </p:cNvPr>
          <p:cNvSpPr/>
          <p:nvPr/>
        </p:nvSpPr>
        <p:spPr>
          <a:xfrm>
            <a:off x="502920" y="1244573"/>
            <a:ext cx="292608" cy="292608"/>
          </a:xfrm>
          <a:prstGeom prst="rect">
            <a:avLst/>
          </a:prstGeom>
          <a:noFill/>
          <a:ln/>
        </p:spPr>
        <p:txBody>
          <a:bodyPr wrap="square" lIns="0" tIns="0" rIns="0" bIns="0" rtlCol="0" anchor="ctr"/>
          <a:lstStyle/>
          <a:p>
            <a:pPr marL="0" indent="0" algn="ctr">
              <a:buNone/>
            </a:pPr>
            <a:r>
              <a:rPr lang="en-US" sz="1500" b="1">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15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1" name="Text 3">
            <a:extLst>
              <a:ext uri="{FF2B5EF4-FFF2-40B4-BE49-F238E27FC236}">
                <a16:creationId xmlns:a16="http://schemas.microsoft.com/office/drawing/2014/main" id="{B66A4DDC-984E-0FEC-4551-B2C352C4D0BF}"/>
              </a:ext>
            </a:extLst>
          </p:cNvPr>
          <p:cNvSpPr/>
          <p:nvPr/>
        </p:nvSpPr>
        <p:spPr>
          <a:xfrm>
            <a:off x="868680" y="1093697"/>
            <a:ext cx="3337560" cy="594360"/>
          </a:xfrm>
          <a:prstGeom prst="rect">
            <a:avLst/>
          </a:prstGeom>
          <a:noFill/>
          <a:ln/>
        </p:spPr>
        <p:txBody>
          <a:bodyPr wrap="square" lIns="0" tIns="0" rIns="0" bIns="0" rtlCol="0" anchor="ctr"/>
          <a:lstStyle/>
          <a:p>
            <a:r>
              <a:rPr lang="en-US" sz="1200">
                <a:latin typeface="Open Sans" pitchFamily="2" charset="0"/>
                <a:ea typeface="Open Sans" pitchFamily="2" charset="0"/>
                <a:cs typeface="Open Sans" pitchFamily="2" charset="0"/>
              </a:rPr>
              <a:t>Implicit assumptions in variable names</a:t>
            </a:r>
          </a:p>
        </p:txBody>
      </p:sp>
      <p:sp>
        <p:nvSpPr>
          <p:cNvPr id="42" name="Text 4">
            <a:extLst>
              <a:ext uri="{FF2B5EF4-FFF2-40B4-BE49-F238E27FC236}">
                <a16:creationId xmlns:a16="http://schemas.microsoft.com/office/drawing/2014/main" id="{B952412C-950C-4299-5A20-4EB15CD83488}"/>
              </a:ext>
            </a:extLst>
          </p:cNvPr>
          <p:cNvSpPr/>
          <p:nvPr/>
        </p:nvSpPr>
        <p:spPr>
          <a:xfrm>
            <a:off x="4407408" y="1244573"/>
            <a:ext cx="329184" cy="292608"/>
          </a:xfrm>
          <a:prstGeom prst="rect">
            <a:avLst/>
          </a:prstGeom>
          <a:noFill/>
          <a:ln/>
        </p:spPr>
        <p:txBody>
          <a:bodyPr wrap="square" lIns="0" tIns="0" rIns="0" bIns="0" rtlCol="0" anchor="ctr"/>
          <a:lstStyle/>
          <a:p>
            <a:pPr marL="0" indent="0" algn="ctr">
              <a:buNone/>
            </a:pPr>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43" name="Shape 5">
            <a:extLst>
              <a:ext uri="{FF2B5EF4-FFF2-40B4-BE49-F238E27FC236}">
                <a16:creationId xmlns:a16="http://schemas.microsoft.com/office/drawing/2014/main" id="{C3501DB7-7165-8A26-6FC4-69420FFC490A}"/>
              </a:ext>
            </a:extLst>
          </p:cNvPr>
          <p:cNvSpPr/>
          <p:nvPr/>
        </p:nvSpPr>
        <p:spPr>
          <a:xfrm>
            <a:off x="4800600" y="988541"/>
            <a:ext cx="3977640" cy="804672"/>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4" name="Text 6">
            <a:extLst>
              <a:ext uri="{FF2B5EF4-FFF2-40B4-BE49-F238E27FC236}">
                <a16:creationId xmlns:a16="http://schemas.microsoft.com/office/drawing/2014/main" id="{E93DD529-5463-C6AD-51F2-8388EDCF7371}"/>
              </a:ext>
            </a:extLst>
          </p:cNvPr>
          <p:cNvSpPr/>
          <p:nvPr/>
        </p:nvSpPr>
        <p:spPr>
          <a:xfrm>
            <a:off x="4937760" y="1244573"/>
            <a:ext cx="292608" cy="292608"/>
          </a:xfrm>
          <a:prstGeom prst="rect">
            <a:avLst/>
          </a:prstGeom>
          <a:noFill/>
          <a:ln/>
        </p:spPr>
        <p:txBody>
          <a:bodyPr wrap="square" lIns="0" tIns="0" rIns="0" bIns="0" rtlCol="0" anchor="ctr"/>
          <a:lstStyle/>
          <a:p>
            <a:pPr marL="0" indent="0" algn="ctr">
              <a:buNone/>
            </a:pPr>
            <a:r>
              <a:rPr lang="en-US" sz="1500" b="1">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15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Text 7">
            <a:extLst>
              <a:ext uri="{FF2B5EF4-FFF2-40B4-BE49-F238E27FC236}">
                <a16:creationId xmlns:a16="http://schemas.microsoft.com/office/drawing/2014/main" id="{8A576F82-0754-0B7F-2730-809B923493EA}"/>
              </a:ext>
            </a:extLst>
          </p:cNvPr>
          <p:cNvSpPr/>
          <p:nvPr/>
        </p:nvSpPr>
        <p:spPr>
          <a:xfrm>
            <a:off x="5303520" y="1093697"/>
            <a:ext cx="3337560" cy="594360"/>
          </a:xfrm>
          <a:prstGeom prst="rect">
            <a:avLst/>
          </a:prstGeom>
          <a:noFill/>
          <a:ln/>
        </p:spPr>
        <p:txBody>
          <a:bodyPr wrap="square" lIns="0" tIns="0" rIns="0" bIns="0" rtlCol="0" anchor="ctr"/>
          <a:lstStyle/>
          <a:p>
            <a:r>
              <a:rPr lang="en-US" sz="1200">
                <a:latin typeface="Open Sans" pitchFamily="2" charset="0"/>
                <a:ea typeface="Open Sans" pitchFamily="2" charset="0"/>
                <a:cs typeface="Open Sans" pitchFamily="2" charset="0"/>
              </a:rPr>
              <a:t>Ask: “What assumptions did you make in naming the fields of this data model?”</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46" name="Shape 8">
            <a:extLst>
              <a:ext uri="{FF2B5EF4-FFF2-40B4-BE49-F238E27FC236}">
                <a16:creationId xmlns:a16="http://schemas.microsoft.com/office/drawing/2014/main" id="{2BFFBC7D-1E10-A390-FB2A-09B4C8C10AD0}"/>
              </a:ext>
            </a:extLst>
          </p:cNvPr>
          <p:cNvSpPr/>
          <p:nvPr/>
        </p:nvSpPr>
        <p:spPr>
          <a:xfrm>
            <a:off x="365760" y="1948661"/>
            <a:ext cx="3977640" cy="804672"/>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7" name="Text 9">
            <a:extLst>
              <a:ext uri="{FF2B5EF4-FFF2-40B4-BE49-F238E27FC236}">
                <a16:creationId xmlns:a16="http://schemas.microsoft.com/office/drawing/2014/main" id="{E5039BB5-72AE-1EE0-5CCB-B75352FEBE65}"/>
              </a:ext>
            </a:extLst>
          </p:cNvPr>
          <p:cNvSpPr/>
          <p:nvPr/>
        </p:nvSpPr>
        <p:spPr>
          <a:xfrm>
            <a:off x="502920" y="2204693"/>
            <a:ext cx="292608" cy="292608"/>
          </a:xfrm>
          <a:prstGeom prst="rect">
            <a:avLst/>
          </a:prstGeom>
          <a:noFill/>
          <a:ln/>
        </p:spPr>
        <p:txBody>
          <a:bodyPr wrap="square" lIns="0" tIns="0" rIns="0" bIns="0" rtlCol="0" anchor="ctr"/>
          <a:lstStyle/>
          <a:p>
            <a:pPr marL="0" indent="0" algn="ctr">
              <a:buNone/>
            </a:pPr>
            <a:r>
              <a:rPr lang="en-US" sz="1500" b="1">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15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8" name="Text 10">
            <a:extLst>
              <a:ext uri="{FF2B5EF4-FFF2-40B4-BE49-F238E27FC236}">
                <a16:creationId xmlns:a16="http://schemas.microsoft.com/office/drawing/2014/main" id="{E8CD6FC9-49AA-8854-753E-1E360A22C044}"/>
              </a:ext>
            </a:extLst>
          </p:cNvPr>
          <p:cNvSpPr/>
          <p:nvPr/>
        </p:nvSpPr>
        <p:spPr>
          <a:xfrm>
            <a:off x="868680" y="2053817"/>
            <a:ext cx="3337560" cy="594360"/>
          </a:xfrm>
          <a:prstGeom prst="rect">
            <a:avLst/>
          </a:prstGeom>
          <a:noFill/>
          <a:ln/>
        </p:spPr>
        <p:txBody>
          <a:bodyPr wrap="square" lIns="0" tIns="0" rIns="0" bIns="0" rtlCol="0" anchor="ctr"/>
          <a:lstStyle/>
          <a:p>
            <a:r>
              <a:rPr lang="en-US" sz="1200">
                <a:latin typeface="Open Sans" pitchFamily="2" charset="0"/>
                <a:ea typeface="Open Sans" pitchFamily="2" charset="0"/>
                <a:cs typeface="Open Sans" pitchFamily="2" charset="0"/>
              </a:rPr>
              <a:t>Fields that conflate two concepts</a:t>
            </a:r>
          </a:p>
        </p:txBody>
      </p:sp>
      <p:sp>
        <p:nvSpPr>
          <p:cNvPr id="49" name="Text 11">
            <a:extLst>
              <a:ext uri="{FF2B5EF4-FFF2-40B4-BE49-F238E27FC236}">
                <a16:creationId xmlns:a16="http://schemas.microsoft.com/office/drawing/2014/main" id="{29DD3817-4AE6-2E5D-6702-008D34CA3BBB}"/>
              </a:ext>
            </a:extLst>
          </p:cNvPr>
          <p:cNvSpPr/>
          <p:nvPr/>
        </p:nvSpPr>
        <p:spPr>
          <a:xfrm>
            <a:off x="4407408" y="2204693"/>
            <a:ext cx="329184" cy="292608"/>
          </a:xfrm>
          <a:prstGeom prst="rect">
            <a:avLst/>
          </a:prstGeom>
          <a:noFill/>
          <a:ln/>
        </p:spPr>
        <p:txBody>
          <a:bodyPr wrap="square" lIns="0" tIns="0" rIns="0" bIns="0" rtlCol="0" anchor="ctr"/>
          <a:lstStyle/>
          <a:p>
            <a:pPr marL="0" indent="0" algn="ctr">
              <a:buNone/>
            </a:pPr>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50" name="Shape 12">
            <a:extLst>
              <a:ext uri="{FF2B5EF4-FFF2-40B4-BE49-F238E27FC236}">
                <a16:creationId xmlns:a16="http://schemas.microsoft.com/office/drawing/2014/main" id="{8DBA7788-3089-F5A9-7ACE-757AEF4886B5}"/>
              </a:ext>
            </a:extLst>
          </p:cNvPr>
          <p:cNvSpPr/>
          <p:nvPr/>
        </p:nvSpPr>
        <p:spPr>
          <a:xfrm>
            <a:off x="4800600" y="1948661"/>
            <a:ext cx="3977640" cy="804672"/>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1" name="Text 13">
            <a:extLst>
              <a:ext uri="{FF2B5EF4-FFF2-40B4-BE49-F238E27FC236}">
                <a16:creationId xmlns:a16="http://schemas.microsoft.com/office/drawing/2014/main" id="{A9589E7C-46D2-1C90-5803-08F9A249414A}"/>
              </a:ext>
            </a:extLst>
          </p:cNvPr>
          <p:cNvSpPr/>
          <p:nvPr/>
        </p:nvSpPr>
        <p:spPr>
          <a:xfrm>
            <a:off x="4937760" y="2204693"/>
            <a:ext cx="292608" cy="292608"/>
          </a:xfrm>
          <a:prstGeom prst="rect">
            <a:avLst/>
          </a:prstGeom>
          <a:noFill/>
          <a:ln/>
        </p:spPr>
        <p:txBody>
          <a:bodyPr wrap="square" lIns="0" tIns="0" rIns="0" bIns="0" rtlCol="0" anchor="ctr"/>
          <a:lstStyle/>
          <a:p>
            <a:pPr marL="0" indent="0" algn="ctr">
              <a:buNone/>
            </a:pPr>
            <a:r>
              <a:rPr lang="en-US" sz="1500" b="1">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15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2" name="Text 14">
            <a:extLst>
              <a:ext uri="{FF2B5EF4-FFF2-40B4-BE49-F238E27FC236}">
                <a16:creationId xmlns:a16="http://schemas.microsoft.com/office/drawing/2014/main" id="{5D866ADA-A2B7-EC26-99F2-6C7BFE52C53A}"/>
              </a:ext>
            </a:extLst>
          </p:cNvPr>
          <p:cNvSpPr/>
          <p:nvPr/>
        </p:nvSpPr>
        <p:spPr>
          <a:xfrm>
            <a:off x="5303520" y="2053817"/>
            <a:ext cx="3337560" cy="594360"/>
          </a:xfrm>
          <a:prstGeom prst="rect">
            <a:avLst/>
          </a:prstGeom>
          <a:noFill/>
          <a:ln/>
        </p:spPr>
        <p:txBody>
          <a:bodyPr wrap="square" lIns="0" tIns="0" rIns="0" bIns="0" rtlCol="0" anchor="ctr"/>
          <a:lstStyle/>
          <a:p>
            <a:r>
              <a:rPr lang="en-US" sz="1200">
                <a:latin typeface="Open Sans" pitchFamily="2" charset="0"/>
                <a:ea typeface="Open Sans" pitchFamily="2" charset="0"/>
                <a:cs typeface="Open Sans" pitchFamily="2" charset="0"/>
              </a:rPr>
              <a:t>Ask: “Are there any fields that carry more than one meaning? Name them.”</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53" name="Shape 15">
            <a:extLst>
              <a:ext uri="{FF2B5EF4-FFF2-40B4-BE49-F238E27FC236}">
                <a16:creationId xmlns:a16="http://schemas.microsoft.com/office/drawing/2014/main" id="{9261011B-4835-47F1-7322-9DC05786BB55}"/>
              </a:ext>
            </a:extLst>
          </p:cNvPr>
          <p:cNvSpPr/>
          <p:nvPr/>
        </p:nvSpPr>
        <p:spPr>
          <a:xfrm>
            <a:off x="365760" y="2908781"/>
            <a:ext cx="3977640" cy="804672"/>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4" name="Text 16">
            <a:extLst>
              <a:ext uri="{FF2B5EF4-FFF2-40B4-BE49-F238E27FC236}">
                <a16:creationId xmlns:a16="http://schemas.microsoft.com/office/drawing/2014/main" id="{B3664205-2988-C98A-4C8B-D765A5601259}"/>
              </a:ext>
            </a:extLst>
          </p:cNvPr>
          <p:cNvSpPr/>
          <p:nvPr/>
        </p:nvSpPr>
        <p:spPr>
          <a:xfrm>
            <a:off x="502920" y="3164813"/>
            <a:ext cx="292608" cy="292608"/>
          </a:xfrm>
          <a:prstGeom prst="rect">
            <a:avLst/>
          </a:prstGeom>
          <a:noFill/>
          <a:ln/>
        </p:spPr>
        <p:txBody>
          <a:bodyPr wrap="square" lIns="0" tIns="0" rIns="0" bIns="0" rtlCol="0" anchor="ctr"/>
          <a:lstStyle/>
          <a:p>
            <a:pPr marL="0" indent="0" algn="ctr">
              <a:buNone/>
            </a:pPr>
            <a:r>
              <a:rPr lang="en-US" sz="1500" b="1">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15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5" name="Text 17">
            <a:extLst>
              <a:ext uri="{FF2B5EF4-FFF2-40B4-BE49-F238E27FC236}">
                <a16:creationId xmlns:a16="http://schemas.microsoft.com/office/drawing/2014/main" id="{D50C5224-9EDF-0586-5772-FE30F9B56BF4}"/>
              </a:ext>
            </a:extLst>
          </p:cNvPr>
          <p:cNvSpPr/>
          <p:nvPr/>
        </p:nvSpPr>
        <p:spPr>
          <a:xfrm>
            <a:off x="868680" y="3013937"/>
            <a:ext cx="3337560" cy="594360"/>
          </a:xfrm>
          <a:prstGeom prst="rect">
            <a:avLst/>
          </a:prstGeom>
          <a:noFill/>
          <a:ln/>
        </p:spPr>
        <p:txBody>
          <a:bodyPr wrap="square" lIns="0" tIns="0" rIns="0" bIns="0" rtlCol="0" anchor="ctr"/>
          <a:lstStyle/>
          <a:p>
            <a:r>
              <a:rPr lang="en-US" sz="1200">
                <a:latin typeface="Open Sans" pitchFamily="2" charset="0"/>
                <a:ea typeface="Open Sans" pitchFamily="2" charset="0"/>
                <a:cs typeface="Open Sans" pitchFamily="2" charset="0"/>
              </a:rPr>
              <a:t>Missing relationships between entities</a:t>
            </a:r>
          </a:p>
        </p:txBody>
      </p:sp>
      <p:sp>
        <p:nvSpPr>
          <p:cNvPr id="56" name="Text 18">
            <a:extLst>
              <a:ext uri="{FF2B5EF4-FFF2-40B4-BE49-F238E27FC236}">
                <a16:creationId xmlns:a16="http://schemas.microsoft.com/office/drawing/2014/main" id="{9D7788F0-EE57-1288-BD6B-C1E575C0341D}"/>
              </a:ext>
            </a:extLst>
          </p:cNvPr>
          <p:cNvSpPr/>
          <p:nvPr/>
        </p:nvSpPr>
        <p:spPr>
          <a:xfrm>
            <a:off x="4407408" y="3164813"/>
            <a:ext cx="329184" cy="292608"/>
          </a:xfrm>
          <a:prstGeom prst="rect">
            <a:avLst/>
          </a:prstGeom>
          <a:noFill/>
          <a:ln/>
        </p:spPr>
        <p:txBody>
          <a:bodyPr wrap="square" lIns="0" tIns="0" rIns="0" bIns="0" rtlCol="0" anchor="ctr"/>
          <a:lstStyle/>
          <a:p>
            <a:pPr marL="0" indent="0" algn="ctr">
              <a:buNone/>
            </a:pPr>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57" name="Shape 19">
            <a:extLst>
              <a:ext uri="{FF2B5EF4-FFF2-40B4-BE49-F238E27FC236}">
                <a16:creationId xmlns:a16="http://schemas.microsoft.com/office/drawing/2014/main" id="{C5BBDC26-4F02-413D-5684-ED94C5CBD195}"/>
              </a:ext>
            </a:extLst>
          </p:cNvPr>
          <p:cNvSpPr/>
          <p:nvPr/>
        </p:nvSpPr>
        <p:spPr>
          <a:xfrm>
            <a:off x="4800600" y="2908781"/>
            <a:ext cx="3977640" cy="804672"/>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58" name="Text 20">
            <a:extLst>
              <a:ext uri="{FF2B5EF4-FFF2-40B4-BE49-F238E27FC236}">
                <a16:creationId xmlns:a16="http://schemas.microsoft.com/office/drawing/2014/main" id="{32545838-3E7A-C916-C107-E1425A3F5A7D}"/>
              </a:ext>
            </a:extLst>
          </p:cNvPr>
          <p:cNvSpPr/>
          <p:nvPr/>
        </p:nvSpPr>
        <p:spPr>
          <a:xfrm>
            <a:off x="4937760" y="3164813"/>
            <a:ext cx="292608" cy="292608"/>
          </a:xfrm>
          <a:prstGeom prst="rect">
            <a:avLst/>
          </a:prstGeom>
          <a:noFill/>
          <a:ln/>
        </p:spPr>
        <p:txBody>
          <a:bodyPr wrap="square" lIns="0" tIns="0" rIns="0" bIns="0" rtlCol="0" anchor="ctr"/>
          <a:lstStyle/>
          <a:p>
            <a:pPr marL="0" indent="0" algn="ctr">
              <a:buNone/>
            </a:pPr>
            <a:r>
              <a:rPr lang="en-US" sz="1500" b="1">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15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9" name="Text 21">
            <a:extLst>
              <a:ext uri="{FF2B5EF4-FFF2-40B4-BE49-F238E27FC236}">
                <a16:creationId xmlns:a16="http://schemas.microsoft.com/office/drawing/2014/main" id="{A38432B6-065D-3127-8580-20D4AE9C1E7B}"/>
              </a:ext>
            </a:extLst>
          </p:cNvPr>
          <p:cNvSpPr/>
          <p:nvPr/>
        </p:nvSpPr>
        <p:spPr>
          <a:xfrm>
            <a:off x="5303520" y="3013937"/>
            <a:ext cx="3337560" cy="594360"/>
          </a:xfrm>
          <a:prstGeom prst="rect">
            <a:avLst/>
          </a:prstGeom>
          <a:noFill/>
          <a:ln/>
        </p:spPr>
        <p:txBody>
          <a:bodyPr wrap="square" lIns="0" tIns="0" rIns="0" bIns="0" rtlCol="0" anchor="ctr"/>
          <a:lstStyle/>
          <a:p>
            <a:r>
              <a:rPr lang="en-US" sz="1200" b="1">
                <a:latin typeface="Open Sans" pitchFamily="2" charset="0"/>
                <a:ea typeface="Open Sans" pitchFamily="2" charset="0"/>
                <a:cs typeface="Open Sans" pitchFamily="2" charset="0"/>
              </a:rPr>
              <a:t> </a:t>
            </a:r>
            <a:r>
              <a:rPr lang="en-US" sz="1200">
                <a:latin typeface="Open Sans" pitchFamily="2" charset="0"/>
                <a:ea typeface="Open Sans" pitchFamily="2" charset="0"/>
                <a:cs typeface="Open Sans" pitchFamily="2" charset="0"/>
              </a:rPr>
              <a:t>Ask: “What relationships are implied but not modelled explicitly?”</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60" name="Shape 22">
            <a:extLst>
              <a:ext uri="{FF2B5EF4-FFF2-40B4-BE49-F238E27FC236}">
                <a16:creationId xmlns:a16="http://schemas.microsoft.com/office/drawing/2014/main" id="{750D1BAF-A38D-DE9F-71D7-A9908232D9AD}"/>
              </a:ext>
            </a:extLst>
          </p:cNvPr>
          <p:cNvSpPr/>
          <p:nvPr/>
        </p:nvSpPr>
        <p:spPr>
          <a:xfrm>
            <a:off x="365760" y="3868901"/>
            <a:ext cx="3977640" cy="804672"/>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1" name="Text 23">
            <a:extLst>
              <a:ext uri="{FF2B5EF4-FFF2-40B4-BE49-F238E27FC236}">
                <a16:creationId xmlns:a16="http://schemas.microsoft.com/office/drawing/2014/main" id="{19FAB483-3980-117E-7208-F5E74CB11093}"/>
              </a:ext>
            </a:extLst>
          </p:cNvPr>
          <p:cNvSpPr/>
          <p:nvPr/>
        </p:nvSpPr>
        <p:spPr>
          <a:xfrm>
            <a:off x="502920" y="4124933"/>
            <a:ext cx="292608" cy="292608"/>
          </a:xfrm>
          <a:prstGeom prst="rect">
            <a:avLst/>
          </a:prstGeom>
          <a:noFill/>
          <a:ln/>
        </p:spPr>
        <p:txBody>
          <a:bodyPr wrap="square" lIns="0" tIns="0" rIns="0" bIns="0" rtlCol="0" anchor="ctr"/>
          <a:lstStyle/>
          <a:p>
            <a:pPr marL="0" indent="0" algn="ctr">
              <a:buNone/>
            </a:pPr>
            <a:r>
              <a:rPr lang="en-US" sz="1500" b="1">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15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2" name="Text 24">
            <a:extLst>
              <a:ext uri="{FF2B5EF4-FFF2-40B4-BE49-F238E27FC236}">
                <a16:creationId xmlns:a16="http://schemas.microsoft.com/office/drawing/2014/main" id="{7CA93465-ED19-D2D6-CB3A-E6EBCFF51AC9}"/>
              </a:ext>
            </a:extLst>
          </p:cNvPr>
          <p:cNvSpPr/>
          <p:nvPr/>
        </p:nvSpPr>
        <p:spPr>
          <a:xfrm>
            <a:off x="868680" y="3974057"/>
            <a:ext cx="3337560" cy="594360"/>
          </a:xfrm>
          <a:prstGeom prst="rect">
            <a:avLst/>
          </a:prstGeom>
          <a:noFill/>
          <a:ln/>
        </p:spPr>
        <p:txBody>
          <a:bodyPr wrap="square" lIns="0" tIns="0" rIns="0" bIns="0" rtlCol="0" anchor="ctr"/>
          <a:lstStyle/>
          <a:p>
            <a:r>
              <a:rPr lang="en-US" sz="1200">
                <a:latin typeface="Open Sans" pitchFamily="2" charset="0"/>
                <a:ea typeface="Open Sans" pitchFamily="2" charset="0"/>
                <a:cs typeface="Open Sans" pitchFamily="2" charset="0"/>
              </a:rPr>
              <a:t>IDs that will not survive at scale</a:t>
            </a:r>
          </a:p>
        </p:txBody>
      </p:sp>
      <p:sp>
        <p:nvSpPr>
          <p:cNvPr id="63" name="Text 25">
            <a:extLst>
              <a:ext uri="{FF2B5EF4-FFF2-40B4-BE49-F238E27FC236}">
                <a16:creationId xmlns:a16="http://schemas.microsoft.com/office/drawing/2014/main" id="{D438B77B-3D2C-C10B-C2B5-A98FBC5BE339}"/>
              </a:ext>
            </a:extLst>
          </p:cNvPr>
          <p:cNvSpPr/>
          <p:nvPr/>
        </p:nvSpPr>
        <p:spPr>
          <a:xfrm>
            <a:off x="4407408" y="4124933"/>
            <a:ext cx="329184" cy="292608"/>
          </a:xfrm>
          <a:prstGeom prst="rect">
            <a:avLst/>
          </a:prstGeom>
          <a:noFill/>
          <a:ln/>
        </p:spPr>
        <p:txBody>
          <a:bodyPr wrap="square" lIns="0" tIns="0" rIns="0" bIns="0" rtlCol="0" anchor="ctr"/>
          <a:lstStyle/>
          <a:p>
            <a:pPr marL="0" indent="0" algn="ctr">
              <a:buNone/>
            </a:pPr>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64" name="Shape 26">
            <a:extLst>
              <a:ext uri="{FF2B5EF4-FFF2-40B4-BE49-F238E27FC236}">
                <a16:creationId xmlns:a16="http://schemas.microsoft.com/office/drawing/2014/main" id="{E60ED8A8-40B1-B6CD-177F-12DDD1326655}"/>
              </a:ext>
            </a:extLst>
          </p:cNvPr>
          <p:cNvSpPr/>
          <p:nvPr/>
        </p:nvSpPr>
        <p:spPr>
          <a:xfrm>
            <a:off x="4800600" y="3868901"/>
            <a:ext cx="3977640" cy="804672"/>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65" name="Text 27">
            <a:extLst>
              <a:ext uri="{FF2B5EF4-FFF2-40B4-BE49-F238E27FC236}">
                <a16:creationId xmlns:a16="http://schemas.microsoft.com/office/drawing/2014/main" id="{740D2177-8722-F51A-ABBF-0D5421A5C42F}"/>
              </a:ext>
            </a:extLst>
          </p:cNvPr>
          <p:cNvSpPr/>
          <p:nvPr/>
        </p:nvSpPr>
        <p:spPr>
          <a:xfrm>
            <a:off x="4937760" y="4124933"/>
            <a:ext cx="292608" cy="292608"/>
          </a:xfrm>
          <a:prstGeom prst="rect">
            <a:avLst/>
          </a:prstGeom>
          <a:noFill/>
          <a:ln/>
        </p:spPr>
        <p:txBody>
          <a:bodyPr wrap="square" lIns="0" tIns="0" rIns="0" bIns="0" rtlCol="0" anchor="ctr"/>
          <a:lstStyle/>
          <a:p>
            <a:pPr marL="0" indent="0" algn="ctr">
              <a:buNone/>
            </a:pPr>
            <a:r>
              <a:rPr lang="en-US" sz="1500" b="1">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15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6" name="Text 28">
            <a:extLst>
              <a:ext uri="{FF2B5EF4-FFF2-40B4-BE49-F238E27FC236}">
                <a16:creationId xmlns:a16="http://schemas.microsoft.com/office/drawing/2014/main" id="{7252123A-F7BF-2938-164D-58D60E768C30}"/>
              </a:ext>
            </a:extLst>
          </p:cNvPr>
          <p:cNvSpPr/>
          <p:nvPr/>
        </p:nvSpPr>
        <p:spPr>
          <a:xfrm>
            <a:off x="5303520" y="3974057"/>
            <a:ext cx="3337560" cy="594360"/>
          </a:xfrm>
          <a:prstGeom prst="rect">
            <a:avLst/>
          </a:prstGeom>
          <a:noFill/>
          <a:ln/>
        </p:spPr>
        <p:txBody>
          <a:bodyPr wrap="square" lIns="0" tIns="0" rIns="0" bIns="0" rtlCol="0" anchor="ctr"/>
          <a:lstStyle/>
          <a:p>
            <a:r>
              <a:rPr lang="en-US" sz="1200">
                <a:latin typeface="Open Sans" pitchFamily="2" charset="0"/>
                <a:ea typeface="Open Sans" pitchFamily="2" charset="0"/>
                <a:cs typeface="Open Sans" pitchFamily="2" charset="0"/>
              </a:rPr>
              <a:t>Ask: “What would need to change to support multiple users or </a:t>
            </a:r>
            <a:r>
              <a:rPr lang="en-US" sz="1200" err="1">
                <a:latin typeface="Open Sans" pitchFamily="2" charset="0"/>
                <a:ea typeface="Open Sans" pitchFamily="2" charset="0"/>
                <a:cs typeface="Open Sans" pitchFamily="2" charset="0"/>
              </a:rPr>
              <a:t>organisations</a:t>
            </a:r>
            <a:r>
              <a:rPr lang="en-US" sz="1200">
                <a:latin typeface="Open Sans" pitchFamily="2" charset="0"/>
                <a:ea typeface="Open Sans" pitchFamily="2" charset="0"/>
                <a:cs typeface="Open Sans" pitchFamily="2" charset="0"/>
              </a:rPr>
              <a:t>?”</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0278706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15F4BBF9-D475-4FAF-B4F2-227A896D61E0}"/>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Generate &amp; Review a Data Model</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6CD5238C-A28E-A788-1C7E-71F08AF9C0BC}"/>
              </a:ext>
            </a:extLst>
          </p:cNvPr>
          <p:cNvSpPr/>
          <p:nvPr/>
        </p:nvSpPr>
        <p:spPr>
          <a:xfrm>
            <a:off x="419613" y="676656"/>
            <a:ext cx="859536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Two prompts. One to make the model visible. One to find what it got wrong.</a:t>
            </a:r>
          </a:p>
        </p:txBody>
      </p:sp>
      <p:sp>
        <p:nvSpPr>
          <p:cNvPr id="5" name="Shape 2">
            <a:extLst>
              <a:ext uri="{FF2B5EF4-FFF2-40B4-BE49-F238E27FC236}">
                <a16:creationId xmlns:a16="http://schemas.microsoft.com/office/drawing/2014/main" id="{9BC3E4C1-199A-2BEF-98D9-F1C5EABEE710}"/>
              </a:ext>
            </a:extLst>
          </p:cNvPr>
          <p:cNvSpPr/>
          <p:nvPr/>
        </p:nvSpPr>
        <p:spPr>
          <a:xfrm>
            <a:off x="292608" y="1129284"/>
            <a:ext cx="4133088" cy="1819656"/>
          </a:xfrm>
          <a:prstGeom prst="roundRect">
            <a:avLst>
              <a:gd name="adj" fmla="val 2353"/>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8DCB186F-60F4-B2A8-76A3-B9F1A94783CA}"/>
              </a:ext>
            </a:extLst>
          </p:cNvPr>
          <p:cNvSpPr/>
          <p:nvPr/>
        </p:nvSpPr>
        <p:spPr>
          <a:xfrm>
            <a:off x="493776" y="1344168"/>
            <a:ext cx="3730752" cy="219456"/>
          </a:xfrm>
          <a:prstGeom prst="rect">
            <a:avLst/>
          </a:prstGeom>
          <a:noFill/>
          <a:ln/>
        </p:spPr>
        <p:txBody>
          <a:bodyPr wrap="square" lIns="0" tIns="0" rIns="0" bIns="0" rtlCol="0" anchor="ctr"/>
          <a:lstStyle/>
          <a:p>
            <a:pPr marL="0" indent="0">
              <a:buNone/>
            </a:pPr>
            <a:r>
              <a:rPr lang="en-US" sz="1200" b="1" kern="0" spc="100">
                <a:solidFill>
                  <a:schemeClr val="bg1"/>
                </a:solidFill>
                <a:latin typeface="Open Sans" pitchFamily="2" charset="0"/>
                <a:ea typeface="Open Sans" pitchFamily="2" charset="0"/>
                <a:cs typeface="Open Sans" pitchFamily="2" charset="0"/>
              </a:rPr>
              <a:t>GENERATE</a:t>
            </a:r>
            <a:endParaRPr lang="en-US" sz="1200">
              <a:solidFill>
                <a:schemeClr val="bg1"/>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032AF63E-4FBA-F5C3-D4DA-023E32A7D152}"/>
              </a:ext>
            </a:extLst>
          </p:cNvPr>
          <p:cNvSpPr/>
          <p:nvPr/>
        </p:nvSpPr>
        <p:spPr>
          <a:xfrm>
            <a:off x="493776" y="1618488"/>
            <a:ext cx="3730752" cy="1180606"/>
          </a:xfrm>
          <a:prstGeom prst="rect">
            <a:avLst/>
          </a:prstGeom>
          <a:noFill/>
          <a:ln/>
        </p:spPr>
        <p:txBody>
          <a:bodyPr wrap="square" lIns="0" tIns="0" rIns="0" bIns="0" rtlCol="0" anchor="t"/>
          <a:lstStyle/>
          <a:p>
            <a:pPr marL="0" indent="0">
              <a:lnSpc>
                <a:spcPct val="118000"/>
              </a:lnSpc>
              <a:buNone/>
            </a:pPr>
            <a:r>
              <a:rPr lang="en-US" sz="1200">
                <a:solidFill>
                  <a:srgbClr val="00B050"/>
                </a:solidFill>
                <a:latin typeface="Open Sans" pitchFamily="2" charset="0"/>
                <a:ea typeface="Open Sans" pitchFamily="2" charset="0"/>
                <a:cs typeface="Open Sans" pitchFamily="2" charset="0"/>
              </a:rPr>
              <a:t>claude "Generate an entity-</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relationship diagram for this</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project in plain text. List</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every entity, every field, and</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every relationship."</a:t>
            </a:r>
          </a:p>
        </p:txBody>
      </p:sp>
      <p:sp>
        <p:nvSpPr>
          <p:cNvPr id="8" name="Text 5">
            <a:extLst>
              <a:ext uri="{FF2B5EF4-FFF2-40B4-BE49-F238E27FC236}">
                <a16:creationId xmlns:a16="http://schemas.microsoft.com/office/drawing/2014/main" id="{1E9B2698-3618-4B63-7335-F0995D135371}"/>
              </a:ext>
            </a:extLst>
          </p:cNvPr>
          <p:cNvSpPr/>
          <p:nvPr/>
        </p:nvSpPr>
        <p:spPr>
          <a:xfrm>
            <a:off x="301075" y="3127248"/>
            <a:ext cx="4133088" cy="777240"/>
          </a:xfrm>
          <a:prstGeom prst="rect">
            <a:avLst/>
          </a:prstGeom>
          <a:noFill/>
          <a:ln/>
        </p:spPr>
        <p:txBody>
          <a:bodyPr wrap="square" lIns="0" tIns="0" rIns="0" bIns="0" rtlCol="0" anchor="t"/>
          <a:lstStyle/>
          <a:p>
            <a:pPr marL="0" indent="0">
              <a:lnSpc>
                <a:spcPct val="115000"/>
              </a:lnSpc>
              <a:buNone/>
            </a:pPr>
            <a:r>
              <a:rPr lang="en-US" sz="1200">
                <a:solidFill>
                  <a:srgbClr val="757575"/>
                </a:solidFill>
                <a:latin typeface="Open Sans" pitchFamily="2" charset="0"/>
                <a:ea typeface="Open Sans" pitchFamily="2" charset="0"/>
                <a:cs typeface="Open Sans" pitchFamily="2" charset="0"/>
              </a:rPr>
              <a:t>What you get: a structured map of the data model Claude built, often with assumptions you did not know had been made.</a:t>
            </a:r>
            <a:endParaRPr lang="en-US" sz="1200">
              <a:latin typeface="Open Sans" pitchFamily="2" charset="0"/>
              <a:ea typeface="Open Sans" pitchFamily="2" charset="0"/>
              <a:cs typeface="Open Sans" pitchFamily="2" charset="0"/>
            </a:endParaRPr>
          </a:p>
        </p:txBody>
      </p:sp>
      <p:sp>
        <p:nvSpPr>
          <p:cNvPr id="9" name="Shape 6">
            <a:extLst>
              <a:ext uri="{FF2B5EF4-FFF2-40B4-BE49-F238E27FC236}">
                <a16:creationId xmlns:a16="http://schemas.microsoft.com/office/drawing/2014/main" id="{675E87F4-5675-56CA-B8EA-8DCAB6E7C641}"/>
              </a:ext>
            </a:extLst>
          </p:cNvPr>
          <p:cNvSpPr/>
          <p:nvPr/>
        </p:nvSpPr>
        <p:spPr>
          <a:xfrm>
            <a:off x="4718304" y="1129284"/>
            <a:ext cx="4133088" cy="1819656"/>
          </a:xfrm>
          <a:prstGeom prst="roundRect">
            <a:avLst>
              <a:gd name="adj" fmla="val 2353"/>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F23E6ACD-BB76-5707-E79C-60A38A46F0BA}"/>
              </a:ext>
            </a:extLst>
          </p:cNvPr>
          <p:cNvSpPr/>
          <p:nvPr/>
        </p:nvSpPr>
        <p:spPr>
          <a:xfrm>
            <a:off x="4919472" y="1344168"/>
            <a:ext cx="3730752" cy="219456"/>
          </a:xfrm>
          <a:prstGeom prst="rect">
            <a:avLst/>
          </a:prstGeom>
          <a:noFill/>
          <a:ln/>
        </p:spPr>
        <p:txBody>
          <a:bodyPr wrap="square" lIns="0" tIns="0" rIns="0" bIns="0" rtlCol="0" anchor="ctr"/>
          <a:lstStyle/>
          <a:p>
            <a:pPr marL="0" indent="0">
              <a:buNone/>
            </a:pPr>
            <a:r>
              <a:rPr lang="en-US" sz="1200" b="1" kern="0" spc="100">
                <a:solidFill>
                  <a:schemeClr val="bg1"/>
                </a:solidFill>
                <a:latin typeface="Open Sans" pitchFamily="2" charset="0"/>
                <a:ea typeface="Open Sans" pitchFamily="2" charset="0"/>
                <a:cs typeface="Open Sans" pitchFamily="2" charset="0"/>
              </a:rPr>
              <a:t>REVIEW</a:t>
            </a:r>
            <a:endParaRPr lang="en-US" sz="1200">
              <a:solidFill>
                <a:schemeClr val="bg1"/>
              </a:solidFill>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1E823884-7B58-FC9B-7DF3-0F7B688AA7A0}"/>
              </a:ext>
            </a:extLst>
          </p:cNvPr>
          <p:cNvSpPr/>
          <p:nvPr/>
        </p:nvSpPr>
        <p:spPr>
          <a:xfrm>
            <a:off x="4919472" y="1618488"/>
            <a:ext cx="3730752" cy="1180606"/>
          </a:xfrm>
          <a:prstGeom prst="rect">
            <a:avLst/>
          </a:prstGeom>
          <a:noFill/>
          <a:ln/>
        </p:spPr>
        <p:txBody>
          <a:bodyPr wrap="square" lIns="0" tIns="0" rIns="0" bIns="0" rtlCol="0" anchor="t"/>
          <a:lstStyle/>
          <a:p>
            <a:pPr marL="0" indent="0">
              <a:lnSpc>
                <a:spcPct val="118000"/>
              </a:lnSpc>
              <a:buNone/>
            </a:pPr>
            <a:r>
              <a:rPr lang="en-US" sz="1200">
                <a:solidFill>
                  <a:srgbClr val="00B050"/>
                </a:solidFill>
                <a:latin typeface="Open Sans" pitchFamily="2" charset="0"/>
                <a:ea typeface="Open Sans" pitchFamily="2" charset="0"/>
                <a:cs typeface="Open Sans" pitchFamily="2" charset="0"/>
              </a:rPr>
              <a:t>claude "Review this data model</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critically. What assumptions</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did you make? What breaks</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with more than one user?</a:t>
            </a:r>
          </a:p>
          <a:p>
            <a:pPr marL="0" indent="0">
              <a:lnSpc>
                <a:spcPct val="118000"/>
              </a:lnSpc>
              <a:buNone/>
            </a:pPr>
            <a:r>
              <a:rPr lang="en-US" sz="1200">
                <a:solidFill>
                  <a:srgbClr val="00B050"/>
                </a:solidFill>
                <a:latin typeface="Open Sans" pitchFamily="2" charset="0"/>
                <a:ea typeface="Open Sans" pitchFamily="2" charset="0"/>
                <a:cs typeface="Open Sans" pitchFamily="2" charset="0"/>
              </a:rPr>
              <a:t>What is missing?"</a:t>
            </a:r>
          </a:p>
        </p:txBody>
      </p:sp>
      <p:sp>
        <p:nvSpPr>
          <p:cNvPr id="12" name="Text 9">
            <a:extLst>
              <a:ext uri="{FF2B5EF4-FFF2-40B4-BE49-F238E27FC236}">
                <a16:creationId xmlns:a16="http://schemas.microsoft.com/office/drawing/2014/main" id="{2B0F8340-A82C-52D0-A7BC-C113AF130A2B}"/>
              </a:ext>
            </a:extLst>
          </p:cNvPr>
          <p:cNvSpPr/>
          <p:nvPr/>
        </p:nvSpPr>
        <p:spPr>
          <a:xfrm>
            <a:off x="4718304" y="3127248"/>
            <a:ext cx="4133088" cy="777240"/>
          </a:xfrm>
          <a:prstGeom prst="rect">
            <a:avLst/>
          </a:prstGeom>
          <a:noFill/>
          <a:ln/>
        </p:spPr>
        <p:txBody>
          <a:bodyPr wrap="square" lIns="0" tIns="0" rIns="0" bIns="0" rtlCol="0" anchor="t"/>
          <a:lstStyle/>
          <a:p>
            <a:pPr marL="0" indent="0">
              <a:lnSpc>
                <a:spcPct val="115000"/>
              </a:lnSpc>
              <a:buNone/>
            </a:pPr>
            <a:r>
              <a:rPr lang="en-US" sz="1200">
                <a:solidFill>
                  <a:srgbClr val="757575"/>
                </a:solidFill>
                <a:latin typeface="Open Sans" pitchFamily="2" charset="0"/>
                <a:ea typeface="Open Sans" pitchFamily="2" charset="0"/>
                <a:cs typeface="Open Sans" pitchFamily="2" charset="0"/>
              </a:rPr>
              <a:t>What you get: a list of structural risks, named specifically, before engineering inherits them.</a:t>
            </a:r>
            <a:endParaRPr lang="en-US" sz="1200">
              <a:latin typeface="Open Sans" pitchFamily="2" charset="0"/>
              <a:ea typeface="Open Sans" pitchFamily="2" charset="0"/>
              <a:cs typeface="Open Sans" pitchFamily="2" charset="0"/>
            </a:endParaRPr>
          </a:p>
        </p:txBody>
      </p:sp>
      <p:sp>
        <p:nvSpPr>
          <p:cNvPr id="13" name="Shape 10">
            <a:extLst>
              <a:ext uri="{FF2B5EF4-FFF2-40B4-BE49-F238E27FC236}">
                <a16:creationId xmlns:a16="http://schemas.microsoft.com/office/drawing/2014/main" id="{F8C43156-B954-F1D0-DDA8-B4DFDDB8871D}"/>
              </a:ext>
            </a:extLst>
          </p:cNvPr>
          <p:cNvSpPr/>
          <p:nvPr/>
        </p:nvSpPr>
        <p:spPr>
          <a:xfrm>
            <a:off x="292608" y="4082796"/>
            <a:ext cx="8558784" cy="384048"/>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4" name="Text 11">
            <a:extLst>
              <a:ext uri="{FF2B5EF4-FFF2-40B4-BE49-F238E27FC236}">
                <a16:creationId xmlns:a16="http://schemas.microsoft.com/office/drawing/2014/main" id="{796FE882-32ED-5974-58B4-AC97A84209E3}"/>
              </a:ext>
            </a:extLst>
          </p:cNvPr>
          <p:cNvSpPr/>
          <p:nvPr/>
        </p:nvSpPr>
        <p:spPr>
          <a:xfrm>
            <a:off x="493776" y="4082796"/>
            <a:ext cx="8263046"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The generate prompt makes the implicit explicit. The review prompt makes the risky visible. Run both before you hand over.</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918038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4D717887-D1D3-2C37-9D4F-378D725C1082}"/>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700" b="1">
                <a:latin typeface="Open Sans" pitchFamily="2" charset="0"/>
                <a:ea typeface="Open Sans" pitchFamily="2" charset="0"/>
                <a:cs typeface="Open Sans" pitchFamily="2" charset="0"/>
              </a:rPr>
              <a:t>When the Words Don't Match</a:t>
            </a:r>
            <a:endParaRPr lang="en-US" sz="27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2031A271-9287-0978-AB88-04B253D55620}"/>
              </a:ext>
            </a:extLst>
          </p:cNvPr>
          <p:cNvSpPr/>
          <p:nvPr/>
        </p:nvSpPr>
        <p:spPr>
          <a:xfrm>
            <a:off x="394212" y="676656"/>
            <a:ext cx="859536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The review prompt will likely flag naming assumption. Here is the framework that explains why it matters.</a:t>
            </a:r>
          </a:p>
        </p:txBody>
      </p:sp>
      <p:sp>
        <p:nvSpPr>
          <p:cNvPr id="5" name="Shape 2">
            <a:extLst>
              <a:ext uri="{FF2B5EF4-FFF2-40B4-BE49-F238E27FC236}">
                <a16:creationId xmlns:a16="http://schemas.microsoft.com/office/drawing/2014/main" id="{EF62602B-404A-2348-433E-427B13DEE9E3}"/>
              </a:ext>
            </a:extLst>
          </p:cNvPr>
          <p:cNvSpPr/>
          <p:nvPr/>
        </p:nvSpPr>
        <p:spPr>
          <a:xfrm>
            <a:off x="292608" y="1382081"/>
            <a:ext cx="4133088" cy="1783080"/>
          </a:xfrm>
          <a:prstGeom prst="roundRect">
            <a:avLst>
              <a:gd name="adj" fmla="val 3077"/>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599B6CBC-DDD6-59CD-4978-FACE1BBFD0F6}"/>
              </a:ext>
            </a:extLst>
          </p:cNvPr>
          <p:cNvSpPr/>
          <p:nvPr/>
        </p:nvSpPr>
        <p:spPr>
          <a:xfrm>
            <a:off x="493776" y="1564961"/>
            <a:ext cx="3730752" cy="292608"/>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SAME WORD, DIFFERENT MEANING</a:t>
            </a:r>
            <a:endParaRPr lang="en-US" sz="14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AC2B2ED6-B74D-E4E3-A3A7-B9B3F29E1F4C}"/>
              </a:ext>
            </a:extLst>
          </p:cNvPr>
          <p:cNvSpPr/>
          <p:nvPr/>
        </p:nvSpPr>
        <p:spPr>
          <a:xfrm>
            <a:off x="493776" y="1875857"/>
            <a:ext cx="3730752" cy="237744"/>
          </a:xfrm>
          <a:prstGeom prst="rect">
            <a:avLst/>
          </a:prstGeom>
          <a:noFill/>
          <a:ln/>
        </p:spPr>
        <p:txBody>
          <a:bodyPr wrap="square" lIns="0" tIns="0" rIns="0" bIns="0" rtlCol="0" anchor="ctr"/>
          <a:lstStyle/>
          <a:p>
            <a:pPr marL="0" indent="0">
              <a:buNone/>
            </a:pPr>
            <a:r>
              <a:rPr lang="en-US" sz="1200" i="1">
                <a:solidFill>
                  <a:schemeClr val="tx2"/>
                </a:solidFill>
                <a:latin typeface="Open Sans" pitchFamily="2" charset="0"/>
                <a:ea typeface="Open Sans" pitchFamily="2" charset="0"/>
                <a:cs typeface="Open Sans" pitchFamily="2" charset="0"/>
              </a:rPr>
              <a:t>(what engineers call a “bounded context”)</a:t>
            </a:r>
            <a:endParaRPr lang="en-US" sz="1200">
              <a:solidFill>
                <a:schemeClr val="tx2"/>
              </a:solidFill>
              <a:latin typeface="Open Sans" pitchFamily="2" charset="0"/>
              <a:ea typeface="Open Sans" pitchFamily="2" charset="0"/>
              <a:cs typeface="Open Sans" pitchFamily="2" charset="0"/>
            </a:endParaRPr>
          </a:p>
        </p:txBody>
      </p:sp>
      <p:sp>
        <p:nvSpPr>
          <p:cNvPr id="8" name="Text 5">
            <a:extLst>
              <a:ext uri="{FF2B5EF4-FFF2-40B4-BE49-F238E27FC236}">
                <a16:creationId xmlns:a16="http://schemas.microsoft.com/office/drawing/2014/main" id="{3886BA19-1337-DC74-4023-E062EB4B089B}"/>
              </a:ext>
            </a:extLst>
          </p:cNvPr>
          <p:cNvSpPr/>
          <p:nvPr/>
        </p:nvSpPr>
        <p:spPr>
          <a:xfrm>
            <a:off x="493776" y="2150177"/>
            <a:ext cx="3730752" cy="822960"/>
          </a:xfrm>
          <a:prstGeom prst="rect">
            <a:avLst/>
          </a:prstGeom>
          <a:noFill/>
          <a:ln/>
        </p:spPr>
        <p:txBody>
          <a:bodyPr wrap="square" lIns="0" tIns="0" rIns="0" bIns="0" rtlCol="0" anchor="t"/>
          <a:lstStyle/>
          <a:p>
            <a:pPr marL="0" indent="0">
              <a:lnSpc>
                <a:spcPct val="116000"/>
              </a:lnSpc>
              <a:buNone/>
            </a:pPr>
            <a:r>
              <a:rPr lang="en-US" sz="1200">
                <a:latin typeface="Open Sans" pitchFamily="2" charset="0"/>
                <a:ea typeface="Open Sans" pitchFamily="2" charset="0"/>
                <a:cs typeface="Open Sans" pitchFamily="2" charset="0"/>
              </a:rPr>
              <a:t>The same word can mean different things in different parts of the system. Keep each meaning separate.</a:t>
            </a:r>
          </a:p>
        </p:txBody>
      </p:sp>
      <p:sp>
        <p:nvSpPr>
          <p:cNvPr id="9" name="Shape 6">
            <a:extLst>
              <a:ext uri="{FF2B5EF4-FFF2-40B4-BE49-F238E27FC236}">
                <a16:creationId xmlns:a16="http://schemas.microsoft.com/office/drawing/2014/main" id="{F426172C-0B7A-4A5F-AA3C-7B6F25B7F9BB}"/>
              </a:ext>
            </a:extLst>
          </p:cNvPr>
          <p:cNvSpPr/>
          <p:nvPr/>
        </p:nvSpPr>
        <p:spPr>
          <a:xfrm>
            <a:off x="4718304" y="1382081"/>
            <a:ext cx="4133088" cy="1783080"/>
          </a:xfrm>
          <a:prstGeom prst="roundRect">
            <a:avLst>
              <a:gd name="adj" fmla="val 3077"/>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DD35AA60-1127-9ADE-CBB5-48CDC0DFE1D1}"/>
              </a:ext>
            </a:extLst>
          </p:cNvPr>
          <p:cNvSpPr/>
          <p:nvPr/>
        </p:nvSpPr>
        <p:spPr>
          <a:xfrm>
            <a:off x="4919472" y="1564961"/>
            <a:ext cx="3730752" cy="292608"/>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ONE LANGUAGE, NOT TWO</a:t>
            </a:r>
            <a:endParaRPr lang="en-US" sz="1400">
              <a:solidFill>
                <a:schemeClr val="accent2"/>
              </a:solidFill>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A7FDE300-585A-F5C2-6BD6-45C09C51D753}"/>
              </a:ext>
            </a:extLst>
          </p:cNvPr>
          <p:cNvSpPr/>
          <p:nvPr/>
        </p:nvSpPr>
        <p:spPr>
          <a:xfrm>
            <a:off x="4919472" y="1875857"/>
            <a:ext cx="3730752" cy="237744"/>
          </a:xfrm>
          <a:prstGeom prst="rect">
            <a:avLst/>
          </a:prstGeom>
          <a:noFill/>
          <a:ln/>
        </p:spPr>
        <p:txBody>
          <a:bodyPr wrap="square" lIns="0" tIns="0" rIns="0" bIns="0" rtlCol="0" anchor="ctr"/>
          <a:lstStyle/>
          <a:p>
            <a:pPr marL="0" indent="0">
              <a:buNone/>
            </a:pPr>
            <a:r>
              <a:rPr lang="en-US" sz="1200" i="1">
                <a:solidFill>
                  <a:schemeClr val="tx2"/>
                </a:solidFill>
                <a:latin typeface="Open Sans" pitchFamily="2" charset="0"/>
                <a:ea typeface="Open Sans" pitchFamily="2" charset="0"/>
                <a:cs typeface="Open Sans" pitchFamily="2" charset="0"/>
              </a:rPr>
              <a:t>(what engineers call “ubiquitous language”)</a:t>
            </a:r>
            <a:endParaRPr lang="en-US" sz="1200">
              <a:solidFill>
                <a:schemeClr val="tx2"/>
              </a:solidFill>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C57D1989-1765-17EE-50F4-3C80BF53F3E4}"/>
              </a:ext>
            </a:extLst>
          </p:cNvPr>
          <p:cNvSpPr/>
          <p:nvPr/>
        </p:nvSpPr>
        <p:spPr>
          <a:xfrm>
            <a:off x="4919472" y="2150177"/>
            <a:ext cx="3730752" cy="822960"/>
          </a:xfrm>
          <a:prstGeom prst="rect">
            <a:avLst/>
          </a:prstGeom>
          <a:noFill/>
          <a:ln/>
        </p:spPr>
        <p:txBody>
          <a:bodyPr wrap="square" lIns="0" tIns="0" rIns="0" bIns="0" rtlCol="0" anchor="t"/>
          <a:lstStyle/>
          <a:p>
            <a:pPr marL="0" indent="0">
              <a:lnSpc>
                <a:spcPct val="116000"/>
              </a:lnSpc>
              <a:buNone/>
            </a:pPr>
            <a:r>
              <a:rPr lang="en-US" sz="1200">
                <a:latin typeface="Open Sans" pitchFamily="2" charset="0"/>
                <a:ea typeface="Open Sans" pitchFamily="2" charset="0"/>
                <a:cs typeface="Open Sans" pitchFamily="2" charset="0"/>
              </a:rPr>
              <a:t>Use the exact words your business uses, in the code and in conversation. No translation layer.</a:t>
            </a:r>
          </a:p>
        </p:txBody>
      </p:sp>
      <p:sp>
        <p:nvSpPr>
          <p:cNvPr id="13" name="Shape 10">
            <a:extLst>
              <a:ext uri="{FF2B5EF4-FFF2-40B4-BE49-F238E27FC236}">
                <a16:creationId xmlns:a16="http://schemas.microsoft.com/office/drawing/2014/main" id="{C4D2A725-DE66-09E0-E33A-66E9C62E8D55}"/>
              </a:ext>
            </a:extLst>
          </p:cNvPr>
          <p:cNvSpPr/>
          <p:nvPr/>
        </p:nvSpPr>
        <p:spPr>
          <a:xfrm>
            <a:off x="292608" y="3630951"/>
            <a:ext cx="8558784" cy="384048"/>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4" name="Text 11">
            <a:extLst>
              <a:ext uri="{FF2B5EF4-FFF2-40B4-BE49-F238E27FC236}">
                <a16:creationId xmlns:a16="http://schemas.microsoft.com/office/drawing/2014/main" id="{DA0AC623-76FF-CAFC-1D3B-C06ED9C4BD57}"/>
              </a:ext>
            </a:extLst>
          </p:cNvPr>
          <p:cNvSpPr/>
          <p:nvPr/>
        </p:nvSpPr>
        <p:spPr>
          <a:xfrm>
            <a:off x="292607" y="3630951"/>
            <a:ext cx="8558783"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Ask Claude: “What word does this code use for [your business term]? Does it match what we actually call it?”</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185621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B088084E-4C8C-A1A4-AEF7-8D7471A8F0B1}"/>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700" b="1">
                <a:latin typeface="Arial" pitchFamily="34" charset="0"/>
                <a:ea typeface="Arial" pitchFamily="34" charset="-122"/>
                <a:cs typeface="Arial" pitchFamily="34" charset="-120"/>
              </a:rPr>
              <a:t>Ontology Sprint</a:t>
            </a:r>
            <a:endParaRPr lang="en-US" sz="2700"/>
          </a:p>
        </p:txBody>
      </p:sp>
      <p:sp>
        <p:nvSpPr>
          <p:cNvPr id="4" name="Text 1">
            <a:extLst>
              <a:ext uri="{FF2B5EF4-FFF2-40B4-BE49-F238E27FC236}">
                <a16:creationId xmlns:a16="http://schemas.microsoft.com/office/drawing/2014/main" id="{4B47FC9B-7F14-1BF0-3E99-C29BDDFC0ECF}"/>
              </a:ext>
            </a:extLst>
          </p:cNvPr>
          <p:cNvSpPr/>
          <p:nvPr/>
        </p:nvSpPr>
        <p:spPr>
          <a:xfrm>
            <a:off x="394212" y="676656"/>
            <a:ext cx="8595360" cy="365760"/>
          </a:xfrm>
          <a:prstGeom prst="rect">
            <a:avLst/>
          </a:prstGeom>
          <a:noFill/>
          <a:ln/>
        </p:spPr>
        <p:txBody>
          <a:bodyPr wrap="square" lIns="0" tIns="0" rIns="0" bIns="0" rtlCol="0" anchor="t"/>
          <a:lstStyle/>
          <a:p>
            <a:pPr marL="0" indent="0">
              <a:buNone/>
            </a:pPr>
            <a:r>
              <a:rPr lang="en-US" sz="1250">
                <a:solidFill>
                  <a:schemeClr val="tx2"/>
                </a:solidFill>
                <a:latin typeface="Calibri" pitchFamily="34" charset="0"/>
                <a:ea typeface="Calibri" pitchFamily="34" charset="-122"/>
                <a:cs typeface="Calibri" pitchFamily="34" charset="-120"/>
              </a:rPr>
              <a:t>Generate the data model Claude built for your PoC. Critique it. Find the assumption you did not know was there.</a:t>
            </a:r>
            <a:endParaRPr lang="en-US" sz="1250">
              <a:solidFill>
                <a:schemeClr val="tx2"/>
              </a:solidFill>
            </a:endParaRPr>
          </a:p>
        </p:txBody>
      </p:sp>
      <p:sp>
        <p:nvSpPr>
          <p:cNvPr id="54" name="Shape 6">
            <a:extLst>
              <a:ext uri="{FF2B5EF4-FFF2-40B4-BE49-F238E27FC236}">
                <a16:creationId xmlns:a16="http://schemas.microsoft.com/office/drawing/2014/main" id="{069FAED9-F644-6AE3-09F9-6F030E5A9A78}"/>
              </a:ext>
            </a:extLst>
          </p:cNvPr>
          <p:cNvSpPr/>
          <p:nvPr/>
        </p:nvSpPr>
        <p:spPr>
          <a:xfrm>
            <a:off x="292608" y="922429"/>
            <a:ext cx="8275320" cy="974760"/>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55" name="Shape 5">
            <a:extLst>
              <a:ext uri="{FF2B5EF4-FFF2-40B4-BE49-F238E27FC236}">
                <a16:creationId xmlns:a16="http://schemas.microsoft.com/office/drawing/2014/main" id="{E7CE8CE6-77D6-0E30-0A93-318E3FC81A4A}"/>
              </a:ext>
            </a:extLst>
          </p:cNvPr>
          <p:cNvSpPr/>
          <p:nvPr/>
        </p:nvSpPr>
        <p:spPr>
          <a:xfrm>
            <a:off x="366254" y="1229206"/>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56" name="Text 6">
            <a:extLst>
              <a:ext uri="{FF2B5EF4-FFF2-40B4-BE49-F238E27FC236}">
                <a16:creationId xmlns:a16="http://schemas.microsoft.com/office/drawing/2014/main" id="{357A5E78-480B-5D91-3A7B-62B1E334EDF7}"/>
              </a:ext>
            </a:extLst>
          </p:cNvPr>
          <p:cNvSpPr/>
          <p:nvPr/>
        </p:nvSpPr>
        <p:spPr>
          <a:xfrm>
            <a:off x="366254" y="1229206"/>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1</a:t>
            </a:r>
            <a:endParaRPr lang="en-US" sz="1500">
              <a:latin typeface="Open Sans" pitchFamily="2" charset="0"/>
              <a:ea typeface="Open Sans" pitchFamily="2" charset="0"/>
              <a:cs typeface="Open Sans" pitchFamily="2" charset="0"/>
            </a:endParaRPr>
          </a:p>
        </p:txBody>
      </p:sp>
      <p:sp>
        <p:nvSpPr>
          <p:cNvPr id="57" name="Text 7">
            <a:extLst>
              <a:ext uri="{FF2B5EF4-FFF2-40B4-BE49-F238E27FC236}">
                <a16:creationId xmlns:a16="http://schemas.microsoft.com/office/drawing/2014/main" id="{8E34BB1F-7E9A-9427-9D17-20156B379158}"/>
              </a:ext>
            </a:extLst>
          </p:cNvPr>
          <p:cNvSpPr/>
          <p:nvPr/>
        </p:nvSpPr>
        <p:spPr>
          <a:xfrm>
            <a:off x="914894" y="954886"/>
            <a:ext cx="7405322" cy="274320"/>
          </a:xfrm>
          <a:prstGeom prst="rect">
            <a:avLst/>
          </a:prstGeom>
          <a:noFill/>
          <a:ln/>
        </p:spPr>
        <p:txBody>
          <a:bodyPr wrap="square" lIns="0" tIns="0" rIns="0" bIns="0" rtlCol="0" anchor="ctr"/>
          <a:lstStyle/>
          <a:p>
            <a:r>
              <a:rPr lang="en-US" sz="1300" b="1">
                <a:latin typeface="Calibri" pitchFamily="34" charset="0"/>
                <a:ea typeface="Calibri" pitchFamily="34" charset="-122"/>
                <a:cs typeface="Calibri" pitchFamily="34" charset="-120"/>
              </a:rPr>
              <a:t>Generate the entity-relationship model</a:t>
            </a:r>
            <a:endParaRPr lang="en-US" sz="1300"/>
          </a:p>
        </p:txBody>
      </p:sp>
      <p:sp>
        <p:nvSpPr>
          <p:cNvPr id="58" name="Shape 8">
            <a:extLst>
              <a:ext uri="{FF2B5EF4-FFF2-40B4-BE49-F238E27FC236}">
                <a16:creationId xmlns:a16="http://schemas.microsoft.com/office/drawing/2014/main" id="{CF9E45AD-4880-AFA5-0E85-CD7901FD387F}"/>
              </a:ext>
            </a:extLst>
          </p:cNvPr>
          <p:cNvSpPr/>
          <p:nvPr/>
        </p:nvSpPr>
        <p:spPr>
          <a:xfrm>
            <a:off x="914894" y="1256638"/>
            <a:ext cx="7594792" cy="534856"/>
          </a:xfrm>
          <a:prstGeom prst="roundRect">
            <a:avLst>
              <a:gd name="adj" fmla="val 6897"/>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59" name="Text 9">
            <a:extLst>
              <a:ext uri="{FF2B5EF4-FFF2-40B4-BE49-F238E27FC236}">
                <a16:creationId xmlns:a16="http://schemas.microsoft.com/office/drawing/2014/main" id="{CCAF5DC2-C9DE-D3A8-175C-2CCFB6E5C00A}"/>
              </a:ext>
            </a:extLst>
          </p:cNvPr>
          <p:cNvSpPr/>
          <p:nvPr/>
        </p:nvSpPr>
        <p:spPr>
          <a:xfrm>
            <a:off x="1055926" y="1331167"/>
            <a:ext cx="4996414" cy="557784"/>
          </a:xfrm>
          <a:prstGeom prst="rect">
            <a:avLst/>
          </a:prstGeom>
          <a:noFill/>
          <a:ln/>
        </p:spPr>
        <p:txBody>
          <a:bodyPr wrap="square" lIns="0" tIns="0" rIns="0" bIns="0" rtlCol="0" anchor="t"/>
          <a:lstStyle/>
          <a:p>
            <a:pPr>
              <a:lnSpc>
                <a:spcPct val="118000"/>
              </a:lnSpc>
            </a:pPr>
            <a:r>
              <a:rPr lang="en-US" sz="1100" err="1">
                <a:solidFill>
                  <a:srgbClr val="00B050"/>
                </a:solidFill>
                <a:latin typeface="Consolas" pitchFamily="34" charset="0"/>
                <a:ea typeface="Consolas" pitchFamily="34" charset="-122"/>
                <a:cs typeface="Consolas" pitchFamily="34" charset="-120"/>
              </a:rPr>
              <a:t>claude</a:t>
            </a:r>
            <a:r>
              <a:rPr lang="en-US" sz="1100">
                <a:solidFill>
                  <a:srgbClr val="00B050"/>
                </a:solidFill>
                <a:latin typeface="Consolas" pitchFamily="34" charset="0"/>
                <a:ea typeface="Consolas" pitchFamily="34" charset="-122"/>
                <a:cs typeface="Consolas" pitchFamily="34" charset="-120"/>
              </a:rPr>
              <a:t> "Generate an entity-relationship diagram for this project</a:t>
            </a:r>
            <a:endParaRPr lang="en-US" sz="1100">
              <a:solidFill>
                <a:srgbClr val="00B050"/>
              </a:solidFill>
            </a:endParaRPr>
          </a:p>
          <a:p>
            <a:pPr>
              <a:lnSpc>
                <a:spcPct val="118000"/>
              </a:lnSpc>
            </a:pPr>
            <a:r>
              <a:rPr lang="en-US" sz="1100">
                <a:solidFill>
                  <a:srgbClr val="00B050"/>
                </a:solidFill>
                <a:latin typeface="Consolas" pitchFamily="34" charset="0"/>
                <a:ea typeface="Consolas" pitchFamily="34" charset="-122"/>
                <a:cs typeface="Consolas" pitchFamily="34" charset="-120"/>
              </a:rPr>
              <a:t>in plain text. List every entity, field, and relationship."</a:t>
            </a:r>
            <a:endParaRPr lang="en-US" sz="1100">
              <a:solidFill>
                <a:srgbClr val="00B050"/>
              </a:solidFill>
            </a:endParaRPr>
          </a:p>
        </p:txBody>
      </p:sp>
      <p:sp>
        <p:nvSpPr>
          <p:cNvPr id="60" name="Shape 6">
            <a:extLst>
              <a:ext uri="{FF2B5EF4-FFF2-40B4-BE49-F238E27FC236}">
                <a16:creationId xmlns:a16="http://schemas.microsoft.com/office/drawing/2014/main" id="{EA99CB6C-47CA-CDC6-8E8A-B4A92159A473}"/>
              </a:ext>
            </a:extLst>
          </p:cNvPr>
          <p:cNvSpPr/>
          <p:nvPr/>
        </p:nvSpPr>
        <p:spPr>
          <a:xfrm>
            <a:off x="292608" y="1955348"/>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61" name="Shape 10">
            <a:extLst>
              <a:ext uri="{FF2B5EF4-FFF2-40B4-BE49-F238E27FC236}">
                <a16:creationId xmlns:a16="http://schemas.microsoft.com/office/drawing/2014/main" id="{56C955F4-E5EC-D074-D601-3AA01ECCDABE}"/>
              </a:ext>
            </a:extLst>
          </p:cNvPr>
          <p:cNvSpPr/>
          <p:nvPr/>
        </p:nvSpPr>
        <p:spPr>
          <a:xfrm>
            <a:off x="366254" y="2027631"/>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62" name="Text 11">
            <a:extLst>
              <a:ext uri="{FF2B5EF4-FFF2-40B4-BE49-F238E27FC236}">
                <a16:creationId xmlns:a16="http://schemas.microsoft.com/office/drawing/2014/main" id="{C2380464-3C04-F387-B3AF-D6C89FC8200F}"/>
              </a:ext>
            </a:extLst>
          </p:cNvPr>
          <p:cNvSpPr/>
          <p:nvPr/>
        </p:nvSpPr>
        <p:spPr>
          <a:xfrm>
            <a:off x="366254" y="2027631"/>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2</a:t>
            </a:r>
            <a:endParaRPr lang="en-US" sz="1500">
              <a:latin typeface="Open Sans" pitchFamily="2" charset="0"/>
              <a:ea typeface="Open Sans" pitchFamily="2" charset="0"/>
              <a:cs typeface="Open Sans" pitchFamily="2" charset="0"/>
            </a:endParaRPr>
          </a:p>
        </p:txBody>
      </p:sp>
      <p:sp>
        <p:nvSpPr>
          <p:cNvPr id="63" name="Text 12">
            <a:extLst>
              <a:ext uri="{FF2B5EF4-FFF2-40B4-BE49-F238E27FC236}">
                <a16:creationId xmlns:a16="http://schemas.microsoft.com/office/drawing/2014/main" id="{8A51C6D3-5798-0F50-CCA9-4DC8560BB6EC}"/>
              </a:ext>
            </a:extLst>
          </p:cNvPr>
          <p:cNvSpPr/>
          <p:nvPr/>
        </p:nvSpPr>
        <p:spPr>
          <a:xfrm>
            <a:off x="914894" y="1974251"/>
            <a:ext cx="8010144" cy="274320"/>
          </a:xfrm>
          <a:prstGeom prst="rect">
            <a:avLst/>
          </a:prstGeom>
          <a:noFill/>
          <a:ln/>
        </p:spPr>
        <p:txBody>
          <a:bodyPr wrap="square" lIns="0" tIns="0" rIns="0" bIns="0" rtlCol="0" anchor="ctr"/>
          <a:lstStyle/>
          <a:p>
            <a:r>
              <a:rPr lang="en-US" sz="1300" b="1">
                <a:latin typeface="Calibri" pitchFamily="34" charset="0"/>
                <a:ea typeface="Calibri" pitchFamily="34" charset="-122"/>
                <a:cs typeface="Calibri" pitchFamily="34" charset="-120"/>
              </a:rPr>
              <a:t>Read the model before critiquing it</a:t>
            </a:r>
            <a:endParaRPr lang="en-US" sz="1300"/>
          </a:p>
        </p:txBody>
      </p:sp>
      <p:sp>
        <p:nvSpPr>
          <p:cNvPr id="64" name="Text 13">
            <a:extLst>
              <a:ext uri="{FF2B5EF4-FFF2-40B4-BE49-F238E27FC236}">
                <a16:creationId xmlns:a16="http://schemas.microsoft.com/office/drawing/2014/main" id="{9B106449-5EFD-665B-D81B-1F69204FE769}"/>
              </a:ext>
            </a:extLst>
          </p:cNvPr>
          <p:cNvSpPr/>
          <p:nvPr/>
        </p:nvSpPr>
        <p:spPr>
          <a:xfrm>
            <a:off x="914894" y="2242975"/>
            <a:ext cx="7520652" cy="237744"/>
          </a:xfrm>
          <a:prstGeom prst="rect">
            <a:avLst/>
          </a:prstGeom>
          <a:noFill/>
          <a:ln/>
        </p:spPr>
        <p:txBody>
          <a:bodyPr wrap="square" lIns="0" tIns="0" rIns="0" bIns="0" rtlCol="0" anchor="t"/>
          <a:lstStyle/>
          <a:p>
            <a:pPr>
              <a:lnSpc>
                <a:spcPct val="112000"/>
              </a:lnSpc>
            </a:pPr>
            <a:r>
              <a:rPr lang="en-US" sz="1100">
                <a:solidFill>
                  <a:schemeClr val="tx2"/>
                </a:solidFill>
                <a:latin typeface="Calibri" pitchFamily="34" charset="0"/>
                <a:ea typeface="Calibri" pitchFamily="34" charset="-122"/>
                <a:cs typeface="Calibri" pitchFamily="34" charset="-120"/>
              </a:rPr>
              <a:t>Does it match what you intended? Are the names right? Are the relationships complete?</a:t>
            </a:r>
            <a:endParaRPr lang="en-US" sz="1100">
              <a:solidFill>
                <a:schemeClr val="tx2"/>
              </a:solidFill>
            </a:endParaRPr>
          </a:p>
        </p:txBody>
      </p:sp>
      <p:sp>
        <p:nvSpPr>
          <p:cNvPr id="65" name="Shape 6">
            <a:extLst>
              <a:ext uri="{FF2B5EF4-FFF2-40B4-BE49-F238E27FC236}">
                <a16:creationId xmlns:a16="http://schemas.microsoft.com/office/drawing/2014/main" id="{8A12DC6C-BA38-5CF5-D3AB-9A3EF9A408D9}"/>
              </a:ext>
            </a:extLst>
          </p:cNvPr>
          <p:cNvSpPr/>
          <p:nvPr/>
        </p:nvSpPr>
        <p:spPr>
          <a:xfrm>
            <a:off x="292608" y="2564499"/>
            <a:ext cx="8275320" cy="673992"/>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66" name="Shape 14">
            <a:extLst>
              <a:ext uri="{FF2B5EF4-FFF2-40B4-BE49-F238E27FC236}">
                <a16:creationId xmlns:a16="http://schemas.microsoft.com/office/drawing/2014/main" id="{E035B0C6-0C59-B53D-67DD-593F2E5FCB44}"/>
              </a:ext>
            </a:extLst>
          </p:cNvPr>
          <p:cNvSpPr/>
          <p:nvPr/>
        </p:nvSpPr>
        <p:spPr>
          <a:xfrm>
            <a:off x="366254" y="2706388"/>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67" name="Text 15">
            <a:extLst>
              <a:ext uri="{FF2B5EF4-FFF2-40B4-BE49-F238E27FC236}">
                <a16:creationId xmlns:a16="http://schemas.microsoft.com/office/drawing/2014/main" id="{1F4D2B90-F412-8AF6-588A-F9284994CABF}"/>
              </a:ext>
            </a:extLst>
          </p:cNvPr>
          <p:cNvSpPr/>
          <p:nvPr/>
        </p:nvSpPr>
        <p:spPr>
          <a:xfrm>
            <a:off x="366254" y="2706388"/>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3</a:t>
            </a:r>
            <a:endParaRPr lang="en-US" sz="1500">
              <a:latin typeface="Open Sans" pitchFamily="2" charset="0"/>
              <a:ea typeface="Open Sans" pitchFamily="2" charset="0"/>
              <a:cs typeface="Open Sans" pitchFamily="2" charset="0"/>
            </a:endParaRPr>
          </a:p>
        </p:txBody>
      </p:sp>
      <p:sp>
        <p:nvSpPr>
          <p:cNvPr id="68" name="Text 16">
            <a:extLst>
              <a:ext uri="{FF2B5EF4-FFF2-40B4-BE49-F238E27FC236}">
                <a16:creationId xmlns:a16="http://schemas.microsoft.com/office/drawing/2014/main" id="{E95DD909-0168-256E-CB76-F77FD4282F53}"/>
              </a:ext>
            </a:extLst>
          </p:cNvPr>
          <p:cNvSpPr/>
          <p:nvPr/>
        </p:nvSpPr>
        <p:spPr>
          <a:xfrm>
            <a:off x="914894" y="2620840"/>
            <a:ext cx="7653034" cy="274320"/>
          </a:xfrm>
          <a:prstGeom prst="rect">
            <a:avLst/>
          </a:prstGeom>
          <a:noFill/>
          <a:ln/>
        </p:spPr>
        <p:txBody>
          <a:bodyPr wrap="square" lIns="0" tIns="0" rIns="0" bIns="0" rtlCol="0" anchor="ctr"/>
          <a:lstStyle/>
          <a:p>
            <a:r>
              <a:rPr lang="en-US" sz="1300" b="1">
                <a:latin typeface="Calibri" pitchFamily="34" charset="0"/>
                <a:ea typeface="Calibri" pitchFamily="34" charset="-122"/>
                <a:cs typeface="Calibri" pitchFamily="34" charset="-120"/>
              </a:rPr>
              <a:t>Critique the model</a:t>
            </a:r>
            <a:endParaRPr lang="en-US" sz="1300"/>
          </a:p>
        </p:txBody>
      </p:sp>
      <p:sp>
        <p:nvSpPr>
          <p:cNvPr id="70" name="Shape 6">
            <a:extLst>
              <a:ext uri="{FF2B5EF4-FFF2-40B4-BE49-F238E27FC236}">
                <a16:creationId xmlns:a16="http://schemas.microsoft.com/office/drawing/2014/main" id="{C7655758-5E08-46DC-5F25-69A4106CDB6B}"/>
              </a:ext>
            </a:extLst>
          </p:cNvPr>
          <p:cNvSpPr/>
          <p:nvPr/>
        </p:nvSpPr>
        <p:spPr>
          <a:xfrm>
            <a:off x="292608" y="3299595"/>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71" name="Shape 18">
            <a:extLst>
              <a:ext uri="{FF2B5EF4-FFF2-40B4-BE49-F238E27FC236}">
                <a16:creationId xmlns:a16="http://schemas.microsoft.com/office/drawing/2014/main" id="{2B19082A-C0DF-097D-67F7-0F11B70EF2F9}"/>
              </a:ext>
            </a:extLst>
          </p:cNvPr>
          <p:cNvSpPr/>
          <p:nvPr/>
        </p:nvSpPr>
        <p:spPr>
          <a:xfrm>
            <a:off x="366254" y="3377858"/>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72" name="Text 19">
            <a:extLst>
              <a:ext uri="{FF2B5EF4-FFF2-40B4-BE49-F238E27FC236}">
                <a16:creationId xmlns:a16="http://schemas.microsoft.com/office/drawing/2014/main" id="{2D86EEFF-75B9-9BC7-0A74-9CAAC8A8996A}"/>
              </a:ext>
            </a:extLst>
          </p:cNvPr>
          <p:cNvSpPr/>
          <p:nvPr/>
        </p:nvSpPr>
        <p:spPr>
          <a:xfrm>
            <a:off x="366254" y="3377858"/>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4</a:t>
            </a:r>
            <a:endParaRPr lang="en-US" sz="1500">
              <a:latin typeface="Open Sans" pitchFamily="2" charset="0"/>
              <a:ea typeface="Open Sans" pitchFamily="2" charset="0"/>
              <a:cs typeface="Open Sans" pitchFamily="2" charset="0"/>
            </a:endParaRPr>
          </a:p>
        </p:txBody>
      </p:sp>
      <p:sp>
        <p:nvSpPr>
          <p:cNvPr id="73" name="Text 20">
            <a:extLst>
              <a:ext uri="{FF2B5EF4-FFF2-40B4-BE49-F238E27FC236}">
                <a16:creationId xmlns:a16="http://schemas.microsoft.com/office/drawing/2014/main" id="{113E779D-2304-CF5C-C031-84EDCBFB86B7}"/>
              </a:ext>
            </a:extLst>
          </p:cNvPr>
          <p:cNvSpPr/>
          <p:nvPr/>
        </p:nvSpPr>
        <p:spPr>
          <a:xfrm>
            <a:off x="914894" y="3343094"/>
            <a:ext cx="7653034" cy="274320"/>
          </a:xfrm>
          <a:prstGeom prst="rect">
            <a:avLst/>
          </a:prstGeom>
          <a:noFill/>
          <a:ln/>
        </p:spPr>
        <p:txBody>
          <a:bodyPr wrap="square" lIns="0" tIns="0" rIns="0" bIns="0" rtlCol="0" anchor="ctr"/>
          <a:lstStyle/>
          <a:p>
            <a:r>
              <a:rPr lang="en-US" sz="1300" b="1">
                <a:latin typeface="Calibri" pitchFamily="34" charset="0"/>
                <a:ea typeface="Calibri" pitchFamily="34" charset="-122"/>
                <a:cs typeface="Calibri" pitchFamily="34" charset="-120"/>
              </a:rPr>
              <a:t>Name your one structural insight</a:t>
            </a:r>
            <a:endParaRPr lang="en-US" sz="1300"/>
          </a:p>
        </p:txBody>
      </p:sp>
      <p:sp>
        <p:nvSpPr>
          <p:cNvPr id="74" name="Text 21">
            <a:extLst>
              <a:ext uri="{FF2B5EF4-FFF2-40B4-BE49-F238E27FC236}">
                <a16:creationId xmlns:a16="http://schemas.microsoft.com/office/drawing/2014/main" id="{67BBDC5E-9187-F885-966E-7A866C587187}"/>
              </a:ext>
            </a:extLst>
          </p:cNvPr>
          <p:cNvSpPr/>
          <p:nvPr/>
        </p:nvSpPr>
        <p:spPr>
          <a:xfrm>
            <a:off x="914894" y="3602750"/>
            <a:ext cx="7653034" cy="173736"/>
          </a:xfrm>
          <a:prstGeom prst="rect">
            <a:avLst/>
          </a:prstGeom>
          <a:noFill/>
          <a:ln/>
        </p:spPr>
        <p:txBody>
          <a:bodyPr wrap="square" lIns="0" tIns="0" rIns="0" bIns="0" rtlCol="0" anchor="t"/>
          <a:lstStyle/>
          <a:p>
            <a:pPr>
              <a:lnSpc>
                <a:spcPct val="112000"/>
              </a:lnSpc>
            </a:pPr>
            <a:r>
              <a:rPr lang="en-US" sz="1100">
                <a:solidFill>
                  <a:schemeClr val="tx2"/>
                </a:solidFill>
                <a:latin typeface="Calibri" pitchFamily="34" charset="0"/>
                <a:ea typeface="Calibri" pitchFamily="34" charset="-122"/>
                <a:cs typeface="Calibri" pitchFamily="34" charset="-120"/>
              </a:rPr>
              <a:t>The assumption you made that you did not know you were making. One sentence.</a:t>
            </a:r>
            <a:endParaRPr lang="en-US" sz="1100">
              <a:solidFill>
                <a:schemeClr val="tx2"/>
              </a:solidFill>
            </a:endParaRPr>
          </a:p>
        </p:txBody>
      </p:sp>
      <p:sp>
        <p:nvSpPr>
          <p:cNvPr id="75" name="Shape 6">
            <a:extLst>
              <a:ext uri="{FF2B5EF4-FFF2-40B4-BE49-F238E27FC236}">
                <a16:creationId xmlns:a16="http://schemas.microsoft.com/office/drawing/2014/main" id="{90494247-0B93-C706-38BC-0A5F4199AA44}"/>
              </a:ext>
            </a:extLst>
          </p:cNvPr>
          <p:cNvSpPr/>
          <p:nvPr/>
        </p:nvSpPr>
        <p:spPr>
          <a:xfrm>
            <a:off x="292608" y="3897568"/>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76" name="Shape 22">
            <a:extLst>
              <a:ext uri="{FF2B5EF4-FFF2-40B4-BE49-F238E27FC236}">
                <a16:creationId xmlns:a16="http://schemas.microsoft.com/office/drawing/2014/main" id="{1F1F7403-F5C0-B817-0B4B-72FB8A0E205B}"/>
              </a:ext>
            </a:extLst>
          </p:cNvPr>
          <p:cNvSpPr/>
          <p:nvPr/>
        </p:nvSpPr>
        <p:spPr>
          <a:xfrm>
            <a:off x="366254" y="4009528"/>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77" name="Text 23">
            <a:extLst>
              <a:ext uri="{FF2B5EF4-FFF2-40B4-BE49-F238E27FC236}">
                <a16:creationId xmlns:a16="http://schemas.microsoft.com/office/drawing/2014/main" id="{0E96AA20-53A5-4314-EB83-B3531EDA2CA9}"/>
              </a:ext>
            </a:extLst>
          </p:cNvPr>
          <p:cNvSpPr/>
          <p:nvPr/>
        </p:nvSpPr>
        <p:spPr>
          <a:xfrm>
            <a:off x="366254" y="4009528"/>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5</a:t>
            </a:r>
            <a:endParaRPr lang="en-US" sz="1500">
              <a:latin typeface="Open Sans" pitchFamily="2" charset="0"/>
              <a:ea typeface="Open Sans" pitchFamily="2" charset="0"/>
              <a:cs typeface="Open Sans" pitchFamily="2" charset="0"/>
            </a:endParaRPr>
          </a:p>
        </p:txBody>
      </p:sp>
      <p:sp>
        <p:nvSpPr>
          <p:cNvPr id="78" name="Text 24">
            <a:extLst>
              <a:ext uri="{FF2B5EF4-FFF2-40B4-BE49-F238E27FC236}">
                <a16:creationId xmlns:a16="http://schemas.microsoft.com/office/drawing/2014/main" id="{8EB75324-22AB-BD18-E604-D9C6D79F9102}"/>
              </a:ext>
            </a:extLst>
          </p:cNvPr>
          <p:cNvSpPr/>
          <p:nvPr/>
        </p:nvSpPr>
        <p:spPr>
          <a:xfrm>
            <a:off x="914894" y="3941067"/>
            <a:ext cx="7653034" cy="274320"/>
          </a:xfrm>
          <a:prstGeom prst="rect">
            <a:avLst/>
          </a:prstGeom>
          <a:noFill/>
          <a:ln/>
        </p:spPr>
        <p:txBody>
          <a:bodyPr wrap="square" lIns="0" tIns="0" rIns="0" bIns="0" rtlCol="0" anchor="ctr"/>
          <a:lstStyle/>
          <a:p>
            <a:r>
              <a:rPr lang="en-US" sz="1300" b="1">
                <a:latin typeface="Calibri" pitchFamily="34" charset="0"/>
                <a:ea typeface="Calibri" pitchFamily="34" charset="-122"/>
                <a:cs typeface="Calibri" pitchFamily="34" charset="-120"/>
              </a:rPr>
              <a:t>Make one targeted fix</a:t>
            </a:r>
            <a:endParaRPr lang="en-US" sz="1300"/>
          </a:p>
        </p:txBody>
      </p:sp>
      <p:sp>
        <p:nvSpPr>
          <p:cNvPr id="79" name="Text 25">
            <a:extLst>
              <a:ext uri="{FF2B5EF4-FFF2-40B4-BE49-F238E27FC236}">
                <a16:creationId xmlns:a16="http://schemas.microsoft.com/office/drawing/2014/main" id="{247876CD-D801-4FA4-18C9-51BF4986DCC3}"/>
              </a:ext>
            </a:extLst>
          </p:cNvPr>
          <p:cNvSpPr/>
          <p:nvPr/>
        </p:nvSpPr>
        <p:spPr>
          <a:xfrm>
            <a:off x="914894" y="4208961"/>
            <a:ext cx="7653034" cy="173736"/>
          </a:xfrm>
          <a:prstGeom prst="rect">
            <a:avLst/>
          </a:prstGeom>
          <a:noFill/>
          <a:ln/>
        </p:spPr>
        <p:txBody>
          <a:bodyPr wrap="square" lIns="0" tIns="0" rIns="0" bIns="0" rtlCol="0" anchor="t"/>
          <a:lstStyle/>
          <a:p>
            <a:pPr>
              <a:lnSpc>
                <a:spcPct val="112000"/>
              </a:lnSpc>
            </a:pPr>
            <a:r>
              <a:rPr lang="en-US" sz="1100">
                <a:solidFill>
                  <a:schemeClr val="tx2"/>
                </a:solidFill>
                <a:latin typeface="Calibri" pitchFamily="34" charset="0"/>
                <a:ea typeface="Calibri" pitchFamily="34" charset="-122"/>
                <a:cs typeface="Calibri" pitchFamily="34" charset="-120"/>
              </a:rPr>
              <a:t>Pick the most significant issue. Ask Claude to show the corrected model.</a:t>
            </a:r>
            <a:endParaRPr lang="en-US" sz="1100">
              <a:solidFill>
                <a:schemeClr val="tx2"/>
              </a:solidFill>
            </a:endParaRPr>
          </a:p>
        </p:txBody>
      </p:sp>
      <p:sp>
        <p:nvSpPr>
          <p:cNvPr id="80" name="Shape 26">
            <a:extLst>
              <a:ext uri="{FF2B5EF4-FFF2-40B4-BE49-F238E27FC236}">
                <a16:creationId xmlns:a16="http://schemas.microsoft.com/office/drawing/2014/main" id="{0A92B507-84E7-A629-483E-F9F88BC6FD2E}"/>
              </a:ext>
            </a:extLst>
          </p:cNvPr>
          <p:cNvSpPr/>
          <p:nvPr/>
        </p:nvSpPr>
        <p:spPr>
          <a:xfrm>
            <a:off x="292608" y="4512698"/>
            <a:ext cx="8275320" cy="329184"/>
          </a:xfrm>
          <a:prstGeom prst="roundRect">
            <a:avLst>
              <a:gd name="adj" fmla="val 22222"/>
            </a:avLst>
          </a:prstGeom>
          <a:solidFill>
            <a:srgbClr val="E8F5E9"/>
          </a:solidFill>
          <a:ln w="1016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81" name="Text 27">
            <a:extLst>
              <a:ext uri="{FF2B5EF4-FFF2-40B4-BE49-F238E27FC236}">
                <a16:creationId xmlns:a16="http://schemas.microsoft.com/office/drawing/2014/main" id="{5346BA88-A862-C0CF-38B5-FBDADACC701B}"/>
              </a:ext>
            </a:extLst>
          </p:cNvPr>
          <p:cNvSpPr/>
          <p:nvPr/>
        </p:nvSpPr>
        <p:spPr>
          <a:xfrm>
            <a:off x="457200" y="4512698"/>
            <a:ext cx="8229600" cy="329184"/>
          </a:xfrm>
          <a:prstGeom prst="rect">
            <a:avLst/>
          </a:prstGeom>
          <a:noFill/>
          <a:ln/>
        </p:spPr>
        <p:txBody>
          <a:bodyPr wrap="square" lIns="0" tIns="0" rIns="0" bIns="0" rtlCol="0" anchor="ctr"/>
          <a:lstStyle/>
          <a:p>
            <a:r>
              <a:rPr lang="en-US" sz="1200" b="1">
                <a:solidFill>
                  <a:srgbClr val="00B050"/>
                </a:solidFill>
                <a:latin typeface="Calibri" pitchFamily="34" charset="0"/>
                <a:ea typeface="Calibri" pitchFamily="34" charset="-122"/>
                <a:cs typeface="Calibri" pitchFamily="34" charset="-120"/>
              </a:rPr>
              <a:t>✓  Model generated · Model read and understood · Critique run · Structural insight named · Targeted fix applied</a:t>
            </a:r>
            <a:endParaRPr lang="en-US" sz="1200">
              <a:solidFill>
                <a:srgbClr val="00B050"/>
              </a:solidFill>
            </a:endParaRPr>
          </a:p>
        </p:txBody>
      </p:sp>
      <p:sp>
        <p:nvSpPr>
          <p:cNvPr id="82" name="Shape 8">
            <a:extLst>
              <a:ext uri="{FF2B5EF4-FFF2-40B4-BE49-F238E27FC236}">
                <a16:creationId xmlns:a16="http://schemas.microsoft.com/office/drawing/2014/main" id="{139145C8-A323-7C78-25BD-DA209C61C0D8}"/>
              </a:ext>
            </a:extLst>
          </p:cNvPr>
          <p:cNvSpPr/>
          <p:nvPr/>
        </p:nvSpPr>
        <p:spPr>
          <a:xfrm>
            <a:off x="914894" y="2895967"/>
            <a:ext cx="7594792" cy="288012"/>
          </a:xfrm>
          <a:prstGeom prst="roundRect">
            <a:avLst>
              <a:gd name="adj" fmla="val 6897"/>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83" name="Text 9">
            <a:extLst>
              <a:ext uri="{FF2B5EF4-FFF2-40B4-BE49-F238E27FC236}">
                <a16:creationId xmlns:a16="http://schemas.microsoft.com/office/drawing/2014/main" id="{692B483A-1C90-D476-B601-43A2D6D9D7E9}"/>
              </a:ext>
            </a:extLst>
          </p:cNvPr>
          <p:cNvSpPr/>
          <p:nvPr/>
        </p:nvSpPr>
        <p:spPr>
          <a:xfrm>
            <a:off x="955342" y="2954020"/>
            <a:ext cx="7584660" cy="181479"/>
          </a:xfrm>
          <a:prstGeom prst="rect">
            <a:avLst/>
          </a:prstGeom>
          <a:noFill/>
          <a:ln/>
        </p:spPr>
        <p:txBody>
          <a:bodyPr wrap="square" lIns="0" tIns="0" rIns="0" bIns="0" rtlCol="0" anchor="t"/>
          <a:lstStyle/>
          <a:p>
            <a:pPr>
              <a:lnSpc>
                <a:spcPct val="118000"/>
              </a:lnSpc>
            </a:pPr>
            <a:r>
              <a:rPr lang="en-US" sz="950" err="1">
                <a:solidFill>
                  <a:srgbClr val="00B050"/>
                </a:solidFill>
                <a:latin typeface="Consolas" pitchFamily="34" charset="0"/>
                <a:ea typeface="Consolas" pitchFamily="34" charset="-122"/>
                <a:cs typeface="Consolas" pitchFamily="34" charset="-120"/>
              </a:rPr>
              <a:t>claude</a:t>
            </a:r>
            <a:r>
              <a:rPr lang="en-US" sz="950">
                <a:solidFill>
                  <a:srgbClr val="00B050"/>
                </a:solidFill>
                <a:latin typeface="Consolas" pitchFamily="34" charset="0"/>
                <a:ea typeface="Consolas" pitchFamily="34" charset="-122"/>
                <a:cs typeface="Consolas" pitchFamily="34" charset="-120"/>
              </a:rPr>
              <a:t> "Review this data model critically. What assumptions </a:t>
            </a:r>
            <a:r>
              <a:rPr lang="en-US" sz="950" err="1">
                <a:solidFill>
                  <a:srgbClr val="00B050"/>
                </a:solidFill>
                <a:latin typeface="Consolas" pitchFamily="34" charset="0"/>
                <a:ea typeface="Consolas" pitchFamily="34" charset="-122"/>
                <a:cs typeface="Consolas" pitchFamily="34" charset="-120"/>
              </a:rPr>
              <a:t>didyou</a:t>
            </a:r>
            <a:r>
              <a:rPr lang="en-US" sz="950">
                <a:solidFill>
                  <a:srgbClr val="00B050"/>
                </a:solidFill>
                <a:latin typeface="Consolas" pitchFamily="34" charset="0"/>
                <a:ea typeface="Consolas" pitchFamily="34" charset="-122"/>
                <a:cs typeface="Consolas" pitchFamily="34" charset="-120"/>
              </a:rPr>
              <a:t> make? What breaks at scale? What is missing?"</a:t>
            </a:r>
            <a:endParaRPr lang="en-US" sz="950">
              <a:solidFill>
                <a:srgbClr val="00B050"/>
              </a:solidFill>
            </a:endParaRPr>
          </a:p>
        </p:txBody>
      </p:sp>
      <p:sp>
        <p:nvSpPr>
          <p:cNvPr id="84" name="Text 3">
            <a:extLst>
              <a:ext uri="{FF2B5EF4-FFF2-40B4-BE49-F238E27FC236}">
                <a16:creationId xmlns:a16="http://schemas.microsoft.com/office/drawing/2014/main" id="{74A99190-D966-3879-2D35-794CC29587C3}"/>
              </a:ext>
            </a:extLst>
          </p:cNvPr>
          <p:cNvSpPr/>
          <p:nvPr/>
        </p:nvSpPr>
        <p:spPr>
          <a:xfrm>
            <a:off x="7607808" y="201168"/>
            <a:ext cx="1188720" cy="292608"/>
          </a:xfrm>
          <a:prstGeom prst="rect">
            <a:avLst/>
          </a:prstGeom>
          <a:solidFill>
            <a:schemeClr val="accent2"/>
          </a:solidFill>
          <a:ln>
            <a:noFill/>
          </a:ln>
        </p:spPr>
        <p:txBody>
          <a:bodyPr wrap="square" lIns="0" tIns="0" rIns="0" bIns="0" rtlCol="0" anchor="ctr"/>
          <a:lstStyle/>
          <a:p>
            <a:pPr marL="0" indent="0" algn="ctr">
              <a:buNone/>
            </a:pPr>
            <a:r>
              <a:rPr lang="en-US" sz="850" b="1" kern="0" spc="100">
                <a:solidFill>
                  <a:schemeClr val="bg1"/>
                </a:solidFill>
                <a:latin typeface="Open Sans" pitchFamily="2" charset="0"/>
                <a:ea typeface="Open Sans" pitchFamily="2" charset="0"/>
                <a:cs typeface="Open Sans" pitchFamily="2" charset="0"/>
              </a:rPr>
              <a:t>HANDS-ON LAB</a:t>
            </a:r>
            <a:endParaRPr lang="en-US" sz="850">
              <a:solidFill>
                <a:schemeClr val="bg1"/>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4787965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EA2CB6F1-774C-D365-5CBA-188A344FCE42}"/>
              </a:ext>
            </a:extLst>
          </p:cNvPr>
          <p:cNvSpPr/>
          <p:nvPr/>
        </p:nvSpPr>
        <p:spPr>
          <a:xfrm>
            <a:off x="457200" y="1417320"/>
            <a:ext cx="8229600" cy="640080"/>
          </a:xfrm>
          <a:prstGeom prst="rect">
            <a:avLst/>
          </a:prstGeom>
          <a:noFill/>
          <a:ln/>
        </p:spPr>
        <p:txBody>
          <a:bodyPr wrap="square" lIns="0" tIns="0" rIns="0" bIns="0" rtlCol="0" anchor="ctr"/>
          <a:lstStyle/>
          <a:p>
            <a:pPr marL="0" indent="0" algn="ctr">
              <a:buNone/>
            </a:pPr>
            <a:r>
              <a:rPr lang="en-US" sz="3200" b="1">
                <a:solidFill>
                  <a:schemeClr val="tx2"/>
                </a:solidFill>
                <a:latin typeface="Open Sans" pitchFamily="2" charset="0"/>
                <a:ea typeface="Open Sans" pitchFamily="2" charset="0"/>
                <a:cs typeface="Open Sans" pitchFamily="2" charset="0"/>
              </a:rPr>
              <a:t>You reviewed the code.</a:t>
            </a:r>
            <a:endParaRPr lang="en-US" sz="3200">
              <a:solidFill>
                <a:schemeClr val="tx2"/>
              </a:solidFill>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3EF84848-461D-B9DF-7C53-663A1FC4A9DD}"/>
              </a:ext>
            </a:extLst>
          </p:cNvPr>
          <p:cNvSpPr/>
          <p:nvPr/>
        </p:nvSpPr>
        <p:spPr>
          <a:xfrm>
            <a:off x="457200" y="2132324"/>
            <a:ext cx="8229600" cy="640080"/>
          </a:xfrm>
          <a:prstGeom prst="rect">
            <a:avLst/>
          </a:prstGeom>
          <a:noFill/>
          <a:ln/>
        </p:spPr>
        <p:txBody>
          <a:bodyPr wrap="square" lIns="0" tIns="0" rIns="0" bIns="0" rtlCol="0" anchor="ctr"/>
          <a:lstStyle/>
          <a:p>
            <a:pPr marL="0" indent="0" algn="ctr">
              <a:buNone/>
            </a:pPr>
            <a:r>
              <a:rPr lang="en-US" sz="3200" b="1">
                <a:solidFill>
                  <a:schemeClr val="tx2"/>
                </a:solidFill>
                <a:latin typeface="Open Sans" pitchFamily="2" charset="0"/>
                <a:ea typeface="Open Sans" pitchFamily="2" charset="0"/>
                <a:cs typeface="Open Sans" pitchFamily="2" charset="0"/>
              </a:rPr>
              <a:t>You reviewed the data model.</a:t>
            </a:r>
            <a:endParaRPr lang="en-US" sz="3200">
              <a:solidFill>
                <a:schemeClr val="tx2"/>
              </a:solidFill>
              <a:latin typeface="Open Sans" pitchFamily="2" charset="0"/>
              <a:ea typeface="Open Sans" pitchFamily="2" charset="0"/>
              <a:cs typeface="Open Sans" pitchFamily="2" charset="0"/>
            </a:endParaRPr>
          </a:p>
        </p:txBody>
      </p:sp>
      <p:sp>
        <p:nvSpPr>
          <p:cNvPr id="5" name="Text 2">
            <a:extLst>
              <a:ext uri="{FF2B5EF4-FFF2-40B4-BE49-F238E27FC236}">
                <a16:creationId xmlns:a16="http://schemas.microsoft.com/office/drawing/2014/main" id="{2ACBFFE4-79E5-19C1-BB28-A0A7655D5C17}"/>
              </a:ext>
            </a:extLst>
          </p:cNvPr>
          <p:cNvSpPr/>
          <p:nvPr/>
        </p:nvSpPr>
        <p:spPr>
          <a:xfrm>
            <a:off x="914400" y="2847327"/>
            <a:ext cx="7315200" cy="502920"/>
          </a:xfrm>
          <a:prstGeom prst="rect">
            <a:avLst/>
          </a:prstGeom>
          <a:noFill/>
          <a:ln/>
        </p:spPr>
        <p:txBody>
          <a:bodyPr wrap="square" lIns="0" tIns="0" rIns="0" bIns="0" rtlCol="0" anchor="ctr"/>
          <a:lstStyle/>
          <a:p>
            <a:pPr marL="0" indent="0" algn="ctr">
              <a:lnSpc>
                <a:spcPct val="120000"/>
              </a:lnSpc>
              <a:buNone/>
            </a:pPr>
            <a:r>
              <a:rPr lang="en-US" b="1">
                <a:solidFill>
                  <a:schemeClr val="accent2"/>
                </a:solidFill>
                <a:latin typeface="Open Sans" pitchFamily="2" charset="0"/>
                <a:ea typeface="Open Sans" pitchFamily="2" charset="0"/>
                <a:cs typeface="Open Sans" pitchFamily="2" charset="0"/>
              </a:rPr>
              <a:t>You haven't reviewed what you typed into the prompt.</a:t>
            </a:r>
            <a:endParaRPr lang="en-US">
              <a:solidFill>
                <a:schemeClr val="accent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1446422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a:extLst>
              <a:ext uri="{FF2B5EF4-FFF2-40B4-BE49-F238E27FC236}">
                <a16:creationId xmlns:a16="http://schemas.microsoft.com/office/drawing/2014/main" id="{45EAA42D-A87F-FC34-BC91-0318812E5E40}"/>
              </a:ext>
            </a:extLst>
          </p:cNvPr>
          <p:cNvSpPr txBox="1">
            <a:spLocks/>
          </p:cNvSpPr>
          <p:nvPr/>
        </p:nvSpPr>
        <p:spPr>
          <a:xfrm>
            <a:off x="362360" y="1910031"/>
            <a:ext cx="1436943" cy="1323439"/>
          </a:xfrm>
          <a:prstGeom prst="rect">
            <a:avLst/>
          </a:prstGeom>
        </p:spPr>
        <p:txBody>
          <a:bodyPr anchor="b">
            <a:spAutoFit/>
          </a:bodyPr>
          <a:lstStyle>
            <a:lvl1pPr marL="0" indent="0" algn="l" defTabSz="685800" rtl="0" eaLnBrk="1" latinLnBrk="0" hangingPunct="1">
              <a:lnSpc>
                <a:spcPct val="100000"/>
              </a:lnSpc>
              <a:spcBef>
                <a:spcPts val="750"/>
              </a:spcBef>
              <a:buFont typeface="Arial" panose="020B0604020202020204" pitchFamily="34" charset="0"/>
              <a:buNone/>
              <a:defRPr sz="8250" b="1" i="0" kern="1200">
                <a:solidFill>
                  <a:schemeClr val="bg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8000">
                <a:latin typeface="Open Sans" panose="020B0606030504020204" pitchFamily="34" charset="0"/>
                <a:ea typeface="Open Sans" panose="020B0606030504020204" pitchFamily="34" charset="0"/>
                <a:cs typeface="Open Sans" panose="020B0606030504020204" pitchFamily="34" charset="0"/>
              </a:rPr>
              <a:t>03</a:t>
            </a:r>
          </a:p>
        </p:txBody>
      </p:sp>
      <p:sp>
        <p:nvSpPr>
          <p:cNvPr id="7" name="Title 2">
            <a:extLst>
              <a:ext uri="{FF2B5EF4-FFF2-40B4-BE49-F238E27FC236}">
                <a16:creationId xmlns:a16="http://schemas.microsoft.com/office/drawing/2014/main" id="{216A47A5-0A93-4544-8670-81E668AB75F3}"/>
              </a:ext>
            </a:extLst>
          </p:cNvPr>
          <p:cNvSpPr txBox="1">
            <a:spLocks/>
          </p:cNvSpPr>
          <p:nvPr/>
        </p:nvSpPr>
        <p:spPr>
          <a:xfrm>
            <a:off x="1799302" y="1879252"/>
            <a:ext cx="7221115" cy="1477328"/>
          </a:xfrm>
          <a:prstGeom prst="rect">
            <a:avLst/>
          </a:prstGeom>
        </p:spPr>
        <p:txBody>
          <a:bodyPr wrap="square" anchor="b">
            <a:spAutoFit/>
          </a:bodyPr>
          <a:lstStyle>
            <a:lvl1pPr algn="l" defTabSz="685800" rtl="0" eaLnBrk="1" latinLnBrk="0" hangingPunct="1">
              <a:lnSpc>
                <a:spcPct val="100000"/>
              </a:lnSpc>
              <a:spcBef>
                <a:spcPct val="0"/>
              </a:spcBef>
              <a:buNone/>
              <a:defRPr lang="en-IN" sz="3150" b="1" i="0" kern="1200">
                <a:solidFill>
                  <a:schemeClr val="tx1"/>
                </a:solidFill>
                <a:latin typeface="+mn-lt"/>
                <a:ea typeface="Open Sans" panose="020B0606030504020204" pitchFamily="34" charset="0"/>
                <a:cs typeface="Open Sans" panose="020B0606030504020204" pitchFamily="34" charset="0"/>
              </a:defRPr>
            </a:lvl1pPr>
          </a:lstStyle>
          <a:p>
            <a:r>
              <a:rPr lang="en-US" sz="4500">
                <a:latin typeface="Arial" pitchFamily="34" charset="0"/>
                <a:ea typeface="Arial" pitchFamily="34" charset="-122"/>
                <a:cs typeface="Arial" pitchFamily="34" charset="-120"/>
              </a:rPr>
              <a:t>RISKS &amp; RESPONSIBLE</a:t>
            </a:r>
          </a:p>
          <a:p>
            <a:r>
              <a:rPr lang="en-US" sz="4500">
                <a:latin typeface="Arial" pitchFamily="34" charset="0"/>
                <a:ea typeface="Arial" pitchFamily="34" charset="-122"/>
                <a:cs typeface="Arial" pitchFamily="34" charset="-120"/>
              </a:rPr>
              <a:t>AI CODING</a:t>
            </a:r>
            <a:endParaRPr lang="en-US" sz="4500"/>
          </a:p>
        </p:txBody>
      </p:sp>
    </p:spTree>
    <p:extLst>
      <p:ext uri="{BB962C8B-B14F-4D97-AF65-F5344CB8AC3E}">
        <p14:creationId xmlns:p14="http://schemas.microsoft.com/office/powerpoint/2010/main" val="8703823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0">
            <a:extLst>
              <a:ext uri="{FF2B5EF4-FFF2-40B4-BE49-F238E27FC236}">
                <a16:creationId xmlns:a16="http://schemas.microsoft.com/office/drawing/2014/main" id="{55C366A2-8842-941D-10CC-F1D1C408AECD}"/>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Data Privacy</a:t>
            </a:r>
            <a:endParaRPr lang="en-US" sz="2800">
              <a:latin typeface="Open Sans" pitchFamily="2" charset="0"/>
              <a:ea typeface="Open Sans" pitchFamily="2" charset="0"/>
              <a:cs typeface="Open Sans" pitchFamily="2" charset="0"/>
            </a:endParaRPr>
          </a:p>
        </p:txBody>
      </p:sp>
      <p:sp>
        <p:nvSpPr>
          <p:cNvPr id="10" name="Text 1">
            <a:extLst>
              <a:ext uri="{FF2B5EF4-FFF2-40B4-BE49-F238E27FC236}">
                <a16:creationId xmlns:a16="http://schemas.microsoft.com/office/drawing/2014/main" id="{64115B44-2874-3AA4-07AC-F43A1E45B2B0}"/>
              </a:ext>
            </a:extLst>
          </p:cNvPr>
          <p:cNvSpPr/>
          <p:nvPr/>
        </p:nvSpPr>
        <p:spPr>
          <a:xfrm>
            <a:off x="402679" y="676656"/>
            <a:ext cx="8595360" cy="420624"/>
          </a:xfrm>
          <a:prstGeom prst="rect">
            <a:avLst/>
          </a:prstGeom>
          <a:noFill/>
          <a:ln/>
        </p:spPr>
        <p:txBody>
          <a:bodyPr wrap="square" lIns="0" tIns="0" rIns="0" bIns="0" rtlCol="0" anchor="t"/>
          <a:lstStyle/>
          <a:p>
            <a:pPr marL="0" indent="0">
              <a:buNone/>
            </a:pPr>
            <a:r>
              <a:rPr lang="en-US" sz="1300">
                <a:solidFill>
                  <a:schemeClr val="tx2"/>
                </a:solidFill>
                <a:latin typeface="Open Sans" pitchFamily="2" charset="0"/>
                <a:ea typeface="Open Sans" pitchFamily="2" charset="0"/>
                <a:cs typeface="Open Sans" pitchFamily="2" charset="0"/>
              </a:rPr>
              <a:t>Every prompt you send to Claude Code is a data decision. Most people do not know they are making one.</a:t>
            </a:r>
          </a:p>
        </p:txBody>
      </p:sp>
      <p:sp>
        <p:nvSpPr>
          <p:cNvPr id="11" name="Shape 2">
            <a:extLst>
              <a:ext uri="{FF2B5EF4-FFF2-40B4-BE49-F238E27FC236}">
                <a16:creationId xmlns:a16="http://schemas.microsoft.com/office/drawing/2014/main" id="{C4B2CCA7-1A80-8552-5FB6-9A9BFF3E4FF7}"/>
              </a:ext>
            </a:extLst>
          </p:cNvPr>
          <p:cNvSpPr/>
          <p:nvPr/>
        </p:nvSpPr>
        <p:spPr>
          <a:xfrm>
            <a:off x="292608" y="1060027"/>
            <a:ext cx="4133088" cy="2990088"/>
          </a:xfrm>
          <a:prstGeom prst="roundRect">
            <a:avLst>
              <a:gd name="adj" fmla="val 1905"/>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Text 3">
            <a:extLst>
              <a:ext uri="{FF2B5EF4-FFF2-40B4-BE49-F238E27FC236}">
                <a16:creationId xmlns:a16="http://schemas.microsoft.com/office/drawing/2014/main" id="{A5F804C6-1DE9-1BEC-596E-4A96EA2ADEBA}"/>
              </a:ext>
            </a:extLst>
          </p:cNvPr>
          <p:cNvSpPr/>
          <p:nvPr/>
        </p:nvSpPr>
        <p:spPr>
          <a:xfrm>
            <a:off x="493776" y="1224619"/>
            <a:ext cx="3730752" cy="320040"/>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WHAT GETS SENT</a:t>
            </a:r>
            <a:endParaRPr lang="en-US" sz="1400">
              <a:solidFill>
                <a:schemeClr val="accent2"/>
              </a:solidFill>
              <a:latin typeface="Open Sans" pitchFamily="2" charset="0"/>
              <a:ea typeface="Open Sans" pitchFamily="2" charset="0"/>
              <a:cs typeface="Open Sans" pitchFamily="2" charset="0"/>
            </a:endParaRPr>
          </a:p>
        </p:txBody>
      </p:sp>
      <p:sp>
        <p:nvSpPr>
          <p:cNvPr id="13" name="Text 4">
            <a:extLst>
              <a:ext uri="{FF2B5EF4-FFF2-40B4-BE49-F238E27FC236}">
                <a16:creationId xmlns:a16="http://schemas.microsoft.com/office/drawing/2014/main" id="{F788C0EC-0697-55AC-9683-20762770D36F}"/>
              </a:ext>
            </a:extLst>
          </p:cNvPr>
          <p:cNvSpPr/>
          <p:nvPr/>
        </p:nvSpPr>
        <p:spPr>
          <a:xfrm>
            <a:off x="493776" y="1572091"/>
            <a:ext cx="3730752" cy="2478024"/>
          </a:xfrm>
          <a:prstGeom prst="rect">
            <a:avLst/>
          </a:prstGeom>
          <a:noFill/>
          <a:ln/>
        </p:spPr>
        <p:txBody>
          <a:bodyPr wrap="square" lIns="0" tIns="0" rIns="0" bIns="0" rtlCol="0" anchor="t"/>
          <a:lstStyle/>
          <a:p>
            <a:pPr marL="0" indent="0">
              <a:lnSpc>
                <a:spcPct val="116000"/>
              </a:lnSpc>
              <a:buNone/>
            </a:pPr>
            <a:r>
              <a:rPr lang="en-US" sz="1150">
                <a:solidFill>
                  <a:schemeClr val="tx2"/>
                </a:solidFill>
                <a:latin typeface="Open Sans" pitchFamily="2" charset="0"/>
                <a:ea typeface="Open Sans" pitchFamily="2" charset="0"/>
                <a:cs typeface="Open Sans" pitchFamily="2" charset="0"/>
              </a:rPr>
              <a:t>When you paste code, logs, error messages, or file contents into Claude Code, that content leaves your machine. This is not a flaw, it is how the tool works. The risk is in what you paste.</a:t>
            </a:r>
          </a:p>
          <a:p>
            <a:pPr marL="0" indent="0">
              <a:lnSpc>
                <a:spcPct val="116000"/>
              </a:lnSpc>
              <a:buNone/>
            </a:pPr>
            <a:endParaRPr lang="en-US" sz="1150">
              <a:latin typeface="Open Sans" pitchFamily="2" charset="0"/>
              <a:ea typeface="Open Sans" pitchFamily="2" charset="0"/>
              <a:cs typeface="Open Sans" pitchFamily="2" charset="0"/>
            </a:endParaRPr>
          </a:p>
          <a:p>
            <a:pPr marL="0" indent="0">
              <a:lnSpc>
                <a:spcPct val="116000"/>
              </a:lnSpc>
              <a:buNone/>
            </a:pPr>
            <a:r>
              <a:rPr lang="en-US" sz="1150" b="1">
                <a:solidFill>
                  <a:schemeClr val="accent3"/>
                </a:solidFill>
                <a:latin typeface="Open Sans" pitchFamily="2" charset="0"/>
                <a:ea typeface="Open Sans" pitchFamily="2" charset="0"/>
                <a:cs typeface="Open Sans" pitchFamily="2" charset="0"/>
              </a:rPr>
              <a:t>Never paste:</a:t>
            </a:r>
          </a:p>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Real customer data, names, emails, financial or health records</a:t>
            </a:r>
          </a:p>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Production credentials or connection strings</a:t>
            </a:r>
          </a:p>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Personally identifiable information of any kind</a:t>
            </a:r>
          </a:p>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Data covered by your classification policy</a:t>
            </a:r>
          </a:p>
        </p:txBody>
      </p:sp>
      <p:sp>
        <p:nvSpPr>
          <p:cNvPr id="14" name="Shape 5">
            <a:extLst>
              <a:ext uri="{FF2B5EF4-FFF2-40B4-BE49-F238E27FC236}">
                <a16:creationId xmlns:a16="http://schemas.microsoft.com/office/drawing/2014/main" id="{B18FDC9F-0B7C-85F8-635C-C81FB17D9C8F}"/>
              </a:ext>
            </a:extLst>
          </p:cNvPr>
          <p:cNvSpPr/>
          <p:nvPr/>
        </p:nvSpPr>
        <p:spPr>
          <a:xfrm>
            <a:off x="4718304" y="1060027"/>
            <a:ext cx="4133088" cy="2990088"/>
          </a:xfrm>
          <a:prstGeom prst="roundRect">
            <a:avLst>
              <a:gd name="adj" fmla="val 1905"/>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Text 6">
            <a:extLst>
              <a:ext uri="{FF2B5EF4-FFF2-40B4-BE49-F238E27FC236}">
                <a16:creationId xmlns:a16="http://schemas.microsoft.com/office/drawing/2014/main" id="{58B75281-9962-DF07-C479-46A1D4A068B6}"/>
              </a:ext>
            </a:extLst>
          </p:cNvPr>
          <p:cNvSpPr/>
          <p:nvPr/>
        </p:nvSpPr>
        <p:spPr>
          <a:xfrm>
            <a:off x="4919472" y="1224619"/>
            <a:ext cx="3730752" cy="320040"/>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WHAT YOUR ORGANISATION NEEDS</a:t>
            </a:r>
            <a:endParaRPr lang="en-US" sz="1400">
              <a:solidFill>
                <a:schemeClr val="accent2"/>
              </a:solidFill>
              <a:latin typeface="Open Sans" pitchFamily="2" charset="0"/>
              <a:ea typeface="Open Sans" pitchFamily="2" charset="0"/>
              <a:cs typeface="Open Sans" pitchFamily="2" charset="0"/>
            </a:endParaRPr>
          </a:p>
        </p:txBody>
      </p:sp>
      <p:sp>
        <p:nvSpPr>
          <p:cNvPr id="16" name="Text 7">
            <a:extLst>
              <a:ext uri="{FF2B5EF4-FFF2-40B4-BE49-F238E27FC236}">
                <a16:creationId xmlns:a16="http://schemas.microsoft.com/office/drawing/2014/main" id="{B01AB5C5-FD5C-5B8C-CED5-67A8FE8DEA48}"/>
              </a:ext>
            </a:extLst>
          </p:cNvPr>
          <p:cNvSpPr/>
          <p:nvPr/>
        </p:nvSpPr>
        <p:spPr>
          <a:xfrm>
            <a:off x="4919472" y="1572091"/>
            <a:ext cx="3730752" cy="2478024"/>
          </a:xfrm>
          <a:prstGeom prst="rect">
            <a:avLst/>
          </a:prstGeom>
          <a:noFill/>
          <a:ln/>
        </p:spPr>
        <p:txBody>
          <a:bodyPr wrap="square" lIns="0" tIns="0" rIns="0" bIns="0" rtlCol="0" anchor="t"/>
          <a:lstStyle/>
          <a:p>
            <a:pPr marL="0" indent="0">
              <a:lnSpc>
                <a:spcPct val="116000"/>
              </a:lnSpc>
              <a:buNone/>
            </a:pPr>
            <a:r>
              <a:rPr lang="en-US" sz="1150">
                <a:solidFill>
                  <a:schemeClr val="tx2"/>
                </a:solidFill>
                <a:latin typeface="Open Sans" pitchFamily="2" charset="0"/>
                <a:ea typeface="Open Sans" pitchFamily="2" charset="0"/>
                <a:cs typeface="Open Sans" pitchFamily="2" charset="0"/>
              </a:rPr>
              <a:t>A data handling policy for AI coding tools should specify:</a:t>
            </a:r>
          </a:p>
          <a:p>
            <a:pPr marL="0" indent="0">
              <a:lnSpc>
                <a:spcPct val="116000"/>
              </a:lnSpc>
              <a:buNone/>
            </a:pPr>
            <a:endParaRPr lang="en-US" sz="1150">
              <a:solidFill>
                <a:schemeClr val="tx2"/>
              </a:solidFill>
              <a:latin typeface="Open Sans" pitchFamily="2" charset="0"/>
              <a:ea typeface="Open Sans" pitchFamily="2" charset="0"/>
              <a:cs typeface="Open Sans" pitchFamily="2" charset="0"/>
            </a:endParaRPr>
          </a:p>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What data classifications are permitted in prompts</a:t>
            </a:r>
          </a:p>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Whether production data may be used for testing or demos</a:t>
            </a:r>
          </a:p>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Whether Claude Code is approved for regulated workloads</a:t>
            </a:r>
          </a:p>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Who is responsible for reviewing AI-generated code that touches sensitive data</a:t>
            </a:r>
          </a:p>
        </p:txBody>
      </p:sp>
      <p:sp>
        <p:nvSpPr>
          <p:cNvPr id="17" name="Shape 8">
            <a:extLst>
              <a:ext uri="{FF2B5EF4-FFF2-40B4-BE49-F238E27FC236}">
                <a16:creationId xmlns:a16="http://schemas.microsoft.com/office/drawing/2014/main" id="{CD6D2E56-2D97-4E64-9CA0-047633107836}"/>
              </a:ext>
            </a:extLst>
          </p:cNvPr>
          <p:cNvSpPr/>
          <p:nvPr/>
        </p:nvSpPr>
        <p:spPr>
          <a:xfrm>
            <a:off x="292608" y="4215384"/>
            <a:ext cx="8558784" cy="384048"/>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9">
            <a:extLst>
              <a:ext uri="{FF2B5EF4-FFF2-40B4-BE49-F238E27FC236}">
                <a16:creationId xmlns:a16="http://schemas.microsoft.com/office/drawing/2014/main" id="{90EE4F8A-4AA2-E47A-902D-3A7BC2424EC6}"/>
              </a:ext>
            </a:extLst>
          </p:cNvPr>
          <p:cNvSpPr/>
          <p:nvPr/>
        </p:nvSpPr>
        <p:spPr>
          <a:xfrm>
            <a:off x="493776" y="4215384"/>
            <a:ext cx="8156448" cy="384048"/>
          </a:xfrm>
          <a:prstGeom prst="rect">
            <a:avLst/>
          </a:prstGeom>
          <a:noFill/>
          <a:ln/>
        </p:spPr>
        <p:txBody>
          <a:bodyPr wrap="square" lIns="0" tIns="0" rIns="0" bIns="0" rtlCol="0" anchor="ctr"/>
          <a:lstStyle/>
          <a:p>
            <a:pPr marL="0" indent="0" algn="ctr">
              <a:buNone/>
            </a:pPr>
            <a:r>
              <a:rPr lang="en-US" sz="1150" i="1">
                <a:solidFill>
                  <a:schemeClr val="tx2"/>
                </a:solidFill>
                <a:latin typeface="Open Sans" pitchFamily="2" charset="0"/>
                <a:ea typeface="Open Sans" pitchFamily="2" charset="0"/>
                <a:cs typeface="Open Sans" pitchFamily="2" charset="0"/>
              </a:rPr>
              <a:t>The prompt that saves 30 minutes of debugging may </a:t>
            </a:r>
            <a:r>
              <a:rPr lang="en-US" sz="1200" i="1">
                <a:solidFill>
                  <a:schemeClr val="tx2"/>
                </a:solidFill>
                <a:latin typeface="Open Sans" pitchFamily="2" charset="0"/>
                <a:ea typeface="Open Sans" pitchFamily="2" charset="0"/>
                <a:cs typeface="Open Sans" pitchFamily="2" charset="0"/>
              </a:rPr>
              <a:t>contain</a:t>
            </a:r>
            <a:r>
              <a:rPr lang="en-US" sz="1150" i="1">
                <a:solidFill>
                  <a:schemeClr val="tx2"/>
                </a:solidFill>
                <a:latin typeface="Open Sans" pitchFamily="2" charset="0"/>
                <a:ea typeface="Open Sans" pitchFamily="2" charset="0"/>
                <a:cs typeface="Open Sans" pitchFamily="2" charset="0"/>
              </a:rPr>
              <a:t> something that should never have left your network.</a:t>
            </a:r>
            <a:endParaRPr lang="en-US" sz="1150">
              <a:solidFill>
                <a:schemeClr val="tx2"/>
              </a:solidFill>
              <a:latin typeface="Open Sans" pitchFamily="2" charset="0"/>
              <a:ea typeface="Open Sans" pitchFamily="2" charset="0"/>
              <a:cs typeface="Open Sans" pitchFamily="2" charset="0"/>
            </a:endParaRPr>
          </a:p>
        </p:txBody>
      </p:sp>
      <p:sp>
        <p:nvSpPr>
          <p:cNvPr id="21" name="TextBox 20">
            <a:extLst>
              <a:ext uri="{FF2B5EF4-FFF2-40B4-BE49-F238E27FC236}">
                <a16:creationId xmlns:a16="http://schemas.microsoft.com/office/drawing/2014/main" id="{93B9A41C-862C-1E4D-B429-22B3033C65FF}"/>
              </a:ext>
            </a:extLst>
          </p:cNvPr>
          <p:cNvSpPr txBox="1"/>
          <p:nvPr/>
        </p:nvSpPr>
        <p:spPr bwMode="auto">
          <a:xfrm>
            <a:off x="4140200" y="-364067"/>
            <a:ext cx="184731" cy="369332"/>
          </a:xfrm>
          <a:prstGeom prst="rect">
            <a:avLst/>
          </a:prstGeom>
        </p:spPr>
        <p:txBody>
          <a:bodyPr wrap="none" rtlCol="0">
            <a:spAutoFit/>
          </a:bodyPr>
          <a:lstStyle/>
          <a:p>
            <a:pPr algn="l"/>
            <a:endParaRPr lang="en-US"/>
          </a:p>
        </p:txBody>
      </p:sp>
    </p:spTree>
    <p:extLst>
      <p:ext uri="{BB962C8B-B14F-4D97-AF65-F5344CB8AC3E}">
        <p14:creationId xmlns:p14="http://schemas.microsoft.com/office/powerpoint/2010/main" val="32577748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EED5116-14B6-E733-6A99-715F09594F2B}"/>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Security Vulnerabilities</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46605568-719B-BF2D-643C-1B841B5CEA65}"/>
              </a:ext>
            </a:extLst>
          </p:cNvPr>
          <p:cNvSpPr/>
          <p:nvPr/>
        </p:nvSpPr>
        <p:spPr>
          <a:xfrm>
            <a:off x="394212" y="676656"/>
            <a:ext cx="8595360" cy="274329"/>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AI-generated code introduces security gaps in predictable patterns.</a:t>
            </a:r>
          </a:p>
        </p:txBody>
      </p:sp>
      <p:sp>
        <p:nvSpPr>
          <p:cNvPr id="5" name="Shape 2">
            <a:extLst>
              <a:ext uri="{FF2B5EF4-FFF2-40B4-BE49-F238E27FC236}">
                <a16:creationId xmlns:a16="http://schemas.microsoft.com/office/drawing/2014/main" id="{2648130E-3BEF-ADC2-EBD2-41D0D3E61B93}"/>
              </a:ext>
            </a:extLst>
          </p:cNvPr>
          <p:cNvSpPr/>
          <p:nvPr/>
        </p:nvSpPr>
        <p:spPr>
          <a:xfrm>
            <a:off x="292608" y="1033272"/>
            <a:ext cx="4133088" cy="1662543"/>
          </a:xfrm>
          <a:prstGeom prst="roundRect">
            <a:avLst>
              <a:gd name="adj" fmla="val 23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D5DDCD28-0F12-7AC0-1287-51BA34F55FA0}"/>
              </a:ext>
            </a:extLst>
          </p:cNvPr>
          <p:cNvSpPr/>
          <p:nvPr/>
        </p:nvSpPr>
        <p:spPr>
          <a:xfrm>
            <a:off x="493776" y="1033270"/>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INJECTION</a:t>
            </a:r>
            <a:endParaRPr lang="en-US" sz="14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DC27E7FC-0DA8-D5A1-4B2C-A6173FBDCE0E}"/>
              </a:ext>
            </a:extLst>
          </p:cNvPr>
          <p:cNvSpPr/>
          <p:nvPr/>
        </p:nvSpPr>
        <p:spPr>
          <a:xfrm>
            <a:off x="493776" y="1369940"/>
            <a:ext cx="3730752" cy="1243590"/>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100">
                <a:latin typeface="Open Sans" pitchFamily="2" charset="0"/>
                <a:ea typeface="Open Sans" pitchFamily="2" charset="0"/>
                <a:cs typeface="Open Sans" pitchFamily="2" charset="0"/>
              </a:rPr>
              <a:t>Queries built from user input without </a:t>
            </a:r>
            <a:r>
              <a:rPr lang="en-US" sz="1100" err="1">
                <a:latin typeface="Open Sans" pitchFamily="2" charset="0"/>
                <a:ea typeface="Open Sans" pitchFamily="2" charset="0"/>
                <a:cs typeface="Open Sans" pitchFamily="2" charset="0"/>
              </a:rPr>
              <a:t>sanitising</a:t>
            </a:r>
            <a:endParaRPr lang="en-US" sz="1100">
              <a:latin typeface="Open Sans" pitchFamily="2" charset="0"/>
              <a:ea typeface="Open Sans" pitchFamily="2" charset="0"/>
              <a:cs typeface="Open Sans" pitchFamily="2" charset="0"/>
            </a:endParaRPr>
          </a:p>
          <a:p>
            <a:pPr marL="171450" indent="-171450">
              <a:lnSpc>
                <a:spcPct val="116000"/>
              </a:lnSpc>
              <a:buFont typeface="Arial" panose="020B0604020202020204" pitchFamily="34" charset="0"/>
              <a:buChar char="•"/>
            </a:pPr>
            <a:r>
              <a:rPr lang="en-US" sz="1100">
                <a:latin typeface="Open Sans" pitchFamily="2" charset="0"/>
                <a:ea typeface="Open Sans" pitchFamily="2" charset="0"/>
                <a:cs typeface="Open Sans" pitchFamily="2" charset="0"/>
              </a:rPr>
              <a:t>A malicious input can read, modify, or delete data it should not touch</a:t>
            </a:r>
          </a:p>
          <a:p>
            <a:pPr>
              <a:lnSpc>
                <a:spcPct val="116000"/>
              </a:lnSpc>
            </a:pPr>
            <a:endParaRPr lang="en-US" sz="1100">
              <a:solidFill>
                <a:srgbClr val="424242"/>
              </a:solidFill>
              <a:latin typeface="Open Sans" pitchFamily="2" charset="0"/>
              <a:ea typeface="Open Sans" pitchFamily="2" charset="0"/>
              <a:cs typeface="Open Sans" pitchFamily="2" charset="0"/>
            </a:endParaRPr>
          </a:p>
          <a:p>
            <a:pPr>
              <a:lnSpc>
                <a:spcPct val="116000"/>
              </a:lnSpc>
            </a:pPr>
            <a:r>
              <a:rPr lang="en-US" sz="1000" b="1" i="1">
                <a:latin typeface="Open Sans" pitchFamily="2" charset="0"/>
                <a:ea typeface="Open Sans" pitchFamily="2" charset="0"/>
                <a:cs typeface="Open Sans" pitchFamily="2" charset="0"/>
              </a:rPr>
              <a:t>Check:  </a:t>
            </a:r>
            <a:r>
              <a:rPr lang="en-US" sz="1000" i="1">
                <a:solidFill>
                  <a:schemeClr val="tx2"/>
                </a:solidFill>
                <a:latin typeface="Open Sans" pitchFamily="2" charset="0"/>
                <a:ea typeface="Open Sans" pitchFamily="2" charset="0"/>
                <a:cs typeface="Open Sans" pitchFamily="2" charset="0"/>
              </a:rPr>
              <a:t>Does the PoC use any user input directly in a database query or command?</a:t>
            </a:r>
            <a:endParaRPr lang="en-US" sz="1000">
              <a:solidFill>
                <a:schemeClr val="tx2"/>
              </a:solidFill>
              <a:latin typeface="Open Sans" pitchFamily="2" charset="0"/>
              <a:ea typeface="Open Sans" pitchFamily="2" charset="0"/>
              <a:cs typeface="Open Sans" pitchFamily="2" charset="0"/>
            </a:endParaRPr>
          </a:p>
        </p:txBody>
      </p:sp>
      <p:sp>
        <p:nvSpPr>
          <p:cNvPr id="8" name="Shape 6">
            <a:extLst>
              <a:ext uri="{FF2B5EF4-FFF2-40B4-BE49-F238E27FC236}">
                <a16:creationId xmlns:a16="http://schemas.microsoft.com/office/drawing/2014/main" id="{93847BEA-99E0-6E24-3893-80C6B7CE21B5}"/>
              </a:ext>
            </a:extLst>
          </p:cNvPr>
          <p:cNvSpPr/>
          <p:nvPr/>
        </p:nvSpPr>
        <p:spPr>
          <a:xfrm>
            <a:off x="4718304" y="1033272"/>
            <a:ext cx="4133088" cy="1662543"/>
          </a:xfrm>
          <a:prstGeom prst="roundRect">
            <a:avLst>
              <a:gd name="adj" fmla="val 23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7">
            <a:extLst>
              <a:ext uri="{FF2B5EF4-FFF2-40B4-BE49-F238E27FC236}">
                <a16:creationId xmlns:a16="http://schemas.microsoft.com/office/drawing/2014/main" id="{6712E84C-E022-E2D7-2100-2714343623B7}"/>
              </a:ext>
            </a:extLst>
          </p:cNvPr>
          <p:cNvSpPr/>
          <p:nvPr/>
        </p:nvSpPr>
        <p:spPr>
          <a:xfrm>
            <a:off x="4919472" y="1033270"/>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BROKEN AUTHENTICATION</a:t>
            </a:r>
            <a:endParaRPr lang="en-US" sz="1400">
              <a:solidFill>
                <a:schemeClr val="accent2"/>
              </a:solidFill>
              <a:latin typeface="Open Sans" pitchFamily="2" charset="0"/>
              <a:ea typeface="Open Sans" pitchFamily="2" charset="0"/>
              <a:cs typeface="Open Sans" pitchFamily="2" charset="0"/>
            </a:endParaRPr>
          </a:p>
        </p:txBody>
      </p:sp>
      <p:sp>
        <p:nvSpPr>
          <p:cNvPr id="10" name="Text 8">
            <a:extLst>
              <a:ext uri="{FF2B5EF4-FFF2-40B4-BE49-F238E27FC236}">
                <a16:creationId xmlns:a16="http://schemas.microsoft.com/office/drawing/2014/main" id="{0FD2CB78-A954-D045-AC7A-4908CA3DFC20}"/>
              </a:ext>
            </a:extLst>
          </p:cNvPr>
          <p:cNvSpPr/>
          <p:nvPr/>
        </p:nvSpPr>
        <p:spPr>
          <a:xfrm>
            <a:off x="4919472" y="1369940"/>
            <a:ext cx="3730752" cy="868680"/>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100">
                <a:latin typeface="Open Sans" pitchFamily="2" charset="0"/>
                <a:ea typeface="Open Sans" pitchFamily="2" charset="0"/>
                <a:cs typeface="Open Sans" pitchFamily="2" charset="0"/>
              </a:rPr>
              <a:t>Hardcoded credentials, no session expiry, no rate limiting</a:t>
            </a:r>
          </a:p>
          <a:p>
            <a:pPr marL="171450" indent="-171450">
              <a:lnSpc>
                <a:spcPct val="116000"/>
              </a:lnSpc>
              <a:buFont typeface="Arial" panose="020B0604020202020204" pitchFamily="34" charset="0"/>
              <a:buChar char="•"/>
            </a:pPr>
            <a:r>
              <a:rPr lang="en-US" sz="1100">
                <a:latin typeface="Open Sans" pitchFamily="2" charset="0"/>
                <a:ea typeface="Open Sans" pitchFamily="2" charset="0"/>
                <a:cs typeface="Open Sans" pitchFamily="2" charset="0"/>
              </a:rPr>
              <a:t>Built for the demo, not for attack resistance</a:t>
            </a:r>
          </a:p>
          <a:p>
            <a:pPr marL="171450" indent="-171450">
              <a:lnSpc>
                <a:spcPct val="116000"/>
              </a:lnSpc>
              <a:buFont typeface="Wingdings" pitchFamily="2" charset="2"/>
              <a:buChar char="Ø"/>
            </a:pPr>
            <a:endParaRPr lang="en-US" sz="1100">
              <a:solidFill>
                <a:srgbClr val="424242"/>
              </a:solidFill>
              <a:latin typeface="Open Sans" pitchFamily="2" charset="0"/>
              <a:ea typeface="Open Sans" pitchFamily="2" charset="0"/>
              <a:cs typeface="Open Sans" pitchFamily="2" charset="0"/>
            </a:endParaRPr>
          </a:p>
          <a:p>
            <a:pPr>
              <a:lnSpc>
                <a:spcPct val="116000"/>
              </a:lnSpc>
            </a:pPr>
            <a:r>
              <a:rPr lang="en-US" sz="1000" b="1" i="1">
                <a:latin typeface="Open Sans" pitchFamily="2" charset="0"/>
                <a:ea typeface="Open Sans" pitchFamily="2" charset="0"/>
                <a:cs typeface="Open Sans" pitchFamily="2" charset="0"/>
              </a:rPr>
              <a:t>Check:  </a:t>
            </a:r>
            <a:r>
              <a:rPr lang="en-US" sz="1000" i="1">
                <a:solidFill>
                  <a:schemeClr val="tx2"/>
                </a:solidFill>
                <a:latin typeface="Open Sans" pitchFamily="2" charset="0"/>
                <a:ea typeface="Open Sans" pitchFamily="2" charset="0"/>
                <a:cs typeface="Open Sans" pitchFamily="2" charset="0"/>
              </a:rPr>
              <a:t>If the PoC has any login, ask Claude to review it specifically for authentication weaknesses.</a:t>
            </a:r>
            <a:endParaRPr lang="en-US" sz="1000">
              <a:solidFill>
                <a:schemeClr val="tx2"/>
              </a:solidFill>
              <a:latin typeface="Open Sans" pitchFamily="2" charset="0"/>
              <a:ea typeface="Open Sans" pitchFamily="2" charset="0"/>
              <a:cs typeface="Open Sans" pitchFamily="2" charset="0"/>
            </a:endParaRPr>
          </a:p>
        </p:txBody>
      </p:sp>
      <p:sp>
        <p:nvSpPr>
          <p:cNvPr id="11" name="Shape 2">
            <a:extLst>
              <a:ext uri="{FF2B5EF4-FFF2-40B4-BE49-F238E27FC236}">
                <a16:creationId xmlns:a16="http://schemas.microsoft.com/office/drawing/2014/main" id="{4DC56D8E-7C21-99FD-7F4C-08DDDA8C8B90}"/>
              </a:ext>
            </a:extLst>
          </p:cNvPr>
          <p:cNvSpPr/>
          <p:nvPr/>
        </p:nvSpPr>
        <p:spPr>
          <a:xfrm>
            <a:off x="292608" y="2862076"/>
            <a:ext cx="4133088" cy="1828796"/>
          </a:xfrm>
          <a:prstGeom prst="roundRect">
            <a:avLst>
              <a:gd name="adj" fmla="val 23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Text 3">
            <a:extLst>
              <a:ext uri="{FF2B5EF4-FFF2-40B4-BE49-F238E27FC236}">
                <a16:creationId xmlns:a16="http://schemas.microsoft.com/office/drawing/2014/main" id="{6CF42FA5-CDD5-2AE9-BA67-5B746579808B}"/>
              </a:ext>
            </a:extLst>
          </p:cNvPr>
          <p:cNvSpPr/>
          <p:nvPr/>
        </p:nvSpPr>
        <p:spPr>
          <a:xfrm>
            <a:off x="493776" y="2870387"/>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INSECURE DATA EXPOSURE</a:t>
            </a:r>
            <a:endParaRPr lang="en-US" sz="1400">
              <a:solidFill>
                <a:schemeClr val="accent2"/>
              </a:solidFill>
              <a:latin typeface="Open Sans" pitchFamily="2" charset="0"/>
              <a:ea typeface="Open Sans" pitchFamily="2" charset="0"/>
              <a:cs typeface="Open Sans" pitchFamily="2" charset="0"/>
            </a:endParaRPr>
          </a:p>
        </p:txBody>
      </p:sp>
      <p:sp>
        <p:nvSpPr>
          <p:cNvPr id="13" name="Text 4">
            <a:extLst>
              <a:ext uri="{FF2B5EF4-FFF2-40B4-BE49-F238E27FC236}">
                <a16:creationId xmlns:a16="http://schemas.microsoft.com/office/drawing/2014/main" id="{5560B818-4920-CA12-0311-BA3CDE3F405F}"/>
              </a:ext>
            </a:extLst>
          </p:cNvPr>
          <p:cNvSpPr/>
          <p:nvPr/>
        </p:nvSpPr>
        <p:spPr>
          <a:xfrm>
            <a:off x="493776" y="3207056"/>
            <a:ext cx="3730752" cy="887797"/>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100">
                <a:latin typeface="Open Sans" pitchFamily="2" charset="0"/>
                <a:ea typeface="Open Sans" pitchFamily="2" charset="0"/>
                <a:cs typeface="Open Sans" pitchFamily="2" charset="0"/>
              </a:rPr>
              <a:t>Sensitive data in API responses that should not be there</a:t>
            </a:r>
          </a:p>
          <a:p>
            <a:pPr marL="171450" indent="-171450">
              <a:lnSpc>
                <a:spcPct val="116000"/>
              </a:lnSpc>
              <a:buFont typeface="Arial" panose="020B0604020202020204" pitchFamily="34" charset="0"/>
              <a:buChar char="•"/>
            </a:pPr>
            <a:r>
              <a:rPr lang="en-US" sz="1100">
                <a:latin typeface="Open Sans" pitchFamily="2" charset="0"/>
                <a:ea typeface="Open Sans" pitchFamily="2" charset="0"/>
                <a:cs typeface="Open Sans" pitchFamily="2" charset="0"/>
              </a:rPr>
              <a:t>Error messages that reveal internal structure</a:t>
            </a:r>
          </a:p>
          <a:p>
            <a:pPr marL="171450" indent="-171450">
              <a:lnSpc>
                <a:spcPct val="116000"/>
              </a:lnSpc>
              <a:buFont typeface="Arial" panose="020B0604020202020204" pitchFamily="34" charset="0"/>
              <a:buChar char="•"/>
            </a:pPr>
            <a:r>
              <a:rPr lang="en-US" sz="1100">
                <a:latin typeface="Open Sans" pitchFamily="2" charset="0"/>
                <a:ea typeface="Open Sans" pitchFamily="2" charset="0"/>
                <a:cs typeface="Open Sans" pitchFamily="2" charset="0"/>
              </a:rPr>
              <a:t>Logs that capture more than intended</a:t>
            </a:r>
          </a:p>
          <a:p>
            <a:pPr marL="171450" indent="-171450">
              <a:lnSpc>
                <a:spcPct val="116000"/>
              </a:lnSpc>
              <a:buFont typeface="Wingdings" pitchFamily="2" charset="2"/>
              <a:buChar char="Ø"/>
            </a:pPr>
            <a:endParaRPr lang="en-US" sz="1100">
              <a:solidFill>
                <a:srgbClr val="424242"/>
              </a:solidFill>
              <a:latin typeface="Open Sans" pitchFamily="2" charset="0"/>
              <a:ea typeface="Open Sans" pitchFamily="2" charset="0"/>
              <a:cs typeface="Open Sans" pitchFamily="2" charset="0"/>
            </a:endParaRPr>
          </a:p>
          <a:p>
            <a:pPr>
              <a:lnSpc>
                <a:spcPct val="116000"/>
              </a:lnSpc>
            </a:pPr>
            <a:r>
              <a:rPr lang="en-US" sz="1000" b="1" i="1">
                <a:latin typeface="Open Sans" pitchFamily="2" charset="0"/>
                <a:ea typeface="Open Sans" pitchFamily="2" charset="0"/>
                <a:cs typeface="Open Sans" pitchFamily="2" charset="0"/>
              </a:rPr>
              <a:t>Check:  </a:t>
            </a:r>
            <a:r>
              <a:rPr lang="en-US" sz="1000" i="1">
                <a:solidFill>
                  <a:schemeClr val="tx2"/>
                </a:solidFill>
                <a:latin typeface="Open Sans" pitchFamily="2" charset="0"/>
                <a:ea typeface="Open Sans" pitchFamily="2" charset="0"/>
                <a:cs typeface="Open Sans" pitchFamily="2" charset="0"/>
              </a:rPr>
              <a:t>What does your PoC return when something goes wrong? Does the error reveal anything?</a:t>
            </a:r>
            <a:endParaRPr lang="en-US" sz="1000">
              <a:solidFill>
                <a:schemeClr val="tx2"/>
              </a:solidFill>
              <a:latin typeface="Open Sans" pitchFamily="2" charset="0"/>
              <a:ea typeface="Open Sans" pitchFamily="2" charset="0"/>
              <a:cs typeface="Open Sans" pitchFamily="2" charset="0"/>
            </a:endParaRPr>
          </a:p>
          <a:p>
            <a:pPr marL="171450" indent="-171450">
              <a:lnSpc>
                <a:spcPct val="116000"/>
              </a:lnSpc>
              <a:buFont typeface="Wingdings" pitchFamily="2" charset="2"/>
              <a:buChar char="Ø"/>
            </a:pPr>
            <a:endParaRPr lang="en-US" sz="1100">
              <a:latin typeface="Open Sans" pitchFamily="2" charset="0"/>
              <a:ea typeface="Open Sans" pitchFamily="2" charset="0"/>
              <a:cs typeface="Open Sans" pitchFamily="2" charset="0"/>
            </a:endParaRPr>
          </a:p>
        </p:txBody>
      </p:sp>
      <p:sp>
        <p:nvSpPr>
          <p:cNvPr id="14" name="Shape 6">
            <a:extLst>
              <a:ext uri="{FF2B5EF4-FFF2-40B4-BE49-F238E27FC236}">
                <a16:creationId xmlns:a16="http://schemas.microsoft.com/office/drawing/2014/main" id="{C9BF2A25-FF4B-5101-EFBA-A85DE50900B3}"/>
              </a:ext>
            </a:extLst>
          </p:cNvPr>
          <p:cNvSpPr/>
          <p:nvPr/>
        </p:nvSpPr>
        <p:spPr>
          <a:xfrm>
            <a:off x="4718304" y="2862076"/>
            <a:ext cx="4133088" cy="1828796"/>
          </a:xfrm>
          <a:prstGeom prst="roundRect">
            <a:avLst>
              <a:gd name="adj" fmla="val 23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Text 7">
            <a:extLst>
              <a:ext uri="{FF2B5EF4-FFF2-40B4-BE49-F238E27FC236}">
                <a16:creationId xmlns:a16="http://schemas.microsoft.com/office/drawing/2014/main" id="{046C37BB-F9CB-ED1B-632B-F6FB5DDE3D99}"/>
              </a:ext>
            </a:extLst>
          </p:cNvPr>
          <p:cNvSpPr/>
          <p:nvPr/>
        </p:nvSpPr>
        <p:spPr>
          <a:xfrm>
            <a:off x="4919472" y="2870387"/>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HARDCODED SECRETS</a:t>
            </a:r>
            <a:endParaRPr lang="en-US" sz="1400">
              <a:solidFill>
                <a:schemeClr val="accent2"/>
              </a:solidFill>
              <a:latin typeface="Open Sans" pitchFamily="2" charset="0"/>
              <a:ea typeface="Open Sans" pitchFamily="2" charset="0"/>
              <a:cs typeface="Open Sans" pitchFamily="2" charset="0"/>
            </a:endParaRPr>
          </a:p>
        </p:txBody>
      </p:sp>
      <p:sp>
        <p:nvSpPr>
          <p:cNvPr id="16" name="Text 8">
            <a:extLst>
              <a:ext uri="{FF2B5EF4-FFF2-40B4-BE49-F238E27FC236}">
                <a16:creationId xmlns:a16="http://schemas.microsoft.com/office/drawing/2014/main" id="{DCABE6C5-4F8F-8291-75BB-30E47FCEAECF}"/>
              </a:ext>
            </a:extLst>
          </p:cNvPr>
          <p:cNvSpPr/>
          <p:nvPr/>
        </p:nvSpPr>
        <p:spPr>
          <a:xfrm>
            <a:off x="4919472" y="3207057"/>
            <a:ext cx="3730752" cy="676656"/>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100">
                <a:latin typeface="Open Sans" pitchFamily="2" charset="0"/>
                <a:ea typeface="Open Sans" pitchFamily="2" charset="0"/>
                <a:cs typeface="Open Sans" pitchFamily="2" charset="0"/>
              </a:rPr>
              <a:t>API keys and passwords written directly into source code</a:t>
            </a:r>
          </a:p>
          <a:p>
            <a:pPr marL="171450" indent="-171450">
              <a:lnSpc>
                <a:spcPct val="116000"/>
              </a:lnSpc>
              <a:buFont typeface="Arial" panose="020B0604020202020204" pitchFamily="34" charset="0"/>
              <a:buChar char="•"/>
            </a:pPr>
            <a:r>
              <a:rPr lang="en-US" sz="1100">
                <a:latin typeface="Open Sans" pitchFamily="2" charset="0"/>
                <a:ea typeface="Open Sans" pitchFamily="2" charset="0"/>
                <a:cs typeface="Open Sans" pitchFamily="2" charset="0"/>
              </a:rPr>
              <a:t>A security incident waiting to happen in production</a:t>
            </a:r>
          </a:p>
          <a:p>
            <a:pPr marL="171450" indent="-171450">
              <a:lnSpc>
                <a:spcPct val="116000"/>
              </a:lnSpc>
              <a:buFont typeface="Wingdings" pitchFamily="2" charset="2"/>
              <a:buChar char="Ø"/>
            </a:pPr>
            <a:endParaRPr lang="en-US" sz="1100">
              <a:solidFill>
                <a:srgbClr val="424242"/>
              </a:solidFill>
              <a:latin typeface="Open Sans" pitchFamily="2" charset="0"/>
              <a:ea typeface="Open Sans" pitchFamily="2" charset="0"/>
              <a:cs typeface="Open Sans" pitchFamily="2" charset="0"/>
            </a:endParaRPr>
          </a:p>
          <a:p>
            <a:pPr>
              <a:lnSpc>
                <a:spcPct val="116000"/>
              </a:lnSpc>
            </a:pPr>
            <a:r>
              <a:rPr lang="en-US" sz="1000" b="1" i="1">
                <a:latin typeface="Open Sans" pitchFamily="2" charset="0"/>
                <a:ea typeface="Open Sans" pitchFamily="2" charset="0"/>
                <a:cs typeface="Open Sans" pitchFamily="2" charset="0"/>
              </a:rPr>
              <a:t>Check:  </a:t>
            </a:r>
            <a:r>
              <a:rPr lang="en-US" sz="1000" i="1">
                <a:solidFill>
                  <a:schemeClr val="tx2"/>
                </a:solidFill>
                <a:latin typeface="Open Sans" pitchFamily="2" charset="0"/>
                <a:ea typeface="Open Sans" pitchFamily="2" charset="0"/>
                <a:cs typeface="Open Sans" pitchFamily="2" charset="0"/>
              </a:rPr>
              <a:t>Search the codebase for any string that looks like a key, token, or password.</a:t>
            </a:r>
            <a:endParaRPr lang="en-US" sz="10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0635472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B8B102C-09BC-8F9B-ED3A-8DC8E2DA541D}"/>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Confident and Wrong at Scale</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7806AD36-6288-9513-871A-C78858EF5604}"/>
              </a:ext>
            </a:extLst>
          </p:cNvPr>
          <p:cNvSpPr/>
          <p:nvPr/>
        </p:nvSpPr>
        <p:spPr>
          <a:xfrm>
            <a:off x="394212" y="676656"/>
            <a:ext cx="859536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The risk that does not appear in code review, because the code looks right, runs, and passes the test.</a:t>
            </a:r>
          </a:p>
        </p:txBody>
      </p:sp>
      <p:sp>
        <p:nvSpPr>
          <p:cNvPr id="5" name="Shape 2">
            <a:extLst>
              <a:ext uri="{FF2B5EF4-FFF2-40B4-BE49-F238E27FC236}">
                <a16:creationId xmlns:a16="http://schemas.microsoft.com/office/drawing/2014/main" id="{88E9EBC9-4943-1C5C-4FFE-C4C2626D38AF}"/>
              </a:ext>
            </a:extLst>
          </p:cNvPr>
          <p:cNvSpPr/>
          <p:nvPr/>
        </p:nvSpPr>
        <p:spPr>
          <a:xfrm>
            <a:off x="292608" y="1207008"/>
            <a:ext cx="4133088" cy="2414016"/>
          </a:xfrm>
          <a:prstGeom prst="roundRect">
            <a:avLst>
              <a:gd name="adj" fmla="val 1905"/>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2074C5D4-C313-64A1-53CD-83C4AA8C4195}"/>
              </a:ext>
            </a:extLst>
          </p:cNvPr>
          <p:cNvSpPr/>
          <p:nvPr/>
        </p:nvSpPr>
        <p:spPr>
          <a:xfrm>
            <a:off x="493776" y="1371600"/>
            <a:ext cx="3730752" cy="320040"/>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AT PoC SCALE</a:t>
            </a:r>
            <a:endParaRPr lang="en-US" sz="14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CC5F3303-2A4D-6DD0-4AFF-C373DE365B8A}"/>
              </a:ext>
            </a:extLst>
          </p:cNvPr>
          <p:cNvSpPr/>
          <p:nvPr/>
        </p:nvSpPr>
        <p:spPr>
          <a:xfrm>
            <a:off x="493776" y="1719072"/>
            <a:ext cx="3730752" cy="1536192"/>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When Claude builds something wrong at PoC scale, you find it in the lab, in code review, or in debugging.</a:t>
            </a:r>
          </a:p>
          <a:p>
            <a:pPr marL="171450" indent="-171450">
              <a:lnSpc>
                <a:spcPct val="116000"/>
              </a:lnSpc>
              <a:buFont typeface="Arial" panose="020B0604020202020204" pitchFamily="34" charset="0"/>
              <a:buChar char="•"/>
            </a:pPr>
            <a:endParaRPr lang="en-US" sz="1150">
              <a:solidFill>
                <a:schemeClr val="tx2"/>
              </a:solidFill>
              <a:latin typeface="Open Sans" pitchFamily="2" charset="0"/>
              <a:ea typeface="Open Sans" pitchFamily="2" charset="0"/>
              <a:cs typeface="Open Sans" pitchFamily="2" charset="0"/>
            </a:endParaRPr>
          </a:p>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The damage is contained: one user, one dataset, one session.</a:t>
            </a:r>
          </a:p>
        </p:txBody>
      </p:sp>
      <p:sp>
        <p:nvSpPr>
          <p:cNvPr id="8" name="Shape 5">
            <a:extLst>
              <a:ext uri="{FF2B5EF4-FFF2-40B4-BE49-F238E27FC236}">
                <a16:creationId xmlns:a16="http://schemas.microsoft.com/office/drawing/2014/main" id="{5624840D-4B8E-3849-12DA-FAF2E01C07A6}"/>
              </a:ext>
            </a:extLst>
          </p:cNvPr>
          <p:cNvSpPr/>
          <p:nvPr/>
        </p:nvSpPr>
        <p:spPr>
          <a:xfrm>
            <a:off x="4718304" y="1207008"/>
            <a:ext cx="4133088" cy="2414016"/>
          </a:xfrm>
          <a:prstGeom prst="roundRect">
            <a:avLst>
              <a:gd name="adj" fmla="val 1905"/>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14EAE734-C723-4983-7ADA-A87B467913A0}"/>
              </a:ext>
            </a:extLst>
          </p:cNvPr>
          <p:cNvSpPr/>
          <p:nvPr/>
        </p:nvSpPr>
        <p:spPr>
          <a:xfrm>
            <a:off x="4919472" y="1371600"/>
            <a:ext cx="3730752" cy="320040"/>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AT PRODUCTION SCALE</a:t>
            </a:r>
            <a:endParaRPr lang="en-US" sz="1400">
              <a:solidFill>
                <a:schemeClr val="accent2"/>
              </a:solidFill>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448C18EC-208F-44BE-00B5-231AC667A84F}"/>
              </a:ext>
            </a:extLst>
          </p:cNvPr>
          <p:cNvSpPr/>
          <p:nvPr/>
        </p:nvSpPr>
        <p:spPr>
          <a:xfrm>
            <a:off x="4919472" y="1719072"/>
            <a:ext cx="3730752" cy="1536192"/>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A hallucinated library function fails for every user on every call</a:t>
            </a:r>
          </a:p>
          <a:p>
            <a:pPr marL="171450" indent="-171450">
              <a:lnSpc>
                <a:spcPct val="116000"/>
              </a:lnSpc>
              <a:buFont typeface="Arial" panose="020B0604020202020204" pitchFamily="34" charset="0"/>
              <a:buChar char="•"/>
            </a:pPr>
            <a:endParaRPr lang="en-US" sz="1150">
              <a:solidFill>
                <a:schemeClr val="tx2"/>
              </a:solidFill>
              <a:latin typeface="Open Sans" pitchFamily="2" charset="0"/>
              <a:ea typeface="Open Sans" pitchFamily="2" charset="0"/>
              <a:cs typeface="Open Sans" pitchFamily="2" charset="0"/>
            </a:endParaRPr>
          </a:p>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A subtly broken auth check passes 99% of inputs, and fails for exactly the 1% an attacker would send</a:t>
            </a:r>
          </a:p>
          <a:p>
            <a:pPr marL="171450" indent="-171450">
              <a:lnSpc>
                <a:spcPct val="116000"/>
              </a:lnSpc>
              <a:buFont typeface="Arial" panose="020B0604020202020204" pitchFamily="34" charset="0"/>
              <a:buChar char="•"/>
            </a:pPr>
            <a:endParaRPr lang="en-US" sz="1150">
              <a:solidFill>
                <a:schemeClr val="tx2"/>
              </a:solidFill>
              <a:latin typeface="Open Sans" pitchFamily="2" charset="0"/>
              <a:ea typeface="Open Sans" pitchFamily="2" charset="0"/>
              <a:cs typeface="Open Sans" pitchFamily="2" charset="0"/>
            </a:endParaRPr>
          </a:p>
          <a:p>
            <a:pPr marL="171450" indent="-171450">
              <a:lnSpc>
                <a:spcPct val="116000"/>
              </a:lnSpc>
              <a:buFont typeface="Arial" panose="020B0604020202020204" pitchFamily="34" charset="0"/>
              <a:buChar char="•"/>
            </a:pPr>
            <a:r>
              <a:rPr lang="en-US" sz="1150">
                <a:solidFill>
                  <a:schemeClr val="tx2"/>
                </a:solidFill>
                <a:latin typeface="Open Sans" pitchFamily="2" charset="0"/>
                <a:ea typeface="Open Sans" pitchFamily="2" charset="0"/>
                <a:cs typeface="Open Sans" pitchFamily="2" charset="0"/>
              </a:rPr>
              <a:t>An invented API endpoint works in testing and fails silently at 3am when the real API behaves differently</a:t>
            </a:r>
          </a:p>
        </p:txBody>
      </p:sp>
      <p:sp>
        <p:nvSpPr>
          <p:cNvPr id="11" name="Shape 8">
            <a:extLst>
              <a:ext uri="{FF2B5EF4-FFF2-40B4-BE49-F238E27FC236}">
                <a16:creationId xmlns:a16="http://schemas.microsoft.com/office/drawing/2014/main" id="{061CCBE9-A9C8-1008-E603-8D3DE21934D0}"/>
              </a:ext>
            </a:extLst>
          </p:cNvPr>
          <p:cNvSpPr/>
          <p:nvPr/>
        </p:nvSpPr>
        <p:spPr>
          <a:xfrm>
            <a:off x="292608" y="4040461"/>
            <a:ext cx="8558784" cy="463804"/>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1A477A88-6680-44FE-22FF-DEE38F07AA15}"/>
              </a:ext>
            </a:extLst>
          </p:cNvPr>
          <p:cNvSpPr/>
          <p:nvPr/>
        </p:nvSpPr>
        <p:spPr>
          <a:xfrm>
            <a:off x="292608" y="4082796"/>
            <a:ext cx="8558784"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The difference is scale and consequence. The habit that catches it, review before you ship, test before you trust, is the same in both cases. Let’s see how governance can mitigate the risk.</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9671999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5C4F579-AA11-E146-3811-2DE38DA7DA6E}"/>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Governance for AI Engineers</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4CB6F957-8F0A-815F-C3D8-376B4980501A}"/>
              </a:ext>
            </a:extLst>
          </p:cNvPr>
          <p:cNvSpPr/>
          <p:nvPr/>
        </p:nvSpPr>
        <p:spPr>
          <a:xfrm>
            <a:off x="394212" y="676656"/>
            <a:ext cx="859536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What a responsible AI coding policy covers.</a:t>
            </a:r>
          </a:p>
        </p:txBody>
      </p:sp>
      <p:sp>
        <p:nvSpPr>
          <p:cNvPr id="5" name="Shape 2">
            <a:extLst>
              <a:ext uri="{FF2B5EF4-FFF2-40B4-BE49-F238E27FC236}">
                <a16:creationId xmlns:a16="http://schemas.microsoft.com/office/drawing/2014/main" id="{C70745E8-6A98-3B95-1B5F-97B9032C6271}"/>
              </a:ext>
            </a:extLst>
          </p:cNvPr>
          <p:cNvSpPr/>
          <p:nvPr/>
        </p:nvSpPr>
        <p:spPr>
          <a:xfrm>
            <a:off x="292608" y="1012503"/>
            <a:ext cx="4133088" cy="1401513"/>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DB4C9CCD-F4CB-11B4-EC98-94238644C43E}"/>
              </a:ext>
            </a:extLst>
          </p:cNvPr>
          <p:cNvSpPr/>
          <p:nvPr/>
        </p:nvSpPr>
        <p:spPr>
          <a:xfrm>
            <a:off x="493776" y="1092659"/>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TOOL APPROVAL</a:t>
            </a:r>
            <a:endParaRPr lang="en-US" sz="14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0359E624-96CC-1DCB-62CC-3CE87FC3AE07}"/>
              </a:ext>
            </a:extLst>
          </p:cNvPr>
          <p:cNvSpPr/>
          <p:nvPr/>
        </p:nvSpPr>
        <p:spPr>
          <a:xfrm>
            <a:off x="493776" y="1418514"/>
            <a:ext cx="3730752" cy="679981"/>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Only approved tools with reviewed data handling and vendor terms</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Unapproved tools create liability even when the code works</a:t>
            </a:r>
          </a:p>
        </p:txBody>
      </p:sp>
      <p:sp>
        <p:nvSpPr>
          <p:cNvPr id="8" name="Shape 5">
            <a:extLst>
              <a:ext uri="{FF2B5EF4-FFF2-40B4-BE49-F238E27FC236}">
                <a16:creationId xmlns:a16="http://schemas.microsoft.com/office/drawing/2014/main" id="{60CDCB1D-9E0E-2B44-BD1A-B10ECC61214F}"/>
              </a:ext>
            </a:extLst>
          </p:cNvPr>
          <p:cNvSpPr/>
          <p:nvPr/>
        </p:nvSpPr>
        <p:spPr>
          <a:xfrm>
            <a:off x="4718304" y="1012503"/>
            <a:ext cx="4133088" cy="1401513"/>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372B4D4F-3B7D-F00C-F53F-289AD2E5CCC8}"/>
              </a:ext>
            </a:extLst>
          </p:cNvPr>
          <p:cNvSpPr/>
          <p:nvPr/>
        </p:nvSpPr>
        <p:spPr>
          <a:xfrm>
            <a:off x="4919472" y="1092659"/>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DATA HANDLING</a:t>
            </a:r>
            <a:endParaRPr lang="en-US" sz="1400">
              <a:solidFill>
                <a:schemeClr val="accent2"/>
              </a:solidFill>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3075534D-A8B8-B24A-30AE-6A5E8F57B4B6}"/>
              </a:ext>
            </a:extLst>
          </p:cNvPr>
          <p:cNvSpPr/>
          <p:nvPr/>
        </p:nvSpPr>
        <p:spPr>
          <a:xfrm>
            <a:off x="4919472" y="1418514"/>
            <a:ext cx="3931920" cy="679981"/>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Define what data classifications can go into prompts</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What must stay on-network</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No production data in development without explicit policy</a:t>
            </a:r>
          </a:p>
        </p:txBody>
      </p:sp>
      <p:sp>
        <p:nvSpPr>
          <p:cNvPr id="11" name="Shape 2">
            <a:extLst>
              <a:ext uri="{FF2B5EF4-FFF2-40B4-BE49-F238E27FC236}">
                <a16:creationId xmlns:a16="http://schemas.microsoft.com/office/drawing/2014/main" id="{5B38C73E-4DC7-5031-F4A2-C865B06C0B20}"/>
              </a:ext>
            </a:extLst>
          </p:cNvPr>
          <p:cNvSpPr/>
          <p:nvPr/>
        </p:nvSpPr>
        <p:spPr>
          <a:xfrm>
            <a:off x="292608" y="2576944"/>
            <a:ext cx="4133088" cy="1620152"/>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Text 3">
            <a:extLst>
              <a:ext uri="{FF2B5EF4-FFF2-40B4-BE49-F238E27FC236}">
                <a16:creationId xmlns:a16="http://schemas.microsoft.com/office/drawing/2014/main" id="{E5E070F2-EA40-BC2A-CE27-02F3BF7CF0E3}"/>
              </a:ext>
            </a:extLst>
          </p:cNvPr>
          <p:cNvSpPr/>
          <p:nvPr/>
        </p:nvSpPr>
        <p:spPr>
          <a:xfrm>
            <a:off x="493776" y="2714672"/>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REVIEW REQUIREMENTS</a:t>
            </a:r>
            <a:endParaRPr lang="en-US" sz="1400">
              <a:solidFill>
                <a:schemeClr val="accent2"/>
              </a:solidFill>
              <a:latin typeface="Open Sans" pitchFamily="2" charset="0"/>
              <a:ea typeface="Open Sans" pitchFamily="2" charset="0"/>
              <a:cs typeface="Open Sans" pitchFamily="2" charset="0"/>
            </a:endParaRPr>
          </a:p>
        </p:txBody>
      </p:sp>
      <p:sp>
        <p:nvSpPr>
          <p:cNvPr id="13" name="Text 4">
            <a:extLst>
              <a:ext uri="{FF2B5EF4-FFF2-40B4-BE49-F238E27FC236}">
                <a16:creationId xmlns:a16="http://schemas.microsoft.com/office/drawing/2014/main" id="{145029D4-4BC2-5111-3A00-1835A4DD0C3A}"/>
              </a:ext>
            </a:extLst>
          </p:cNvPr>
          <p:cNvSpPr/>
          <p:nvPr/>
        </p:nvSpPr>
        <p:spPr>
          <a:xfrm>
            <a:off x="493776" y="3040527"/>
            <a:ext cx="3730752" cy="879487"/>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Every AI-generated change needs a named human reviewer</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The review standard does not drop because Claude wrote it — it may need to be higher</a:t>
            </a:r>
          </a:p>
        </p:txBody>
      </p:sp>
      <p:sp>
        <p:nvSpPr>
          <p:cNvPr id="14" name="Shape 5">
            <a:extLst>
              <a:ext uri="{FF2B5EF4-FFF2-40B4-BE49-F238E27FC236}">
                <a16:creationId xmlns:a16="http://schemas.microsoft.com/office/drawing/2014/main" id="{7DC3A9EF-923C-B111-E8D5-B07764CD447C}"/>
              </a:ext>
            </a:extLst>
          </p:cNvPr>
          <p:cNvSpPr/>
          <p:nvPr/>
        </p:nvSpPr>
        <p:spPr>
          <a:xfrm>
            <a:off x="4718304" y="2576944"/>
            <a:ext cx="4133088" cy="1620152"/>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Text 6">
            <a:extLst>
              <a:ext uri="{FF2B5EF4-FFF2-40B4-BE49-F238E27FC236}">
                <a16:creationId xmlns:a16="http://schemas.microsoft.com/office/drawing/2014/main" id="{D8E1E067-7BC2-6859-681C-FF3BF10712B0}"/>
              </a:ext>
            </a:extLst>
          </p:cNvPr>
          <p:cNvSpPr/>
          <p:nvPr/>
        </p:nvSpPr>
        <p:spPr>
          <a:xfrm>
            <a:off x="4919472" y="2714672"/>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IP AND ATTRIBUTION</a:t>
            </a:r>
            <a:endParaRPr lang="en-US" sz="1400">
              <a:solidFill>
                <a:schemeClr val="accent2"/>
              </a:solidFill>
              <a:latin typeface="Open Sans" pitchFamily="2" charset="0"/>
              <a:ea typeface="Open Sans" pitchFamily="2" charset="0"/>
              <a:cs typeface="Open Sans" pitchFamily="2" charset="0"/>
            </a:endParaRPr>
          </a:p>
        </p:txBody>
      </p:sp>
      <p:sp>
        <p:nvSpPr>
          <p:cNvPr id="16" name="Text 7">
            <a:extLst>
              <a:ext uri="{FF2B5EF4-FFF2-40B4-BE49-F238E27FC236}">
                <a16:creationId xmlns:a16="http://schemas.microsoft.com/office/drawing/2014/main" id="{BC8ED702-02AF-298C-9E39-A4AE88A6700D}"/>
              </a:ext>
            </a:extLst>
          </p:cNvPr>
          <p:cNvSpPr/>
          <p:nvPr/>
        </p:nvSpPr>
        <p:spPr>
          <a:xfrm>
            <a:off x="4919472" y="3040527"/>
            <a:ext cx="3730752" cy="879487"/>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AI-generated code may have IP implications depending on tool terms</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Know your </a:t>
            </a:r>
            <a:r>
              <a:rPr lang="en-US" sz="1200" err="1">
                <a:solidFill>
                  <a:schemeClr val="tx2"/>
                </a:solidFill>
                <a:latin typeface="Open Sans" pitchFamily="2" charset="0"/>
                <a:ea typeface="Open Sans" pitchFamily="2" charset="0"/>
                <a:cs typeface="Open Sans" pitchFamily="2" charset="0"/>
              </a:rPr>
              <a:t>organisation's</a:t>
            </a:r>
            <a:r>
              <a:rPr lang="en-US" sz="1200">
                <a:solidFill>
                  <a:schemeClr val="tx2"/>
                </a:solidFill>
                <a:latin typeface="Open Sans" pitchFamily="2" charset="0"/>
                <a:ea typeface="Open Sans" pitchFamily="2" charset="0"/>
                <a:cs typeface="Open Sans" pitchFamily="2" charset="0"/>
              </a:rPr>
              <a:t> position before code reaches production or clients ask</a:t>
            </a:r>
          </a:p>
        </p:txBody>
      </p:sp>
      <p:sp>
        <p:nvSpPr>
          <p:cNvPr id="17" name="Shape 8">
            <a:extLst>
              <a:ext uri="{FF2B5EF4-FFF2-40B4-BE49-F238E27FC236}">
                <a16:creationId xmlns:a16="http://schemas.microsoft.com/office/drawing/2014/main" id="{D19EDAE2-62A3-03D1-039F-53ED32B629F1}"/>
              </a:ext>
            </a:extLst>
          </p:cNvPr>
          <p:cNvSpPr/>
          <p:nvPr/>
        </p:nvSpPr>
        <p:spPr>
          <a:xfrm>
            <a:off x="292608" y="4379668"/>
            <a:ext cx="8558784" cy="420624"/>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9">
            <a:extLst>
              <a:ext uri="{FF2B5EF4-FFF2-40B4-BE49-F238E27FC236}">
                <a16:creationId xmlns:a16="http://schemas.microsoft.com/office/drawing/2014/main" id="{DBE77A76-D591-4D95-B2FE-147538E522FE}"/>
              </a:ext>
            </a:extLst>
          </p:cNvPr>
          <p:cNvSpPr/>
          <p:nvPr/>
        </p:nvSpPr>
        <p:spPr>
          <a:xfrm>
            <a:off x="493776" y="4396602"/>
            <a:ext cx="8156448"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The goal of AI coding governance is not to restrict access. It is to make sure that when something goes wrong, there is a clear answer to “who checked this?”</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1048880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hape 8">
            <a:extLst>
              <a:ext uri="{FF2B5EF4-FFF2-40B4-BE49-F238E27FC236}">
                <a16:creationId xmlns:a16="http://schemas.microsoft.com/office/drawing/2014/main" id="{5EF90ED7-E2F8-4FD3-6CE4-8543CBECC471}"/>
              </a:ext>
            </a:extLst>
          </p:cNvPr>
          <p:cNvSpPr/>
          <p:nvPr/>
        </p:nvSpPr>
        <p:spPr>
          <a:xfrm>
            <a:off x="292608" y="3646793"/>
            <a:ext cx="8558784" cy="384048"/>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3" name="Text 0">
            <a:extLst>
              <a:ext uri="{FF2B5EF4-FFF2-40B4-BE49-F238E27FC236}">
                <a16:creationId xmlns:a16="http://schemas.microsoft.com/office/drawing/2014/main" id="{6AF0134E-3167-FD87-BCAB-BB4296C50E2A}"/>
              </a:ext>
            </a:extLst>
          </p:cNvPr>
          <p:cNvSpPr/>
          <p:nvPr/>
        </p:nvSpPr>
        <p:spPr>
          <a:xfrm>
            <a:off x="394212" y="201168"/>
            <a:ext cx="7315200" cy="502920"/>
          </a:xfrm>
          <a:prstGeom prst="rect">
            <a:avLst/>
          </a:prstGeom>
          <a:noFill/>
          <a:ln/>
        </p:spPr>
        <p:txBody>
          <a:bodyPr wrap="square" lIns="0" tIns="0" rIns="0" bIns="0" rtlCol="0" anchor="ctr"/>
          <a:lstStyle/>
          <a:p>
            <a:r>
              <a:rPr lang="en-US" sz="2800" b="1">
                <a:latin typeface="Open Sans" pitchFamily="2" charset="0"/>
                <a:ea typeface="Open Sans" pitchFamily="2" charset="0"/>
                <a:cs typeface="Open Sans" pitchFamily="2" charset="0"/>
              </a:rPr>
              <a:t>Reviewing AI-Assisted Pull Requests</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B774411B-BE5A-4DC8-B5B6-778F9BE947BF}"/>
              </a:ext>
            </a:extLst>
          </p:cNvPr>
          <p:cNvSpPr/>
          <p:nvPr/>
        </p:nvSpPr>
        <p:spPr>
          <a:xfrm>
            <a:off x="394212" y="676656"/>
            <a:ext cx="859536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The same judgment you just practiced on your own PoC, now pointed at someone else's.</a:t>
            </a:r>
          </a:p>
        </p:txBody>
      </p:sp>
      <p:sp>
        <p:nvSpPr>
          <p:cNvPr id="5" name="Shape 2">
            <a:extLst>
              <a:ext uri="{FF2B5EF4-FFF2-40B4-BE49-F238E27FC236}">
                <a16:creationId xmlns:a16="http://schemas.microsoft.com/office/drawing/2014/main" id="{785A9EBD-1F89-01A1-5DEF-BC8F7C489849}"/>
              </a:ext>
            </a:extLst>
          </p:cNvPr>
          <p:cNvSpPr/>
          <p:nvPr/>
        </p:nvSpPr>
        <p:spPr>
          <a:xfrm>
            <a:off x="292608" y="1371600"/>
            <a:ext cx="2697480" cy="1635113"/>
          </a:xfrm>
          <a:prstGeom prst="roundRect">
            <a:avLst>
              <a:gd name="adj" fmla="val 324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598E3D0C-F05F-DC92-2EDD-727E70DE42BA}"/>
              </a:ext>
            </a:extLst>
          </p:cNvPr>
          <p:cNvSpPr/>
          <p:nvPr/>
        </p:nvSpPr>
        <p:spPr>
          <a:xfrm>
            <a:off x="475488" y="1536192"/>
            <a:ext cx="2331720" cy="502920"/>
          </a:xfrm>
          <a:prstGeom prst="rect">
            <a:avLst/>
          </a:prstGeom>
          <a:noFill/>
          <a:ln/>
        </p:spPr>
        <p:txBody>
          <a:bodyPr wrap="square" lIns="0" tIns="0" rIns="0" bIns="0" rtlCol="0" anchor="t"/>
          <a:lstStyle/>
          <a:p>
            <a:pPr marL="0" indent="0">
              <a:buNone/>
            </a:pPr>
            <a:r>
              <a:rPr lang="en-US" sz="1400" b="1">
                <a:solidFill>
                  <a:schemeClr val="accent2"/>
                </a:solidFill>
                <a:latin typeface="Open Sans" pitchFamily="2" charset="0"/>
                <a:ea typeface="Open Sans" pitchFamily="2" charset="0"/>
                <a:cs typeface="Open Sans" pitchFamily="2" charset="0"/>
              </a:rPr>
              <a:t>WHAT GOOD LOOKS LIKE</a:t>
            </a:r>
            <a:endParaRPr lang="en-US" sz="14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BF822A55-DA80-C5C4-41DD-5E9134D31E86}"/>
              </a:ext>
            </a:extLst>
          </p:cNvPr>
          <p:cNvSpPr/>
          <p:nvPr/>
        </p:nvSpPr>
        <p:spPr>
          <a:xfrm>
            <a:off x="475488" y="2119745"/>
            <a:ext cx="2331720" cy="886968"/>
          </a:xfrm>
          <a:prstGeom prst="rect">
            <a:avLst/>
          </a:prstGeom>
          <a:noFill/>
          <a:ln/>
        </p:spPr>
        <p:txBody>
          <a:bodyPr wrap="square" lIns="0" tIns="0" rIns="0" bIns="0" rtlCol="0" anchor="t"/>
          <a:lstStyle/>
          <a:p>
            <a:pPr marL="0" indent="0">
              <a:lnSpc>
                <a:spcPct val="108000"/>
              </a:lnSpc>
              <a:buNone/>
            </a:pPr>
            <a:r>
              <a:rPr lang="en-US" sz="1200">
                <a:solidFill>
                  <a:schemeClr val="tx2"/>
                </a:solidFill>
                <a:latin typeface="Open Sans" pitchFamily="2" charset="0"/>
                <a:ea typeface="Open Sans" pitchFamily="2" charset="0"/>
                <a:cs typeface="Open Sans" pitchFamily="2" charset="0"/>
              </a:rPr>
              <a:t>A PR description that explains what changed and why, not just which files moved.</a:t>
            </a:r>
          </a:p>
        </p:txBody>
      </p:sp>
      <p:sp>
        <p:nvSpPr>
          <p:cNvPr id="8" name="Shape 5">
            <a:extLst>
              <a:ext uri="{FF2B5EF4-FFF2-40B4-BE49-F238E27FC236}">
                <a16:creationId xmlns:a16="http://schemas.microsoft.com/office/drawing/2014/main" id="{E6EBC694-AD0B-2AAC-80BC-039AD0652339}"/>
              </a:ext>
            </a:extLst>
          </p:cNvPr>
          <p:cNvSpPr/>
          <p:nvPr/>
        </p:nvSpPr>
        <p:spPr>
          <a:xfrm>
            <a:off x="3246120" y="1371600"/>
            <a:ext cx="2697480" cy="1635113"/>
          </a:xfrm>
          <a:prstGeom prst="roundRect">
            <a:avLst>
              <a:gd name="adj" fmla="val 324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594F0B56-4AE2-12A3-502E-2BB4C4D1593F}"/>
              </a:ext>
            </a:extLst>
          </p:cNvPr>
          <p:cNvSpPr/>
          <p:nvPr/>
        </p:nvSpPr>
        <p:spPr>
          <a:xfrm>
            <a:off x="3429000" y="1536192"/>
            <a:ext cx="2331720" cy="502920"/>
          </a:xfrm>
          <a:prstGeom prst="rect">
            <a:avLst/>
          </a:prstGeom>
          <a:noFill/>
          <a:ln/>
        </p:spPr>
        <p:txBody>
          <a:bodyPr wrap="square" lIns="0" tIns="0" rIns="0" bIns="0" rtlCol="0" anchor="t"/>
          <a:lstStyle/>
          <a:p>
            <a:pPr marL="0" indent="0">
              <a:buNone/>
            </a:pPr>
            <a:r>
              <a:rPr lang="en-US" sz="1400" b="1">
                <a:solidFill>
                  <a:schemeClr val="accent2"/>
                </a:solidFill>
                <a:latin typeface="Open Sans" pitchFamily="2" charset="0"/>
                <a:ea typeface="Open Sans" pitchFamily="2" charset="0"/>
                <a:cs typeface="Open Sans" pitchFamily="2" charset="0"/>
              </a:rPr>
              <a:t>WHAT TO ASK</a:t>
            </a:r>
            <a:endParaRPr lang="en-US" sz="1400">
              <a:solidFill>
                <a:schemeClr val="accent2"/>
              </a:solidFill>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1DC332C3-C4F7-A593-BFB2-FBECA850BFDD}"/>
              </a:ext>
            </a:extLst>
          </p:cNvPr>
          <p:cNvSpPr/>
          <p:nvPr/>
        </p:nvSpPr>
        <p:spPr>
          <a:xfrm>
            <a:off x="3429000" y="2139696"/>
            <a:ext cx="2331720" cy="886968"/>
          </a:xfrm>
          <a:prstGeom prst="rect">
            <a:avLst/>
          </a:prstGeom>
          <a:noFill/>
          <a:ln/>
        </p:spPr>
        <p:txBody>
          <a:bodyPr wrap="square" lIns="0" tIns="0" rIns="0" bIns="0" rtlCol="0" anchor="t"/>
          <a:lstStyle/>
          <a:p>
            <a:pPr marL="0" indent="0">
              <a:lnSpc>
                <a:spcPct val="108000"/>
              </a:lnSpc>
              <a:buNone/>
            </a:pPr>
            <a:r>
              <a:rPr lang="en-US" sz="1200">
                <a:solidFill>
                  <a:schemeClr val="tx2"/>
                </a:solidFill>
                <a:latin typeface="Open Sans" pitchFamily="2" charset="0"/>
                <a:ea typeface="Open Sans" pitchFamily="2" charset="0"/>
                <a:cs typeface="Open Sans" pitchFamily="2" charset="0"/>
              </a:rPr>
              <a:t>Did you read the diff yourself? What did Claude get wrong on the first try?</a:t>
            </a:r>
          </a:p>
        </p:txBody>
      </p:sp>
      <p:sp>
        <p:nvSpPr>
          <p:cNvPr id="11" name="Shape 8">
            <a:extLst>
              <a:ext uri="{FF2B5EF4-FFF2-40B4-BE49-F238E27FC236}">
                <a16:creationId xmlns:a16="http://schemas.microsoft.com/office/drawing/2014/main" id="{FCFE51CD-756C-018D-47FF-A440A1A55DE1}"/>
              </a:ext>
            </a:extLst>
          </p:cNvPr>
          <p:cNvSpPr/>
          <p:nvPr/>
        </p:nvSpPr>
        <p:spPr>
          <a:xfrm>
            <a:off x="6199632" y="1371600"/>
            <a:ext cx="2697480" cy="1635113"/>
          </a:xfrm>
          <a:prstGeom prst="roundRect">
            <a:avLst>
              <a:gd name="adj" fmla="val 324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5B21835D-FE11-C31E-40C2-1015E8E59DD9}"/>
              </a:ext>
            </a:extLst>
          </p:cNvPr>
          <p:cNvSpPr/>
          <p:nvPr/>
        </p:nvSpPr>
        <p:spPr>
          <a:xfrm>
            <a:off x="6382512" y="1536192"/>
            <a:ext cx="2331720" cy="502920"/>
          </a:xfrm>
          <a:prstGeom prst="rect">
            <a:avLst/>
          </a:prstGeom>
          <a:noFill/>
          <a:ln/>
        </p:spPr>
        <p:txBody>
          <a:bodyPr wrap="square" lIns="0" tIns="0" rIns="0" bIns="0" rtlCol="0" anchor="t"/>
          <a:lstStyle/>
          <a:p>
            <a:pPr marL="0" indent="0">
              <a:buNone/>
            </a:pPr>
            <a:r>
              <a:rPr lang="en-US" sz="1400" b="1">
                <a:solidFill>
                  <a:schemeClr val="accent2"/>
                </a:solidFill>
                <a:latin typeface="Open Sans" pitchFamily="2" charset="0"/>
                <a:ea typeface="Open Sans" pitchFamily="2" charset="0"/>
                <a:cs typeface="Open Sans" pitchFamily="2" charset="0"/>
              </a:rPr>
              <a:t>WHERE TO SPEND ATTENTION</a:t>
            </a:r>
            <a:endParaRPr lang="en-US" sz="1400">
              <a:solidFill>
                <a:schemeClr val="accent2"/>
              </a:solidFill>
              <a:latin typeface="Open Sans" pitchFamily="2" charset="0"/>
              <a:ea typeface="Open Sans" pitchFamily="2" charset="0"/>
              <a:cs typeface="Open Sans" pitchFamily="2" charset="0"/>
            </a:endParaRPr>
          </a:p>
        </p:txBody>
      </p:sp>
      <p:sp>
        <p:nvSpPr>
          <p:cNvPr id="13" name="Text 10">
            <a:extLst>
              <a:ext uri="{FF2B5EF4-FFF2-40B4-BE49-F238E27FC236}">
                <a16:creationId xmlns:a16="http://schemas.microsoft.com/office/drawing/2014/main" id="{142FE065-4228-8713-247C-31A7E7A600D1}"/>
              </a:ext>
            </a:extLst>
          </p:cNvPr>
          <p:cNvSpPr/>
          <p:nvPr/>
        </p:nvSpPr>
        <p:spPr>
          <a:xfrm>
            <a:off x="6382512" y="2119745"/>
            <a:ext cx="2331720" cy="886968"/>
          </a:xfrm>
          <a:prstGeom prst="rect">
            <a:avLst/>
          </a:prstGeom>
          <a:noFill/>
          <a:ln/>
        </p:spPr>
        <p:txBody>
          <a:bodyPr wrap="square" lIns="0" tIns="0" rIns="0" bIns="0" rtlCol="0" anchor="t"/>
          <a:lstStyle/>
          <a:p>
            <a:pPr marL="0" indent="0">
              <a:lnSpc>
                <a:spcPct val="108000"/>
              </a:lnSpc>
              <a:buNone/>
            </a:pPr>
            <a:r>
              <a:rPr lang="en-US" sz="1200">
                <a:solidFill>
                  <a:schemeClr val="tx2"/>
                </a:solidFill>
                <a:latin typeface="Open Sans" pitchFamily="2" charset="0"/>
                <a:ea typeface="Open Sans" pitchFamily="2" charset="0"/>
                <a:cs typeface="Open Sans" pitchFamily="2" charset="0"/>
              </a:rPr>
              <a:t>Read risky paths line by line: auth, data egress, prompts. Let tests and hooks cover the rest.</a:t>
            </a:r>
          </a:p>
        </p:txBody>
      </p:sp>
      <p:sp>
        <p:nvSpPr>
          <p:cNvPr id="15" name="Text 12">
            <a:extLst>
              <a:ext uri="{FF2B5EF4-FFF2-40B4-BE49-F238E27FC236}">
                <a16:creationId xmlns:a16="http://schemas.microsoft.com/office/drawing/2014/main" id="{6C419D44-9501-FA2D-6E4E-2864435D4DFE}"/>
              </a:ext>
            </a:extLst>
          </p:cNvPr>
          <p:cNvSpPr/>
          <p:nvPr/>
        </p:nvSpPr>
        <p:spPr>
          <a:xfrm>
            <a:off x="493776" y="3646793"/>
            <a:ext cx="8156448"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If a PR reads like “Claude wrote it, it works,” that is not a review. Send it back.</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5650984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hape 30">
            <a:extLst>
              <a:ext uri="{FF2B5EF4-FFF2-40B4-BE49-F238E27FC236}">
                <a16:creationId xmlns:a16="http://schemas.microsoft.com/office/drawing/2014/main" id="{4FA2D52E-042E-C38C-01EC-25D2088D5500}"/>
              </a:ext>
            </a:extLst>
          </p:cNvPr>
          <p:cNvSpPr/>
          <p:nvPr/>
        </p:nvSpPr>
        <p:spPr>
          <a:xfrm>
            <a:off x="411480" y="4146804"/>
            <a:ext cx="8284464" cy="320040"/>
          </a:xfrm>
          <a:prstGeom prst="roundRect">
            <a:avLst>
              <a:gd name="adj" fmla="val 20000"/>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44" name="Text 31">
            <a:extLst>
              <a:ext uri="{FF2B5EF4-FFF2-40B4-BE49-F238E27FC236}">
                <a16:creationId xmlns:a16="http://schemas.microsoft.com/office/drawing/2014/main" id="{F887265A-FB0F-A78E-45F3-00FCB27FDDF1}"/>
              </a:ext>
            </a:extLst>
          </p:cNvPr>
          <p:cNvSpPr/>
          <p:nvPr/>
        </p:nvSpPr>
        <p:spPr>
          <a:xfrm>
            <a:off x="411480" y="4146804"/>
            <a:ext cx="8284464" cy="320040"/>
          </a:xfrm>
          <a:prstGeom prst="rect">
            <a:avLst/>
          </a:prstGeom>
          <a:noFill/>
          <a:ln/>
        </p:spPr>
        <p:txBody>
          <a:bodyPr wrap="square" lIns="0" tIns="0" rIns="0" bIns="0" rtlCol="0" anchor="ctr"/>
          <a:lstStyle/>
          <a:p>
            <a:pPr algn="ctr"/>
            <a:r>
              <a:rPr lang="en-US" sz="1200" i="1">
                <a:solidFill>
                  <a:schemeClr val="tx2"/>
                </a:solidFill>
                <a:latin typeface="Open Sans" pitchFamily="2" charset="0"/>
                <a:ea typeface="Open Sans" pitchFamily="2" charset="0"/>
                <a:cs typeface="Open Sans" pitchFamily="2" charset="0"/>
              </a:rPr>
              <a:t>None of this replaces watching your bill. It just means fewer surprises on it.</a:t>
            </a:r>
            <a:endParaRPr lang="en-US" sz="1200">
              <a:solidFill>
                <a:schemeClr val="tx2"/>
              </a:solidFill>
              <a:latin typeface="Open Sans" pitchFamily="2" charset="0"/>
              <a:ea typeface="Open Sans" pitchFamily="2" charset="0"/>
              <a:cs typeface="Open Sans" pitchFamily="2" charset="0"/>
            </a:endParaRPr>
          </a:p>
        </p:txBody>
      </p:sp>
      <p:sp>
        <p:nvSpPr>
          <p:cNvPr id="3" name="Text 0">
            <a:extLst>
              <a:ext uri="{FF2B5EF4-FFF2-40B4-BE49-F238E27FC236}">
                <a16:creationId xmlns:a16="http://schemas.microsoft.com/office/drawing/2014/main" id="{E0B8A4A5-9094-C6F8-261D-51E0A597992F}"/>
              </a:ext>
            </a:extLst>
          </p:cNvPr>
          <p:cNvSpPr/>
          <p:nvPr/>
        </p:nvSpPr>
        <p:spPr>
          <a:xfrm>
            <a:off x="385745" y="201168"/>
            <a:ext cx="7315200" cy="502920"/>
          </a:xfrm>
          <a:prstGeom prst="rect">
            <a:avLst/>
          </a:prstGeom>
          <a:noFill/>
          <a:ln/>
        </p:spPr>
        <p:txBody>
          <a:bodyPr wrap="square" lIns="0" tIns="0" rIns="0" bIns="0" rtlCol="0" anchor="ctr"/>
          <a:lstStyle/>
          <a:p>
            <a:pPr marL="0" indent="0">
              <a:buNone/>
            </a:pPr>
            <a:r>
              <a:rPr lang="en-US" sz="2700" b="1">
                <a:latin typeface="Open Sans" pitchFamily="2" charset="0"/>
                <a:ea typeface="Open Sans" pitchFamily="2" charset="0"/>
                <a:cs typeface="Open Sans" pitchFamily="2" charset="0"/>
              </a:rPr>
              <a:t>Keeping Costs Under Control</a:t>
            </a:r>
            <a:endParaRPr lang="en-US" sz="27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0337EDDD-1D51-4965-3F8C-44F68D8A4EE9}"/>
              </a:ext>
            </a:extLst>
          </p:cNvPr>
          <p:cNvSpPr/>
          <p:nvPr/>
        </p:nvSpPr>
        <p:spPr>
          <a:xfrm>
            <a:off x="385745" y="676656"/>
            <a:ext cx="8595360" cy="201168"/>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Claude Code is metered. A few habits keep usage predictable.</a:t>
            </a:r>
          </a:p>
        </p:txBody>
      </p:sp>
      <p:sp>
        <p:nvSpPr>
          <p:cNvPr id="19" name="Shape 6">
            <a:extLst>
              <a:ext uri="{FF2B5EF4-FFF2-40B4-BE49-F238E27FC236}">
                <a16:creationId xmlns:a16="http://schemas.microsoft.com/office/drawing/2014/main" id="{BC5FDB6B-BABA-D84E-DE1B-5A9ACC65D1CF}"/>
              </a:ext>
            </a:extLst>
          </p:cNvPr>
          <p:cNvSpPr/>
          <p:nvPr/>
        </p:nvSpPr>
        <p:spPr>
          <a:xfrm>
            <a:off x="411480" y="1094232"/>
            <a:ext cx="8284464"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7">
            <a:extLst>
              <a:ext uri="{FF2B5EF4-FFF2-40B4-BE49-F238E27FC236}">
                <a16:creationId xmlns:a16="http://schemas.microsoft.com/office/drawing/2014/main" id="{85723431-A2A2-F301-1CA3-BD77E90949E2}"/>
              </a:ext>
            </a:extLst>
          </p:cNvPr>
          <p:cNvSpPr/>
          <p:nvPr/>
        </p:nvSpPr>
        <p:spPr>
          <a:xfrm>
            <a:off x="566928" y="1222248"/>
            <a:ext cx="402336" cy="402336"/>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8">
            <a:extLst>
              <a:ext uri="{FF2B5EF4-FFF2-40B4-BE49-F238E27FC236}">
                <a16:creationId xmlns:a16="http://schemas.microsoft.com/office/drawing/2014/main" id="{5EC7996B-DAFE-BEF1-6B70-4F8876D10DB6}"/>
              </a:ext>
            </a:extLst>
          </p:cNvPr>
          <p:cNvSpPr/>
          <p:nvPr/>
        </p:nvSpPr>
        <p:spPr>
          <a:xfrm>
            <a:off x="566928" y="1222248"/>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Open Sans" panose="020B0606030504020204" pitchFamily="34" charset="0"/>
                <a:ea typeface="Open Sans" panose="020B0606030504020204" pitchFamily="34" charset="0"/>
                <a:cs typeface="Open Sans" panose="020B0606030504020204" pitchFamily="34" charset="0"/>
              </a:rPr>
              <a:t>01</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9">
            <a:extLst>
              <a:ext uri="{FF2B5EF4-FFF2-40B4-BE49-F238E27FC236}">
                <a16:creationId xmlns:a16="http://schemas.microsoft.com/office/drawing/2014/main" id="{B98D6F26-92B2-2B68-7CA9-AE04A07256F6}"/>
              </a:ext>
            </a:extLst>
          </p:cNvPr>
          <p:cNvSpPr/>
          <p:nvPr/>
        </p:nvSpPr>
        <p:spPr>
          <a:xfrm>
            <a:off x="1115568" y="1167384"/>
            <a:ext cx="2286000" cy="256032"/>
          </a:xfrm>
          <a:prstGeom prst="rect">
            <a:avLst/>
          </a:prstGeom>
          <a:noFill/>
          <a:ln/>
        </p:spPr>
        <p:txBody>
          <a:bodyPr wrap="square" lIns="0" tIns="0" rIns="0" bIns="0" rtlCol="0" anchor="ctr"/>
          <a:lstStyle/>
          <a:p>
            <a:r>
              <a:rPr lang="en-US" sz="1400" b="1">
                <a:latin typeface="Open Sans" pitchFamily="2" charset="0"/>
                <a:ea typeface="Open Sans" pitchFamily="2" charset="0"/>
                <a:cs typeface="Open Sans" pitchFamily="2" charset="0"/>
              </a:rPr>
              <a:t>Check /cost regularly.</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10">
            <a:extLst>
              <a:ext uri="{FF2B5EF4-FFF2-40B4-BE49-F238E27FC236}">
                <a16:creationId xmlns:a16="http://schemas.microsoft.com/office/drawing/2014/main" id="{3FA6A6AF-5114-08CE-5247-2CBD55F08B5B}"/>
              </a:ext>
            </a:extLst>
          </p:cNvPr>
          <p:cNvSpPr/>
          <p:nvPr/>
        </p:nvSpPr>
        <p:spPr>
          <a:xfrm>
            <a:off x="1115568" y="1484316"/>
            <a:ext cx="7406640" cy="256032"/>
          </a:xfrm>
          <a:prstGeom prst="rect">
            <a:avLst/>
          </a:prstGeom>
          <a:noFill/>
          <a:ln/>
        </p:spPr>
        <p:txBody>
          <a:bodyPr wrap="square" lIns="0" tIns="0" rIns="0" bIns="0" rtlCol="0" anchor="t"/>
          <a:lstStyle/>
          <a:p>
            <a:r>
              <a:rPr lang="en-US" sz="1100">
                <a:solidFill>
                  <a:schemeClr val="tx2"/>
                </a:solidFill>
                <a:latin typeface="Open Sans" pitchFamily="2" charset="0"/>
                <a:ea typeface="Open Sans" pitchFamily="2" charset="0"/>
                <a:cs typeface="Open Sans" pitchFamily="2" charset="0"/>
              </a:rPr>
              <a:t>Before and after a long session, not just at the end.</a:t>
            </a:r>
            <a:endParaRPr lang="en-US" sz="11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11">
            <a:extLst>
              <a:ext uri="{FF2B5EF4-FFF2-40B4-BE49-F238E27FC236}">
                <a16:creationId xmlns:a16="http://schemas.microsoft.com/office/drawing/2014/main" id="{7EF76BAF-BA18-10E7-1C96-17A56D4E8392}"/>
              </a:ext>
            </a:extLst>
          </p:cNvPr>
          <p:cNvSpPr/>
          <p:nvPr/>
        </p:nvSpPr>
        <p:spPr>
          <a:xfrm>
            <a:off x="3493008" y="1167384"/>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5" name="Shape 12">
            <a:extLst>
              <a:ext uri="{FF2B5EF4-FFF2-40B4-BE49-F238E27FC236}">
                <a16:creationId xmlns:a16="http://schemas.microsoft.com/office/drawing/2014/main" id="{C495B38C-C992-AB53-24F3-65666DE8650B}"/>
              </a:ext>
            </a:extLst>
          </p:cNvPr>
          <p:cNvSpPr/>
          <p:nvPr/>
        </p:nvSpPr>
        <p:spPr>
          <a:xfrm>
            <a:off x="411480" y="1813500"/>
            <a:ext cx="8284464"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13">
            <a:extLst>
              <a:ext uri="{FF2B5EF4-FFF2-40B4-BE49-F238E27FC236}">
                <a16:creationId xmlns:a16="http://schemas.microsoft.com/office/drawing/2014/main" id="{866001D6-3BAE-5371-BB35-DC6A1CB0EE62}"/>
              </a:ext>
            </a:extLst>
          </p:cNvPr>
          <p:cNvSpPr/>
          <p:nvPr/>
        </p:nvSpPr>
        <p:spPr>
          <a:xfrm>
            <a:off x="566928" y="1941516"/>
            <a:ext cx="402336" cy="402336"/>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14">
            <a:extLst>
              <a:ext uri="{FF2B5EF4-FFF2-40B4-BE49-F238E27FC236}">
                <a16:creationId xmlns:a16="http://schemas.microsoft.com/office/drawing/2014/main" id="{80929670-6E7C-8C41-93AE-69BD1F4EB444}"/>
              </a:ext>
            </a:extLst>
          </p:cNvPr>
          <p:cNvSpPr/>
          <p:nvPr/>
        </p:nvSpPr>
        <p:spPr>
          <a:xfrm>
            <a:off x="566928" y="1941516"/>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Open Sans" panose="020B0606030504020204" pitchFamily="34" charset="0"/>
                <a:ea typeface="Open Sans" panose="020B0606030504020204" pitchFamily="34" charset="0"/>
                <a:cs typeface="Open Sans" panose="020B0606030504020204" pitchFamily="34" charset="0"/>
              </a:rPr>
              <a:t>02</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15">
            <a:extLst>
              <a:ext uri="{FF2B5EF4-FFF2-40B4-BE49-F238E27FC236}">
                <a16:creationId xmlns:a16="http://schemas.microsoft.com/office/drawing/2014/main" id="{757012C9-4CB8-C5AD-AC30-C3152986EE3E}"/>
              </a:ext>
            </a:extLst>
          </p:cNvPr>
          <p:cNvSpPr/>
          <p:nvPr/>
        </p:nvSpPr>
        <p:spPr>
          <a:xfrm>
            <a:off x="1115568" y="1886652"/>
            <a:ext cx="3886200" cy="256032"/>
          </a:xfrm>
          <a:prstGeom prst="rect">
            <a:avLst/>
          </a:prstGeom>
          <a:noFill/>
          <a:ln/>
        </p:spPr>
        <p:txBody>
          <a:bodyPr wrap="square" lIns="0" tIns="0" rIns="0" bIns="0" rtlCol="0" anchor="ctr"/>
          <a:lstStyle/>
          <a:p>
            <a:r>
              <a:rPr lang="en-US" sz="1400" b="1">
                <a:latin typeface="Open Sans" pitchFamily="2" charset="0"/>
                <a:ea typeface="Open Sans" pitchFamily="2" charset="0"/>
                <a:cs typeface="Open Sans" pitchFamily="2" charset="0"/>
              </a:rPr>
              <a:t>Use /compact instead of restarting.</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16">
            <a:extLst>
              <a:ext uri="{FF2B5EF4-FFF2-40B4-BE49-F238E27FC236}">
                <a16:creationId xmlns:a16="http://schemas.microsoft.com/office/drawing/2014/main" id="{EE146D5B-BDF3-A738-09CE-1C37C93ADB82}"/>
              </a:ext>
            </a:extLst>
          </p:cNvPr>
          <p:cNvSpPr/>
          <p:nvPr/>
        </p:nvSpPr>
        <p:spPr>
          <a:xfrm>
            <a:off x="1115568" y="2160972"/>
            <a:ext cx="7406640" cy="256032"/>
          </a:xfrm>
          <a:prstGeom prst="rect">
            <a:avLst/>
          </a:prstGeom>
          <a:noFill/>
          <a:ln/>
        </p:spPr>
        <p:txBody>
          <a:bodyPr wrap="square" lIns="0" tIns="0" rIns="0" bIns="0" rtlCol="0" anchor="t"/>
          <a:lstStyle/>
          <a:p>
            <a:r>
              <a:rPr lang="en-US" sz="1100">
                <a:solidFill>
                  <a:schemeClr val="tx2"/>
                </a:solidFill>
                <a:latin typeface="Open Sans" pitchFamily="2" charset="0"/>
                <a:ea typeface="Open Sans" pitchFamily="2" charset="0"/>
                <a:cs typeface="Open Sans" pitchFamily="2" charset="0"/>
              </a:rPr>
              <a:t>Trims context without losing your standing instructions</a:t>
            </a:r>
            <a:endParaRPr lang="en-US" sz="11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Shape 17">
            <a:extLst>
              <a:ext uri="{FF2B5EF4-FFF2-40B4-BE49-F238E27FC236}">
                <a16:creationId xmlns:a16="http://schemas.microsoft.com/office/drawing/2014/main" id="{9E344689-5234-178C-58D5-D0B16AF08DE8}"/>
              </a:ext>
            </a:extLst>
          </p:cNvPr>
          <p:cNvSpPr/>
          <p:nvPr/>
        </p:nvSpPr>
        <p:spPr>
          <a:xfrm>
            <a:off x="3493008" y="1886652"/>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1" name="Shape 18">
            <a:extLst>
              <a:ext uri="{FF2B5EF4-FFF2-40B4-BE49-F238E27FC236}">
                <a16:creationId xmlns:a16="http://schemas.microsoft.com/office/drawing/2014/main" id="{5B523C14-4DD5-A8D3-CE1F-7C169A495BC7}"/>
              </a:ext>
            </a:extLst>
          </p:cNvPr>
          <p:cNvSpPr/>
          <p:nvPr/>
        </p:nvSpPr>
        <p:spPr>
          <a:xfrm>
            <a:off x="411480" y="2522250"/>
            <a:ext cx="8284464"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2" name="Shape 19">
            <a:extLst>
              <a:ext uri="{FF2B5EF4-FFF2-40B4-BE49-F238E27FC236}">
                <a16:creationId xmlns:a16="http://schemas.microsoft.com/office/drawing/2014/main" id="{BF4B13FD-EFD4-5306-2AB0-9AE467B8DC76}"/>
              </a:ext>
            </a:extLst>
          </p:cNvPr>
          <p:cNvSpPr/>
          <p:nvPr/>
        </p:nvSpPr>
        <p:spPr>
          <a:xfrm>
            <a:off x="566928" y="2650266"/>
            <a:ext cx="402336" cy="402336"/>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3" name="Text 20">
            <a:extLst>
              <a:ext uri="{FF2B5EF4-FFF2-40B4-BE49-F238E27FC236}">
                <a16:creationId xmlns:a16="http://schemas.microsoft.com/office/drawing/2014/main" id="{FFD3E931-D588-66DC-8910-954B12B299D8}"/>
              </a:ext>
            </a:extLst>
          </p:cNvPr>
          <p:cNvSpPr/>
          <p:nvPr/>
        </p:nvSpPr>
        <p:spPr>
          <a:xfrm>
            <a:off x="566928" y="2650266"/>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Open Sans" panose="020B0606030504020204" pitchFamily="34" charset="0"/>
                <a:ea typeface="Open Sans" panose="020B0606030504020204" pitchFamily="34" charset="0"/>
                <a:cs typeface="Open Sans" panose="020B0606030504020204" pitchFamily="34" charset="0"/>
              </a:rPr>
              <a:t>03</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34" name="Text 21">
            <a:extLst>
              <a:ext uri="{FF2B5EF4-FFF2-40B4-BE49-F238E27FC236}">
                <a16:creationId xmlns:a16="http://schemas.microsoft.com/office/drawing/2014/main" id="{1746A664-B845-1E3A-46FA-FC55528C6E4A}"/>
              </a:ext>
            </a:extLst>
          </p:cNvPr>
          <p:cNvSpPr/>
          <p:nvPr/>
        </p:nvSpPr>
        <p:spPr>
          <a:xfrm>
            <a:off x="1115568" y="2595402"/>
            <a:ext cx="2286000" cy="256032"/>
          </a:xfrm>
          <a:prstGeom prst="rect">
            <a:avLst/>
          </a:prstGeom>
          <a:noFill/>
          <a:ln/>
        </p:spPr>
        <p:txBody>
          <a:bodyPr wrap="square" lIns="0" tIns="0" rIns="0" bIns="0" rtlCol="0" anchor="ctr"/>
          <a:lstStyle/>
          <a:p>
            <a:r>
              <a:rPr lang="en-US" sz="1400" b="1">
                <a:latin typeface="Open Sans" pitchFamily="2" charset="0"/>
                <a:ea typeface="Open Sans" pitchFamily="2" charset="0"/>
                <a:cs typeface="Open Sans" pitchFamily="2" charset="0"/>
              </a:rPr>
              <a:t>Scope prompts tightly.</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35" name="Text 22">
            <a:extLst>
              <a:ext uri="{FF2B5EF4-FFF2-40B4-BE49-F238E27FC236}">
                <a16:creationId xmlns:a16="http://schemas.microsoft.com/office/drawing/2014/main" id="{45485A0D-15B6-9944-2BD6-25C6EEC7EE93}"/>
              </a:ext>
            </a:extLst>
          </p:cNvPr>
          <p:cNvSpPr/>
          <p:nvPr/>
        </p:nvSpPr>
        <p:spPr>
          <a:xfrm>
            <a:off x="1115568" y="2869722"/>
            <a:ext cx="7406640" cy="256032"/>
          </a:xfrm>
          <a:prstGeom prst="rect">
            <a:avLst/>
          </a:prstGeom>
          <a:noFill/>
          <a:ln/>
        </p:spPr>
        <p:txBody>
          <a:bodyPr wrap="square" lIns="0" tIns="0" rIns="0" bIns="0" rtlCol="0" anchor="t"/>
          <a:lstStyle/>
          <a:p>
            <a:r>
              <a:rPr lang="en-US" sz="1100">
                <a:solidFill>
                  <a:schemeClr val="tx2"/>
                </a:solidFill>
                <a:latin typeface="Open Sans" pitchFamily="2" charset="0"/>
                <a:ea typeface="Open Sans" pitchFamily="2" charset="0"/>
                <a:cs typeface="Open Sans" pitchFamily="2" charset="0"/>
              </a:rPr>
              <a:t>Vague asks burn tokens on guesswork you will just redo.</a:t>
            </a:r>
            <a:endParaRPr lang="en-US" sz="11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6" name="Shape 23">
            <a:extLst>
              <a:ext uri="{FF2B5EF4-FFF2-40B4-BE49-F238E27FC236}">
                <a16:creationId xmlns:a16="http://schemas.microsoft.com/office/drawing/2014/main" id="{AE85C623-4EED-6381-F39E-9C0EF9AB04EA}"/>
              </a:ext>
            </a:extLst>
          </p:cNvPr>
          <p:cNvSpPr/>
          <p:nvPr/>
        </p:nvSpPr>
        <p:spPr>
          <a:xfrm>
            <a:off x="3493008" y="2595402"/>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7" name="Shape 24">
            <a:extLst>
              <a:ext uri="{FF2B5EF4-FFF2-40B4-BE49-F238E27FC236}">
                <a16:creationId xmlns:a16="http://schemas.microsoft.com/office/drawing/2014/main" id="{2839386C-343E-5A54-12B3-A61A33594E61}"/>
              </a:ext>
            </a:extLst>
          </p:cNvPr>
          <p:cNvSpPr/>
          <p:nvPr/>
        </p:nvSpPr>
        <p:spPr>
          <a:xfrm>
            <a:off x="411480" y="3253770"/>
            <a:ext cx="8284464" cy="658368"/>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8" name="Shape 25">
            <a:extLst>
              <a:ext uri="{FF2B5EF4-FFF2-40B4-BE49-F238E27FC236}">
                <a16:creationId xmlns:a16="http://schemas.microsoft.com/office/drawing/2014/main" id="{9064BDFA-E677-CDE5-424E-0DC2EF7C5D77}"/>
              </a:ext>
            </a:extLst>
          </p:cNvPr>
          <p:cNvSpPr/>
          <p:nvPr/>
        </p:nvSpPr>
        <p:spPr>
          <a:xfrm>
            <a:off x="566928" y="3381786"/>
            <a:ext cx="402336" cy="402336"/>
          </a:xfrm>
          <a:prstGeom prst="ellipse">
            <a:avLst/>
          </a:prstGeom>
          <a:solidFill>
            <a:schemeClr val="accent1"/>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9" name="Text 26">
            <a:extLst>
              <a:ext uri="{FF2B5EF4-FFF2-40B4-BE49-F238E27FC236}">
                <a16:creationId xmlns:a16="http://schemas.microsoft.com/office/drawing/2014/main" id="{BEE44ACF-F713-5658-BD88-C71E36234089}"/>
              </a:ext>
            </a:extLst>
          </p:cNvPr>
          <p:cNvSpPr/>
          <p:nvPr/>
        </p:nvSpPr>
        <p:spPr>
          <a:xfrm>
            <a:off x="566928" y="3381786"/>
            <a:ext cx="402336" cy="402336"/>
          </a:xfrm>
          <a:prstGeom prst="rect">
            <a:avLst/>
          </a:prstGeom>
          <a:noFill/>
          <a:ln/>
        </p:spPr>
        <p:txBody>
          <a:bodyPr wrap="square" lIns="0" tIns="0" rIns="0" bIns="0" rtlCol="0" anchor="ctr"/>
          <a:lstStyle/>
          <a:p>
            <a:pPr marL="0" indent="0" algn="ctr">
              <a:buNone/>
            </a:pPr>
            <a:r>
              <a:rPr lang="en-US" sz="1100" b="1">
                <a:solidFill>
                  <a:srgbClr val="FFFFFF"/>
                </a:solidFill>
                <a:latin typeface="Open Sans" panose="020B0606030504020204" pitchFamily="34" charset="0"/>
                <a:ea typeface="Open Sans" panose="020B0606030504020204" pitchFamily="34" charset="0"/>
                <a:cs typeface="Open Sans" panose="020B0606030504020204" pitchFamily="34" charset="0"/>
              </a:rPr>
              <a:t>04</a:t>
            </a:r>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40" name="Text 27">
            <a:extLst>
              <a:ext uri="{FF2B5EF4-FFF2-40B4-BE49-F238E27FC236}">
                <a16:creationId xmlns:a16="http://schemas.microsoft.com/office/drawing/2014/main" id="{8929FD54-06F0-AF65-D61A-9671E3D8F39D}"/>
              </a:ext>
            </a:extLst>
          </p:cNvPr>
          <p:cNvSpPr/>
          <p:nvPr/>
        </p:nvSpPr>
        <p:spPr>
          <a:xfrm>
            <a:off x="1115567" y="3326922"/>
            <a:ext cx="3591899" cy="256032"/>
          </a:xfrm>
          <a:prstGeom prst="rect">
            <a:avLst/>
          </a:prstGeom>
          <a:noFill/>
          <a:ln/>
        </p:spPr>
        <p:txBody>
          <a:bodyPr wrap="square" lIns="0" tIns="0" rIns="0" bIns="0" rtlCol="0" anchor="ctr"/>
          <a:lstStyle/>
          <a:p>
            <a:r>
              <a:rPr lang="en-US" sz="1400" b="1">
                <a:latin typeface="Open Sans" pitchFamily="2" charset="0"/>
                <a:ea typeface="Open Sans" pitchFamily="2" charset="0"/>
                <a:cs typeface="Open Sans" pitchFamily="2" charset="0"/>
              </a:rPr>
              <a:t>Close sessions you are not using.</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41" name="Text 28">
            <a:extLst>
              <a:ext uri="{FF2B5EF4-FFF2-40B4-BE49-F238E27FC236}">
                <a16:creationId xmlns:a16="http://schemas.microsoft.com/office/drawing/2014/main" id="{CFA499F7-FED6-0F51-8FBE-D5C794DFD110}"/>
              </a:ext>
            </a:extLst>
          </p:cNvPr>
          <p:cNvSpPr/>
          <p:nvPr/>
        </p:nvSpPr>
        <p:spPr>
          <a:xfrm>
            <a:off x="1115568" y="3628674"/>
            <a:ext cx="7406640" cy="256032"/>
          </a:xfrm>
          <a:prstGeom prst="rect">
            <a:avLst/>
          </a:prstGeom>
          <a:noFill/>
          <a:ln/>
        </p:spPr>
        <p:txBody>
          <a:bodyPr wrap="square" lIns="0" tIns="0" rIns="0" bIns="0" rtlCol="0" anchor="t"/>
          <a:lstStyle/>
          <a:p>
            <a:r>
              <a:rPr lang="en-US" sz="1100">
                <a:solidFill>
                  <a:schemeClr val="tx2"/>
                </a:solidFill>
                <a:latin typeface="Open Sans" pitchFamily="2" charset="0"/>
                <a:ea typeface="Open Sans" pitchFamily="2" charset="0"/>
                <a:cs typeface="Open Sans" pitchFamily="2" charset="0"/>
              </a:rPr>
              <a:t>An idle session can still be holding context.</a:t>
            </a:r>
            <a:endParaRPr lang="en-US" sz="110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2" name="Shape 29">
            <a:extLst>
              <a:ext uri="{FF2B5EF4-FFF2-40B4-BE49-F238E27FC236}">
                <a16:creationId xmlns:a16="http://schemas.microsoft.com/office/drawing/2014/main" id="{25934A78-69A3-2CFB-B595-0DC75ED9A8E4}"/>
              </a:ext>
            </a:extLst>
          </p:cNvPr>
          <p:cNvSpPr/>
          <p:nvPr/>
        </p:nvSpPr>
        <p:spPr>
          <a:xfrm>
            <a:off x="3493008" y="3326922"/>
            <a:ext cx="0" cy="502920"/>
          </a:xfrm>
          <a:prstGeom prst="line">
            <a:avLst/>
          </a:prstGeom>
          <a:noFill/>
          <a:ln w="10160">
            <a:solidFill>
              <a:srgbClr val="E0E0E0"/>
            </a:solid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6834565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0">
            <a:extLst>
              <a:ext uri="{FF2B5EF4-FFF2-40B4-BE49-F238E27FC236}">
                <a16:creationId xmlns:a16="http://schemas.microsoft.com/office/drawing/2014/main" id="{C430706B-84D7-538F-093C-85F6B6E8B44A}"/>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700" b="1">
                <a:latin typeface="Open Sans" pitchFamily="2" charset="0"/>
                <a:ea typeface="Open Sans" pitchFamily="2" charset="0"/>
                <a:cs typeface="Open Sans" pitchFamily="2" charset="0"/>
              </a:rPr>
              <a:t>Spot the Risk</a:t>
            </a:r>
            <a:endParaRPr lang="en-US" sz="2700">
              <a:latin typeface="Open Sans" pitchFamily="2" charset="0"/>
              <a:ea typeface="Open Sans" pitchFamily="2" charset="0"/>
              <a:cs typeface="Open Sans" pitchFamily="2" charset="0"/>
            </a:endParaRPr>
          </a:p>
        </p:txBody>
      </p:sp>
      <p:sp>
        <p:nvSpPr>
          <p:cNvPr id="19" name="Text 1">
            <a:extLst>
              <a:ext uri="{FF2B5EF4-FFF2-40B4-BE49-F238E27FC236}">
                <a16:creationId xmlns:a16="http://schemas.microsoft.com/office/drawing/2014/main" id="{9755A2D0-85AE-A3FA-D880-73EA7954A1E7}"/>
              </a:ext>
            </a:extLst>
          </p:cNvPr>
          <p:cNvSpPr/>
          <p:nvPr/>
        </p:nvSpPr>
        <p:spPr>
          <a:xfrm>
            <a:off x="394212" y="676656"/>
            <a:ext cx="8595360" cy="292608"/>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Read the scenario. Classify the primary risk before we discuss.</a:t>
            </a:r>
          </a:p>
        </p:txBody>
      </p:sp>
      <p:sp>
        <p:nvSpPr>
          <p:cNvPr id="21" name="Shape 5">
            <a:extLst>
              <a:ext uri="{FF2B5EF4-FFF2-40B4-BE49-F238E27FC236}">
                <a16:creationId xmlns:a16="http://schemas.microsoft.com/office/drawing/2014/main" id="{42B827F8-217E-BF71-ABF4-2F8208F9E1CE}"/>
              </a:ext>
            </a:extLst>
          </p:cNvPr>
          <p:cNvSpPr/>
          <p:nvPr/>
        </p:nvSpPr>
        <p:spPr>
          <a:xfrm>
            <a:off x="292608" y="1097280"/>
            <a:ext cx="8558784" cy="914400"/>
          </a:xfrm>
          <a:prstGeom prst="roundRect">
            <a:avLst>
              <a:gd name="adj" fmla="val 6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22" name="Text 6">
            <a:extLst>
              <a:ext uri="{FF2B5EF4-FFF2-40B4-BE49-F238E27FC236}">
                <a16:creationId xmlns:a16="http://schemas.microsoft.com/office/drawing/2014/main" id="{47C1A195-E800-2A4F-4C51-BCC70D4A7FC4}"/>
              </a:ext>
            </a:extLst>
          </p:cNvPr>
          <p:cNvSpPr/>
          <p:nvPr/>
        </p:nvSpPr>
        <p:spPr>
          <a:xfrm>
            <a:off x="502920" y="1152144"/>
            <a:ext cx="8138160" cy="804672"/>
          </a:xfrm>
          <a:prstGeom prst="rect">
            <a:avLst/>
          </a:prstGeom>
          <a:noFill/>
          <a:ln/>
        </p:spPr>
        <p:txBody>
          <a:bodyPr wrap="square" lIns="0" tIns="0" rIns="0" bIns="0" rtlCol="0" anchor="ctr"/>
          <a:lstStyle/>
          <a:p>
            <a:pPr marL="0" indent="0">
              <a:lnSpc>
                <a:spcPct val="112000"/>
              </a:lnSpc>
              <a:buNone/>
            </a:pPr>
            <a:r>
              <a:rPr lang="en-US" sz="1200" i="1">
                <a:solidFill>
                  <a:schemeClr val="tx2"/>
                </a:solidFill>
                <a:latin typeface="Open Sans" pitchFamily="2" charset="0"/>
                <a:ea typeface="Open Sans" pitchFamily="2" charset="0"/>
                <a:cs typeface="Open Sans" pitchFamily="2" charset="0"/>
              </a:rPr>
              <a:t>An AI engineer uses Claude Code to build a RAG PoC over support tickets. During the build, they paste a live export — real names, emails, account IDs — into Claude Code to show it the schema. The PoC works. The demo goes well.</a:t>
            </a:r>
            <a:endParaRPr lang="en-US" sz="1200">
              <a:solidFill>
                <a:schemeClr val="tx2"/>
              </a:solidFill>
              <a:latin typeface="Open Sans" pitchFamily="2" charset="0"/>
              <a:ea typeface="Open Sans" pitchFamily="2" charset="0"/>
              <a:cs typeface="Open Sans" pitchFamily="2" charset="0"/>
            </a:endParaRPr>
          </a:p>
        </p:txBody>
      </p:sp>
      <p:sp>
        <p:nvSpPr>
          <p:cNvPr id="23" name="Shape 7">
            <a:extLst>
              <a:ext uri="{FF2B5EF4-FFF2-40B4-BE49-F238E27FC236}">
                <a16:creationId xmlns:a16="http://schemas.microsoft.com/office/drawing/2014/main" id="{004A3F7A-5DC5-96CF-04ED-9E9910492184}"/>
              </a:ext>
            </a:extLst>
          </p:cNvPr>
          <p:cNvSpPr/>
          <p:nvPr/>
        </p:nvSpPr>
        <p:spPr>
          <a:xfrm>
            <a:off x="292608" y="2176272"/>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24" name="Text 8">
            <a:extLst>
              <a:ext uri="{FF2B5EF4-FFF2-40B4-BE49-F238E27FC236}">
                <a16:creationId xmlns:a16="http://schemas.microsoft.com/office/drawing/2014/main" id="{10FF97A4-ABD4-58B9-51D8-7F43DE910791}"/>
              </a:ext>
            </a:extLst>
          </p:cNvPr>
          <p:cNvSpPr/>
          <p:nvPr/>
        </p:nvSpPr>
        <p:spPr>
          <a:xfrm>
            <a:off x="502920" y="2176272"/>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A.  </a:t>
            </a:r>
            <a:r>
              <a:rPr lang="en-US" sz="1200">
                <a:solidFill>
                  <a:schemeClr val="tx2"/>
                </a:solidFill>
                <a:latin typeface="Open Sans" pitchFamily="2" charset="0"/>
                <a:ea typeface="Open Sans" pitchFamily="2" charset="0"/>
                <a:cs typeface="Open Sans" pitchFamily="2" charset="0"/>
              </a:rPr>
              <a:t>No risk, the data was only used to build the PoC, not stored anywhere</a:t>
            </a:r>
          </a:p>
        </p:txBody>
      </p:sp>
      <p:sp>
        <p:nvSpPr>
          <p:cNvPr id="27" name="Shape 11">
            <a:extLst>
              <a:ext uri="{FF2B5EF4-FFF2-40B4-BE49-F238E27FC236}">
                <a16:creationId xmlns:a16="http://schemas.microsoft.com/office/drawing/2014/main" id="{78041D7F-F1FF-0A3A-F4D6-6834E9C06023}"/>
              </a:ext>
            </a:extLst>
          </p:cNvPr>
          <p:cNvSpPr/>
          <p:nvPr/>
        </p:nvSpPr>
        <p:spPr>
          <a:xfrm>
            <a:off x="292608" y="3392424"/>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28" name="Text 12">
            <a:extLst>
              <a:ext uri="{FF2B5EF4-FFF2-40B4-BE49-F238E27FC236}">
                <a16:creationId xmlns:a16="http://schemas.microsoft.com/office/drawing/2014/main" id="{8E126B69-385D-9A02-3A7B-77B7389D1332}"/>
              </a:ext>
            </a:extLst>
          </p:cNvPr>
          <p:cNvSpPr/>
          <p:nvPr/>
        </p:nvSpPr>
        <p:spPr>
          <a:xfrm>
            <a:off x="502920" y="3392424"/>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C.  Security risk, the ticketing API credentials are now exposed</a:t>
            </a:r>
            <a:r>
              <a:rPr lang="en-US" sz="1200">
                <a:solidFill>
                  <a:schemeClr val="tx2"/>
                </a:solidFill>
                <a:latin typeface="Open Sans" pitchFamily="2" charset="0"/>
                <a:ea typeface="Open Sans" pitchFamily="2" charset="0"/>
                <a:cs typeface="Open Sans" pitchFamily="2" charset="0"/>
              </a:rPr>
              <a:t/>
            </a:r>
          </a:p>
        </p:txBody>
      </p:sp>
      <p:sp>
        <p:nvSpPr>
          <p:cNvPr id="29" name="Shape 13">
            <a:extLst>
              <a:ext uri="{FF2B5EF4-FFF2-40B4-BE49-F238E27FC236}">
                <a16:creationId xmlns:a16="http://schemas.microsoft.com/office/drawing/2014/main" id="{2DD66B50-142F-1E97-2423-D505FD19EB9F}"/>
              </a:ext>
            </a:extLst>
          </p:cNvPr>
          <p:cNvSpPr/>
          <p:nvPr/>
        </p:nvSpPr>
        <p:spPr>
          <a:xfrm>
            <a:off x="292608" y="4000500"/>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30" name="Text 14">
            <a:extLst>
              <a:ext uri="{FF2B5EF4-FFF2-40B4-BE49-F238E27FC236}">
                <a16:creationId xmlns:a16="http://schemas.microsoft.com/office/drawing/2014/main" id="{B78995EC-5DC6-B4C7-6555-8821BD1AE147}"/>
              </a:ext>
            </a:extLst>
          </p:cNvPr>
          <p:cNvSpPr/>
          <p:nvPr/>
        </p:nvSpPr>
        <p:spPr>
          <a:xfrm>
            <a:off x="502920" y="4000500"/>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D.  </a:t>
            </a:r>
            <a:r>
              <a:rPr lang="en-US" sz="1200">
                <a:solidFill>
                  <a:schemeClr val="tx2"/>
                </a:solidFill>
                <a:latin typeface="Open Sans" pitchFamily="2" charset="0"/>
                <a:ea typeface="Open Sans" pitchFamily="2" charset="0"/>
                <a:cs typeface="Open Sans" pitchFamily="2" charset="0"/>
              </a:rPr>
              <a:t>Governance risk, the tool was not on the approved list</a:t>
            </a:r>
          </a:p>
        </p:txBody>
      </p:sp>
      <p:sp>
        <p:nvSpPr>
          <p:cNvPr id="31" name="Text 3">
            <a:extLst>
              <a:ext uri="{FF2B5EF4-FFF2-40B4-BE49-F238E27FC236}">
                <a16:creationId xmlns:a16="http://schemas.microsoft.com/office/drawing/2014/main" id="{EC5235BD-C132-EA7D-8CBE-43B2D8C1D8B5}"/>
              </a:ext>
            </a:extLst>
          </p:cNvPr>
          <p:cNvSpPr/>
          <p:nvPr/>
        </p:nvSpPr>
        <p:spPr>
          <a:xfrm>
            <a:off x="7607808" y="201168"/>
            <a:ext cx="1188720" cy="292608"/>
          </a:xfrm>
          <a:prstGeom prst="rect">
            <a:avLst/>
          </a:prstGeom>
          <a:solidFill>
            <a:schemeClr val="accent2"/>
          </a:solidFill>
          <a:ln>
            <a:noFill/>
          </a:ln>
        </p:spPr>
        <p:txBody>
          <a:bodyPr wrap="square" lIns="0" tIns="0" rIns="0" bIns="0" rtlCol="0" anchor="ctr"/>
          <a:lstStyle/>
          <a:p>
            <a:pPr algn="ctr"/>
            <a:r>
              <a:rPr lang="en-US" sz="900" b="1" kern="0" spc="100">
                <a:solidFill>
                  <a:schemeClr val="bg1"/>
                </a:solidFill>
                <a:latin typeface="Open Sans" pitchFamily="2" charset="0"/>
                <a:ea typeface="Open Sans" pitchFamily="2" charset="0"/>
                <a:cs typeface="Open Sans" pitchFamily="2" charset="0"/>
              </a:rPr>
              <a:t>REFLECT</a:t>
            </a:r>
            <a:endParaRPr lang="en-US" sz="900">
              <a:solidFill>
                <a:schemeClr val="bg1"/>
              </a:solidFill>
              <a:latin typeface="Open Sans" pitchFamily="2" charset="0"/>
              <a:ea typeface="Open Sans" pitchFamily="2" charset="0"/>
              <a:cs typeface="Open Sans" pitchFamily="2" charset="0"/>
            </a:endParaRPr>
          </a:p>
        </p:txBody>
      </p:sp>
      <p:sp>
        <p:nvSpPr>
          <p:cNvPr id="2" name="Shape 7">
            <a:extLst>
              <a:ext uri="{FF2B5EF4-FFF2-40B4-BE49-F238E27FC236}">
                <a16:creationId xmlns:a16="http://schemas.microsoft.com/office/drawing/2014/main" id="{F7978005-6454-C522-A0AA-7D32215939EC}"/>
              </a:ext>
            </a:extLst>
          </p:cNvPr>
          <p:cNvSpPr/>
          <p:nvPr/>
        </p:nvSpPr>
        <p:spPr>
          <a:xfrm>
            <a:off x="292608" y="2784348"/>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3" name="Text 8">
            <a:extLst>
              <a:ext uri="{FF2B5EF4-FFF2-40B4-BE49-F238E27FC236}">
                <a16:creationId xmlns:a16="http://schemas.microsoft.com/office/drawing/2014/main" id="{2C10B927-F995-DF21-5252-1159BD83C590}"/>
              </a:ext>
            </a:extLst>
          </p:cNvPr>
          <p:cNvSpPr/>
          <p:nvPr/>
        </p:nvSpPr>
        <p:spPr>
          <a:xfrm>
            <a:off x="502920" y="2784348"/>
            <a:ext cx="8138160" cy="512064"/>
          </a:xfrm>
          <a:prstGeom prst="rect">
            <a:avLst/>
          </a:prstGeom>
          <a:noFill/>
          <a:ln/>
        </p:spPr>
        <p:txBody>
          <a:bodyPr wrap="square" lIns="0" tIns="0" rIns="0" bIns="0" rtlCol="0" anchor="ctr"/>
          <a:lstStyle/>
          <a:p>
            <a:pPr marL="0" indent="0">
              <a:buNone/>
            </a:pPr>
            <a:r>
              <a:rPr lang="en-US" sz="1200" b="1" dirty="0">
                <a:solidFill>
                  <a:schemeClr val="tx2"/>
                </a:solidFill>
                <a:latin typeface="Open Sans" pitchFamily="2" charset="0"/>
                <a:ea typeface="Open Sans" pitchFamily="2" charset="0"/>
                <a:cs typeface="Open Sans" pitchFamily="2" charset="0"/>
              </a:rPr>
              <a:t>B.  </a:t>
            </a:r>
            <a:r>
              <a:rPr lang="en-US" sz="1200" dirty="0">
                <a:solidFill>
                  <a:schemeClr val="tx2"/>
                </a:solidFill>
                <a:latin typeface="Open Sans" pitchFamily="2" charset="0"/>
                <a:ea typeface="Open Sans" pitchFamily="2" charset="0"/>
                <a:cs typeface="Open Sans" pitchFamily="2" charset="0"/>
              </a:rPr>
              <a:t>Data privacy risk, real customer data was sent to an external model without authorization</a:t>
            </a:r>
          </a:p>
        </p:txBody>
      </p:sp>
    </p:spTree>
    <p:extLst>
      <p:ext uri="{BB962C8B-B14F-4D97-AF65-F5344CB8AC3E}">
        <p14:creationId xmlns:p14="http://schemas.microsoft.com/office/powerpoint/2010/main" val="33939636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007FA-3E16-A6AE-215B-ACC3B12A0B5D}"/>
            </a:ext>
          </a:extLst>
        </p:cNvPr>
        <p:cNvGrpSpPr/>
        <p:nvPr/>
      </p:nvGrpSpPr>
      <p:grpSpPr>
        <a:xfrm>
          <a:off x="0" y="0"/>
          <a:ext cx="0" cy="0"/>
          <a:chOff x="0" y="0"/>
          <a:chExt cx="0" cy="0"/>
        </a:xfrm>
      </p:grpSpPr>
      <p:sp>
        <p:nvSpPr>
          <p:cNvPr id="18" name="Text 0">
            <a:extLst>
              <a:ext uri="{FF2B5EF4-FFF2-40B4-BE49-F238E27FC236}">
                <a16:creationId xmlns:a16="http://schemas.microsoft.com/office/drawing/2014/main" id="{28160C3C-7A4A-161B-2FD1-6B088FEB14C4}"/>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700" b="1">
                <a:latin typeface="Open Sans" pitchFamily="2" charset="0"/>
                <a:ea typeface="Open Sans" pitchFamily="2" charset="0"/>
                <a:cs typeface="Open Sans" pitchFamily="2" charset="0"/>
              </a:rPr>
              <a:t>Spot the Risk</a:t>
            </a:r>
            <a:endParaRPr lang="en-US" sz="2700">
              <a:latin typeface="Open Sans" pitchFamily="2" charset="0"/>
              <a:ea typeface="Open Sans" pitchFamily="2" charset="0"/>
              <a:cs typeface="Open Sans" pitchFamily="2" charset="0"/>
            </a:endParaRPr>
          </a:p>
        </p:txBody>
      </p:sp>
      <p:sp>
        <p:nvSpPr>
          <p:cNvPr id="19" name="Text 1">
            <a:extLst>
              <a:ext uri="{FF2B5EF4-FFF2-40B4-BE49-F238E27FC236}">
                <a16:creationId xmlns:a16="http://schemas.microsoft.com/office/drawing/2014/main" id="{C3D18C12-B809-FF34-7EA3-31CDD664A9C2}"/>
              </a:ext>
            </a:extLst>
          </p:cNvPr>
          <p:cNvSpPr/>
          <p:nvPr/>
        </p:nvSpPr>
        <p:spPr>
          <a:xfrm>
            <a:off x="394212" y="676656"/>
            <a:ext cx="8595360" cy="292608"/>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Read the scenario. Classify the primary risk before we discuss.</a:t>
            </a:r>
          </a:p>
        </p:txBody>
      </p:sp>
      <p:sp>
        <p:nvSpPr>
          <p:cNvPr id="21" name="Shape 5">
            <a:extLst>
              <a:ext uri="{FF2B5EF4-FFF2-40B4-BE49-F238E27FC236}">
                <a16:creationId xmlns:a16="http://schemas.microsoft.com/office/drawing/2014/main" id="{F7E14506-E721-C998-8315-07A8613CB704}"/>
              </a:ext>
            </a:extLst>
          </p:cNvPr>
          <p:cNvSpPr/>
          <p:nvPr/>
        </p:nvSpPr>
        <p:spPr>
          <a:xfrm>
            <a:off x="292608" y="1097280"/>
            <a:ext cx="8558784" cy="914400"/>
          </a:xfrm>
          <a:prstGeom prst="roundRect">
            <a:avLst>
              <a:gd name="adj" fmla="val 60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22" name="Text 6">
            <a:extLst>
              <a:ext uri="{FF2B5EF4-FFF2-40B4-BE49-F238E27FC236}">
                <a16:creationId xmlns:a16="http://schemas.microsoft.com/office/drawing/2014/main" id="{719CB9B5-5FE5-3F0D-6923-2345C4A5FB84}"/>
              </a:ext>
            </a:extLst>
          </p:cNvPr>
          <p:cNvSpPr/>
          <p:nvPr/>
        </p:nvSpPr>
        <p:spPr>
          <a:xfrm>
            <a:off x="502920" y="1152144"/>
            <a:ext cx="8138160" cy="804672"/>
          </a:xfrm>
          <a:prstGeom prst="rect">
            <a:avLst/>
          </a:prstGeom>
          <a:noFill/>
          <a:ln/>
        </p:spPr>
        <p:txBody>
          <a:bodyPr wrap="square" lIns="0" tIns="0" rIns="0" bIns="0" rtlCol="0" anchor="ctr"/>
          <a:lstStyle/>
          <a:p>
            <a:pPr marL="0" indent="0">
              <a:lnSpc>
                <a:spcPct val="112000"/>
              </a:lnSpc>
              <a:buNone/>
            </a:pPr>
            <a:r>
              <a:rPr lang="en-US" sz="1200" i="1">
                <a:solidFill>
                  <a:schemeClr val="tx2"/>
                </a:solidFill>
                <a:latin typeface="Open Sans" pitchFamily="2" charset="0"/>
                <a:ea typeface="Open Sans" pitchFamily="2" charset="0"/>
                <a:cs typeface="Open Sans" pitchFamily="2" charset="0"/>
              </a:rPr>
              <a:t>An AI engineer uses Claude Code to build a RAG PoC over support tickets. During the build, they paste a live export — real names, emails, account IDs — into Claude Code to show it the schema. The PoC works. The demo goes well.</a:t>
            </a:r>
            <a:endParaRPr lang="en-US" sz="1200">
              <a:solidFill>
                <a:schemeClr val="tx2"/>
              </a:solidFill>
              <a:latin typeface="Open Sans" pitchFamily="2" charset="0"/>
              <a:ea typeface="Open Sans" pitchFamily="2" charset="0"/>
              <a:cs typeface="Open Sans" pitchFamily="2" charset="0"/>
            </a:endParaRPr>
          </a:p>
        </p:txBody>
      </p:sp>
      <p:sp>
        <p:nvSpPr>
          <p:cNvPr id="23" name="Shape 7">
            <a:extLst>
              <a:ext uri="{FF2B5EF4-FFF2-40B4-BE49-F238E27FC236}">
                <a16:creationId xmlns:a16="http://schemas.microsoft.com/office/drawing/2014/main" id="{026446D5-3F18-DDDC-48C8-08980819E4AF}"/>
              </a:ext>
            </a:extLst>
          </p:cNvPr>
          <p:cNvSpPr/>
          <p:nvPr/>
        </p:nvSpPr>
        <p:spPr>
          <a:xfrm>
            <a:off x="292608" y="2176272"/>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24" name="Text 8">
            <a:extLst>
              <a:ext uri="{FF2B5EF4-FFF2-40B4-BE49-F238E27FC236}">
                <a16:creationId xmlns:a16="http://schemas.microsoft.com/office/drawing/2014/main" id="{574E8DFF-8DC5-AD6B-B055-CC9F929A1475}"/>
              </a:ext>
            </a:extLst>
          </p:cNvPr>
          <p:cNvSpPr/>
          <p:nvPr/>
        </p:nvSpPr>
        <p:spPr>
          <a:xfrm>
            <a:off x="502920" y="2176272"/>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A.  </a:t>
            </a:r>
            <a:r>
              <a:rPr lang="en-US" sz="1200">
                <a:solidFill>
                  <a:schemeClr val="tx2"/>
                </a:solidFill>
                <a:latin typeface="Open Sans" pitchFamily="2" charset="0"/>
                <a:ea typeface="Open Sans" pitchFamily="2" charset="0"/>
                <a:cs typeface="Open Sans" pitchFamily="2" charset="0"/>
              </a:rPr>
              <a:t>No risk, the data was only used to build the PoC, not stored anywhere</a:t>
            </a:r>
          </a:p>
        </p:txBody>
      </p:sp>
      <p:sp>
        <p:nvSpPr>
          <p:cNvPr id="25" name="Shape 9">
            <a:extLst>
              <a:ext uri="{FF2B5EF4-FFF2-40B4-BE49-F238E27FC236}">
                <a16:creationId xmlns:a16="http://schemas.microsoft.com/office/drawing/2014/main" id="{32072076-D6C7-299C-CDD9-EC1092056989}"/>
              </a:ext>
            </a:extLst>
          </p:cNvPr>
          <p:cNvSpPr/>
          <p:nvPr/>
        </p:nvSpPr>
        <p:spPr>
          <a:xfrm>
            <a:off x="292608" y="2784348"/>
            <a:ext cx="8558784" cy="512064"/>
          </a:xfrm>
          <a:prstGeom prst="roundRect">
            <a:avLst>
              <a:gd name="adj" fmla="val 8929"/>
            </a:avLst>
          </a:prstGeom>
          <a:solidFill>
            <a:srgbClr val="ECFEF6"/>
          </a:solidFill>
          <a:ln w="19050">
            <a:solidFill>
              <a:srgbClr val="00B050"/>
            </a:solidFill>
            <a:prstDash val="solid"/>
          </a:ln>
        </p:spPr>
        <p:txBody>
          <a:bodyPr/>
          <a:lstStyle/>
          <a:p>
            <a:endParaRPr lang="en-US" sz="1350">
              <a:latin typeface="Open Sans" pitchFamily="2" charset="0"/>
              <a:ea typeface="Open Sans" pitchFamily="2" charset="0"/>
              <a:cs typeface="Open Sans" pitchFamily="2" charset="0"/>
            </a:endParaRPr>
          </a:p>
        </p:txBody>
      </p:sp>
      <p:sp>
        <p:nvSpPr>
          <p:cNvPr id="26" name="Text 10">
            <a:extLst>
              <a:ext uri="{FF2B5EF4-FFF2-40B4-BE49-F238E27FC236}">
                <a16:creationId xmlns:a16="http://schemas.microsoft.com/office/drawing/2014/main" id="{4AD3546D-057D-528D-9025-D8A20023E630}"/>
              </a:ext>
            </a:extLst>
          </p:cNvPr>
          <p:cNvSpPr/>
          <p:nvPr/>
        </p:nvSpPr>
        <p:spPr>
          <a:xfrm>
            <a:off x="502920" y="2784348"/>
            <a:ext cx="8138160" cy="512064"/>
          </a:xfrm>
          <a:prstGeom prst="rect">
            <a:avLst/>
          </a:prstGeom>
          <a:noFill/>
          <a:ln/>
        </p:spPr>
        <p:txBody>
          <a:bodyPr wrap="square" lIns="0" tIns="0" rIns="0" bIns="0" rtlCol="0" anchor="ctr"/>
          <a:lstStyle/>
          <a:p>
            <a:pPr marL="0" indent="0">
              <a:buNone/>
            </a:pPr>
            <a:r>
              <a:rPr lang="en-US" sz="1200" b="1" dirty="0">
                <a:latin typeface="Open Sans" pitchFamily="2" charset="0"/>
                <a:ea typeface="Open Sans" pitchFamily="2" charset="0"/>
                <a:cs typeface="Open Sans" pitchFamily="2" charset="0"/>
              </a:rPr>
              <a:t>B.  </a:t>
            </a:r>
            <a:r>
              <a:rPr lang="en-US" sz="1200" dirty="0">
                <a:latin typeface="Open Sans" pitchFamily="2" charset="0"/>
                <a:ea typeface="Open Sans" pitchFamily="2" charset="0"/>
                <a:cs typeface="Open Sans" pitchFamily="2" charset="0"/>
              </a:rPr>
              <a:t>Data privacy risk, real customer data was sent to an external model without authorization</a:t>
            </a:r>
          </a:p>
        </p:txBody>
      </p:sp>
      <p:sp>
        <p:nvSpPr>
          <p:cNvPr id="27" name="Shape 11">
            <a:extLst>
              <a:ext uri="{FF2B5EF4-FFF2-40B4-BE49-F238E27FC236}">
                <a16:creationId xmlns:a16="http://schemas.microsoft.com/office/drawing/2014/main" id="{D3002DD7-A4B1-EB9D-6526-1A0217A2F823}"/>
              </a:ext>
            </a:extLst>
          </p:cNvPr>
          <p:cNvSpPr/>
          <p:nvPr/>
        </p:nvSpPr>
        <p:spPr>
          <a:xfrm>
            <a:off x="292608" y="3392424"/>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28" name="Text 12">
            <a:extLst>
              <a:ext uri="{FF2B5EF4-FFF2-40B4-BE49-F238E27FC236}">
                <a16:creationId xmlns:a16="http://schemas.microsoft.com/office/drawing/2014/main" id="{C026BD14-8126-D866-BCBC-4FC297483522}"/>
              </a:ext>
            </a:extLst>
          </p:cNvPr>
          <p:cNvSpPr/>
          <p:nvPr/>
        </p:nvSpPr>
        <p:spPr>
          <a:xfrm>
            <a:off x="502920" y="3392424"/>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C.  Security risk, the ticketing API credentials are now exposed</a:t>
            </a:r>
            <a:r>
              <a:rPr lang="en-US" sz="1200">
                <a:solidFill>
                  <a:schemeClr val="tx2"/>
                </a:solidFill>
                <a:latin typeface="Open Sans" pitchFamily="2" charset="0"/>
                <a:ea typeface="Open Sans" pitchFamily="2" charset="0"/>
                <a:cs typeface="Open Sans" pitchFamily="2" charset="0"/>
              </a:rPr>
              <a:t/>
            </a:r>
          </a:p>
        </p:txBody>
      </p:sp>
      <p:sp>
        <p:nvSpPr>
          <p:cNvPr id="29" name="Shape 13">
            <a:extLst>
              <a:ext uri="{FF2B5EF4-FFF2-40B4-BE49-F238E27FC236}">
                <a16:creationId xmlns:a16="http://schemas.microsoft.com/office/drawing/2014/main" id="{E4523C53-6727-C1E4-D50F-C8100123DF22}"/>
              </a:ext>
            </a:extLst>
          </p:cNvPr>
          <p:cNvSpPr/>
          <p:nvPr/>
        </p:nvSpPr>
        <p:spPr>
          <a:xfrm>
            <a:off x="292608" y="4000500"/>
            <a:ext cx="8558784" cy="512064"/>
          </a:xfrm>
          <a:prstGeom prst="roundRect">
            <a:avLst>
              <a:gd name="adj" fmla="val 8929"/>
            </a:avLst>
          </a:prstGeom>
          <a:solidFill>
            <a:srgbClr val="FFFFFF"/>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30" name="Text 14">
            <a:extLst>
              <a:ext uri="{FF2B5EF4-FFF2-40B4-BE49-F238E27FC236}">
                <a16:creationId xmlns:a16="http://schemas.microsoft.com/office/drawing/2014/main" id="{10D5A388-9FF6-8717-1524-69AE43ED8B22}"/>
              </a:ext>
            </a:extLst>
          </p:cNvPr>
          <p:cNvSpPr/>
          <p:nvPr/>
        </p:nvSpPr>
        <p:spPr>
          <a:xfrm>
            <a:off x="502920" y="4000500"/>
            <a:ext cx="8138160" cy="512064"/>
          </a:xfrm>
          <a:prstGeom prst="rect">
            <a:avLst/>
          </a:prstGeom>
          <a:noFill/>
          <a:ln/>
        </p:spPr>
        <p:txBody>
          <a:bodyPr wrap="square" lIns="0" tIns="0" rIns="0" bIns="0" rtlCol="0" anchor="ctr"/>
          <a:lstStyle/>
          <a:p>
            <a:pPr marL="0" indent="0">
              <a:buNone/>
            </a:pPr>
            <a:r>
              <a:rPr lang="en-US" sz="1200" b="1">
                <a:solidFill>
                  <a:schemeClr val="tx2"/>
                </a:solidFill>
                <a:latin typeface="Open Sans" pitchFamily="2" charset="0"/>
                <a:ea typeface="Open Sans" pitchFamily="2" charset="0"/>
                <a:cs typeface="Open Sans" pitchFamily="2" charset="0"/>
              </a:rPr>
              <a:t>D.  </a:t>
            </a:r>
            <a:r>
              <a:rPr lang="en-US" sz="1200">
                <a:solidFill>
                  <a:schemeClr val="tx2"/>
                </a:solidFill>
                <a:latin typeface="Open Sans" pitchFamily="2" charset="0"/>
                <a:ea typeface="Open Sans" pitchFamily="2" charset="0"/>
                <a:cs typeface="Open Sans" pitchFamily="2" charset="0"/>
              </a:rPr>
              <a:t>Governance risk, the tool was not on the approved list</a:t>
            </a:r>
          </a:p>
        </p:txBody>
      </p:sp>
      <p:sp>
        <p:nvSpPr>
          <p:cNvPr id="31" name="Text 3">
            <a:extLst>
              <a:ext uri="{FF2B5EF4-FFF2-40B4-BE49-F238E27FC236}">
                <a16:creationId xmlns:a16="http://schemas.microsoft.com/office/drawing/2014/main" id="{4163F3B4-18C6-F50A-245F-0103B2A942C3}"/>
              </a:ext>
            </a:extLst>
          </p:cNvPr>
          <p:cNvSpPr/>
          <p:nvPr/>
        </p:nvSpPr>
        <p:spPr>
          <a:xfrm>
            <a:off x="7607808" y="201168"/>
            <a:ext cx="1188720" cy="292608"/>
          </a:xfrm>
          <a:prstGeom prst="rect">
            <a:avLst/>
          </a:prstGeom>
          <a:solidFill>
            <a:schemeClr val="accent2"/>
          </a:solidFill>
          <a:ln>
            <a:noFill/>
          </a:ln>
        </p:spPr>
        <p:txBody>
          <a:bodyPr wrap="square" lIns="0" tIns="0" rIns="0" bIns="0" rtlCol="0" anchor="ctr"/>
          <a:lstStyle/>
          <a:p>
            <a:pPr algn="ctr"/>
            <a:r>
              <a:rPr lang="en-US" sz="900" b="1" kern="0" spc="100">
                <a:solidFill>
                  <a:schemeClr val="bg1"/>
                </a:solidFill>
                <a:latin typeface="Open Sans" pitchFamily="2" charset="0"/>
                <a:ea typeface="Open Sans" pitchFamily="2" charset="0"/>
                <a:cs typeface="Open Sans" pitchFamily="2" charset="0"/>
              </a:rPr>
              <a:t>REFLECT</a:t>
            </a:r>
            <a:endParaRPr lang="en-US" sz="900">
              <a:solidFill>
                <a:schemeClr val="bg1"/>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8816109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6">
            <a:extLst>
              <a:ext uri="{FF2B5EF4-FFF2-40B4-BE49-F238E27FC236}">
                <a16:creationId xmlns:a16="http://schemas.microsoft.com/office/drawing/2014/main" id="{4F6EC736-B405-5613-93A2-1475359DEDDF}"/>
              </a:ext>
            </a:extLst>
          </p:cNvPr>
          <p:cNvSpPr/>
          <p:nvPr/>
        </p:nvSpPr>
        <p:spPr>
          <a:xfrm>
            <a:off x="292608" y="969264"/>
            <a:ext cx="8275320" cy="1162194"/>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4" name="Shape 5">
            <a:extLst>
              <a:ext uri="{FF2B5EF4-FFF2-40B4-BE49-F238E27FC236}">
                <a16:creationId xmlns:a16="http://schemas.microsoft.com/office/drawing/2014/main" id="{50C49E1B-B555-A12C-13A7-1C18A888092A}"/>
              </a:ext>
            </a:extLst>
          </p:cNvPr>
          <p:cNvSpPr/>
          <p:nvPr/>
        </p:nvSpPr>
        <p:spPr>
          <a:xfrm>
            <a:off x="366254" y="1367893"/>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5" name="Text 6">
            <a:extLst>
              <a:ext uri="{FF2B5EF4-FFF2-40B4-BE49-F238E27FC236}">
                <a16:creationId xmlns:a16="http://schemas.microsoft.com/office/drawing/2014/main" id="{06EE8EF3-9588-F217-2997-0EBCFC819388}"/>
              </a:ext>
            </a:extLst>
          </p:cNvPr>
          <p:cNvSpPr/>
          <p:nvPr/>
        </p:nvSpPr>
        <p:spPr>
          <a:xfrm>
            <a:off x="366254" y="1367893"/>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1</a:t>
            </a:r>
            <a:endParaRPr lang="en-US" sz="1500">
              <a:latin typeface="Open Sans" pitchFamily="2" charset="0"/>
              <a:ea typeface="Open Sans" pitchFamily="2" charset="0"/>
              <a:cs typeface="Open Sans" pitchFamily="2" charset="0"/>
            </a:endParaRPr>
          </a:p>
        </p:txBody>
      </p:sp>
      <p:sp>
        <p:nvSpPr>
          <p:cNvPr id="6" name="Text 7">
            <a:extLst>
              <a:ext uri="{FF2B5EF4-FFF2-40B4-BE49-F238E27FC236}">
                <a16:creationId xmlns:a16="http://schemas.microsoft.com/office/drawing/2014/main" id="{D9F0163D-121B-AD05-E118-4F5F0BE66075}"/>
              </a:ext>
            </a:extLst>
          </p:cNvPr>
          <p:cNvSpPr/>
          <p:nvPr/>
        </p:nvSpPr>
        <p:spPr>
          <a:xfrm>
            <a:off x="914894" y="1009959"/>
            <a:ext cx="8010144" cy="274320"/>
          </a:xfrm>
          <a:prstGeom prst="rect">
            <a:avLst/>
          </a:prstGeom>
          <a:noFill/>
          <a:ln/>
        </p:spPr>
        <p:txBody>
          <a:bodyPr wrap="square" lIns="0" tIns="0" rIns="0" bIns="0" rtlCol="0" anchor="ctr"/>
          <a:lstStyle/>
          <a:p>
            <a:r>
              <a:rPr lang="en-US" sz="1400" b="1">
                <a:latin typeface="Open Sans" pitchFamily="2" charset="0"/>
                <a:ea typeface="Open Sans" pitchFamily="2" charset="0"/>
                <a:cs typeface="Open Sans" pitchFamily="2" charset="0"/>
              </a:rPr>
              <a:t>Run the risk review prompt</a:t>
            </a:r>
            <a:endParaRPr lang="en-US" sz="1400">
              <a:latin typeface="Open Sans" pitchFamily="2" charset="0"/>
              <a:ea typeface="Open Sans" pitchFamily="2" charset="0"/>
              <a:cs typeface="Open Sans" pitchFamily="2" charset="0"/>
            </a:endParaRPr>
          </a:p>
        </p:txBody>
      </p:sp>
      <p:sp>
        <p:nvSpPr>
          <p:cNvPr id="7" name="Shape 8">
            <a:extLst>
              <a:ext uri="{FF2B5EF4-FFF2-40B4-BE49-F238E27FC236}">
                <a16:creationId xmlns:a16="http://schemas.microsoft.com/office/drawing/2014/main" id="{E175D27E-CE8A-F932-7F46-BC26AE81BF76}"/>
              </a:ext>
            </a:extLst>
          </p:cNvPr>
          <p:cNvSpPr/>
          <p:nvPr/>
        </p:nvSpPr>
        <p:spPr>
          <a:xfrm>
            <a:off x="914894" y="1311711"/>
            <a:ext cx="5129290" cy="730490"/>
          </a:xfrm>
          <a:prstGeom prst="roundRect">
            <a:avLst>
              <a:gd name="adj" fmla="val 6897"/>
            </a:avLst>
          </a:prstGeom>
          <a:solidFill>
            <a:schemeClr val="tx1"/>
          </a:solidFill>
          <a:ln w="12700">
            <a:solidFill>
              <a:srgbClr val="1E1E1E"/>
            </a:solidFill>
            <a:prstDash val="solid"/>
          </a:ln>
        </p:spPr>
        <p:txBody>
          <a:bodyPr/>
          <a:lstStyle/>
          <a:p>
            <a:endParaRPr lang="en-US">
              <a:latin typeface="Open Sans" pitchFamily="2" charset="0"/>
              <a:ea typeface="Open Sans" pitchFamily="2" charset="0"/>
              <a:cs typeface="Open Sans" pitchFamily="2" charset="0"/>
            </a:endParaRPr>
          </a:p>
        </p:txBody>
      </p:sp>
      <p:sp>
        <p:nvSpPr>
          <p:cNvPr id="8" name="Text 9">
            <a:extLst>
              <a:ext uri="{FF2B5EF4-FFF2-40B4-BE49-F238E27FC236}">
                <a16:creationId xmlns:a16="http://schemas.microsoft.com/office/drawing/2014/main" id="{1374B8D8-9D9D-2506-0934-29FC1DF26D91}"/>
              </a:ext>
            </a:extLst>
          </p:cNvPr>
          <p:cNvSpPr/>
          <p:nvPr/>
        </p:nvSpPr>
        <p:spPr>
          <a:xfrm>
            <a:off x="1116062" y="1385009"/>
            <a:ext cx="4650424" cy="557784"/>
          </a:xfrm>
          <a:prstGeom prst="rect">
            <a:avLst/>
          </a:prstGeom>
          <a:noFill/>
          <a:ln/>
        </p:spPr>
        <p:txBody>
          <a:bodyPr wrap="square" lIns="0" tIns="0" rIns="0" bIns="0" rtlCol="0" anchor="t"/>
          <a:lstStyle/>
          <a:p>
            <a:pPr>
              <a:lnSpc>
                <a:spcPct val="118000"/>
              </a:lnSpc>
            </a:pPr>
            <a:r>
              <a:rPr lang="en-US" sz="1100" err="1">
                <a:solidFill>
                  <a:srgbClr val="00B050"/>
                </a:solidFill>
                <a:latin typeface="Open Sans" pitchFamily="2" charset="0"/>
                <a:ea typeface="Open Sans" pitchFamily="2" charset="0"/>
                <a:cs typeface="Open Sans" pitchFamily="2" charset="0"/>
              </a:rPr>
              <a:t>claude</a:t>
            </a:r>
            <a:r>
              <a:rPr lang="en-US" sz="1100">
                <a:solidFill>
                  <a:srgbClr val="00B050"/>
                </a:solidFill>
                <a:latin typeface="Open Sans" pitchFamily="2" charset="0"/>
                <a:ea typeface="Open Sans" pitchFamily="2" charset="0"/>
                <a:cs typeface="Open Sans" pitchFamily="2" charset="0"/>
              </a:rPr>
              <a:t> "Review this PoC for data privacy risks, security</a:t>
            </a:r>
          </a:p>
          <a:p>
            <a:pPr>
              <a:lnSpc>
                <a:spcPct val="118000"/>
              </a:lnSpc>
            </a:pPr>
            <a:r>
              <a:rPr lang="en-US" sz="1100">
                <a:solidFill>
                  <a:srgbClr val="00B050"/>
                </a:solidFill>
                <a:latin typeface="Open Sans" pitchFamily="2" charset="0"/>
                <a:ea typeface="Open Sans" pitchFamily="2" charset="0"/>
                <a:cs typeface="Open Sans" pitchFamily="2" charset="0"/>
              </a:rPr>
              <a:t>vulnerabilities, and governance concerns. For each, name it,</a:t>
            </a:r>
          </a:p>
          <a:p>
            <a:pPr>
              <a:lnSpc>
                <a:spcPct val="118000"/>
              </a:lnSpc>
            </a:pPr>
            <a:r>
              <a:rPr lang="en-US" sz="1100">
                <a:solidFill>
                  <a:srgbClr val="00B050"/>
                </a:solidFill>
                <a:latin typeface="Open Sans" pitchFamily="2" charset="0"/>
                <a:ea typeface="Open Sans" pitchFamily="2" charset="0"/>
                <a:cs typeface="Open Sans" pitchFamily="2" charset="0"/>
              </a:rPr>
              <a:t>classify severity, and state what must change for production."</a:t>
            </a:r>
          </a:p>
        </p:txBody>
      </p:sp>
      <p:sp>
        <p:nvSpPr>
          <p:cNvPr id="9" name="Shape 6">
            <a:extLst>
              <a:ext uri="{FF2B5EF4-FFF2-40B4-BE49-F238E27FC236}">
                <a16:creationId xmlns:a16="http://schemas.microsoft.com/office/drawing/2014/main" id="{3AC8445B-5CD3-F548-F028-45E68975F77C}"/>
              </a:ext>
            </a:extLst>
          </p:cNvPr>
          <p:cNvSpPr/>
          <p:nvPr/>
        </p:nvSpPr>
        <p:spPr>
          <a:xfrm>
            <a:off x="292608" y="2158724"/>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0" name="Shape 10">
            <a:extLst>
              <a:ext uri="{FF2B5EF4-FFF2-40B4-BE49-F238E27FC236}">
                <a16:creationId xmlns:a16="http://schemas.microsoft.com/office/drawing/2014/main" id="{2B4A77D3-E643-E985-130C-1E16BA8A24CC}"/>
              </a:ext>
            </a:extLst>
          </p:cNvPr>
          <p:cNvSpPr/>
          <p:nvPr/>
        </p:nvSpPr>
        <p:spPr>
          <a:xfrm>
            <a:off x="366254" y="2231007"/>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1" name="Text 11">
            <a:extLst>
              <a:ext uri="{FF2B5EF4-FFF2-40B4-BE49-F238E27FC236}">
                <a16:creationId xmlns:a16="http://schemas.microsoft.com/office/drawing/2014/main" id="{8F2B2A31-D32A-77B4-8F4F-B2B8A06CD758}"/>
              </a:ext>
            </a:extLst>
          </p:cNvPr>
          <p:cNvSpPr/>
          <p:nvPr/>
        </p:nvSpPr>
        <p:spPr>
          <a:xfrm>
            <a:off x="366254" y="2231007"/>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2</a:t>
            </a:r>
            <a:endParaRPr lang="en-US" sz="1500">
              <a:latin typeface="Open Sans" pitchFamily="2" charset="0"/>
              <a:ea typeface="Open Sans" pitchFamily="2" charset="0"/>
              <a:cs typeface="Open Sans" pitchFamily="2" charset="0"/>
            </a:endParaRPr>
          </a:p>
        </p:txBody>
      </p:sp>
      <p:sp>
        <p:nvSpPr>
          <p:cNvPr id="12" name="Text 12">
            <a:extLst>
              <a:ext uri="{FF2B5EF4-FFF2-40B4-BE49-F238E27FC236}">
                <a16:creationId xmlns:a16="http://schemas.microsoft.com/office/drawing/2014/main" id="{E703FB51-767D-C8E9-D7AE-030033F6D365}"/>
              </a:ext>
            </a:extLst>
          </p:cNvPr>
          <p:cNvSpPr/>
          <p:nvPr/>
        </p:nvSpPr>
        <p:spPr>
          <a:xfrm>
            <a:off x="914894" y="2170219"/>
            <a:ext cx="8010144" cy="274320"/>
          </a:xfrm>
          <a:prstGeom prst="rect">
            <a:avLst/>
          </a:prstGeom>
          <a:noFill/>
          <a:ln/>
        </p:spPr>
        <p:txBody>
          <a:bodyPr wrap="square" lIns="0" tIns="0" rIns="0" bIns="0" rtlCol="0" anchor="ctr"/>
          <a:lstStyle/>
          <a:p>
            <a:r>
              <a:rPr lang="en-US" sz="1400" b="1">
                <a:latin typeface="Open Sans" pitchFamily="2" charset="0"/>
                <a:ea typeface="Open Sans" pitchFamily="2" charset="0"/>
                <a:cs typeface="Open Sans" pitchFamily="2" charset="0"/>
              </a:rPr>
              <a:t>Supplement Claude's findings with your own</a:t>
            </a:r>
            <a:endParaRPr lang="en-US" sz="1400">
              <a:latin typeface="Open Sans" pitchFamily="2" charset="0"/>
              <a:ea typeface="Open Sans" pitchFamily="2" charset="0"/>
              <a:cs typeface="Open Sans" pitchFamily="2" charset="0"/>
            </a:endParaRPr>
          </a:p>
        </p:txBody>
      </p:sp>
      <p:sp>
        <p:nvSpPr>
          <p:cNvPr id="13" name="Text 13">
            <a:extLst>
              <a:ext uri="{FF2B5EF4-FFF2-40B4-BE49-F238E27FC236}">
                <a16:creationId xmlns:a16="http://schemas.microsoft.com/office/drawing/2014/main" id="{2A81DA2C-7D99-835F-C464-423F3B954B1C}"/>
              </a:ext>
            </a:extLst>
          </p:cNvPr>
          <p:cNvSpPr/>
          <p:nvPr/>
        </p:nvSpPr>
        <p:spPr>
          <a:xfrm>
            <a:off x="914894" y="2462827"/>
            <a:ext cx="8010144" cy="237744"/>
          </a:xfrm>
          <a:prstGeom prst="rect">
            <a:avLst/>
          </a:prstGeom>
          <a:noFill/>
          <a:ln/>
        </p:spPr>
        <p:txBody>
          <a:bodyPr wrap="square" lIns="0" tIns="0" rIns="0" bIns="0" rtlCol="0" anchor="t"/>
          <a:lstStyle/>
          <a:p>
            <a:pPr>
              <a:lnSpc>
                <a:spcPct val="112000"/>
              </a:lnSpc>
            </a:pPr>
            <a:r>
              <a:rPr lang="en-US" sz="1100">
                <a:solidFill>
                  <a:schemeClr val="tx2"/>
                </a:solidFill>
                <a:latin typeface="Open Sans" pitchFamily="2" charset="0"/>
                <a:ea typeface="Open Sans" pitchFamily="2" charset="0"/>
                <a:cs typeface="Open Sans" pitchFamily="2" charset="0"/>
              </a:rPr>
              <a:t>Add anything Claude cannot see: data handling decisions, tools used, data pasted during testing.</a:t>
            </a:r>
          </a:p>
        </p:txBody>
      </p:sp>
      <p:sp>
        <p:nvSpPr>
          <p:cNvPr id="14" name="Shape 6">
            <a:extLst>
              <a:ext uri="{FF2B5EF4-FFF2-40B4-BE49-F238E27FC236}">
                <a16:creationId xmlns:a16="http://schemas.microsoft.com/office/drawing/2014/main" id="{2498824E-341E-ED72-8705-08201841D088}"/>
              </a:ext>
            </a:extLst>
          </p:cNvPr>
          <p:cNvSpPr/>
          <p:nvPr/>
        </p:nvSpPr>
        <p:spPr>
          <a:xfrm>
            <a:off x="292608" y="2756696"/>
            <a:ext cx="8275320" cy="838067"/>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Shape 14">
            <a:extLst>
              <a:ext uri="{FF2B5EF4-FFF2-40B4-BE49-F238E27FC236}">
                <a16:creationId xmlns:a16="http://schemas.microsoft.com/office/drawing/2014/main" id="{5525E7DC-2667-6574-BE16-26317C0410CF}"/>
              </a:ext>
            </a:extLst>
          </p:cNvPr>
          <p:cNvSpPr/>
          <p:nvPr/>
        </p:nvSpPr>
        <p:spPr>
          <a:xfrm>
            <a:off x="366254" y="2951702"/>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6" name="Text 15">
            <a:extLst>
              <a:ext uri="{FF2B5EF4-FFF2-40B4-BE49-F238E27FC236}">
                <a16:creationId xmlns:a16="http://schemas.microsoft.com/office/drawing/2014/main" id="{FA102DAB-E84C-42E3-E57A-20FE1F0A7345}"/>
              </a:ext>
            </a:extLst>
          </p:cNvPr>
          <p:cNvSpPr/>
          <p:nvPr/>
        </p:nvSpPr>
        <p:spPr>
          <a:xfrm>
            <a:off x="366254" y="2951702"/>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3</a:t>
            </a:r>
            <a:endParaRPr lang="en-US" sz="1500">
              <a:latin typeface="Open Sans" pitchFamily="2" charset="0"/>
              <a:ea typeface="Open Sans" pitchFamily="2" charset="0"/>
              <a:cs typeface="Open Sans" pitchFamily="2" charset="0"/>
            </a:endParaRPr>
          </a:p>
        </p:txBody>
      </p:sp>
      <p:sp>
        <p:nvSpPr>
          <p:cNvPr id="17" name="Text 16">
            <a:extLst>
              <a:ext uri="{FF2B5EF4-FFF2-40B4-BE49-F238E27FC236}">
                <a16:creationId xmlns:a16="http://schemas.microsoft.com/office/drawing/2014/main" id="{69FE7A4E-422F-4182-6A16-6F1AFF2E90AA}"/>
              </a:ext>
            </a:extLst>
          </p:cNvPr>
          <p:cNvSpPr/>
          <p:nvPr/>
        </p:nvSpPr>
        <p:spPr>
          <a:xfrm>
            <a:off x="914894" y="2800195"/>
            <a:ext cx="7653034" cy="274320"/>
          </a:xfrm>
          <a:prstGeom prst="rect">
            <a:avLst/>
          </a:prstGeom>
          <a:noFill/>
          <a:ln/>
        </p:spPr>
        <p:txBody>
          <a:bodyPr wrap="square" lIns="0" tIns="0" rIns="0" bIns="0" rtlCol="0" anchor="ctr"/>
          <a:lstStyle/>
          <a:p>
            <a:r>
              <a:rPr lang="en-US" sz="1400" b="1">
                <a:latin typeface="Open Sans" pitchFamily="2" charset="0"/>
                <a:ea typeface="Open Sans" pitchFamily="2" charset="0"/>
                <a:cs typeface="Open Sans" pitchFamily="2" charset="0"/>
              </a:rPr>
              <a:t>Write the assessment in plain English</a:t>
            </a:r>
            <a:endParaRPr lang="en-US" sz="1400">
              <a:latin typeface="Open Sans" pitchFamily="2" charset="0"/>
              <a:ea typeface="Open Sans" pitchFamily="2" charset="0"/>
              <a:cs typeface="Open Sans" pitchFamily="2" charset="0"/>
            </a:endParaRPr>
          </a:p>
        </p:txBody>
      </p:sp>
      <p:sp>
        <p:nvSpPr>
          <p:cNvPr id="18" name="Text 17">
            <a:extLst>
              <a:ext uri="{FF2B5EF4-FFF2-40B4-BE49-F238E27FC236}">
                <a16:creationId xmlns:a16="http://schemas.microsoft.com/office/drawing/2014/main" id="{70189506-C3B7-48F2-FE42-B010A349A570}"/>
              </a:ext>
            </a:extLst>
          </p:cNvPr>
          <p:cNvSpPr/>
          <p:nvPr/>
        </p:nvSpPr>
        <p:spPr>
          <a:xfrm>
            <a:off x="914894" y="3092803"/>
            <a:ext cx="7653034" cy="173736"/>
          </a:xfrm>
          <a:prstGeom prst="rect">
            <a:avLst/>
          </a:prstGeom>
          <a:noFill/>
          <a:ln/>
        </p:spPr>
        <p:txBody>
          <a:bodyPr wrap="square" lIns="0" tIns="0" rIns="0" bIns="0" rtlCol="0" anchor="t"/>
          <a:lstStyle/>
          <a:p>
            <a:pPr>
              <a:lnSpc>
                <a:spcPct val="112000"/>
              </a:lnSpc>
            </a:pPr>
            <a:r>
              <a:rPr lang="en-US" sz="1100">
                <a:solidFill>
                  <a:schemeClr val="tx2"/>
                </a:solidFill>
                <a:latin typeface="Open Sans" pitchFamily="2" charset="0"/>
                <a:ea typeface="Open Sans" pitchFamily="2" charset="0"/>
                <a:cs typeface="Open Sans" pitchFamily="2" charset="0"/>
              </a:rPr>
              <a:t>Three sections: Data Privacy (what data, handling requirements) · Security (top two gaps) · Governance (compliant with policy?)</a:t>
            </a:r>
          </a:p>
        </p:txBody>
      </p:sp>
      <p:sp>
        <p:nvSpPr>
          <p:cNvPr id="19" name="Shape 6">
            <a:extLst>
              <a:ext uri="{FF2B5EF4-FFF2-40B4-BE49-F238E27FC236}">
                <a16:creationId xmlns:a16="http://schemas.microsoft.com/office/drawing/2014/main" id="{5FCFE497-2666-E22A-ECF7-4484B78582F6}"/>
              </a:ext>
            </a:extLst>
          </p:cNvPr>
          <p:cNvSpPr/>
          <p:nvPr/>
        </p:nvSpPr>
        <p:spPr>
          <a:xfrm>
            <a:off x="292608" y="3640484"/>
            <a:ext cx="8275320" cy="553343"/>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a:latin typeface="Open Sans" pitchFamily="2" charset="0"/>
              <a:ea typeface="Open Sans" pitchFamily="2" charset="0"/>
              <a:cs typeface="Open Sans" pitchFamily="2" charset="0"/>
            </a:endParaRPr>
          </a:p>
        </p:txBody>
      </p:sp>
      <p:sp>
        <p:nvSpPr>
          <p:cNvPr id="20" name="Shape 18">
            <a:extLst>
              <a:ext uri="{FF2B5EF4-FFF2-40B4-BE49-F238E27FC236}">
                <a16:creationId xmlns:a16="http://schemas.microsoft.com/office/drawing/2014/main" id="{5A84F36B-543F-D006-0ED0-077876086A80}"/>
              </a:ext>
            </a:extLst>
          </p:cNvPr>
          <p:cNvSpPr/>
          <p:nvPr/>
        </p:nvSpPr>
        <p:spPr>
          <a:xfrm>
            <a:off x="366254" y="3702271"/>
            <a:ext cx="384048" cy="384048"/>
          </a:xfrm>
          <a:prstGeom prst="ellipse">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21" name="Text 19">
            <a:extLst>
              <a:ext uri="{FF2B5EF4-FFF2-40B4-BE49-F238E27FC236}">
                <a16:creationId xmlns:a16="http://schemas.microsoft.com/office/drawing/2014/main" id="{1B274120-EC5A-E31F-5A67-7AFE8DAD91CC}"/>
              </a:ext>
            </a:extLst>
          </p:cNvPr>
          <p:cNvSpPr/>
          <p:nvPr/>
        </p:nvSpPr>
        <p:spPr>
          <a:xfrm>
            <a:off x="366254" y="3702271"/>
            <a:ext cx="384048" cy="384048"/>
          </a:xfrm>
          <a:prstGeom prst="rect">
            <a:avLst/>
          </a:prstGeom>
          <a:noFill/>
          <a:ln/>
        </p:spPr>
        <p:txBody>
          <a:bodyPr wrap="square" lIns="0" tIns="0" rIns="0" bIns="0" rtlCol="0" anchor="ctr"/>
          <a:lstStyle/>
          <a:p>
            <a:pPr marL="0" indent="0" algn="ctr">
              <a:buNone/>
            </a:pPr>
            <a:r>
              <a:rPr lang="en-US" sz="1500" b="1">
                <a:solidFill>
                  <a:srgbClr val="FFFFFF"/>
                </a:solidFill>
                <a:latin typeface="Open Sans" pitchFamily="2" charset="0"/>
                <a:ea typeface="Open Sans" pitchFamily="2" charset="0"/>
                <a:cs typeface="Open Sans" pitchFamily="2" charset="0"/>
              </a:rPr>
              <a:t>4</a:t>
            </a:r>
            <a:endParaRPr lang="en-US" sz="1500">
              <a:latin typeface="Open Sans" pitchFamily="2" charset="0"/>
              <a:ea typeface="Open Sans" pitchFamily="2" charset="0"/>
              <a:cs typeface="Open Sans" pitchFamily="2" charset="0"/>
            </a:endParaRPr>
          </a:p>
        </p:txBody>
      </p:sp>
      <p:sp>
        <p:nvSpPr>
          <p:cNvPr id="22" name="Text 20">
            <a:extLst>
              <a:ext uri="{FF2B5EF4-FFF2-40B4-BE49-F238E27FC236}">
                <a16:creationId xmlns:a16="http://schemas.microsoft.com/office/drawing/2014/main" id="{2DF0F98C-FB9F-EE17-AED9-0436F0307C35}"/>
              </a:ext>
            </a:extLst>
          </p:cNvPr>
          <p:cNvSpPr/>
          <p:nvPr/>
        </p:nvSpPr>
        <p:spPr>
          <a:xfrm>
            <a:off x="914894" y="3683983"/>
            <a:ext cx="7653034" cy="274320"/>
          </a:xfrm>
          <a:prstGeom prst="rect">
            <a:avLst/>
          </a:prstGeom>
          <a:noFill/>
          <a:ln/>
        </p:spPr>
        <p:txBody>
          <a:bodyPr wrap="square" lIns="0" tIns="0" rIns="0" bIns="0" rtlCol="0" anchor="ctr"/>
          <a:lstStyle/>
          <a:p>
            <a:r>
              <a:rPr lang="en-US" sz="1400" b="1">
                <a:latin typeface="Open Sans" pitchFamily="2" charset="0"/>
                <a:ea typeface="Open Sans" pitchFamily="2" charset="0"/>
                <a:cs typeface="Open Sans" pitchFamily="2" charset="0"/>
              </a:rPr>
              <a:t>Add the assessment to </a:t>
            </a:r>
            <a:r>
              <a:rPr lang="en-US" sz="1400" b="1" err="1">
                <a:latin typeface="Open Sans" pitchFamily="2" charset="0"/>
                <a:ea typeface="Open Sans" pitchFamily="2" charset="0"/>
                <a:cs typeface="Open Sans" pitchFamily="2" charset="0"/>
              </a:rPr>
              <a:t>HANDOFF.md</a:t>
            </a:r>
            <a:endParaRPr lang="en-US" sz="1400">
              <a:latin typeface="Open Sans" pitchFamily="2" charset="0"/>
              <a:ea typeface="Open Sans" pitchFamily="2" charset="0"/>
              <a:cs typeface="Open Sans" pitchFamily="2" charset="0"/>
            </a:endParaRPr>
          </a:p>
        </p:txBody>
      </p:sp>
      <p:sp>
        <p:nvSpPr>
          <p:cNvPr id="23" name="Text 21">
            <a:extLst>
              <a:ext uri="{FF2B5EF4-FFF2-40B4-BE49-F238E27FC236}">
                <a16:creationId xmlns:a16="http://schemas.microsoft.com/office/drawing/2014/main" id="{AF9C3D5F-CB39-DCE1-5AC6-01B9673EF0A2}"/>
              </a:ext>
            </a:extLst>
          </p:cNvPr>
          <p:cNvSpPr/>
          <p:nvPr/>
        </p:nvSpPr>
        <p:spPr>
          <a:xfrm>
            <a:off x="914894" y="3976591"/>
            <a:ext cx="7653034" cy="173736"/>
          </a:xfrm>
          <a:prstGeom prst="rect">
            <a:avLst/>
          </a:prstGeom>
          <a:noFill/>
          <a:ln/>
        </p:spPr>
        <p:txBody>
          <a:bodyPr wrap="square" lIns="0" tIns="0" rIns="0" bIns="0" rtlCol="0" anchor="t"/>
          <a:lstStyle/>
          <a:p>
            <a:pPr>
              <a:lnSpc>
                <a:spcPct val="112000"/>
              </a:lnSpc>
            </a:pPr>
            <a:r>
              <a:rPr lang="en-US" sz="1100">
                <a:solidFill>
                  <a:schemeClr val="tx2"/>
                </a:solidFill>
                <a:latin typeface="Open Sans" pitchFamily="2" charset="0"/>
                <a:ea typeface="Open Sans" pitchFamily="2" charset="0"/>
                <a:cs typeface="Open Sans" pitchFamily="2" charset="0"/>
              </a:rPr>
              <a:t>New section: Known Risks and Governance Notes.</a:t>
            </a:r>
          </a:p>
        </p:txBody>
      </p:sp>
      <p:sp>
        <p:nvSpPr>
          <p:cNvPr id="24" name="Shape 26">
            <a:extLst>
              <a:ext uri="{FF2B5EF4-FFF2-40B4-BE49-F238E27FC236}">
                <a16:creationId xmlns:a16="http://schemas.microsoft.com/office/drawing/2014/main" id="{A8D944BD-E867-7D5E-B5FA-ACA4B98774EF}"/>
              </a:ext>
            </a:extLst>
          </p:cNvPr>
          <p:cNvSpPr/>
          <p:nvPr/>
        </p:nvSpPr>
        <p:spPr>
          <a:xfrm>
            <a:off x="292608" y="4302252"/>
            <a:ext cx="8275320" cy="329184"/>
          </a:xfrm>
          <a:prstGeom prst="roundRect">
            <a:avLst>
              <a:gd name="adj" fmla="val 22222"/>
            </a:avLst>
          </a:prstGeom>
          <a:solidFill>
            <a:srgbClr val="E8F5E9"/>
          </a:solidFill>
          <a:ln w="10160">
            <a:noFill/>
            <a:prstDash val="solid"/>
          </a:ln>
        </p:spPr>
        <p:txBody>
          <a:bodyPr/>
          <a:lstStyle/>
          <a:p>
            <a:endParaRPr lang="en-US">
              <a:latin typeface="Open Sans" pitchFamily="2" charset="0"/>
              <a:ea typeface="Open Sans" pitchFamily="2" charset="0"/>
              <a:cs typeface="Open Sans" pitchFamily="2" charset="0"/>
            </a:endParaRPr>
          </a:p>
        </p:txBody>
      </p:sp>
      <p:sp>
        <p:nvSpPr>
          <p:cNvPr id="25" name="Text 27">
            <a:extLst>
              <a:ext uri="{FF2B5EF4-FFF2-40B4-BE49-F238E27FC236}">
                <a16:creationId xmlns:a16="http://schemas.microsoft.com/office/drawing/2014/main" id="{FEBF2E6E-75BA-991E-5EF2-3133CB7990B5}"/>
              </a:ext>
            </a:extLst>
          </p:cNvPr>
          <p:cNvSpPr/>
          <p:nvPr/>
        </p:nvSpPr>
        <p:spPr>
          <a:xfrm>
            <a:off x="457200" y="4302252"/>
            <a:ext cx="8229600" cy="329184"/>
          </a:xfrm>
          <a:prstGeom prst="rect">
            <a:avLst/>
          </a:prstGeom>
          <a:noFill/>
          <a:ln/>
        </p:spPr>
        <p:txBody>
          <a:bodyPr wrap="square" lIns="0" tIns="0" rIns="0" bIns="0" rtlCol="0" anchor="ctr"/>
          <a:lstStyle/>
          <a:p>
            <a:r>
              <a:rPr lang="en-US" sz="1000" b="1">
                <a:solidFill>
                  <a:srgbClr val="00B050"/>
                </a:solidFill>
                <a:latin typeface="Open Sans" pitchFamily="2" charset="0"/>
                <a:ea typeface="Open Sans" pitchFamily="2" charset="0"/>
                <a:cs typeface="Open Sans" pitchFamily="2" charset="0"/>
              </a:rPr>
              <a:t>✓  Risk review run · Findings supplemented · Assessment written in three sections · Added to </a:t>
            </a:r>
            <a:r>
              <a:rPr lang="en-US" sz="1000" b="1" err="1">
                <a:solidFill>
                  <a:srgbClr val="00B050"/>
                </a:solidFill>
                <a:latin typeface="Open Sans" pitchFamily="2" charset="0"/>
                <a:ea typeface="Open Sans" pitchFamily="2" charset="0"/>
                <a:cs typeface="Open Sans" pitchFamily="2" charset="0"/>
              </a:rPr>
              <a:t>HANDOFF.md</a:t>
            </a:r>
            <a:endParaRPr lang="en-US" sz="1000">
              <a:solidFill>
                <a:srgbClr val="00B050"/>
              </a:solidFill>
              <a:latin typeface="Open Sans" pitchFamily="2" charset="0"/>
              <a:ea typeface="Open Sans" pitchFamily="2" charset="0"/>
              <a:cs typeface="Open Sans" pitchFamily="2" charset="0"/>
            </a:endParaRPr>
          </a:p>
        </p:txBody>
      </p:sp>
      <p:sp>
        <p:nvSpPr>
          <p:cNvPr id="26" name="Text 0">
            <a:extLst>
              <a:ext uri="{FF2B5EF4-FFF2-40B4-BE49-F238E27FC236}">
                <a16:creationId xmlns:a16="http://schemas.microsoft.com/office/drawing/2014/main" id="{A0240149-40C5-EA5F-BFE2-FD793BA837F5}"/>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solidFill>
                  <a:srgbClr val="2D2D2D"/>
                </a:solidFill>
                <a:latin typeface="Open Sans" pitchFamily="2" charset="0"/>
                <a:ea typeface="Open Sans" pitchFamily="2" charset="0"/>
                <a:cs typeface="Open Sans" pitchFamily="2" charset="0"/>
              </a:rPr>
              <a:t>Risk Assessment</a:t>
            </a:r>
            <a:endParaRPr lang="en-US" sz="2800">
              <a:latin typeface="Open Sans" pitchFamily="2" charset="0"/>
              <a:ea typeface="Open Sans" pitchFamily="2" charset="0"/>
              <a:cs typeface="Open Sans" pitchFamily="2" charset="0"/>
            </a:endParaRPr>
          </a:p>
        </p:txBody>
      </p:sp>
      <p:sp>
        <p:nvSpPr>
          <p:cNvPr id="27" name="Text 1">
            <a:extLst>
              <a:ext uri="{FF2B5EF4-FFF2-40B4-BE49-F238E27FC236}">
                <a16:creationId xmlns:a16="http://schemas.microsoft.com/office/drawing/2014/main" id="{06E30461-94E5-0D86-CE97-4ED43F23978D}"/>
              </a:ext>
            </a:extLst>
          </p:cNvPr>
          <p:cNvSpPr/>
          <p:nvPr/>
        </p:nvSpPr>
        <p:spPr>
          <a:xfrm>
            <a:off x="394212" y="676656"/>
            <a:ext cx="8595360" cy="365760"/>
          </a:xfrm>
          <a:prstGeom prst="rect">
            <a:avLst/>
          </a:prstGeom>
          <a:noFill/>
          <a:ln/>
        </p:spPr>
        <p:txBody>
          <a:bodyPr wrap="square" lIns="0" tIns="0" rIns="0" bIns="0" rtlCol="0" anchor="t"/>
          <a:lstStyle/>
          <a:p>
            <a:pPr marL="0" indent="0">
              <a:buNone/>
            </a:pPr>
            <a:r>
              <a:rPr lang="en-US" sz="1400">
                <a:solidFill>
                  <a:srgbClr val="757575"/>
                </a:solidFill>
                <a:latin typeface="Open Sans" pitchFamily="2" charset="0"/>
                <a:ea typeface="Open Sans" pitchFamily="2" charset="0"/>
                <a:cs typeface="Open Sans" pitchFamily="2" charset="0"/>
              </a:rPr>
              <a:t>Review your own PoC for the risks you have not addressed yet. Produce a brief written assessment.</a:t>
            </a:r>
            <a:endParaRPr lang="en-US" sz="1400">
              <a:latin typeface="Open Sans" pitchFamily="2" charset="0"/>
              <a:ea typeface="Open Sans" pitchFamily="2" charset="0"/>
              <a:cs typeface="Open Sans" pitchFamily="2" charset="0"/>
            </a:endParaRPr>
          </a:p>
        </p:txBody>
      </p:sp>
      <p:sp>
        <p:nvSpPr>
          <p:cNvPr id="28" name="Text 3">
            <a:extLst>
              <a:ext uri="{FF2B5EF4-FFF2-40B4-BE49-F238E27FC236}">
                <a16:creationId xmlns:a16="http://schemas.microsoft.com/office/drawing/2014/main" id="{E48B025C-C94E-A105-A703-B52ECE098D68}"/>
              </a:ext>
            </a:extLst>
          </p:cNvPr>
          <p:cNvSpPr/>
          <p:nvPr/>
        </p:nvSpPr>
        <p:spPr>
          <a:xfrm>
            <a:off x="7607808" y="201168"/>
            <a:ext cx="1188720" cy="292608"/>
          </a:xfrm>
          <a:prstGeom prst="rect">
            <a:avLst/>
          </a:prstGeom>
          <a:solidFill>
            <a:schemeClr val="accent2"/>
          </a:solidFill>
          <a:ln>
            <a:noFill/>
          </a:ln>
        </p:spPr>
        <p:txBody>
          <a:bodyPr wrap="square" lIns="0" tIns="0" rIns="0" bIns="0" rtlCol="0" anchor="ctr"/>
          <a:lstStyle/>
          <a:p>
            <a:pPr marL="0" indent="0" algn="ctr">
              <a:buNone/>
            </a:pPr>
            <a:r>
              <a:rPr lang="en-US" sz="850" b="1" kern="0" spc="100">
                <a:solidFill>
                  <a:schemeClr val="bg1"/>
                </a:solidFill>
                <a:latin typeface="Open Sans" pitchFamily="2" charset="0"/>
                <a:ea typeface="Open Sans" pitchFamily="2" charset="0"/>
                <a:cs typeface="Open Sans" pitchFamily="2" charset="0"/>
              </a:rPr>
              <a:t>HANDS-ON LAB</a:t>
            </a:r>
            <a:endParaRPr lang="en-US" sz="850">
              <a:solidFill>
                <a:schemeClr val="bg1"/>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882069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07194177-6828-8AC5-02B7-F8337B2B3AA5}"/>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One Day. Five Modules. One PoC.</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0FF156A6-A659-4FEE-EAC6-125C033AAD0F}"/>
              </a:ext>
            </a:extLst>
          </p:cNvPr>
          <p:cNvSpPr/>
          <p:nvPr/>
        </p:nvSpPr>
        <p:spPr>
          <a:xfrm>
            <a:off x="394212" y="676656"/>
            <a:ext cx="8595360" cy="292608"/>
          </a:xfrm>
          <a:prstGeom prst="rect">
            <a:avLst/>
          </a:prstGeom>
          <a:noFill/>
          <a:ln/>
        </p:spPr>
        <p:txBody>
          <a:bodyPr wrap="square" lIns="0" tIns="0" rIns="0" bIns="0" rtlCol="0" anchor="t"/>
          <a:lstStyle/>
          <a:p>
            <a:pPr marL="0" indent="0">
              <a:buNone/>
            </a:pPr>
            <a:r>
              <a:rPr lang="en-US" sz="1250">
                <a:solidFill>
                  <a:schemeClr val="tx2"/>
                </a:solidFill>
                <a:latin typeface="Open Sans" pitchFamily="2" charset="0"/>
                <a:ea typeface="Open Sans" pitchFamily="2" charset="0"/>
                <a:cs typeface="Open Sans" pitchFamily="2" charset="0"/>
              </a:rPr>
              <a:t>Here is what you built across the day.</a:t>
            </a:r>
          </a:p>
        </p:txBody>
      </p:sp>
      <p:sp>
        <p:nvSpPr>
          <p:cNvPr id="5" name="Shape 2">
            <a:extLst>
              <a:ext uri="{FF2B5EF4-FFF2-40B4-BE49-F238E27FC236}">
                <a16:creationId xmlns:a16="http://schemas.microsoft.com/office/drawing/2014/main" id="{8A30149F-DDC7-4594-6B42-B14EF124D6D7}"/>
              </a:ext>
            </a:extLst>
          </p:cNvPr>
          <p:cNvSpPr/>
          <p:nvPr/>
        </p:nvSpPr>
        <p:spPr>
          <a:xfrm>
            <a:off x="292608" y="987552"/>
            <a:ext cx="2020824" cy="3127248"/>
          </a:xfrm>
          <a:prstGeom prst="roundRect">
            <a:avLst>
              <a:gd name="adj" fmla="val 2715"/>
            </a:avLst>
          </a:prstGeom>
          <a:solidFill>
            <a:srgbClr val="FFFFFF"/>
          </a:solidFill>
          <a:ln w="12700">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Shape 3">
            <a:extLst>
              <a:ext uri="{FF2B5EF4-FFF2-40B4-BE49-F238E27FC236}">
                <a16:creationId xmlns:a16="http://schemas.microsoft.com/office/drawing/2014/main" id="{C027139B-E80D-3443-11E5-EF9776EA1709}"/>
              </a:ext>
            </a:extLst>
          </p:cNvPr>
          <p:cNvSpPr/>
          <p:nvPr/>
        </p:nvSpPr>
        <p:spPr>
          <a:xfrm>
            <a:off x="292608" y="987552"/>
            <a:ext cx="2020824" cy="457200"/>
          </a:xfrm>
          <a:prstGeom prst="rect">
            <a:avLst/>
          </a:prstGeom>
          <a:solidFill>
            <a:schemeClr val="accent2"/>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F0AB2F52-FC7A-4BE3-85F9-A52DFED6A539}"/>
              </a:ext>
            </a:extLst>
          </p:cNvPr>
          <p:cNvSpPr/>
          <p:nvPr/>
        </p:nvSpPr>
        <p:spPr>
          <a:xfrm>
            <a:off x="384048" y="987552"/>
            <a:ext cx="1837944" cy="457200"/>
          </a:xfrm>
          <a:prstGeom prst="rect">
            <a:avLst/>
          </a:prstGeom>
          <a:noFill/>
          <a:ln/>
        </p:spPr>
        <p:txBody>
          <a:bodyPr wrap="square" lIns="0" tIns="0" rIns="0" bIns="0" rtlCol="0" anchor="ctr"/>
          <a:lstStyle/>
          <a:p>
            <a:pPr marL="0" indent="0" algn="ctr">
              <a:buNone/>
            </a:pPr>
            <a:r>
              <a:rPr lang="en-US" sz="1200" b="1">
                <a:solidFill>
                  <a:srgbClr val="FFFFFF"/>
                </a:solidFill>
                <a:latin typeface="Open Sans" pitchFamily="2" charset="0"/>
                <a:ea typeface="Open Sans" pitchFamily="2" charset="0"/>
                <a:cs typeface="Open Sans" pitchFamily="2" charset="0"/>
              </a:rPr>
              <a:t>MODULE 1</a:t>
            </a:r>
            <a:endParaRPr lang="en-US" sz="1200">
              <a:latin typeface="Open Sans" pitchFamily="2" charset="0"/>
              <a:ea typeface="Open Sans" pitchFamily="2" charset="0"/>
              <a:cs typeface="Open Sans" pitchFamily="2" charset="0"/>
            </a:endParaRPr>
          </a:p>
          <a:p>
            <a:pPr marL="0" indent="0" algn="ctr">
              <a:buNone/>
            </a:pPr>
            <a:r>
              <a:rPr lang="en-US" sz="1200" b="1">
                <a:solidFill>
                  <a:srgbClr val="FFFFFF"/>
                </a:solidFill>
                <a:latin typeface="Open Sans" pitchFamily="2" charset="0"/>
                <a:ea typeface="Open Sans" pitchFamily="2" charset="0"/>
                <a:cs typeface="Open Sans" pitchFamily="2" charset="0"/>
              </a:rPr>
              <a:t>ORIENT</a:t>
            </a:r>
            <a:endParaRPr lang="en-US" sz="1200">
              <a:latin typeface="Open Sans" pitchFamily="2" charset="0"/>
              <a:ea typeface="Open Sans" pitchFamily="2" charset="0"/>
              <a:cs typeface="Open Sans" pitchFamily="2" charset="0"/>
            </a:endParaRPr>
          </a:p>
        </p:txBody>
      </p:sp>
      <p:sp>
        <p:nvSpPr>
          <p:cNvPr id="8" name="Text 5">
            <a:extLst>
              <a:ext uri="{FF2B5EF4-FFF2-40B4-BE49-F238E27FC236}">
                <a16:creationId xmlns:a16="http://schemas.microsoft.com/office/drawing/2014/main" id="{33B03E52-AB72-C82E-188C-C2ACD84B9713}"/>
              </a:ext>
            </a:extLst>
          </p:cNvPr>
          <p:cNvSpPr/>
          <p:nvPr/>
        </p:nvSpPr>
        <p:spPr>
          <a:xfrm>
            <a:off x="420624" y="1554480"/>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Spec read, gaps closed</a:t>
            </a:r>
          </a:p>
        </p:txBody>
      </p:sp>
      <p:sp>
        <p:nvSpPr>
          <p:cNvPr id="9" name="Text 6">
            <a:extLst>
              <a:ext uri="{FF2B5EF4-FFF2-40B4-BE49-F238E27FC236}">
                <a16:creationId xmlns:a16="http://schemas.microsoft.com/office/drawing/2014/main" id="{D7A36F64-2AD1-5E23-A78B-54ABE8C01B46}"/>
              </a:ext>
            </a:extLst>
          </p:cNvPr>
          <p:cNvSpPr/>
          <p:nvPr/>
        </p:nvSpPr>
        <p:spPr>
          <a:xfrm>
            <a:off x="420624" y="2066544"/>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CLAUDE.md written and verified</a:t>
            </a:r>
          </a:p>
        </p:txBody>
      </p:sp>
      <p:sp>
        <p:nvSpPr>
          <p:cNvPr id="10" name="Text 7">
            <a:extLst>
              <a:ext uri="{FF2B5EF4-FFF2-40B4-BE49-F238E27FC236}">
                <a16:creationId xmlns:a16="http://schemas.microsoft.com/office/drawing/2014/main" id="{013035BD-2D46-9E97-6BF5-71277700B5AD}"/>
              </a:ext>
            </a:extLst>
          </p:cNvPr>
          <p:cNvSpPr/>
          <p:nvPr/>
        </p:nvSpPr>
        <p:spPr>
          <a:xfrm>
            <a:off x="420624" y="2578608"/>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Architecture planned first</a:t>
            </a:r>
          </a:p>
        </p:txBody>
      </p:sp>
      <p:sp>
        <p:nvSpPr>
          <p:cNvPr id="11" name="Text 8">
            <a:extLst>
              <a:ext uri="{FF2B5EF4-FFF2-40B4-BE49-F238E27FC236}">
                <a16:creationId xmlns:a16="http://schemas.microsoft.com/office/drawing/2014/main" id="{B2428DF3-4559-AB4C-24D1-F531F7C47AC8}"/>
              </a:ext>
            </a:extLst>
          </p:cNvPr>
          <p:cNvSpPr/>
          <p:nvPr/>
        </p:nvSpPr>
        <p:spPr>
          <a:xfrm>
            <a:off x="420624" y="3090672"/>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Plan mode habits formed</a:t>
            </a:r>
          </a:p>
        </p:txBody>
      </p:sp>
      <p:sp>
        <p:nvSpPr>
          <p:cNvPr id="12" name="Text 9">
            <a:extLst>
              <a:ext uri="{FF2B5EF4-FFF2-40B4-BE49-F238E27FC236}">
                <a16:creationId xmlns:a16="http://schemas.microsoft.com/office/drawing/2014/main" id="{4E53F861-B3E0-F03D-CD9F-B4FEBFF9BD55}"/>
              </a:ext>
            </a:extLst>
          </p:cNvPr>
          <p:cNvSpPr/>
          <p:nvPr/>
        </p:nvSpPr>
        <p:spPr>
          <a:xfrm>
            <a:off x="420624" y="3602736"/>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Explore before editing</a:t>
            </a:r>
          </a:p>
        </p:txBody>
      </p:sp>
      <p:sp>
        <p:nvSpPr>
          <p:cNvPr id="13" name="Shape 10">
            <a:extLst>
              <a:ext uri="{FF2B5EF4-FFF2-40B4-BE49-F238E27FC236}">
                <a16:creationId xmlns:a16="http://schemas.microsoft.com/office/drawing/2014/main" id="{68562D20-B41F-66E0-AB08-C4F7F14A2E30}"/>
              </a:ext>
            </a:extLst>
          </p:cNvPr>
          <p:cNvSpPr/>
          <p:nvPr/>
        </p:nvSpPr>
        <p:spPr>
          <a:xfrm>
            <a:off x="2502713" y="987552"/>
            <a:ext cx="2020824" cy="3127248"/>
          </a:xfrm>
          <a:prstGeom prst="roundRect">
            <a:avLst>
              <a:gd name="adj" fmla="val 2715"/>
            </a:avLst>
          </a:prstGeom>
          <a:solidFill>
            <a:srgbClr val="FFFFFF"/>
          </a:solidFill>
          <a:ln w="12700">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4" name="Shape 11">
            <a:extLst>
              <a:ext uri="{FF2B5EF4-FFF2-40B4-BE49-F238E27FC236}">
                <a16:creationId xmlns:a16="http://schemas.microsoft.com/office/drawing/2014/main" id="{D0D358A8-0AE0-3A20-9F7D-BB87B1ECA568}"/>
              </a:ext>
            </a:extLst>
          </p:cNvPr>
          <p:cNvSpPr/>
          <p:nvPr/>
        </p:nvSpPr>
        <p:spPr>
          <a:xfrm>
            <a:off x="2502713" y="987552"/>
            <a:ext cx="2020824" cy="457200"/>
          </a:xfrm>
          <a:prstGeom prst="rect">
            <a:avLst/>
          </a:prstGeom>
          <a:solidFill>
            <a:schemeClr val="accent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65CBCA35-BCC9-5166-0FA9-1A7CD974DD6E}"/>
              </a:ext>
            </a:extLst>
          </p:cNvPr>
          <p:cNvSpPr/>
          <p:nvPr/>
        </p:nvSpPr>
        <p:spPr>
          <a:xfrm>
            <a:off x="2594153" y="987552"/>
            <a:ext cx="1837944" cy="457200"/>
          </a:xfrm>
          <a:prstGeom prst="rect">
            <a:avLst/>
          </a:prstGeom>
          <a:noFill/>
          <a:ln/>
        </p:spPr>
        <p:txBody>
          <a:bodyPr wrap="square" lIns="0" tIns="0" rIns="0" bIns="0" rtlCol="0" anchor="ctr"/>
          <a:lstStyle/>
          <a:p>
            <a:pPr marL="0" indent="0" algn="ctr">
              <a:buNone/>
            </a:pPr>
            <a:r>
              <a:rPr lang="en-US" sz="1200" b="1">
                <a:solidFill>
                  <a:srgbClr val="FFFFFF"/>
                </a:solidFill>
                <a:latin typeface="Open Sans" pitchFamily="2" charset="0"/>
                <a:ea typeface="Open Sans" pitchFamily="2" charset="0"/>
                <a:cs typeface="Open Sans" pitchFamily="2" charset="0"/>
              </a:rPr>
              <a:t>MODULES 2–3</a:t>
            </a:r>
            <a:endParaRPr lang="en-US" sz="1200">
              <a:latin typeface="Open Sans" pitchFamily="2" charset="0"/>
              <a:ea typeface="Open Sans" pitchFamily="2" charset="0"/>
              <a:cs typeface="Open Sans" pitchFamily="2" charset="0"/>
            </a:endParaRPr>
          </a:p>
          <a:p>
            <a:pPr marL="0" indent="0" algn="ctr">
              <a:buNone/>
            </a:pPr>
            <a:r>
              <a:rPr lang="en-US" sz="1200" b="1">
                <a:solidFill>
                  <a:srgbClr val="FFFFFF"/>
                </a:solidFill>
                <a:latin typeface="Open Sans" pitchFamily="2" charset="0"/>
                <a:ea typeface="Open Sans" pitchFamily="2" charset="0"/>
                <a:cs typeface="Open Sans" pitchFamily="2" charset="0"/>
              </a:rPr>
              <a:t>BUILD &amp; SECURE</a:t>
            </a:r>
            <a:endParaRPr lang="en-US" sz="1200">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746BABFB-7008-48DB-DB30-342A2E654789}"/>
              </a:ext>
            </a:extLst>
          </p:cNvPr>
          <p:cNvSpPr/>
          <p:nvPr/>
        </p:nvSpPr>
        <p:spPr>
          <a:xfrm>
            <a:off x="2630729" y="1554480"/>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Integer doses, four-eyes review</a:t>
            </a:r>
          </a:p>
        </p:txBody>
      </p:sp>
      <p:sp>
        <p:nvSpPr>
          <p:cNvPr id="17" name="Text 14">
            <a:extLst>
              <a:ext uri="{FF2B5EF4-FFF2-40B4-BE49-F238E27FC236}">
                <a16:creationId xmlns:a16="http://schemas.microsoft.com/office/drawing/2014/main" id="{BC7E612E-9737-584B-48C0-2B34BB06251D}"/>
              </a:ext>
            </a:extLst>
          </p:cNvPr>
          <p:cNvSpPr/>
          <p:nvPr/>
        </p:nvSpPr>
        <p:spPr>
          <a:xfrm>
            <a:off x="2630729" y="2066544"/>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Claude drafts grounded by RAG</a:t>
            </a:r>
          </a:p>
        </p:txBody>
      </p:sp>
      <p:sp>
        <p:nvSpPr>
          <p:cNvPr id="18" name="Text 15">
            <a:extLst>
              <a:ext uri="{FF2B5EF4-FFF2-40B4-BE49-F238E27FC236}">
                <a16:creationId xmlns:a16="http://schemas.microsoft.com/office/drawing/2014/main" id="{B84A9F02-5798-957C-9B6E-ABD6F8D236A2}"/>
              </a:ext>
            </a:extLst>
          </p:cNvPr>
          <p:cNvSpPr/>
          <p:nvPr/>
        </p:nvSpPr>
        <p:spPr>
          <a:xfrm>
            <a:off x="2630729" y="2578608"/>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Injection fenced, PHI masked</a:t>
            </a:r>
          </a:p>
        </p:txBody>
      </p:sp>
      <p:sp>
        <p:nvSpPr>
          <p:cNvPr id="19" name="Text 16">
            <a:extLst>
              <a:ext uri="{FF2B5EF4-FFF2-40B4-BE49-F238E27FC236}">
                <a16:creationId xmlns:a16="http://schemas.microsoft.com/office/drawing/2014/main" id="{9988197F-766B-BB93-C76D-76EA71C749E2}"/>
              </a:ext>
            </a:extLst>
          </p:cNvPr>
          <p:cNvSpPr/>
          <p:nvPr/>
        </p:nvSpPr>
        <p:spPr>
          <a:xfrm>
            <a:off x="2630729" y="3090672"/>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AI failure handled safely</a:t>
            </a:r>
          </a:p>
        </p:txBody>
      </p:sp>
      <p:sp>
        <p:nvSpPr>
          <p:cNvPr id="20" name="Shape 17">
            <a:extLst>
              <a:ext uri="{FF2B5EF4-FFF2-40B4-BE49-F238E27FC236}">
                <a16:creationId xmlns:a16="http://schemas.microsoft.com/office/drawing/2014/main" id="{4A08AC5D-8395-41E8-F7AC-14C26B3B846C}"/>
              </a:ext>
            </a:extLst>
          </p:cNvPr>
          <p:cNvSpPr/>
          <p:nvPr/>
        </p:nvSpPr>
        <p:spPr>
          <a:xfrm>
            <a:off x="4712818" y="987552"/>
            <a:ext cx="2020824" cy="3127248"/>
          </a:xfrm>
          <a:prstGeom prst="roundRect">
            <a:avLst>
              <a:gd name="adj" fmla="val 2715"/>
            </a:avLst>
          </a:prstGeom>
          <a:solidFill>
            <a:srgbClr val="FFFFFF"/>
          </a:solidFill>
          <a:ln w="12700">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1" name="Shape 18">
            <a:extLst>
              <a:ext uri="{FF2B5EF4-FFF2-40B4-BE49-F238E27FC236}">
                <a16:creationId xmlns:a16="http://schemas.microsoft.com/office/drawing/2014/main" id="{3D79421E-9EDD-E99C-6F65-0A79A07AFB3E}"/>
              </a:ext>
            </a:extLst>
          </p:cNvPr>
          <p:cNvSpPr/>
          <p:nvPr/>
        </p:nvSpPr>
        <p:spPr>
          <a:xfrm>
            <a:off x="4712818" y="987552"/>
            <a:ext cx="2020824" cy="457200"/>
          </a:xfrm>
          <a:prstGeom prst="rect">
            <a:avLst/>
          </a:prstGeom>
          <a:solidFill>
            <a:schemeClr val="accent3"/>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22" name="Text 19">
            <a:extLst>
              <a:ext uri="{FF2B5EF4-FFF2-40B4-BE49-F238E27FC236}">
                <a16:creationId xmlns:a16="http://schemas.microsoft.com/office/drawing/2014/main" id="{0429B62E-D0CD-837A-00A7-5822C12DAA32}"/>
              </a:ext>
            </a:extLst>
          </p:cNvPr>
          <p:cNvSpPr/>
          <p:nvPr/>
        </p:nvSpPr>
        <p:spPr>
          <a:xfrm>
            <a:off x="4804258" y="987552"/>
            <a:ext cx="1837944" cy="457200"/>
          </a:xfrm>
          <a:prstGeom prst="rect">
            <a:avLst/>
          </a:prstGeom>
          <a:noFill/>
          <a:ln/>
        </p:spPr>
        <p:txBody>
          <a:bodyPr wrap="square" lIns="0" tIns="0" rIns="0" bIns="0" rtlCol="0" anchor="ctr"/>
          <a:lstStyle/>
          <a:p>
            <a:pPr marL="0" indent="0" algn="ctr">
              <a:buNone/>
            </a:pPr>
            <a:r>
              <a:rPr lang="en-US" sz="1200" b="1">
                <a:solidFill>
                  <a:srgbClr val="FFFFFF"/>
                </a:solidFill>
                <a:latin typeface="Open Sans" pitchFamily="2" charset="0"/>
                <a:ea typeface="Open Sans" pitchFamily="2" charset="0"/>
                <a:cs typeface="Open Sans" pitchFamily="2" charset="0"/>
              </a:rPr>
              <a:t>MODULE 4</a:t>
            </a:r>
            <a:endParaRPr lang="en-US" sz="1200">
              <a:latin typeface="Open Sans" pitchFamily="2" charset="0"/>
              <a:ea typeface="Open Sans" pitchFamily="2" charset="0"/>
              <a:cs typeface="Open Sans" pitchFamily="2" charset="0"/>
            </a:endParaRPr>
          </a:p>
          <a:p>
            <a:pPr marL="0" indent="0" algn="ctr">
              <a:buNone/>
            </a:pPr>
            <a:r>
              <a:rPr lang="en-US" sz="1200" b="1">
                <a:solidFill>
                  <a:srgbClr val="FFFFFF"/>
                </a:solidFill>
                <a:latin typeface="Open Sans" pitchFamily="2" charset="0"/>
                <a:ea typeface="Open Sans" pitchFamily="2" charset="0"/>
                <a:cs typeface="Open Sans" pitchFamily="2" charset="0"/>
              </a:rPr>
              <a:t>ASSURE</a:t>
            </a:r>
            <a:endParaRPr lang="en-US" sz="1200">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798FDF9E-8949-8363-98BA-5B594A5C22EA}"/>
              </a:ext>
            </a:extLst>
          </p:cNvPr>
          <p:cNvSpPr/>
          <p:nvPr/>
        </p:nvSpPr>
        <p:spPr>
          <a:xfrm>
            <a:off x="4840834" y="1554480"/>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Planted bug fixed via the loop</a:t>
            </a:r>
          </a:p>
        </p:txBody>
      </p:sp>
      <p:sp>
        <p:nvSpPr>
          <p:cNvPr id="24" name="Text 21">
            <a:extLst>
              <a:ext uri="{FF2B5EF4-FFF2-40B4-BE49-F238E27FC236}">
                <a16:creationId xmlns:a16="http://schemas.microsoft.com/office/drawing/2014/main" id="{C6FCBD2E-7535-8F87-0253-47D06B09103D}"/>
              </a:ext>
            </a:extLst>
          </p:cNvPr>
          <p:cNvSpPr/>
          <p:nvPr/>
        </p:nvSpPr>
        <p:spPr>
          <a:xfrm>
            <a:off x="4840834" y="2066544"/>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Checkpoints and rewind used</a:t>
            </a:r>
          </a:p>
        </p:txBody>
      </p:sp>
      <p:sp>
        <p:nvSpPr>
          <p:cNvPr id="25" name="Text 22">
            <a:extLst>
              <a:ext uri="{FF2B5EF4-FFF2-40B4-BE49-F238E27FC236}">
                <a16:creationId xmlns:a16="http://schemas.microsoft.com/office/drawing/2014/main" id="{6478C5E3-D374-47E3-23A2-4E38818C21CA}"/>
              </a:ext>
            </a:extLst>
          </p:cNvPr>
          <p:cNvSpPr/>
          <p:nvPr/>
        </p:nvSpPr>
        <p:spPr>
          <a:xfrm>
            <a:off x="4840834" y="2578608"/>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Tests generated from the spec</a:t>
            </a:r>
          </a:p>
        </p:txBody>
      </p:sp>
      <p:sp>
        <p:nvSpPr>
          <p:cNvPr id="26" name="Text 23">
            <a:extLst>
              <a:ext uri="{FF2B5EF4-FFF2-40B4-BE49-F238E27FC236}">
                <a16:creationId xmlns:a16="http://schemas.microsoft.com/office/drawing/2014/main" id="{BD5D3A64-054C-08B8-CC64-FFDF896AC73E}"/>
              </a:ext>
            </a:extLst>
          </p:cNvPr>
          <p:cNvSpPr/>
          <p:nvPr/>
        </p:nvSpPr>
        <p:spPr>
          <a:xfrm>
            <a:off x="4840834" y="3090672"/>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Hooks enforce green tests</a:t>
            </a:r>
          </a:p>
        </p:txBody>
      </p:sp>
      <p:sp>
        <p:nvSpPr>
          <p:cNvPr id="27" name="Shape 24">
            <a:extLst>
              <a:ext uri="{FF2B5EF4-FFF2-40B4-BE49-F238E27FC236}">
                <a16:creationId xmlns:a16="http://schemas.microsoft.com/office/drawing/2014/main" id="{D9CEF7A1-391F-B746-645B-2537F2890778}"/>
              </a:ext>
            </a:extLst>
          </p:cNvPr>
          <p:cNvSpPr/>
          <p:nvPr/>
        </p:nvSpPr>
        <p:spPr>
          <a:xfrm>
            <a:off x="6922922" y="987552"/>
            <a:ext cx="2020824" cy="3127248"/>
          </a:xfrm>
          <a:prstGeom prst="roundRect">
            <a:avLst>
              <a:gd name="adj" fmla="val 2715"/>
            </a:avLst>
          </a:prstGeom>
          <a:solidFill>
            <a:srgbClr val="FFFFFF"/>
          </a:solidFill>
          <a:ln w="12700">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8" name="Shape 25">
            <a:extLst>
              <a:ext uri="{FF2B5EF4-FFF2-40B4-BE49-F238E27FC236}">
                <a16:creationId xmlns:a16="http://schemas.microsoft.com/office/drawing/2014/main" id="{4307D9A0-BEA8-F77E-5FA8-DDB52E30307E}"/>
              </a:ext>
            </a:extLst>
          </p:cNvPr>
          <p:cNvSpPr/>
          <p:nvPr/>
        </p:nvSpPr>
        <p:spPr>
          <a:xfrm>
            <a:off x="6922922" y="987552"/>
            <a:ext cx="2020824" cy="457200"/>
          </a:xfrm>
          <a:prstGeom prst="rect">
            <a:avLst/>
          </a:prstGeom>
          <a:solidFill>
            <a:schemeClr val="tx1"/>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29" name="Text 26">
            <a:extLst>
              <a:ext uri="{FF2B5EF4-FFF2-40B4-BE49-F238E27FC236}">
                <a16:creationId xmlns:a16="http://schemas.microsoft.com/office/drawing/2014/main" id="{328FF4A7-B68A-C265-7688-67489FBBAEB3}"/>
              </a:ext>
            </a:extLst>
          </p:cNvPr>
          <p:cNvSpPr/>
          <p:nvPr/>
        </p:nvSpPr>
        <p:spPr>
          <a:xfrm>
            <a:off x="7014362" y="987552"/>
            <a:ext cx="1837944" cy="457200"/>
          </a:xfrm>
          <a:prstGeom prst="rect">
            <a:avLst/>
          </a:prstGeom>
          <a:noFill/>
          <a:ln/>
        </p:spPr>
        <p:txBody>
          <a:bodyPr wrap="square" lIns="0" tIns="0" rIns="0" bIns="0" rtlCol="0" anchor="ctr"/>
          <a:lstStyle/>
          <a:p>
            <a:pPr marL="0" indent="0" algn="ctr">
              <a:buNone/>
            </a:pPr>
            <a:r>
              <a:rPr lang="en-US" sz="1200" b="1">
                <a:solidFill>
                  <a:srgbClr val="FFFFFF"/>
                </a:solidFill>
                <a:latin typeface="Open Sans" pitchFamily="2" charset="0"/>
                <a:ea typeface="Open Sans" pitchFamily="2" charset="0"/>
                <a:cs typeface="Open Sans" pitchFamily="2" charset="0"/>
              </a:rPr>
              <a:t>MODULE 5</a:t>
            </a:r>
            <a:endParaRPr lang="en-US" sz="1200">
              <a:latin typeface="Open Sans" pitchFamily="2" charset="0"/>
              <a:ea typeface="Open Sans" pitchFamily="2" charset="0"/>
              <a:cs typeface="Open Sans" pitchFamily="2" charset="0"/>
            </a:endParaRPr>
          </a:p>
          <a:p>
            <a:pPr marL="0" indent="0" algn="ctr">
              <a:buNone/>
            </a:pPr>
            <a:r>
              <a:rPr lang="en-US" sz="1200" b="1">
                <a:solidFill>
                  <a:srgbClr val="FFFFFF"/>
                </a:solidFill>
                <a:latin typeface="Open Sans" pitchFamily="2" charset="0"/>
                <a:ea typeface="Open Sans" pitchFamily="2" charset="0"/>
                <a:cs typeface="Open Sans" pitchFamily="2" charset="0"/>
              </a:rPr>
              <a:t>EXTEND &amp; SHIP</a:t>
            </a:r>
            <a:endParaRPr lang="en-US" sz="1200">
              <a:latin typeface="Open Sans" pitchFamily="2" charset="0"/>
              <a:ea typeface="Open Sans" pitchFamily="2" charset="0"/>
              <a:cs typeface="Open Sans" pitchFamily="2" charset="0"/>
            </a:endParaRPr>
          </a:p>
        </p:txBody>
      </p:sp>
      <p:sp>
        <p:nvSpPr>
          <p:cNvPr id="30" name="Text 27">
            <a:extLst>
              <a:ext uri="{FF2B5EF4-FFF2-40B4-BE49-F238E27FC236}">
                <a16:creationId xmlns:a16="http://schemas.microsoft.com/office/drawing/2014/main" id="{C981DA33-40AF-C2C1-648F-E4DF7DC069A5}"/>
              </a:ext>
            </a:extLst>
          </p:cNvPr>
          <p:cNvSpPr/>
          <p:nvPr/>
        </p:nvSpPr>
        <p:spPr>
          <a:xfrm>
            <a:off x="7050938" y="1554480"/>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Agent with tools and memory</a:t>
            </a:r>
          </a:p>
        </p:txBody>
      </p:sp>
      <p:sp>
        <p:nvSpPr>
          <p:cNvPr id="31" name="Text 28">
            <a:extLst>
              <a:ext uri="{FF2B5EF4-FFF2-40B4-BE49-F238E27FC236}">
                <a16:creationId xmlns:a16="http://schemas.microsoft.com/office/drawing/2014/main" id="{17C0D8C5-543F-F08D-C33D-0FAE6D2B5ABD}"/>
              </a:ext>
            </a:extLst>
          </p:cNvPr>
          <p:cNvSpPr/>
          <p:nvPr/>
        </p:nvSpPr>
        <p:spPr>
          <a:xfrm>
            <a:off x="7050938" y="2066544"/>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Read-only MCP server</a:t>
            </a:r>
          </a:p>
        </p:txBody>
      </p:sp>
      <p:sp>
        <p:nvSpPr>
          <p:cNvPr id="32" name="Text 29">
            <a:extLst>
              <a:ext uri="{FF2B5EF4-FFF2-40B4-BE49-F238E27FC236}">
                <a16:creationId xmlns:a16="http://schemas.microsoft.com/office/drawing/2014/main" id="{E9545763-5930-E9EC-D20D-B531C14D4C3B}"/>
              </a:ext>
            </a:extLst>
          </p:cNvPr>
          <p:cNvSpPr/>
          <p:nvPr/>
        </p:nvSpPr>
        <p:spPr>
          <a:xfrm>
            <a:off x="7050938" y="2578608"/>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Clinician console demoed</a:t>
            </a:r>
          </a:p>
        </p:txBody>
      </p:sp>
      <p:sp>
        <p:nvSpPr>
          <p:cNvPr id="33" name="Text 30">
            <a:extLst>
              <a:ext uri="{FF2B5EF4-FFF2-40B4-BE49-F238E27FC236}">
                <a16:creationId xmlns:a16="http://schemas.microsoft.com/office/drawing/2014/main" id="{F96BDC69-6542-4A5D-A214-610EC299E135}"/>
              </a:ext>
            </a:extLst>
          </p:cNvPr>
          <p:cNvSpPr/>
          <p:nvPr/>
        </p:nvSpPr>
        <p:spPr>
          <a:xfrm>
            <a:off x="7050938" y="3090672"/>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Docs, ADR and clean commits</a:t>
            </a:r>
          </a:p>
        </p:txBody>
      </p:sp>
      <p:sp>
        <p:nvSpPr>
          <p:cNvPr id="34" name="Text 31">
            <a:extLst>
              <a:ext uri="{FF2B5EF4-FFF2-40B4-BE49-F238E27FC236}">
                <a16:creationId xmlns:a16="http://schemas.microsoft.com/office/drawing/2014/main" id="{5C7B1484-B01C-292A-5AB7-FAA454845111}"/>
              </a:ext>
            </a:extLst>
          </p:cNvPr>
          <p:cNvSpPr/>
          <p:nvPr/>
        </p:nvSpPr>
        <p:spPr>
          <a:xfrm>
            <a:off x="7050938" y="3602736"/>
            <a:ext cx="1764792" cy="512064"/>
          </a:xfrm>
          <a:prstGeom prst="rect">
            <a:avLst/>
          </a:prstGeom>
          <a:noFill/>
          <a:ln/>
        </p:spPr>
        <p:txBody>
          <a:bodyPr wrap="square" lIns="0" tIns="0" rIns="0" bIns="0" rtlCol="0" anchor="t"/>
          <a:lstStyle/>
          <a:p>
            <a:pPr marL="0" indent="0">
              <a:lnSpc>
                <a:spcPct val="106000"/>
              </a:lnSpc>
              <a:buNone/>
            </a:pPr>
            <a:r>
              <a:rPr lang="en-US" sz="1100">
                <a:solidFill>
                  <a:schemeClr val="tx2"/>
                </a:solidFill>
                <a:latin typeface="Open Sans" pitchFamily="2" charset="0"/>
                <a:ea typeface="Open Sans" pitchFamily="2" charset="0"/>
                <a:cs typeface="Open Sans" pitchFamily="2" charset="0"/>
              </a:rPr>
              <a:t>•  Production gap audited</a:t>
            </a:r>
          </a:p>
        </p:txBody>
      </p:sp>
      <p:sp>
        <p:nvSpPr>
          <p:cNvPr id="35" name="Shape 32">
            <a:extLst>
              <a:ext uri="{FF2B5EF4-FFF2-40B4-BE49-F238E27FC236}">
                <a16:creationId xmlns:a16="http://schemas.microsoft.com/office/drawing/2014/main" id="{32248EE6-8FA1-0E73-5A4D-FCC1A48F62AC}"/>
              </a:ext>
            </a:extLst>
          </p:cNvPr>
          <p:cNvSpPr/>
          <p:nvPr/>
        </p:nvSpPr>
        <p:spPr>
          <a:xfrm>
            <a:off x="292608" y="4306824"/>
            <a:ext cx="8558784" cy="420624"/>
          </a:xfrm>
          <a:prstGeom prst="roundRect">
            <a:avLst>
              <a:gd name="adj" fmla="val 10870"/>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6" name="Text 33">
            <a:extLst>
              <a:ext uri="{FF2B5EF4-FFF2-40B4-BE49-F238E27FC236}">
                <a16:creationId xmlns:a16="http://schemas.microsoft.com/office/drawing/2014/main" id="{C7A1D4D9-4447-ACFB-F780-D3AAB5E7E347}"/>
              </a:ext>
            </a:extLst>
          </p:cNvPr>
          <p:cNvSpPr/>
          <p:nvPr/>
        </p:nvSpPr>
        <p:spPr>
          <a:xfrm>
            <a:off x="493776" y="4306824"/>
            <a:ext cx="8156448" cy="420624"/>
          </a:xfrm>
          <a:prstGeom prst="rect">
            <a:avLst/>
          </a:prstGeom>
          <a:noFill/>
          <a:ln/>
        </p:spPr>
        <p:txBody>
          <a:bodyPr wrap="square" lIns="0" tIns="0" rIns="0" bIns="0" rtlCol="0" anchor="ctr"/>
          <a:lstStyle/>
          <a:p>
            <a:pPr marL="0" indent="0" algn="ctr">
              <a:buNone/>
            </a:pPr>
            <a:r>
              <a:rPr lang="en-US" sz="1200">
                <a:solidFill>
                  <a:srgbClr val="5A4600"/>
                </a:solidFill>
                <a:latin typeface="Open Sans" pitchFamily="2" charset="0"/>
                <a:ea typeface="Open Sans" pitchFamily="2" charset="0"/>
                <a:cs typeface="Open Sans" pitchFamily="2" charset="0"/>
              </a:rPr>
              <a:t>You started with a spec and a blank terminal. You leave with a built, secured, tested, agent-powered and ship-assessed PoC, and the habits to repeat it independently.</a:t>
            </a:r>
            <a:endParaRPr lang="en-US" sz="120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8372351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03D8B3C1-E52E-66A4-2E9A-A76A315803EF}"/>
              </a:ext>
            </a:extLst>
          </p:cNvPr>
          <p:cNvSpPr/>
          <p:nvPr/>
        </p:nvSpPr>
        <p:spPr>
          <a:xfrm>
            <a:off x="394212" y="201168"/>
            <a:ext cx="731520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What to Do With This</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3FDFB18B-8462-B8C8-83CD-5AFB5893DBF1}"/>
              </a:ext>
            </a:extLst>
          </p:cNvPr>
          <p:cNvSpPr/>
          <p:nvPr/>
        </p:nvSpPr>
        <p:spPr>
          <a:xfrm>
            <a:off x="394212" y="676656"/>
            <a:ext cx="8595360" cy="420624"/>
          </a:xfrm>
          <a:prstGeom prst="rect">
            <a:avLst/>
          </a:prstGeom>
          <a:noFill/>
          <a:ln/>
        </p:spPr>
        <p:txBody>
          <a:bodyPr wrap="square" lIns="0" tIns="0" rIns="0" bIns="0" rtlCol="0" anchor="t"/>
          <a:lstStyle/>
          <a:p>
            <a:pPr marL="0" indent="0">
              <a:buNone/>
            </a:pPr>
            <a:r>
              <a:rPr lang="en-US" sz="1400">
                <a:solidFill>
                  <a:schemeClr val="tx2"/>
                </a:solidFill>
                <a:latin typeface="Open Sans" pitchFamily="2" charset="0"/>
                <a:ea typeface="Open Sans" pitchFamily="2" charset="0"/>
                <a:cs typeface="Open Sans" pitchFamily="2" charset="0"/>
              </a:rPr>
              <a:t>The CCA exam marks the end of the day. These habits are what it represents.</a:t>
            </a:r>
          </a:p>
        </p:txBody>
      </p:sp>
      <p:sp>
        <p:nvSpPr>
          <p:cNvPr id="5" name="Shape 2">
            <a:extLst>
              <a:ext uri="{FF2B5EF4-FFF2-40B4-BE49-F238E27FC236}">
                <a16:creationId xmlns:a16="http://schemas.microsoft.com/office/drawing/2014/main" id="{391BBCE9-D7F2-97BD-FCF4-CAB1666BB41D}"/>
              </a:ext>
            </a:extLst>
          </p:cNvPr>
          <p:cNvSpPr/>
          <p:nvPr/>
        </p:nvSpPr>
        <p:spPr>
          <a:xfrm>
            <a:off x="292608" y="931447"/>
            <a:ext cx="4133088" cy="3521287"/>
          </a:xfrm>
          <a:prstGeom prst="roundRect">
            <a:avLst>
              <a:gd name="adj" fmla="val 1690"/>
            </a:avLst>
          </a:prstGeom>
          <a:solidFill>
            <a:srgbClr val="F5F5F5"/>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9C18D2CB-5934-FF7B-8CB7-3FED828FF26D}"/>
              </a:ext>
            </a:extLst>
          </p:cNvPr>
          <p:cNvSpPr/>
          <p:nvPr/>
        </p:nvSpPr>
        <p:spPr>
          <a:xfrm>
            <a:off x="475488" y="1077751"/>
            <a:ext cx="3767328" cy="274320"/>
          </a:xfrm>
          <a:prstGeom prst="rect">
            <a:avLst/>
          </a:prstGeom>
          <a:noFill/>
          <a:ln/>
        </p:spPr>
        <p:txBody>
          <a:bodyPr wrap="square" lIns="0" tIns="0" rIns="0" bIns="0" rtlCol="0" anchor="ctr"/>
          <a:lstStyle/>
          <a:p>
            <a:pPr marL="0" indent="0" algn="ctr">
              <a:buNone/>
            </a:pPr>
            <a:r>
              <a:rPr lang="en-US" sz="1400" b="1">
                <a:solidFill>
                  <a:schemeClr val="accent2"/>
                </a:solidFill>
                <a:latin typeface="Open Sans" pitchFamily="2" charset="0"/>
                <a:ea typeface="Open Sans" pitchFamily="2" charset="0"/>
                <a:cs typeface="Open Sans" pitchFamily="2" charset="0"/>
              </a:rPr>
              <a:t>YOUR JOURNEY COVERS:</a:t>
            </a:r>
            <a:endParaRPr lang="en-US" sz="14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9D5F53CD-3712-FCE7-39F0-59382E3F5399}"/>
              </a:ext>
            </a:extLst>
          </p:cNvPr>
          <p:cNvSpPr/>
          <p:nvPr/>
        </p:nvSpPr>
        <p:spPr>
          <a:xfrm>
            <a:off x="475488" y="1364595"/>
            <a:ext cx="3767328" cy="183690"/>
          </a:xfrm>
          <a:prstGeom prst="rect">
            <a:avLst/>
          </a:prstGeom>
          <a:noFill/>
          <a:ln/>
        </p:spPr>
        <p:txBody>
          <a:bodyPr wrap="square" lIns="0" tIns="0" rIns="0" bIns="0" rtlCol="0" anchor="t"/>
          <a:lstStyle/>
          <a:p>
            <a:pPr marL="0" indent="0">
              <a:lnSpc>
                <a:spcPct val="110000"/>
              </a:lnSpc>
              <a:buNone/>
            </a:pPr>
            <a:r>
              <a:rPr lang="en-US" sz="1050" b="1">
                <a:solidFill>
                  <a:schemeClr val="accent2"/>
                </a:solidFill>
                <a:latin typeface="Open Sans" pitchFamily="2" charset="0"/>
                <a:ea typeface="Open Sans" pitchFamily="2" charset="0"/>
                <a:cs typeface="Open Sans" pitchFamily="2" charset="0"/>
              </a:rPr>
              <a:t>✓  Claude Code internals: agent loop, permissions, context engineering</a:t>
            </a:r>
            <a:r>
              <a:rPr lang="en-US" sz="1050" b="1">
                <a:solidFill>
                  <a:srgbClr val="2E7D32"/>
                </a:solidFill>
                <a:latin typeface="Open Sans" pitchFamily="2" charset="0"/>
                <a:ea typeface="Open Sans" pitchFamily="2" charset="0"/>
                <a:cs typeface="Open Sans" pitchFamily="2" charset="0"/>
              </a:rPr>
              <a:t/>
            </a:r>
            <a:r>
              <a:rPr lang="en-US" sz="1050">
                <a:solidFill>
                  <a:schemeClr val="tx2"/>
                </a:solidFill>
                <a:latin typeface="Open Sans" pitchFamily="2" charset="0"/>
                <a:ea typeface="Open Sans" pitchFamily="2" charset="0"/>
                <a:cs typeface="Open Sans" pitchFamily="2" charset="0"/>
              </a:rPr>
              <a:t/>
            </a:r>
          </a:p>
        </p:txBody>
      </p:sp>
      <p:sp>
        <p:nvSpPr>
          <p:cNvPr id="8" name="Text 5">
            <a:extLst>
              <a:ext uri="{FF2B5EF4-FFF2-40B4-BE49-F238E27FC236}">
                <a16:creationId xmlns:a16="http://schemas.microsoft.com/office/drawing/2014/main" id="{E6C8B749-C576-E93B-EBD5-3DC2B66A6C7A}"/>
              </a:ext>
            </a:extLst>
          </p:cNvPr>
          <p:cNvSpPr/>
          <p:nvPr/>
        </p:nvSpPr>
        <p:spPr>
          <a:xfrm>
            <a:off x="475488" y="1630116"/>
            <a:ext cx="3767328" cy="329184"/>
          </a:xfrm>
          <a:prstGeom prst="rect">
            <a:avLst/>
          </a:prstGeom>
          <a:noFill/>
          <a:ln/>
        </p:spPr>
        <p:txBody>
          <a:bodyPr wrap="square" lIns="0" tIns="0" rIns="0" bIns="0" rtlCol="0" anchor="t"/>
          <a:lstStyle/>
          <a:p>
            <a:pPr marL="0" indent="0">
              <a:lnSpc>
                <a:spcPct val="110000"/>
              </a:lnSpc>
              <a:buNone/>
            </a:pPr>
            <a:r>
              <a:rPr lang="en-US" sz="1050" b="1">
                <a:solidFill>
                  <a:schemeClr val="accent2"/>
                </a:solidFill>
                <a:latin typeface="Open Sans" pitchFamily="2" charset="0"/>
                <a:ea typeface="Open Sans" pitchFamily="2" charset="0"/>
                <a:cs typeface="Open Sans" pitchFamily="2" charset="0"/>
              </a:rPr>
              <a:t>✓  Spec-driven development: SPEC.md, plan mode, traceable requirements</a:t>
            </a:r>
            <a:r>
              <a:rPr lang="en-US" sz="1050" b="1">
                <a:solidFill>
                  <a:srgbClr val="2E7D32"/>
                </a:solidFill>
                <a:latin typeface="Open Sans" pitchFamily="2" charset="0"/>
                <a:ea typeface="Open Sans" pitchFamily="2" charset="0"/>
                <a:cs typeface="Open Sans" pitchFamily="2" charset="0"/>
              </a:rPr>
              <a:t/>
            </a:r>
            <a:r>
              <a:rPr lang="en-US" sz="1050">
                <a:solidFill>
                  <a:schemeClr val="tx2"/>
                </a:solidFill>
                <a:latin typeface="Open Sans" pitchFamily="2" charset="0"/>
                <a:ea typeface="Open Sans" pitchFamily="2" charset="0"/>
                <a:cs typeface="Open Sans" pitchFamily="2" charset="0"/>
              </a:rPr>
              <a:t/>
            </a:r>
          </a:p>
        </p:txBody>
      </p:sp>
      <p:sp>
        <p:nvSpPr>
          <p:cNvPr id="9" name="Text 6">
            <a:extLst>
              <a:ext uri="{FF2B5EF4-FFF2-40B4-BE49-F238E27FC236}">
                <a16:creationId xmlns:a16="http://schemas.microsoft.com/office/drawing/2014/main" id="{259FEF81-DD3E-B865-3421-68BD75398FC1}"/>
              </a:ext>
            </a:extLst>
          </p:cNvPr>
          <p:cNvSpPr/>
          <p:nvPr/>
        </p:nvSpPr>
        <p:spPr>
          <a:xfrm>
            <a:off x="475488" y="2041131"/>
            <a:ext cx="3767328" cy="329184"/>
          </a:xfrm>
          <a:prstGeom prst="rect">
            <a:avLst/>
          </a:prstGeom>
          <a:noFill/>
          <a:ln/>
        </p:spPr>
        <p:txBody>
          <a:bodyPr wrap="square" lIns="0" tIns="0" rIns="0" bIns="0" rtlCol="0" anchor="t"/>
          <a:lstStyle/>
          <a:p>
            <a:pPr marL="0" indent="0">
              <a:lnSpc>
                <a:spcPct val="110000"/>
              </a:lnSpc>
              <a:buNone/>
            </a:pPr>
            <a:r>
              <a:rPr lang="en-US" sz="1050" b="1">
                <a:solidFill>
                  <a:schemeClr val="accent2"/>
                </a:solidFill>
                <a:latin typeface="Open Sans" pitchFamily="2" charset="0"/>
                <a:ea typeface="Open Sans" pitchFamily="2" charset="0"/>
                <a:cs typeface="Open Sans" pitchFamily="2" charset="0"/>
              </a:rPr>
              <a:t>✓  LLM integration: Messages API, structured output, RAG, safe failure</a:t>
            </a:r>
            <a:r>
              <a:rPr lang="en-US" sz="1050" b="1">
                <a:solidFill>
                  <a:srgbClr val="2E7D32"/>
                </a:solidFill>
                <a:latin typeface="Open Sans" pitchFamily="2" charset="0"/>
                <a:ea typeface="Open Sans" pitchFamily="2" charset="0"/>
                <a:cs typeface="Open Sans" pitchFamily="2" charset="0"/>
              </a:rPr>
              <a:t/>
            </a:r>
            <a:r>
              <a:rPr lang="en-US" sz="1050">
                <a:solidFill>
                  <a:schemeClr val="tx2"/>
                </a:solidFill>
                <a:latin typeface="Open Sans" pitchFamily="2" charset="0"/>
                <a:ea typeface="Open Sans" pitchFamily="2" charset="0"/>
                <a:cs typeface="Open Sans" pitchFamily="2" charset="0"/>
              </a:rPr>
              <a:t/>
            </a:r>
          </a:p>
        </p:txBody>
      </p:sp>
      <p:sp>
        <p:nvSpPr>
          <p:cNvPr id="10" name="Text 7">
            <a:extLst>
              <a:ext uri="{FF2B5EF4-FFF2-40B4-BE49-F238E27FC236}">
                <a16:creationId xmlns:a16="http://schemas.microsoft.com/office/drawing/2014/main" id="{358C1B46-1DF5-EF06-91F0-946387399B1E}"/>
              </a:ext>
            </a:extLst>
          </p:cNvPr>
          <p:cNvSpPr/>
          <p:nvPr/>
        </p:nvSpPr>
        <p:spPr>
          <a:xfrm>
            <a:off x="475488" y="2452146"/>
            <a:ext cx="3767328" cy="329184"/>
          </a:xfrm>
          <a:prstGeom prst="rect">
            <a:avLst/>
          </a:prstGeom>
          <a:noFill/>
          <a:ln/>
        </p:spPr>
        <p:txBody>
          <a:bodyPr wrap="square" lIns="0" tIns="0" rIns="0" bIns="0" rtlCol="0" anchor="t"/>
          <a:lstStyle/>
          <a:p>
            <a:pPr marL="0" indent="0">
              <a:lnSpc>
                <a:spcPct val="110000"/>
              </a:lnSpc>
              <a:buNone/>
            </a:pPr>
            <a:r>
              <a:rPr lang="en-US" sz="1050" b="1">
                <a:solidFill>
                  <a:schemeClr val="accent2"/>
                </a:solidFill>
                <a:latin typeface="Open Sans" pitchFamily="2" charset="0"/>
                <a:ea typeface="Open Sans" pitchFamily="2" charset="0"/>
                <a:cs typeface="Open Sans" pitchFamily="2" charset="0"/>
              </a:rPr>
              <a:t>✓  Security: prompt-injection defence, PHI masking, least privilege</a:t>
            </a:r>
            <a:r>
              <a:rPr lang="en-US" sz="1050" b="1">
                <a:solidFill>
                  <a:srgbClr val="2E7D32"/>
                </a:solidFill>
                <a:latin typeface="Open Sans" pitchFamily="2" charset="0"/>
                <a:ea typeface="Open Sans" pitchFamily="2" charset="0"/>
                <a:cs typeface="Open Sans" pitchFamily="2" charset="0"/>
              </a:rPr>
              <a:t/>
            </a:r>
            <a:r>
              <a:rPr lang="en-US" sz="1050">
                <a:solidFill>
                  <a:schemeClr val="tx2"/>
                </a:solidFill>
                <a:latin typeface="Open Sans" pitchFamily="2" charset="0"/>
                <a:ea typeface="Open Sans" pitchFamily="2" charset="0"/>
                <a:cs typeface="Open Sans" pitchFamily="2" charset="0"/>
              </a:rPr>
              <a:t/>
            </a:r>
          </a:p>
        </p:txBody>
      </p:sp>
      <p:sp>
        <p:nvSpPr>
          <p:cNvPr id="11" name="Text 8">
            <a:extLst>
              <a:ext uri="{FF2B5EF4-FFF2-40B4-BE49-F238E27FC236}">
                <a16:creationId xmlns:a16="http://schemas.microsoft.com/office/drawing/2014/main" id="{44DCD934-2D31-5C3D-CDA3-CB5702813445}"/>
              </a:ext>
            </a:extLst>
          </p:cNvPr>
          <p:cNvSpPr/>
          <p:nvPr/>
        </p:nvSpPr>
        <p:spPr>
          <a:xfrm>
            <a:off x="475488" y="2863161"/>
            <a:ext cx="3767328" cy="168809"/>
          </a:xfrm>
          <a:prstGeom prst="rect">
            <a:avLst/>
          </a:prstGeom>
          <a:noFill/>
          <a:ln/>
        </p:spPr>
        <p:txBody>
          <a:bodyPr wrap="square" lIns="0" tIns="0" rIns="0" bIns="0" rtlCol="0" anchor="t"/>
          <a:lstStyle/>
          <a:p>
            <a:pPr marL="0" indent="0">
              <a:lnSpc>
                <a:spcPct val="110000"/>
              </a:lnSpc>
              <a:buNone/>
            </a:pPr>
            <a:r>
              <a:rPr lang="en-US" sz="1050" b="1">
                <a:solidFill>
                  <a:schemeClr val="accent2"/>
                </a:solidFill>
                <a:latin typeface="Open Sans" pitchFamily="2" charset="0"/>
                <a:ea typeface="Open Sans" pitchFamily="2" charset="0"/>
                <a:cs typeface="Open Sans" pitchFamily="2" charset="0"/>
              </a:rPr>
              <a:t>✓  Assurance: debugging loop, checkpoints, spec-derived tests, hooks</a:t>
            </a:r>
            <a:r>
              <a:rPr lang="en-US" sz="1050" b="1">
                <a:solidFill>
                  <a:srgbClr val="2E7D32"/>
                </a:solidFill>
                <a:latin typeface="Open Sans" pitchFamily="2" charset="0"/>
                <a:ea typeface="Open Sans" pitchFamily="2" charset="0"/>
                <a:cs typeface="Open Sans" pitchFamily="2" charset="0"/>
              </a:rPr>
              <a:t/>
            </a:r>
            <a:r>
              <a:rPr lang="en-US" sz="1050">
                <a:solidFill>
                  <a:schemeClr val="tx2"/>
                </a:solidFill>
                <a:latin typeface="Open Sans" pitchFamily="2" charset="0"/>
                <a:ea typeface="Open Sans" pitchFamily="2" charset="0"/>
                <a:cs typeface="Open Sans" pitchFamily="2" charset="0"/>
              </a:rPr>
              <a:t/>
            </a:r>
          </a:p>
        </p:txBody>
      </p:sp>
      <p:sp>
        <p:nvSpPr>
          <p:cNvPr id="12" name="Text 9">
            <a:extLst>
              <a:ext uri="{FF2B5EF4-FFF2-40B4-BE49-F238E27FC236}">
                <a16:creationId xmlns:a16="http://schemas.microsoft.com/office/drawing/2014/main" id="{C18F0474-B77B-9E9E-4E37-F8B2662F959F}"/>
              </a:ext>
            </a:extLst>
          </p:cNvPr>
          <p:cNvSpPr/>
          <p:nvPr/>
        </p:nvSpPr>
        <p:spPr>
          <a:xfrm>
            <a:off x="475488" y="3113801"/>
            <a:ext cx="3767328" cy="329184"/>
          </a:xfrm>
          <a:prstGeom prst="rect">
            <a:avLst/>
          </a:prstGeom>
          <a:noFill/>
          <a:ln/>
        </p:spPr>
        <p:txBody>
          <a:bodyPr wrap="square" lIns="0" tIns="0" rIns="0" bIns="0" rtlCol="0" anchor="t"/>
          <a:lstStyle/>
          <a:p>
            <a:pPr marL="0" indent="0">
              <a:lnSpc>
                <a:spcPct val="110000"/>
              </a:lnSpc>
              <a:buNone/>
            </a:pPr>
            <a:r>
              <a:rPr lang="en-US" sz="1050" b="1">
                <a:solidFill>
                  <a:schemeClr val="accent2"/>
                </a:solidFill>
                <a:latin typeface="Open Sans" pitchFamily="2" charset="0"/>
                <a:ea typeface="Open Sans" pitchFamily="2" charset="0"/>
                <a:cs typeface="Open Sans" pitchFamily="2" charset="0"/>
              </a:rPr>
              <a:t>✓  Agents: tool use, memory, in-app hooks, a read-only MCP server</a:t>
            </a:r>
            <a:r>
              <a:rPr lang="en-US" sz="1050" b="1">
                <a:solidFill>
                  <a:srgbClr val="2E7D32"/>
                </a:solidFill>
                <a:latin typeface="Open Sans" pitchFamily="2" charset="0"/>
                <a:ea typeface="Open Sans" pitchFamily="2" charset="0"/>
                <a:cs typeface="Open Sans" pitchFamily="2" charset="0"/>
              </a:rPr>
              <a:t/>
            </a:r>
            <a:r>
              <a:rPr lang="en-US" sz="1050">
                <a:solidFill>
                  <a:schemeClr val="tx2"/>
                </a:solidFill>
                <a:latin typeface="Open Sans" pitchFamily="2" charset="0"/>
                <a:ea typeface="Open Sans" pitchFamily="2" charset="0"/>
                <a:cs typeface="Open Sans" pitchFamily="2" charset="0"/>
              </a:rPr>
              <a:t/>
            </a:r>
          </a:p>
        </p:txBody>
      </p:sp>
      <p:sp>
        <p:nvSpPr>
          <p:cNvPr id="13" name="Text 10">
            <a:extLst>
              <a:ext uri="{FF2B5EF4-FFF2-40B4-BE49-F238E27FC236}">
                <a16:creationId xmlns:a16="http://schemas.microsoft.com/office/drawing/2014/main" id="{B0A1F12B-F0A8-E87F-9064-1B43B2851DE3}"/>
              </a:ext>
            </a:extLst>
          </p:cNvPr>
          <p:cNvSpPr/>
          <p:nvPr/>
        </p:nvSpPr>
        <p:spPr>
          <a:xfrm>
            <a:off x="475488" y="3524816"/>
            <a:ext cx="3767328" cy="355123"/>
          </a:xfrm>
          <a:prstGeom prst="rect">
            <a:avLst/>
          </a:prstGeom>
          <a:noFill/>
          <a:ln/>
        </p:spPr>
        <p:txBody>
          <a:bodyPr wrap="square" lIns="0" tIns="0" rIns="0" bIns="0" rtlCol="0" anchor="t"/>
          <a:lstStyle/>
          <a:p>
            <a:pPr marL="0" indent="0">
              <a:lnSpc>
                <a:spcPct val="110000"/>
              </a:lnSpc>
              <a:buNone/>
            </a:pPr>
            <a:r>
              <a:rPr lang="en-US" sz="1050" b="1">
                <a:solidFill>
                  <a:schemeClr val="accent2"/>
                </a:solidFill>
                <a:latin typeface="Open Sans" pitchFamily="2" charset="0"/>
                <a:ea typeface="Open Sans" pitchFamily="2" charset="0"/>
                <a:cs typeface="Open Sans" pitchFamily="2" charset="0"/>
              </a:rPr>
              <a:t>✓  Shipping: docs and ADRs from code, clean commits, gap audit</a:t>
            </a:r>
            <a:r>
              <a:rPr lang="en-US" sz="1050" b="1">
                <a:solidFill>
                  <a:srgbClr val="2E7D32"/>
                </a:solidFill>
                <a:latin typeface="Open Sans" pitchFamily="2" charset="0"/>
                <a:ea typeface="Open Sans" pitchFamily="2" charset="0"/>
                <a:cs typeface="Open Sans" pitchFamily="2" charset="0"/>
              </a:rPr>
              <a:t/>
            </a:r>
            <a:r>
              <a:rPr lang="en-US" sz="1050">
                <a:solidFill>
                  <a:schemeClr val="tx2"/>
                </a:solidFill>
                <a:latin typeface="Open Sans" pitchFamily="2" charset="0"/>
                <a:ea typeface="Open Sans" pitchFamily="2" charset="0"/>
                <a:cs typeface="Open Sans" pitchFamily="2" charset="0"/>
              </a:rPr>
              <a:t/>
            </a:r>
          </a:p>
        </p:txBody>
      </p:sp>
      <p:sp>
        <p:nvSpPr>
          <p:cNvPr id="14" name="Text 11">
            <a:extLst>
              <a:ext uri="{FF2B5EF4-FFF2-40B4-BE49-F238E27FC236}">
                <a16:creationId xmlns:a16="http://schemas.microsoft.com/office/drawing/2014/main" id="{160F7CE3-D768-98B4-6208-711BE807E214}"/>
              </a:ext>
            </a:extLst>
          </p:cNvPr>
          <p:cNvSpPr/>
          <p:nvPr/>
        </p:nvSpPr>
        <p:spPr>
          <a:xfrm>
            <a:off x="475488" y="3961767"/>
            <a:ext cx="3767328" cy="334500"/>
          </a:xfrm>
          <a:prstGeom prst="rect">
            <a:avLst/>
          </a:prstGeom>
          <a:noFill/>
          <a:ln/>
        </p:spPr>
        <p:txBody>
          <a:bodyPr wrap="square" lIns="0" tIns="0" rIns="0" bIns="0" rtlCol="0" anchor="t"/>
          <a:lstStyle/>
          <a:p>
            <a:pPr marL="0" indent="0">
              <a:lnSpc>
                <a:spcPct val="110000"/>
              </a:lnSpc>
              <a:buNone/>
            </a:pPr>
            <a:r>
              <a:rPr lang="en-US" sz="1050" b="1">
                <a:solidFill>
                  <a:schemeClr val="accent2"/>
                </a:solidFill>
                <a:latin typeface="Open Sans" pitchFamily="2" charset="0"/>
                <a:ea typeface="Open Sans" pitchFamily="2" charset="0"/>
                <a:cs typeface="Open Sans" pitchFamily="2" charset="0"/>
              </a:rPr>
              <a:t>✓  Production LLM ops: evals, observability, cost, governance</a:t>
            </a:r>
            <a:r>
              <a:rPr lang="en-US" sz="1050" b="1">
                <a:solidFill>
                  <a:srgbClr val="2E7D32"/>
                </a:solidFill>
                <a:latin typeface="Open Sans" pitchFamily="2" charset="0"/>
                <a:ea typeface="Open Sans" pitchFamily="2" charset="0"/>
                <a:cs typeface="Open Sans" pitchFamily="2" charset="0"/>
              </a:rPr>
              <a:t/>
            </a:r>
            <a:r>
              <a:rPr lang="en-US" sz="1050">
                <a:solidFill>
                  <a:schemeClr val="tx2"/>
                </a:solidFill>
                <a:latin typeface="Open Sans" pitchFamily="2" charset="0"/>
                <a:ea typeface="Open Sans" pitchFamily="2" charset="0"/>
                <a:cs typeface="Open Sans" pitchFamily="2" charset="0"/>
              </a:rPr>
              <a:t/>
            </a:r>
          </a:p>
        </p:txBody>
      </p:sp>
      <p:sp>
        <p:nvSpPr>
          <p:cNvPr id="15" name="Shape 12">
            <a:extLst>
              <a:ext uri="{FF2B5EF4-FFF2-40B4-BE49-F238E27FC236}">
                <a16:creationId xmlns:a16="http://schemas.microsoft.com/office/drawing/2014/main" id="{DF662287-C6D3-2990-EED7-DC33513A3AE8}"/>
              </a:ext>
            </a:extLst>
          </p:cNvPr>
          <p:cNvSpPr/>
          <p:nvPr/>
        </p:nvSpPr>
        <p:spPr>
          <a:xfrm>
            <a:off x="4718304" y="931447"/>
            <a:ext cx="4133088" cy="3521287"/>
          </a:xfrm>
          <a:prstGeom prst="roundRect">
            <a:avLst>
              <a:gd name="adj" fmla="val 1690"/>
            </a:avLst>
          </a:prstGeom>
          <a:solidFill>
            <a:srgbClr val="F5F5F5"/>
          </a:solidFill>
          <a:ln w="9525">
            <a:solidFill>
              <a:srgbClr val="DEDEDE"/>
            </a:solidFill>
            <a:prstDash val="solid"/>
          </a:ln>
        </p:spPr>
        <p:txBody>
          <a:bodyPr/>
          <a:lstStyle/>
          <a:p>
            <a:endParaRPr lang="en-US">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CCE08769-2E55-61E9-510B-4005C3DBF44A}"/>
              </a:ext>
            </a:extLst>
          </p:cNvPr>
          <p:cNvSpPr/>
          <p:nvPr/>
        </p:nvSpPr>
        <p:spPr>
          <a:xfrm>
            <a:off x="4901184" y="1077751"/>
            <a:ext cx="3767328" cy="274320"/>
          </a:xfrm>
          <a:prstGeom prst="rect">
            <a:avLst/>
          </a:prstGeom>
          <a:noFill/>
          <a:ln/>
        </p:spPr>
        <p:txBody>
          <a:bodyPr wrap="square" lIns="0" tIns="0" rIns="0" bIns="0" rtlCol="0" anchor="ctr"/>
          <a:lstStyle/>
          <a:p>
            <a:pPr marL="0" indent="0" algn="ctr">
              <a:buNone/>
            </a:pPr>
            <a:r>
              <a:rPr lang="en-US" sz="1400" b="1">
                <a:solidFill>
                  <a:schemeClr val="accent3"/>
                </a:solidFill>
                <a:latin typeface="Open Sans" pitchFamily="2" charset="0"/>
                <a:ea typeface="Open Sans" pitchFamily="2" charset="0"/>
                <a:cs typeface="Open Sans" pitchFamily="2" charset="0"/>
              </a:rPr>
              <a:t>THINGS TO DO NEXT:</a:t>
            </a:r>
            <a:endParaRPr lang="en-US" sz="1400">
              <a:solidFill>
                <a:schemeClr val="accent3"/>
              </a:solidFill>
              <a:latin typeface="Open Sans" pitchFamily="2" charset="0"/>
              <a:ea typeface="Open Sans" pitchFamily="2" charset="0"/>
              <a:cs typeface="Open Sans" pitchFamily="2" charset="0"/>
            </a:endParaRPr>
          </a:p>
        </p:txBody>
      </p:sp>
      <p:sp>
        <p:nvSpPr>
          <p:cNvPr id="17" name="Text 14">
            <a:extLst>
              <a:ext uri="{FF2B5EF4-FFF2-40B4-BE49-F238E27FC236}">
                <a16:creationId xmlns:a16="http://schemas.microsoft.com/office/drawing/2014/main" id="{3E8BC06F-0C2A-7FC8-618F-F41E3B1E1062}"/>
              </a:ext>
            </a:extLst>
          </p:cNvPr>
          <p:cNvSpPr/>
          <p:nvPr/>
        </p:nvSpPr>
        <p:spPr>
          <a:xfrm>
            <a:off x="4901184" y="1361555"/>
            <a:ext cx="3767328" cy="322158"/>
          </a:xfrm>
          <a:prstGeom prst="rect">
            <a:avLst/>
          </a:prstGeom>
          <a:noFill/>
          <a:ln/>
        </p:spPr>
        <p:txBody>
          <a:bodyPr wrap="square" lIns="0" tIns="0" rIns="0" bIns="0" rtlCol="0" anchor="t"/>
          <a:lstStyle/>
          <a:p>
            <a:pPr marL="0" indent="0">
              <a:lnSpc>
                <a:spcPct val="110000"/>
              </a:lnSpc>
              <a:buNone/>
            </a:pPr>
            <a:r>
              <a:rPr lang="en-US" sz="1050" b="1">
                <a:solidFill>
                  <a:schemeClr val="accent3"/>
                </a:solidFill>
                <a:latin typeface="Open Sans" pitchFamily="2" charset="0"/>
                <a:ea typeface="Open Sans" pitchFamily="2" charset="0"/>
                <a:cs typeface="Open Sans" pitchFamily="2" charset="0"/>
              </a:rPr>
              <a:t>1.  </a:t>
            </a:r>
            <a:r>
              <a:rPr lang="en-US" sz="1050">
                <a:solidFill>
                  <a:schemeClr val="tx2"/>
                </a:solidFill>
                <a:latin typeface="Open Sans" pitchFamily="2" charset="0"/>
                <a:ea typeface="Open Sans" pitchFamily="2" charset="0"/>
                <a:cs typeface="Open Sans" pitchFamily="2" charset="0"/>
              </a:rPr>
              <a:t>Use the build loop on one real problem from your current work</a:t>
            </a:r>
          </a:p>
        </p:txBody>
      </p:sp>
      <p:sp>
        <p:nvSpPr>
          <p:cNvPr id="18" name="Text 15">
            <a:extLst>
              <a:ext uri="{FF2B5EF4-FFF2-40B4-BE49-F238E27FC236}">
                <a16:creationId xmlns:a16="http://schemas.microsoft.com/office/drawing/2014/main" id="{6604CD9D-E216-06C7-8F96-F97E61E53EBE}"/>
              </a:ext>
            </a:extLst>
          </p:cNvPr>
          <p:cNvSpPr/>
          <p:nvPr/>
        </p:nvSpPr>
        <p:spPr>
          <a:xfrm>
            <a:off x="4901184" y="1786428"/>
            <a:ext cx="3767328" cy="309904"/>
          </a:xfrm>
          <a:prstGeom prst="rect">
            <a:avLst/>
          </a:prstGeom>
          <a:noFill/>
          <a:ln/>
        </p:spPr>
        <p:txBody>
          <a:bodyPr wrap="square" lIns="0" tIns="0" rIns="0" bIns="0" rtlCol="0" anchor="t"/>
          <a:lstStyle/>
          <a:p>
            <a:pPr marL="0" indent="0">
              <a:lnSpc>
                <a:spcPct val="110000"/>
              </a:lnSpc>
              <a:buNone/>
            </a:pPr>
            <a:r>
              <a:rPr lang="en-US" sz="1050" b="1">
                <a:solidFill>
                  <a:schemeClr val="accent3"/>
                </a:solidFill>
                <a:latin typeface="Open Sans" pitchFamily="2" charset="0"/>
                <a:ea typeface="Open Sans" pitchFamily="2" charset="0"/>
                <a:cs typeface="Open Sans" pitchFamily="2" charset="0"/>
              </a:rPr>
              <a:t>2.  </a:t>
            </a:r>
            <a:r>
              <a:rPr lang="en-US" sz="1050">
                <a:solidFill>
                  <a:schemeClr val="tx2"/>
                </a:solidFill>
                <a:latin typeface="Open Sans" pitchFamily="2" charset="0"/>
                <a:ea typeface="Open Sans" pitchFamily="2" charset="0"/>
                <a:cs typeface="Open Sans" pitchFamily="2" charset="0"/>
              </a:rPr>
              <a:t>Run the review prompt on any script your team already uses</a:t>
            </a:r>
          </a:p>
        </p:txBody>
      </p:sp>
      <p:sp>
        <p:nvSpPr>
          <p:cNvPr id="19" name="Text 16">
            <a:extLst>
              <a:ext uri="{FF2B5EF4-FFF2-40B4-BE49-F238E27FC236}">
                <a16:creationId xmlns:a16="http://schemas.microsoft.com/office/drawing/2014/main" id="{C811FDB9-8046-CA01-33BB-D9A573302BFF}"/>
              </a:ext>
            </a:extLst>
          </p:cNvPr>
          <p:cNvSpPr/>
          <p:nvPr/>
        </p:nvSpPr>
        <p:spPr>
          <a:xfrm>
            <a:off x="4901184" y="2199047"/>
            <a:ext cx="3767328" cy="322158"/>
          </a:xfrm>
          <a:prstGeom prst="rect">
            <a:avLst/>
          </a:prstGeom>
          <a:noFill/>
          <a:ln/>
        </p:spPr>
        <p:txBody>
          <a:bodyPr wrap="square" lIns="0" tIns="0" rIns="0" bIns="0" rtlCol="0" anchor="t"/>
          <a:lstStyle/>
          <a:p>
            <a:pPr marL="0" indent="0">
              <a:lnSpc>
                <a:spcPct val="110000"/>
              </a:lnSpc>
              <a:buNone/>
            </a:pPr>
            <a:r>
              <a:rPr lang="en-US" sz="1050" b="1">
                <a:solidFill>
                  <a:schemeClr val="accent3"/>
                </a:solidFill>
                <a:latin typeface="Open Sans" pitchFamily="2" charset="0"/>
                <a:ea typeface="Open Sans" pitchFamily="2" charset="0"/>
                <a:cs typeface="Open Sans" pitchFamily="2" charset="0"/>
              </a:rPr>
              <a:t>3.  </a:t>
            </a:r>
            <a:r>
              <a:rPr lang="en-US" sz="1050">
                <a:solidFill>
                  <a:schemeClr val="tx2"/>
                </a:solidFill>
                <a:latin typeface="Open Sans" pitchFamily="2" charset="0"/>
                <a:ea typeface="Open Sans" pitchFamily="2" charset="0"/>
                <a:cs typeface="Open Sans" pitchFamily="2" charset="0"/>
              </a:rPr>
              <a:t>Apply the 10x rule the next time engineering gives you a timeline</a:t>
            </a:r>
          </a:p>
        </p:txBody>
      </p:sp>
      <p:sp>
        <p:nvSpPr>
          <p:cNvPr id="20" name="Text 17">
            <a:extLst>
              <a:ext uri="{FF2B5EF4-FFF2-40B4-BE49-F238E27FC236}">
                <a16:creationId xmlns:a16="http://schemas.microsoft.com/office/drawing/2014/main" id="{68800FE4-774C-8C42-4074-45C7DE4B29EB}"/>
              </a:ext>
            </a:extLst>
          </p:cNvPr>
          <p:cNvSpPr/>
          <p:nvPr/>
        </p:nvSpPr>
        <p:spPr>
          <a:xfrm>
            <a:off x="4901184" y="2623920"/>
            <a:ext cx="3767328" cy="322800"/>
          </a:xfrm>
          <a:prstGeom prst="rect">
            <a:avLst/>
          </a:prstGeom>
          <a:noFill/>
          <a:ln/>
        </p:spPr>
        <p:txBody>
          <a:bodyPr wrap="square" lIns="0" tIns="0" rIns="0" bIns="0" rtlCol="0" anchor="t"/>
          <a:lstStyle/>
          <a:p>
            <a:pPr marL="0" indent="0">
              <a:lnSpc>
                <a:spcPct val="110000"/>
              </a:lnSpc>
              <a:buNone/>
            </a:pPr>
            <a:r>
              <a:rPr lang="en-US" sz="1050" b="1">
                <a:solidFill>
                  <a:schemeClr val="accent3"/>
                </a:solidFill>
                <a:latin typeface="Open Sans" pitchFamily="2" charset="0"/>
                <a:ea typeface="Open Sans" pitchFamily="2" charset="0"/>
                <a:cs typeface="Open Sans" pitchFamily="2" charset="0"/>
              </a:rPr>
              <a:t>4.  </a:t>
            </a:r>
            <a:r>
              <a:rPr lang="en-US" sz="1050">
                <a:solidFill>
                  <a:schemeClr val="tx2"/>
                </a:solidFill>
                <a:latin typeface="Open Sans" pitchFamily="2" charset="0"/>
                <a:ea typeface="Open Sans" pitchFamily="2" charset="0"/>
                <a:cs typeface="Open Sans" pitchFamily="2" charset="0"/>
              </a:rPr>
              <a:t>Check your org's AI coding data handling policy; if none exists, flag it</a:t>
            </a:r>
          </a:p>
        </p:txBody>
      </p:sp>
      <p:sp>
        <p:nvSpPr>
          <p:cNvPr id="21" name="Text 18">
            <a:extLst>
              <a:ext uri="{FF2B5EF4-FFF2-40B4-BE49-F238E27FC236}">
                <a16:creationId xmlns:a16="http://schemas.microsoft.com/office/drawing/2014/main" id="{304CEEA7-DFF3-1BF1-CC6F-BF9FF3FAB977}"/>
              </a:ext>
            </a:extLst>
          </p:cNvPr>
          <p:cNvSpPr/>
          <p:nvPr/>
        </p:nvSpPr>
        <p:spPr>
          <a:xfrm>
            <a:off x="4901184" y="3049435"/>
            <a:ext cx="3767328" cy="146575"/>
          </a:xfrm>
          <a:prstGeom prst="rect">
            <a:avLst/>
          </a:prstGeom>
          <a:noFill/>
          <a:ln/>
        </p:spPr>
        <p:txBody>
          <a:bodyPr wrap="square" lIns="0" tIns="0" rIns="0" bIns="0" rtlCol="0" anchor="t"/>
          <a:lstStyle/>
          <a:p>
            <a:pPr marL="0" indent="0">
              <a:lnSpc>
                <a:spcPct val="110000"/>
              </a:lnSpc>
              <a:buNone/>
            </a:pPr>
            <a:r>
              <a:rPr lang="en-US" sz="1050" b="1">
                <a:solidFill>
                  <a:schemeClr val="accent3"/>
                </a:solidFill>
                <a:latin typeface="Open Sans" pitchFamily="2" charset="0"/>
                <a:ea typeface="Open Sans" pitchFamily="2" charset="0"/>
                <a:cs typeface="Open Sans" pitchFamily="2" charset="0"/>
              </a:rPr>
              <a:t>5.  </a:t>
            </a:r>
            <a:r>
              <a:rPr lang="en-US" sz="1050">
                <a:solidFill>
                  <a:schemeClr val="tx2"/>
                </a:solidFill>
                <a:latin typeface="Open Sans" pitchFamily="2" charset="0"/>
                <a:ea typeface="Open Sans" pitchFamily="2" charset="0"/>
                <a:cs typeface="Open Sans" pitchFamily="2" charset="0"/>
              </a:rPr>
              <a:t>Add a CLAUDE.md to one project you already own</a:t>
            </a:r>
          </a:p>
        </p:txBody>
      </p:sp>
      <p:sp>
        <p:nvSpPr>
          <p:cNvPr id="22" name="Text 19">
            <a:extLst>
              <a:ext uri="{FF2B5EF4-FFF2-40B4-BE49-F238E27FC236}">
                <a16:creationId xmlns:a16="http://schemas.microsoft.com/office/drawing/2014/main" id="{A0BDF4C6-F7B2-9439-84EB-28F93CE1FF8D}"/>
              </a:ext>
            </a:extLst>
          </p:cNvPr>
          <p:cNvSpPr/>
          <p:nvPr/>
        </p:nvSpPr>
        <p:spPr>
          <a:xfrm>
            <a:off x="4901184" y="3298725"/>
            <a:ext cx="3767328" cy="309905"/>
          </a:xfrm>
          <a:prstGeom prst="rect">
            <a:avLst/>
          </a:prstGeom>
          <a:noFill/>
          <a:ln/>
        </p:spPr>
        <p:txBody>
          <a:bodyPr wrap="square" lIns="0" tIns="0" rIns="0" bIns="0" rtlCol="0" anchor="t"/>
          <a:lstStyle/>
          <a:p>
            <a:pPr marL="0" indent="0">
              <a:lnSpc>
                <a:spcPct val="110000"/>
              </a:lnSpc>
              <a:buNone/>
            </a:pPr>
            <a:r>
              <a:rPr lang="en-US" sz="1050" b="1">
                <a:solidFill>
                  <a:schemeClr val="accent3"/>
                </a:solidFill>
                <a:latin typeface="Open Sans" pitchFamily="2" charset="0"/>
                <a:ea typeface="Open Sans" pitchFamily="2" charset="0"/>
                <a:cs typeface="Open Sans" pitchFamily="2" charset="0"/>
              </a:rPr>
              <a:t>6.  Run the production gap audit on your next PoC before you demo it</a:t>
            </a:r>
            <a:r>
              <a:rPr lang="en-US" sz="1050">
                <a:solidFill>
                  <a:schemeClr val="tx2"/>
                </a:solidFill>
                <a:latin typeface="Open Sans" pitchFamily="2" charset="0"/>
                <a:ea typeface="Open Sans" pitchFamily="2" charset="0"/>
                <a:cs typeface="Open Sans" pitchFamily="2" charset="0"/>
              </a:rPr>
              <a:t/>
            </a:r>
          </a:p>
        </p:txBody>
      </p:sp>
      <p:sp>
        <p:nvSpPr>
          <p:cNvPr id="23" name="Text 20">
            <a:extLst>
              <a:ext uri="{FF2B5EF4-FFF2-40B4-BE49-F238E27FC236}">
                <a16:creationId xmlns:a16="http://schemas.microsoft.com/office/drawing/2014/main" id="{A2958307-582A-25A0-5943-334440D2D2BC}"/>
              </a:ext>
            </a:extLst>
          </p:cNvPr>
          <p:cNvSpPr/>
          <p:nvPr/>
        </p:nvSpPr>
        <p:spPr>
          <a:xfrm>
            <a:off x="4901184" y="3711344"/>
            <a:ext cx="3767328" cy="148035"/>
          </a:xfrm>
          <a:prstGeom prst="rect">
            <a:avLst/>
          </a:prstGeom>
          <a:noFill/>
          <a:ln/>
        </p:spPr>
        <p:txBody>
          <a:bodyPr wrap="square" lIns="0" tIns="0" rIns="0" bIns="0" rtlCol="0" anchor="t"/>
          <a:lstStyle/>
          <a:p>
            <a:pPr marL="0" indent="0">
              <a:lnSpc>
                <a:spcPct val="110000"/>
              </a:lnSpc>
              <a:buNone/>
            </a:pPr>
            <a:r>
              <a:rPr lang="en-US" sz="1050" b="1">
                <a:solidFill>
                  <a:schemeClr val="accent3"/>
                </a:solidFill>
                <a:latin typeface="Open Sans" pitchFamily="2" charset="0"/>
                <a:ea typeface="Open Sans" pitchFamily="2" charset="0"/>
                <a:cs typeface="Open Sans" pitchFamily="2" charset="0"/>
              </a:rPr>
              <a:t>7.  </a:t>
            </a:r>
            <a:r>
              <a:rPr lang="en-US" sz="1050">
                <a:solidFill>
                  <a:schemeClr val="tx2"/>
                </a:solidFill>
                <a:latin typeface="Open Sans" pitchFamily="2" charset="0"/>
                <a:ea typeface="Open Sans" pitchFamily="2" charset="0"/>
                <a:cs typeface="Open Sans" pitchFamily="2" charset="0"/>
              </a:rPr>
              <a:t>Build the next PoC faster than you built this one</a:t>
            </a:r>
          </a:p>
        </p:txBody>
      </p:sp>
      <p:sp>
        <p:nvSpPr>
          <p:cNvPr id="24" name="Shape 21">
            <a:extLst>
              <a:ext uri="{FF2B5EF4-FFF2-40B4-BE49-F238E27FC236}">
                <a16:creationId xmlns:a16="http://schemas.microsoft.com/office/drawing/2014/main" id="{C0E7916F-B595-EE5F-E09C-AC54D3B77225}"/>
              </a:ext>
            </a:extLst>
          </p:cNvPr>
          <p:cNvSpPr/>
          <p:nvPr/>
        </p:nvSpPr>
        <p:spPr>
          <a:xfrm>
            <a:off x="292608" y="4508589"/>
            <a:ext cx="8558784" cy="365760"/>
          </a:xfrm>
          <a:prstGeom prst="roundRect">
            <a:avLst>
              <a:gd name="adj" fmla="val 12500"/>
            </a:avLst>
          </a:prstGeom>
          <a:solidFill>
            <a:schemeClr val="accent6">
              <a:lumMod val="20000"/>
              <a:lumOff val="80000"/>
            </a:schemeClr>
          </a:solidFill>
          <a:ln w="12700">
            <a:noFill/>
            <a:prstDash val="solid"/>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2">
            <a:extLst>
              <a:ext uri="{FF2B5EF4-FFF2-40B4-BE49-F238E27FC236}">
                <a16:creationId xmlns:a16="http://schemas.microsoft.com/office/drawing/2014/main" id="{211A4B1E-CEA2-3D3F-6539-D4997223C814}"/>
              </a:ext>
            </a:extLst>
          </p:cNvPr>
          <p:cNvSpPr/>
          <p:nvPr/>
        </p:nvSpPr>
        <p:spPr>
          <a:xfrm>
            <a:off x="493776" y="4508589"/>
            <a:ext cx="8156448" cy="365760"/>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The intensive ends today. The practice starts Monday.</a:t>
            </a:r>
            <a:endParaRPr lang="en-US" sz="120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7841293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5">
            <a:extLst>
              <a:ext uri="{FF2B5EF4-FFF2-40B4-BE49-F238E27FC236}">
                <a16:creationId xmlns:a16="http://schemas.microsoft.com/office/drawing/2014/main" id="{B105DB15-F342-4820-302A-25DDA53929E6}"/>
              </a:ext>
            </a:extLst>
          </p:cNvPr>
          <p:cNvSpPr/>
          <p:nvPr/>
        </p:nvSpPr>
        <p:spPr>
          <a:xfrm>
            <a:off x="342900" y="760922"/>
            <a:ext cx="8455914" cy="425828"/>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An AI engineer pastes a live support-ticket export, real names, emails and account IDs, into Claude Code to help it understand the data structure. The primary risk is:</a:t>
            </a:r>
            <a:endParaRPr lang="en-US" sz="1400">
              <a:latin typeface="Open Sans" pitchFamily="2" charset="0"/>
              <a:ea typeface="Open Sans" pitchFamily="2" charset="0"/>
              <a:cs typeface="Open Sans" pitchFamily="2" charset="0"/>
            </a:endParaRPr>
          </a:p>
        </p:txBody>
      </p:sp>
      <p:sp>
        <p:nvSpPr>
          <p:cNvPr id="9" name="Shape 6">
            <a:extLst>
              <a:ext uri="{FF2B5EF4-FFF2-40B4-BE49-F238E27FC236}">
                <a16:creationId xmlns:a16="http://schemas.microsoft.com/office/drawing/2014/main" id="{C4BC21FF-FF37-FEF6-C294-B63FD2B3BF78}"/>
              </a:ext>
            </a:extLst>
          </p:cNvPr>
          <p:cNvSpPr/>
          <p:nvPr/>
        </p:nvSpPr>
        <p:spPr>
          <a:xfrm>
            <a:off x="342900" y="1484757"/>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7">
            <a:extLst>
              <a:ext uri="{FF2B5EF4-FFF2-40B4-BE49-F238E27FC236}">
                <a16:creationId xmlns:a16="http://schemas.microsoft.com/office/drawing/2014/main" id="{97E83218-439D-447E-9E3D-A3792885EC53}"/>
              </a:ext>
            </a:extLst>
          </p:cNvPr>
          <p:cNvSpPr/>
          <p:nvPr/>
        </p:nvSpPr>
        <p:spPr>
          <a:xfrm>
            <a:off x="493776" y="1546479"/>
            <a:ext cx="205740" cy="205740"/>
          </a:xfrm>
          <a:prstGeom prst="ellipse">
            <a:avLst/>
          </a:prstGeom>
          <a:solidFill>
            <a:srgbClr val="C4CBD6"/>
          </a:solidFill>
          <a:ln/>
        </p:spPr>
        <p:txBody>
          <a:bodyPr/>
          <a:lstStyle/>
          <a:p>
            <a:endParaRPr lang="en-US" sz="1100">
              <a:solidFill>
                <a:schemeClr val="bg2"/>
              </a:solidFill>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7A6D61C9-5ED7-75BA-97EC-86C475B75744}"/>
              </a:ext>
            </a:extLst>
          </p:cNvPr>
          <p:cNvSpPr/>
          <p:nvPr/>
        </p:nvSpPr>
        <p:spPr>
          <a:xfrm>
            <a:off x="493776" y="1546479"/>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A</a:t>
            </a:r>
            <a:endParaRPr lang="en-US" sz="1100">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FC861DC5-DD5D-0049-0B8A-91179701C13D}"/>
              </a:ext>
            </a:extLst>
          </p:cNvPr>
          <p:cNvSpPr/>
          <p:nvPr/>
        </p:nvSpPr>
        <p:spPr>
          <a:xfrm>
            <a:off x="809244" y="1484757"/>
            <a:ext cx="7886700"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A.  </a:t>
            </a:r>
            <a:r>
              <a:rPr lang="en-US" sz="1100">
                <a:solidFill>
                  <a:schemeClr val="tx2"/>
                </a:solidFill>
                <a:latin typeface="Open Sans" pitchFamily="2" charset="0"/>
                <a:ea typeface="Open Sans" pitchFamily="2" charset="0"/>
                <a:cs typeface="Open Sans" pitchFamily="2" charset="0"/>
              </a:rPr>
              <a:t>None; it was only used to build, not stored</a:t>
            </a:r>
          </a:p>
        </p:txBody>
      </p:sp>
      <p:sp>
        <p:nvSpPr>
          <p:cNvPr id="17" name="Shape 14">
            <a:extLst>
              <a:ext uri="{FF2B5EF4-FFF2-40B4-BE49-F238E27FC236}">
                <a16:creationId xmlns:a16="http://schemas.microsoft.com/office/drawing/2014/main" id="{CCC91AC0-A55A-F013-6FF4-21602CE29A70}"/>
              </a:ext>
            </a:extLst>
          </p:cNvPr>
          <p:cNvSpPr/>
          <p:nvPr/>
        </p:nvSpPr>
        <p:spPr>
          <a:xfrm>
            <a:off x="342900" y="2307717"/>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D0CC1F95-A21D-5A8F-5205-DD306405D33B}"/>
              </a:ext>
            </a:extLst>
          </p:cNvPr>
          <p:cNvSpPr/>
          <p:nvPr/>
        </p:nvSpPr>
        <p:spPr>
          <a:xfrm>
            <a:off x="493776" y="2369439"/>
            <a:ext cx="205740" cy="205740"/>
          </a:xfrm>
          <a:prstGeom prst="ellipse">
            <a:avLst/>
          </a:prstGeom>
          <a:solidFill>
            <a:srgbClr val="C4CBD6"/>
          </a:solidFill>
          <a:ln/>
        </p:spPr>
        <p:txBody>
          <a:bodyPr/>
          <a:lstStyle/>
          <a:p>
            <a:endParaRPr lang="en-US" sz="1100">
              <a:solidFill>
                <a:schemeClr val="bg2"/>
              </a:solidFill>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B39E9018-C925-0E05-BBF6-674085D4B78F}"/>
              </a:ext>
            </a:extLst>
          </p:cNvPr>
          <p:cNvSpPr/>
          <p:nvPr/>
        </p:nvSpPr>
        <p:spPr>
          <a:xfrm>
            <a:off x="493776" y="2369439"/>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C</a:t>
            </a:r>
            <a:endParaRPr lang="en-US" sz="1100">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5425D26A-656D-BAAD-14DA-E0A391A6CA9A}"/>
              </a:ext>
            </a:extLst>
          </p:cNvPr>
          <p:cNvSpPr/>
          <p:nvPr/>
        </p:nvSpPr>
        <p:spPr>
          <a:xfrm>
            <a:off x="809244" y="2307717"/>
            <a:ext cx="7886700"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C.  </a:t>
            </a:r>
            <a:r>
              <a:rPr lang="en-US" sz="1100">
                <a:solidFill>
                  <a:schemeClr val="tx2"/>
                </a:solidFill>
                <a:latin typeface="Open Sans" pitchFamily="2" charset="0"/>
                <a:ea typeface="Open Sans" pitchFamily="2" charset="0"/>
                <a:cs typeface="Open Sans" pitchFamily="2" charset="0"/>
              </a:rPr>
              <a:t>The code might be slow</a:t>
            </a:r>
          </a:p>
        </p:txBody>
      </p:sp>
      <p:sp>
        <p:nvSpPr>
          <p:cNvPr id="21" name="Shape 18">
            <a:extLst>
              <a:ext uri="{FF2B5EF4-FFF2-40B4-BE49-F238E27FC236}">
                <a16:creationId xmlns:a16="http://schemas.microsoft.com/office/drawing/2014/main" id="{34A5FA84-F3FA-455A-E3AE-DD827E760583}"/>
              </a:ext>
            </a:extLst>
          </p:cNvPr>
          <p:cNvSpPr/>
          <p:nvPr/>
        </p:nvSpPr>
        <p:spPr>
          <a:xfrm>
            <a:off x="342900" y="2719197"/>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4A257439-7E4D-E9C7-7CEA-CFC7F1C9CDD5}"/>
              </a:ext>
            </a:extLst>
          </p:cNvPr>
          <p:cNvSpPr/>
          <p:nvPr/>
        </p:nvSpPr>
        <p:spPr>
          <a:xfrm>
            <a:off x="493776" y="2780919"/>
            <a:ext cx="205740" cy="205740"/>
          </a:xfrm>
          <a:prstGeom prst="ellipse">
            <a:avLst/>
          </a:prstGeom>
          <a:solidFill>
            <a:srgbClr val="C4CBD6"/>
          </a:solidFill>
          <a:ln/>
        </p:spPr>
        <p:txBody>
          <a:bodyPr/>
          <a:lstStyle/>
          <a:p>
            <a:endParaRPr lang="en-US" sz="1100">
              <a:solidFill>
                <a:schemeClr val="bg2"/>
              </a:solidFill>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EECACC20-A897-AA5C-7400-ABF468CD4F84}"/>
              </a:ext>
            </a:extLst>
          </p:cNvPr>
          <p:cNvSpPr/>
          <p:nvPr/>
        </p:nvSpPr>
        <p:spPr>
          <a:xfrm>
            <a:off x="493776" y="2780919"/>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D</a:t>
            </a:r>
            <a:endParaRPr lang="en-US" sz="1100">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6D6073E1-1AC2-D156-376E-18269DBFC0B7}"/>
              </a:ext>
            </a:extLst>
          </p:cNvPr>
          <p:cNvSpPr/>
          <p:nvPr/>
        </p:nvSpPr>
        <p:spPr>
          <a:xfrm>
            <a:off x="809244" y="2719197"/>
            <a:ext cx="7886700"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D.  </a:t>
            </a:r>
            <a:r>
              <a:rPr lang="en-US" sz="1100">
                <a:solidFill>
                  <a:schemeClr val="tx2"/>
                </a:solidFill>
                <a:latin typeface="Open Sans" pitchFamily="2" charset="0"/>
                <a:ea typeface="Open Sans" pitchFamily="2" charset="0"/>
                <a:cs typeface="Open Sans" pitchFamily="2" charset="0"/>
              </a:rPr>
              <a:t>The branch name is wrong</a:t>
            </a:r>
          </a:p>
        </p:txBody>
      </p:sp>
      <p:sp>
        <p:nvSpPr>
          <p:cNvPr id="2" name="Shape 6">
            <a:extLst>
              <a:ext uri="{FF2B5EF4-FFF2-40B4-BE49-F238E27FC236}">
                <a16:creationId xmlns:a16="http://schemas.microsoft.com/office/drawing/2014/main" id="{FAB95843-AD48-98BC-F185-9D1BA0047793}"/>
              </a:ext>
            </a:extLst>
          </p:cNvPr>
          <p:cNvSpPr/>
          <p:nvPr/>
        </p:nvSpPr>
        <p:spPr>
          <a:xfrm>
            <a:off x="342900" y="1896237"/>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7">
            <a:extLst>
              <a:ext uri="{FF2B5EF4-FFF2-40B4-BE49-F238E27FC236}">
                <a16:creationId xmlns:a16="http://schemas.microsoft.com/office/drawing/2014/main" id="{64EDB8EF-627D-78C2-9B4F-21A67AE0711E}"/>
              </a:ext>
            </a:extLst>
          </p:cNvPr>
          <p:cNvSpPr/>
          <p:nvPr/>
        </p:nvSpPr>
        <p:spPr>
          <a:xfrm>
            <a:off x="493776" y="1957959"/>
            <a:ext cx="205740" cy="205740"/>
          </a:xfrm>
          <a:prstGeom prst="ellipse">
            <a:avLst/>
          </a:prstGeom>
          <a:solidFill>
            <a:srgbClr val="C4CBD6"/>
          </a:solidFill>
          <a:ln/>
        </p:spPr>
        <p:txBody>
          <a:bodyPr/>
          <a:lstStyle/>
          <a:p>
            <a:endParaRPr lang="en-US" sz="1100">
              <a:solidFill>
                <a:schemeClr val="bg2"/>
              </a:solidFill>
              <a:latin typeface="Open Sans" pitchFamily="2" charset="0"/>
              <a:ea typeface="Open Sans" pitchFamily="2" charset="0"/>
              <a:cs typeface="Open Sans" pitchFamily="2" charset="0"/>
            </a:endParaRPr>
          </a:p>
        </p:txBody>
      </p:sp>
      <p:sp>
        <p:nvSpPr>
          <p:cNvPr id="4" name="Text 8">
            <a:extLst>
              <a:ext uri="{FF2B5EF4-FFF2-40B4-BE49-F238E27FC236}">
                <a16:creationId xmlns:a16="http://schemas.microsoft.com/office/drawing/2014/main" id="{82047556-E7DE-F9AD-6914-69BD78B45185}"/>
              </a:ext>
            </a:extLst>
          </p:cNvPr>
          <p:cNvSpPr/>
          <p:nvPr/>
        </p:nvSpPr>
        <p:spPr>
          <a:xfrm>
            <a:off x="493776" y="1957959"/>
            <a:ext cx="205740" cy="205740"/>
          </a:xfrm>
          <a:prstGeom prst="rect">
            <a:avLst/>
          </a:prstGeom>
          <a:noFill/>
          <a:ln/>
        </p:spPr>
        <p:txBody>
          <a:bodyPr wrap="square" lIns="0" tIns="0" rIns="0" bIns="0" rtlCol="0" anchor="ctr"/>
          <a:lstStyle/>
          <a:p>
            <a:pPr algn="ctr"/>
            <a:r>
              <a:rPr lang="en-US" sz="1100" b="1" dirty="0">
                <a:solidFill>
                  <a:srgbClr val="FFFFFF"/>
                </a:solidFill>
                <a:latin typeface="Open Sans" pitchFamily="2" charset="0"/>
                <a:ea typeface="Open Sans" pitchFamily="2" charset="0"/>
                <a:cs typeface="Open Sans" pitchFamily="2" charset="0"/>
              </a:rPr>
              <a:t>B</a:t>
            </a:r>
            <a:endParaRPr lang="en-US" sz="1100" dirty="0">
              <a:latin typeface="Open Sans" pitchFamily="2" charset="0"/>
              <a:ea typeface="Open Sans" pitchFamily="2" charset="0"/>
              <a:cs typeface="Open Sans" pitchFamily="2" charset="0"/>
            </a:endParaRPr>
          </a:p>
        </p:txBody>
      </p:sp>
      <p:sp>
        <p:nvSpPr>
          <p:cNvPr id="5" name="Text 9">
            <a:extLst>
              <a:ext uri="{FF2B5EF4-FFF2-40B4-BE49-F238E27FC236}">
                <a16:creationId xmlns:a16="http://schemas.microsoft.com/office/drawing/2014/main" id="{827B7C94-5FB6-D309-CDAF-1B8B78592671}"/>
              </a:ext>
            </a:extLst>
          </p:cNvPr>
          <p:cNvSpPr/>
          <p:nvPr/>
        </p:nvSpPr>
        <p:spPr>
          <a:xfrm>
            <a:off x="809244" y="1896237"/>
            <a:ext cx="7886700" cy="329184"/>
          </a:xfrm>
          <a:prstGeom prst="rect">
            <a:avLst/>
          </a:prstGeom>
          <a:noFill/>
          <a:ln/>
        </p:spPr>
        <p:txBody>
          <a:bodyPr wrap="square" lIns="0" tIns="0" rIns="0" bIns="0" rtlCol="0" anchor="ctr"/>
          <a:lstStyle/>
          <a:p>
            <a:r>
              <a:rPr lang="en-US" sz="1100" b="1" dirty="0">
                <a:solidFill>
                  <a:schemeClr val="tx2"/>
                </a:solidFill>
                <a:latin typeface="Open Sans" pitchFamily="2" charset="0"/>
                <a:ea typeface="Open Sans" pitchFamily="2" charset="0"/>
                <a:cs typeface="Open Sans" pitchFamily="2" charset="0"/>
              </a:rPr>
              <a:t>B.  </a:t>
            </a:r>
            <a:r>
              <a:rPr lang="en-US" sz="1100" dirty="0">
                <a:solidFill>
                  <a:schemeClr val="tx2"/>
                </a:solidFill>
                <a:latin typeface="Open Sans" pitchFamily="2" charset="0"/>
                <a:ea typeface="Open Sans" pitchFamily="2" charset="0"/>
                <a:cs typeface="Open Sans" pitchFamily="2" charset="0"/>
              </a:rPr>
              <a:t>Data privacy: real customer data was sent to an external model without </a:t>
            </a:r>
            <a:r>
              <a:rPr lang="en-US" sz="1100" dirty="0" err="1">
                <a:solidFill>
                  <a:schemeClr val="tx2"/>
                </a:solidFill>
                <a:latin typeface="Open Sans" pitchFamily="2" charset="0"/>
                <a:ea typeface="Open Sans" pitchFamily="2" charset="0"/>
                <a:cs typeface="Open Sans" pitchFamily="2" charset="0"/>
              </a:rPr>
              <a:t>authorisation</a:t>
            </a:r>
            <a:endParaRPr lang="en-US" sz="1100" dirty="0">
              <a:solidFill>
                <a:schemeClr val="tx2"/>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302315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4A44E-9B61-E970-3CAD-8F0675DA27DE}"/>
            </a:ext>
          </a:extLst>
        </p:cNvPr>
        <p:cNvGrpSpPr/>
        <p:nvPr/>
      </p:nvGrpSpPr>
      <p:grpSpPr>
        <a:xfrm>
          <a:off x="0" y="0"/>
          <a:ext cx="0" cy="0"/>
          <a:chOff x="0" y="0"/>
          <a:chExt cx="0" cy="0"/>
        </a:xfrm>
      </p:grpSpPr>
      <p:sp>
        <p:nvSpPr>
          <p:cNvPr id="8" name="Text 5">
            <a:extLst>
              <a:ext uri="{FF2B5EF4-FFF2-40B4-BE49-F238E27FC236}">
                <a16:creationId xmlns:a16="http://schemas.microsoft.com/office/drawing/2014/main" id="{71CC2D95-932B-3BEC-01B0-841B3AA53BE5}"/>
              </a:ext>
            </a:extLst>
          </p:cNvPr>
          <p:cNvSpPr/>
          <p:nvPr/>
        </p:nvSpPr>
        <p:spPr>
          <a:xfrm>
            <a:off x="342900" y="760922"/>
            <a:ext cx="8455914" cy="425828"/>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An AI engineer pastes a live support-ticket export, real names, emails and account IDs, into Claude Code to help it understand the data structure. The primary risk is:</a:t>
            </a:r>
            <a:endParaRPr lang="en-US" sz="1400">
              <a:latin typeface="Open Sans" pitchFamily="2" charset="0"/>
              <a:ea typeface="Open Sans" pitchFamily="2" charset="0"/>
              <a:cs typeface="Open Sans" pitchFamily="2" charset="0"/>
            </a:endParaRPr>
          </a:p>
        </p:txBody>
      </p:sp>
      <p:sp>
        <p:nvSpPr>
          <p:cNvPr id="9" name="Shape 6">
            <a:extLst>
              <a:ext uri="{FF2B5EF4-FFF2-40B4-BE49-F238E27FC236}">
                <a16:creationId xmlns:a16="http://schemas.microsoft.com/office/drawing/2014/main" id="{AB4E863D-6D4A-2AB4-CFFF-92D77331AD3C}"/>
              </a:ext>
            </a:extLst>
          </p:cNvPr>
          <p:cNvSpPr/>
          <p:nvPr/>
        </p:nvSpPr>
        <p:spPr>
          <a:xfrm>
            <a:off x="342900" y="1484757"/>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7">
            <a:extLst>
              <a:ext uri="{FF2B5EF4-FFF2-40B4-BE49-F238E27FC236}">
                <a16:creationId xmlns:a16="http://schemas.microsoft.com/office/drawing/2014/main" id="{BA06B0BA-BE86-8B51-C55B-77F91587CDCC}"/>
              </a:ext>
            </a:extLst>
          </p:cNvPr>
          <p:cNvSpPr/>
          <p:nvPr/>
        </p:nvSpPr>
        <p:spPr>
          <a:xfrm>
            <a:off x="493776" y="1546479"/>
            <a:ext cx="205740" cy="205740"/>
          </a:xfrm>
          <a:prstGeom prst="ellipse">
            <a:avLst/>
          </a:prstGeom>
          <a:solidFill>
            <a:srgbClr val="C4CBD6"/>
          </a:solidFill>
          <a:ln/>
        </p:spPr>
        <p:txBody>
          <a:bodyPr/>
          <a:lstStyle/>
          <a:p>
            <a:endParaRPr lang="en-US" sz="1100">
              <a:solidFill>
                <a:schemeClr val="bg2"/>
              </a:solidFill>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38D83320-301D-0679-BFE4-5C51FD4DD1E8}"/>
              </a:ext>
            </a:extLst>
          </p:cNvPr>
          <p:cNvSpPr/>
          <p:nvPr/>
        </p:nvSpPr>
        <p:spPr>
          <a:xfrm>
            <a:off x="493776" y="1546479"/>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A</a:t>
            </a:r>
            <a:endParaRPr lang="en-US" sz="1100">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B5C26BBF-627B-7A5F-58CC-616368DEC696}"/>
              </a:ext>
            </a:extLst>
          </p:cNvPr>
          <p:cNvSpPr/>
          <p:nvPr/>
        </p:nvSpPr>
        <p:spPr>
          <a:xfrm>
            <a:off x="809244" y="1484757"/>
            <a:ext cx="7886700"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A.  </a:t>
            </a:r>
            <a:r>
              <a:rPr lang="en-US" sz="1100">
                <a:solidFill>
                  <a:schemeClr val="tx2"/>
                </a:solidFill>
                <a:latin typeface="Open Sans" pitchFamily="2" charset="0"/>
                <a:ea typeface="Open Sans" pitchFamily="2" charset="0"/>
                <a:cs typeface="Open Sans" pitchFamily="2" charset="0"/>
              </a:rPr>
              <a:t>None; it was only used to build, not stored</a:t>
            </a:r>
          </a:p>
        </p:txBody>
      </p:sp>
      <p:sp>
        <p:nvSpPr>
          <p:cNvPr id="13" name="Shape 10">
            <a:extLst>
              <a:ext uri="{FF2B5EF4-FFF2-40B4-BE49-F238E27FC236}">
                <a16:creationId xmlns:a16="http://schemas.microsoft.com/office/drawing/2014/main" id="{9EF56B69-22AB-ABB0-1726-E530097F5665}"/>
              </a:ext>
            </a:extLst>
          </p:cNvPr>
          <p:cNvSpPr/>
          <p:nvPr/>
        </p:nvSpPr>
        <p:spPr>
          <a:xfrm>
            <a:off x="342900" y="1896237"/>
            <a:ext cx="8455914" cy="329184"/>
          </a:xfrm>
          <a:prstGeom prst="roundRect">
            <a:avLst>
              <a:gd name="adj" fmla="val 12500"/>
            </a:avLst>
          </a:prstGeom>
          <a:solidFill>
            <a:srgbClr val="ECFEF6"/>
          </a:solidFill>
          <a:ln w="19050">
            <a:solidFill>
              <a:srgbClr val="00B050"/>
            </a:solidFill>
            <a:prstDash val="solid"/>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1">
            <a:extLst>
              <a:ext uri="{FF2B5EF4-FFF2-40B4-BE49-F238E27FC236}">
                <a16:creationId xmlns:a16="http://schemas.microsoft.com/office/drawing/2014/main" id="{8AD07BB8-2124-F773-E6FA-248A569851A7}"/>
              </a:ext>
            </a:extLst>
          </p:cNvPr>
          <p:cNvSpPr/>
          <p:nvPr/>
        </p:nvSpPr>
        <p:spPr>
          <a:xfrm>
            <a:off x="493776" y="1957959"/>
            <a:ext cx="205740" cy="205740"/>
          </a:xfrm>
          <a:prstGeom prst="ellipse">
            <a:avLst/>
          </a:prstGeom>
          <a:solidFill>
            <a:srgbClr val="00B050"/>
          </a:solidFill>
          <a:ln/>
        </p:spPr>
        <p:txBody>
          <a:bodyPr/>
          <a:lstStyle/>
          <a:p>
            <a:endParaRPr lang="en-US" sz="1100">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933B437A-938D-66E9-E95E-F2A966A2D0EC}"/>
              </a:ext>
            </a:extLst>
          </p:cNvPr>
          <p:cNvSpPr/>
          <p:nvPr/>
        </p:nvSpPr>
        <p:spPr>
          <a:xfrm>
            <a:off x="493776" y="1957959"/>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a:t>
            </a:r>
            <a:endParaRPr lang="en-US" sz="1100">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E38F9A9E-A215-FB9A-9D22-81C0D4EF2F59}"/>
              </a:ext>
            </a:extLst>
          </p:cNvPr>
          <p:cNvSpPr/>
          <p:nvPr/>
        </p:nvSpPr>
        <p:spPr>
          <a:xfrm>
            <a:off x="809244" y="1896237"/>
            <a:ext cx="7886700" cy="329184"/>
          </a:xfrm>
          <a:prstGeom prst="rect">
            <a:avLst/>
          </a:prstGeom>
          <a:noFill/>
          <a:ln/>
        </p:spPr>
        <p:txBody>
          <a:bodyPr wrap="square" lIns="0" tIns="0" rIns="0" bIns="0" rtlCol="0" anchor="ctr"/>
          <a:lstStyle/>
          <a:p>
            <a:r>
              <a:rPr lang="en-US" sz="1100" b="1" dirty="0">
                <a:solidFill>
                  <a:srgbClr val="00B050"/>
                </a:solidFill>
                <a:latin typeface="Open Sans" pitchFamily="2" charset="0"/>
                <a:ea typeface="Open Sans" pitchFamily="2" charset="0"/>
                <a:cs typeface="Open Sans" pitchFamily="2" charset="0"/>
              </a:rPr>
              <a:t>B.  </a:t>
            </a:r>
            <a:r>
              <a:rPr lang="en-US" sz="1100" b="1" dirty="0">
                <a:latin typeface="Open Sans" pitchFamily="2" charset="0"/>
                <a:ea typeface="Open Sans" pitchFamily="2" charset="0"/>
                <a:cs typeface="Open Sans" pitchFamily="2" charset="0"/>
              </a:rPr>
              <a:t>Data privacy: real customer data was sent to an external model without </a:t>
            </a:r>
            <a:r>
              <a:rPr lang="en-US" sz="1100" b="1" dirty="0" err="1">
                <a:latin typeface="Open Sans" pitchFamily="2" charset="0"/>
                <a:ea typeface="Open Sans" pitchFamily="2" charset="0"/>
                <a:cs typeface="Open Sans" pitchFamily="2" charset="0"/>
              </a:rPr>
              <a:t>authorisation</a:t>
            </a:r>
            <a:endParaRPr lang="en-US" sz="1100" dirty="0">
              <a:latin typeface="Open Sans" pitchFamily="2" charset="0"/>
              <a:ea typeface="Open Sans" pitchFamily="2" charset="0"/>
              <a:cs typeface="Open Sans" pitchFamily="2" charset="0"/>
            </a:endParaRPr>
          </a:p>
        </p:txBody>
      </p:sp>
      <p:sp>
        <p:nvSpPr>
          <p:cNvPr id="17" name="Shape 14">
            <a:extLst>
              <a:ext uri="{FF2B5EF4-FFF2-40B4-BE49-F238E27FC236}">
                <a16:creationId xmlns:a16="http://schemas.microsoft.com/office/drawing/2014/main" id="{6963450C-B9F3-7606-2368-397598438BD2}"/>
              </a:ext>
            </a:extLst>
          </p:cNvPr>
          <p:cNvSpPr/>
          <p:nvPr/>
        </p:nvSpPr>
        <p:spPr>
          <a:xfrm>
            <a:off x="342900" y="2307717"/>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974BB604-3C83-77DE-8FF6-F53161CAE51E}"/>
              </a:ext>
            </a:extLst>
          </p:cNvPr>
          <p:cNvSpPr/>
          <p:nvPr/>
        </p:nvSpPr>
        <p:spPr>
          <a:xfrm>
            <a:off x="493776" y="2369439"/>
            <a:ext cx="205740" cy="205740"/>
          </a:xfrm>
          <a:prstGeom prst="ellipse">
            <a:avLst/>
          </a:prstGeom>
          <a:solidFill>
            <a:srgbClr val="C4CBD6"/>
          </a:solidFill>
          <a:ln/>
        </p:spPr>
        <p:txBody>
          <a:bodyPr/>
          <a:lstStyle/>
          <a:p>
            <a:endParaRPr lang="en-US" sz="1100">
              <a:solidFill>
                <a:schemeClr val="bg2"/>
              </a:solidFill>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4A37790F-7FCA-A962-64F5-9005148A62D7}"/>
              </a:ext>
            </a:extLst>
          </p:cNvPr>
          <p:cNvSpPr/>
          <p:nvPr/>
        </p:nvSpPr>
        <p:spPr>
          <a:xfrm>
            <a:off x="493776" y="2369439"/>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C</a:t>
            </a:r>
            <a:endParaRPr lang="en-US" sz="1100">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B6DA1F83-3466-B6CC-6079-0569DCC5FA36}"/>
              </a:ext>
            </a:extLst>
          </p:cNvPr>
          <p:cNvSpPr/>
          <p:nvPr/>
        </p:nvSpPr>
        <p:spPr>
          <a:xfrm>
            <a:off x="809244" y="2307717"/>
            <a:ext cx="7886700"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C.  </a:t>
            </a:r>
            <a:r>
              <a:rPr lang="en-US" sz="1100">
                <a:solidFill>
                  <a:schemeClr val="tx2"/>
                </a:solidFill>
                <a:latin typeface="Open Sans" pitchFamily="2" charset="0"/>
                <a:ea typeface="Open Sans" pitchFamily="2" charset="0"/>
                <a:cs typeface="Open Sans" pitchFamily="2" charset="0"/>
              </a:rPr>
              <a:t>The code might be slow</a:t>
            </a:r>
          </a:p>
        </p:txBody>
      </p:sp>
      <p:sp>
        <p:nvSpPr>
          <p:cNvPr id="21" name="Shape 18">
            <a:extLst>
              <a:ext uri="{FF2B5EF4-FFF2-40B4-BE49-F238E27FC236}">
                <a16:creationId xmlns:a16="http://schemas.microsoft.com/office/drawing/2014/main" id="{4413ED94-93EB-4D7F-D2C7-202DFDAEFB6D}"/>
              </a:ext>
            </a:extLst>
          </p:cNvPr>
          <p:cNvSpPr/>
          <p:nvPr/>
        </p:nvSpPr>
        <p:spPr>
          <a:xfrm>
            <a:off x="342900" y="2719197"/>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86B39DB2-48D7-397A-E59B-AE8FF7ED4A33}"/>
              </a:ext>
            </a:extLst>
          </p:cNvPr>
          <p:cNvSpPr/>
          <p:nvPr/>
        </p:nvSpPr>
        <p:spPr>
          <a:xfrm>
            <a:off x="493776" y="2780919"/>
            <a:ext cx="205740" cy="205740"/>
          </a:xfrm>
          <a:prstGeom prst="ellipse">
            <a:avLst/>
          </a:prstGeom>
          <a:solidFill>
            <a:srgbClr val="C4CBD6"/>
          </a:solidFill>
          <a:ln/>
        </p:spPr>
        <p:txBody>
          <a:bodyPr/>
          <a:lstStyle/>
          <a:p>
            <a:endParaRPr lang="en-US" sz="1100">
              <a:solidFill>
                <a:schemeClr val="bg2"/>
              </a:solidFill>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8D88962B-6389-D66B-F29C-7ADEC6131951}"/>
              </a:ext>
            </a:extLst>
          </p:cNvPr>
          <p:cNvSpPr/>
          <p:nvPr/>
        </p:nvSpPr>
        <p:spPr>
          <a:xfrm>
            <a:off x="493776" y="2780919"/>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D</a:t>
            </a:r>
            <a:endParaRPr lang="en-US" sz="1100">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F24A787D-D6BF-1496-6BC6-8B42AA0A33E9}"/>
              </a:ext>
            </a:extLst>
          </p:cNvPr>
          <p:cNvSpPr/>
          <p:nvPr/>
        </p:nvSpPr>
        <p:spPr>
          <a:xfrm>
            <a:off x="809244" y="2719197"/>
            <a:ext cx="7886700"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D.  </a:t>
            </a:r>
            <a:r>
              <a:rPr lang="en-US" sz="1100">
                <a:solidFill>
                  <a:schemeClr val="tx2"/>
                </a:solidFill>
                <a:latin typeface="Open Sans" pitchFamily="2" charset="0"/>
                <a:ea typeface="Open Sans" pitchFamily="2" charset="0"/>
                <a:cs typeface="Open Sans" pitchFamily="2" charset="0"/>
              </a:rPr>
              <a:t>The branch name is wrong</a:t>
            </a:r>
          </a:p>
        </p:txBody>
      </p:sp>
      <p:sp>
        <p:nvSpPr>
          <p:cNvPr id="25" name="Shape 22">
            <a:extLst>
              <a:ext uri="{FF2B5EF4-FFF2-40B4-BE49-F238E27FC236}">
                <a16:creationId xmlns:a16="http://schemas.microsoft.com/office/drawing/2014/main" id="{31357C07-20AB-AB11-EAE6-D6EC9439D110}"/>
              </a:ext>
            </a:extLst>
          </p:cNvPr>
          <p:cNvSpPr/>
          <p:nvPr/>
        </p:nvSpPr>
        <p:spPr>
          <a:xfrm>
            <a:off x="342900" y="3429000"/>
            <a:ext cx="8455914" cy="819531"/>
          </a:xfrm>
          <a:prstGeom prst="roundRect">
            <a:avLst>
              <a:gd name="adj" fmla="val 5161"/>
            </a:avLst>
          </a:prstGeom>
          <a:solidFill>
            <a:srgbClr val="EEF2F8"/>
          </a:solidFill>
          <a:ln/>
          <a:effectLst>
            <a:outerShdw blurRad="76200" dist="38100" dir="5400000" algn="bl" rotWithShape="0">
              <a:srgbClr val="9AA3B0">
                <a:alpha val="30000"/>
              </a:srgbClr>
            </a:outerShdw>
          </a:effectLst>
        </p:spPr>
        <p:txBody>
          <a:bodyPr/>
          <a:lstStyle/>
          <a:p>
            <a:endParaRPr lang="en-US">
              <a:latin typeface="Open Sans" pitchFamily="2" charset="0"/>
              <a:ea typeface="Open Sans" pitchFamily="2" charset="0"/>
              <a:cs typeface="Open Sans" pitchFamily="2" charset="0"/>
            </a:endParaRPr>
          </a:p>
        </p:txBody>
      </p:sp>
      <p:sp>
        <p:nvSpPr>
          <p:cNvPr id="26" name="Text 23">
            <a:extLst>
              <a:ext uri="{FF2B5EF4-FFF2-40B4-BE49-F238E27FC236}">
                <a16:creationId xmlns:a16="http://schemas.microsoft.com/office/drawing/2014/main" id="{791EBE9C-D8FF-23AA-E493-62A8491C9479}"/>
              </a:ext>
            </a:extLst>
          </p:cNvPr>
          <p:cNvSpPr/>
          <p:nvPr/>
        </p:nvSpPr>
        <p:spPr>
          <a:xfrm>
            <a:off x="534924" y="3538728"/>
            <a:ext cx="5486400" cy="205740"/>
          </a:xfrm>
          <a:prstGeom prst="rect">
            <a:avLst/>
          </a:prstGeom>
          <a:noFill/>
          <a:ln/>
        </p:spPr>
        <p:txBody>
          <a:bodyPr wrap="square" lIns="0" tIns="0" rIns="0" bIns="0" rtlCol="0" anchor="ctr"/>
          <a:lstStyle/>
          <a:p>
            <a:r>
              <a:rPr lang="en-US" sz="1050" b="1" kern="0" spc="113">
                <a:solidFill>
                  <a:schemeClr val="accent1"/>
                </a:solidFill>
                <a:latin typeface="Open Sans" pitchFamily="2" charset="0"/>
                <a:ea typeface="Open Sans" pitchFamily="2" charset="0"/>
                <a:cs typeface="Open Sans" pitchFamily="2" charset="0"/>
              </a:rPr>
              <a:t>THROUGH THE LENS</a:t>
            </a:r>
            <a:endParaRPr lang="en-US" sz="1050">
              <a:solidFill>
                <a:schemeClr val="accent1"/>
              </a:solidFill>
              <a:latin typeface="Open Sans" pitchFamily="2" charset="0"/>
              <a:ea typeface="Open Sans" pitchFamily="2" charset="0"/>
              <a:cs typeface="Open Sans" pitchFamily="2" charset="0"/>
            </a:endParaRPr>
          </a:p>
        </p:txBody>
      </p:sp>
      <p:sp>
        <p:nvSpPr>
          <p:cNvPr id="27" name="Shape 24">
            <a:extLst>
              <a:ext uri="{FF2B5EF4-FFF2-40B4-BE49-F238E27FC236}">
                <a16:creationId xmlns:a16="http://schemas.microsoft.com/office/drawing/2014/main" id="{BC8E386E-3CA6-9B55-D2AC-86A6BBDF69F1}"/>
              </a:ext>
            </a:extLst>
          </p:cNvPr>
          <p:cNvSpPr/>
          <p:nvPr/>
        </p:nvSpPr>
        <p:spPr>
          <a:xfrm>
            <a:off x="534924" y="3785616"/>
            <a:ext cx="2002536" cy="274320"/>
          </a:xfrm>
          <a:prstGeom prst="roundRect">
            <a:avLst>
              <a:gd name="adj" fmla="val 15000"/>
            </a:avLst>
          </a:prstGeom>
          <a:solidFill>
            <a:srgbClr val="00B050"/>
          </a:solidFill>
          <a:ln/>
        </p:spPr>
        <p:txBody>
          <a:bodyPr/>
          <a:lstStyle/>
          <a:p>
            <a:endParaRPr lang="en-US">
              <a:solidFill>
                <a:srgbClr val="00B050"/>
              </a:solidFill>
              <a:latin typeface="Open Sans" pitchFamily="2" charset="0"/>
              <a:ea typeface="Open Sans" pitchFamily="2" charset="0"/>
              <a:cs typeface="Open Sans" pitchFamily="2" charset="0"/>
            </a:endParaRPr>
          </a:p>
        </p:txBody>
      </p:sp>
      <p:sp>
        <p:nvSpPr>
          <p:cNvPr id="28" name="Text 25">
            <a:extLst>
              <a:ext uri="{FF2B5EF4-FFF2-40B4-BE49-F238E27FC236}">
                <a16:creationId xmlns:a16="http://schemas.microsoft.com/office/drawing/2014/main" id="{FE412E9E-33A2-BB02-D0AA-17BC7AAD8A3E}"/>
              </a:ext>
            </a:extLst>
          </p:cNvPr>
          <p:cNvSpPr/>
          <p:nvPr/>
        </p:nvSpPr>
        <p:spPr>
          <a:xfrm>
            <a:off x="534924" y="3785616"/>
            <a:ext cx="2002536" cy="274320"/>
          </a:xfrm>
          <a:prstGeom prst="rect">
            <a:avLst/>
          </a:prstGeom>
          <a:noFill/>
          <a:ln/>
        </p:spPr>
        <p:txBody>
          <a:bodyPr wrap="square" lIns="0" tIns="0" rIns="0" bIns="0" rtlCol="0" anchor="ctr"/>
          <a:lstStyle/>
          <a:p>
            <a:pPr algn="ctr"/>
            <a:r>
              <a:rPr lang="en-US" sz="1050" b="1">
                <a:solidFill>
                  <a:schemeClr val="bg1"/>
                </a:solidFill>
                <a:latin typeface="Open Sans" pitchFamily="2" charset="0"/>
                <a:ea typeface="Open Sans" pitchFamily="2" charset="0"/>
                <a:cs typeface="Open Sans" pitchFamily="2" charset="0"/>
              </a:rPr>
              <a:t>STARED · Security/Data</a:t>
            </a:r>
            <a:endParaRPr lang="en-US" sz="1050">
              <a:solidFill>
                <a:schemeClr val="bg1"/>
              </a:solidFill>
              <a:latin typeface="Open Sans" pitchFamily="2" charset="0"/>
              <a:ea typeface="Open Sans" pitchFamily="2" charset="0"/>
              <a:cs typeface="Open Sans" pitchFamily="2" charset="0"/>
            </a:endParaRPr>
          </a:p>
        </p:txBody>
      </p:sp>
      <p:sp>
        <p:nvSpPr>
          <p:cNvPr id="29" name="Text 26">
            <a:extLst>
              <a:ext uri="{FF2B5EF4-FFF2-40B4-BE49-F238E27FC236}">
                <a16:creationId xmlns:a16="http://schemas.microsoft.com/office/drawing/2014/main" id="{22587EE5-7743-003E-CD61-C4BE894F0A8A}"/>
              </a:ext>
            </a:extLst>
          </p:cNvPr>
          <p:cNvSpPr/>
          <p:nvPr/>
        </p:nvSpPr>
        <p:spPr>
          <a:xfrm>
            <a:off x="2708910" y="3597021"/>
            <a:ext cx="6089904" cy="651510"/>
          </a:xfrm>
          <a:prstGeom prst="rect">
            <a:avLst/>
          </a:prstGeom>
          <a:noFill/>
          <a:ln/>
        </p:spPr>
        <p:txBody>
          <a:bodyPr wrap="square" lIns="0" tIns="0" rIns="0" bIns="0" rtlCol="0" anchor="ctr"/>
          <a:lstStyle/>
          <a:p>
            <a:r>
              <a:rPr lang="en-US" sz="1050">
                <a:solidFill>
                  <a:schemeClr val="tx2"/>
                </a:solidFill>
                <a:latin typeface="Open Sans" pitchFamily="2" charset="0"/>
                <a:ea typeface="Open Sans" pitchFamily="2" charset="0"/>
                <a:cs typeface="Open Sans" pitchFamily="2" charset="0"/>
              </a:rPr>
              <a:t>Every prompt is a data decision. Real customer data, credentials, and PII must never be pasted; the 30-minute shortcut may carry what should never leave your network.</a:t>
            </a:r>
          </a:p>
        </p:txBody>
      </p:sp>
    </p:spTree>
    <p:extLst>
      <p:ext uri="{BB962C8B-B14F-4D97-AF65-F5344CB8AC3E}">
        <p14:creationId xmlns:p14="http://schemas.microsoft.com/office/powerpoint/2010/main" val="421676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5">
            <a:extLst>
              <a:ext uri="{FF2B5EF4-FFF2-40B4-BE49-F238E27FC236}">
                <a16:creationId xmlns:a16="http://schemas.microsoft.com/office/drawing/2014/main" id="{6AB43DA5-AFF7-D678-8145-CFD5C9EC94C1}"/>
              </a:ext>
            </a:extLst>
          </p:cNvPr>
          <p:cNvSpPr/>
          <p:nvPr/>
        </p:nvSpPr>
        <p:spPr>
          <a:xfrm>
            <a:off x="342900" y="760922"/>
            <a:ext cx="8455914" cy="425828"/>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Which are predictable security gaps in AI-generated code? Select all.</a:t>
            </a:r>
            <a:endParaRPr lang="en-US" sz="1400">
              <a:latin typeface="Open Sans" pitchFamily="2" charset="0"/>
              <a:ea typeface="Open Sans" pitchFamily="2" charset="0"/>
              <a:cs typeface="Open Sans" pitchFamily="2" charset="0"/>
            </a:endParaRPr>
          </a:p>
        </p:txBody>
      </p:sp>
      <p:sp>
        <p:nvSpPr>
          <p:cNvPr id="9" name="Shape 6">
            <a:extLst>
              <a:ext uri="{FF2B5EF4-FFF2-40B4-BE49-F238E27FC236}">
                <a16:creationId xmlns:a16="http://schemas.microsoft.com/office/drawing/2014/main" id="{EB9E1B5E-80B1-D4B3-FA5A-C7E3708C5B35}"/>
              </a:ext>
            </a:extLst>
          </p:cNvPr>
          <p:cNvSpPr/>
          <p:nvPr/>
        </p:nvSpPr>
        <p:spPr>
          <a:xfrm>
            <a:off x="342900" y="1493662"/>
            <a:ext cx="8455914" cy="329184"/>
          </a:xfrm>
          <a:prstGeom prst="roundRect">
            <a:avLst>
              <a:gd name="adj" fmla="val 12500"/>
            </a:avLst>
          </a:prstGeom>
          <a:solidFill>
            <a:srgbClr val="F5F5F5"/>
          </a:solidFill>
          <a:ln w="19050">
            <a:noFill/>
            <a:prstDash val="solid"/>
          </a:ln>
        </p:spPr>
        <p:txBody>
          <a:bodyPr/>
          <a:lstStyle/>
          <a:p>
            <a:endParaRPr lang="en-US" sz="11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7">
            <a:extLst>
              <a:ext uri="{FF2B5EF4-FFF2-40B4-BE49-F238E27FC236}">
                <a16:creationId xmlns:a16="http://schemas.microsoft.com/office/drawing/2014/main" id="{EE5DB878-4587-F241-55FE-AB5A7AB228DA}"/>
              </a:ext>
            </a:extLst>
          </p:cNvPr>
          <p:cNvSpPr/>
          <p:nvPr/>
        </p:nvSpPr>
        <p:spPr>
          <a:xfrm>
            <a:off x="493776" y="1555384"/>
            <a:ext cx="205740" cy="205740"/>
          </a:xfrm>
          <a:prstGeom prst="ellipse">
            <a:avLst/>
          </a:prstGeom>
          <a:solidFill>
            <a:srgbClr val="C4CBD6"/>
          </a:solidFill>
          <a:ln>
            <a:noFill/>
          </a:ln>
        </p:spPr>
        <p:txBody>
          <a:bodyPr/>
          <a:lstStyle/>
          <a:p>
            <a:endParaRPr lang="en-US" sz="1100" dirty="0">
              <a:solidFill>
                <a:schemeClr val="tx1">
                  <a:lumMod val="75000"/>
                </a:schemeClr>
              </a:solidFill>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3CDACA0F-955C-84BC-46C9-36E45D771962}"/>
              </a:ext>
            </a:extLst>
          </p:cNvPr>
          <p:cNvSpPr/>
          <p:nvPr/>
        </p:nvSpPr>
        <p:spPr>
          <a:xfrm>
            <a:off x="809244" y="1493662"/>
            <a:ext cx="7886700" cy="329184"/>
          </a:xfrm>
          <a:prstGeom prst="rect">
            <a:avLst/>
          </a:prstGeom>
          <a:solidFill>
            <a:srgbClr val="F5F5F5"/>
          </a:solidFill>
          <a:ln>
            <a:noFill/>
          </a:ln>
        </p:spPr>
        <p:txBody>
          <a:bodyPr wrap="square" lIns="0" tIns="0" rIns="0" bIns="0" rtlCol="0" anchor="ctr"/>
          <a:lstStyle/>
          <a:p>
            <a:r>
              <a:rPr lang="en-US" sz="1100" b="1" dirty="0">
                <a:solidFill>
                  <a:schemeClr val="tx2"/>
                </a:solidFill>
                <a:latin typeface="Open Sans" pitchFamily="2" charset="0"/>
                <a:ea typeface="Open Sans" pitchFamily="2" charset="0"/>
                <a:cs typeface="Open Sans" pitchFamily="2" charset="0"/>
              </a:rPr>
              <a:t>A.</a:t>
            </a:r>
            <a:r>
              <a:rPr lang="en-US" sz="1100" dirty="0">
                <a:solidFill>
                  <a:schemeClr val="tx2"/>
                </a:solidFill>
                <a:latin typeface="Open Sans" pitchFamily="2" charset="0"/>
                <a:ea typeface="Open Sans" pitchFamily="2" charset="0"/>
                <a:cs typeface="Open Sans" pitchFamily="2" charset="0"/>
              </a:rPr>
              <a:t>  Injection from </a:t>
            </a:r>
            <a:r>
              <a:rPr lang="en-US" sz="1100" dirty="0" err="1">
                <a:solidFill>
                  <a:schemeClr val="tx2"/>
                </a:solidFill>
                <a:latin typeface="Open Sans" pitchFamily="2" charset="0"/>
                <a:ea typeface="Open Sans" pitchFamily="2" charset="0"/>
                <a:cs typeface="Open Sans" pitchFamily="2" charset="0"/>
              </a:rPr>
              <a:t>unsanitized</a:t>
            </a:r>
            <a:r>
              <a:rPr lang="en-US" sz="1100" dirty="0">
                <a:solidFill>
                  <a:schemeClr val="tx2"/>
                </a:solidFill>
                <a:latin typeface="Open Sans" pitchFamily="2" charset="0"/>
                <a:ea typeface="Open Sans" pitchFamily="2" charset="0"/>
                <a:cs typeface="Open Sans" pitchFamily="2" charset="0"/>
              </a:rPr>
              <a:t> user input</a:t>
            </a:r>
          </a:p>
        </p:txBody>
      </p:sp>
      <p:sp>
        <p:nvSpPr>
          <p:cNvPr id="13" name="Shape 10">
            <a:extLst>
              <a:ext uri="{FF2B5EF4-FFF2-40B4-BE49-F238E27FC236}">
                <a16:creationId xmlns:a16="http://schemas.microsoft.com/office/drawing/2014/main" id="{9337B64D-4039-DB41-3844-D0733099A5BE}"/>
              </a:ext>
            </a:extLst>
          </p:cNvPr>
          <p:cNvSpPr/>
          <p:nvPr/>
        </p:nvSpPr>
        <p:spPr>
          <a:xfrm>
            <a:off x="342900" y="1905142"/>
            <a:ext cx="8455914" cy="329184"/>
          </a:xfrm>
          <a:prstGeom prst="roundRect">
            <a:avLst>
              <a:gd name="adj" fmla="val 12500"/>
            </a:avLst>
          </a:prstGeom>
          <a:solidFill>
            <a:srgbClr val="F5F5F5"/>
          </a:solidFill>
          <a:ln w="19050">
            <a:noFill/>
            <a:prstDash val="solid"/>
          </a:ln>
        </p:spPr>
        <p:txBody>
          <a:bodyPr/>
          <a:lstStyle/>
          <a:p>
            <a:endParaRPr lang="en-US" sz="11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1">
            <a:extLst>
              <a:ext uri="{FF2B5EF4-FFF2-40B4-BE49-F238E27FC236}">
                <a16:creationId xmlns:a16="http://schemas.microsoft.com/office/drawing/2014/main" id="{B55979BF-8918-75F8-AFCE-86D3C3D1B147}"/>
              </a:ext>
            </a:extLst>
          </p:cNvPr>
          <p:cNvSpPr/>
          <p:nvPr/>
        </p:nvSpPr>
        <p:spPr>
          <a:xfrm>
            <a:off x="493776" y="1966864"/>
            <a:ext cx="205740" cy="205740"/>
          </a:xfrm>
          <a:prstGeom prst="ellipse">
            <a:avLst/>
          </a:prstGeom>
          <a:solidFill>
            <a:srgbClr val="C4CBD6"/>
          </a:solidFill>
          <a:ln>
            <a:noFill/>
          </a:ln>
        </p:spPr>
        <p:txBody>
          <a:bodyPr/>
          <a:lstStyle/>
          <a:p>
            <a:endParaRPr lang="en-US" sz="1100">
              <a:solidFill>
                <a:schemeClr val="tx1">
                  <a:lumMod val="75000"/>
                </a:schemeClr>
              </a:solidFill>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264615C1-1F43-04EE-6EE0-A12D546B90B8}"/>
              </a:ext>
            </a:extLst>
          </p:cNvPr>
          <p:cNvSpPr/>
          <p:nvPr/>
        </p:nvSpPr>
        <p:spPr>
          <a:xfrm>
            <a:off x="809244" y="1905142"/>
            <a:ext cx="7886700" cy="329184"/>
          </a:xfrm>
          <a:prstGeom prst="rect">
            <a:avLst/>
          </a:prstGeom>
          <a:solidFill>
            <a:srgbClr val="F5F5F5"/>
          </a:solidFill>
          <a:ln>
            <a:noFill/>
          </a:ln>
        </p:spPr>
        <p:txBody>
          <a:bodyPr wrap="square" lIns="0" tIns="0" rIns="0" bIns="0" rtlCol="0" anchor="ctr"/>
          <a:lstStyle/>
          <a:p>
            <a:r>
              <a:rPr lang="en-US" sz="1100" b="1" dirty="0">
                <a:solidFill>
                  <a:schemeClr val="tx2"/>
                </a:solidFill>
                <a:latin typeface="Open Sans" pitchFamily="2" charset="0"/>
                <a:ea typeface="Open Sans" pitchFamily="2" charset="0"/>
                <a:cs typeface="Open Sans" pitchFamily="2" charset="0"/>
              </a:rPr>
              <a:t>B.</a:t>
            </a:r>
            <a:r>
              <a:rPr lang="en-US" sz="1100" dirty="0">
                <a:solidFill>
                  <a:schemeClr val="tx2"/>
                </a:solidFill>
                <a:latin typeface="Open Sans" pitchFamily="2" charset="0"/>
                <a:ea typeface="Open Sans" pitchFamily="2" charset="0"/>
                <a:cs typeface="Open Sans" pitchFamily="2" charset="0"/>
              </a:rPr>
              <a:t>  Broken authentication: hardcoded creds, no rate limiting</a:t>
            </a:r>
          </a:p>
        </p:txBody>
      </p:sp>
      <p:sp>
        <p:nvSpPr>
          <p:cNvPr id="17" name="Shape 14">
            <a:extLst>
              <a:ext uri="{FF2B5EF4-FFF2-40B4-BE49-F238E27FC236}">
                <a16:creationId xmlns:a16="http://schemas.microsoft.com/office/drawing/2014/main" id="{9AFE95A1-D495-F625-A46E-1AA98F3650E4}"/>
              </a:ext>
            </a:extLst>
          </p:cNvPr>
          <p:cNvSpPr/>
          <p:nvPr/>
        </p:nvSpPr>
        <p:spPr>
          <a:xfrm>
            <a:off x="342900" y="2316622"/>
            <a:ext cx="8455914" cy="329184"/>
          </a:xfrm>
          <a:prstGeom prst="roundRect">
            <a:avLst>
              <a:gd name="adj" fmla="val 12500"/>
            </a:avLst>
          </a:prstGeom>
          <a:solidFill>
            <a:srgbClr val="F5F5F5"/>
          </a:solidFill>
          <a:ln w="19050">
            <a:noFill/>
            <a:prstDash val="solid"/>
          </a:ln>
        </p:spPr>
        <p:txBody>
          <a:bodyPr/>
          <a:lstStyle/>
          <a:p>
            <a:endParaRPr lang="en-US" sz="11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08D63E46-DDD7-B1D8-89AA-77911C442599}"/>
              </a:ext>
            </a:extLst>
          </p:cNvPr>
          <p:cNvSpPr/>
          <p:nvPr/>
        </p:nvSpPr>
        <p:spPr>
          <a:xfrm>
            <a:off x="493776" y="2378344"/>
            <a:ext cx="205740" cy="205740"/>
          </a:xfrm>
          <a:prstGeom prst="ellipse">
            <a:avLst/>
          </a:prstGeom>
          <a:solidFill>
            <a:srgbClr val="C4CBD6"/>
          </a:solidFill>
          <a:ln>
            <a:noFill/>
          </a:ln>
        </p:spPr>
        <p:txBody>
          <a:bodyPr/>
          <a:lstStyle/>
          <a:p>
            <a:endParaRPr lang="en-US" sz="1100">
              <a:solidFill>
                <a:schemeClr val="tx1">
                  <a:lumMod val="75000"/>
                </a:schemeClr>
              </a:solidFill>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A923FACA-0B79-6AE8-DA85-504A5152D3ED}"/>
              </a:ext>
            </a:extLst>
          </p:cNvPr>
          <p:cNvSpPr/>
          <p:nvPr/>
        </p:nvSpPr>
        <p:spPr>
          <a:xfrm>
            <a:off x="809244" y="2316622"/>
            <a:ext cx="7886700" cy="329184"/>
          </a:xfrm>
          <a:prstGeom prst="rect">
            <a:avLst/>
          </a:prstGeom>
          <a:solidFill>
            <a:srgbClr val="F5F5F5"/>
          </a:solidFill>
          <a:ln>
            <a:noFill/>
          </a:ln>
        </p:spPr>
        <p:txBody>
          <a:bodyPr wrap="square" lIns="0" tIns="0" rIns="0" bIns="0" rtlCol="0" anchor="ctr"/>
          <a:lstStyle/>
          <a:p>
            <a:r>
              <a:rPr lang="en-US" sz="1100" b="1" dirty="0">
                <a:solidFill>
                  <a:schemeClr val="tx2"/>
                </a:solidFill>
                <a:latin typeface="Open Sans" pitchFamily="2" charset="0"/>
                <a:ea typeface="Open Sans" pitchFamily="2" charset="0"/>
                <a:cs typeface="Open Sans" pitchFamily="2" charset="0"/>
              </a:rPr>
              <a:t>C.</a:t>
            </a:r>
            <a:r>
              <a:rPr lang="en-US" sz="1100" dirty="0">
                <a:solidFill>
                  <a:schemeClr val="tx2"/>
                </a:solidFill>
                <a:latin typeface="Open Sans" pitchFamily="2" charset="0"/>
                <a:ea typeface="Open Sans" pitchFamily="2" charset="0"/>
                <a:cs typeface="Open Sans" pitchFamily="2" charset="0"/>
              </a:rPr>
              <a:t>  Insecure data exposure in errors or logs</a:t>
            </a:r>
          </a:p>
        </p:txBody>
      </p:sp>
      <p:sp>
        <p:nvSpPr>
          <p:cNvPr id="21" name="Shape 18">
            <a:extLst>
              <a:ext uri="{FF2B5EF4-FFF2-40B4-BE49-F238E27FC236}">
                <a16:creationId xmlns:a16="http://schemas.microsoft.com/office/drawing/2014/main" id="{ADFAA636-4C17-4230-B323-E46EE62FF115}"/>
              </a:ext>
            </a:extLst>
          </p:cNvPr>
          <p:cNvSpPr/>
          <p:nvPr/>
        </p:nvSpPr>
        <p:spPr>
          <a:xfrm>
            <a:off x="342900" y="2728102"/>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3FFBA5F7-CEDC-1288-09D5-42A03C027615}"/>
              </a:ext>
            </a:extLst>
          </p:cNvPr>
          <p:cNvSpPr/>
          <p:nvPr/>
        </p:nvSpPr>
        <p:spPr>
          <a:xfrm>
            <a:off x="493776" y="2789824"/>
            <a:ext cx="205740" cy="205740"/>
          </a:xfrm>
          <a:prstGeom prst="ellipse">
            <a:avLst/>
          </a:prstGeom>
          <a:solidFill>
            <a:srgbClr val="C4CBD6"/>
          </a:solidFill>
          <a:ln/>
        </p:spPr>
        <p:txBody>
          <a:bodyPr/>
          <a:lstStyle/>
          <a:p>
            <a:endParaRPr lang="en-US" sz="1100">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0B68A68F-A281-E358-805D-F33C6B0A37CD}"/>
              </a:ext>
            </a:extLst>
          </p:cNvPr>
          <p:cNvSpPr/>
          <p:nvPr/>
        </p:nvSpPr>
        <p:spPr>
          <a:xfrm>
            <a:off x="493776" y="2789824"/>
            <a:ext cx="205740" cy="205740"/>
          </a:xfrm>
          <a:prstGeom prst="rect">
            <a:avLst/>
          </a:prstGeom>
          <a:noFill/>
          <a:ln/>
        </p:spPr>
        <p:txBody>
          <a:bodyPr wrap="square" lIns="0" tIns="0" rIns="0" bIns="0" rtlCol="0" anchor="ctr"/>
          <a:lstStyle/>
          <a:p>
            <a:pPr algn="ctr"/>
            <a:r>
              <a:rPr lang="en-US" sz="1100" b="1" dirty="0">
                <a:solidFill>
                  <a:srgbClr val="FFFFFF"/>
                </a:solidFill>
                <a:latin typeface="Open Sans" pitchFamily="2" charset="0"/>
                <a:ea typeface="Open Sans" pitchFamily="2" charset="0"/>
                <a:cs typeface="Open Sans" pitchFamily="2" charset="0"/>
              </a:rPr>
              <a:t>D</a:t>
            </a:r>
            <a:endParaRPr lang="en-US" sz="1100" dirty="0">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BF61A2E2-88D7-FCC9-7942-C2A931864423}"/>
              </a:ext>
            </a:extLst>
          </p:cNvPr>
          <p:cNvSpPr/>
          <p:nvPr/>
        </p:nvSpPr>
        <p:spPr>
          <a:xfrm>
            <a:off x="809244" y="2728102"/>
            <a:ext cx="7886700" cy="329184"/>
          </a:xfrm>
          <a:prstGeom prst="rect">
            <a:avLst/>
          </a:prstGeom>
          <a:noFill/>
          <a:ln/>
        </p:spPr>
        <p:txBody>
          <a:bodyPr wrap="square" lIns="0" tIns="0" rIns="0" bIns="0" rtlCol="0" anchor="ctr"/>
          <a:lstStyle/>
          <a:p>
            <a:r>
              <a:rPr lang="en-US" sz="1100" b="1" dirty="0">
                <a:solidFill>
                  <a:schemeClr val="tx2"/>
                </a:solidFill>
                <a:latin typeface="Open Sans" pitchFamily="2" charset="0"/>
                <a:ea typeface="Open Sans" pitchFamily="2" charset="0"/>
                <a:cs typeface="Open Sans" pitchFamily="2" charset="0"/>
              </a:rPr>
              <a:t>D.  </a:t>
            </a:r>
            <a:r>
              <a:rPr lang="en-US" sz="1100" dirty="0">
                <a:solidFill>
                  <a:schemeClr val="tx2"/>
                </a:solidFill>
                <a:latin typeface="Open Sans" pitchFamily="2" charset="0"/>
                <a:ea typeface="Open Sans" pitchFamily="2" charset="0"/>
                <a:cs typeface="Open Sans" pitchFamily="2" charset="0"/>
              </a:rPr>
              <a:t>Code that is too well documented</a:t>
            </a:r>
          </a:p>
        </p:txBody>
      </p:sp>
      <p:sp>
        <p:nvSpPr>
          <p:cNvPr id="2" name="Text 20">
            <a:extLst>
              <a:ext uri="{FF2B5EF4-FFF2-40B4-BE49-F238E27FC236}">
                <a16:creationId xmlns:a16="http://schemas.microsoft.com/office/drawing/2014/main" id="{6CDCF730-C850-DB44-8606-B092529714F4}"/>
              </a:ext>
            </a:extLst>
          </p:cNvPr>
          <p:cNvSpPr/>
          <p:nvPr/>
        </p:nvSpPr>
        <p:spPr>
          <a:xfrm>
            <a:off x="493776" y="2385359"/>
            <a:ext cx="205740" cy="205740"/>
          </a:xfrm>
          <a:prstGeom prst="rect">
            <a:avLst/>
          </a:prstGeom>
          <a:noFill/>
          <a:ln/>
        </p:spPr>
        <p:txBody>
          <a:bodyPr wrap="square" lIns="0" tIns="0" rIns="0" bIns="0" rtlCol="0" anchor="ctr"/>
          <a:lstStyle/>
          <a:p>
            <a:pPr algn="ctr"/>
            <a:r>
              <a:rPr lang="en-US" sz="1100" b="1" dirty="0">
                <a:solidFill>
                  <a:srgbClr val="FFFFFF"/>
                </a:solidFill>
                <a:latin typeface="Open Sans" pitchFamily="2" charset="0"/>
                <a:ea typeface="Open Sans" pitchFamily="2" charset="0"/>
                <a:cs typeface="Open Sans" pitchFamily="2" charset="0"/>
              </a:rPr>
              <a:t>C</a:t>
            </a:r>
            <a:endParaRPr lang="en-US" sz="1100" dirty="0">
              <a:latin typeface="Open Sans" pitchFamily="2" charset="0"/>
              <a:ea typeface="Open Sans" pitchFamily="2" charset="0"/>
              <a:cs typeface="Open Sans" pitchFamily="2" charset="0"/>
            </a:endParaRPr>
          </a:p>
        </p:txBody>
      </p:sp>
      <p:sp>
        <p:nvSpPr>
          <p:cNvPr id="3" name="Text 20">
            <a:extLst>
              <a:ext uri="{FF2B5EF4-FFF2-40B4-BE49-F238E27FC236}">
                <a16:creationId xmlns:a16="http://schemas.microsoft.com/office/drawing/2014/main" id="{55253593-4B92-9D39-C16F-BC73EB4DEA4F}"/>
              </a:ext>
            </a:extLst>
          </p:cNvPr>
          <p:cNvSpPr/>
          <p:nvPr/>
        </p:nvSpPr>
        <p:spPr>
          <a:xfrm>
            <a:off x="493776" y="1970720"/>
            <a:ext cx="205740" cy="205740"/>
          </a:xfrm>
          <a:prstGeom prst="rect">
            <a:avLst/>
          </a:prstGeom>
          <a:noFill/>
          <a:ln/>
        </p:spPr>
        <p:txBody>
          <a:bodyPr wrap="square" lIns="0" tIns="0" rIns="0" bIns="0" rtlCol="0" anchor="ctr"/>
          <a:lstStyle/>
          <a:p>
            <a:pPr algn="ctr"/>
            <a:r>
              <a:rPr lang="en-US" sz="1100" b="1" dirty="0">
                <a:solidFill>
                  <a:srgbClr val="FFFFFF"/>
                </a:solidFill>
                <a:latin typeface="Open Sans" pitchFamily="2" charset="0"/>
                <a:ea typeface="Open Sans" pitchFamily="2" charset="0"/>
                <a:cs typeface="Open Sans" pitchFamily="2" charset="0"/>
              </a:rPr>
              <a:t>B</a:t>
            </a:r>
            <a:endParaRPr lang="en-US" sz="1100" dirty="0">
              <a:latin typeface="Open Sans" pitchFamily="2" charset="0"/>
              <a:ea typeface="Open Sans" pitchFamily="2" charset="0"/>
              <a:cs typeface="Open Sans" pitchFamily="2" charset="0"/>
            </a:endParaRPr>
          </a:p>
        </p:txBody>
      </p:sp>
      <p:sp>
        <p:nvSpPr>
          <p:cNvPr id="4" name="Text 20">
            <a:extLst>
              <a:ext uri="{FF2B5EF4-FFF2-40B4-BE49-F238E27FC236}">
                <a16:creationId xmlns:a16="http://schemas.microsoft.com/office/drawing/2014/main" id="{146E74F4-88E2-EE6F-A0F9-E933BB613EDE}"/>
              </a:ext>
            </a:extLst>
          </p:cNvPr>
          <p:cNvSpPr/>
          <p:nvPr/>
        </p:nvSpPr>
        <p:spPr>
          <a:xfrm>
            <a:off x="493776" y="1566255"/>
            <a:ext cx="205740" cy="205740"/>
          </a:xfrm>
          <a:prstGeom prst="rect">
            <a:avLst/>
          </a:prstGeom>
          <a:noFill/>
          <a:ln/>
        </p:spPr>
        <p:txBody>
          <a:bodyPr wrap="square" lIns="0" tIns="0" rIns="0" bIns="0" rtlCol="0" anchor="ctr"/>
          <a:lstStyle/>
          <a:p>
            <a:pPr algn="ctr"/>
            <a:r>
              <a:rPr lang="en-US" sz="1100" b="1" dirty="0">
                <a:solidFill>
                  <a:srgbClr val="FFFFFF"/>
                </a:solidFill>
                <a:latin typeface="Open Sans" pitchFamily="2" charset="0"/>
                <a:ea typeface="Open Sans" pitchFamily="2" charset="0"/>
                <a:cs typeface="Open Sans" pitchFamily="2" charset="0"/>
              </a:rPr>
              <a:t>A</a:t>
            </a:r>
            <a:endParaRPr lang="en-US" sz="11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3971874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C866B-417F-5242-675C-D3AB23185AFD}"/>
            </a:ext>
          </a:extLst>
        </p:cNvPr>
        <p:cNvGrpSpPr/>
        <p:nvPr/>
      </p:nvGrpSpPr>
      <p:grpSpPr>
        <a:xfrm>
          <a:off x="0" y="0"/>
          <a:ext cx="0" cy="0"/>
          <a:chOff x="0" y="0"/>
          <a:chExt cx="0" cy="0"/>
        </a:xfrm>
      </p:grpSpPr>
      <p:sp>
        <p:nvSpPr>
          <p:cNvPr id="8" name="Text 5">
            <a:extLst>
              <a:ext uri="{FF2B5EF4-FFF2-40B4-BE49-F238E27FC236}">
                <a16:creationId xmlns:a16="http://schemas.microsoft.com/office/drawing/2014/main" id="{92AE4268-D692-4B08-1268-4BA4659F8C3C}"/>
              </a:ext>
            </a:extLst>
          </p:cNvPr>
          <p:cNvSpPr/>
          <p:nvPr/>
        </p:nvSpPr>
        <p:spPr>
          <a:xfrm>
            <a:off x="342900" y="760922"/>
            <a:ext cx="8455914" cy="425828"/>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Which are predictable security gaps in AI-generated code? Select all.</a:t>
            </a:r>
            <a:endParaRPr lang="en-US" sz="1400">
              <a:latin typeface="Open Sans" pitchFamily="2" charset="0"/>
              <a:ea typeface="Open Sans" pitchFamily="2" charset="0"/>
              <a:cs typeface="Open Sans" pitchFamily="2" charset="0"/>
            </a:endParaRPr>
          </a:p>
        </p:txBody>
      </p:sp>
      <p:sp>
        <p:nvSpPr>
          <p:cNvPr id="9" name="Shape 6">
            <a:extLst>
              <a:ext uri="{FF2B5EF4-FFF2-40B4-BE49-F238E27FC236}">
                <a16:creationId xmlns:a16="http://schemas.microsoft.com/office/drawing/2014/main" id="{309C1331-2089-8D0D-EA14-4EE40567D97F}"/>
              </a:ext>
            </a:extLst>
          </p:cNvPr>
          <p:cNvSpPr/>
          <p:nvPr/>
        </p:nvSpPr>
        <p:spPr>
          <a:xfrm>
            <a:off x="342900" y="1493662"/>
            <a:ext cx="8455914" cy="329184"/>
          </a:xfrm>
          <a:prstGeom prst="roundRect">
            <a:avLst>
              <a:gd name="adj" fmla="val 12500"/>
            </a:avLst>
          </a:prstGeom>
          <a:solidFill>
            <a:srgbClr val="ECFEF6"/>
          </a:solidFill>
          <a:ln w="19050">
            <a:solidFill>
              <a:srgbClr val="00B050"/>
            </a:solidFill>
            <a:prstDash val="solid"/>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7">
            <a:extLst>
              <a:ext uri="{FF2B5EF4-FFF2-40B4-BE49-F238E27FC236}">
                <a16:creationId xmlns:a16="http://schemas.microsoft.com/office/drawing/2014/main" id="{D278C7EE-4EFC-32E8-AEE8-5F877AB27C53}"/>
              </a:ext>
            </a:extLst>
          </p:cNvPr>
          <p:cNvSpPr/>
          <p:nvPr/>
        </p:nvSpPr>
        <p:spPr>
          <a:xfrm>
            <a:off x="493776" y="1555384"/>
            <a:ext cx="205740" cy="205740"/>
          </a:xfrm>
          <a:prstGeom prst="ellipse">
            <a:avLst/>
          </a:prstGeom>
          <a:solidFill>
            <a:srgbClr val="00B050"/>
          </a:solidFill>
          <a:ln/>
        </p:spPr>
        <p:txBody>
          <a:bodyPr/>
          <a:lstStyle/>
          <a:p>
            <a:endParaRPr lang="en-US" sz="1100">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62116B18-E0F9-8668-C63F-223FA38BC1FA}"/>
              </a:ext>
            </a:extLst>
          </p:cNvPr>
          <p:cNvSpPr/>
          <p:nvPr/>
        </p:nvSpPr>
        <p:spPr>
          <a:xfrm>
            <a:off x="493776" y="1555384"/>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a:t>
            </a:r>
            <a:endParaRPr lang="en-US" sz="1100">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1F26CE7E-334E-175B-829D-42FDF2322098}"/>
              </a:ext>
            </a:extLst>
          </p:cNvPr>
          <p:cNvSpPr/>
          <p:nvPr/>
        </p:nvSpPr>
        <p:spPr>
          <a:xfrm>
            <a:off x="809244" y="1493662"/>
            <a:ext cx="7886700" cy="329184"/>
          </a:xfrm>
          <a:prstGeom prst="rect">
            <a:avLst/>
          </a:prstGeom>
          <a:noFill/>
          <a:ln/>
        </p:spPr>
        <p:txBody>
          <a:bodyPr wrap="square" lIns="0" tIns="0" rIns="0" bIns="0" rtlCol="0" anchor="ctr"/>
          <a:lstStyle/>
          <a:p>
            <a:r>
              <a:rPr lang="en-US" sz="1100" b="1" dirty="0">
                <a:solidFill>
                  <a:srgbClr val="00B050"/>
                </a:solidFill>
                <a:latin typeface="Open Sans" pitchFamily="2" charset="0"/>
                <a:ea typeface="Open Sans" pitchFamily="2" charset="0"/>
                <a:cs typeface="Open Sans" pitchFamily="2" charset="0"/>
              </a:rPr>
              <a:t>A.  </a:t>
            </a:r>
            <a:r>
              <a:rPr lang="en-US" sz="1100" b="1" dirty="0">
                <a:latin typeface="Open Sans" pitchFamily="2" charset="0"/>
                <a:ea typeface="Open Sans" pitchFamily="2" charset="0"/>
                <a:cs typeface="Open Sans" pitchFamily="2" charset="0"/>
              </a:rPr>
              <a:t>Injection from </a:t>
            </a:r>
            <a:r>
              <a:rPr lang="en-US" sz="1100" b="1" dirty="0" err="1">
                <a:latin typeface="Open Sans" pitchFamily="2" charset="0"/>
                <a:ea typeface="Open Sans" pitchFamily="2" charset="0"/>
                <a:cs typeface="Open Sans" pitchFamily="2" charset="0"/>
              </a:rPr>
              <a:t>unsanitized</a:t>
            </a:r>
            <a:r>
              <a:rPr lang="en-US" sz="1100" b="1" dirty="0">
                <a:latin typeface="Open Sans" pitchFamily="2" charset="0"/>
                <a:ea typeface="Open Sans" pitchFamily="2" charset="0"/>
                <a:cs typeface="Open Sans" pitchFamily="2" charset="0"/>
              </a:rPr>
              <a:t> user input</a:t>
            </a:r>
            <a:endParaRPr lang="en-US" sz="1100" dirty="0">
              <a:latin typeface="Open Sans" pitchFamily="2" charset="0"/>
              <a:ea typeface="Open Sans" pitchFamily="2" charset="0"/>
              <a:cs typeface="Open Sans" pitchFamily="2" charset="0"/>
            </a:endParaRPr>
          </a:p>
        </p:txBody>
      </p:sp>
      <p:sp>
        <p:nvSpPr>
          <p:cNvPr id="13" name="Shape 10">
            <a:extLst>
              <a:ext uri="{FF2B5EF4-FFF2-40B4-BE49-F238E27FC236}">
                <a16:creationId xmlns:a16="http://schemas.microsoft.com/office/drawing/2014/main" id="{56CCABB5-4D43-5434-0E6D-19306F8A26ED}"/>
              </a:ext>
            </a:extLst>
          </p:cNvPr>
          <p:cNvSpPr/>
          <p:nvPr/>
        </p:nvSpPr>
        <p:spPr>
          <a:xfrm>
            <a:off x="342900" y="1905142"/>
            <a:ext cx="8455914" cy="329184"/>
          </a:xfrm>
          <a:prstGeom prst="roundRect">
            <a:avLst>
              <a:gd name="adj" fmla="val 12500"/>
            </a:avLst>
          </a:prstGeom>
          <a:solidFill>
            <a:srgbClr val="ECFEF6"/>
          </a:solidFill>
          <a:ln w="19050">
            <a:solidFill>
              <a:srgbClr val="00B050"/>
            </a:solidFill>
            <a:prstDash val="solid"/>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1">
            <a:extLst>
              <a:ext uri="{FF2B5EF4-FFF2-40B4-BE49-F238E27FC236}">
                <a16:creationId xmlns:a16="http://schemas.microsoft.com/office/drawing/2014/main" id="{1E0F7FBB-8FEF-4144-A9DF-2C9541BC459F}"/>
              </a:ext>
            </a:extLst>
          </p:cNvPr>
          <p:cNvSpPr/>
          <p:nvPr/>
        </p:nvSpPr>
        <p:spPr>
          <a:xfrm>
            <a:off x="493776" y="1966864"/>
            <a:ext cx="205740" cy="205740"/>
          </a:xfrm>
          <a:prstGeom prst="ellipse">
            <a:avLst/>
          </a:prstGeom>
          <a:solidFill>
            <a:srgbClr val="00B050"/>
          </a:solidFill>
          <a:ln/>
        </p:spPr>
        <p:txBody>
          <a:bodyPr/>
          <a:lstStyle/>
          <a:p>
            <a:endParaRPr lang="en-US" sz="1100">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51C33A11-574A-F56E-9899-3BF30E1AA79A}"/>
              </a:ext>
            </a:extLst>
          </p:cNvPr>
          <p:cNvSpPr/>
          <p:nvPr/>
        </p:nvSpPr>
        <p:spPr>
          <a:xfrm>
            <a:off x="493776" y="1966864"/>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a:t>
            </a:r>
            <a:endParaRPr lang="en-US" sz="1100">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8033FA7B-4E3A-8CAA-CEF4-C078A518AE1B}"/>
              </a:ext>
            </a:extLst>
          </p:cNvPr>
          <p:cNvSpPr/>
          <p:nvPr/>
        </p:nvSpPr>
        <p:spPr>
          <a:xfrm>
            <a:off x="809244" y="1905142"/>
            <a:ext cx="7886700" cy="329184"/>
          </a:xfrm>
          <a:prstGeom prst="rect">
            <a:avLst/>
          </a:prstGeom>
          <a:noFill/>
          <a:ln/>
        </p:spPr>
        <p:txBody>
          <a:bodyPr wrap="square" lIns="0" tIns="0" rIns="0" bIns="0" rtlCol="0" anchor="ctr"/>
          <a:lstStyle/>
          <a:p>
            <a:r>
              <a:rPr lang="en-US" sz="1100" b="1">
                <a:solidFill>
                  <a:srgbClr val="00B050"/>
                </a:solidFill>
                <a:latin typeface="Open Sans" pitchFamily="2" charset="0"/>
                <a:ea typeface="Open Sans" pitchFamily="2" charset="0"/>
                <a:cs typeface="Open Sans" pitchFamily="2" charset="0"/>
              </a:rPr>
              <a:t>B.  </a:t>
            </a:r>
            <a:r>
              <a:rPr lang="en-US" sz="1100" b="1">
                <a:latin typeface="Open Sans" pitchFamily="2" charset="0"/>
                <a:ea typeface="Open Sans" pitchFamily="2" charset="0"/>
                <a:cs typeface="Open Sans" pitchFamily="2" charset="0"/>
              </a:rPr>
              <a:t>Broken authentication: hardcoded creds, no rate limiting</a:t>
            </a:r>
            <a:endParaRPr lang="en-US" sz="1100">
              <a:latin typeface="Open Sans" pitchFamily="2" charset="0"/>
              <a:ea typeface="Open Sans" pitchFamily="2" charset="0"/>
              <a:cs typeface="Open Sans" pitchFamily="2" charset="0"/>
            </a:endParaRPr>
          </a:p>
        </p:txBody>
      </p:sp>
      <p:sp>
        <p:nvSpPr>
          <p:cNvPr id="17" name="Shape 14">
            <a:extLst>
              <a:ext uri="{FF2B5EF4-FFF2-40B4-BE49-F238E27FC236}">
                <a16:creationId xmlns:a16="http://schemas.microsoft.com/office/drawing/2014/main" id="{772D79F7-26FF-979F-9B3B-EE0EFA123AEC}"/>
              </a:ext>
            </a:extLst>
          </p:cNvPr>
          <p:cNvSpPr/>
          <p:nvPr/>
        </p:nvSpPr>
        <p:spPr>
          <a:xfrm>
            <a:off x="342900" y="2316622"/>
            <a:ext cx="8455914" cy="329184"/>
          </a:xfrm>
          <a:prstGeom prst="roundRect">
            <a:avLst>
              <a:gd name="adj" fmla="val 12500"/>
            </a:avLst>
          </a:prstGeom>
          <a:solidFill>
            <a:srgbClr val="ECFEF6"/>
          </a:solidFill>
          <a:ln w="19050">
            <a:solidFill>
              <a:srgbClr val="00B050"/>
            </a:solidFill>
            <a:prstDash val="solid"/>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36405410-EF50-4EA3-4499-15685F449C8C}"/>
              </a:ext>
            </a:extLst>
          </p:cNvPr>
          <p:cNvSpPr/>
          <p:nvPr/>
        </p:nvSpPr>
        <p:spPr>
          <a:xfrm>
            <a:off x="493776" y="2378344"/>
            <a:ext cx="205740" cy="205740"/>
          </a:xfrm>
          <a:prstGeom prst="ellipse">
            <a:avLst/>
          </a:prstGeom>
          <a:solidFill>
            <a:srgbClr val="00B050"/>
          </a:solidFill>
          <a:ln/>
        </p:spPr>
        <p:txBody>
          <a:bodyPr/>
          <a:lstStyle/>
          <a:p>
            <a:endParaRPr lang="en-US" sz="1100">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C3FC7707-9D61-7CEB-5F95-DE67EEBE760D}"/>
              </a:ext>
            </a:extLst>
          </p:cNvPr>
          <p:cNvSpPr/>
          <p:nvPr/>
        </p:nvSpPr>
        <p:spPr>
          <a:xfrm>
            <a:off x="493776" y="2378344"/>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a:t>
            </a:r>
            <a:endParaRPr lang="en-US" sz="1100">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27DB3967-C695-914F-04DF-0C61D1F63D41}"/>
              </a:ext>
            </a:extLst>
          </p:cNvPr>
          <p:cNvSpPr/>
          <p:nvPr/>
        </p:nvSpPr>
        <p:spPr>
          <a:xfrm>
            <a:off x="809244" y="2316622"/>
            <a:ext cx="7886700" cy="329184"/>
          </a:xfrm>
          <a:prstGeom prst="rect">
            <a:avLst/>
          </a:prstGeom>
          <a:noFill/>
          <a:ln/>
        </p:spPr>
        <p:txBody>
          <a:bodyPr wrap="square" lIns="0" tIns="0" rIns="0" bIns="0" rtlCol="0" anchor="ctr"/>
          <a:lstStyle/>
          <a:p>
            <a:r>
              <a:rPr lang="en-US" sz="1100" b="1">
                <a:solidFill>
                  <a:srgbClr val="00B050"/>
                </a:solidFill>
                <a:latin typeface="Open Sans" pitchFamily="2" charset="0"/>
                <a:ea typeface="Open Sans" pitchFamily="2" charset="0"/>
                <a:cs typeface="Open Sans" pitchFamily="2" charset="0"/>
              </a:rPr>
              <a:t>C.  </a:t>
            </a:r>
            <a:r>
              <a:rPr lang="en-US" sz="1100" b="1">
                <a:latin typeface="Open Sans" pitchFamily="2" charset="0"/>
                <a:ea typeface="Open Sans" pitchFamily="2" charset="0"/>
                <a:cs typeface="Open Sans" pitchFamily="2" charset="0"/>
              </a:rPr>
              <a:t>Insecure data exposure in errors or logs</a:t>
            </a:r>
            <a:endParaRPr lang="en-US" sz="1100">
              <a:latin typeface="Open Sans" pitchFamily="2" charset="0"/>
              <a:ea typeface="Open Sans" pitchFamily="2" charset="0"/>
              <a:cs typeface="Open Sans" pitchFamily="2" charset="0"/>
            </a:endParaRPr>
          </a:p>
        </p:txBody>
      </p:sp>
      <p:sp>
        <p:nvSpPr>
          <p:cNvPr id="21" name="Shape 18">
            <a:extLst>
              <a:ext uri="{FF2B5EF4-FFF2-40B4-BE49-F238E27FC236}">
                <a16:creationId xmlns:a16="http://schemas.microsoft.com/office/drawing/2014/main" id="{F795B943-CF5B-7322-D7A9-6DBE83D36BC2}"/>
              </a:ext>
            </a:extLst>
          </p:cNvPr>
          <p:cNvSpPr/>
          <p:nvPr/>
        </p:nvSpPr>
        <p:spPr>
          <a:xfrm>
            <a:off x="342900" y="2728102"/>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FE38E058-C037-9F65-2BC0-2AF717B06C76}"/>
              </a:ext>
            </a:extLst>
          </p:cNvPr>
          <p:cNvSpPr/>
          <p:nvPr/>
        </p:nvSpPr>
        <p:spPr>
          <a:xfrm>
            <a:off x="493776" y="2789824"/>
            <a:ext cx="205740" cy="205740"/>
          </a:xfrm>
          <a:prstGeom prst="ellipse">
            <a:avLst/>
          </a:prstGeom>
          <a:solidFill>
            <a:srgbClr val="C4CBD6"/>
          </a:solidFill>
          <a:ln/>
        </p:spPr>
        <p:txBody>
          <a:bodyPr/>
          <a:lstStyle/>
          <a:p>
            <a:endParaRPr lang="en-US" sz="1100">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D2C6EB05-3C50-279D-5315-B867D88DD02C}"/>
              </a:ext>
            </a:extLst>
          </p:cNvPr>
          <p:cNvSpPr/>
          <p:nvPr/>
        </p:nvSpPr>
        <p:spPr>
          <a:xfrm>
            <a:off x="493776" y="2789824"/>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D</a:t>
            </a:r>
            <a:endParaRPr lang="en-US" sz="1100">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A58CDA27-341D-3178-E7EF-E06830CE4A88}"/>
              </a:ext>
            </a:extLst>
          </p:cNvPr>
          <p:cNvSpPr/>
          <p:nvPr/>
        </p:nvSpPr>
        <p:spPr>
          <a:xfrm>
            <a:off x="809244" y="2728102"/>
            <a:ext cx="7886700"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D.  </a:t>
            </a:r>
            <a:r>
              <a:rPr lang="en-US" sz="1100">
                <a:solidFill>
                  <a:schemeClr val="tx2"/>
                </a:solidFill>
                <a:latin typeface="Open Sans" pitchFamily="2" charset="0"/>
                <a:ea typeface="Open Sans" pitchFamily="2" charset="0"/>
                <a:cs typeface="Open Sans" pitchFamily="2" charset="0"/>
              </a:rPr>
              <a:t>Code that is too well documented</a:t>
            </a:r>
          </a:p>
        </p:txBody>
      </p:sp>
      <p:sp>
        <p:nvSpPr>
          <p:cNvPr id="25" name="Shape 22">
            <a:extLst>
              <a:ext uri="{FF2B5EF4-FFF2-40B4-BE49-F238E27FC236}">
                <a16:creationId xmlns:a16="http://schemas.microsoft.com/office/drawing/2014/main" id="{9C3E03B6-1B21-CFDA-479E-374E47249FC1}"/>
              </a:ext>
            </a:extLst>
          </p:cNvPr>
          <p:cNvSpPr/>
          <p:nvPr/>
        </p:nvSpPr>
        <p:spPr>
          <a:xfrm>
            <a:off x="342900" y="3429000"/>
            <a:ext cx="8455914" cy="925517"/>
          </a:xfrm>
          <a:prstGeom prst="roundRect">
            <a:avLst>
              <a:gd name="adj" fmla="val 5161"/>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3">
            <a:extLst>
              <a:ext uri="{FF2B5EF4-FFF2-40B4-BE49-F238E27FC236}">
                <a16:creationId xmlns:a16="http://schemas.microsoft.com/office/drawing/2014/main" id="{FD84725C-C0E6-206F-80BD-CCBB3DDBAA22}"/>
              </a:ext>
            </a:extLst>
          </p:cNvPr>
          <p:cNvSpPr/>
          <p:nvPr/>
        </p:nvSpPr>
        <p:spPr>
          <a:xfrm>
            <a:off x="534924" y="3600137"/>
            <a:ext cx="5486400" cy="205740"/>
          </a:xfrm>
          <a:prstGeom prst="rect">
            <a:avLst/>
          </a:prstGeom>
          <a:noFill/>
          <a:ln/>
        </p:spPr>
        <p:txBody>
          <a:bodyPr wrap="square" lIns="0" tIns="0" rIns="0" bIns="0" rtlCol="0" anchor="ctr"/>
          <a:lstStyle/>
          <a:p>
            <a:r>
              <a:rPr lang="en-US" sz="1050" b="1" kern="0" spc="113">
                <a:solidFill>
                  <a:schemeClr val="accent1"/>
                </a:solidFill>
                <a:latin typeface="Open Sans" pitchFamily="2" charset="0"/>
                <a:ea typeface="Open Sans" pitchFamily="2" charset="0"/>
                <a:cs typeface="Open Sans" pitchFamily="2" charset="0"/>
              </a:rPr>
              <a:t>THROUGH THE LENS</a:t>
            </a:r>
            <a:endParaRPr lang="en-US" sz="1050">
              <a:solidFill>
                <a:schemeClr val="accent1"/>
              </a:solidFill>
              <a:latin typeface="Open Sans" pitchFamily="2" charset="0"/>
              <a:ea typeface="Open Sans" pitchFamily="2" charset="0"/>
              <a:cs typeface="Open Sans" pitchFamily="2" charset="0"/>
            </a:endParaRPr>
          </a:p>
        </p:txBody>
      </p:sp>
      <p:sp>
        <p:nvSpPr>
          <p:cNvPr id="27" name="Text 26">
            <a:extLst>
              <a:ext uri="{FF2B5EF4-FFF2-40B4-BE49-F238E27FC236}">
                <a16:creationId xmlns:a16="http://schemas.microsoft.com/office/drawing/2014/main" id="{52F3DBD1-71BC-DEEC-E111-443A7253D66C}"/>
              </a:ext>
            </a:extLst>
          </p:cNvPr>
          <p:cNvSpPr/>
          <p:nvPr/>
        </p:nvSpPr>
        <p:spPr>
          <a:xfrm>
            <a:off x="534924" y="3703007"/>
            <a:ext cx="7296912" cy="651510"/>
          </a:xfrm>
          <a:prstGeom prst="rect">
            <a:avLst/>
          </a:prstGeom>
          <a:noFill/>
          <a:ln/>
        </p:spPr>
        <p:txBody>
          <a:bodyPr wrap="square" lIns="0" tIns="0" rIns="0" bIns="0" rtlCol="0" anchor="ctr"/>
          <a:lstStyle/>
          <a:p>
            <a:r>
              <a:rPr lang="en-US" sz="1050">
                <a:solidFill>
                  <a:schemeClr val="tx2"/>
                </a:solidFill>
                <a:latin typeface="Open Sans" pitchFamily="2" charset="0"/>
                <a:ea typeface="Open Sans" pitchFamily="2" charset="0"/>
                <a:cs typeface="Open Sans" pitchFamily="2" charset="0"/>
              </a:rPr>
              <a:t>Injection, broken auth, insecure exposure, hardcoded secrets: predictable patterns. Claude builds auth for the demo, not for the attacker.</a:t>
            </a:r>
          </a:p>
        </p:txBody>
      </p:sp>
    </p:spTree>
    <p:extLst>
      <p:ext uri="{BB962C8B-B14F-4D97-AF65-F5344CB8AC3E}">
        <p14:creationId xmlns:p14="http://schemas.microsoft.com/office/powerpoint/2010/main" val="23118590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5">
            <a:extLst>
              <a:ext uri="{FF2B5EF4-FFF2-40B4-BE49-F238E27FC236}">
                <a16:creationId xmlns:a16="http://schemas.microsoft.com/office/drawing/2014/main" id="{B9DD5E1D-6E9C-A7FC-E98A-7EFBD2EDD3DC}"/>
              </a:ext>
            </a:extLst>
          </p:cNvPr>
          <p:cNvSpPr/>
          <p:nvPr/>
        </p:nvSpPr>
        <p:spPr>
          <a:xfrm>
            <a:off x="342900" y="716210"/>
            <a:ext cx="8455914" cy="515252"/>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Engineering sees a working demo as 10-20% of what production needs. Why is the gap structurally large?</a:t>
            </a:r>
            <a:endParaRPr lang="en-US" sz="1400">
              <a:latin typeface="Open Sans" pitchFamily="2" charset="0"/>
              <a:ea typeface="Open Sans" pitchFamily="2" charset="0"/>
              <a:cs typeface="Open Sans" pitchFamily="2" charset="0"/>
            </a:endParaRPr>
          </a:p>
        </p:txBody>
      </p:sp>
      <p:sp>
        <p:nvSpPr>
          <p:cNvPr id="9" name="Shape 6">
            <a:extLst>
              <a:ext uri="{FF2B5EF4-FFF2-40B4-BE49-F238E27FC236}">
                <a16:creationId xmlns:a16="http://schemas.microsoft.com/office/drawing/2014/main" id="{5241C211-6D4C-8C68-B3E4-094C1219F317}"/>
              </a:ext>
            </a:extLst>
          </p:cNvPr>
          <p:cNvSpPr/>
          <p:nvPr/>
        </p:nvSpPr>
        <p:spPr>
          <a:xfrm>
            <a:off x="342900" y="1473088"/>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7">
            <a:extLst>
              <a:ext uri="{FF2B5EF4-FFF2-40B4-BE49-F238E27FC236}">
                <a16:creationId xmlns:a16="http://schemas.microsoft.com/office/drawing/2014/main" id="{5ABF7324-62E9-6E90-FA07-4655CE0D8F61}"/>
              </a:ext>
            </a:extLst>
          </p:cNvPr>
          <p:cNvSpPr/>
          <p:nvPr/>
        </p:nvSpPr>
        <p:spPr>
          <a:xfrm>
            <a:off x="493776" y="1534810"/>
            <a:ext cx="205740" cy="205740"/>
          </a:xfrm>
          <a:prstGeom prst="ellipse">
            <a:avLst/>
          </a:prstGeom>
          <a:solidFill>
            <a:srgbClr val="C4CBD6"/>
          </a:solidFill>
          <a:ln/>
        </p:spPr>
        <p:txBody>
          <a:bodyPr/>
          <a:lstStyle/>
          <a:p>
            <a:endParaRPr lang="en-US" sz="1100">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0E0D9C94-DC84-F141-B12D-5812EC1F752B}"/>
              </a:ext>
            </a:extLst>
          </p:cNvPr>
          <p:cNvSpPr/>
          <p:nvPr/>
        </p:nvSpPr>
        <p:spPr>
          <a:xfrm>
            <a:off x="493776" y="1534810"/>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A</a:t>
            </a:r>
            <a:endParaRPr lang="en-US" sz="1100">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7B69D4D1-BEBA-3C74-9E60-4DC33E61CC1B}"/>
              </a:ext>
            </a:extLst>
          </p:cNvPr>
          <p:cNvSpPr/>
          <p:nvPr/>
        </p:nvSpPr>
        <p:spPr>
          <a:xfrm>
            <a:off x="809244" y="1473088"/>
            <a:ext cx="5931798"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A.  </a:t>
            </a:r>
            <a:r>
              <a:rPr lang="en-US" sz="1100">
                <a:solidFill>
                  <a:schemeClr val="tx2"/>
                </a:solidFill>
                <a:latin typeface="Open Sans" pitchFamily="2" charset="0"/>
                <a:ea typeface="Open Sans" pitchFamily="2" charset="0"/>
                <a:cs typeface="Open Sans" pitchFamily="2" charset="0"/>
              </a:rPr>
              <a:t>The PoC was built badly</a:t>
            </a:r>
          </a:p>
        </p:txBody>
      </p:sp>
      <p:sp>
        <p:nvSpPr>
          <p:cNvPr id="17" name="Shape 14">
            <a:extLst>
              <a:ext uri="{FF2B5EF4-FFF2-40B4-BE49-F238E27FC236}">
                <a16:creationId xmlns:a16="http://schemas.microsoft.com/office/drawing/2014/main" id="{1381FD04-EFA6-D848-1BAB-374576D44EDA}"/>
              </a:ext>
            </a:extLst>
          </p:cNvPr>
          <p:cNvSpPr/>
          <p:nvPr/>
        </p:nvSpPr>
        <p:spPr>
          <a:xfrm>
            <a:off x="342900" y="2296048"/>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2CCBC03E-6585-8C7E-3673-118CCB4183E5}"/>
              </a:ext>
            </a:extLst>
          </p:cNvPr>
          <p:cNvSpPr/>
          <p:nvPr/>
        </p:nvSpPr>
        <p:spPr>
          <a:xfrm>
            <a:off x="493776" y="2357770"/>
            <a:ext cx="205740" cy="205740"/>
          </a:xfrm>
          <a:prstGeom prst="ellipse">
            <a:avLst/>
          </a:prstGeom>
          <a:solidFill>
            <a:srgbClr val="C4CBD6"/>
          </a:solidFill>
          <a:ln/>
        </p:spPr>
        <p:txBody>
          <a:bodyPr/>
          <a:lstStyle/>
          <a:p>
            <a:endParaRPr lang="en-US" sz="1100">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98E9FA8A-8441-16DB-6413-E588788D9C34}"/>
              </a:ext>
            </a:extLst>
          </p:cNvPr>
          <p:cNvSpPr/>
          <p:nvPr/>
        </p:nvSpPr>
        <p:spPr>
          <a:xfrm>
            <a:off x="493776" y="2357770"/>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C</a:t>
            </a:r>
            <a:endParaRPr lang="en-US" sz="1100">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44316AED-7CC0-D296-4BC0-DF15FEC826B2}"/>
              </a:ext>
            </a:extLst>
          </p:cNvPr>
          <p:cNvSpPr/>
          <p:nvPr/>
        </p:nvSpPr>
        <p:spPr>
          <a:xfrm>
            <a:off x="809244" y="2296048"/>
            <a:ext cx="7886700"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C.  </a:t>
            </a:r>
            <a:r>
              <a:rPr lang="en-US" sz="1100">
                <a:solidFill>
                  <a:schemeClr val="tx2"/>
                </a:solidFill>
                <a:latin typeface="Open Sans" pitchFamily="2" charset="0"/>
                <a:ea typeface="Open Sans" pitchFamily="2" charset="0"/>
                <a:cs typeface="Open Sans" pitchFamily="2" charset="0"/>
              </a:rPr>
              <a:t>Claude wrote poor code</a:t>
            </a:r>
          </a:p>
        </p:txBody>
      </p:sp>
      <p:sp>
        <p:nvSpPr>
          <p:cNvPr id="21" name="Shape 18">
            <a:extLst>
              <a:ext uri="{FF2B5EF4-FFF2-40B4-BE49-F238E27FC236}">
                <a16:creationId xmlns:a16="http://schemas.microsoft.com/office/drawing/2014/main" id="{B513FDB1-9F57-F6B8-84D7-84FCAB6D3E34}"/>
              </a:ext>
            </a:extLst>
          </p:cNvPr>
          <p:cNvSpPr/>
          <p:nvPr/>
        </p:nvSpPr>
        <p:spPr>
          <a:xfrm>
            <a:off x="342900" y="2707528"/>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E56D1D1E-B70F-04E3-B3D6-7BBF9B943A18}"/>
              </a:ext>
            </a:extLst>
          </p:cNvPr>
          <p:cNvSpPr/>
          <p:nvPr/>
        </p:nvSpPr>
        <p:spPr>
          <a:xfrm>
            <a:off x="493776" y="2769250"/>
            <a:ext cx="205740" cy="205740"/>
          </a:xfrm>
          <a:prstGeom prst="ellipse">
            <a:avLst/>
          </a:prstGeom>
          <a:solidFill>
            <a:srgbClr val="C4CBD6"/>
          </a:solidFill>
          <a:ln/>
        </p:spPr>
        <p:txBody>
          <a:bodyPr/>
          <a:lstStyle/>
          <a:p>
            <a:endParaRPr lang="en-US" sz="1100">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F1C3453F-EBCE-7566-8FE7-F5F7FD6A0CF6}"/>
              </a:ext>
            </a:extLst>
          </p:cNvPr>
          <p:cNvSpPr/>
          <p:nvPr/>
        </p:nvSpPr>
        <p:spPr>
          <a:xfrm>
            <a:off x="493776" y="2769250"/>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D</a:t>
            </a:r>
            <a:endParaRPr lang="en-US" sz="1100">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B48369C2-9556-8E7C-465B-F1F97F3AC710}"/>
              </a:ext>
            </a:extLst>
          </p:cNvPr>
          <p:cNvSpPr/>
          <p:nvPr/>
        </p:nvSpPr>
        <p:spPr>
          <a:xfrm>
            <a:off x="809244" y="2707528"/>
            <a:ext cx="7886700"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D.  </a:t>
            </a:r>
            <a:r>
              <a:rPr lang="en-US" sz="1100">
                <a:solidFill>
                  <a:schemeClr val="tx2"/>
                </a:solidFill>
                <a:latin typeface="Open Sans" pitchFamily="2" charset="0"/>
                <a:ea typeface="Open Sans" pitchFamily="2" charset="0"/>
                <a:cs typeface="Open Sans" pitchFamily="2" charset="0"/>
              </a:rPr>
              <a:t>The demo was faked</a:t>
            </a:r>
          </a:p>
        </p:txBody>
      </p:sp>
      <p:sp>
        <p:nvSpPr>
          <p:cNvPr id="2" name="Shape 6">
            <a:extLst>
              <a:ext uri="{FF2B5EF4-FFF2-40B4-BE49-F238E27FC236}">
                <a16:creationId xmlns:a16="http://schemas.microsoft.com/office/drawing/2014/main" id="{3B2AAC6E-C865-F0F9-EF42-648389EB9602}"/>
              </a:ext>
            </a:extLst>
          </p:cNvPr>
          <p:cNvSpPr/>
          <p:nvPr/>
        </p:nvSpPr>
        <p:spPr>
          <a:xfrm>
            <a:off x="342900" y="1884568"/>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7">
            <a:extLst>
              <a:ext uri="{FF2B5EF4-FFF2-40B4-BE49-F238E27FC236}">
                <a16:creationId xmlns:a16="http://schemas.microsoft.com/office/drawing/2014/main" id="{A047D4F5-2BBB-CE7B-D1C4-CCF72C9AEAEF}"/>
              </a:ext>
            </a:extLst>
          </p:cNvPr>
          <p:cNvSpPr/>
          <p:nvPr/>
        </p:nvSpPr>
        <p:spPr>
          <a:xfrm>
            <a:off x="493776" y="1946290"/>
            <a:ext cx="205740" cy="205740"/>
          </a:xfrm>
          <a:prstGeom prst="ellipse">
            <a:avLst/>
          </a:prstGeom>
          <a:solidFill>
            <a:srgbClr val="C4CBD6"/>
          </a:solidFill>
          <a:ln/>
        </p:spPr>
        <p:txBody>
          <a:bodyPr/>
          <a:lstStyle/>
          <a:p>
            <a:endParaRPr lang="en-US" sz="1100">
              <a:latin typeface="Open Sans" pitchFamily="2" charset="0"/>
              <a:ea typeface="Open Sans" pitchFamily="2" charset="0"/>
              <a:cs typeface="Open Sans" pitchFamily="2" charset="0"/>
            </a:endParaRPr>
          </a:p>
        </p:txBody>
      </p:sp>
      <p:sp>
        <p:nvSpPr>
          <p:cNvPr id="4" name="Text 8">
            <a:extLst>
              <a:ext uri="{FF2B5EF4-FFF2-40B4-BE49-F238E27FC236}">
                <a16:creationId xmlns:a16="http://schemas.microsoft.com/office/drawing/2014/main" id="{9429CB8C-9D93-03D8-A400-606001CECF97}"/>
              </a:ext>
            </a:extLst>
          </p:cNvPr>
          <p:cNvSpPr/>
          <p:nvPr/>
        </p:nvSpPr>
        <p:spPr>
          <a:xfrm>
            <a:off x="493776" y="1946290"/>
            <a:ext cx="205740" cy="205740"/>
          </a:xfrm>
          <a:prstGeom prst="rect">
            <a:avLst/>
          </a:prstGeom>
          <a:noFill/>
          <a:ln/>
        </p:spPr>
        <p:txBody>
          <a:bodyPr wrap="square" lIns="0" tIns="0" rIns="0" bIns="0" rtlCol="0" anchor="ctr"/>
          <a:lstStyle/>
          <a:p>
            <a:pPr algn="ctr"/>
            <a:r>
              <a:rPr lang="en-US" sz="1100" b="1" dirty="0">
                <a:solidFill>
                  <a:srgbClr val="FFFFFF"/>
                </a:solidFill>
                <a:latin typeface="Open Sans" pitchFamily="2" charset="0"/>
                <a:ea typeface="Open Sans" pitchFamily="2" charset="0"/>
                <a:cs typeface="Open Sans" pitchFamily="2" charset="0"/>
              </a:rPr>
              <a:t>B</a:t>
            </a:r>
            <a:endParaRPr lang="en-US" sz="1100" dirty="0">
              <a:latin typeface="Open Sans" pitchFamily="2" charset="0"/>
              <a:ea typeface="Open Sans" pitchFamily="2" charset="0"/>
              <a:cs typeface="Open Sans" pitchFamily="2" charset="0"/>
            </a:endParaRPr>
          </a:p>
        </p:txBody>
      </p:sp>
      <p:sp>
        <p:nvSpPr>
          <p:cNvPr id="5" name="Text 9">
            <a:extLst>
              <a:ext uri="{FF2B5EF4-FFF2-40B4-BE49-F238E27FC236}">
                <a16:creationId xmlns:a16="http://schemas.microsoft.com/office/drawing/2014/main" id="{825B0DCC-3AC9-01E2-4E90-224F196D6EEB}"/>
              </a:ext>
            </a:extLst>
          </p:cNvPr>
          <p:cNvSpPr/>
          <p:nvPr/>
        </p:nvSpPr>
        <p:spPr>
          <a:xfrm>
            <a:off x="809244" y="1884568"/>
            <a:ext cx="5931798" cy="329184"/>
          </a:xfrm>
          <a:prstGeom prst="rect">
            <a:avLst/>
          </a:prstGeom>
          <a:noFill/>
          <a:ln/>
        </p:spPr>
        <p:txBody>
          <a:bodyPr wrap="square" lIns="0" tIns="0" rIns="0" bIns="0" rtlCol="0" anchor="ctr"/>
          <a:lstStyle/>
          <a:p>
            <a:r>
              <a:rPr lang="en-US" sz="1100" b="1" dirty="0">
                <a:solidFill>
                  <a:schemeClr val="tx2"/>
                </a:solidFill>
                <a:latin typeface="Open Sans" pitchFamily="2" charset="0"/>
                <a:ea typeface="Open Sans" pitchFamily="2" charset="0"/>
                <a:cs typeface="Open Sans" pitchFamily="2" charset="0"/>
              </a:rPr>
              <a:t>B.  </a:t>
            </a:r>
            <a:r>
              <a:rPr lang="en-US" sz="1100" dirty="0">
                <a:solidFill>
                  <a:schemeClr val="tx2"/>
                </a:solidFill>
                <a:latin typeface="Open Sans" pitchFamily="2" charset="0"/>
                <a:ea typeface="Open Sans" pitchFamily="2" charset="0"/>
                <a:cs typeface="Open Sans" pitchFamily="2" charset="0"/>
              </a:rPr>
              <a:t>Auth, error recovery, logging, monitoring, and scale were deliberately out of scope</a:t>
            </a:r>
          </a:p>
        </p:txBody>
      </p:sp>
    </p:spTree>
    <p:extLst>
      <p:ext uri="{BB962C8B-B14F-4D97-AF65-F5344CB8AC3E}">
        <p14:creationId xmlns:p14="http://schemas.microsoft.com/office/powerpoint/2010/main" val="30972183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C9D88-7948-0387-3438-C7CC6DDEBEB5}"/>
            </a:ext>
          </a:extLst>
        </p:cNvPr>
        <p:cNvGrpSpPr/>
        <p:nvPr/>
      </p:nvGrpSpPr>
      <p:grpSpPr>
        <a:xfrm>
          <a:off x="0" y="0"/>
          <a:ext cx="0" cy="0"/>
          <a:chOff x="0" y="0"/>
          <a:chExt cx="0" cy="0"/>
        </a:xfrm>
      </p:grpSpPr>
      <p:sp>
        <p:nvSpPr>
          <p:cNvPr id="8" name="Text 5">
            <a:extLst>
              <a:ext uri="{FF2B5EF4-FFF2-40B4-BE49-F238E27FC236}">
                <a16:creationId xmlns:a16="http://schemas.microsoft.com/office/drawing/2014/main" id="{A8548BD1-5875-BB40-2393-DF00B3AF08C5}"/>
              </a:ext>
            </a:extLst>
          </p:cNvPr>
          <p:cNvSpPr/>
          <p:nvPr/>
        </p:nvSpPr>
        <p:spPr>
          <a:xfrm>
            <a:off x="342900" y="716210"/>
            <a:ext cx="8455914" cy="515252"/>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Engineering sees a working demo as 10-20% of what production needs. Why is the gap structurally large?</a:t>
            </a:r>
            <a:endParaRPr lang="en-US" sz="1400">
              <a:latin typeface="Open Sans" pitchFamily="2" charset="0"/>
              <a:ea typeface="Open Sans" pitchFamily="2" charset="0"/>
              <a:cs typeface="Open Sans" pitchFamily="2" charset="0"/>
            </a:endParaRPr>
          </a:p>
        </p:txBody>
      </p:sp>
      <p:sp>
        <p:nvSpPr>
          <p:cNvPr id="9" name="Shape 6">
            <a:extLst>
              <a:ext uri="{FF2B5EF4-FFF2-40B4-BE49-F238E27FC236}">
                <a16:creationId xmlns:a16="http://schemas.microsoft.com/office/drawing/2014/main" id="{5087A1F9-74B5-D555-5752-23A8B9AC5A5B}"/>
              </a:ext>
            </a:extLst>
          </p:cNvPr>
          <p:cNvSpPr/>
          <p:nvPr/>
        </p:nvSpPr>
        <p:spPr>
          <a:xfrm>
            <a:off x="342900" y="1473088"/>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7">
            <a:extLst>
              <a:ext uri="{FF2B5EF4-FFF2-40B4-BE49-F238E27FC236}">
                <a16:creationId xmlns:a16="http://schemas.microsoft.com/office/drawing/2014/main" id="{AE1F6E3F-7D6E-1C39-15F9-A25A8957C484}"/>
              </a:ext>
            </a:extLst>
          </p:cNvPr>
          <p:cNvSpPr/>
          <p:nvPr/>
        </p:nvSpPr>
        <p:spPr>
          <a:xfrm>
            <a:off x="493776" y="1534810"/>
            <a:ext cx="205740" cy="205740"/>
          </a:xfrm>
          <a:prstGeom prst="ellipse">
            <a:avLst/>
          </a:prstGeom>
          <a:solidFill>
            <a:srgbClr val="C4CBD6"/>
          </a:solidFill>
          <a:ln/>
        </p:spPr>
        <p:txBody>
          <a:bodyPr/>
          <a:lstStyle/>
          <a:p>
            <a:endParaRPr lang="en-US" sz="1100">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DC1B916E-679C-86E2-1CDB-77A2601D0087}"/>
              </a:ext>
            </a:extLst>
          </p:cNvPr>
          <p:cNvSpPr/>
          <p:nvPr/>
        </p:nvSpPr>
        <p:spPr>
          <a:xfrm>
            <a:off x="493776" y="1534810"/>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A</a:t>
            </a:r>
            <a:endParaRPr lang="en-US" sz="1100">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42FE597B-389A-BD2D-BEF8-E43147EEC3AE}"/>
              </a:ext>
            </a:extLst>
          </p:cNvPr>
          <p:cNvSpPr/>
          <p:nvPr/>
        </p:nvSpPr>
        <p:spPr>
          <a:xfrm>
            <a:off x="809244" y="1473088"/>
            <a:ext cx="5931798"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A.  </a:t>
            </a:r>
            <a:r>
              <a:rPr lang="en-US" sz="1100">
                <a:solidFill>
                  <a:schemeClr val="tx2"/>
                </a:solidFill>
                <a:latin typeface="Open Sans" pitchFamily="2" charset="0"/>
                <a:ea typeface="Open Sans" pitchFamily="2" charset="0"/>
                <a:cs typeface="Open Sans" pitchFamily="2" charset="0"/>
              </a:rPr>
              <a:t>The PoC was built badly</a:t>
            </a:r>
          </a:p>
        </p:txBody>
      </p:sp>
      <p:sp>
        <p:nvSpPr>
          <p:cNvPr id="13" name="Shape 10">
            <a:extLst>
              <a:ext uri="{FF2B5EF4-FFF2-40B4-BE49-F238E27FC236}">
                <a16:creationId xmlns:a16="http://schemas.microsoft.com/office/drawing/2014/main" id="{3165D1DA-F4A4-00E6-E2F4-F95BEA0DA44F}"/>
              </a:ext>
            </a:extLst>
          </p:cNvPr>
          <p:cNvSpPr/>
          <p:nvPr/>
        </p:nvSpPr>
        <p:spPr>
          <a:xfrm>
            <a:off x="342900" y="1884568"/>
            <a:ext cx="8455914" cy="329184"/>
          </a:xfrm>
          <a:prstGeom prst="roundRect">
            <a:avLst>
              <a:gd name="adj" fmla="val 12500"/>
            </a:avLst>
          </a:prstGeom>
          <a:solidFill>
            <a:srgbClr val="ECFEF6"/>
          </a:solidFill>
          <a:ln w="19050">
            <a:solidFill>
              <a:srgbClr val="00B050"/>
            </a:solidFill>
            <a:prstDash val="solid"/>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1">
            <a:extLst>
              <a:ext uri="{FF2B5EF4-FFF2-40B4-BE49-F238E27FC236}">
                <a16:creationId xmlns:a16="http://schemas.microsoft.com/office/drawing/2014/main" id="{F1EC3300-6A25-8170-9ABB-C1BEEC4A5B4B}"/>
              </a:ext>
            </a:extLst>
          </p:cNvPr>
          <p:cNvSpPr/>
          <p:nvPr/>
        </p:nvSpPr>
        <p:spPr>
          <a:xfrm>
            <a:off x="493776" y="1946290"/>
            <a:ext cx="205740" cy="205740"/>
          </a:xfrm>
          <a:prstGeom prst="ellipse">
            <a:avLst/>
          </a:prstGeom>
          <a:solidFill>
            <a:srgbClr val="00B050"/>
          </a:solidFill>
          <a:ln/>
        </p:spPr>
        <p:txBody>
          <a:bodyPr/>
          <a:lstStyle/>
          <a:p>
            <a:endParaRPr lang="en-US" sz="1100">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EF7BAB16-35B1-5BD3-F716-A7B508A1EF89}"/>
              </a:ext>
            </a:extLst>
          </p:cNvPr>
          <p:cNvSpPr/>
          <p:nvPr/>
        </p:nvSpPr>
        <p:spPr>
          <a:xfrm>
            <a:off x="493776" y="1946290"/>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a:t>
            </a:r>
            <a:endParaRPr lang="en-US" sz="1100">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1EE810B9-D038-1973-7A2F-F10D37C83CE2}"/>
              </a:ext>
            </a:extLst>
          </p:cNvPr>
          <p:cNvSpPr/>
          <p:nvPr/>
        </p:nvSpPr>
        <p:spPr>
          <a:xfrm>
            <a:off x="809244" y="1884568"/>
            <a:ext cx="7886700" cy="329184"/>
          </a:xfrm>
          <a:prstGeom prst="rect">
            <a:avLst/>
          </a:prstGeom>
          <a:noFill/>
          <a:ln/>
        </p:spPr>
        <p:txBody>
          <a:bodyPr wrap="square" lIns="0" tIns="0" rIns="0" bIns="0" rtlCol="0" anchor="ctr"/>
          <a:lstStyle/>
          <a:p>
            <a:r>
              <a:rPr lang="en-US" sz="1100" b="1" dirty="0">
                <a:solidFill>
                  <a:srgbClr val="00B050"/>
                </a:solidFill>
                <a:latin typeface="Open Sans" pitchFamily="2" charset="0"/>
                <a:ea typeface="Open Sans" pitchFamily="2" charset="0"/>
                <a:cs typeface="Open Sans" pitchFamily="2" charset="0"/>
              </a:rPr>
              <a:t>B.  </a:t>
            </a:r>
            <a:r>
              <a:rPr lang="en-US" sz="1100" b="1" dirty="0">
                <a:latin typeface="Open Sans" pitchFamily="2" charset="0"/>
                <a:ea typeface="Open Sans" pitchFamily="2" charset="0"/>
                <a:cs typeface="Open Sans" pitchFamily="2" charset="0"/>
              </a:rPr>
              <a:t>Auth, error recovery, logging, monitoring, and scale were deliberately out of scope</a:t>
            </a:r>
            <a:endParaRPr lang="en-US" sz="1100" dirty="0">
              <a:latin typeface="Open Sans" pitchFamily="2" charset="0"/>
              <a:ea typeface="Open Sans" pitchFamily="2" charset="0"/>
              <a:cs typeface="Open Sans" pitchFamily="2" charset="0"/>
            </a:endParaRPr>
          </a:p>
        </p:txBody>
      </p:sp>
      <p:sp>
        <p:nvSpPr>
          <p:cNvPr id="17" name="Shape 14">
            <a:extLst>
              <a:ext uri="{FF2B5EF4-FFF2-40B4-BE49-F238E27FC236}">
                <a16:creationId xmlns:a16="http://schemas.microsoft.com/office/drawing/2014/main" id="{51B8A635-F49D-9772-2B35-561398520A39}"/>
              </a:ext>
            </a:extLst>
          </p:cNvPr>
          <p:cNvSpPr/>
          <p:nvPr/>
        </p:nvSpPr>
        <p:spPr>
          <a:xfrm>
            <a:off x="342900" y="2296048"/>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97395C3D-05FA-8AAE-B1D5-56DB4BE986E1}"/>
              </a:ext>
            </a:extLst>
          </p:cNvPr>
          <p:cNvSpPr/>
          <p:nvPr/>
        </p:nvSpPr>
        <p:spPr>
          <a:xfrm>
            <a:off x="493776" y="2357770"/>
            <a:ext cx="205740" cy="205740"/>
          </a:xfrm>
          <a:prstGeom prst="ellipse">
            <a:avLst/>
          </a:prstGeom>
          <a:solidFill>
            <a:srgbClr val="C4CBD6"/>
          </a:solidFill>
          <a:ln/>
        </p:spPr>
        <p:txBody>
          <a:bodyPr/>
          <a:lstStyle/>
          <a:p>
            <a:endParaRPr lang="en-US" sz="1100">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8F0656CD-9877-AD0E-EFCD-570D7D5A380B}"/>
              </a:ext>
            </a:extLst>
          </p:cNvPr>
          <p:cNvSpPr/>
          <p:nvPr/>
        </p:nvSpPr>
        <p:spPr>
          <a:xfrm>
            <a:off x="493776" y="2357770"/>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C</a:t>
            </a:r>
            <a:endParaRPr lang="en-US" sz="1100">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EECDF9C1-A069-E4A4-A7A9-2CEA63E731D1}"/>
              </a:ext>
            </a:extLst>
          </p:cNvPr>
          <p:cNvSpPr/>
          <p:nvPr/>
        </p:nvSpPr>
        <p:spPr>
          <a:xfrm>
            <a:off x="809244" y="2296048"/>
            <a:ext cx="7886700"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C.  </a:t>
            </a:r>
            <a:r>
              <a:rPr lang="en-US" sz="1100">
                <a:solidFill>
                  <a:schemeClr val="tx2"/>
                </a:solidFill>
                <a:latin typeface="Open Sans" pitchFamily="2" charset="0"/>
                <a:ea typeface="Open Sans" pitchFamily="2" charset="0"/>
                <a:cs typeface="Open Sans" pitchFamily="2" charset="0"/>
              </a:rPr>
              <a:t>Claude wrote poor code</a:t>
            </a:r>
          </a:p>
        </p:txBody>
      </p:sp>
      <p:sp>
        <p:nvSpPr>
          <p:cNvPr id="21" name="Shape 18">
            <a:extLst>
              <a:ext uri="{FF2B5EF4-FFF2-40B4-BE49-F238E27FC236}">
                <a16:creationId xmlns:a16="http://schemas.microsoft.com/office/drawing/2014/main" id="{31A64BE4-6948-89DB-FC50-D2774B54B592}"/>
              </a:ext>
            </a:extLst>
          </p:cNvPr>
          <p:cNvSpPr/>
          <p:nvPr/>
        </p:nvSpPr>
        <p:spPr>
          <a:xfrm>
            <a:off x="342900" y="2707528"/>
            <a:ext cx="8455914" cy="329184"/>
          </a:xfrm>
          <a:prstGeom prst="roundRect">
            <a:avLst>
              <a:gd name="adj" fmla="val 12500"/>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627C5485-5AF8-0710-19D3-ED90F206012A}"/>
              </a:ext>
            </a:extLst>
          </p:cNvPr>
          <p:cNvSpPr/>
          <p:nvPr/>
        </p:nvSpPr>
        <p:spPr>
          <a:xfrm>
            <a:off x="493776" y="2769250"/>
            <a:ext cx="205740" cy="205740"/>
          </a:xfrm>
          <a:prstGeom prst="ellipse">
            <a:avLst/>
          </a:prstGeom>
          <a:solidFill>
            <a:srgbClr val="C4CBD6"/>
          </a:solidFill>
          <a:ln/>
        </p:spPr>
        <p:txBody>
          <a:bodyPr/>
          <a:lstStyle/>
          <a:p>
            <a:endParaRPr lang="en-US" sz="1100">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9960E26F-9F8F-FD72-851C-00F5195A2485}"/>
              </a:ext>
            </a:extLst>
          </p:cNvPr>
          <p:cNvSpPr/>
          <p:nvPr/>
        </p:nvSpPr>
        <p:spPr>
          <a:xfrm>
            <a:off x="493776" y="2769250"/>
            <a:ext cx="205740" cy="205740"/>
          </a:xfrm>
          <a:prstGeom prst="rect">
            <a:avLst/>
          </a:prstGeom>
          <a:noFill/>
          <a:ln/>
        </p:spPr>
        <p:txBody>
          <a:bodyPr wrap="square" lIns="0" tIns="0" rIns="0" bIns="0" rtlCol="0" anchor="ctr"/>
          <a:lstStyle/>
          <a:p>
            <a:pPr algn="ctr"/>
            <a:r>
              <a:rPr lang="en-US" sz="1100" b="1">
                <a:solidFill>
                  <a:srgbClr val="FFFFFF"/>
                </a:solidFill>
                <a:latin typeface="Open Sans" pitchFamily="2" charset="0"/>
                <a:ea typeface="Open Sans" pitchFamily="2" charset="0"/>
                <a:cs typeface="Open Sans" pitchFamily="2" charset="0"/>
              </a:rPr>
              <a:t>D</a:t>
            </a:r>
            <a:endParaRPr lang="en-US" sz="1100">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254BD5FF-253B-52C1-B793-4ED4B3E9BC21}"/>
              </a:ext>
            </a:extLst>
          </p:cNvPr>
          <p:cNvSpPr/>
          <p:nvPr/>
        </p:nvSpPr>
        <p:spPr>
          <a:xfrm>
            <a:off x="809244" y="2707528"/>
            <a:ext cx="7886700" cy="329184"/>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D.  </a:t>
            </a:r>
            <a:r>
              <a:rPr lang="en-US" sz="1100">
                <a:solidFill>
                  <a:schemeClr val="tx2"/>
                </a:solidFill>
                <a:latin typeface="Open Sans" pitchFamily="2" charset="0"/>
                <a:ea typeface="Open Sans" pitchFamily="2" charset="0"/>
                <a:cs typeface="Open Sans" pitchFamily="2" charset="0"/>
              </a:rPr>
              <a:t>The demo was faked</a:t>
            </a:r>
          </a:p>
        </p:txBody>
      </p:sp>
      <p:sp>
        <p:nvSpPr>
          <p:cNvPr id="25" name="Shape 22">
            <a:extLst>
              <a:ext uri="{FF2B5EF4-FFF2-40B4-BE49-F238E27FC236}">
                <a16:creationId xmlns:a16="http://schemas.microsoft.com/office/drawing/2014/main" id="{CAD83882-7BF0-4DA2-97A0-92285DD5D10A}"/>
              </a:ext>
            </a:extLst>
          </p:cNvPr>
          <p:cNvSpPr/>
          <p:nvPr/>
        </p:nvSpPr>
        <p:spPr>
          <a:xfrm>
            <a:off x="342900" y="3429000"/>
            <a:ext cx="8455914" cy="853901"/>
          </a:xfrm>
          <a:prstGeom prst="roundRect">
            <a:avLst>
              <a:gd name="adj" fmla="val 5161"/>
            </a:avLst>
          </a:prstGeom>
          <a:solidFill>
            <a:srgbClr val="F5F5F5"/>
          </a:solidFill>
          <a:ln>
            <a:noFill/>
          </a:ln>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3">
            <a:extLst>
              <a:ext uri="{FF2B5EF4-FFF2-40B4-BE49-F238E27FC236}">
                <a16:creationId xmlns:a16="http://schemas.microsoft.com/office/drawing/2014/main" id="{97F28383-E362-19BD-2342-42D2742403BA}"/>
              </a:ext>
            </a:extLst>
          </p:cNvPr>
          <p:cNvSpPr/>
          <p:nvPr/>
        </p:nvSpPr>
        <p:spPr>
          <a:xfrm>
            <a:off x="534924" y="3538728"/>
            <a:ext cx="5486400" cy="205740"/>
          </a:xfrm>
          <a:prstGeom prst="rect">
            <a:avLst/>
          </a:prstGeom>
          <a:noFill/>
          <a:ln/>
        </p:spPr>
        <p:txBody>
          <a:bodyPr wrap="square" lIns="0" tIns="0" rIns="0" bIns="0" rtlCol="0" anchor="ctr"/>
          <a:lstStyle/>
          <a:p>
            <a:r>
              <a:rPr lang="en-US" sz="1050" b="1" kern="0" spc="113">
                <a:solidFill>
                  <a:schemeClr val="accent1"/>
                </a:solidFill>
                <a:latin typeface="Open Sans" pitchFamily="2" charset="0"/>
                <a:ea typeface="Open Sans" pitchFamily="2" charset="0"/>
                <a:cs typeface="Open Sans" pitchFamily="2" charset="0"/>
              </a:rPr>
              <a:t>THROUGH THE LENS</a:t>
            </a:r>
            <a:endParaRPr lang="en-US" sz="1050">
              <a:solidFill>
                <a:schemeClr val="accent1"/>
              </a:solidFill>
              <a:latin typeface="Open Sans" pitchFamily="2" charset="0"/>
              <a:ea typeface="Open Sans" pitchFamily="2" charset="0"/>
              <a:cs typeface="Open Sans" pitchFamily="2" charset="0"/>
            </a:endParaRPr>
          </a:p>
        </p:txBody>
      </p:sp>
      <p:sp>
        <p:nvSpPr>
          <p:cNvPr id="27" name="Shape 24">
            <a:extLst>
              <a:ext uri="{FF2B5EF4-FFF2-40B4-BE49-F238E27FC236}">
                <a16:creationId xmlns:a16="http://schemas.microsoft.com/office/drawing/2014/main" id="{367581CF-6924-526D-0331-F31FB114CAF9}"/>
              </a:ext>
            </a:extLst>
          </p:cNvPr>
          <p:cNvSpPr/>
          <p:nvPr/>
        </p:nvSpPr>
        <p:spPr>
          <a:xfrm>
            <a:off x="534924" y="3785616"/>
            <a:ext cx="795528" cy="274320"/>
          </a:xfrm>
          <a:prstGeom prst="roundRect">
            <a:avLst>
              <a:gd name="adj" fmla="val 15000"/>
            </a:avLst>
          </a:prstGeom>
          <a:solidFill>
            <a:srgbClr val="00B050"/>
          </a:solidFill>
          <a:ln/>
        </p:spPr>
        <p:txBody>
          <a:bodyPr/>
          <a:lstStyle/>
          <a:p>
            <a:endParaRPr lang="en-US" sz="1050">
              <a:latin typeface="Open Sans" pitchFamily="2" charset="0"/>
              <a:ea typeface="Open Sans" pitchFamily="2" charset="0"/>
              <a:cs typeface="Open Sans" pitchFamily="2" charset="0"/>
            </a:endParaRPr>
          </a:p>
        </p:txBody>
      </p:sp>
      <p:sp>
        <p:nvSpPr>
          <p:cNvPr id="28" name="Text 25">
            <a:extLst>
              <a:ext uri="{FF2B5EF4-FFF2-40B4-BE49-F238E27FC236}">
                <a16:creationId xmlns:a16="http://schemas.microsoft.com/office/drawing/2014/main" id="{B1323C5F-5026-4302-FB65-342C54C1ED80}"/>
              </a:ext>
            </a:extLst>
          </p:cNvPr>
          <p:cNvSpPr/>
          <p:nvPr/>
        </p:nvSpPr>
        <p:spPr>
          <a:xfrm>
            <a:off x="534924" y="3785616"/>
            <a:ext cx="795528" cy="274320"/>
          </a:xfrm>
          <a:prstGeom prst="rect">
            <a:avLst/>
          </a:prstGeom>
          <a:noFill/>
          <a:ln/>
        </p:spPr>
        <p:txBody>
          <a:bodyPr wrap="square" lIns="0" tIns="0" rIns="0" bIns="0" rtlCol="0" anchor="ctr"/>
          <a:lstStyle/>
          <a:p>
            <a:pPr algn="ctr"/>
            <a:r>
              <a:rPr lang="en-US" sz="1050" b="1">
                <a:solidFill>
                  <a:schemeClr val="bg1"/>
                </a:solidFill>
                <a:latin typeface="Open Sans" pitchFamily="2" charset="0"/>
                <a:ea typeface="Open Sans" pitchFamily="2" charset="0"/>
                <a:cs typeface="Open Sans" pitchFamily="2" charset="0"/>
              </a:rPr>
              <a:t>STARED</a:t>
            </a:r>
            <a:endParaRPr lang="en-US" sz="1050">
              <a:solidFill>
                <a:schemeClr val="bg1"/>
              </a:solidFill>
              <a:latin typeface="Open Sans" pitchFamily="2" charset="0"/>
              <a:ea typeface="Open Sans" pitchFamily="2" charset="0"/>
              <a:cs typeface="Open Sans" pitchFamily="2" charset="0"/>
            </a:endParaRPr>
          </a:p>
        </p:txBody>
      </p:sp>
      <p:sp>
        <p:nvSpPr>
          <p:cNvPr id="29" name="Text 26">
            <a:extLst>
              <a:ext uri="{FF2B5EF4-FFF2-40B4-BE49-F238E27FC236}">
                <a16:creationId xmlns:a16="http://schemas.microsoft.com/office/drawing/2014/main" id="{DB310C8C-7975-9F21-82B0-392124EC156E}"/>
              </a:ext>
            </a:extLst>
          </p:cNvPr>
          <p:cNvSpPr/>
          <p:nvPr/>
        </p:nvSpPr>
        <p:spPr>
          <a:xfrm>
            <a:off x="1501902" y="3617641"/>
            <a:ext cx="7296912" cy="651510"/>
          </a:xfrm>
          <a:prstGeom prst="rect">
            <a:avLst/>
          </a:prstGeom>
          <a:noFill/>
          <a:ln/>
        </p:spPr>
        <p:txBody>
          <a:bodyPr wrap="square" lIns="0" tIns="0" rIns="0" bIns="0" rtlCol="0" anchor="ctr"/>
          <a:lstStyle/>
          <a:p>
            <a:r>
              <a:rPr lang="en-US" sz="1050">
                <a:solidFill>
                  <a:schemeClr val="tx2"/>
                </a:solidFill>
                <a:latin typeface="Open Sans" pitchFamily="2" charset="0"/>
                <a:ea typeface="Open Sans" pitchFamily="2" charset="0"/>
                <a:cs typeface="Open Sans" pitchFamily="2" charset="0"/>
              </a:rPr>
              <a:t>None of the production column is a criticism of the PoC. It is the honest cost of production: the features deliberately left out, put back.</a:t>
            </a:r>
          </a:p>
        </p:txBody>
      </p:sp>
    </p:spTree>
    <p:extLst>
      <p:ext uri="{BB962C8B-B14F-4D97-AF65-F5344CB8AC3E}">
        <p14:creationId xmlns:p14="http://schemas.microsoft.com/office/powerpoint/2010/main" val="25932391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5">
            <a:extLst>
              <a:ext uri="{FF2B5EF4-FFF2-40B4-BE49-F238E27FC236}">
                <a16:creationId xmlns:a16="http://schemas.microsoft.com/office/drawing/2014/main" id="{C3ACF5DD-EF52-FAE1-E393-8EF863FC2CA0}"/>
              </a:ext>
            </a:extLst>
          </p:cNvPr>
          <p:cNvSpPr/>
          <p:nvPr/>
        </p:nvSpPr>
        <p:spPr>
          <a:xfrm>
            <a:off x="342900" y="682437"/>
            <a:ext cx="8455914" cy="281046"/>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Running a production-gap audit on a returns-automation PoC. Mark each step Right or Wrong.</a:t>
            </a:r>
            <a:endParaRPr lang="en-US" sz="1400">
              <a:latin typeface="Open Sans" pitchFamily="2" charset="0"/>
              <a:ea typeface="Open Sans" pitchFamily="2" charset="0"/>
              <a:cs typeface="Open Sans" pitchFamily="2" charset="0"/>
            </a:endParaRPr>
          </a:p>
        </p:txBody>
      </p:sp>
      <p:sp>
        <p:nvSpPr>
          <p:cNvPr id="8" name="Text 10">
            <a:extLst>
              <a:ext uri="{FF2B5EF4-FFF2-40B4-BE49-F238E27FC236}">
                <a16:creationId xmlns:a16="http://schemas.microsoft.com/office/drawing/2014/main" id="{C3FEB3E9-C8BB-A6B5-48A6-67CF5BC195A0}"/>
              </a:ext>
            </a:extLst>
          </p:cNvPr>
          <p:cNvSpPr/>
          <p:nvPr/>
        </p:nvSpPr>
        <p:spPr>
          <a:xfrm>
            <a:off x="342900" y="152345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1" name="Text 13">
            <a:extLst>
              <a:ext uri="{FF2B5EF4-FFF2-40B4-BE49-F238E27FC236}">
                <a16:creationId xmlns:a16="http://schemas.microsoft.com/office/drawing/2014/main" id="{C66928E3-80DB-4190-D319-F8D44C33BE6B}"/>
              </a:ext>
            </a:extLst>
          </p:cNvPr>
          <p:cNvSpPr/>
          <p:nvPr/>
        </p:nvSpPr>
        <p:spPr>
          <a:xfrm>
            <a:off x="342900" y="1908484"/>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4" name="Text 16">
            <a:extLst>
              <a:ext uri="{FF2B5EF4-FFF2-40B4-BE49-F238E27FC236}">
                <a16:creationId xmlns:a16="http://schemas.microsoft.com/office/drawing/2014/main" id="{2C2AF12E-A4A6-7633-55DC-9C9C9E23AEFD}"/>
              </a:ext>
            </a:extLst>
          </p:cNvPr>
          <p:cNvSpPr/>
          <p:nvPr/>
        </p:nvSpPr>
        <p:spPr>
          <a:xfrm>
            <a:off x="342900" y="2293511"/>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6" name="Text 19">
            <a:extLst>
              <a:ext uri="{FF2B5EF4-FFF2-40B4-BE49-F238E27FC236}">
                <a16:creationId xmlns:a16="http://schemas.microsoft.com/office/drawing/2014/main" id="{3DDE1E13-28D3-196C-F2F6-DA7411F5EADF}"/>
              </a:ext>
            </a:extLst>
          </p:cNvPr>
          <p:cNvSpPr/>
          <p:nvPr/>
        </p:nvSpPr>
        <p:spPr>
          <a:xfrm>
            <a:off x="342900" y="2678539"/>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65" name="Shape 6">
            <a:extLst>
              <a:ext uri="{FF2B5EF4-FFF2-40B4-BE49-F238E27FC236}">
                <a16:creationId xmlns:a16="http://schemas.microsoft.com/office/drawing/2014/main" id="{38E55F90-52FB-3943-5DCA-706B5F83C444}"/>
              </a:ext>
            </a:extLst>
          </p:cNvPr>
          <p:cNvSpPr/>
          <p:nvPr/>
        </p:nvSpPr>
        <p:spPr>
          <a:xfrm>
            <a:off x="338981" y="2733894"/>
            <a:ext cx="651510" cy="219456"/>
          </a:xfrm>
          <a:prstGeom prst="roundRect">
            <a:avLst>
              <a:gd name="adj" fmla="val 15625"/>
            </a:avLst>
          </a:prstGeom>
          <a:solidFill>
            <a:srgbClr val="00B050"/>
          </a:solidFill>
          <a:ln>
            <a:noFill/>
          </a:ln>
        </p:spPr>
        <p:txBody>
          <a:bodyPr/>
          <a:lstStyle/>
          <a:p>
            <a:endParaRPr lang="en-US" sz="135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20">
            <a:extLst>
              <a:ext uri="{FF2B5EF4-FFF2-40B4-BE49-F238E27FC236}">
                <a16:creationId xmlns:a16="http://schemas.microsoft.com/office/drawing/2014/main" id="{F6D320C6-2737-3A5A-5CE0-E30EB810084B}"/>
              </a:ext>
            </a:extLst>
          </p:cNvPr>
          <p:cNvSpPr/>
          <p:nvPr/>
        </p:nvSpPr>
        <p:spPr>
          <a:xfrm>
            <a:off x="1110996" y="2651108"/>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Greenlight because it runs on the sample CSV.</a:t>
            </a:r>
            <a:endParaRPr lang="en-US" sz="1000">
              <a:latin typeface="Open Sans" pitchFamily="2" charset="0"/>
              <a:ea typeface="Open Sans" pitchFamily="2" charset="0"/>
              <a:cs typeface="Open Sans" pitchFamily="2" charset="0"/>
            </a:endParaRPr>
          </a:p>
        </p:txBody>
      </p:sp>
      <p:sp>
        <p:nvSpPr>
          <p:cNvPr id="18" name="Text 22">
            <a:extLst>
              <a:ext uri="{FF2B5EF4-FFF2-40B4-BE49-F238E27FC236}">
                <a16:creationId xmlns:a16="http://schemas.microsoft.com/office/drawing/2014/main" id="{039F8EDA-F43A-0EC0-7594-7BFDCFF1DB36}"/>
              </a:ext>
            </a:extLst>
          </p:cNvPr>
          <p:cNvSpPr/>
          <p:nvPr/>
        </p:nvSpPr>
        <p:spPr>
          <a:xfrm>
            <a:off x="342900" y="306356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69" name="Shape 6">
            <a:extLst>
              <a:ext uri="{FF2B5EF4-FFF2-40B4-BE49-F238E27FC236}">
                <a16:creationId xmlns:a16="http://schemas.microsoft.com/office/drawing/2014/main" id="{D138956F-BDEE-C306-9FC6-32D3B51F1377}"/>
              </a:ext>
            </a:extLst>
          </p:cNvPr>
          <p:cNvSpPr/>
          <p:nvPr/>
        </p:nvSpPr>
        <p:spPr>
          <a:xfrm>
            <a:off x="338981" y="3118922"/>
            <a:ext cx="651510" cy="219456"/>
          </a:xfrm>
          <a:prstGeom prst="roundRect">
            <a:avLst>
              <a:gd name="adj" fmla="val 15625"/>
            </a:avLst>
          </a:prstGeom>
          <a:solidFill>
            <a:srgbClr val="00B050"/>
          </a:solidFill>
          <a:ln>
            <a:noFill/>
          </a:ln>
        </p:spPr>
        <p:txBody>
          <a:bodyPr/>
          <a:lstStyle/>
          <a:p>
            <a:endParaRPr lang="en-US" sz="135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23">
            <a:extLst>
              <a:ext uri="{FF2B5EF4-FFF2-40B4-BE49-F238E27FC236}">
                <a16:creationId xmlns:a16="http://schemas.microsoft.com/office/drawing/2014/main" id="{43398B0B-25F1-17C8-5926-2FFCC09392E7}"/>
              </a:ext>
            </a:extLst>
          </p:cNvPr>
          <p:cNvSpPr/>
          <p:nvPr/>
        </p:nvSpPr>
        <p:spPr>
          <a:xfrm>
            <a:off x="1110996" y="3036136"/>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Hardcode the production credentials to ship faster.</a:t>
            </a:r>
            <a:endParaRPr lang="en-US" sz="1000">
              <a:latin typeface="Open Sans" pitchFamily="2" charset="0"/>
              <a:ea typeface="Open Sans" pitchFamily="2" charset="0"/>
              <a:cs typeface="Open Sans" pitchFamily="2" charset="0"/>
            </a:endParaRPr>
          </a:p>
        </p:txBody>
      </p:sp>
      <p:sp>
        <p:nvSpPr>
          <p:cNvPr id="21" name="Text 25">
            <a:extLst>
              <a:ext uri="{FF2B5EF4-FFF2-40B4-BE49-F238E27FC236}">
                <a16:creationId xmlns:a16="http://schemas.microsoft.com/office/drawing/2014/main" id="{A6A6D2F7-7E57-0809-8A9C-8E71AA39CE9B}"/>
              </a:ext>
            </a:extLst>
          </p:cNvPr>
          <p:cNvSpPr/>
          <p:nvPr/>
        </p:nvSpPr>
        <p:spPr>
          <a:xfrm>
            <a:off x="342900" y="3448595"/>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72" name="Shape 6">
            <a:extLst>
              <a:ext uri="{FF2B5EF4-FFF2-40B4-BE49-F238E27FC236}">
                <a16:creationId xmlns:a16="http://schemas.microsoft.com/office/drawing/2014/main" id="{16ED4E37-37AE-5839-7144-83A4C2D7437C}"/>
              </a:ext>
            </a:extLst>
          </p:cNvPr>
          <p:cNvSpPr/>
          <p:nvPr/>
        </p:nvSpPr>
        <p:spPr>
          <a:xfrm>
            <a:off x="338981" y="3503948"/>
            <a:ext cx="651510" cy="219456"/>
          </a:xfrm>
          <a:prstGeom prst="roundRect">
            <a:avLst>
              <a:gd name="adj" fmla="val 15625"/>
            </a:avLst>
          </a:prstGeom>
          <a:solidFill>
            <a:srgbClr val="00B050"/>
          </a:solidFill>
          <a:ln>
            <a:noFill/>
          </a:ln>
        </p:spPr>
        <p:txBody>
          <a:bodyPr/>
          <a:lstStyle/>
          <a:p>
            <a:endParaRPr lang="en-US" sz="135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6">
            <a:extLst>
              <a:ext uri="{FF2B5EF4-FFF2-40B4-BE49-F238E27FC236}">
                <a16:creationId xmlns:a16="http://schemas.microsoft.com/office/drawing/2014/main" id="{3FC495BD-370E-6799-40A4-41F8AC85B3CC}"/>
              </a:ext>
            </a:extLst>
          </p:cNvPr>
          <p:cNvSpPr/>
          <p:nvPr/>
        </p:nvSpPr>
        <p:spPr>
          <a:xfrm>
            <a:off x="1110996" y="3421162"/>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Name the most surprising gap, the one you did not expect.</a:t>
            </a:r>
            <a:endParaRPr lang="en-US" sz="1000">
              <a:latin typeface="Open Sans" pitchFamily="2" charset="0"/>
              <a:ea typeface="Open Sans" pitchFamily="2" charset="0"/>
              <a:cs typeface="Open Sans" pitchFamily="2" charset="0"/>
            </a:endParaRPr>
          </a:p>
        </p:txBody>
      </p:sp>
      <p:sp>
        <p:nvSpPr>
          <p:cNvPr id="31" name="Text 7">
            <a:extLst>
              <a:ext uri="{FF2B5EF4-FFF2-40B4-BE49-F238E27FC236}">
                <a16:creationId xmlns:a16="http://schemas.microsoft.com/office/drawing/2014/main" id="{437181A7-468F-E829-29B9-92BF181FB8E3}"/>
              </a:ext>
            </a:extLst>
          </p:cNvPr>
          <p:cNvSpPr/>
          <p:nvPr/>
        </p:nvSpPr>
        <p:spPr>
          <a:xfrm>
            <a:off x="338981" y="1414573"/>
            <a:ext cx="651510" cy="219456"/>
          </a:xfrm>
          <a:prstGeom prst="rect">
            <a:avLst/>
          </a:prstGeom>
          <a:noFill/>
          <a:ln/>
        </p:spPr>
        <p:txBody>
          <a:bodyPr wrap="square" lIns="0" tIns="0" rIns="0" bIns="0" rtlCol="0" anchor="ctr"/>
          <a:lstStyle/>
          <a:p>
            <a:pPr algn="ctr"/>
            <a:endParaRPr lang="en-US" sz="75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7">
            <a:extLst>
              <a:ext uri="{FF2B5EF4-FFF2-40B4-BE49-F238E27FC236}">
                <a16:creationId xmlns:a16="http://schemas.microsoft.com/office/drawing/2014/main" id="{4848B331-D092-7A3F-6A35-31C7A161267C}"/>
              </a:ext>
            </a:extLst>
          </p:cNvPr>
          <p:cNvSpPr/>
          <p:nvPr/>
        </p:nvSpPr>
        <p:spPr>
          <a:xfrm>
            <a:off x="342900" y="1138428"/>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7" name="Text 8">
            <a:extLst>
              <a:ext uri="{FF2B5EF4-FFF2-40B4-BE49-F238E27FC236}">
                <a16:creationId xmlns:a16="http://schemas.microsoft.com/office/drawing/2014/main" id="{6B6CD4AE-6094-3D71-5535-E73E43526F20}"/>
              </a:ext>
            </a:extLst>
          </p:cNvPr>
          <p:cNvSpPr/>
          <p:nvPr/>
        </p:nvSpPr>
        <p:spPr>
          <a:xfrm>
            <a:off x="1110996" y="1110996"/>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Run the gap-audit prompt against a production checklist (validation, secrets, retries, logging, tests, auth).</a:t>
            </a:r>
            <a:endParaRPr lang="en-US" sz="1000">
              <a:latin typeface="Open Sans" pitchFamily="2" charset="0"/>
              <a:ea typeface="Open Sans" pitchFamily="2" charset="0"/>
              <a:cs typeface="Open Sans" pitchFamily="2" charset="0"/>
            </a:endParaRPr>
          </a:p>
        </p:txBody>
      </p:sp>
      <p:sp>
        <p:nvSpPr>
          <p:cNvPr id="35" name="Shape 6">
            <a:extLst>
              <a:ext uri="{FF2B5EF4-FFF2-40B4-BE49-F238E27FC236}">
                <a16:creationId xmlns:a16="http://schemas.microsoft.com/office/drawing/2014/main" id="{C67B103D-886F-6CD8-B3EE-66BCEB9A5C7F}"/>
              </a:ext>
            </a:extLst>
          </p:cNvPr>
          <p:cNvSpPr/>
          <p:nvPr/>
        </p:nvSpPr>
        <p:spPr>
          <a:xfrm>
            <a:off x="338981" y="1193782"/>
            <a:ext cx="651510" cy="219456"/>
          </a:xfrm>
          <a:prstGeom prst="roundRect">
            <a:avLst>
              <a:gd name="adj" fmla="val 15625"/>
            </a:avLst>
          </a:prstGeom>
          <a:solidFill>
            <a:srgbClr val="00B050"/>
          </a:solidFill>
          <a:ln>
            <a:noFill/>
          </a:ln>
        </p:spPr>
        <p:txBody>
          <a:bodyPr/>
          <a:lstStyle/>
          <a:p>
            <a:endParaRPr lang="en-US" sz="135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11">
            <a:extLst>
              <a:ext uri="{FF2B5EF4-FFF2-40B4-BE49-F238E27FC236}">
                <a16:creationId xmlns:a16="http://schemas.microsoft.com/office/drawing/2014/main" id="{27F4228E-3290-3737-95D2-E40DC18459A5}"/>
              </a:ext>
            </a:extLst>
          </p:cNvPr>
          <p:cNvSpPr/>
          <p:nvPr/>
        </p:nvSpPr>
        <p:spPr>
          <a:xfrm>
            <a:off x="1110996" y="1496024"/>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Assume the demo dataset represents production load.</a:t>
            </a:r>
            <a:endParaRPr lang="en-US" sz="1000">
              <a:latin typeface="Open Sans" pitchFamily="2" charset="0"/>
              <a:ea typeface="Open Sans" pitchFamily="2" charset="0"/>
              <a:cs typeface="Open Sans" pitchFamily="2" charset="0"/>
            </a:endParaRPr>
          </a:p>
        </p:txBody>
      </p:sp>
      <p:sp>
        <p:nvSpPr>
          <p:cNvPr id="41" name="Shape 6">
            <a:extLst>
              <a:ext uri="{FF2B5EF4-FFF2-40B4-BE49-F238E27FC236}">
                <a16:creationId xmlns:a16="http://schemas.microsoft.com/office/drawing/2014/main" id="{A4D34CAF-BFCF-1294-2D79-73B0A11A585C}"/>
              </a:ext>
            </a:extLst>
          </p:cNvPr>
          <p:cNvSpPr/>
          <p:nvPr/>
        </p:nvSpPr>
        <p:spPr>
          <a:xfrm>
            <a:off x="338981" y="1578810"/>
            <a:ext cx="651510" cy="219456"/>
          </a:xfrm>
          <a:prstGeom prst="roundRect">
            <a:avLst>
              <a:gd name="adj" fmla="val 15625"/>
            </a:avLst>
          </a:prstGeom>
          <a:solidFill>
            <a:srgbClr val="00B050"/>
          </a:solidFill>
          <a:ln>
            <a:noFill/>
          </a:ln>
        </p:spPr>
        <p:txBody>
          <a:bodyPr/>
          <a:lstStyle/>
          <a:p>
            <a:endParaRPr lang="en-US" sz="135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4">
            <a:extLst>
              <a:ext uri="{FF2B5EF4-FFF2-40B4-BE49-F238E27FC236}">
                <a16:creationId xmlns:a16="http://schemas.microsoft.com/office/drawing/2014/main" id="{B3FA424D-BA69-42C4-6E38-DFB1CF765504}"/>
              </a:ext>
            </a:extLst>
          </p:cNvPr>
          <p:cNvSpPr/>
          <p:nvPr/>
        </p:nvSpPr>
        <p:spPr>
          <a:xfrm>
            <a:off x="1110996" y="1881052"/>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Classify each gap as blocking or deferrable.</a:t>
            </a:r>
            <a:endParaRPr lang="en-US" sz="1000">
              <a:latin typeface="Open Sans" pitchFamily="2" charset="0"/>
              <a:ea typeface="Open Sans" pitchFamily="2" charset="0"/>
              <a:cs typeface="Open Sans" pitchFamily="2" charset="0"/>
            </a:endParaRPr>
          </a:p>
        </p:txBody>
      </p:sp>
      <p:sp>
        <p:nvSpPr>
          <p:cNvPr id="47" name="Shape 6">
            <a:extLst>
              <a:ext uri="{FF2B5EF4-FFF2-40B4-BE49-F238E27FC236}">
                <a16:creationId xmlns:a16="http://schemas.microsoft.com/office/drawing/2014/main" id="{DAD883D7-C596-306E-CDA0-366F17EF4C95}"/>
              </a:ext>
            </a:extLst>
          </p:cNvPr>
          <p:cNvSpPr/>
          <p:nvPr/>
        </p:nvSpPr>
        <p:spPr>
          <a:xfrm>
            <a:off x="338981" y="1963838"/>
            <a:ext cx="651510" cy="219456"/>
          </a:xfrm>
          <a:prstGeom prst="roundRect">
            <a:avLst>
              <a:gd name="adj" fmla="val 15625"/>
            </a:avLst>
          </a:prstGeom>
          <a:solidFill>
            <a:srgbClr val="00B050"/>
          </a:solidFill>
          <a:ln>
            <a:noFill/>
          </a:ln>
        </p:spPr>
        <p:txBody>
          <a:bodyPr/>
          <a:lstStyle/>
          <a:p>
            <a:endParaRPr lang="en-US" sz="135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7">
            <a:extLst>
              <a:ext uri="{FF2B5EF4-FFF2-40B4-BE49-F238E27FC236}">
                <a16:creationId xmlns:a16="http://schemas.microsoft.com/office/drawing/2014/main" id="{EB89EC55-AFAA-4614-8F88-9252835E5C8F}"/>
              </a:ext>
            </a:extLst>
          </p:cNvPr>
          <p:cNvSpPr/>
          <p:nvPr/>
        </p:nvSpPr>
        <p:spPr>
          <a:xfrm>
            <a:off x="1110996" y="2266080"/>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Apply the 10x rule to the blocking gaps and name the total honestly.</a:t>
            </a:r>
            <a:endParaRPr lang="en-US" sz="1000">
              <a:latin typeface="Open Sans" pitchFamily="2" charset="0"/>
              <a:ea typeface="Open Sans" pitchFamily="2" charset="0"/>
              <a:cs typeface="Open Sans" pitchFamily="2" charset="0"/>
            </a:endParaRPr>
          </a:p>
        </p:txBody>
      </p:sp>
      <p:sp>
        <p:nvSpPr>
          <p:cNvPr id="62" name="Shape 6">
            <a:extLst>
              <a:ext uri="{FF2B5EF4-FFF2-40B4-BE49-F238E27FC236}">
                <a16:creationId xmlns:a16="http://schemas.microsoft.com/office/drawing/2014/main" id="{7B952A5E-528E-DEB6-FA80-A850607D4CA6}"/>
              </a:ext>
            </a:extLst>
          </p:cNvPr>
          <p:cNvSpPr/>
          <p:nvPr/>
        </p:nvSpPr>
        <p:spPr>
          <a:xfrm>
            <a:off x="338981" y="2348866"/>
            <a:ext cx="651510" cy="219456"/>
          </a:xfrm>
          <a:prstGeom prst="roundRect">
            <a:avLst>
              <a:gd name="adj" fmla="val 15625"/>
            </a:avLst>
          </a:prstGeom>
          <a:solidFill>
            <a:srgbClr val="00B050"/>
          </a:solidFill>
          <a:ln>
            <a:noFill/>
          </a:ln>
        </p:spPr>
        <p:txBody>
          <a:bodyPr/>
          <a:lstStyle/>
          <a:p>
            <a:endParaRPr lang="en-US" sz="135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0675420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Shape 22">
            <a:extLst>
              <a:ext uri="{FF2B5EF4-FFF2-40B4-BE49-F238E27FC236}">
                <a16:creationId xmlns:a16="http://schemas.microsoft.com/office/drawing/2014/main" id="{F6A35AB7-88C8-E35F-A21F-1F5873968E6A}"/>
              </a:ext>
            </a:extLst>
          </p:cNvPr>
          <p:cNvSpPr/>
          <p:nvPr/>
        </p:nvSpPr>
        <p:spPr>
          <a:xfrm>
            <a:off x="342900" y="3892473"/>
            <a:ext cx="8455914" cy="681392"/>
          </a:xfrm>
          <a:prstGeom prst="roundRect">
            <a:avLst>
              <a:gd name="adj" fmla="val 5161"/>
            </a:avLst>
          </a:prstGeom>
          <a:solidFill>
            <a:srgbClr val="F5F5F5"/>
          </a:solidFill>
          <a:ln>
            <a:noFill/>
          </a:ln>
        </p:spPr>
        <p:txBody>
          <a:bodyPr/>
          <a:lstStyle/>
          <a:p>
            <a:endParaRPr lang="en-US">
              <a:latin typeface="Open Sans" pitchFamily="2" charset="0"/>
              <a:ea typeface="Open Sans" pitchFamily="2" charset="0"/>
              <a:cs typeface="Open Sans" pitchFamily="2" charset="0"/>
            </a:endParaRPr>
          </a:p>
        </p:txBody>
      </p:sp>
      <p:sp>
        <p:nvSpPr>
          <p:cNvPr id="63" name="Shape 6">
            <a:extLst>
              <a:ext uri="{FF2B5EF4-FFF2-40B4-BE49-F238E27FC236}">
                <a16:creationId xmlns:a16="http://schemas.microsoft.com/office/drawing/2014/main" id="{3A02EB81-5FAD-9235-D169-B59506242ACA}"/>
              </a:ext>
            </a:extLst>
          </p:cNvPr>
          <p:cNvSpPr/>
          <p:nvPr/>
        </p:nvSpPr>
        <p:spPr>
          <a:xfrm>
            <a:off x="338981" y="3119743"/>
            <a:ext cx="651510" cy="219456"/>
          </a:xfrm>
          <a:prstGeom prst="roundRect">
            <a:avLst>
              <a:gd name="adj" fmla="val 15625"/>
            </a:avLst>
          </a:prstGeom>
          <a:solidFill>
            <a:schemeClr val="accent3"/>
          </a:solidFill>
          <a:ln>
            <a:noFill/>
          </a:ln>
        </p:spPr>
        <p:txBody>
          <a:bodyPr/>
          <a:lstStyle/>
          <a:p>
            <a:endParaRPr lang="en-US" sz="1350">
              <a:latin typeface="Open Sans" pitchFamily="2" charset="0"/>
              <a:ea typeface="Open Sans" pitchFamily="2" charset="0"/>
              <a:cs typeface="Open Sans" pitchFamily="2" charset="0"/>
            </a:endParaRPr>
          </a:p>
        </p:txBody>
      </p:sp>
      <p:sp>
        <p:nvSpPr>
          <p:cNvPr id="64" name="Text 7">
            <a:extLst>
              <a:ext uri="{FF2B5EF4-FFF2-40B4-BE49-F238E27FC236}">
                <a16:creationId xmlns:a16="http://schemas.microsoft.com/office/drawing/2014/main" id="{28336BAF-BF11-6AE2-09CF-0DE22F61F2E1}"/>
              </a:ext>
            </a:extLst>
          </p:cNvPr>
          <p:cNvSpPr/>
          <p:nvPr/>
        </p:nvSpPr>
        <p:spPr>
          <a:xfrm>
            <a:off x="338981" y="3119743"/>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WRONG</a:t>
            </a:r>
            <a:endParaRPr lang="en-US" sz="750">
              <a:latin typeface="Open Sans" pitchFamily="2" charset="0"/>
              <a:ea typeface="Open Sans" pitchFamily="2" charset="0"/>
              <a:cs typeface="Open Sans" pitchFamily="2" charset="0"/>
            </a:endParaRPr>
          </a:p>
        </p:txBody>
      </p:sp>
      <p:sp>
        <p:nvSpPr>
          <p:cNvPr id="65" name="Text 19">
            <a:extLst>
              <a:ext uri="{FF2B5EF4-FFF2-40B4-BE49-F238E27FC236}">
                <a16:creationId xmlns:a16="http://schemas.microsoft.com/office/drawing/2014/main" id="{F107E404-918A-283A-9BFF-CF53410A1FB2}"/>
              </a:ext>
            </a:extLst>
          </p:cNvPr>
          <p:cNvSpPr/>
          <p:nvPr/>
        </p:nvSpPr>
        <p:spPr>
          <a:xfrm>
            <a:off x="342900" y="3059539"/>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61" name="Shape 6">
            <a:extLst>
              <a:ext uri="{FF2B5EF4-FFF2-40B4-BE49-F238E27FC236}">
                <a16:creationId xmlns:a16="http://schemas.microsoft.com/office/drawing/2014/main" id="{830D81EB-9CDE-CC42-4719-FDC905A9A49D}"/>
              </a:ext>
            </a:extLst>
          </p:cNvPr>
          <p:cNvSpPr/>
          <p:nvPr/>
        </p:nvSpPr>
        <p:spPr>
          <a:xfrm>
            <a:off x="338981" y="2738743"/>
            <a:ext cx="651510" cy="219456"/>
          </a:xfrm>
          <a:prstGeom prst="roundRect">
            <a:avLst>
              <a:gd name="adj" fmla="val 15625"/>
            </a:avLst>
          </a:prstGeom>
          <a:solidFill>
            <a:schemeClr val="accent3"/>
          </a:solidFill>
          <a:ln>
            <a:noFill/>
          </a:ln>
        </p:spPr>
        <p:txBody>
          <a:bodyPr/>
          <a:lstStyle/>
          <a:p>
            <a:endParaRPr lang="en-US" sz="1350">
              <a:latin typeface="Open Sans" pitchFamily="2" charset="0"/>
              <a:ea typeface="Open Sans" pitchFamily="2" charset="0"/>
              <a:cs typeface="Open Sans" pitchFamily="2" charset="0"/>
            </a:endParaRPr>
          </a:p>
        </p:txBody>
      </p:sp>
      <p:sp>
        <p:nvSpPr>
          <p:cNvPr id="62" name="Text 7">
            <a:extLst>
              <a:ext uri="{FF2B5EF4-FFF2-40B4-BE49-F238E27FC236}">
                <a16:creationId xmlns:a16="http://schemas.microsoft.com/office/drawing/2014/main" id="{E1A49566-86AD-357B-8043-6518068E3CCA}"/>
              </a:ext>
            </a:extLst>
          </p:cNvPr>
          <p:cNvSpPr/>
          <p:nvPr/>
        </p:nvSpPr>
        <p:spPr>
          <a:xfrm>
            <a:off x="338981" y="2738743"/>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WRONG</a:t>
            </a:r>
            <a:endParaRPr lang="en-US" sz="750">
              <a:latin typeface="Open Sans" pitchFamily="2" charset="0"/>
              <a:ea typeface="Open Sans" pitchFamily="2" charset="0"/>
              <a:cs typeface="Open Sans" pitchFamily="2" charset="0"/>
            </a:endParaRPr>
          </a:p>
        </p:txBody>
      </p:sp>
      <p:sp>
        <p:nvSpPr>
          <p:cNvPr id="29" name="Text 28">
            <a:extLst>
              <a:ext uri="{FF2B5EF4-FFF2-40B4-BE49-F238E27FC236}">
                <a16:creationId xmlns:a16="http://schemas.microsoft.com/office/drawing/2014/main" id="{0EDFCA1C-86B2-67E0-47F7-38C08136D3BC}"/>
              </a:ext>
            </a:extLst>
          </p:cNvPr>
          <p:cNvSpPr/>
          <p:nvPr/>
        </p:nvSpPr>
        <p:spPr>
          <a:xfrm>
            <a:off x="534924" y="4010321"/>
            <a:ext cx="5486400" cy="205740"/>
          </a:xfrm>
          <a:prstGeom prst="rect">
            <a:avLst/>
          </a:prstGeom>
          <a:noFill/>
          <a:ln/>
        </p:spPr>
        <p:txBody>
          <a:bodyPr wrap="square" lIns="0" tIns="0" rIns="0" bIns="0" rtlCol="0" anchor="ctr"/>
          <a:lstStyle/>
          <a:p>
            <a:r>
              <a:rPr lang="en-US" sz="1050" b="1" kern="0" spc="113">
                <a:solidFill>
                  <a:schemeClr val="accent1"/>
                </a:solidFill>
                <a:latin typeface="Open Sans" pitchFamily="2" charset="0"/>
                <a:ea typeface="Open Sans" pitchFamily="2" charset="0"/>
                <a:cs typeface="Open Sans" pitchFamily="2" charset="0"/>
              </a:rPr>
              <a:t>THROUGH THE LENS</a:t>
            </a:r>
            <a:endParaRPr lang="en-US" sz="1050">
              <a:solidFill>
                <a:schemeClr val="accent1"/>
              </a:solidFill>
              <a:latin typeface="Open Sans" pitchFamily="2" charset="0"/>
              <a:ea typeface="Open Sans" pitchFamily="2" charset="0"/>
              <a:cs typeface="Open Sans" pitchFamily="2" charset="0"/>
            </a:endParaRPr>
          </a:p>
        </p:txBody>
      </p:sp>
      <p:sp>
        <p:nvSpPr>
          <p:cNvPr id="31" name="Text 31">
            <a:extLst>
              <a:ext uri="{FF2B5EF4-FFF2-40B4-BE49-F238E27FC236}">
                <a16:creationId xmlns:a16="http://schemas.microsoft.com/office/drawing/2014/main" id="{DDF63DA2-FDE2-4134-7D17-6B540F0BCD5F}"/>
              </a:ext>
            </a:extLst>
          </p:cNvPr>
          <p:cNvSpPr/>
          <p:nvPr/>
        </p:nvSpPr>
        <p:spPr>
          <a:xfrm>
            <a:off x="534924" y="4054519"/>
            <a:ext cx="7296743" cy="651510"/>
          </a:xfrm>
          <a:prstGeom prst="rect">
            <a:avLst/>
          </a:prstGeom>
          <a:noFill/>
          <a:ln/>
        </p:spPr>
        <p:txBody>
          <a:bodyPr wrap="square" lIns="0" tIns="0" rIns="0" bIns="0" rtlCol="0" anchor="ctr"/>
          <a:lstStyle/>
          <a:p>
            <a:r>
              <a:rPr lang="en-US" sz="1050">
                <a:solidFill>
                  <a:schemeClr val="tx2"/>
                </a:solidFill>
                <a:latin typeface="Open Sans" pitchFamily="2" charset="0"/>
                <a:ea typeface="Open Sans" pitchFamily="2" charset="0"/>
                <a:cs typeface="Open Sans" pitchFamily="2" charset="0"/>
              </a:rPr>
              <a:t>Audit against a checklist, classify, estimate with the 10x rule, and never mistake a sympathetic demo for production. </a:t>
            </a:r>
          </a:p>
        </p:txBody>
      </p:sp>
      <p:sp>
        <p:nvSpPr>
          <p:cNvPr id="34" name="Text 5">
            <a:extLst>
              <a:ext uri="{FF2B5EF4-FFF2-40B4-BE49-F238E27FC236}">
                <a16:creationId xmlns:a16="http://schemas.microsoft.com/office/drawing/2014/main" id="{542A1BDE-F045-DC3B-0AF8-E3BAE0A0F04A}"/>
              </a:ext>
            </a:extLst>
          </p:cNvPr>
          <p:cNvSpPr/>
          <p:nvPr/>
        </p:nvSpPr>
        <p:spPr>
          <a:xfrm>
            <a:off x="342900" y="682437"/>
            <a:ext cx="8455914" cy="281046"/>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Running a production-gap audit on a returns-automation PoC. Mark each step Right or Wrong.</a:t>
            </a:r>
            <a:endParaRPr lang="en-US" sz="1400">
              <a:latin typeface="Open Sans" pitchFamily="2" charset="0"/>
              <a:ea typeface="Open Sans" pitchFamily="2" charset="0"/>
              <a:cs typeface="Open Sans" pitchFamily="2" charset="0"/>
            </a:endParaRPr>
          </a:p>
        </p:txBody>
      </p:sp>
      <p:sp>
        <p:nvSpPr>
          <p:cNvPr id="39" name="Text 10">
            <a:extLst>
              <a:ext uri="{FF2B5EF4-FFF2-40B4-BE49-F238E27FC236}">
                <a16:creationId xmlns:a16="http://schemas.microsoft.com/office/drawing/2014/main" id="{516F2253-98A4-AF52-BF7B-9666D9234D14}"/>
              </a:ext>
            </a:extLst>
          </p:cNvPr>
          <p:cNvSpPr/>
          <p:nvPr/>
        </p:nvSpPr>
        <p:spPr>
          <a:xfrm>
            <a:off x="342900" y="152345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40" name="Text 13">
            <a:extLst>
              <a:ext uri="{FF2B5EF4-FFF2-40B4-BE49-F238E27FC236}">
                <a16:creationId xmlns:a16="http://schemas.microsoft.com/office/drawing/2014/main" id="{BC3DEF8B-25B0-6622-129C-46FBCA78AA58}"/>
              </a:ext>
            </a:extLst>
          </p:cNvPr>
          <p:cNvSpPr/>
          <p:nvPr/>
        </p:nvSpPr>
        <p:spPr>
          <a:xfrm>
            <a:off x="342900" y="1908484"/>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41" name="Text 16">
            <a:extLst>
              <a:ext uri="{FF2B5EF4-FFF2-40B4-BE49-F238E27FC236}">
                <a16:creationId xmlns:a16="http://schemas.microsoft.com/office/drawing/2014/main" id="{653EE710-93BE-0A96-FB92-BA41D3522BD7}"/>
              </a:ext>
            </a:extLst>
          </p:cNvPr>
          <p:cNvSpPr/>
          <p:nvPr/>
        </p:nvSpPr>
        <p:spPr>
          <a:xfrm>
            <a:off x="342900" y="2293511"/>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42" name="Text 19">
            <a:extLst>
              <a:ext uri="{FF2B5EF4-FFF2-40B4-BE49-F238E27FC236}">
                <a16:creationId xmlns:a16="http://schemas.microsoft.com/office/drawing/2014/main" id="{EF0CD714-0C5E-98CD-51AB-BDE8EB0C2FDD}"/>
              </a:ext>
            </a:extLst>
          </p:cNvPr>
          <p:cNvSpPr/>
          <p:nvPr/>
        </p:nvSpPr>
        <p:spPr>
          <a:xfrm>
            <a:off x="342900" y="2678539"/>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45" name="Text 22">
            <a:extLst>
              <a:ext uri="{FF2B5EF4-FFF2-40B4-BE49-F238E27FC236}">
                <a16:creationId xmlns:a16="http://schemas.microsoft.com/office/drawing/2014/main" id="{263A1B1E-4FA5-B187-5F60-8EC10FBD89E9}"/>
              </a:ext>
            </a:extLst>
          </p:cNvPr>
          <p:cNvSpPr/>
          <p:nvPr/>
        </p:nvSpPr>
        <p:spPr>
          <a:xfrm>
            <a:off x="342900" y="306356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48" name="Text 25">
            <a:extLst>
              <a:ext uri="{FF2B5EF4-FFF2-40B4-BE49-F238E27FC236}">
                <a16:creationId xmlns:a16="http://schemas.microsoft.com/office/drawing/2014/main" id="{C00A47AB-25A2-39B1-2E6C-EBCE5F470856}"/>
              </a:ext>
            </a:extLst>
          </p:cNvPr>
          <p:cNvSpPr/>
          <p:nvPr/>
        </p:nvSpPr>
        <p:spPr>
          <a:xfrm>
            <a:off x="342900" y="3448595"/>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49" name="Shape 6">
            <a:extLst>
              <a:ext uri="{FF2B5EF4-FFF2-40B4-BE49-F238E27FC236}">
                <a16:creationId xmlns:a16="http://schemas.microsoft.com/office/drawing/2014/main" id="{7498DC0A-636B-7E33-8824-42F1AA48924E}"/>
              </a:ext>
            </a:extLst>
          </p:cNvPr>
          <p:cNvSpPr/>
          <p:nvPr/>
        </p:nvSpPr>
        <p:spPr>
          <a:xfrm>
            <a:off x="338981" y="3503948"/>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50" name="Text 7">
            <a:extLst>
              <a:ext uri="{FF2B5EF4-FFF2-40B4-BE49-F238E27FC236}">
                <a16:creationId xmlns:a16="http://schemas.microsoft.com/office/drawing/2014/main" id="{7848EA16-83D0-A846-D8FF-5D08DF6FC183}"/>
              </a:ext>
            </a:extLst>
          </p:cNvPr>
          <p:cNvSpPr/>
          <p:nvPr/>
        </p:nvSpPr>
        <p:spPr>
          <a:xfrm>
            <a:off x="338981" y="3503948"/>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51" name="Text 7">
            <a:extLst>
              <a:ext uri="{FF2B5EF4-FFF2-40B4-BE49-F238E27FC236}">
                <a16:creationId xmlns:a16="http://schemas.microsoft.com/office/drawing/2014/main" id="{A3351B83-3334-EA25-2745-9280E3DE4AFF}"/>
              </a:ext>
            </a:extLst>
          </p:cNvPr>
          <p:cNvSpPr/>
          <p:nvPr/>
        </p:nvSpPr>
        <p:spPr>
          <a:xfrm>
            <a:off x="338981" y="1414573"/>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52" name="Text 7">
            <a:extLst>
              <a:ext uri="{FF2B5EF4-FFF2-40B4-BE49-F238E27FC236}">
                <a16:creationId xmlns:a16="http://schemas.microsoft.com/office/drawing/2014/main" id="{B959731C-8B9B-F32E-1DC3-C4FB15902302}"/>
              </a:ext>
            </a:extLst>
          </p:cNvPr>
          <p:cNvSpPr/>
          <p:nvPr/>
        </p:nvSpPr>
        <p:spPr>
          <a:xfrm>
            <a:off x="342900" y="1138428"/>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53" name="Shape 6">
            <a:extLst>
              <a:ext uri="{FF2B5EF4-FFF2-40B4-BE49-F238E27FC236}">
                <a16:creationId xmlns:a16="http://schemas.microsoft.com/office/drawing/2014/main" id="{A2B6B4FF-D6A5-DC0B-719A-26A3B9D7F49F}"/>
              </a:ext>
            </a:extLst>
          </p:cNvPr>
          <p:cNvSpPr/>
          <p:nvPr/>
        </p:nvSpPr>
        <p:spPr>
          <a:xfrm>
            <a:off x="338981" y="1193782"/>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54" name="Text 7">
            <a:extLst>
              <a:ext uri="{FF2B5EF4-FFF2-40B4-BE49-F238E27FC236}">
                <a16:creationId xmlns:a16="http://schemas.microsoft.com/office/drawing/2014/main" id="{0036B1C4-57EB-837B-7664-2215A42CC429}"/>
              </a:ext>
            </a:extLst>
          </p:cNvPr>
          <p:cNvSpPr/>
          <p:nvPr/>
        </p:nvSpPr>
        <p:spPr>
          <a:xfrm>
            <a:off x="338981" y="1193782"/>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55" name="Shape 6">
            <a:extLst>
              <a:ext uri="{FF2B5EF4-FFF2-40B4-BE49-F238E27FC236}">
                <a16:creationId xmlns:a16="http://schemas.microsoft.com/office/drawing/2014/main" id="{68EDBA34-A194-AEAB-98DE-BEAA281F969B}"/>
              </a:ext>
            </a:extLst>
          </p:cNvPr>
          <p:cNvSpPr/>
          <p:nvPr/>
        </p:nvSpPr>
        <p:spPr>
          <a:xfrm>
            <a:off x="338981" y="1578810"/>
            <a:ext cx="651510" cy="219456"/>
          </a:xfrm>
          <a:prstGeom prst="roundRect">
            <a:avLst>
              <a:gd name="adj" fmla="val 15625"/>
            </a:avLst>
          </a:prstGeom>
          <a:solidFill>
            <a:schemeClr val="accent3"/>
          </a:solidFill>
          <a:ln>
            <a:noFill/>
          </a:ln>
        </p:spPr>
        <p:txBody>
          <a:bodyPr/>
          <a:lstStyle/>
          <a:p>
            <a:endParaRPr lang="en-US" sz="1350">
              <a:latin typeface="Open Sans" pitchFamily="2" charset="0"/>
              <a:ea typeface="Open Sans" pitchFamily="2" charset="0"/>
              <a:cs typeface="Open Sans" pitchFamily="2" charset="0"/>
            </a:endParaRPr>
          </a:p>
        </p:txBody>
      </p:sp>
      <p:sp>
        <p:nvSpPr>
          <p:cNvPr id="56" name="Text 7">
            <a:extLst>
              <a:ext uri="{FF2B5EF4-FFF2-40B4-BE49-F238E27FC236}">
                <a16:creationId xmlns:a16="http://schemas.microsoft.com/office/drawing/2014/main" id="{6052A8F6-5C72-8A82-0162-407E79878D8D}"/>
              </a:ext>
            </a:extLst>
          </p:cNvPr>
          <p:cNvSpPr/>
          <p:nvPr/>
        </p:nvSpPr>
        <p:spPr>
          <a:xfrm>
            <a:off x="338981" y="1578810"/>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WRONG</a:t>
            </a:r>
            <a:endParaRPr lang="en-US" sz="750">
              <a:latin typeface="Open Sans" pitchFamily="2" charset="0"/>
              <a:ea typeface="Open Sans" pitchFamily="2" charset="0"/>
              <a:cs typeface="Open Sans" pitchFamily="2" charset="0"/>
            </a:endParaRPr>
          </a:p>
        </p:txBody>
      </p:sp>
      <p:sp>
        <p:nvSpPr>
          <p:cNvPr id="57" name="Shape 6">
            <a:extLst>
              <a:ext uri="{FF2B5EF4-FFF2-40B4-BE49-F238E27FC236}">
                <a16:creationId xmlns:a16="http://schemas.microsoft.com/office/drawing/2014/main" id="{68EB586B-77BF-F306-2857-0EAA23205314}"/>
              </a:ext>
            </a:extLst>
          </p:cNvPr>
          <p:cNvSpPr/>
          <p:nvPr/>
        </p:nvSpPr>
        <p:spPr>
          <a:xfrm>
            <a:off x="338981" y="1963838"/>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58" name="Text 7">
            <a:extLst>
              <a:ext uri="{FF2B5EF4-FFF2-40B4-BE49-F238E27FC236}">
                <a16:creationId xmlns:a16="http://schemas.microsoft.com/office/drawing/2014/main" id="{90B8364F-82B8-0434-E1B4-A3FDB99F9B9B}"/>
              </a:ext>
            </a:extLst>
          </p:cNvPr>
          <p:cNvSpPr/>
          <p:nvPr/>
        </p:nvSpPr>
        <p:spPr>
          <a:xfrm>
            <a:off x="338981" y="1963838"/>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59" name="Shape 6">
            <a:extLst>
              <a:ext uri="{FF2B5EF4-FFF2-40B4-BE49-F238E27FC236}">
                <a16:creationId xmlns:a16="http://schemas.microsoft.com/office/drawing/2014/main" id="{6CC9202D-0E7B-3975-06EC-D1460B2819B0}"/>
              </a:ext>
            </a:extLst>
          </p:cNvPr>
          <p:cNvSpPr/>
          <p:nvPr/>
        </p:nvSpPr>
        <p:spPr>
          <a:xfrm>
            <a:off x="338981" y="2348866"/>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60" name="Text 7">
            <a:extLst>
              <a:ext uri="{FF2B5EF4-FFF2-40B4-BE49-F238E27FC236}">
                <a16:creationId xmlns:a16="http://schemas.microsoft.com/office/drawing/2014/main" id="{519CB6E6-49E4-9EFF-FAFF-8E27BB9CEE65}"/>
              </a:ext>
            </a:extLst>
          </p:cNvPr>
          <p:cNvSpPr/>
          <p:nvPr/>
        </p:nvSpPr>
        <p:spPr>
          <a:xfrm>
            <a:off x="338981" y="2348866"/>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66" name="Text 20">
            <a:extLst>
              <a:ext uri="{FF2B5EF4-FFF2-40B4-BE49-F238E27FC236}">
                <a16:creationId xmlns:a16="http://schemas.microsoft.com/office/drawing/2014/main" id="{97D178DF-3BA9-6543-A3DE-C89BF96437AB}"/>
              </a:ext>
            </a:extLst>
          </p:cNvPr>
          <p:cNvSpPr/>
          <p:nvPr/>
        </p:nvSpPr>
        <p:spPr>
          <a:xfrm>
            <a:off x="1110996" y="2651108"/>
            <a:ext cx="7680960" cy="385028"/>
          </a:xfrm>
          <a:prstGeom prst="rect">
            <a:avLst/>
          </a:prstGeom>
          <a:noFill/>
          <a:ln/>
        </p:spPr>
        <p:txBody>
          <a:bodyPr wrap="square" lIns="0" tIns="0" rIns="0" bIns="0" rtlCol="0" anchor="ctr"/>
          <a:lstStyle/>
          <a:p>
            <a:r>
              <a:rPr lang="en-US" sz="1000" b="1">
                <a:solidFill>
                  <a:schemeClr val="tx2"/>
                </a:solidFill>
                <a:latin typeface="Open Sans" pitchFamily="2" charset="0"/>
                <a:ea typeface="Open Sans" pitchFamily="2" charset="0"/>
                <a:cs typeface="Open Sans" pitchFamily="2" charset="0"/>
              </a:rPr>
              <a:t>Greenlight because it runs on the sample CSV.</a:t>
            </a:r>
            <a:endParaRPr lang="en-US" sz="1000">
              <a:solidFill>
                <a:schemeClr val="tx2"/>
              </a:solidFill>
              <a:latin typeface="Open Sans" pitchFamily="2" charset="0"/>
              <a:ea typeface="Open Sans" pitchFamily="2" charset="0"/>
              <a:cs typeface="Open Sans" pitchFamily="2" charset="0"/>
            </a:endParaRPr>
          </a:p>
        </p:txBody>
      </p:sp>
      <p:sp>
        <p:nvSpPr>
          <p:cNvPr id="67" name="Text 23">
            <a:extLst>
              <a:ext uri="{FF2B5EF4-FFF2-40B4-BE49-F238E27FC236}">
                <a16:creationId xmlns:a16="http://schemas.microsoft.com/office/drawing/2014/main" id="{8E1CEFB2-807F-E238-D2FA-32D86625AF7F}"/>
              </a:ext>
            </a:extLst>
          </p:cNvPr>
          <p:cNvSpPr/>
          <p:nvPr/>
        </p:nvSpPr>
        <p:spPr>
          <a:xfrm>
            <a:off x="1110996" y="3036136"/>
            <a:ext cx="7680960" cy="385028"/>
          </a:xfrm>
          <a:prstGeom prst="rect">
            <a:avLst/>
          </a:prstGeom>
          <a:noFill/>
          <a:ln/>
        </p:spPr>
        <p:txBody>
          <a:bodyPr wrap="square" lIns="0" tIns="0" rIns="0" bIns="0" rtlCol="0" anchor="ctr"/>
          <a:lstStyle/>
          <a:p>
            <a:r>
              <a:rPr lang="en-US" sz="1000" b="1">
                <a:solidFill>
                  <a:schemeClr val="tx2"/>
                </a:solidFill>
                <a:latin typeface="Open Sans" pitchFamily="2" charset="0"/>
                <a:ea typeface="Open Sans" pitchFamily="2" charset="0"/>
                <a:cs typeface="Open Sans" pitchFamily="2" charset="0"/>
              </a:rPr>
              <a:t>Hardcode the production credentials to ship faster.</a:t>
            </a:r>
            <a:endParaRPr lang="en-US" sz="1000">
              <a:solidFill>
                <a:schemeClr val="tx2"/>
              </a:solidFill>
              <a:latin typeface="Open Sans" pitchFamily="2" charset="0"/>
              <a:ea typeface="Open Sans" pitchFamily="2" charset="0"/>
              <a:cs typeface="Open Sans" pitchFamily="2" charset="0"/>
            </a:endParaRPr>
          </a:p>
        </p:txBody>
      </p:sp>
      <p:sp>
        <p:nvSpPr>
          <p:cNvPr id="68" name="Text 26">
            <a:extLst>
              <a:ext uri="{FF2B5EF4-FFF2-40B4-BE49-F238E27FC236}">
                <a16:creationId xmlns:a16="http://schemas.microsoft.com/office/drawing/2014/main" id="{18DA3C8D-944B-EDE5-DFB9-38F4FF3CD124}"/>
              </a:ext>
            </a:extLst>
          </p:cNvPr>
          <p:cNvSpPr/>
          <p:nvPr/>
        </p:nvSpPr>
        <p:spPr>
          <a:xfrm>
            <a:off x="1110996" y="3421162"/>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Name the most surprising gap, the one you did not expect.</a:t>
            </a:r>
            <a:endParaRPr lang="en-US" sz="1000">
              <a:latin typeface="Open Sans" pitchFamily="2" charset="0"/>
              <a:ea typeface="Open Sans" pitchFamily="2" charset="0"/>
              <a:cs typeface="Open Sans" pitchFamily="2" charset="0"/>
            </a:endParaRPr>
          </a:p>
        </p:txBody>
      </p:sp>
      <p:sp>
        <p:nvSpPr>
          <p:cNvPr id="69" name="Text 8">
            <a:extLst>
              <a:ext uri="{FF2B5EF4-FFF2-40B4-BE49-F238E27FC236}">
                <a16:creationId xmlns:a16="http://schemas.microsoft.com/office/drawing/2014/main" id="{D72E059A-C9F3-D07E-E7C2-562A98E9F877}"/>
              </a:ext>
            </a:extLst>
          </p:cNvPr>
          <p:cNvSpPr/>
          <p:nvPr/>
        </p:nvSpPr>
        <p:spPr>
          <a:xfrm>
            <a:off x="1110996" y="1110996"/>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Run the gap-audit prompt against a production checklist (validation, secrets, retries, logging, tests, auth).</a:t>
            </a:r>
            <a:endParaRPr lang="en-US" sz="1000">
              <a:latin typeface="Open Sans" pitchFamily="2" charset="0"/>
              <a:ea typeface="Open Sans" pitchFamily="2" charset="0"/>
              <a:cs typeface="Open Sans" pitchFamily="2" charset="0"/>
            </a:endParaRPr>
          </a:p>
        </p:txBody>
      </p:sp>
      <p:sp>
        <p:nvSpPr>
          <p:cNvPr id="70" name="Text 11">
            <a:extLst>
              <a:ext uri="{FF2B5EF4-FFF2-40B4-BE49-F238E27FC236}">
                <a16:creationId xmlns:a16="http://schemas.microsoft.com/office/drawing/2014/main" id="{56536E5D-E690-D783-E91E-2A53FA5A1C64}"/>
              </a:ext>
            </a:extLst>
          </p:cNvPr>
          <p:cNvSpPr/>
          <p:nvPr/>
        </p:nvSpPr>
        <p:spPr>
          <a:xfrm>
            <a:off x="1110996" y="1496024"/>
            <a:ext cx="7680960" cy="385028"/>
          </a:xfrm>
          <a:prstGeom prst="rect">
            <a:avLst/>
          </a:prstGeom>
          <a:noFill/>
          <a:ln/>
        </p:spPr>
        <p:txBody>
          <a:bodyPr wrap="square" lIns="0" tIns="0" rIns="0" bIns="0" rtlCol="0" anchor="ctr"/>
          <a:lstStyle/>
          <a:p>
            <a:r>
              <a:rPr lang="en-US" sz="1000" b="1">
                <a:solidFill>
                  <a:schemeClr val="tx2"/>
                </a:solidFill>
                <a:latin typeface="Open Sans" pitchFamily="2" charset="0"/>
                <a:ea typeface="Open Sans" pitchFamily="2" charset="0"/>
                <a:cs typeface="Open Sans" pitchFamily="2" charset="0"/>
              </a:rPr>
              <a:t>Assume the demo dataset represents production load.</a:t>
            </a:r>
            <a:endParaRPr lang="en-US" sz="1000">
              <a:solidFill>
                <a:schemeClr val="tx2"/>
              </a:solidFill>
              <a:latin typeface="Open Sans" pitchFamily="2" charset="0"/>
              <a:ea typeface="Open Sans" pitchFamily="2" charset="0"/>
              <a:cs typeface="Open Sans" pitchFamily="2" charset="0"/>
            </a:endParaRPr>
          </a:p>
        </p:txBody>
      </p:sp>
      <p:sp>
        <p:nvSpPr>
          <p:cNvPr id="71" name="Text 14">
            <a:extLst>
              <a:ext uri="{FF2B5EF4-FFF2-40B4-BE49-F238E27FC236}">
                <a16:creationId xmlns:a16="http://schemas.microsoft.com/office/drawing/2014/main" id="{6DF34829-F3D2-540C-94AF-D09EBD35C157}"/>
              </a:ext>
            </a:extLst>
          </p:cNvPr>
          <p:cNvSpPr/>
          <p:nvPr/>
        </p:nvSpPr>
        <p:spPr>
          <a:xfrm>
            <a:off x="1110996" y="1881052"/>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Classify each gap as blocking or deferrable.</a:t>
            </a:r>
            <a:endParaRPr lang="en-US" sz="1000">
              <a:latin typeface="Open Sans" pitchFamily="2" charset="0"/>
              <a:ea typeface="Open Sans" pitchFamily="2" charset="0"/>
              <a:cs typeface="Open Sans" pitchFamily="2" charset="0"/>
            </a:endParaRPr>
          </a:p>
        </p:txBody>
      </p:sp>
      <p:sp>
        <p:nvSpPr>
          <p:cNvPr id="72" name="Text 17">
            <a:extLst>
              <a:ext uri="{FF2B5EF4-FFF2-40B4-BE49-F238E27FC236}">
                <a16:creationId xmlns:a16="http://schemas.microsoft.com/office/drawing/2014/main" id="{7AAB916E-5A7D-3044-2059-13A15B5E520F}"/>
              </a:ext>
            </a:extLst>
          </p:cNvPr>
          <p:cNvSpPr/>
          <p:nvPr/>
        </p:nvSpPr>
        <p:spPr>
          <a:xfrm>
            <a:off x="1110996" y="2266080"/>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Apply the 10x rule to the blocking gaps and name the total honestly.</a:t>
            </a:r>
            <a:endParaRPr lang="en-US" sz="100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4817376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5">
            <a:extLst>
              <a:ext uri="{FF2B5EF4-FFF2-40B4-BE49-F238E27FC236}">
                <a16:creationId xmlns:a16="http://schemas.microsoft.com/office/drawing/2014/main" id="{F049E364-A78E-C222-563E-0570DA99C851}"/>
              </a:ext>
            </a:extLst>
          </p:cNvPr>
          <p:cNvSpPr/>
          <p:nvPr/>
        </p:nvSpPr>
        <p:spPr>
          <a:xfrm>
            <a:off x="342900" y="617220"/>
            <a:ext cx="8455914" cy="411480"/>
          </a:xfrm>
          <a:prstGeom prst="rect">
            <a:avLst/>
          </a:prstGeom>
          <a:noFill/>
          <a:ln/>
        </p:spPr>
        <p:txBody>
          <a:bodyPr wrap="square" lIns="0" tIns="0" rIns="0" bIns="0" rtlCol="0" anchor="t"/>
          <a:lstStyle/>
          <a:p>
            <a:r>
              <a:rPr lang="en-US" sz="1400" b="1" dirty="0">
                <a:latin typeface="Open Sans" pitchFamily="2" charset="0"/>
                <a:ea typeface="Open Sans" pitchFamily="2" charset="0"/>
                <a:cs typeface="Open Sans" pitchFamily="2" charset="0"/>
              </a:rPr>
              <a:t>A risk assessment and responsible handoff for a PoC that touches customer data. Mark each step Right or Wrong.</a:t>
            </a:r>
            <a:endParaRPr lang="en-US" sz="1400" dirty="0">
              <a:latin typeface="Open Sans" pitchFamily="2" charset="0"/>
              <a:ea typeface="Open Sans" pitchFamily="2" charset="0"/>
              <a:cs typeface="Open Sans" pitchFamily="2" charset="0"/>
            </a:endParaRPr>
          </a:p>
        </p:txBody>
      </p:sp>
      <p:sp>
        <p:nvSpPr>
          <p:cNvPr id="9" name="Text 8">
            <a:extLst>
              <a:ext uri="{FF2B5EF4-FFF2-40B4-BE49-F238E27FC236}">
                <a16:creationId xmlns:a16="http://schemas.microsoft.com/office/drawing/2014/main" id="{F8D700CD-C683-0810-9E2B-07041DDEA3DC}"/>
              </a:ext>
            </a:extLst>
          </p:cNvPr>
          <p:cNvSpPr/>
          <p:nvPr/>
        </p:nvSpPr>
        <p:spPr>
          <a:xfrm>
            <a:off x="1110996" y="1110996"/>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Run the risk-review prompt for privacy, security, and governance.</a:t>
            </a:r>
            <a:endParaRPr lang="en-US" sz="1000">
              <a:latin typeface="Open Sans" pitchFamily="2" charset="0"/>
              <a:ea typeface="Open Sans" pitchFamily="2" charset="0"/>
              <a:cs typeface="Open Sans" pitchFamily="2" charset="0"/>
            </a:endParaRPr>
          </a:p>
        </p:txBody>
      </p:sp>
      <p:sp>
        <p:nvSpPr>
          <p:cNvPr id="10" name="Text 11">
            <a:extLst>
              <a:ext uri="{FF2B5EF4-FFF2-40B4-BE49-F238E27FC236}">
                <a16:creationId xmlns:a16="http://schemas.microsoft.com/office/drawing/2014/main" id="{E9282CC4-A389-168F-7AE5-9986D072D518}"/>
              </a:ext>
            </a:extLst>
          </p:cNvPr>
          <p:cNvSpPr/>
          <p:nvPr/>
        </p:nvSpPr>
        <p:spPr>
          <a:xfrm>
            <a:off x="1110996" y="1496023"/>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Paste real customer records to test the risk review.</a:t>
            </a:r>
            <a:endParaRPr lang="en-US" sz="1000">
              <a:latin typeface="Open Sans" pitchFamily="2" charset="0"/>
              <a:ea typeface="Open Sans" pitchFamily="2" charset="0"/>
              <a:cs typeface="Open Sans" pitchFamily="2" charset="0"/>
            </a:endParaRPr>
          </a:p>
        </p:txBody>
      </p:sp>
      <p:sp>
        <p:nvSpPr>
          <p:cNvPr id="11" name="Text 14">
            <a:extLst>
              <a:ext uri="{FF2B5EF4-FFF2-40B4-BE49-F238E27FC236}">
                <a16:creationId xmlns:a16="http://schemas.microsoft.com/office/drawing/2014/main" id="{DBEBDFEA-354D-4CC2-A036-91247D0121AB}"/>
              </a:ext>
            </a:extLst>
          </p:cNvPr>
          <p:cNvSpPr/>
          <p:nvPr/>
        </p:nvSpPr>
        <p:spPr>
          <a:xfrm>
            <a:off x="1110996" y="1881052"/>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Supplement Claude's findings with what it cannot see (tools used, data pasted in testing).</a:t>
            </a:r>
            <a:endParaRPr lang="en-US" sz="1000">
              <a:latin typeface="Open Sans" pitchFamily="2" charset="0"/>
              <a:ea typeface="Open Sans" pitchFamily="2" charset="0"/>
              <a:cs typeface="Open Sans" pitchFamily="2" charset="0"/>
            </a:endParaRPr>
          </a:p>
        </p:txBody>
      </p:sp>
      <p:sp>
        <p:nvSpPr>
          <p:cNvPr id="12" name="Text 17">
            <a:extLst>
              <a:ext uri="{FF2B5EF4-FFF2-40B4-BE49-F238E27FC236}">
                <a16:creationId xmlns:a16="http://schemas.microsoft.com/office/drawing/2014/main" id="{A83A1224-5C0B-AE9E-FF8A-D3F8E37A68C4}"/>
              </a:ext>
            </a:extLst>
          </p:cNvPr>
          <p:cNvSpPr/>
          <p:nvPr/>
        </p:nvSpPr>
        <p:spPr>
          <a:xfrm>
            <a:off x="1110996" y="2266079"/>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Keep a named human reviewer who has actually read the diff.</a:t>
            </a:r>
            <a:endParaRPr lang="en-US" sz="1000">
              <a:latin typeface="Open Sans" pitchFamily="2" charset="0"/>
              <a:ea typeface="Open Sans" pitchFamily="2" charset="0"/>
              <a:cs typeface="Open Sans" pitchFamily="2" charset="0"/>
            </a:endParaRPr>
          </a:p>
        </p:txBody>
      </p:sp>
      <p:sp>
        <p:nvSpPr>
          <p:cNvPr id="13" name="Text 20">
            <a:extLst>
              <a:ext uri="{FF2B5EF4-FFF2-40B4-BE49-F238E27FC236}">
                <a16:creationId xmlns:a16="http://schemas.microsoft.com/office/drawing/2014/main" id="{889B26A1-A136-9780-C15F-2C505A526B60}"/>
              </a:ext>
            </a:extLst>
          </p:cNvPr>
          <p:cNvSpPr/>
          <p:nvPr/>
        </p:nvSpPr>
        <p:spPr>
          <a:xfrm>
            <a:off x="1110996" y="2651107"/>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Ship because all tests pass and the code looks right.</a:t>
            </a:r>
            <a:endParaRPr lang="en-US" sz="1000">
              <a:latin typeface="Open Sans" pitchFamily="2" charset="0"/>
              <a:ea typeface="Open Sans" pitchFamily="2" charset="0"/>
              <a:cs typeface="Open Sans" pitchFamily="2" charset="0"/>
            </a:endParaRPr>
          </a:p>
        </p:txBody>
      </p:sp>
      <p:sp>
        <p:nvSpPr>
          <p:cNvPr id="14" name="Text 23">
            <a:extLst>
              <a:ext uri="{FF2B5EF4-FFF2-40B4-BE49-F238E27FC236}">
                <a16:creationId xmlns:a16="http://schemas.microsoft.com/office/drawing/2014/main" id="{B2C347D0-EDD4-7E01-1256-ED257BED68BB}"/>
              </a:ext>
            </a:extLst>
          </p:cNvPr>
          <p:cNvSpPr/>
          <p:nvPr/>
        </p:nvSpPr>
        <p:spPr>
          <a:xfrm>
            <a:off x="1110996" y="3036134"/>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Add a Known Risks and Governance Notes section to HANDOFF.md.</a:t>
            </a:r>
            <a:endParaRPr lang="en-US" sz="1000">
              <a:latin typeface="Open Sans" pitchFamily="2" charset="0"/>
              <a:ea typeface="Open Sans" pitchFamily="2" charset="0"/>
              <a:cs typeface="Open Sans" pitchFamily="2" charset="0"/>
            </a:endParaRPr>
          </a:p>
        </p:txBody>
      </p:sp>
      <p:sp>
        <p:nvSpPr>
          <p:cNvPr id="15" name="Text 26">
            <a:extLst>
              <a:ext uri="{FF2B5EF4-FFF2-40B4-BE49-F238E27FC236}">
                <a16:creationId xmlns:a16="http://schemas.microsoft.com/office/drawing/2014/main" id="{ED65474F-A56D-A1DA-600C-AF42D765C1D1}"/>
              </a:ext>
            </a:extLst>
          </p:cNvPr>
          <p:cNvSpPr/>
          <p:nvPr/>
        </p:nvSpPr>
        <p:spPr>
          <a:xfrm>
            <a:off x="1110996" y="3421162"/>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Use /compact instead of restarting to keep context and control cost.</a:t>
            </a:r>
            <a:endParaRPr lang="en-US" sz="1000">
              <a:latin typeface="Open Sans" pitchFamily="2" charset="0"/>
              <a:ea typeface="Open Sans" pitchFamily="2" charset="0"/>
              <a:cs typeface="Open Sans" pitchFamily="2" charset="0"/>
            </a:endParaRPr>
          </a:p>
        </p:txBody>
      </p:sp>
      <p:sp>
        <p:nvSpPr>
          <p:cNvPr id="16" name="Text 10">
            <a:extLst>
              <a:ext uri="{FF2B5EF4-FFF2-40B4-BE49-F238E27FC236}">
                <a16:creationId xmlns:a16="http://schemas.microsoft.com/office/drawing/2014/main" id="{17A8A4B6-A054-8560-1A6D-2F2CC5730A88}"/>
              </a:ext>
            </a:extLst>
          </p:cNvPr>
          <p:cNvSpPr/>
          <p:nvPr/>
        </p:nvSpPr>
        <p:spPr>
          <a:xfrm>
            <a:off x="342900" y="152345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7" name="Text 13">
            <a:extLst>
              <a:ext uri="{FF2B5EF4-FFF2-40B4-BE49-F238E27FC236}">
                <a16:creationId xmlns:a16="http://schemas.microsoft.com/office/drawing/2014/main" id="{148AC4F3-6029-E2C6-534C-F2D6FB6D109E}"/>
              </a:ext>
            </a:extLst>
          </p:cNvPr>
          <p:cNvSpPr/>
          <p:nvPr/>
        </p:nvSpPr>
        <p:spPr>
          <a:xfrm>
            <a:off x="342900" y="1908484"/>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8" name="Text 16">
            <a:extLst>
              <a:ext uri="{FF2B5EF4-FFF2-40B4-BE49-F238E27FC236}">
                <a16:creationId xmlns:a16="http://schemas.microsoft.com/office/drawing/2014/main" id="{7C23AC1C-AC1E-9B60-60E0-FC3E1D3547D8}"/>
              </a:ext>
            </a:extLst>
          </p:cNvPr>
          <p:cNvSpPr/>
          <p:nvPr/>
        </p:nvSpPr>
        <p:spPr>
          <a:xfrm>
            <a:off x="342900" y="2293511"/>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9" name="Text 19">
            <a:extLst>
              <a:ext uri="{FF2B5EF4-FFF2-40B4-BE49-F238E27FC236}">
                <a16:creationId xmlns:a16="http://schemas.microsoft.com/office/drawing/2014/main" id="{7FE63FB1-0845-0532-C0EE-D136391CD2E9}"/>
              </a:ext>
            </a:extLst>
          </p:cNvPr>
          <p:cNvSpPr/>
          <p:nvPr/>
        </p:nvSpPr>
        <p:spPr>
          <a:xfrm>
            <a:off x="342900" y="2678539"/>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20" name="Shape 6">
            <a:extLst>
              <a:ext uri="{FF2B5EF4-FFF2-40B4-BE49-F238E27FC236}">
                <a16:creationId xmlns:a16="http://schemas.microsoft.com/office/drawing/2014/main" id="{0A23D63C-D5A7-29B3-1890-D0388F9D8D7D}"/>
              </a:ext>
            </a:extLst>
          </p:cNvPr>
          <p:cNvSpPr/>
          <p:nvPr/>
        </p:nvSpPr>
        <p:spPr>
          <a:xfrm>
            <a:off x="338981" y="2733894"/>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22" name="Text 22">
            <a:extLst>
              <a:ext uri="{FF2B5EF4-FFF2-40B4-BE49-F238E27FC236}">
                <a16:creationId xmlns:a16="http://schemas.microsoft.com/office/drawing/2014/main" id="{D151AD27-1379-F9B9-04AB-EB73A22526EA}"/>
              </a:ext>
            </a:extLst>
          </p:cNvPr>
          <p:cNvSpPr/>
          <p:nvPr/>
        </p:nvSpPr>
        <p:spPr>
          <a:xfrm>
            <a:off x="342900" y="306356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23" name="Shape 6">
            <a:extLst>
              <a:ext uri="{FF2B5EF4-FFF2-40B4-BE49-F238E27FC236}">
                <a16:creationId xmlns:a16="http://schemas.microsoft.com/office/drawing/2014/main" id="{A83014C0-B9F0-E21A-0233-5103306D81EC}"/>
              </a:ext>
            </a:extLst>
          </p:cNvPr>
          <p:cNvSpPr/>
          <p:nvPr/>
        </p:nvSpPr>
        <p:spPr>
          <a:xfrm>
            <a:off x="338981" y="3118922"/>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25" name="Text 25">
            <a:extLst>
              <a:ext uri="{FF2B5EF4-FFF2-40B4-BE49-F238E27FC236}">
                <a16:creationId xmlns:a16="http://schemas.microsoft.com/office/drawing/2014/main" id="{CAF43298-EDC0-B780-10C3-642264246878}"/>
              </a:ext>
            </a:extLst>
          </p:cNvPr>
          <p:cNvSpPr/>
          <p:nvPr/>
        </p:nvSpPr>
        <p:spPr>
          <a:xfrm>
            <a:off x="342900" y="3448595"/>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26" name="Shape 6">
            <a:extLst>
              <a:ext uri="{FF2B5EF4-FFF2-40B4-BE49-F238E27FC236}">
                <a16:creationId xmlns:a16="http://schemas.microsoft.com/office/drawing/2014/main" id="{49609E0D-C1F2-5D98-2CD4-BADA3289E068}"/>
              </a:ext>
            </a:extLst>
          </p:cNvPr>
          <p:cNvSpPr/>
          <p:nvPr/>
        </p:nvSpPr>
        <p:spPr>
          <a:xfrm>
            <a:off x="338981" y="3503948"/>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28" name="Text 7">
            <a:extLst>
              <a:ext uri="{FF2B5EF4-FFF2-40B4-BE49-F238E27FC236}">
                <a16:creationId xmlns:a16="http://schemas.microsoft.com/office/drawing/2014/main" id="{A32791BD-E420-2B39-5F7A-EE20399D5245}"/>
              </a:ext>
            </a:extLst>
          </p:cNvPr>
          <p:cNvSpPr/>
          <p:nvPr/>
        </p:nvSpPr>
        <p:spPr>
          <a:xfrm>
            <a:off x="338981" y="1414573"/>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29" name="Text 7">
            <a:extLst>
              <a:ext uri="{FF2B5EF4-FFF2-40B4-BE49-F238E27FC236}">
                <a16:creationId xmlns:a16="http://schemas.microsoft.com/office/drawing/2014/main" id="{30C5EE92-E126-C930-1D87-A2F0E7DFB9ED}"/>
              </a:ext>
            </a:extLst>
          </p:cNvPr>
          <p:cNvSpPr/>
          <p:nvPr/>
        </p:nvSpPr>
        <p:spPr>
          <a:xfrm>
            <a:off x="342900" y="1138428"/>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30" name="Shape 6">
            <a:extLst>
              <a:ext uri="{FF2B5EF4-FFF2-40B4-BE49-F238E27FC236}">
                <a16:creationId xmlns:a16="http://schemas.microsoft.com/office/drawing/2014/main" id="{38167901-DABA-E00C-38B3-6F1646D116CB}"/>
              </a:ext>
            </a:extLst>
          </p:cNvPr>
          <p:cNvSpPr/>
          <p:nvPr/>
        </p:nvSpPr>
        <p:spPr>
          <a:xfrm>
            <a:off x="338981" y="1193782"/>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32" name="Shape 6">
            <a:extLst>
              <a:ext uri="{FF2B5EF4-FFF2-40B4-BE49-F238E27FC236}">
                <a16:creationId xmlns:a16="http://schemas.microsoft.com/office/drawing/2014/main" id="{8A7A1061-DE47-DD73-FBA5-9468B72A17CA}"/>
              </a:ext>
            </a:extLst>
          </p:cNvPr>
          <p:cNvSpPr/>
          <p:nvPr/>
        </p:nvSpPr>
        <p:spPr>
          <a:xfrm>
            <a:off x="338981" y="1578810"/>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34" name="Shape 6">
            <a:extLst>
              <a:ext uri="{FF2B5EF4-FFF2-40B4-BE49-F238E27FC236}">
                <a16:creationId xmlns:a16="http://schemas.microsoft.com/office/drawing/2014/main" id="{777D5DD6-2197-960B-CBCE-912B1539F6E6}"/>
              </a:ext>
            </a:extLst>
          </p:cNvPr>
          <p:cNvSpPr/>
          <p:nvPr/>
        </p:nvSpPr>
        <p:spPr>
          <a:xfrm>
            <a:off x="338981" y="1963838"/>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36" name="Shape 6">
            <a:extLst>
              <a:ext uri="{FF2B5EF4-FFF2-40B4-BE49-F238E27FC236}">
                <a16:creationId xmlns:a16="http://schemas.microsoft.com/office/drawing/2014/main" id="{E839B5D4-05B9-5BD7-E6B7-C6C4B1413760}"/>
              </a:ext>
            </a:extLst>
          </p:cNvPr>
          <p:cNvSpPr/>
          <p:nvPr/>
        </p:nvSpPr>
        <p:spPr>
          <a:xfrm>
            <a:off x="338981" y="2348866"/>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8938552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hape 22">
            <a:extLst>
              <a:ext uri="{FF2B5EF4-FFF2-40B4-BE49-F238E27FC236}">
                <a16:creationId xmlns:a16="http://schemas.microsoft.com/office/drawing/2014/main" id="{9AE5C6DC-031F-8B1A-7188-958C9415ECA7}"/>
              </a:ext>
            </a:extLst>
          </p:cNvPr>
          <p:cNvSpPr/>
          <p:nvPr/>
        </p:nvSpPr>
        <p:spPr>
          <a:xfrm>
            <a:off x="342900" y="3884005"/>
            <a:ext cx="8455914" cy="798845"/>
          </a:xfrm>
          <a:prstGeom prst="roundRect">
            <a:avLst>
              <a:gd name="adj" fmla="val 5161"/>
            </a:avLst>
          </a:prstGeom>
          <a:solidFill>
            <a:srgbClr val="F5F5F5"/>
          </a:solidFill>
          <a:ln>
            <a:noFill/>
          </a:ln>
        </p:spPr>
        <p:txBody>
          <a:bodyPr/>
          <a:lstStyle/>
          <a:p>
            <a:endParaRPr lang="en-US">
              <a:latin typeface="Open Sans" pitchFamily="2" charset="0"/>
              <a:ea typeface="Open Sans" pitchFamily="2" charset="0"/>
              <a:cs typeface="Open Sans" pitchFamily="2" charset="0"/>
            </a:endParaRPr>
          </a:p>
        </p:txBody>
      </p:sp>
      <p:sp>
        <p:nvSpPr>
          <p:cNvPr id="8" name="Text 5">
            <a:extLst>
              <a:ext uri="{FF2B5EF4-FFF2-40B4-BE49-F238E27FC236}">
                <a16:creationId xmlns:a16="http://schemas.microsoft.com/office/drawing/2014/main" id="{3C89C37B-2318-2E7B-74C6-9D4D5706B441}"/>
              </a:ext>
            </a:extLst>
          </p:cNvPr>
          <p:cNvSpPr/>
          <p:nvPr/>
        </p:nvSpPr>
        <p:spPr>
          <a:xfrm>
            <a:off x="342900" y="617220"/>
            <a:ext cx="8455914" cy="411480"/>
          </a:xfrm>
          <a:prstGeom prst="rect">
            <a:avLst/>
          </a:prstGeom>
          <a:noFill/>
          <a:ln/>
        </p:spPr>
        <p:txBody>
          <a:bodyPr wrap="square" lIns="0" tIns="0" rIns="0" bIns="0" rtlCol="0" anchor="t"/>
          <a:lstStyle/>
          <a:p>
            <a:r>
              <a:rPr lang="en-US" sz="1400" b="1" dirty="0">
                <a:latin typeface="Open Sans" pitchFamily="2" charset="0"/>
                <a:ea typeface="Open Sans" pitchFamily="2" charset="0"/>
                <a:cs typeface="Open Sans" pitchFamily="2" charset="0"/>
              </a:rPr>
              <a:t>A risk assessment and responsible handoff for a PoC that touches customer data. Mark each step Right or Wrong.</a:t>
            </a:r>
            <a:endParaRPr lang="en-US" sz="1400" dirty="0">
              <a:latin typeface="Open Sans" pitchFamily="2" charset="0"/>
              <a:ea typeface="Open Sans" pitchFamily="2" charset="0"/>
              <a:cs typeface="Open Sans" pitchFamily="2" charset="0"/>
            </a:endParaRPr>
          </a:p>
        </p:txBody>
      </p:sp>
      <p:sp>
        <p:nvSpPr>
          <p:cNvPr id="9" name="Text 8">
            <a:extLst>
              <a:ext uri="{FF2B5EF4-FFF2-40B4-BE49-F238E27FC236}">
                <a16:creationId xmlns:a16="http://schemas.microsoft.com/office/drawing/2014/main" id="{325E74AA-1D77-1621-A9A1-1CF037AF448C}"/>
              </a:ext>
            </a:extLst>
          </p:cNvPr>
          <p:cNvSpPr/>
          <p:nvPr/>
        </p:nvSpPr>
        <p:spPr>
          <a:xfrm>
            <a:off x="1110996" y="1110996"/>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Run the risk-review prompt for privacy, security, and governance.</a:t>
            </a:r>
            <a:endParaRPr lang="en-US" sz="1000">
              <a:latin typeface="Open Sans" pitchFamily="2" charset="0"/>
              <a:ea typeface="Open Sans" pitchFamily="2" charset="0"/>
              <a:cs typeface="Open Sans" pitchFamily="2" charset="0"/>
            </a:endParaRPr>
          </a:p>
        </p:txBody>
      </p:sp>
      <p:sp>
        <p:nvSpPr>
          <p:cNvPr id="10" name="Text 11">
            <a:extLst>
              <a:ext uri="{FF2B5EF4-FFF2-40B4-BE49-F238E27FC236}">
                <a16:creationId xmlns:a16="http://schemas.microsoft.com/office/drawing/2014/main" id="{777EC387-9AE6-3C96-F819-2FCFCFFFBB30}"/>
              </a:ext>
            </a:extLst>
          </p:cNvPr>
          <p:cNvSpPr/>
          <p:nvPr/>
        </p:nvSpPr>
        <p:spPr>
          <a:xfrm>
            <a:off x="1110996" y="1496023"/>
            <a:ext cx="7680960" cy="385028"/>
          </a:xfrm>
          <a:prstGeom prst="rect">
            <a:avLst/>
          </a:prstGeom>
          <a:noFill/>
          <a:ln/>
        </p:spPr>
        <p:txBody>
          <a:bodyPr wrap="square" lIns="0" tIns="0" rIns="0" bIns="0" rtlCol="0" anchor="ctr"/>
          <a:lstStyle/>
          <a:p>
            <a:r>
              <a:rPr lang="en-US" sz="1000" b="1">
                <a:solidFill>
                  <a:schemeClr val="tx2"/>
                </a:solidFill>
                <a:latin typeface="Open Sans" pitchFamily="2" charset="0"/>
                <a:ea typeface="Open Sans" pitchFamily="2" charset="0"/>
                <a:cs typeface="Open Sans" pitchFamily="2" charset="0"/>
              </a:rPr>
              <a:t>Paste real customer records to test the risk review.</a:t>
            </a:r>
            <a:endParaRPr lang="en-US" sz="1000">
              <a:solidFill>
                <a:schemeClr val="tx2"/>
              </a:solidFill>
              <a:latin typeface="Open Sans" pitchFamily="2" charset="0"/>
              <a:ea typeface="Open Sans" pitchFamily="2" charset="0"/>
              <a:cs typeface="Open Sans" pitchFamily="2" charset="0"/>
            </a:endParaRPr>
          </a:p>
        </p:txBody>
      </p:sp>
      <p:sp>
        <p:nvSpPr>
          <p:cNvPr id="11" name="Text 14">
            <a:extLst>
              <a:ext uri="{FF2B5EF4-FFF2-40B4-BE49-F238E27FC236}">
                <a16:creationId xmlns:a16="http://schemas.microsoft.com/office/drawing/2014/main" id="{7ED47C19-FAC2-246F-DB2D-04E39308A363}"/>
              </a:ext>
            </a:extLst>
          </p:cNvPr>
          <p:cNvSpPr/>
          <p:nvPr/>
        </p:nvSpPr>
        <p:spPr>
          <a:xfrm>
            <a:off x="1110996" y="1881052"/>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Supplement Claude's findings with what it cannot see (tools used, data pasted in testing).</a:t>
            </a:r>
            <a:endParaRPr lang="en-US" sz="1000">
              <a:latin typeface="Open Sans" pitchFamily="2" charset="0"/>
              <a:ea typeface="Open Sans" pitchFamily="2" charset="0"/>
              <a:cs typeface="Open Sans" pitchFamily="2" charset="0"/>
            </a:endParaRPr>
          </a:p>
        </p:txBody>
      </p:sp>
      <p:sp>
        <p:nvSpPr>
          <p:cNvPr id="12" name="Text 17">
            <a:extLst>
              <a:ext uri="{FF2B5EF4-FFF2-40B4-BE49-F238E27FC236}">
                <a16:creationId xmlns:a16="http://schemas.microsoft.com/office/drawing/2014/main" id="{4DFE19F7-33B7-EA8B-DC02-A34EDE012171}"/>
              </a:ext>
            </a:extLst>
          </p:cNvPr>
          <p:cNvSpPr/>
          <p:nvPr/>
        </p:nvSpPr>
        <p:spPr>
          <a:xfrm>
            <a:off x="1110996" y="2266079"/>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Keep a named human reviewer who has actually read the diff.</a:t>
            </a:r>
            <a:endParaRPr lang="en-US" sz="1000">
              <a:latin typeface="Open Sans" pitchFamily="2" charset="0"/>
              <a:ea typeface="Open Sans" pitchFamily="2" charset="0"/>
              <a:cs typeface="Open Sans" pitchFamily="2" charset="0"/>
            </a:endParaRPr>
          </a:p>
        </p:txBody>
      </p:sp>
      <p:sp>
        <p:nvSpPr>
          <p:cNvPr id="13" name="Text 20">
            <a:extLst>
              <a:ext uri="{FF2B5EF4-FFF2-40B4-BE49-F238E27FC236}">
                <a16:creationId xmlns:a16="http://schemas.microsoft.com/office/drawing/2014/main" id="{04F34A3A-732A-C1A2-75E4-6EAF71E7722A}"/>
              </a:ext>
            </a:extLst>
          </p:cNvPr>
          <p:cNvSpPr/>
          <p:nvPr/>
        </p:nvSpPr>
        <p:spPr>
          <a:xfrm>
            <a:off x="1110996" y="2651107"/>
            <a:ext cx="7680960" cy="385028"/>
          </a:xfrm>
          <a:prstGeom prst="rect">
            <a:avLst/>
          </a:prstGeom>
          <a:noFill/>
          <a:ln/>
        </p:spPr>
        <p:txBody>
          <a:bodyPr wrap="square" lIns="0" tIns="0" rIns="0" bIns="0" rtlCol="0" anchor="ctr"/>
          <a:lstStyle/>
          <a:p>
            <a:r>
              <a:rPr lang="en-US" sz="1000" b="1">
                <a:solidFill>
                  <a:schemeClr val="tx2"/>
                </a:solidFill>
                <a:latin typeface="Open Sans" pitchFamily="2" charset="0"/>
                <a:ea typeface="Open Sans" pitchFamily="2" charset="0"/>
                <a:cs typeface="Open Sans" pitchFamily="2" charset="0"/>
              </a:rPr>
              <a:t>Ship because all tests pass and the code looks right.</a:t>
            </a:r>
            <a:endParaRPr lang="en-US" sz="1000">
              <a:solidFill>
                <a:schemeClr val="tx2"/>
              </a:solidFill>
              <a:latin typeface="Open Sans" pitchFamily="2" charset="0"/>
              <a:ea typeface="Open Sans" pitchFamily="2" charset="0"/>
              <a:cs typeface="Open Sans" pitchFamily="2" charset="0"/>
            </a:endParaRPr>
          </a:p>
        </p:txBody>
      </p:sp>
      <p:sp>
        <p:nvSpPr>
          <p:cNvPr id="14" name="Text 23">
            <a:extLst>
              <a:ext uri="{FF2B5EF4-FFF2-40B4-BE49-F238E27FC236}">
                <a16:creationId xmlns:a16="http://schemas.microsoft.com/office/drawing/2014/main" id="{E374EAC4-109D-1FD5-7D99-FD2FDA682833}"/>
              </a:ext>
            </a:extLst>
          </p:cNvPr>
          <p:cNvSpPr/>
          <p:nvPr/>
        </p:nvSpPr>
        <p:spPr>
          <a:xfrm>
            <a:off x="1110996" y="3036134"/>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Add a Known Risks and Governance Notes section to HANDOFF.md.</a:t>
            </a:r>
            <a:endParaRPr lang="en-US" sz="1000">
              <a:latin typeface="Open Sans" pitchFamily="2" charset="0"/>
              <a:ea typeface="Open Sans" pitchFamily="2" charset="0"/>
              <a:cs typeface="Open Sans" pitchFamily="2" charset="0"/>
            </a:endParaRPr>
          </a:p>
        </p:txBody>
      </p:sp>
      <p:sp>
        <p:nvSpPr>
          <p:cNvPr id="15" name="Text 26">
            <a:extLst>
              <a:ext uri="{FF2B5EF4-FFF2-40B4-BE49-F238E27FC236}">
                <a16:creationId xmlns:a16="http://schemas.microsoft.com/office/drawing/2014/main" id="{AAB24D69-C577-1583-E2D1-0775399C1D23}"/>
              </a:ext>
            </a:extLst>
          </p:cNvPr>
          <p:cNvSpPr/>
          <p:nvPr/>
        </p:nvSpPr>
        <p:spPr>
          <a:xfrm>
            <a:off x="1110996" y="3421162"/>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Use /compact instead of restarting to keep context and control cost.</a:t>
            </a:r>
            <a:endParaRPr lang="en-US" sz="1000">
              <a:latin typeface="Open Sans" pitchFamily="2" charset="0"/>
              <a:ea typeface="Open Sans" pitchFamily="2" charset="0"/>
              <a:cs typeface="Open Sans" pitchFamily="2" charset="0"/>
            </a:endParaRPr>
          </a:p>
        </p:txBody>
      </p:sp>
      <p:sp>
        <p:nvSpPr>
          <p:cNvPr id="16" name="Text 10">
            <a:extLst>
              <a:ext uri="{FF2B5EF4-FFF2-40B4-BE49-F238E27FC236}">
                <a16:creationId xmlns:a16="http://schemas.microsoft.com/office/drawing/2014/main" id="{AADF5EDF-F1DB-34C8-FF7C-4BD752259EF8}"/>
              </a:ext>
            </a:extLst>
          </p:cNvPr>
          <p:cNvSpPr/>
          <p:nvPr/>
        </p:nvSpPr>
        <p:spPr>
          <a:xfrm>
            <a:off x="342900" y="152345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7" name="Text 13">
            <a:extLst>
              <a:ext uri="{FF2B5EF4-FFF2-40B4-BE49-F238E27FC236}">
                <a16:creationId xmlns:a16="http://schemas.microsoft.com/office/drawing/2014/main" id="{5AAD9B53-24E4-64DD-28F0-4DD77905BD00}"/>
              </a:ext>
            </a:extLst>
          </p:cNvPr>
          <p:cNvSpPr/>
          <p:nvPr/>
        </p:nvSpPr>
        <p:spPr>
          <a:xfrm>
            <a:off x="342900" y="1908484"/>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8" name="Text 16">
            <a:extLst>
              <a:ext uri="{FF2B5EF4-FFF2-40B4-BE49-F238E27FC236}">
                <a16:creationId xmlns:a16="http://schemas.microsoft.com/office/drawing/2014/main" id="{1AF65638-85A5-C7B7-6722-DA7D26B75C2A}"/>
              </a:ext>
            </a:extLst>
          </p:cNvPr>
          <p:cNvSpPr/>
          <p:nvPr/>
        </p:nvSpPr>
        <p:spPr>
          <a:xfrm>
            <a:off x="342900" y="2293511"/>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9" name="Text 19">
            <a:extLst>
              <a:ext uri="{FF2B5EF4-FFF2-40B4-BE49-F238E27FC236}">
                <a16:creationId xmlns:a16="http://schemas.microsoft.com/office/drawing/2014/main" id="{15DBC33D-1BC0-7A83-B579-D6B02C4711E1}"/>
              </a:ext>
            </a:extLst>
          </p:cNvPr>
          <p:cNvSpPr/>
          <p:nvPr/>
        </p:nvSpPr>
        <p:spPr>
          <a:xfrm>
            <a:off x="342900" y="2678539"/>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22" name="Text 22">
            <a:extLst>
              <a:ext uri="{FF2B5EF4-FFF2-40B4-BE49-F238E27FC236}">
                <a16:creationId xmlns:a16="http://schemas.microsoft.com/office/drawing/2014/main" id="{04B6778F-254B-649A-40DF-98C460350F96}"/>
              </a:ext>
            </a:extLst>
          </p:cNvPr>
          <p:cNvSpPr/>
          <p:nvPr/>
        </p:nvSpPr>
        <p:spPr>
          <a:xfrm>
            <a:off x="342900" y="306356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23" name="Shape 6">
            <a:extLst>
              <a:ext uri="{FF2B5EF4-FFF2-40B4-BE49-F238E27FC236}">
                <a16:creationId xmlns:a16="http://schemas.microsoft.com/office/drawing/2014/main" id="{584303F3-75C8-482F-3991-EA13CD815392}"/>
              </a:ext>
            </a:extLst>
          </p:cNvPr>
          <p:cNvSpPr/>
          <p:nvPr/>
        </p:nvSpPr>
        <p:spPr>
          <a:xfrm>
            <a:off x="338981" y="3118922"/>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24" name="Text 7">
            <a:extLst>
              <a:ext uri="{FF2B5EF4-FFF2-40B4-BE49-F238E27FC236}">
                <a16:creationId xmlns:a16="http://schemas.microsoft.com/office/drawing/2014/main" id="{F3D39906-785A-9870-2846-1D683C907AEA}"/>
              </a:ext>
            </a:extLst>
          </p:cNvPr>
          <p:cNvSpPr/>
          <p:nvPr/>
        </p:nvSpPr>
        <p:spPr>
          <a:xfrm>
            <a:off x="338981" y="3118922"/>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25" name="Text 25">
            <a:extLst>
              <a:ext uri="{FF2B5EF4-FFF2-40B4-BE49-F238E27FC236}">
                <a16:creationId xmlns:a16="http://schemas.microsoft.com/office/drawing/2014/main" id="{D51BDDEF-0566-3C0A-6F94-20974E172F29}"/>
              </a:ext>
            </a:extLst>
          </p:cNvPr>
          <p:cNvSpPr/>
          <p:nvPr/>
        </p:nvSpPr>
        <p:spPr>
          <a:xfrm>
            <a:off x="342900" y="3448595"/>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26" name="Shape 6">
            <a:extLst>
              <a:ext uri="{FF2B5EF4-FFF2-40B4-BE49-F238E27FC236}">
                <a16:creationId xmlns:a16="http://schemas.microsoft.com/office/drawing/2014/main" id="{574F61BD-9F37-B23A-7B26-BCFB5E044B50}"/>
              </a:ext>
            </a:extLst>
          </p:cNvPr>
          <p:cNvSpPr/>
          <p:nvPr/>
        </p:nvSpPr>
        <p:spPr>
          <a:xfrm>
            <a:off x="338981" y="3503948"/>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27" name="Text 7">
            <a:extLst>
              <a:ext uri="{FF2B5EF4-FFF2-40B4-BE49-F238E27FC236}">
                <a16:creationId xmlns:a16="http://schemas.microsoft.com/office/drawing/2014/main" id="{681B8F22-0D15-ACFB-A624-7EB79FFC8668}"/>
              </a:ext>
            </a:extLst>
          </p:cNvPr>
          <p:cNvSpPr/>
          <p:nvPr/>
        </p:nvSpPr>
        <p:spPr>
          <a:xfrm>
            <a:off x="338981" y="3503948"/>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28" name="Text 7">
            <a:extLst>
              <a:ext uri="{FF2B5EF4-FFF2-40B4-BE49-F238E27FC236}">
                <a16:creationId xmlns:a16="http://schemas.microsoft.com/office/drawing/2014/main" id="{F8F5CDBF-C31F-FE76-0FD2-868B41D14CF6}"/>
              </a:ext>
            </a:extLst>
          </p:cNvPr>
          <p:cNvSpPr/>
          <p:nvPr/>
        </p:nvSpPr>
        <p:spPr>
          <a:xfrm>
            <a:off x="338981" y="1414573"/>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29" name="Text 7">
            <a:extLst>
              <a:ext uri="{FF2B5EF4-FFF2-40B4-BE49-F238E27FC236}">
                <a16:creationId xmlns:a16="http://schemas.microsoft.com/office/drawing/2014/main" id="{DD5C13C6-41A0-6439-CC5F-BB1DE47609AE}"/>
              </a:ext>
            </a:extLst>
          </p:cNvPr>
          <p:cNvSpPr/>
          <p:nvPr/>
        </p:nvSpPr>
        <p:spPr>
          <a:xfrm>
            <a:off x="342900" y="1138428"/>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30" name="Shape 6">
            <a:extLst>
              <a:ext uri="{FF2B5EF4-FFF2-40B4-BE49-F238E27FC236}">
                <a16:creationId xmlns:a16="http://schemas.microsoft.com/office/drawing/2014/main" id="{2C4781BF-608B-1282-8B64-07BE01C23F89}"/>
              </a:ext>
            </a:extLst>
          </p:cNvPr>
          <p:cNvSpPr/>
          <p:nvPr/>
        </p:nvSpPr>
        <p:spPr>
          <a:xfrm>
            <a:off x="338981" y="1193782"/>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31" name="Text 7">
            <a:extLst>
              <a:ext uri="{FF2B5EF4-FFF2-40B4-BE49-F238E27FC236}">
                <a16:creationId xmlns:a16="http://schemas.microsoft.com/office/drawing/2014/main" id="{211705FE-763B-1A8F-1187-DE94D86F20AE}"/>
              </a:ext>
            </a:extLst>
          </p:cNvPr>
          <p:cNvSpPr/>
          <p:nvPr/>
        </p:nvSpPr>
        <p:spPr>
          <a:xfrm>
            <a:off x="338981" y="1193782"/>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34" name="Shape 6">
            <a:extLst>
              <a:ext uri="{FF2B5EF4-FFF2-40B4-BE49-F238E27FC236}">
                <a16:creationId xmlns:a16="http://schemas.microsoft.com/office/drawing/2014/main" id="{91EE95FA-2D1F-DB5D-4D05-67181BB14193}"/>
              </a:ext>
            </a:extLst>
          </p:cNvPr>
          <p:cNvSpPr/>
          <p:nvPr/>
        </p:nvSpPr>
        <p:spPr>
          <a:xfrm>
            <a:off x="338981" y="1963838"/>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35" name="Text 7">
            <a:extLst>
              <a:ext uri="{FF2B5EF4-FFF2-40B4-BE49-F238E27FC236}">
                <a16:creationId xmlns:a16="http://schemas.microsoft.com/office/drawing/2014/main" id="{1C75D77D-B614-E6E9-16B7-6FA510DE62AD}"/>
              </a:ext>
            </a:extLst>
          </p:cNvPr>
          <p:cNvSpPr/>
          <p:nvPr/>
        </p:nvSpPr>
        <p:spPr>
          <a:xfrm>
            <a:off x="338981" y="1963838"/>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36" name="Shape 6">
            <a:extLst>
              <a:ext uri="{FF2B5EF4-FFF2-40B4-BE49-F238E27FC236}">
                <a16:creationId xmlns:a16="http://schemas.microsoft.com/office/drawing/2014/main" id="{11DFE62F-176C-5092-FD73-DA68DAE185D0}"/>
              </a:ext>
            </a:extLst>
          </p:cNvPr>
          <p:cNvSpPr/>
          <p:nvPr/>
        </p:nvSpPr>
        <p:spPr>
          <a:xfrm>
            <a:off x="338981" y="2348866"/>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37" name="Text 7">
            <a:extLst>
              <a:ext uri="{FF2B5EF4-FFF2-40B4-BE49-F238E27FC236}">
                <a16:creationId xmlns:a16="http://schemas.microsoft.com/office/drawing/2014/main" id="{0A58A729-2789-5424-73E4-0D6959D5AD95}"/>
              </a:ext>
            </a:extLst>
          </p:cNvPr>
          <p:cNvSpPr/>
          <p:nvPr/>
        </p:nvSpPr>
        <p:spPr>
          <a:xfrm>
            <a:off x="338981" y="2348866"/>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38" name="Shape 6">
            <a:extLst>
              <a:ext uri="{FF2B5EF4-FFF2-40B4-BE49-F238E27FC236}">
                <a16:creationId xmlns:a16="http://schemas.microsoft.com/office/drawing/2014/main" id="{D21EDEFE-08F4-A143-C595-F6DE3C07D5C3}"/>
              </a:ext>
            </a:extLst>
          </p:cNvPr>
          <p:cNvSpPr/>
          <p:nvPr/>
        </p:nvSpPr>
        <p:spPr>
          <a:xfrm>
            <a:off x="342900" y="2738742"/>
            <a:ext cx="651510" cy="219456"/>
          </a:xfrm>
          <a:prstGeom prst="roundRect">
            <a:avLst>
              <a:gd name="adj" fmla="val 15625"/>
            </a:avLst>
          </a:prstGeom>
          <a:solidFill>
            <a:schemeClr val="accent3"/>
          </a:solidFill>
          <a:ln>
            <a:noFill/>
          </a:ln>
        </p:spPr>
        <p:txBody>
          <a:bodyPr/>
          <a:lstStyle/>
          <a:p>
            <a:endParaRPr lang="en-US" sz="1350">
              <a:latin typeface="Open Sans" pitchFamily="2" charset="0"/>
              <a:ea typeface="Open Sans" pitchFamily="2" charset="0"/>
              <a:cs typeface="Open Sans" pitchFamily="2" charset="0"/>
            </a:endParaRPr>
          </a:p>
        </p:txBody>
      </p:sp>
      <p:sp>
        <p:nvSpPr>
          <p:cNvPr id="39" name="Text 7">
            <a:extLst>
              <a:ext uri="{FF2B5EF4-FFF2-40B4-BE49-F238E27FC236}">
                <a16:creationId xmlns:a16="http://schemas.microsoft.com/office/drawing/2014/main" id="{D69AF608-AB34-877E-DA04-D54510B6EA64}"/>
              </a:ext>
            </a:extLst>
          </p:cNvPr>
          <p:cNvSpPr/>
          <p:nvPr/>
        </p:nvSpPr>
        <p:spPr>
          <a:xfrm>
            <a:off x="342900" y="2738742"/>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WRONG</a:t>
            </a:r>
            <a:endParaRPr lang="en-US" sz="750">
              <a:latin typeface="Open Sans" pitchFamily="2" charset="0"/>
              <a:ea typeface="Open Sans" pitchFamily="2" charset="0"/>
              <a:cs typeface="Open Sans" pitchFamily="2" charset="0"/>
            </a:endParaRPr>
          </a:p>
        </p:txBody>
      </p:sp>
      <p:sp>
        <p:nvSpPr>
          <p:cNvPr id="40" name="Text 10">
            <a:extLst>
              <a:ext uri="{FF2B5EF4-FFF2-40B4-BE49-F238E27FC236}">
                <a16:creationId xmlns:a16="http://schemas.microsoft.com/office/drawing/2014/main" id="{6D57CF4F-DE2C-706B-BCFB-353E7B6A8837}"/>
              </a:ext>
            </a:extLst>
          </p:cNvPr>
          <p:cNvSpPr/>
          <p:nvPr/>
        </p:nvSpPr>
        <p:spPr>
          <a:xfrm>
            <a:off x="346819" y="1523455"/>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41" name="Text 19">
            <a:extLst>
              <a:ext uri="{FF2B5EF4-FFF2-40B4-BE49-F238E27FC236}">
                <a16:creationId xmlns:a16="http://schemas.microsoft.com/office/drawing/2014/main" id="{A1A2AB84-A8C0-0CE2-0049-A2332230C5FF}"/>
              </a:ext>
            </a:extLst>
          </p:cNvPr>
          <p:cNvSpPr/>
          <p:nvPr/>
        </p:nvSpPr>
        <p:spPr>
          <a:xfrm>
            <a:off x="346819" y="2678538"/>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42" name="Shape 6">
            <a:extLst>
              <a:ext uri="{FF2B5EF4-FFF2-40B4-BE49-F238E27FC236}">
                <a16:creationId xmlns:a16="http://schemas.microsoft.com/office/drawing/2014/main" id="{0E5EC770-4C2B-902F-E906-B670FAF37307}"/>
              </a:ext>
            </a:extLst>
          </p:cNvPr>
          <p:cNvSpPr/>
          <p:nvPr/>
        </p:nvSpPr>
        <p:spPr>
          <a:xfrm>
            <a:off x="342900" y="1578809"/>
            <a:ext cx="651510" cy="219456"/>
          </a:xfrm>
          <a:prstGeom prst="roundRect">
            <a:avLst>
              <a:gd name="adj" fmla="val 15625"/>
            </a:avLst>
          </a:prstGeom>
          <a:solidFill>
            <a:schemeClr val="accent3"/>
          </a:solidFill>
          <a:ln>
            <a:noFill/>
          </a:ln>
        </p:spPr>
        <p:txBody>
          <a:bodyPr/>
          <a:lstStyle/>
          <a:p>
            <a:endParaRPr lang="en-US" sz="1350">
              <a:latin typeface="Open Sans" pitchFamily="2" charset="0"/>
              <a:ea typeface="Open Sans" pitchFamily="2" charset="0"/>
              <a:cs typeface="Open Sans" pitchFamily="2" charset="0"/>
            </a:endParaRPr>
          </a:p>
        </p:txBody>
      </p:sp>
      <p:sp>
        <p:nvSpPr>
          <p:cNvPr id="43" name="Text 7">
            <a:extLst>
              <a:ext uri="{FF2B5EF4-FFF2-40B4-BE49-F238E27FC236}">
                <a16:creationId xmlns:a16="http://schemas.microsoft.com/office/drawing/2014/main" id="{45D9A25C-52FC-6AB2-F37F-E7B8EACAFCDC}"/>
              </a:ext>
            </a:extLst>
          </p:cNvPr>
          <p:cNvSpPr/>
          <p:nvPr/>
        </p:nvSpPr>
        <p:spPr>
          <a:xfrm>
            <a:off x="342900" y="1578809"/>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WRONG</a:t>
            </a:r>
            <a:endParaRPr lang="en-US" sz="750">
              <a:latin typeface="Open Sans" pitchFamily="2" charset="0"/>
              <a:ea typeface="Open Sans" pitchFamily="2" charset="0"/>
              <a:cs typeface="Open Sans" pitchFamily="2" charset="0"/>
            </a:endParaRPr>
          </a:p>
        </p:txBody>
      </p:sp>
      <p:sp>
        <p:nvSpPr>
          <p:cNvPr id="44" name="Text 28">
            <a:extLst>
              <a:ext uri="{FF2B5EF4-FFF2-40B4-BE49-F238E27FC236}">
                <a16:creationId xmlns:a16="http://schemas.microsoft.com/office/drawing/2014/main" id="{EAEDCB4F-7CB2-FBE9-7792-39C9F6C082C5}"/>
              </a:ext>
            </a:extLst>
          </p:cNvPr>
          <p:cNvSpPr/>
          <p:nvPr/>
        </p:nvSpPr>
        <p:spPr>
          <a:xfrm>
            <a:off x="534924" y="3957500"/>
            <a:ext cx="5486400" cy="205740"/>
          </a:xfrm>
          <a:prstGeom prst="rect">
            <a:avLst/>
          </a:prstGeom>
          <a:noFill/>
          <a:ln/>
        </p:spPr>
        <p:txBody>
          <a:bodyPr wrap="square" lIns="0" tIns="0" rIns="0" bIns="0" rtlCol="0" anchor="ctr"/>
          <a:lstStyle/>
          <a:p>
            <a:r>
              <a:rPr lang="en-US" sz="1050" b="1" kern="0" spc="113">
                <a:solidFill>
                  <a:srgbClr val="F2A900"/>
                </a:solidFill>
                <a:latin typeface="Open Sans" pitchFamily="2" charset="0"/>
                <a:ea typeface="Open Sans" pitchFamily="2" charset="0"/>
                <a:cs typeface="Open Sans" pitchFamily="2" charset="0"/>
              </a:rPr>
              <a:t>THROUGH THE LENS</a:t>
            </a:r>
            <a:endParaRPr lang="en-US" sz="1050">
              <a:latin typeface="Open Sans" pitchFamily="2" charset="0"/>
              <a:ea typeface="Open Sans" pitchFamily="2" charset="0"/>
              <a:cs typeface="Open Sans" pitchFamily="2" charset="0"/>
            </a:endParaRPr>
          </a:p>
        </p:txBody>
      </p:sp>
      <p:sp>
        <p:nvSpPr>
          <p:cNvPr id="45" name="Text 31">
            <a:extLst>
              <a:ext uri="{FF2B5EF4-FFF2-40B4-BE49-F238E27FC236}">
                <a16:creationId xmlns:a16="http://schemas.microsoft.com/office/drawing/2014/main" id="{B2B99E7D-85DF-D5F6-56A8-6F46C1724B98}"/>
              </a:ext>
            </a:extLst>
          </p:cNvPr>
          <p:cNvSpPr/>
          <p:nvPr/>
        </p:nvSpPr>
        <p:spPr>
          <a:xfrm>
            <a:off x="534924" y="4039808"/>
            <a:ext cx="6467094" cy="651510"/>
          </a:xfrm>
          <a:prstGeom prst="rect">
            <a:avLst/>
          </a:prstGeom>
          <a:noFill/>
          <a:ln/>
        </p:spPr>
        <p:txBody>
          <a:bodyPr wrap="square" lIns="0" tIns="0" rIns="0" bIns="0" rtlCol="0" anchor="ctr"/>
          <a:lstStyle/>
          <a:p>
            <a:r>
              <a:rPr lang="en-US" sz="1050">
                <a:solidFill>
                  <a:schemeClr val="tx2"/>
                </a:solidFill>
                <a:latin typeface="Open Sans" pitchFamily="2" charset="0"/>
                <a:ea typeface="Open Sans" pitchFamily="2" charset="0"/>
                <a:cs typeface="Open Sans" pitchFamily="2" charset="0"/>
              </a:rPr>
              <a:t>Review for privacy, security, governance; supplement what Claude cannot see; keep a human who read the diff. 'Looks right' is how confident-and-wrong ships at scale.</a:t>
            </a:r>
          </a:p>
        </p:txBody>
      </p:sp>
    </p:spTree>
    <p:extLst>
      <p:ext uri="{BB962C8B-B14F-4D97-AF65-F5344CB8AC3E}">
        <p14:creationId xmlns:p14="http://schemas.microsoft.com/office/powerpoint/2010/main" val="5521056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ext 5">
            <a:extLst>
              <a:ext uri="{FF2B5EF4-FFF2-40B4-BE49-F238E27FC236}">
                <a16:creationId xmlns:a16="http://schemas.microsoft.com/office/drawing/2014/main" id="{FB661D55-42C8-FC07-32E5-A18611959BBF}"/>
              </a:ext>
            </a:extLst>
          </p:cNvPr>
          <p:cNvSpPr/>
          <p:nvPr/>
        </p:nvSpPr>
        <p:spPr>
          <a:xfrm>
            <a:off x="342900" y="617220"/>
            <a:ext cx="8455914" cy="411480"/>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Wiring a payments API into a PoC.</a:t>
            </a:r>
            <a:endParaRPr lang="en-US" sz="1400">
              <a:latin typeface="Open Sans" pitchFamily="2" charset="0"/>
              <a:ea typeface="Open Sans" pitchFamily="2" charset="0"/>
              <a:cs typeface="Open Sans" pitchFamily="2" charset="0"/>
            </a:endParaRPr>
          </a:p>
        </p:txBody>
      </p:sp>
      <p:sp>
        <p:nvSpPr>
          <p:cNvPr id="75" name="Text 8">
            <a:extLst>
              <a:ext uri="{FF2B5EF4-FFF2-40B4-BE49-F238E27FC236}">
                <a16:creationId xmlns:a16="http://schemas.microsoft.com/office/drawing/2014/main" id="{CAE5EAD1-4E9F-82DD-C124-1210A577B5AE}"/>
              </a:ext>
            </a:extLst>
          </p:cNvPr>
          <p:cNvSpPr/>
          <p:nvPr/>
        </p:nvSpPr>
        <p:spPr>
          <a:xfrm>
            <a:off x="1110996" y="1110996"/>
            <a:ext cx="7680960" cy="385028"/>
          </a:xfrm>
          <a:prstGeom prst="rect">
            <a:avLst/>
          </a:prstGeom>
          <a:noFill/>
          <a:ln/>
        </p:spPr>
        <p:txBody>
          <a:bodyPr wrap="square" lIns="0" tIns="0" rIns="0" bIns="0" rtlCol="0" anchor="ctr"/>
          <a:lstStyle/>
          <a:p>
            <a:r>
              <a:rPr lang="en-US" sz="1000" b="1" dirty="0">
                <a:solidFill>
                  <a:schemeClr val="tx1">
                    <a:lumMod val="75000"/>
                  </a:schemeClr>
                </a:solidFill>
                <a:latin typeface="Open Sans" pitchFamily="2" charset="0"/>
                <a:ea typeface="Open Sans" pitchFamily="2" charset="0"/>
                <a:cs typeface="Open Sans" pitchFamily="2" charset="0"/>
              </a:rPr>
              <a:t>Store the API key in an env var, not the code.</a:t>
            </a:r>
            <a:endParaRPr lang="en-US" sz="1000" dirty="0">
              <a:solidFill>
                <a:schemeClr val="tx1">
                  <a:lumMod val="75000"/>
                </a:schemeClr>
              </a:solidFill>
              <a:latin typeface="Open Sans" pitchFamily="2" charset="0"/>
              <a:ea typeface="Open Sans" pitchFamily="2" charset="0"/>
              <a:cs typeface="Open Sans" pitchFamily="2" charset="0"/>
            </a:endParaRPr>
          </a:p>
        </p:txBody>
      </p:sp>
      <p:sp>
        <p:nvSpPr>
          <p:cNvPr id="76" name="Text 11">
            <a:extLst>
              <a:ext uri="{FF2B5EF4-FFF2-40B4-BE49-F238E27FC236}">
                <a16:creationId xmlns:a16="http://schemas.microsoft.com/office/drawing/2014/main" id="{6F94E527-B1CA-5171-A332-B0EB8154446D}"/>
              </a:ext>
            </a:extLst>
          </p:cNvPr>
          <p:cNvSpPr/>
          <p:nvPr/>
        </p:nvSpPr>
        <p:spPr>
          <a:xfrm>
            <a:off x="1110996" y="1496023"/>
            <a:ext cx="7680960" cy="385028"/>
          </a:xfrm>
          <a:prstGeom prst="rect">
            <a:avLst/>
          </a:prstGeom>
          <a:noFill/>
          <a:ln/>
        </p:spPr>
        <p:txBody>
          <a:bodyPr wrap="square" lIns="0" tIns="0" rIns="0" bIns="0" rtlCol="0" anchor="ctr"/>
          <a:lstStyle/>
          <a:p>
            <a:r>
              <a:rPr lang="en-US" sz="1000" b="1" dirty="0">
                <a:solidFill>
                  <a:schemeClr val="tx1">
                    <a:lumMod val="75000"/>
                  </a:schemeClr>
                </a:solidFill>
                <a:latin typeface="Open Sans" pitchFamily="2" charset="0"/>
                <a:ea typeface="Open Sans" pitchFamily="2" charset="0"/>
                <a:cs typeface="Open Sans" pitchFamily="2" charset="0"/>
              </a:rPr>
              <a:t>Hardcode the key so the demo runs.</a:t>
            </a:r>
            <a:endParaRPr lang="en-US" sz="1000" dirty="0">
              <a:solidFill>
                <a:schemeClr val="tx1">
                  <a:lumMod val="75000"/>
                </a:schemeClr>
              </a:solidFill>
              <a:latin typeface="Open Sans" pitchFamily="2" charset="0"/>
              <a:ea typeface="Open Sans" pitchFamily="2" charset="0"/>
              <a:cs typeface="Open Sans" pitchFamily="2" charset="0"/>
            </a:endParaRPr>
          </a:p>
        </p:txBody>
      </p:sp>
      <p:sp>
        <p:nvSpPr>
          <p:cNvPr id="77" name="Text 14">
            <a:extLst>
              <a:ext uri="{FF2B5EF4-FFF2-40B4-BE49-F238E27FC236}">
                <a16:creationId xmlns:a16="http://schemas.microsoft.com/office/drawing/2014/main" id="{74FC8D25-030C-855A-2AA7-55B8230AA997}"/>
              </a:ext>
            </a:extLst>
          </p:cNvPr>
          <p:cNvSpPr/>
          <p:nvPr/>
        </p:nvSpPr>
        <p:spPr>
          <a:xfrm>
            <a:off x="1110996" y="1881052"/>
            <a:ext cx="7680960" cy="385028"/>
          </a:xfrm>
          <a:prstGeom prst="rect">
            <a:avLst/>
          </a:prstGeom>
          <a:noFill/>
          <a:ln/>
        </p:spPr>
        <p:txBody>
          <a:bodyPr wrap="square" lIns="0" tIns="0" rIns="0" bIns="0" rtlCol="0" anchor="ctr"/>
          <a:lstStyle/>
          <a:p>
            <a:r>
              <a:rPr lang="en-US" sz="1000" b="1">
                <a:solidFill>
                  <a:schemeClr val="tx1">
                    <a:lumMod val="75000"/>
                  </a:schemeClr>
                </a:solidFill>
                <a:latin typeface="Open Sans" pitchFamily="2" charset="0"/>
                <a:ea typeface="Open Sans" pitchFamily="2" charset="0"/>
                <a:cs typeface="Open Sans" pitchFamily="2" charset="0"/>
              </a:rPr>
              <a:t>Handle the documented failure modes and timeouts.</a:t>
            </a:r>
            <a:endParaRPr lang="en-US" sz="1000">
              <a:solidFill>
                <a:schemeClr val="tx1">
                  <a:lumMod val="75000"/>
                </a:schemeClr>
              </a:solidFill>
              <a:latin typeface="Open Sans" pitchFamily="2" charset="0"/>
              <a:ea typeface="Open Sans" pitchFamily="2" charset="0"/>
              <a:cs typeface="Open Sans" pitchFamily="2" charset="0"/>
            </a:endParaRPr>
          </a:p>
        </p:txBody>
      </p:sp>
      <p:sp>
        <p:nvSpPr>
          <p:cNvPr id="78" name="Text 17">
            <a:extLst>
              <a:ext uri="{FF2B5EF4-FFF2-40B4-BE49-F238E27FC236}">
                <a16:creationId xmlns:a16="http://schemas.microsoft.com/office/drawing/2014/main" id="{A3383356-4FA8-D30D-B479-3183BF463261}"/>
              </a:ext>
            </a:extLst>
          </p:cNvPr>
          <p:cNvSpPr/>
          <p:nvPr/>
        </p:nvSpPr>
        <p:spPr>
          <a:xfrm>
            <a:off x="1110996" y="2266079"/>
            <a:ext cx="7680960" cy="385028"/>
          </a:xfrm>
          <a:prstGeom prst="rect">
            <a:avLst/>
          </a:prstGeom>
          <a:noFill/>
          <a:ln/>
        </p:spPr>
        <p:txBody>
          <a:bodyPr wrap="square" lIns="0" tIns="0" rIns="0" bIns="0" rtlCol="0" anchor="ctr"/>
          <a:lstStyle/>
          <a:p>
            <a:r>
              <a:rPr lang="en-US" sz="1000" b="1">
                <a:solidFill>
                  <a:schemeClr val="tx1">
                    <a:lumMod val="75000"/>
                  </a:schemeClr>
                </a:solidFill>
                <a:latin typeface="Open Sans" pitchFamily="2" charset="0"/>
                <a:ea typeface="Open Sans" pitchFamily="2" charset="0"/>
                <a:cs typeface="Open Sans" pitchFamily="2" charset="0"/>
              </a:rPr>
              <a:t>Add a retry with backoff on transient errors.</a:t>
            </a:r>
            <a:endParaRPr lang="en-US" sz="1000">
              <a:solidFill>
                <a:schemeClr val="tx1">
                  <a:lumMod val="75000"/>
                </a:schemeClr>
              </a:solidFill>
              <a:latin typeface="Open Sans" pitchFamily="2" charset="0"/>
              <a:ea typeface="Open Sans" pitchFamily="2" charset="0"/>
              <a:cs typeface="Open Sans" pitchFamily="2" charset="0"/>
            </a:endParaRPr>
          </a:p>
        </p:txBody>
      </p:sp>
      <p:sp>
        <p:nvSpPr>
          <p:cNvPr id="79" name="Text 20">
            <a:extLst>
              <a:ext uri="{FF2B5EF4-FFF2-40B4-BE49-F238E27FC236}">
                <a16:creationId xmlns:a16="http://schemas.microsoft.com/office/drawing/2014/main" id="{8784A2E7-B389-F58E-563D-1B1CFB02CBD0}"/>
              </a:ext>
            </a:extLst>
          </p:cNvPr>
          <p:cNvSpPr/>
          <p:nvPr/>
        </p:nvSpPr>
        <p:spPr>
          <a:xfrm>
            <a:off x="1110996" y="2651107"/>
            <a:ext cx="7680960" cy="385028"/>
          </a:xfrm>
          <a:prstGeom prst="rect">
            <a:avLst/>
          </a:prstGeom>
          <a:noFill/>
          <a:ln/>
        </p:spPr>
        <p:txBody>
          <a:bodyPr wrap="square" lIns="0" tIns="0" rIns="0" bIns="0" rtlCol="0" anchor="ctr"/>
          <a:lstStyle/>
          <a:p>
            <a:r>
              <a:rPr lang="en-US" sz="1000" b="1">
                <a:solidFill>
                  <a:schemeClr val="tx1">
                    <a:lumMod val="75000"/>
                  </a:schemeClr>
                </a:solidFill>
                <a:latin typeface="Open Sans" pitchFamily="2" charset="0"/>
                <a:ea typeface="Open Sans" pitchFamily="2" charset="0"/>
                <a:cs typeface="Open Sans" pitchFamily="2" charset="0"/>
              </a:rPr>
              <a:t>Paste the live secret into the prompt to test.</a:t>
            </a:r>
            <a:endParaRPr lang="en-US" sz="1000">
              <a:solidFill>
                <a:schemeClr val="tx1">
                  <a:lumMod val="75000"/>
                </a:schemeClr>
              </a:solidFill>
              <a:latin typeface="Open Sans" pitchFamily="2" charset="0"/>
              <a:ea typeface="Open Sans" pitchFamily="2" charset="0"/>
              <a:cs typeface="Open Sans" pitchFamily="2" charset="0"/>
            </a:endParaRPr>
          </a:p>
        </p:txBody>
      </p:sp>
      <p:sp>
        <p:nvSpPr>
          <p:cNvPr id="80" name="Text 23">
            <a:extLst>
              <a:ext uri="{FF2B5EF4-FFF2-40B4-BE49-F238E27FC236}">
                <a16:creationId xmlns:a16="http://schemas.microsoft.com/office/drawing/2014/main" id="{66770E6E-F141-ECCC-0A62-C999569EADA6}"/>
              </a:ext>
            </a:extLst>
          </p:cNvPr>
          <p:cNvSpPr/>
          <p:nvPr/>
        </p:nvSpPr>
        <p:spPr>
          <a:xfrm>
            <a:off x="1110996" y="3036134"/>
            <a:ext cx="7680960" cy="385028"/>
          </a:xfrm>
          <a:prstGeom prst="rect">
            <a:avLst/>
          </a:prstGeom>
          <a:noFill/>
          <a:ln/>
        </p:spPr>
        <p:txBody>
          <a:bodyPr wrap="square" lIns="0" tIns="0" rIns="0" bIns="0" rtlCol="0" anchor="ctr"/>
          <a:lstStyle/>
          <a:p>
            <a:r>
              <a:rPr lang="en-US" sz="1000" b="1">
                <a:solidFill>
                  <a:schemeClr val="tx1">
                    <a:lumMod val="75000"/>
                  </a:schemeClr>
                </a:solidFill>
                <a:latin typeface="Open Sans" pitchFamily="2" charset="0"/>
                <a:ea typeface="Open Sans" pitchFamily="2" charset="0"/>
                <a:cs typeface="Open Sans" pitchFamily="2" charset="0"/>
              </a:rPr>
              <a:t>Log the calls without logging the secret.</a:t>
            </a:r>
            <a:endParaRPr lang="en-US" sz="1000">
              <a:solidFill>
                <a:schemeClr val="tx1">
                  <a:lumMod val="75000"/>
                </a:schemeClr>
              </a:solidFill>
              <a:latin typeface="Open Sans" pitchFamily="2" charset="0"/>
              <a:ea typeface="Open Sans" pitchFamily="2" charset="0"/>
              <a:cs typeface="Open Sans" pitchFamily="2" charset="0"/>
            </a:endParaRPr>
          </a:p>
        </p:txBody>
      </p:sp>
      <p:sp>
        <p:nvSpPr>
          <p:cNvPr id="82" name="Text 10">
            <a:extLst>
              <a:ext uri="{FF2B5EF4-FFF2-40B4-BE49-F238E27FC236}">
                <a16:creationId xmlns:a16="http://schemas.microsoft.com/office/drawing/2014/main" id="{A65F5B72-5AD4-BCAB-967D-86B99C2A2761}"/>
              </a:ext>
            </a:extLst>
          </p:cNvPr>
          <p:cNvSpPr/>
          <p:nvPr/>
        </p:nvSpPr>
        <p:spPr>
          <a:xfrm>
            <a:off x="342900" y="152345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83" name="Text 13">
            <a:extLst>
              <a:ext uri="{FF2B5EF4-FFF2-40B4-BE49-F238E27FC236}">
                <a16:creationId xmlns:a16="http://schemas.microsoft.com/office/drawing/2014/main" id="{5B072F2B-C569-35F7-E3BF-7AFB9D62B0C8}"/>
              </a:ext>
            </a:extLst>
          </p:cNvPr>
          <p:cNvSpPr/>
          <p:nvPr/>
        </p:nvSpPr>
        <p:spPr>
          <a:xfrm>
            <a:off x="342900" y="1908484"/>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84" name="Text 16">
            <a:extLst>
              <a:ext uri="{FF2B5EF4-FFF2-40B4-BE49-F238E27FC236}">
                <a16:creationId xmlns:a16="http://schemas.microsoft.com/office/drawing/2014/main" id="{0C638C56-6333-54E1-FB32-471792FD7920}"/>
              </a:ext>
            </a:extLst>
          </p:cNvPr>
          <p:cNvSpPr/>
          <p:nvPr/>
        </p:nvSpPr>
        <p:spPr>
          <a:xfrm>
            <a:off x="342900" y="2293511"/>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85" name="Text 19">
            <a:extLst>
              <a:ext uri="{FF2B5EF4-FFF2-40B4-BE49-F238E27FC236}">
                <a16:creationId xmlns:a16="http://schemas.microsoft.com/office/drawing/2014/main" id="{D1514F04-45C1-561E-5AD7-C3747561EFC3}"/>
              </a:ext>
            </a:extLst>
          </p:cNvPr>
          <p:cNvSpPr/>
          <p:nvPr/>
        </p:nvSpPr>
        <p:spPr>
          <a:xfrm>
            <a:off x="342900" y="2678539"/>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86" name="Text 22">
            <a:extLst>
              <a:ext uri="{FF2B5EF4-FFF2-40B4-BE49-F238E27FC236}">
                <a16:creationId xmlns:a16="http://schemas.microsoft.com/office/drawing/2014/main" id="{CEBBC235-E68F-31DA-774D-2109FA84F0A7}"/>
              </a:ext>
            </a:extLst>
          </p:cNvPr>
          <p:cNvSpPr/>
          <p:nvPr/>
        </p:nvSpPr>
        <p:spPr>
          <a:xfrm>
            <a:off x="342900" y="306356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87" name="Shape 6">
            <a:extLst>
              <a:ext uri="{FF2B5EF4-FFF2-40B4-BE49-F238E27FC236}">
                <a16:creationId xmlns:a16="http://schemas.microsoft.com/office/drawing/2014/main" id="{5DC5D7C0-0D6C-FCB2-538A-80A73DB3BE7F}"/>
              </a:ext>
            </a:extLst>
          </p:cNvPr>
          <p:cNvSpPr/>
          <p:nvPr/>
        </p:nvSpPr>
        <p:spPr>
          <a:xfrm>
            <a:off x="338981" y="3118922"/>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92" name="Text 7">
            <a:extLst>
              <a:ext uri="{FF2B5EF4-FFF2-40B4-BE49-F238E27FC236}">
                <a16:creationId xmlns:a16="http://schemas.microsoft.com/office/drawing/2014/main" id="{4BA07EFD-4920-B861-13E4-A9077F85ADF9}"/>
              </a:ext>
            </a:extLst>
          </p:cNvPr>
          <p:cNvSpPr/>
          <p:nvPr/>
        </p:nvSpPr>
        <p:spPr>
          <a:xfrm>
            <a:off x="338981" y="1414573"/>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93" name="Text 7">
            <a:extLst>
              <a:ext uri="{FF2B5EF4-FFF2-40B4-BE49-F238E27FC236}">
                <a16:creationId xmlns:a16="http://schemas.microsoft.com/office/drawing/2014/main" id="{BD6CC264-97B8-F3D8-8673-431C69CA4417}"/>
              </a:ext>
            </a:extLst>
          </p:cNvPr>
          <p:cNvSpPr/>
          <p:nvPr/>
        </p:nvSpPr>
        <p:spPr>
          <a:xfrm>
            <a:off x="342900" y="1138428"/>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94" name="Shape 6">
            <a:extLst>
              <a:ext uri="{FF2B5EF4-FFF2-40B4-BE49-F238E27FC236}">
                <a16:creationId xmlns:a16="http://schemas.microsoft.com/office/drawing/2014/main" id="{2DD8DB98-F2A0-8430-5C10-D7713F573471}"/>
              </a:ext>
            </a:extLst>
          </p:cNvPr>
          <p:cNvSpPr/>
          <p:nvPr/>
        </p:nvSpPr>
        <p:spPr>
          <a:xfrm>
            <a:off x="338981" y="1193782"/>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96" name="Shape 6">
            <a:extLst>
              <a:ext uri="{FF2B5EF4-FFF2-40B4-BE49-F238E27FC236}">
                <a16:creationId xmlns:a16="http://schemas.microsoft.com/office/drawing/2014/main" id="{D03381C3-B517-EDF0-BAE3-7FA32FE14687}"/>
              </a:ext>
            </a:extLst>
          </p:cNvPr>
          <p:cNvSpPr/>
          <p:nvPr/>
        </p:nvSpPr>
        <p:spPr>
          <a:xfrm>
            <a:off x="338981" y="1963838"/>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98" name="Shape 6">
            <a:extLst>
              <a:ext uri="{FF2B5EF4-FFF2-40B4-BE49-F238E27FC236}">
                <a16:creationId xmlns:a16="http://schemas.microsoft.com/office/drawing/2014/main" id="{154A0BB6-2F34-A757-9C47-970AFE516026}"/>
              </a:ext>
            </a:extLst>
          </p:cNvPr>
          <p:cNvSpPr/>
          <p:nvPr/>
        </p:nvSpPr>
        <p:spPr>
          <a:xfrm>
            <a:off x="338981" y="2348866"/>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100" name="Shape 6">
            <a:extLst>
              <a:ext uri="{FF2B5EF4-FFF2-40B4-BE49-F238E27FC236}">
                <a16:creationId xmlns:a16="http://schemas.microsoft.com/office/drawing/2014/main" id="{378C0B59-5C0A-16C7-5C32-10B9710FABA4}"/>
              </a:ext>
            </a:extLst>
          </p:cNvPr>
          <p:cNvSpPr/>
          <p:nvPr/>
        </p:nvSpPr>
        <p:spPr>
          <a:xfrm>
            <a:off x="342900" y="2738742"/>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102" name="Text 10">
            <a:extLst>
              <a:ext uri="{FF2B5EF4-FFF2-40B4-BE49-F238E27FC236}">
                <a16:creationId xmlns:a16="http://schemas.microsoft.com/office/drawing/2014/main" id="{3454054C-E0F9-5ED6-2CA6-EC4436F523FD}"/>
              </a:ext>
            </a:extLst>
          </p:cNvPr>
          <p:cNvSpPr/>
          <p:nvPr/>
        </p:nvSpPr>
        <p:spPr>
          <a:xfrm>
            <a:off x="346819" y="1523455"/>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03" name="Text 19">
            <a:extLst>
              <a:ext uri="{FF2B5EF4-FFF2-40B4-BE49-F238E27FC236}">
                <a16:creationId xmlns:a16="http://schemas.microsoft.com/office/drawing/2014/main" id="{0B135B55-5583-4232-4AA6-C0580FEF6594}"/>
              </a:ext>
            </a:extLst>
          </p:cNvPr>
          <p:cNvSpPr/>
          <p:nvPr/>
        </p:nvSpPr>
        <p:spPr>
          <a:xfrm>
            <a:off x="346819" y="2678538"/>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04" name="Shape 6">
            <a:extLst>
              <a:ext uri="{FF2B5EF4-FFF2-40B4-BE49-F238E27FC236}">
                <a16:creationId xmlns:a16="http://schemas.microsoft.com/office/drawing/2014/main" id="{EF3E8E10-B698-0F5D-8385-24E79BF846DB}"/>
              </a:ext>
            </a:extLst>
          </p:cNvPr>
          <p:cNvSpPr/>
          <p:nvPr/>
        </p:nvSpPr>
        <p:spPr>
          <a:xfrm>
            <a:off x="342900" y="1578809"/>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4080429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029E5-7CCC-FF8F-BDE0-A2DBD463C9D1}"/>
            </a:ext>
          </a:extLst>
        </p:cNvPr>
        <p:cNvGrpSpPr/>
        <p:nvPr/>
      </p:nvGrpSpPr>
      <p:grpSpPr>
        <a:xfrm>
          <a:off x="0" y="0"/>
          <a:ext cx="0" cy="0"/>
          <a:chOff x="0" y="0"/>
          <a:chExt cx="0" cy="0"/>
        </a:xfrm>
      </p:grpSpPr>
      <p:sp>
        <p:nvSpPr>
          <p:cNvPr id="27" name="Shape 24">
            <a:extLst>
              <a:ext uri="{FF2B5EF4-FFF2-40B4-BE49-F238E27FC236}">
                <a16:creationId xmlns:a16="http://schemas.microsoft.com/office/drawing/2014/main" id="{EC9759AB-3465-B68D-3AAB-0E93507406B8}"/>
              </a:ext>
            </a:extLst>
          </p:cNvPr>
          <p:cNvSpPr/>
          <p:nvPr/>
        </p:nvSpPr>
        <p:spPr>
          <a:xfrm>
            <a:off x="342900" y="3737327"/>
            <a:ext cx="8455914" cy="788953"/>
          </a:xfrm>
          <a:prstGeom prst="roundRect">
            <a:avLst>
              <a:gd name="adj" fmla="val 5333"/>
            </a:avLst>
          </a:prstGeom>
          <a:solidFill>
            <a:srgbClr val="EEF2F8"/>
          </a:solidFill>
          <a:ln/>
          <a:effectLst>
            <a:outerShdw blurRad="76200" dist="38100" dir="5400000" algn="bl" rotWithShape="0">
              <a:srgbClr val="9AA3B0">
                <a:alpha val="30000"/>
              </a:srgbClr>
            </a:outerShdw>
          </a:effectLst>
        </p:spPr>
        <p:txBody>
          <a:bodyPr/>
          <a:lstStyle/>
          <a:p>
            <a:endParaRPr lang="en-US" sz="1050">
              <a:latin typeface="Open Sans" pitchFamily="2" charset="0"/>
              <a:ea typeface="Open Sans" pitchFamily="2" charset="0"/>
              <a:cs typeface="Open Sans" pitchFamily="2" charset="0"/>
            </a:endParaRPr>
          </a:p>
        </p:txBody>
      </p:sp>
      <p:sp>
        <p:nvSpPr>
          <p:cNvPr id="28" name="Text 25">
            <a:extLst>
              <a:ext uri="{FF2B5EF4-FFF2-40B4-BE49-F238E27FC236}">
                <a16:creationId xmlns:a16="http://schemas.microsoft.com/office/drawing/2014/main" id="{FC2DEAE1-4218-9140-978D-997F7545CE11}"/>
              </a:ext>
            </a:extLst>
          </p:cNvPr>
          <p:cNvSpPr/>
          <p:nvPr/>
        </p:nvSpPr>
        <p:spPr>
          <a:xfrm>
            <a:off x="534924" y="3833339"/>
            <a:ext cx="5486400" cy="205740"/>
          </a:xfrm>
          <a:prstGeom prst="rect">
            <a:avLst/>
          </a:prstGeom>
          <a:noFill/>
          <a:ln/>
        </p:spPr>
        <p:txBody>
          <a:bodyPr wrap="square" lIns="0" tIns="0" rIns="0" bIns="0" rtlCol="0" anchor="ctr"/>
          <a:lstStyle/>
          <a:p>
            <a:r>
              <a:rPr lang="en-US" sz="1050" b="1" kern="0" spc="113">
                <a:solidFill>
                  <a:schemeClr val="accent1"/>
                </a:solidFill>
                <a:latin typeface="Open Sans" pitchFamily="2" charset="0"/>
                <a:ea typeface="Open Sans" pitchFamily="2" charset="0"/>
                <a:cs typeface="Open Sans" pitchFamily="2" charset="0"/>
              </a:rPr>
              <a:t>THROUGH THE LENS</a:t>
            </a:r>
            <a:endParaRPr lang="en-US" sz="1050">
              <a:solidFill>
                <a:schemeClr val="accent1"/>
              </a:solidFill>
              <a:latin typeface="Open Sans" pitchFamily="2" charset="0"/>
              <a:ea typeface="Open Sans" pitchFamily="2" charset="0"/>
              <a:cs typeface="Open Sans" pitchFamily="2" charset="0"/>
            </a:endParaRPr>
          </a:p>
        </p:txBody>
      </p:sp>
      <p:sp>
        <p:nvSpPr>
          <p:cNvPr id="29" name="Shape 26">
            <a:extLst>
              <a:ext uri="{FF2B5EF4-FFF2-40B4-BE49-F238E27FC236}">
                <a16:creationId xmlns:a16="http://schemas.microsoft.com/office/drawing/2014/main" id="{F4A924A5-AC36-D1E9-9861-71AE5F87B0FB}"/>
              </a:ext>
            </a:extLst>
          </p:cNvPr>
          <p:cNvSpPr/>
          <p:nvPr/>
        </p:nvSpPr>
        <p:spPr>
          <a:xfrm>
            <a:off x="534924" y="4080227"/>
            <a:ext cx="1717929" cy="274320"/>
          </a:xfrm>
          <a:prstGeom prst="roundRect">
            <a:avLst>
              <a:gd name="adj" fmla="val 15000"/>
            </a:avLst>
          </a:prstGeom>
          <a:solidFill>
            <a:srgbClr val="00B050"/>
          </a:solidFill>
          <a:ln/>
        </p:spPr>
        <p:txBody>
          <a:bodyPr/>
          <a:lstStyle/>
          <a:p>
            <a:endParaRPr lang="en-US" sz="1050">
              <a:latin typeface="Open Sans" pitchFamily="2" charset="0"/>
              <a:ea typeface="Open Sans" pitchFamily="2" charset="0"/>
              <a:cs typeface="Open Sans" pitchFamily="2" charset="0"/>
            </a:endParaRPr>
          </a:p>
        </p:txBody>
      </p:sp>
      <p:sp>
        <p:nvSpPr>
          <p:cNvPr id="30" name="Text 27">
            <a:extLst>
              <a:ext uri="{FF2B5EF4-FFF2-40B4-BE49-F238E27FC236}">
                <a16:creationId xmlns:a16="http://schemas.microsoft.com/office/drawing/2014/main" id="{F14B68F3-3754-74D5-356D-E41C198D4956}"/>
              </a:ext>
            </a:extLst>
          </p:cNvPr>
          <p:cNvSpPr/>
          <p:nvPr/>
        </p:nvSpPr>
        <p:spPr>
          <a:xfrm>
            <a:off x="534924" y="4080227"/>
            <a:ext cx="1717929" cy="274320"/>
          </a:xfrm>
          <a:prstGeom prst="rect">
            <a:avLst/>
          </a:prstGeom>
          <a:noFill/>
          <a:ln/>
        </p:spPr>
        <p:txBody>
          <a:bodyPr wrap="square" lIns="0" tIns="0" rIns="0" bIns="0" rtlCol="0" anchor="ctr"/>
          <a:lstStyle/>
          <a:p>
            <a:pPr algn="ctr"/>
            <a:r>
              <a:rPr lang="en-US" sz="1050" b="1">
                <a:solidFill>
                  <a:schemeClr val="bg1"/>
                </a:solidFill>
                <a:latin typeface="Open Sans" pitchFamily="2" charset="0"/>
                <a:ea typeface="Open Sans" pitchFamily="2" charset="0"/>
                <a:cs typeface="Open Sans" pitchFamily="2" charset="0"/>
              </a:rPr>
              <a:t>Security</a:t>
            </a:r>
            <a:endParaRPr lang="en-US" sz="1050">
              <a:solidFill>
                <a:schemeClr val="bg1"/>
              </a:solidFill>
              <a:latin typeface="Open Sans" pitchFamily="2" charset="0"/>
              <a:ea typeface="Open Sans" pitchFamily="2" charset="0"/>
              <a:cs typeface="Open Sans" pitchFamily="2" charset="0"/>
            </a:endParaRPr>
          </a:p>
        </p:txBody>
      </p:sp>
      <p:sp>
        <p:nvSpPr>
          <p:cNvPr id="31" name="Text 28">
            <a:extLst>
              <a:ext uri="{FF2B5EF4-FFF2-40B4-BE49-F238E27FC236}">
                <a16:creationId xmlns:a16="http://schemas.microsoft.com/office/drawing/2014/main" id="{C41DBFD4-688B-EDE0-A777-1B1AAC06D0AE}"/>
              </a:ext>
            </a:extLst>
          </p:cNvPr>
          <p:cNvSpPr/>
          <p:nvPr/>
        </p:nvSpPr>
        <p:spPr>
          <a:xfrm>
            <a:off x="2338578" y="3874770"/>
            <a:ext cx="6374511" cy="651510"/>
          </a:xfrm>
          <a:prstGeom prst="rect">
            <a:avLst/>
          </a:prstGeom>
          <a:noFill/>
          <a:ln/>
        </p:spPr>
        <p:txBody>
          <a:bodyPr wrap="square" lIns="0" tIns="0" rIns="0" bIns="0" rtlCol="0" anchor="ctr"/>
          <a:lstStyle/>
          <a:p>
            <a:r>
              <a:rPr lang="en-US" sz="1050">
                <a:solidFill>
                  <a:schemeClr val="tx2"/>
                </a:solidFill>
                <a:latin typeface="Open Sans" pitchFamily="2" charset="0"/>
                <a:ea typeface="Open Sans" pitchFamily="2" charset="0"/>
                <a:cs typeface="Open Sans" pitchFamily="2" charset="0"/>
              </a:rPr>
              <a:t>Secrets via env, failures handled, secret never in the prompt or the logs.</a:t>
            </a:r>
          </a:p>
        </p:txBody>
      </p:sp>
      <p:sp>
        <p:nvSpPr>
          <p:cNvPr id="74" name="Text 5">
            <a:extLst>
              <a:ext uri="{FF2B5EF4-FFF2-40B4-BE49-F238E27FC236}">
                <a16:creationId xmlns:a16="http://schemas.microsoft.com/office/drawing/2014/main" id="{A6938A73-E84E-0E0D-69D8-EAF91DE287F1}"/>
              </a:ext>
            </a:extLst>
          </p:cNvPr>
          <p:cNvSpPr/>
          <p:nvPr/>
        </p:nvSpPr>
        <p:spPr>
          <a:xfrm>
            <a:off x="342900" y="617220"/>
            <a:ext cx="8455914" cy="411480"/>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Wiring a payments API into a PoC.</a:t>
            </a:r>
            <a:endParaRPr lang="en-US" sz="1400">
              <a:latin typeface="Open Sans" pitchFamily="2" charset="0"/>
              <a:ea typeface="Open Sans" pitchFamily="2" charset="0"/>
              <a:cs typeface="Open Sans" pitchFamily="2" charset="0"/>
            </a:endParaRPr>
          </a:p>
        </p:txBody>
      </p:sp>
      <p:sp>
        <p:nvSpPr>
          <p:cNvPr id="75" name="Text 8">
            <a:extLst>
              <a:ext uri="{FF2B5EF4-FFF2-40B4-BE49-F238E27FC236}">
                <a16:creationId xmlns:a16="http://schemas.microsoft.com/office/drawing/2014/main" id="{59CB4127-74AA-C73C-EAA4-3F5168F2287B}"/>
              </a:ext>
            </a:extLst>
          </p:cNvPr>
          <p:cNvSpPr/>
          <p:nvPr/>
        </p:nvSpPr>
        <p:spPr>
          <a:xfrm>
            <a:off x="1110996" y="1110996"/>
            <a:ext cx="7680960" cy="385028"/>
          </a:xfrm>
          <a:prstGeom prst="rect">
            <a:avLst/>
          </a:prstGeom>
          <a:noFill/>
          <a:ln/>
        </p:spPr>
        <p:txBody>
          <a:bodyPr wrap="square" lIns="0" tIns="0" rIns="0" bIns="0" rtlCol="0" anchor="ctr"/>
          <a:lstStyle/>
          <a:p>
            <a:r>
              <a:rPr lang="en-US" sz="1000" b="1" dirty="0">
                <a:latin typeface="Open Sans" pitchFamily="2" charset="0"/>
                <a:ea typeface="Open Sans" pitchFamily="2" charset="0"/>
                <a:cs typeface="Open Sans" pitchFamily="2" charset="0"/>
              </a:rPr>
              <a:t>Store the API key in an env var, not the code.</a:t>
            </a:r>
            <a:endParaRPr lang="en-US" sz="1000" dirty="0">
              <a:latin typeface="Open Sans" pitchFamily="2" charset="0"/>
              <a:ea typeface="Open Sans" pitchFamily="2" charset="0"/>
              <a:cs typeface="Open Sans" pitchFamily="2" charset="0"/>
            </a:endParaRPr>
          </a:p>
        </p:txBody>
      </p:sp>
      <p:sp>
        <p:nvSpPr>
          <p:cNvPr id="76" name="Text 11">
            <a:extLst>
              <a:ext uri="{FF2B5EF4-FFF2-40B4-BE49-F238E27FC236}">
                <a16:creationId xmlns:a16="http://schemas.microsoft.com/office/drawing/2014/main" id="{7B4A17B4-148D-3E94-5873-374336E28422}"/>
              </a:ext>
            </a:extLst>
          </p:cNvPr>
          <p:cNvSpPr/>
          <p:nvPr/>
        </p:nvSpPr>
        <p:spPr>
          <a:xfrm>
            <a:off x="1110996" y="1496023"/>
            <a:ext cx="7680960" cy="385028"/>
          </a:xfrm>
          <a:prstGeom prst="rect">
            <a:avLst/>
          </a:prstGeom>
          <a:noFill/>
          <a:ln/>
        </p:spPr>
        <p:txBody>
          <a:bodyPr wrap="square" lIns="0" tIns="0" rIns="0" bIns="0" rtlCol="0" anchor="ctr"/>
          <a:lstStyle/>
          <a:p>
            <a:r>
              <a:rPr lang="en-US" sz="1000" b="1" dirty="0">
                <a:latin typeface="Open Sans" pitchFamily="2" charset="0"/>
                <a:ea typeface="Open Sans" pitchFamily="2" charset="0"/>
                <a:cs typeface="Open Sans" pitchFamily="2" charset="0"/>
              </a:rPr>
              <a:t>Hardcode the key so the demo runs.</a:t>
            </a:r>
            <a:endParaRPr lang="en-US" sz="1000" dirty="0">
              <a:latin typeface="Open Sans" pitchFamily="2" charset="0"/>
              <a:ea typeface="Open Sans" pitchFamily="2" charset="0"/>
              <a:cs typeface="Open Sans" pitchFamily="2" charset="0"/>
            </a:endParaRPr>
          </a:p>
        </p:txBody>
      </p:sp>
      <p:sp>
        <p:nvSpPr>
          <p:cNvPr id="77" name="Text 14">
            <a:extLst>
              <a:ext uri="{FF2B5EF4-FFF2-40B4-BE49-F238E27FC236}">
                <a16:creationId xmlns:a16="http://schemas.microsoft.com/office/drawing/2014/main" id="{88C23F33-07D5-B218-E77E-35CB75A8BE8B}"/>
              </a:ext>
            </a:extLst>
          </p:cNvPr>
          <p:cNvSpPr/>
          <p:nvPr/>
        </p:nvSpPr>
        <p:spPr>
          <a:xfrm>
            <a:off x="1110996" y="1881052"/>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Handle the documented failure modes and timeouts.</a:t>
            </a:r>
            <a:endParaRPr lang="en-US" sz="1000">
              <a:latin typeface="Open Sans" pitchFamily="2" charset="0"/>
              <a:ea typeface="Open Sans" pitchFamily="2" charset="0"/>
              <a:cs typeface="Open Sans" pitchFamily="2" charset="0"/>
            </a:endParaRPr>
          </a:p>
        </p:txBody>
      </p:sp>
      <p:sp>
        <p:nvSpPr>
          <p:cNvPr id="78" name="Text 17">
            <a:extLst>
              <a:ext uri="{FF2B5EF4-FFF2-40B4-BE49-F238E27FC236}">
                <a16:creationId xmlns:a16="http://schemas.microsoft.com/office/drawing/2014/main" id="{4D638D14-E25A-D489-A42A-74E54B525C8F}"/>
              </a:ext>
            </a:extLst>
          </p:cNvPr>
          <p:cNvSpPr/>
          <p:nvPr/>
        </p:nvSpPr>
        <p:spPr>
          <a:xfrm>
            <a:off x="1110996" y="2266079"/>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Add a retry with backoff on transient errors.</a:t>
            </a:r>
            <a:endParaRPr lang="en-US" sz="1000">
              <a:latin typeface="Open Sans" pitchFamily="2" charset="0"/>
              <a:ea typeface="Open Sans" pitchFamily="2" charset="0"/>
              <a:cs typeface="Open Sans" pitchFamily="2" charset="0"/>
            </a:endParaRPr>
          </a:p>
        </p:txBody>
      </p:sp>
      <p:sp>
        <p:nvSpPr>
          <p:cNvPr id="79" name="Text 20">
            <a:extLst>
              <a:ext uri="{FF2B5EF4-FFF2-40B4-BE49-F238E27FC236}">
                <a16:creationId xmlns:a16="http://schemas.microsoft.com/office/drawing/2014/main" id="{C6E01ADB-AC21-72D9-8B71-A48EBB595A7B}"/>
              </a:ext>
            </a:extLst>
          </p:cNvPr>
          <p:cNvSpPr/>
          <p:nvPr/>
        </p:nvSpPr>
        <p:spPr>
          <a:xfrm>
            <a:off x="1110996" y="2651107"/>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Paste the live secret into the prompt to test.</a:t>
            </a:r>
            <a:endParaRPr lang="en-US" sz="1000">
              <a:latin typeface="Open Sans" pitchFamily="2" charset="0"/>
              <a:ea typeface="Open Sans" pitchFamily="2" charset="0"/>
              <a:cs typeface="Open Sans" pitchFamily="2" charset="0"/>
            </a:endParaRPr>
          </a:p>
        </p:txBody>
      </p:sp>
      <p:sp>
        <p:nvSpPr>
          <p:cNvPr id="80" name="Text 23">
            <a:extLst>
              <a:ext uri="{FF2B5EF4-FFF2-40B4-BE49-F238E27FC236}">
                <a16:creationId xmlns:a16="http://schemas.microsoft.com/office/drawing/2014/main" id="{D541642D-368A-D4FF-B681-3CAE4A863E0C}"/>
              </a:ext>
            </a:extLst>
          </p:cNvPr>
          <p:cNvSpPr/>
          <p:nvPr/>
        </p:nvSpPr>
        <p:spPr>
          <a:xfrm>
            <a:off x="1110996" y="3036134"/>
            <a:ext cx="7680960" cy="385028"/>
          </a:xfrm>
          <a:prstGeom prst="rect">
            <a:avLst/>
          </a:prstGeom>
          <a:noFill/>
          <a:ln/>
        </p:spPr>
        <p:txBody>
          <a:bodyPr wrap="square" lIns="0" tIns="0" rIns="0" bIns="0" rtlCol="0" anchor="ctr"/>
          <a:lstStyle/>
          <a:p>
            <a:r>
              <a:rPr lang="en-US" sz="1000" b="1">
                <a:latin typeface="Open Sans" pitchFamily="2" charset="0"/>
                <a:ea typeface="Open Sans" pitchFamily="2" charset="0"/>
                <a:cs typeface="Open Sans" pitchFamily="2" charset="0"/>
              </a:rPr>
              <a:t>Log the calls without logging the secret.</a:t>
            </a:r>
            <a:endParaRPr lang="en-US" sz="1000">
              <a:latin typeface="Open Sans" pitchFamily="2" charset="0"/>
              <a:ea typeface="Open Sans" pitchFamily="2" charset="0"/>
              <a:cs typeface="Open Sans" pitchFamily="2" charset="0"/>
            </a:endParaRPr>
          </a:p>
        </p:txBody>
      </p:sp>
      <p:sp>
        <p:nvSpPr>
          <p:cNvPr id="82" name="Text 10">
            <a:extLst>
              <a:ext uri="{FF2B5EF4-FFF2-40B4-BE49-F238E27FC236}">
                <a16:creationId xmlns:a16="http://schemas.microsoft.com/office/drawing/2014/main" id="{9B54FFBB-8B5F-C17C-B3CA-07A63CA068AE}"/>
              </a:ext>
            </a:extLst>
          </p:cNvPr>
          <p:cNvSpPr/>
          <p:nvPr/>
        </p:nvSpPr>
        <p:spPr>
          <a:xfrm>
            <a:off x="342900" y="152345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83" name="Text 13">
            <a:extLst>
              <a:ext uri="{FF2B5EF4-FFF2-40B4-BE49-F238E27FC236}">
                <a16:creationId xmlns:a16="http://schemas.microsoft.com/office/drawing/2014/main" id="{EB321A67-E35A-DBE3-8E8F-6F5ADA293AFB}"/>
              </a:ext>
            </a:extLst>
          </p:cNvPr>
          <p:cNvSpPr/>
          <p:nvPr/>
        </p:nvSpPr>
        <p:spPr>
          <a:xfrm>
            <a:off x="342900" y="1908484"/>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84" name="Text 16">
            <a:extLst>
              <a:ext uri="{FF2B5EF4-FFF2-40B4-BE49-F238E27FC236}">
                <a16:creationId xmlns:a16="http://schemas.microsoft.com/office/drawing/2014/main" id="{874A3317-8CBA-1937-9BFC-CAE78D38CCBB}"/>
              </a:ext>
            </a:extLst>
          </p:cNvPr>
          <p:cNvSpPr/>
          <p:nvPr/>
        </p:nvSpPr>
        <p:spPr>
          <a:xfrm>
            <a:off x="342900" y="2293511"/>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85" name="Text 19">
            <a:extLst>
              <a:ext uri="{FF2B5EF4-FFF2-40B4-BE49-F238E27FC236}">
                <a16:creationId xmlns:a16="http://schemas.microsoft.com/office/drawing/2014/main" id="{410254DF-D8F9-68B7-BE0C-84B2452CAEAF}"/>
              </a:ext>
            </a:extLst>
          </p:cNvPr>
          <p:cNvSpPr/>
          <p:nvPr/>
        </p:nvSpPr>
        <p:spPr>
          <a:xfrm>
            <a:off x="342900" y="2678539"/>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86" name="Text 22">
            <a:extLst>
              <a:ext uri="{FF2B5EF4-FFF2-40B4-BE49-F238E27FC236}">
                <a16:creationId xmlns:a16="http://schemas.microsoft.com/office/drawing/2014/main" id="{8A408A84-5A18-06D5-D0FE-8C3DF0DE0312}"/>
              </a:ext>
            </a:extLst>
          </p:cNvPr>
          <p:cNvSpPr/>
          <p:nvPr/>
        </p:nvSpPr>
        <p:spPr>
          <a:xfrm>
            <a:off x="342900" y="3063566"/>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87" name="Shape 6">
            <a:extLst>
              <a:ext uri="{FF2B5EF4-FFF2-40B4-BE49-F238E27FC236}">
                <a16:creationId xmlns:a16="http://schemas.microsoft.com/office/drawing/2014/main" id="{ABCE8A36-979D-47AB-F00B-F53E110D161E}"/>
              </a:ext>
            </a:extLst>
          </p:cNvPr>
          <p:cNvSpPr/>
          <p:nvPr/>
        </p:nvSpPr>
        <p:spPr>
          <a:xfrm>
            <a:off x="338981" y="3118922"/>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88" name="Text 7">
            <a:extLst>
              <a:ext uri="{FF2B5EF4-FFF2-40B4-BE49-F238E27FC236}">
                <a16:creationId xmlns:a16="http://schemas.microsoft.com/office/drawing/2014/main" id="{416DBA0C-B74A-284F-EF8E-73A81144CC09}"/>
              </a:ext>
            </a:extLst>
          </p:cNvPr>
          <p:cNvSpPr/>
          <p:nvPr/>
        </p:nvSpPr>
        <p:spPr>
          <a:xfrm>
            <a:off x="338981" y="3118922"/>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92" name="Text 7">
            <a:extLst>
              <a:ext uri="{FF2B5EF4-FFF2-40B4-BE49-F238E27FC236}">
                <a16:creationId xmlns:a16="http://schemas.microsoft.com/office/drawing/2014/main" id="{AAA1B75E-50D7-B7B2-2EEF-6E15F87F4E09}"/>
              </a:ext>
            </a:extLst>
          </p:cNvPr>
          <p:cNvSpPr/>
          <p:nvPr/>
        </p:nvSpPr>
        <p:spPr>
          <a:xfrm>
            <a:off x="338981" y="1414573"/>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93" name="Text 7">
            <a:extLst>
              <a:ext uri="{FF2B5EF4-FFF2-40B4-BE49-F238E27FC236}">
                <a16:creationId xmlns:a16="http://schemas.microsoft.com/office/drawing/2014/main" id="{15957DEC-5098-6284-DF62-C2C742840F22}"/>
              </a:ext>
            </a:extLst>
          </p:cNvPr>
          <p:cNvSpPr/>
          <p:nvPr/>
        </p:nvSpPr>
        <p:spPr>
          <a:xfrm>
            <a:off x="342900" y="1138428"/>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94" name="Shape 6">
            <a:extLst>
              <a:ext uri="{FF2B5EF4-FFF2-40B4-BE49-F238E27FC236}">
                <a16:creationId xmlns:a16="http://schemas.microsoft.com/office/drawing/2014/main" id="{1B113225-1A81-2441-2E45-7036D9AD6928}"/>
              </a:ext>
            </a:extLst>
          </p:cNvPr>
          <p:cNvSpPr/>
          <p:nvPr/>
        </p:nvSpPr>
        <p:spPr>
          <a:xfrm>
            <a:off x="338981" y="1193782"/>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95" name="Text 7">
            <a:extLst>
              <a:ext uri="{FF2B5EF4-FFF2-40B4-BE49-F238E27FC236}">
                <a16:creationId xmlns:a16="http://schemas.microsoft.com/office/drawing/2014/main" id="{59E45023-33F3-3A5C-07E1-F0EC477B4872}"/>
              </a:ext>
            </a:extLst>
          </p:cNvPr>
          <p:cNvSpPr/>
          <p:nvPr/>
        </p:nvSpPr>
        <p:spPr>
          <a:xfrm>
            <a:off x="338981" y="1193782"/>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96" name="Shape 6">
            <a:extLst>
              <a:ext uri="{FF2B5EF4-FFF2-40B4-BE49-F238E27FC236}">
                <a16:creationId xmlns:a16="http://schemas.microsoft.com/office/drawing/2014/main" id="{586148A2-81BC-3B41-B069-F8DD90F9599B}"/>
              </a:ext>
            </a:extLst>
          </p:cNvPr>
          <p:cNvSpPr/>
          <p:nvPr/>
        </p:nvSpPr>
        <p:spPr>
          <a:xfrm>
            <a:off x="338981" y="1963838"/>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97" name="Text 7">
            <a:extLst>
              <a:ext uri="{FF2B5EF4-FFF2-40B4-BE49-F238E27FC236}">
                <a16:creationId xmlns:a16="http://schemas.microsoft.com/office/drawing/2014/main" id="{0744F714-106D-6B3C-2688-923F3355924B}"/>
              </a:ext>
            </a:extLst>
          </p:cNvPr>
          <p:cNvSpPr/>
          <p:nvPr/>
        </p:nvSpPr>
        <p:spPr>
          <a:xfrm>
            <a:off x="338981" y="1963838"/>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98" name="Shape 6">
            <a:extLst>
              <a:ext uri="{FF2B5EF4-FFF2-40B4-BE49-F238E27FC236}">
                <a16:creationId xmlns:a16="http://schemas.microsoft.com/office/drawing/2014/main" id="{9AFA286C-C161-3638-CA96-AEB1C25372B8}"/>
              </a:ext>
            </a:extLst>
          </p:cNvPr>
          <p:cNvSpPr/>
          <p:nvPr/>
        </p:nvSpPr>
        <p:spPr>
          <a:xfrm>
            <a:off x="338981" y="2348866"/>
            <a:ext cx="651510" cy="219456"/>
          </a:xfrm>
          <a:prstGeom prst="roundRect">
            <a:avLst>
              <a:gd name="adj" fmla="val 15625"/>
            </a:avLst>
          </a:prstGeom>
          <a:solidFill>
            <a:srgbClr val="00B050"/>
          </a:solidFill>
          <a:ln>
            <a:noFill/>
          </a:ln>
        </p:spPr>
        <p:txBody>
          <a:bodyPr/>
          <a:lstStyle/>
          <a:p>
            <a:endParaRPr lang="en-US" sz="1350">
              <a:latin typeface="Open Sans" pitchFamily="2" charset="0"/>
              <a:ea typeface="Open Sans" pitchFamily="2" charset="0"/>
              <a:cs typeface="Open Sans" pitchFamily="2" charset="0"/>
            </a:endParaRPr>
          </a:p>
        </p:txBody>
      </p:sp>
      <p:sp>
        <p:nvSpPr>
          <p:cNvPr id="99" name="Text 7">
            <a:extLst>
              <a:ext uri="{FF2B5EF4-FFF2-40B4-BE49-F238E27FC236}">
                <a16:creationId xmlns:a16="http://schemas.microsoft.com/office/drawing/2014/main" id="{DA016D1F-065D-BDFA-EF90-F721EA3DF7D0}"/>
              </a:ext>
            </a:extLst>
          </p:cNvPr>
          <p:cNvSpPr/>
          <p:nvPr/>
        </p:nvSpPr>
        <p:spPr>
          <a:xfrm>
            <a:off x="338981" y="2348866"/>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RIGHT</a:t>
            </a:r>
            <a:endParaRPr lang="en-US" sz="750">
              <a:latin typeface="Open Sans" pitchFamily="2" charset="0"/>
              <a:ea typeface="Open Sans" pitchFamily="2" charset="0"/>
              <a:cs typeface="Open Sans" pitchFamily="2" charset="0"/>
            </a:endParaRPr>
          </a:p>
        </p:txBody>
      </p:sp>
      <p:sp>
        <p:nvSpPr>
          <p:cNvPr id="100" name="Shape 6">
            <a:extLst>
              <a:ext uri="{FF2B5EF4-FFF2-40B4-BE49-F238E27FC236}">
                <a16:creationId xmlns:a16="http://schemas.microsoft.com/office/drawing/2014/main" id="{BEBB597E-A32B-A6A7-D849-6DA6632CADDD}"/>
              </a:ext>
            </a:extLst>
          </p:cNvPr>
          <p:cNvSpPr/>
          <p:nvPr/>
        </p:nvSpPr>
        <p:spPr>
          <a:xfrm>
            <a:off x="342900" y="2738742"/>
            <a:ext cx="651510" cy="219456"/>
          </a:xfrm>
          <a:prstGeom prst="roundRect">
            <a:avLst>
              <a:gd name="adj" fmla="val 15625"/>
            </a:avLst>
          </a:prstGeom>
          <a:solidFill>
            <a:schemeClr val="accent3"/>
          </a:solidFill>
          <a:ln>
            <a:noFill/>
          </a:ln>
        </p:spPr>
        <p:txBody>
          <a:bodyPr/>
          <a:lstStyle/>
          <a:p>
            <a:endParaRPr lang="en-US" sz="1350">
              <a:latin typeface="Open Sans" pitchFamily="2" charset="0"/>
              <a:ea typeface="Open Sans" pitchFamily="2" charset="0"/>
              <a:cs typeface="Open Sans" pitchFamily="2" charset="0"/>
            </a:endParaRPr>
          </a:p>
        </p:txBody>
      </p:sp>
      <p:sp>
        <p:nvSpPr>
          <p:cNvPr id="101" name="Text 7">
            <a:extLst>
              <a:ext uri="{FF2B5EF4-FFF2-40B4-BE49-F238E27FC236}">
                <a16:creationId xmlns:a16="http://schemas.microsoft.com/office/drawing/2014/main" id="{6E9C6680-CCE7-1CC0-AF7B-B4A8E1E02EB1}"/>
              </a:ext>
            </a:extLst>
          </p:cNvPr>
          <p:cNvSpPr/>
          <p:nvPr/>
        </p:nvSpPr>
        <p:spPr>
          <a:xfrm>
            <a:off x="342900" y="2738742"/>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WRONG</a:t>
            </a:r>
            <a:endParaRPr lang="en-US" sz="750">
              <a:latin typeface="Open Sans" pitchFamily="2" charset="0"/>
              <a:ea typeface="Open Sans" pitchFamily="2" charset="0"/>
              <a:cs typeface="Open Sans" pitchFamily="2" charset="0"/>
            </a:endParaRPr>
          </a:p>
        </p:txBody>
      </p:sp>
      <p:sp>
        <p:nvSpPr>
          <p:cNvPr id="102" name="Text 10">
            <a:extLst>
              <a:ext uri="{FF2B5EF4-FFF2-40B4-BE49-F238E27FC236}">
                <a16:creationId xmlns:a16="http://schemas.microsoft.com/office/drawing/2014/main" id="{D0BFF94F-509F-EA4A-4C7D-F5F75091E777}"/>
              </a:ext>
            </a:extLst>
          </p:cNvPr>
          <p:cNvSpPr/>
          <p:nvPr/>
        </p:nvSpPr>
        <p:spPr>
          <a:xfrm>
            <a:off x="346819" y="1523455"/>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03" name="Text 19">
            <a:extLst>
              <a:ext uri="{FF2B5EF4-FFF2-40B4-BE49-F238E27FC236}">
                <a16:creationId xmlns:a16="http://schemas.microsoft.com/office/drawing/2014/main" id="{B3635DA7-B808-9501-6AA1-BF882652485B}"/>
              </a:ext>
            </a:extLst>
          </p:cNvPr>
          <p:cNvSpPr/>
          <p:nvPr/>
        </p:nvSpPr>
        <p:spPr>
          <a:xfrm>
            <a:off x="346819" y="2678538"/>
            <a:ext cx="651510" cy="219456"/>
          </a:xfrm>
          <a:prstGeom prst="rect">
            <a:avLst/>
          </a:prstGeom>
          <a:noFill/>
          <a:ln/>
        </p:spPr>
        <p:txBody>
          <a:bodyPr wrap="square" lIns="0" tIns="0" rIns="0" bIns="0" rtlCol="0" anchor="ctr"/>
          <a:lstStyle/>
          <a:p>
            <a:pPr algn="ctr"/>
            <a:endParaRPr lang="en-US" sz="750">
              <a:latin typeface="Open Sans" pitchFamily="2" charset="0"/>
              <a:ea typeface="Open Sans" pitchFamily="2" charset="0"/>
              <a:cs typeface="Open Sans" pitchFamily="2" charset="0"/>
            </a:endParaRPr>
          </a:p>
        </p:txBody>
      </p:sp>
      <p:sp>
        <p:nvSpPr>
          <p:cNvPr id="104" name="Shape 6">
            <a:extLst>
              <a:ext uri="{FF2B5EF4-FFF2-40B4-BE49-F238E27FC236}">
                <a16:creationId xmlns:a16="http://schemas.microsoft.com/office/drawing/2014/main" id="{27CA73ED-3F3C-1D2E-B6B6-F5CB355D1644}"/>
              </a:ext>
            </a:extLst>
          </p:cNvPr>
          <p:cNvSpPr/>
          <p:nvPr/>
        </p:nvSpPr>
        <p:spPr>
          <a:xfrm>
            <a:off x="342900" y="1578809"/>
            <a:ext cx="651510" cy="219456"/>
          </a:xfrm>
          <a:prstGeom prst="roundRect">
            <a:avLst>
              <a:gd name="adj" fmla="val 15625"/>
            </a:avLst>
          </a:prstGeom>
          <a:solidFill>
            <a:schemeClr val="accent3"/>
          </a:solidFill>
          <a:ln>
            <a:noFill/>
          </a:ln>
        </p:spPr>
        <p:txBody>
          <a:bodyPr/>
          <a:lstStyle/>
          <a:p>
            <a:endParaRPr lang="en-US" sz="1350">
              <a:latin typeface="Open Sans" pitchFamily="2" charset="0"/>
              <a:ea typeface="Open Sans" pitchFamily="2" charset="0"/>
              <a:cs typeface="Open Sans" pitchFamily="2" charset="0"/>
            </a:endParaRPr>
          </a:p>
        </p:txBody>
      </p:sp>
      <p:sp>
        <p:nvSpPr>
          <p:cNvPr id="105" name="Text 7">
            <a:extLst>
              <a:ext uri="{FF2B5EF4-FFF2-40B4-BE49-F238E27FC236}">
                <a16:creationId xmlns:a16="http://schemas.microsoft.com/office/drawing/2014/main" id="{6636A3A8-19D4-9A0B-C003-7BDDB7E9D4A3}"/>
              </a:ext>
            </a:extLst>
          </p:cNvPr>
          <p:cNvSpPr/>
          <p:nvPr/>
        </p:nvSpPr>
        <p:spPr>
          <a:xfrm>
            <a:off x="342900" y="1578809"/>
            <a:ext cx="651510" cy="219456"/>
          </a:xfrm>
          <a:prstGeom prst="rect">
            <a:avLst/>
          </a:prstGeom>
          <a:noFill/>
          <a:ln/>
        </p:spPr>
        <p:txBody>
          <a:bodyPr wrap="square" lIns="0" tIns="0" rIns="0" bIns="0" rtlCol="0" anchor="ctr"/>
          <a:lstStyle/>
          <a:p>
            <a:pPr algn="ctr"/>
            <a:r>
              <a:rPr lang="en-US" sz="750" b="1">
                <a:solidFill>
                  <a:srgbClr val="FFFFFF"/>
                </a:solidFill>
                <a:latin typeface="Open Sans" pitchFamily="2" charset="0"/>
                <a:ea typeface="Open Sans" pitchFamily="2" charset="0"/>
                <a:cs typeface="Open Sans" pitchFamily="2" charset="0"/>
              </a:rPr>
              <a:t>WRONG</a:t>
            </a:r>
            <a:endParaRPr lang="en-US" sz="75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9679213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5">
            <a:extLst>
              <a:ext uri="{FF2B5EF4-FFF2-40B4-BE49-F238E27FC236}">
                <a16:creationId xmlns:a16="http://schemas.microsoft.com/office/drawing/2014/main" id="{A8362FEE-4D8B-FA3F-1B62-4B05BB465C7C}"/>
              </a:ext>
            </a:extLst>
          </p:cNvPr>
          <p:cNvSpPr/>
          <p:nvPr/>
        </p:nvSpPr>
        <p:spPr>
          <a:xfrm>
            <a:off x="342900" y="630936"/>
            <a:ext cx="8455914" cy="296608"/>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After an AI-built change causes an incident, governance must be able to answer:</a:t>
            </a:r>
            <a:endParaRPr lang="en-US" sz="1400">
              <a:latin typeface="Open Sans" pitchFamily="2" charset="0"/>
              <a:ea typeface="Open Sans" pitchFamily="2" charset="0"/>
              <a:cs typeface="Open Sans" pitchFamily="2" charset="0"/>
            </a:endParaRPr>
          </a:p>
        </p:txBody>
      </p:sp>
      <p:sp>
        <p:nvSpPr>
          <p:cNvPr id="9" name="Shape 6">
            <a:extLst>
              <a:ext uri="{FF2B5EF4-FFF2-40B4-BE49-F238E27FC236}">
                <a16:creationId xmlns:a16="http://schemas.microsoft.com/office/drawing/2014/main" id="{E1851B6B-9B1A-8267-FF64-772681F25D3D}"/>
              </a:ext>
            </a:extLst>
          </p:cNvPr>
          <p:cNvSpPr/>
          <p:nvPr/>
        </p:nvSpPr>
        <p:spPr>
          <a:xfrm>
            <a:off x="342900" y="1234440"/>
            <a:ext cx="8455914" cy="337757"/>
          </a:xfrm>
          <a:prstGeom prst="roundRect">
            <a:avLst>
              <a:gd name="adj" fmla="val 12183"/>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7">
            <a:extLst>
              <a:ext uri="{FF2B5EF4-FFF2-40B4-BE49-F238E27FC236}">
                <a16:creationId xmlns:a16="http://schemas.microsoft.com/office/drawing/2014/main" id="{172DBBFC-3151-DCD9-BC44-9FC67F78CCBD}"/>
              </a:ext>
            </a:extLst>
          </p:cNvPr>
          <p:cNvSpPr/>
          <p:nvPr/>
        </p:nvSpPr>
        <p:spPr>
          <a:xfrm>
            <a:off x="493776" y="1300448"/>
            <a:ext cx="205740" cy="205740"/>
          </a:xfrm>
          <a:prstGeom prst="ellipse">
            <a:avLst/>
          </a:prstGeom>
          <a:solidFill>
            <a:srgbClr val="C4CBD6"/>
          </a:solidFill>
          <a:ln/>
        </p:spPr>
        <p:txBody>
          <a:bodyPr/>
          <a:lstStyle/>
          <a:p>
            <a:endParaRPr lang="en-US">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5300EAD2-E2CA-23D0-AF10-A8F23B4DBF25}"/>
              </a:ext>
            </a:extLst>
          </p:cNvPr>
          <p:cNvSpPr/>
          <p:nvPr/>
        </p:nvSpPr>
        <p:spPr>
          <a:xfrm>
            <a:off x="493776" y="1300448"/>
            <a:ext cx="205740" cy="205740"/>
          </a:xfrm>
          <a:prstGeom prst="rect">
            <a:avLst/>
          </a:prstGeom>
          <a:noFill/>
          <a:ln/>
        </p:spPr>
        <p:txBody>
          <a:bodyPr wrap="square" lIns="0" tIns="0" rIns="0" bIns="0" rtlCol="0" anchor="ctr"/>
          <a:lstStyle/>
          <a:p>
            <a:pPr algn="ctr"/>
            <a:r>
              <a:rPr lang="en-US" sz="975" b="1">
                <a:solidFill>
                  <a:srgbClr val="FFFFFF"/>
                </a:solidFill>
                <a:latin typeface="Open Sans" pitchFamily="2" charset="0"/>
                <a:ea typeface="Open Sans" pitchFamily="2" charset="0"/>
                <a:cs typeface="Open Sans" pitchFamily="2" charset="0"/>
              </a:rPr>
              <a:t>A</a:t>
            </a:r>
            <a:endParaRPr lang="en-US" sz="975">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EDEFBC9A-B0E2-A9D6-3F57-45939DD56916}"/>
              </a:ext>
            </a:extLst>
          </p:cNvPr>
          <p:cNvSpPr/>
          <p:nvPr/>
        </p:nvSpPr>
        <p:spPr>
          <a:xfrm>
            <a:off x="809244" y="1234440"/>
            <a:ext cx="7886700" cy="337757"/>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A.  </a:t>
            </a:r>
            <a:r>
              <a:rPr lang="en-US" sz="1100">
                <a:solidFill>
                  <a:schemeClr val="tx2"/>
                </a:solidFill>
                <a:latin typeface="Open Sans" pitchFamily="2" charset="0"/>
                <a:ea typeface="Open Sans" pitchFamily="2" charset="0"/>
                <a:cs typeface="Open Sans" pitchFamily="2" charset="0"/>
              </a:rPr>
              <a:t>Which model wrote it</a:t>
            </a:r>
          </a:p>
        </p:txBody>
      </p:sp>
      <p:sp>
        <p:nvSpPr>
          <p:cNvPr id="17" name="Shape 14">
            <a:extLst>
              <a:ext uri="{FF2B5EF4-FFF2-40B4-BE49-F238E27FC236}">
                <a16:creationId xmlns:a16="http://schemas.microsoft.com/office/drawing/2014/main" id="{B30FF622-7575-3381-89F7-ECCF1F316AF7}"/>
              </a:ext>
            </a:extLst>
          </p:cNvPr>
          <p:cNvSpPr/>
          <p:nvPr/>
        </p:nvSpPr>
        <p:spPr>
          <a:xfrm>
            <a:off x="342900" y="2074545"/>
            <a:ext cx="8455914" cy="337757"/>
          </a:xfrm>
          <a:prstGeom prst="roundRect">
            <a:avLst>
              <a:gd name="adj" fmla="val 12183"/>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90614BD3-B17C-9855-F197-FB2202C34E81}"/>
              </a:ext>
            </a:extLst>
          </p:cNvPr>
          <p:cNvSpPr/>
          <p:nvPr/>
        </p:nvSpPr>
        <p:spPr>
          <a:xfrm>
            <a:off x="493776" y="2140553"/>
            <a:ext cx="205740" cy="205740"/>
          </a:xfrm>
          <a:prstGeom prst="ellipse">
            <a:avLst/>
          </a:prstGeom>
          <a:solidFill>
            <a:srgbClr val="C4CBD6"/>
          </a:solidFill>
          <a:ln/>
        </p:spPr>
        <p:txBody>
          <a:bodyPr/>
          <a:lstStyle/>
          <a:p>
            <a:endParaRPr lang="en-US">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440F56FB-DC53-F402-6222-935139262719}"/>
              </a:ext>
            </a:extLst>
          </p:cNvPr>
          <p:cNvSpPr/>
          <p:nvPr/>
        </p:nvSpPr>
        <p:spPr>
          <a:xfrm>
            <a:off x="493776" y="2140553"/>
            <a:ext cx="205740" cy="205740"/>
          </a:xfrm>
          <a:prstGeom prst="rect">
            <a:avLst/>
          </a:prstGeom>
          <a:noFill/>
          <a:ln/>
        </p:spPr>
        <p:txBody>
          <a:bodyPr wrap="square" lIns="0" tIns="0" rIns="0" bIns="0" rtlCol="0" anchor="ctr"/>
          <a:lstStyle/>
          <a:p>
            <a:pPr algn="ctr"/>
            <a:r>
              <a:rPr lang="en-US" sz="975" b="1">
                <a:solidFill>
                  <a:srgbClr val="FFFFFF"/>
                </a:solidFill>
                <a:latin typeface="Open Sans" pitchFamily="2" charset="0"/>
                <a:ea typeface="Open Sans" pitchFamily="2" charset="0"/>
                <a:cs typeface="Open Sans" pitchFamily="2" charset="0"/>
              </a:rPr>
              <a:t>C</a:t>
            </a:r>
            <a:endParaRPr lang="en-US" sz="975">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5F6EFC60-5663-931B-CDC5-327E90F5A24D}"/>
              </a:ext>
            </a:extLst>
          </p:cNvPr>
          <p:cNvSpPr/>
          <p:nvPr/>
        </p:nvSpPr>
        <p:spPr>
          <a:xfrm>
            <a:off x="809244" y="2074545"/>
            <a:ext cx="7886700" cy="337757"/>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C.  </a:t>
            </a:r>
            <a:r>
              <a:rPr lang="en-US" sz="1100">
                <a:solidFill>
                  <a:schemeClr val="tx2"/>
                </a:solidFill>
                <a:latin typeface="Open Sans" pitchFamily="2" charset="0"/>
                <a:ea typeface="Open Sans" pitchFamily="2" charset="0"/>
                <a:cs typeface="Open Sans" pitchFamily="2" charset="0"/>
              </a:rPr>
              <a:t>How fast it was built</a:t>
            </a:r>
          </a:p>
        </p:txBody>
      </p:sp>
      <p:sp>
        <p:nvSpPr>
          <p:cNvPr id="21" name="Shape 18">
            <a:extLst>
              <a:ext uri="{FF2B5EF4-FFF2-40B4-BE49-F238E27FC236}">
                <a16:creationId xmlns:a16="http://schemas.microsoft.com/office/drawing/2014/main" id="{3E567C85-BF17-9BB5-4114-2CCA929860D0}"/>
              </a:ext>
            </a:extLst>
          </p:cNvPr>
          <p:cNvSpPr/>
          <p:nvPr/>
        </p:nvSpPr>
        <p:spPr>
          <a:xfrm>
            <a:off x="342900" y="2494597"/>
            <a:ext cx="8455914" cy="337757"/>
          </a:xfrm>
          <a:prstGeom prst="roundRect">
            <a:avLst>
              <a:gd name="adj" fmla="val 12183"/>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BC8F738F-738C-AA38-055E-C2199734AAD9}"/>
              </a:ext>
            </a:extLst>
          </p:cNvPr>
          <p:cNvSpPr/>
          <p:nvPr/>
        </p:nvSpPr>
        <p:spPr>
          <a:xfrm>
            <a:off x="493776" y="2560606"/>
            <a:ext cx="205740" cy="205740"/>
          </a:xfrm>
          <a:prstGeom prst="ellipse">
            <a:avLst/>
          </a:prstGeom>
          <a:solidFill>
            <a:srgbClr val="C4CBD6"/>
          </a:solidFill>
          <a:ln/>
        </p:spPr>
        <p:txBody>
          <a:bodyPr/>
          <a:lstStyle/>
          <a:p>
            <a:endParaRPr lang="en-US">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BB8BB744-82EE-4A57-B5A7-26CA8CD9F7F1}"/>
              </a:ext>
            </a:extLst>
          </p:cNvPr>
          <p:cNvSpPr/>
          <p:nvPr/>
        </p:nvSpPr>
        <p:spPr>
          <a:xfrm>
            <a:off x="493776" y="2560606"/>
            <a:ext cx="205740" cy="205740"/>
          </a:xfrm>
          <a:prstGeom prst="rect">
            <a:avLst/>
          </a:prstGeom>
          <a:noFill/>
          <a:ln/>
        </p:spPr>
        <p:txBody>
          <a:bodyPr wrap="square" lIns="0" tIns="0" rIns="0" bIns="0" rtlCol="0" anchor="ctr"/>
          <a:lstStyle/>
          <a:p>
            <a:pPr algn="ctr"/>
            <a:r>
              <a:rPr lang="en-US" sz="975" b="1">
                <a:solidFill>
                  <a:srgbClr val="FFFFFF"/>
                </a:solidFill>
                <a:latin typeface="Open Sans" pitchFamily="2" charset="0"/>
                <a:ea typeface="Open Sans" pitchFamily="2" charset="0"/>
                <a:cs typeface="Open Sans" pitchFamily="2" charset="0"/>
              </a:rPr>
              <a:t>D</a:t>
            </a:r>
            <a:endParaRPr lang="en-US" sz="975">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A2BEC61D-9C11-05CA-F881-7AC7D0ED3781}"/>
              </a:ext>
            </a:extLst>
          </p:cNvPr>
          <p:cNvSpPr/>
          <p:nvPr/>
        </p:nvSpPr>
        <p:spPr>
          <a:xfrm>
            <a:off x="809244" y="2494597"/>
            <a:ext cx="7886700" cy="337757"/>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D.  </a:t>
            </a:r>
            <a:r>
              <a:rPr lang="en-US" sz="1100">
                <a:solidFill>
                  <a:schemeClr val="tx2"/>
                </a:solidFill>
                <a:latin typeface="Open Sans" pitchFamily="2" charset="0"/>
                <a:ea typeface="Open Sans" pitchFamily="2" charset="0"/>
                <a:cs typeface="Open Sans" pitchFamily="2" charset="0"/>
              </a:rPr>
              <a:t>Nothing; the AI is accountable</a:t>
            </a:r>
          </a:p>
        </p:txBody>
      </p:sp>
      <p:sp>
        <p:nvSpPr>
          <p:cNvPr id="2" name="Shape 6">
            <a:extLst>
              <a:ext uri="{FF2B5EF4-FFF2-40B4-BE49-F238E27FC236}">
                <a16:creationId xmlns:a16="http://schemas.microsoft.com/office/drawing/2014/main" id="{A2399D28-80B4-8B1E-7FD5-3445F59CBE6F}"/>
              </a:ext>
            </a:extLst>
          </p:cNvPr>
          <p:cNvSpPr/>
          <p:nvPr/>
        </p:nvSpPr>
        <p:spPr>
          <a:xfrm>
            <a:off x="342900" y="1654492"/>
            <a:ext cx="8455914" cy="337757"/>
          </a:xfrm>
          <a:prstGeom prst="roundRect">
            <a:avLst>
              <a:gd name="adj" fmla="val 12183"/>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7">
            <a:extLst>
              <a:ext uri="{FF2B5EF4-FFF2-40B4-BE49-F238E27FC236}">
                <a16:creationId xmlns:a16="http://schemas.microsoft.com/office/drawing/2014/main" id="{16379F3C-C8D4-6120-90B5-C6D88CB99C16}"/>
              </a:ext>
            </a:extLst>
          </p:cNvPr>
          <p:cNvSpPr/>
          <p:nvPr/>
        </p:nvSpPr>
        <p:spPr>
          <a:xfrm>
            <a:off x="493776" y="1720500"/>
            <a:ext cx="205740" cy="205740"/>
          </a:xfrm>
          <a:prstGeom prst="ellipse">
            <a:avLst/>
          </a:prstGeom>
          <a:solidFill>
            <a:srgbClr val="C4CBD6"/>
          </a:solidFill>
          <a:ln/>
        </p:spPr>
        <p:txBody>
          <a:bodyPr/>
          <a:lstStyle/>
          <a:p>
            <a:endParaRPr lang="en-US">
              <a:latin typeface="Open Sans" pitchFamily="2" charset="0"/>
              <a:ea typeface="Open Sans" pitchFamily="2" charset="0"/>
              <a:cs typeface="Open Sans" pitchFamily="2" charset="0"/>
            </a:endParaRPr>
          </a:p>
        </p:txBody>
      </p:sp>
      <p:sp>
        <p:nvSpPr>
          <p:cNvPr id="4" name="Text 8">
            <a:extLst>
              <a:ext uri="{FF2B5EF4-FFF2-40B4-BE49-F238E27FC236}">
                <a16:creationId xmlns:a16="http://schemas.microsoft.com/office/drawing/2014/main" id="{8CB45D23-0C0F-071A-807F-A3DA639FB0F4}"/>
              </a:ext>
            </a:extLst>
          </p:cNvPr>
          <p:cNvSpPr/>
          <p:nvPr/>
        </p:nvSpPr>
        <p:spPr>
          <a:xfrm>
            <a:off x="493776" y="1720500"/>
            <a:ext cx="205740" cy="205740"/>
          </a:xfrm>
          <a:prstGeom prst="rect">
            <a:avLst/>
          </a:prstGeom>
          <a:noFill/>
          <a:ln/>
        </p:spPr>
        <p:txBody>
          <a:bodyPr wrap="square" lIns="0" tIns="0" rIns="0" bIns="0" rtlCol="0" anchor="ctr"/>
          <a:lstStyle/>
          <a:p>
            <a:pPr algn="ctr"/>
            <a:r>
              <a:rPr lang="en-US" sz="975" b="1" dirty="0">
                <a:solidFill>
                  <a:srgbClr val="FFFFFF"/>
                </a:solidFill>
                <a:latin typeface="Open Sans" pitchFamily="2" charset="0"/>
                <a:ea typeface="Open Sans" pitchFamily="2" charset="0"/>
                <a:cs typeface="Open Sans" pitchFamily="2" charset="0"/>
              </a:rPr>
              <a:t>B</a:t>
            </a:r>
            <a:endParaRPr lang="en-US" sz="975" dirty="0">
              <a:latin typeface="Open Sans" pitchFamily="2" charset="0"/>
              <a:ea typeface="Open Sans" pitchFamily="2" charset="0"/>
              <a:cs typeface="Open Sans" pitchFamily="2" charset="0"/>
            </a:endParaRPr>
          </a:p>
        </p:txBody>
      </p:sp>
      <p:sp>
        <p:nvSpPr>
          <p:cNvPr id="5" name="Text 9">
            <a:extLst>
              <a:ext uri="{FF2B5EF4-FFF2-40B4-BE49-F238E27FC236}">
                <a16:creationId xmlns:a16="http://schemas.microsoft.com/office/drawing/2014/main" id="{E2286824-163D-7BB7-569A-80221059F792}"/>
              </a:ext>
            </a:extLst>
          </p:cNvPr>
          <p:cNvSpPr/>
          <p:nvPr/>
        </p:nvSpPr>
        <p:spPr>
          <a:xfrm>
            <a:off x="809244" y="1654492"/>
            <a:ext cx="7886700" cy="337757"/>
          </a:xfrm>
          <a:prstGeom prst="rect">
            <a:avLst/>
          </a:prstGeom>
          <a:noFill/>
          <a:ln/>
        </p:spPr>
        <p:txBody>
          <a:bodyPr wrap="square" lIns="0" tIns="0" rIns="0" bIns="0" rtlCol="0" anchor="ctr"/>
          <a:lstStyle/>
          <a:p>
            <a:r>
              <a:rPr lang="en-US" sz="1100" b="1" dirty="0">
                <a:solidFill>
                  <a:schemeClr val="tx2"/>
                </a:solidFill>
                <a:latin typeface="Open Sans" pitchFamily="2" charset="0"/>
                <a:ea typeface="Open Sans" pitchFamily="2" charset="0"/>
                <a:cs typeface="Open Sans" pitchFamily="2" charset="0"/>
              </a:rPr>
              <a:t>B.  </a:t>
            </a:r>
            <a:r>
              <a:rPr lang="en-US" sz="1100" dirty="0">
                <a:solidFill>
                  <a:schemeClr val="tx2"/>
                </a:solidFill>
                <a:latin typeface="Open Sans" pitchFamily="2" charset="0"/>
                <a:ea typeface="Open Sans" pitchFamily="2" charset="0"/>
                <a:cs typeface="Open Sans" pitchFamily="2" charset="0"/>
              </a:rPr>
              <a:t>Who reviewed it, who read the diff, and what was checked, from the audit trail</a:t>
            </a:r>
          </a:p>
        </p:txBody>
      </p:sp>
    </p:spTree>
    <p:extLst>
      <p:ext uri="{BB962C8B-B14F-4D97-AF65-F5344CB8AC3E}">
        <p14:creationId xmlns:p14="http://schemas.microsoft.com/office/powerpoint/2010/main" val="30372550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5BEF7-7AEC-CB48-A222-4978FA84D60E}"/>
            </a:ext>
          </a:extLst>
        </p:cNvPr>
        <p:cNvGrpSpPr/>
        <p:nvPr/>
      </p:nvGrpSpPr>
      <p:grpSpPr>
        <a:xfrm>
          <a:off x="0" y="0"/>
          <a:ext cx="0" cy="0"/>
          <a:chOff x="0" y="0"/>
          <a:chExt cx="0" cy="0"/>
        </a:xfrm>
      </p:grpSpPr>
      <p:sp>
        <p:nvSpPr>
          <p:cNvPr id="32" name="Shape 24">
            <a:extLst>
              <a:ext uri="{FF2B5EF4-FFF2-40B4-BE49-F238E27FC236}">
                <a16:creationId xmlns:a16="http://schemas.microsoft.com/office/drawing/2014/main" id="{DB9D9F85-8907-347D-F187-48F59FE78BC7}"/>
              </a:ext>
            </a:extLst>
          </p:cNvPr>
          <p:cNvSpPr/>
          <p:nvPr/>
        </p:nvSpPr>
        <p:spPr>
          <a:xfrm>
            <a:off x="342900" y="3411713"/>
            <a:ext cx="8455914" cy="823102"/>
          </a:xfrm>
          <a:prstGeom prst="roundRect">
            <a:avLst>
              <a:gd name="adj" fmla="val 5333"/>
            </a:avLst>
          </a:prstGeom>
          <a:solidFill>
            <a:srgbClr val="EEF2F8"/>
          </a:solidFill>
          <a:ln/>
          <a:effectLst>
            <a:outerShdw blurRad="76200" dist="38100" dir="5400000" algn="bl" rotWithShape="0">
              <a:srgbClr val="9AA3B0">
                <a:alpha val="30000"/>
              </a:srgbClr>
            </a:outerShdw>
          </a:effectLst>
        </p:spPr>
        <p:txBody>
          <a:bodyPr/>
          <a:lstStyle/>
          <a:p>
            <a:endParaRPr lang="en-US" sz="1050">
              <a:latin typeface="Open Sans" pitchFamily="2" charset="0"/>
              <a:ea typeface="Open Sans" pitchFamily="2" charset="0"/>
              <a:cs typeface="Open Sans" pitchFamily="2" charset="0"/>
            </a:endParaRPr>
          </a:p>
        </p:txBody>
      </p:sp>
      <p:sp>
        <p:nvSpPr>
          <p:cNvPr id="8" name="Text 5">
            <a:extLst>
              <a:ext uri="{FF2B5EF4-FFF2-40B4-BE49-F238E27FC236}">
                <a16:creationId xmlns:a16="http://schemas.microsoft.com/office/drawing/2014/main" id="{E29AFC09-4EBE-4AD5-4346-E8CB5168009D}"/>
              </a:ext>
            </a:extLst>
          </p:cNvPr>
          <p:cNvSpPr/>
          <p:nvPr/>
        </p:nvSpPr>
        <p:spPr>
          <a:xfrm>
            <a:off x="342900" y="630936"/>
            <a:ext cx="8455914" cy="296608"/>
          </a:xfrm>
          <a:prstGeom prst="rect">
            <a:avLst/>
          </a:prstGeom>
          <a:noFill/>
          <a:ln/>
        </p:spPr>
        <p:txBody>
          <a:bodyPr wrap="square" lIns="0" tIns="0" rIns="0" bIns="0" rtlCol="0" anchor="t"/>
          <a:lstStyle/>
          <a:p>
            <a:r>
              <a:rPr lang="en-US" sz="1400" b="1">
                <a:latin typeface="Open Sans" pitchFamily="2" charset="0"/>
                <a:ea typeface="Open Sans" pitchFamily="2" charset="0"/>
                <a:cs typeface="Open Sans" pitchFamily="2" charset="0"/>
              </a:rPr>
              <a:t>After an AI-built change causes an incident, governance must be able to answer:</a:t>
            </a:r>
            <a:endParaRPr lang="en-US" sz="1400">
              <a:latin typeface="Open Sans" pitchFamily="2" charset="0"/>
              <a:ea typeface="Open Sans" pitchFamily="2" charset="0"/>
              <a:cs typeface="Open Sans" pitchFamily="2" charset="0"/>
            </a:endParaRPr>
          </a:p>
        </p:txBody>
      </p:sp>
      <p:sp>
        <p:nvSpPr>
          <p:cNvPr id="9" name="Shape 6">
            <a:extLst>
              <a:ext uri="{FF2B5EF4-FFF2-40B4-BE49-F238E27FC236}">
                <a16:creationId xmlns:a16="http://schemas.microsoft.com/office/drawing/2014/main" id="{D0DB22D7-5CCB-161B-F287-042E9B890D55}"/>
              </a:ext>
            </a:extLst>
          </p:cNvPr>
          <p:cNvSpPr/>
          <p:nvPr/>
        </p:nvSpPr>
        <p:spPr>
          <a:xfrm>
            <a:off x="342900" y="1234440"/>
            <a:ext cx="8455914" cy="337757"/>
          </a:xfrm>
          <a:prstGeom prst="roundRect">
            <a:avLst>
              <a:gd name="adj" fmla="val 12183"/>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7">
            <a:extLst>
              <a:ext uri="{FF2B5EF4-FFF2-40B4-BE49-F238E27FC236}">
                <a16:creationId xmlns:a16="http://schemas.microsoft.com/office/drawing/2014/main" id="{3A7CB2F0-6EB1-A8A7-A17D-D710E3FCE7A9}"/>
              </a:ext>
            </a:extLst>
          </p:cNvPr>
          <p:cNvSpPr/>
          <p:nvPr/>
        </p:nvSpPr>
        <p:spPr>
          <a:xfrm>
            <a:off x="493776" y="1300448"/>
            <a:ext cx="205740" cy="205740"/>
          </a:xfrm>
          <a:prstGeom prst="ellipse">
            <a:avLst/>
          </a:prstGeom>
          <a:solidFill>
            <a:srgbClr val="C4CBD6"/>
          </a:solidFill>
          <a:ln/>
        </p:spPr>
        <p:txBody>
          <a:bodyPr/>
          <a:lstStyle/>
          <a:p>
            <a:endParaRPr lang="en-US">
              <a:latin typeface="Open Sans" pitchFamily="2" charset="0"/>
              <a:ea typeface="Open Sans" pitchFamily="2" charset="0"/>
              <a:cs typeface="Open Sans" pitchFamily="2" charset="0"/>
            </a:endParaRPr>
          </a:p>
        </p:txBody>
      </p:sp>
      <p:sp>
        <p:nvSpPr>
          <p:cNvPr id="11" name="Text 8">
            <a:extLst>
              <a:ext uri="{FF2B5EF4-FFF2-40B4-BE49-F238E27FC236}">
                <a16:creationId xmlns:a16="http://schemas.microsoft.com/office/drawing/2014/main" id="{2FDDDD93-659D-7D00-8B5E-1E51C8BADB34}"/>
              </a:ext>
            </a:extLst>
          </p:cNvPr>
          <p:cNvSpPr/>
          <p:nvPr/>
        </p:nvSpPr>
        <p:spPr>
          <a:xfrm>
            <a:off x="493776" y="1300448"/>
            <a:ext cx="205740" cy="205740"/>
          </a:xfrm>
          <a:prstGeom prst="rect">
            <a:avLst/>
          </a:prstGeom>
          <a:noFill/>
          <a:ln/>
        </p:spPr>
        <p:txBody>
          <a:bodyPr wrap="square" lIns="0" tIns="0" rIns="0" bIns="0" rtlCol="0" anchor="ctr"/>
          <a:lstStyle/>
          <a:p>
            <a:pPr algn="ctr"/>
            <a:r>
              <a:rPr lang="en-US" sz="975" b="1">
                <a:solidFill>
                  <a:srgbClr val="FFFFFF"/>
                </a:solidFill>
                <a:latin typeface="Open Sans" pitchFamily="2" charset="0"/>
                <a:ea typeface="Open Sans" pitchFamily="2" charset="0"/>
                <a:cs typeface="Open Sans" pitchFamily="2" charset="0"/>
              </a:rPr>
              <a:t>A</a:t>
            </a:r>
            <a:endParaRPr lang="en-US" sz="975">
              <a:latin typeface="Open Sans" pitchFamily="2" charset="0"/>
              <a:ea typeface="Open Sans" pitchFamily="2" charset="0"/>
              <a:cs typeface="Open Sans" pitchFamily="2" charset="0"/>
            </a:endParaRPr>
          </a:p>
        </p:txBody>
      </p:sp>
      <p:sp>
        <p:nvSpPr>
          <p:cNvPr id="12" name="Text 9">
            <a:extLst>
              <a:ext uri="{FF2B5EF4-FFF2-40B4-BE49-F238E27FC236}">
                <a16:creationId xmlns:a16="http://schemas.microsoft.com/office/drawing/2014/main" id="{F0F18827-A61F-EF97-5E6B-2D2FB3E94736}"/>
              </a:ext>
            </a:extLst>
          </p:cNvPr>
          <p:cNvSpPr/>
          <p:nvPr/>
        </p:nvSpPr>
        <p:spPr>
          <a:xfrm>
            <a:off x="809244" y="1234440"/>
            <a:ext cx="7886700" cy="337757"/>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A.  </a:t>
            </a:r>
            <a:r>
              <a:rPr lang="en-US" sz="1100">
                <a:solidFill>
                  <a:schemeClr val="tx2"/>
                </a:solidFill>
                <a:latin typeface="Open Sans" pitchFamily="2" charset="0"/>
                <a:ea typeface="Open Sans" pitchFamily="2" charset="0"/>
                <a:cs typeface="Open Sans" pitchFamily="2" charset="0"/>
              </a:rPr>
              <a:t>Which model wrote it</a:t>
            </a:r>
          </a:p>
        </p:txBody>
      </p:sp>
      <p:sp>
        <p:nvSpPr>
          <p:cNvPr id="13" name="Shape 10">
            <a:extLst>
              <a:ext uri="{FF2B5EF4-FFF2-40B4-BE49-F238E27FC236}">
                <a16:creationId xmlns:a16="http://schemas.microsoft.com/office/drawing/2014/main" id="{7D19E572-B006-2F39-A6C7-DE9A8F3C6401}"/>
              </a:ext>
            </a:extLst>
          </p:cNvPr>
          <p:cNvSpPr/>
          <p:nvPr/>
        </p:nvSpPr>
        <p:spPr>
          <a:xfrm>
            <a:off x="342900" y="1654492"/>
            <a:ext cx="8455914" cy="337757"/>
          </a:xfrm>
          <a:prstGeom prst="roundRect">
            <a:avLst>
              <a:gd name="adj" fmla="val 12183"/>
            </a:avLst>
          </a:prstGeom>
          <a:solidFill>
            <a:srgbClr val="ECFEF6"/>
          </a:solidFill>
          <a:ln w="19050">
            <a:solidFill>
              <a:srgbClr val="00B050"/>
            </a:solidFill>
            <a:prstDash val="solid"/>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1">
            <a:extLst>
              <a:ext uri="{FF2B5EF4-FFF2-40B4-BE49-F238E27FC236}">
                <a16:creationId xmlns:a16="http://schemas.microsoft.com/office/drawing/2014/main" id="{95B176F5-AF6A-0A3D-F4DF-8AD9BC7714B3}"/>
              </a:ext>
            </a:extLst>
          </p:cNvPr>
          <p:cNvSpPr/>
          <p:nvPr/>
        </p:nvSpPr>
        <p:spPr>
          <a:xfrm>
            <a:off x="493776" y="1720501"/>
            <a:ext cx="205740" cy="205740"/>
          </a:xfrm>
          <a:prstGeom prst="ellipse">
            <a:avLst/>
          </a:prstGeom>
          <a:solidFill>
            <a:srgbClr val="00B050"/>
          </a:solidFill>
          <a:ln/>
        </p:spPr>
        <p:txBody>
          <a:bodyPr/>
          <a:lstStyle/>
          <a:p>
            <a:endParaRPr lang="en-US">
              <a:latin typeface="Open Sans" pitchFamily="2" charset="0"/>
              <a:ea typeface="Open Sans" pitchFamily="2" charset="0"/>
              <a:cs typeface="Open Sans" pitchFamily="2" charset="0"/>
            </a:endParaRPr>
          </a:p>
        </p:txBody>
      </p:sp>
      <p:sp>
        <p:nvSpPr>
          <p:cNvPr id="15" name="Text 12">
            <a:extLst>
              <a:ext uri="{FF2B5EF4-FFF2-40B4-BE49-F238E27FC236}">
                <a16:creationId xmlns:a16="http://schemas.microsoft.com/office/drawing/2014/main" id="{1ED714DB-31FF-3609-A006-037181357FE0}"/>
              </a:ext>
            </a:extLst>
          </p:cNvPr>
          <p:cNvSpPr/>
          <p:nvPr/>
        </p:nvSpPr>
        <p:spPr>
          <a:xfrm>
            <a:off x="493776" y="1720501"/>
            <a:ext cx="205740" cy="205740"/>
          </a:xfrm>
          <a:prstGeom prst="rect">
            <a:avLst/>
          </a:prstGeom>
          <a:noFill/>
          <a:ln/>
        </p:spPr>
        <p:txBody>
          <a:bodyPr wrap="square" lIns="0" tIns="0" rIns="0" bIns="0" rtlCol="0" anchor="ctr"/>
          <a:lstStyle/>
          <a:p>
            <a:pPr algn="ctr"/>
            <a:r>
              <a:rPr lang="en-US" sz="975" b="1">
                <a:solidFill>
                  <a:srgbClr val="FFFFFF"/>
                </a:solidFill>
                <a:latin typeface="Open Sans" pitchFamily="2" charset="0"/>
                <a:ea typeface="Open Sans" pitchFamily="2" charset="0"/>
                <a:cs typeface="Open Sans" pitchFamily="2" charset="0"/>
              </a:rPr>
              <a:t>✓</a:t>
            </a:r>
            <a:endParaRPr lang="en-US" sz="975">
              <a:latin typeface="Open Sans" pitchFamily="2" charset="0"/>
              <a:ea typeface="Open Sans" pitchFamily="2" charset="0"/>
              <a:cs typeface="Open Sans" pitchFamily="2" charset="0"/>
            </a:endParaRPr>
          </a:p>
        </p:txBody>
      </p:sp>
      <p:sp>
        <p:nvSpPr>
          <p:cNvPr id="16" name="Text 13">
            <a:extLst>
              <a:ext uri="{FF2B5EF4-FFF2-40B4-BE49-F238E27FC236}">
                <a16:creationId xmlns:a16="http://schemas.microsoft.com/office/drawing/2014/main" id="{51035147-1AA1-3D93-572D-E090AB4310BB}"/>
              </a:ext>
            </a:extLst>
          </p:cNvPr>
          <p:cNvSpPr/>
          <p:nvPr/>
        </p:nvSpPr>
        <p:spPr>
          <a:xfrm>
            <a:off x="809244" y="1654492"/>
            <a:ext cx="7886700" cy="337757"/>
          </a:xfrm>
          <a:prstGeom prst="rect">
            <a:avLst/>
          </a:prstGeom>
          <a:noFill/>
          <a:ln/>
        </p:spPr>
        <p:txBody>
          <a:bodyPr wrap="square" lIns="0" tIns="0" rIns="0" bIns="0" rtlCol="0" anchor="ctr"/>
          <a:lstStyle/>
          <a:p>
            <a:r>
              <a:rPr lang="en-US" sz="1100" b="1" dirty="0">
                <a:solidFill>
                  <a:srgbClr val="00B050"/>
                </a:solidFill>
                <a:latin typeface="Open Sans" pitchFamily="2" charset="0"/>
                <a:ea typeface="Open Sans" pitchFamily="2" charset="0"/>
                <a:cs typeface="Open Sans" pitchFamily="2" charset="0"/>
              </a:rPr>
              <a:t>B.  </a:t>
            </a:r>
            <a:r>
              <a:rPr lang="en-US" sz="1100" b="1" dirty="0">
                <a:latin typeface="Open Sans" pitchFamily="2" charset="0"/>
                <a:ea typeface="Open Sans" pitchFamily="2" charset="0"/>
                <a:cs typeface="Open Sans" pitchFamily="2" charset="0"/>
              </a:rPr>
              <a:t>Who reviewed it, who read the diff, and what was checked, from the audit trail</a:t>
            </a:r>
            <a:endParaRPr lang="en-US" sz="1100" dirty="0">
              <a:latin typeface="Open Sans" pitchFamily="2" charset="0"/>
              <a:ea typeface="Open Sans" pitchFamily="2" charset="0"/>
              <a:cs typeface="Open Sans" pitchFamily="2" charset="0"/>
            </a:endParaRPr>
          </a:p>
        </p:txBody>
      </p:sp>
      <p:sp>
        <p:nvSpPr>
          <p:cNvPr id="17" name="Shape 14">
            <a:extLst>
              <a:ext uri="{FF2B5EF4-FFF2-40B4-BE49-F238E27FC236}">
                <a16:creationId xmlns:a16="http://schemas.microsoft.com/office/drawing/2014/main" id="{DCD3DFF8-24E5-130E-10FC-BFCF266A4F7C}"/>
              </a:ext>
            </a:extLst>
          </p:cNvPr>
          <p:cNvSpPr/>
          <p:nvPr/>
        </p:nvSpPr>
        <p:spPr>
          <a:xfrm>
            <a:off x="342900" y="2074545"/>
            <a:ext cx="8455914" cy="337757"/>
          </a:xfrm>
          <a:prstGeom prst="roundRect">
            <a:avLst>
              <a:gd name="adj" fmla="val 12183"/>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5">
            <a:extLst>
              <a:ext uri="{FF2B5EF4-FFF2-40B4-BE49-F238E27FC236}">
                <a16:creationId xmlns:a16="http://schemas.microsoft.com/office/drawing/2014/main" id="{0308501F-4613-C8A0-0B36-430891C8FF4A}"/>
              </a:ext>
            </a:extLst>
          </p:cNvPr>
          <p:cNvSpPr/>
          <p:nvPr/>
        </p:nvSpPr>
        <p:spPr>
          <a:xfrm>
            <a:off x="493776" y="2140553"/>
            <a:ext cx="205740" cy="205740"/>
          </a:xfrm>
          <a:prstGeom prst="ellipse">
            <a:avLst/>
          </a:prstGeom>
          <a:solidFill>
            <a:srgbClr val="C4CBD6"/>
          </a:solidFill>
          <a:ln/>
        </p:spPr>
        <p:txBody>
          <a:bodyPr/>
          <a:lstStyle/>
          <a:p>
            <a:endParaRPr lang="en-US">
              <a:latin typeface="Open Sans" pitchFamily="2" charset="0"/>
              <a:ea typeface="Open Sans" pitchFamily="2" charset="0"/>
              <a:cs typeface="Open Sans" pitchFamily="2" charset="0"/>
            </a:endParaRPr>
          </a:p>
        </p:txBody>
      </p:sp>
      <p:sp>
        <p:nvSpPr>
          <p:cNvPr id="19" name="Text 16">
            <a:extLst>
              <a:ext uri="{FF2B5EF4-FFF2-40B4-BE49-F238E27FC236}">
                <a16:creationId xmlns:a16="http://schemas.microsoft.com/office/drawing/2014/main" id="{DD350BC8-4154-81E3-5C4B-608A635F46A1}"/>
              </a:ext>
            </a:extLst>
          </p:cNvPr>
          <p:cNvSpPr/>
          <p:nvPr/>
        </p:nvSpPr>
        <p:spPr>
          <a:xfrm>
            <a:off x="493776" y="2140553"/>
            <a:ext cx="205740" cy="205740"/>
          </a:xfrm>
          <a:prstGeom prst="rect">
            <a:avLst/>
          </a:prstGeom>
          <a:noFill/>
          <a:ln/>
        </p:spPr>
        <p:txBody>
          <a:bodyPr wrap="square" lIns="0" tIns="0" rIns="0" bIns="0" rtlCol="0" anchor="ctr"/>
          <a:lstStyle/>
          <a:p>
            <a:pPr algn="ctr"/>
            <a:r>
              <a:rPr lang="en-US" sz="975" b="1">
                <a:solidFill>
                  <a:srgbClr val="FFFFFF"/>
                </a:solidFill>
                <a:latin typeface="Open Sans" pitchFamily="2" charset="0"/>
                <a:ea typeface="Open Sans" pitchFamily="2" charset="0"/>
                <a:cs typeface="Open Sans" pitchFamily="2" charset="0"/>
              </a:rPr>
              <a:t>C</a:t>
            </a:r>
            <a:endParaRPr lang="en-US" sz="975">
              <a:latin typeface="Open Sans" pitchFamily="2" charset="0"/>
              <a:ea typeface="Open Sans" pitchFamily="2" charset="0"/>
              <a:cs typeface="Open Sans" pitchFamily="2" charset="0"/>
            </a:endParaRPr>
          </a:p>
        </p:txBody>
      </p:sp>
      <p:sp>
        <p:nvSpPr>
          <p:cNvPr id="20" name="Text 17">
            <a:extLst>
              <a:ext uri="{FF2B5EF4-FFF2-40B4-BE49-F238E27FC236}">
                <a16:creationId xmlns:a16="http://schemas.microsoft.com/office/drawing/2014/main" id="{8388E50C-AAA0-1BBD-5D69-45312F5090EA}"/>
              </a:ext>
            </a:extLst>
          </p:cNvPr>
          <p:cNvSpPr/>
          <p:nvPr/>
        </p:nvSpPr>
        <p:spPr>
          <a:xfrm>
            <a:off x="809244" y="2074545"/>
            <a:ext cx="7886700" cy="337757"/>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C.  </a:t>
            </a:r>
            <a:r>
              <a:rPr lang="en-US" sz="1100">
                <a:solidFill>
                  <a:schemeClr val="tx2"/>
                </a:solidFill>
                <a:latin typeface="Open Sans" pitchFamily="2" charset="0"/>
                <a:ea typeface="Open Sans" pitchFamily="2" charset="0"/>
                <a:cs typeface="Open Sans" pitchFamily="2" charset="0"/>
              </a:rPr>
              <a:t>How fast it was built</a:t>
            </a:r>
          </a:p>
        </p:txBody>
      </p:sp>
      <p:sp>
        <p:nvSpPr>
          <p:cNvPr id="21" name="Shape 18">
            <a:extLst>
              <a:ext uri="{FF2B5EF4-FFF2-40B4-BE49-F238E27FC236}">
                <a16:creationId xmlns:a16="http://schemas.microsoft.com/office/drawing/2014/main" id="{34267BE9-02DD-14A4-23B6-5737C240816F}"/>
              </a:ext>
            </a:extLst>
          </p:cNvPr>
          <p:cNvSpPr/>
          <p:nvPr/>
        </p:nvSpPr>
        <p:spPr>
          <a:xfrm>
            <a:off x="342900" y="2494597"/>
            <a:ext cx="8455914" cy="337757"/>
          </a:xfrm>
          <a:prstGeom prst="roundRect">
            <a:avLst>
              <a:gd name="adj" fmla="val 12183"/>
            </a:avLst>
          </a:prstGeom>
          <a:solidFill>
            <a:srgbClr val="F5F5F5"/>
          </a:solidFill>
          <a:ln>
            <a:noFill/>
          </a:ln>
        </p:spPr>
        <p:txBody>
          <a:bodyPr/>
          <a:lstStyle/>
          <a:p>
            <a:endParaRPr lang="en-US" sz="11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19">
            <a:extLst>
              <a:ext uri="{FF2B5EF4-FFF2-40B4-BE49-F238E27FC236}">
                <a16:creationId xmlns:a16="http://schemas.microsoft.com/office/drawing/2014/main" id="{4048A6BA-C596-E574-C53A-EC514EAC5E54}"/>
              </a:ext>
            </a:extLst>
          </p:cNvPr>
          <p:cNvSpPr/>
          <p:nvPr/>
        </p:nvSpPr>
        <p:spPr>
          <a:xfrm>
            <a:off x="493776" y="2560606"/>
            <a:ext cx="205740" cy="205740"/>
          </a:xfrm>
          <a:prstGeom prst="ellipse">
            <a:avLst/>
          </a:prstGeom>
          <a:solidFill>
            <a:srgbClr val="C4CBD6"/>
          </a:solidFill>
          <a:ln/>
        </p:spPr>
        <p:txBody>
          <a:bodyPr/>
          <a:lstStyle/>
          <a:p>
            <a:endParaRPr lang="en-US">
              <a:latin typeface="Open Sans" pitchFamily="2" charset="0"/>
              <a:ea typeface="Open Sans" pitchFamily="2" charset="0"/>
              <a:cs typeface="Open Sans" pitchFamily="2" charset="0"/>
            </a:endParaRPr>
          </a:p>
        </p:txBody>
      </p:sp>
      <p:sp>
        <p:nvSpPr>
          <p:cNvPr id="23" name="Text 20">
            <a:extLst>
              <a:ext uri="{FF2B5EF4-FFF2-40B4-BE49-F238E27FC236}">
                <a16:creationId xmlns:a16="http://schemas.microsoft.com/office/drawing/2014/main" id="{F743FCCD-9802-F234-8925-42B913514E12}"/>
              </a:ext>
            </a:extLst>
          </p:cNvPr>
          <p:cNvSpPr/>
          <p:nvPr/>
        </p:nvSpPr>
        <p:spPr>
          <a:xfrm>
            <a:off x="493776" y="2560606"/>
            <a:ext cx="205740" cy="205740"/>
          </a:xfrm>
          <a:prstGeom prst="rect">
            <a:avLst/>
          </a:prstGeom>
          <a:noFill/>
          <a:ln/>
        </p:spPr>
        <p:txBody>
          <a:bodyPr wrap="square" lIns="0" tIns="0" rIns="0" bIns="0" rtlCol="0" anchor="ctr"/>
          <a:lstStyle/>
          <a:p>
            <a:pPr algn="ctr"/>
            <a:r>
              <a:rPr lang="en-US" sz="975" b="1">
                <a:solidFill>
                  <a:srgbClr val="FFFFFF"/>
                </a:solidFill>
                <a:latin typeface="Open Sans" pitchFamily="2" charset="0"/>
                <a:ea typeface="Open Sans" pitchFamily="2" charset="0"/>
                <a:cs typeface="Open Sans" pitchFamily="2" charset="0"/>
              </a:rPr>
              <a:t>D</a:t>
            </a:r>
            <a:endParaRPr lang="en-US" sz="975">
              <a:latin typeface="Open Sans" pitchFamily="2" charset="0"/>
              <a:ea typeface="Open Sans" pitchFamily="2" charset="0"/>
              <a:cs typeface="Open Sans" pitchFamily="2" charset="0"/>
            </a:endParaRPr>
          </a:p>
        </p:txBody>
      </p:sp>
      <p:sp>
        <p:nvSpPr>
          <p:cNvPr id="24" name="Text 21">
            <a:extLst>
              <a:ext uri="{FF2B5EF4-FFF2-40B4-BE49-F238E27FC236}">
                <a16:creationId xmlns:a16="http://schemas.microsoft.com/office/drawing/2014/main" id="{981F3500-4F2E-A35D-4A2A-A38A8DFBEDA7}"/>
              </a:ext>
            </a:extLst>
          </p:cNvPr>
          <p:cNvSpPr/>
          <p:nvPr/>
        </p:nvSpPr>
        <p:spPr>
          <a:xfrm>
            <a:off x="809244" y="2494597"/>
            <a:ext cx="7886700" cy="337757"/>
          </a:xfrm>
          <a:prstGeom prst="rect">
            <a:avLst/>
          </a:prstGeom>
          <a:noFill/>
          <a:ln/>
        </p:spPr>
        <p:txBody>
          <a:bodyPr wrap="square" lIns="0" tIns="0" rIns="0" bIns="0" rtlCol="0" anchor="ctr"/>
          <a:lstStyle/>
          <a:p>
            <a:r>
              <a:rPr lang="en-US" sz="1100" b="1">
                <a:solidFill>
                  <a:schemeClr val="tx2"/>
                </a:solidFill>
                <a:latin typeface="Open Sans" pitchFamily="2" charset="0"/>
                <a:ea typeface="Open Sans" pitchFamily="2" charset="0"/>
                <a:cs typeface="Open Sans" pitchFamily="2" charset="0"/>
              </a:rPr>
              <a:t>D.  </a:t>
            </a:r>
            <a:r>
              <a:rPr lang="en-US" sz="1100">
                <a:solidFill>
                  <a:schemeClr val="tx2"/>
                </a:solidFill>
                <a:latin typeface="Open Sans" pitchFamily="2" charset="0"/>
                <a:ea typeface="Open Sans" pitchFamily="2" charset="0"/>
                <a:cs typeface="Open Sans" pitchFamily="2" charset="0"/>
              </a:rPr>
              <a:t>Nothing; the AI is accountable</a:t>
            </a:r>
          </a:p>
        </p:txBody>
      </p:sp>
      <p:sp>
        <p:nvSpPr>
          <p:cNvPr id="26" name="Text 23">
            <a:extLst>
              <a:ext uri="{FF2B5EF4-FFF2-40B4-BE49-F238E27FC236}">
                <a16:creationId xmlns:a16="http://schemas.microsoft.com/office/drawing/2014/main" id="{B8066A9A-20CD-41E6-0927-E7E9F6EAABCE}"/>
              </a:ext>
            </a:extLst>
          </p:cNvPr>
          <p:cNvSpPr/>
          <p:nvPr/>
        </p:nvSpPr>
        <p:spPr>
          <a:xfrm>
            <a:off x="534924" y="3525012"/>
            <a:ext cx="5486400" cy="205740"/>
          </a:xfrm>
          <a:prstGeom prst="rect">
            <a:avLst/>
          </a:prstGeom>
          <a:noFill/>
          <a:ln/>
        </p:spPr>
        <p:txBody>
          <a:bodyPr wrap="square" lIns="0" tIns="0" rIns="0" bIns="0" rtlCol="0" anchor="ctr"/>
          <a:lstStyle/>
          <a:p>
            <a:r>
              <a:rPr lang="en-US" sz="1050" b="1" kern="0" spc="113">
                <a:solidFill>
                  <a:schemeClr val="accent1"/>
                </a:solidFill>
                <a:latin typeface="Open Sans" pitchFamily="2" charset="0"/>
                <a:ea typeface="Open Sans" pitchFamily="2" charset="0"/>
                <a:cs typeface="Open Sans" pitchFamily="2" charset="0"/>
              </a:rPr>
              <a:t>THROUGH THE LENS</a:t>
            </a:r>
            <a:endParaRPr lang="en-US" sz="1050">
              <a:solidFill>
                <a:schemeClr val="accent1"/>
              </a:solidFill>
              <a:latin typeface="Open Sans" pitchFamily="2" charset="0"/>
              <a:ea typeface="Open Sans" pitchFamily="2" charset="0"/>
              <a:cs typeface="Open Sans" pitchFamily="2" charset="0"/>
            </a:endParaRPr>
          </a:p>
        </p:txBody>
      </p:sp>
      <p:sp>
        <p:nvSpPr>
          <p:cNvPr id="27" name="Shape 24">
            <a:extLst>
              <a:ext uri="{FF2B5EF4-FFF2-40B4-BE49-F238E27FC236}">
                <a16:creationId xmlns:a16="http://schemas.microsoft.com/office/drawing/2014/main" id="{1315F071-DD50-1691-7790-B02596F17C8C}"/>
              </a:ext>
            </a:extLst>
          </p:cNvPr>
          <p:cNvSpPr/>
          <p:nvPr/>
        </p:nvSpPr>
        <p:spPr>
          <a:xfrm>
            <a:off x="534924" y="3771900"/>
            <a:ext cx="1481328" cy="274320"/>
          </a:xfrm>
          <a:prstGeom prst="roundRect">
            <a:avLst>
              <a:gd name="adj" fmla="val 15000"/>
            </a:avLst>
          </a:prstGeom>
          <a:solidFill>
            <a:srgbClr val="2BAE9E"/>
          </a:solidFill>
          <a:ln/>
        </p:spPr>
        <p:txBody>
          <a:bodyPr/>
          <a:lstStyle/>
          <a:p>
            <a:endParaRPr lang="en-US" sz="1050">
              <a:latin typeface="Open Sans" pitchFamily="2" charset="0"/>
              <a:ea typeface="Open Sans" pitchFamily="2" charset="0"/>
              <a:cs typeface="Open Sans" pitchFamily="2" charset="0"/>
            </a:endParaRPr>
          </a:p>
        </p:txBody>
      </p:sp>
      <p:sp>
        <p:nvSpPr>
          <p:cNvPr id="28" name="Text 25">
            <a:extLst>
              <a:ext uri="{FF2B5EF4-FFF2-40B4-BE49-F238E27FC236}">
                <a16:creationId xmlns:a16="http://schemas.microsoft.com/office/drawing/2014/main" id="{20CAC617-6D5A-C8AF-A8C7-7DE6DCBC7C94}"/>
              </a:ext>
            </a:extLst>
          </p:cNvPr>
          <p:cNvSpPr/>
          <p:nvPr/>
        </p:nvSpPr>
        <p:spPr>
          <a:xfrm>
            <a:off x="534924" y="3771900"/>
            <a:ext cx="1481328" cy="274320"/>
          </a:xfrm>
          <a:prstGeom prst="rect">
            <a:avLst/>
          </a:prstGeom>
          <a:solidFill>
            <a:srgbClr val="00B050"/>
          </a:solidFill>
          <a:ln/>
        </p:spPr>
        <p:txBody>
          <a:bodyPr wrap="square" lIns="0" tIns="0" rIns="0" bIns="0" rtlCol="0" anchor="ctr"/>
          <a:lstStyle/>
          <a:p>
            <a:pPr algn="ctr"/>
            <a:r>
              <a:rPr lang="en-US" sz="1050" b="1">
                <a:solidFill>
                  <a:schemeClr val="bg1"/>
                </a:solidFill>
                <a:latin typeface="Open Sans" pitchFamily="2" charset="0"/>
                <a:ea typeface="Open Sans" pitchFamily="2" charset="0"/>
                <a:cs typeface="Open Sans" pitchFamily="2" charset="0"/>
              </a:rPr>
              <a:t>Accountability</a:t>
            </a:r>
            <a:endParaRPr lang="en-US" sz="1050">
              <a:solidFill>
                <a:schemeClr val="bg1"/>
              </a:solidFill>
              <a:latin typeface="Open Sans" pitchFamily="2" charset="0"/>
              <a:ea typeface="Open Sans" pitchFamily="2" charset="0"/>
              <a:cs typeface="Open Sans" pitchFamily="2" charset="0"/>
            </a:endParaRPr>
          </a:p>
        </p:txBody>
      </p:sp>
      <p:sp>
        <p:nvSpPr>
          <p:cNvPr id="29" name="Text 26">
            <a:extLst>
              <a:ext uri="{FF2B5EF4-FFF2-40B4-BE49-F238E27FC236}">
                <a16:creationId xmlns:a16="http://schemas.microsoft.com/office/drawing/2014/main" id="{AE6C847B-0B8C-C4D4-3BD0-5F693947D71F}"/>
              </a:ext>
            </a:extLst>
          </p:cNvPr>
          <p:cNvSpPr/>
          <p:nvPr/>
        </p:nvSpPr>
        <p:spPr>
          <a:xfrm>
            <a:off x="2101977" y="3583305"/>
            <a:ext cx="6611112" cy="651510"/>
          </a:xfrm>
          <a:prstGeom prst="rect">
            <a:avLst/>
          </a:prstGeom>
          <a:noFill/>
          <a:ln/>
        </p:spPr>
        <p:txBody>
          <a:bodyPr wrap="square" lIns="0" tIns="0" rIns="0" bIns="0" rtlCol="0" anchor="ctr"/>
          <a:lstStyle/>
          <a:p>
            <a:r>
              <a:rPr lang="en-US" sz="1050">
                <a:solidFill>
                  <a:schemeClr val="tx2"/>
                </a:solidFill>
                <a:latin typeface="Open Sans" pitchFamily="2" charset="0"/>
                <a:ea typeface="Open Sans" pitchFamily="2" charset="0"/>
                <a:cs typeface="Open Sans" pitchFamily="2" charset="0"/>
              </a:rPr>
              <a:t>A named reviewer and an audit trail are what make AI-assisted work accountable rather than anonymous.</a:t>
            </a:r>
          </a:p>
        </p:txBody>
      </p:sp>
    </p:spTree>
    <p:extLst>
      <p:ext uri="{BB962C8B-B14F-4D97-AF65-F5344CB8AC3E}">
        <p14:creationId xmlns:p14="http://schemas.microsoft.com/office/powerpoint/2010/main" val="24361774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628802"/>
      </p:ext>
    </p:extLst>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a:extLst>
              <a:ext uri="{FF2B5EF4-FFF2-40B4-BE49-F238E27FC236}">
                <a16:creationId xmlns:a16="http://schemas.microsoft.com/office/drawing/2014/main" id="{FA306A6F-C672-F83D-94F3-F42E6EA02C18}"/>
              </a:ext>
            </a:extLst>
          </p:cNvPr>
          <p:cNvSpPr/>
          <p:nvPr/>
        </p:nvSpPr>
        <p:spPr>
          <a:xfrm>
            <a:off x="367200" y="190800"/>
            <a:ext cx="8412480" cy="475488"/>
          </a:xfrm>
          <a:prstGeom prst="rect">
            <a:avLst/>
          </a:prstGeom>
          <a:noFill/>
          <a:ln/>
        </p:spPr>
        <p:txBody>
          <a:bodyPr wrap="square" lIns="0" tIns="0" rIns="0" bIns="0" rtlCol="0" anchor="ctr"/>
          <a:lstStyle/>
          <a:p>
            <a:r>
              <a:rPr lang="en-US" sz="2800" b="1">
                <a:latin typeface="Open Sans" panose="020B0606030504020204" pitchFamily="34" charset="0"/>
                <a:ea typeface="Open Sans" panose="020B0606030504020204" pitchFamily="34" charset="0"/>
                <a:cs typeface="Open Sans" panose="020B0606030504020204" pitchFamily="34" charset="0"/>
              </a:rPr>
              <a:t>Anatomy of a Tool-Using Agent</a:t>
            </a:r>
          </a:p>
        </p:txBody>
      </p:sp>
      <p:sp>
        <p:nvSpPr>
          <p:cNvPr id="4" name="Shape 2">
            <a:extLst>
              <a:ext uri="{FF2B5EF4-FFF2-40B4-BE49-F238E27FC236}">
                <a16:creationId xmlns:a16="http://schemas.microsoft.com/office/drawing/2014/main" id="{F26DC8F7-C91F-609A-4353-BDF40D1DEF38}"/>
              </a:ext>
            </a:extLst>
          </p:cNvPr>
          <p:cNvSpPr/>
          <p:nvPr/>
        </p:nvSpPr>
        <p:spPr>
          <a:xfrm>
            <a:off x="384725" y="1308748"/>
            <a:ext cx="1572768" cy="2871757"/>
          </a:xfrm>
          <a:prstGeom prst="roundRect">
            <a:avLst>
              <a:gd name="adj" fmla="val 5814"/>
            </a:avLst>
          </a:prstGeom>
          <a:solidFill>
            <a:srgbClr val="F5F5F5"/>
          </a:solidFill>
          <a:ln w="19050">
            <a:solidFill>
              <a:schemeClr val="accent2"/>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5" name="Shape 3">
            <a:extLst>
              <a:ext uri="{FF2B5EF4-FFF2-40B4-BE49-F238E27FC236}">
                <a16:creationId xmlns:a16="http://schemas.microsoft.com/office/drawing/2014/main" id="{D3A4E779-4D6C-73C3-2FCE-B36F8F6861A8}"/>
              </a:ext>
            </a:extLst>
          </p:cNvPr>
          <p:cNvSpPr/>
          <p:nvPr/>
        </p:nvSpPr>
        <p:spPr>
          <a:xfrm>
            <a:off x="960797" y="1486092"/>
            <a:ext cx="420624" cy="420624"/>
          </a:xfrm>
          <a:prstGeom prst="ellipse">
            <a:avLst/>
          </a:prstGeom>
          <a:solidFill>
            <a:schemeClr val="accent2"/>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a:extLst>
              <a:ext uri="{FF2B5EF4-FFF2-40B4-BE49-F238E27FC236}">
                <a16:creationId xmlns:a16="http://schemas.microsoft.com/office/drawing/2014/main" id="{42B2C5F8-9708-2520-C767-F74FF94A8507}"/>
              </a:ext>
            </a:extLst>
          </p:cNvPr>
          <p:cNvSpPr/>
          <p:nvPr/>
        </p:nvSpPr>
        <p:spPr>
          <a:xfrm>
            <a:off x="960797"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a:extLst>
              <a:ext uri="{FF2B5EF4-FFF2-40B4-BE49-F238E27FC236}">
                <a16:creationId xmlns:a16="http://schemas.microsoft.com/office/drawing/2014/main" id="{89F2FD95-2A77-849E-6363-F69EC723390A}"/>
              </a:ext>
            </a:extLst>
          </p:cNvPr>
          <p:cNvSpPr/>
          <p:nvPr/>
        </p:nvSpPr>
        <p:spPr>
          <a:xfrm>
            <a:off x="457877" y="1967117"/>
            <a:ext cx="1426464" cy="457200"/>
          </a:xfrm>
          <a:prstGeom prst="rect">
            <a:avLst/>
          </a:prstGeom>
          <a:noFill/>
          <a:ln/>
        </p:spPr>
        <p:txBody>
          <a:bodyPr wrap="square" lIns="0" tIns="0" rIns="0" bIns="0" rtlCol="0" anchor="ctr"/>
          <a:lstStyle/>
          <a:p>
            <a:pPr marL="0" indent="0" algn="ctr">
              <a:buNone/>
            </a:pPr>
            <a:r>
              <a:rPr lang="en-US" sz="1100" b="1">
                <a:solidFill>
                  <a:schemeClr val="accent2"/>
                </a:solidFill>
                <a:latin typeface="Open Sans" panose="020B0606030504020204" pitchFamily="34" charset="0"/>
                <a:ea typeface="Open Sans" panose="020B0606030504020204" pitchFamily="34" charset="0"/>
                <a:cs typeface="Open Sans" panose="020B0606030504020204" pitchFamily="34" charset="0"/>
              </a:rPr>
              <a:t>TOOLS</a:t>
            </a:r>
          </a:p>
        </p:txBody>
      </p:sp>
      <p:sp>
        <p:nvSpPr>
          <p:cNvPr id="8" name="Text 6">
            <a:extLst>
              <a:ext uri="{FF2B5EF4-FFF2-40B4-BE49-F238E27FC236}">
                <a16:creationId xmlns:a16="http://schemas.microsoft.com/office/drawing/2014/main" id="{1EA63F9F-2C9C-E219-1482-F7075ABA8355}"/>
              </a:ext>
            </a:extLst>
          </p:cNvPr>
          <p:cNvSpPr/>
          <p:nvPr/>
        </p:nvSpPr>
        <p:spPr>
          <a:xfrm>
            <a:off x="457877" y="2436846"/>
            <a:ext cx="1426464" cy="1418142"/>
          </a:xfrm>
          <a:prstGeom prst="rect">
            <a:avLst/>
          </a:prstGeom>
          <a:noFill/>
          <a:ln/>
        </p:spPr>
        <p:txBody>
          <a:bodyPr wrap="square" lIns="0" tIns="0" rIns="0" bIns="0" rtlCol="0" anchor="t"/>
          <a:lstStyle/>
          <a:p>
            <a:pPr algn="ctr"/>
            <a:r>
              <a:rPr lang="en-IN" sz="1050">
                <a:latin typeface="Open Sans" pitchFamily="2" charset="0"/>
                <a:ea typeface="Open Sans" pitchFamily="2" charset="0"/>
                <a:cs typeface="Open Sans" pitchFamily="2" charset="0"/>
              </a:rPr>
              <a:t>JSON-schema tools fetch the masked record, search references, recall feedback and score readability.</a:t>
            </a:r>
            <a:endParaRPr lang="en-US" sz="1050">
              <a:latin typeface="Open Sans" pitchFamily="2" charset="0"/>
              <a:ea typeface="Open Sans" pitchFamily="2" charset="0"/>
              <a:cs typeface="Open Sans" pitchFamily="2" charset="0"/>
            </a:endParaRPr>
          </a:p>
        </p:txBody>
      </p:sp>
      <p:sp>
        <p:nvSpPr>
          <p:cNvPr id="10" name="Shape 8">
            <a:extLst>
              <a:ext uri="{FF2B5EF4-FFF2-40B4-BE49-F238E27FC236}">
                <a16:creationId xmlns:a16="http://schemas.microsoft.com/office/drawing/2014/main" id="{4153DF97-48D1-81C9-A7EC-FB10489AA962}"/>
              </a:ext>
            </a:extLst>
          </p:cNvPr>
          <p:cNvSpPr/>
          <p:nvPr/>
        </p:nvSpPr>
        <p:spPr>
          <a:xfrm>
            <a:off x="2094653" y="1308748"/>
            <a:ext cx="1572768" cy="2871757"/>
          </a:xfrm>
          <a:prstGeom prst="roundRect">
            <a:avLst>
              <a:gd name="adj" fmla="val 5814"/>
            </a:avLst>
          </a:prstGeom>
          <a:solidFill>
            <a:srgbClr val="F5F5F5"/>
          </a:solidFill>
          <a:ln w="19050">
            <a:solidFill>
              <a:schemeClr val="accent1"/>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Shape 9">
            <a:extLst>
              <a:ext uri="{FF2B5EF4-FFF2-40B4-BE49-F238E27FC236}">
                <a16:creationId xmlns:a16="http://schemas.microsoft.com/office/drawing/2014/main" id="{0D17BC0D-3BF4-B8E2-6CD8-C9145123347B}"/>
              </a:ext>
            </a:extLst>
          </p:cNvPr>
          <p:cNvSpPr/>
          <p:nvPr/>
        </p:nvSpPr>
        <p:spPr>
          <a:xfrm>
            <a:off x="2670725" y="1486092"/>
            <a:ext cx="420624" cy="420624"/>
          </a:xfrm>
          <a:prstGeom prst="ellipse">
            <a:avLst/>
          </a:prstGeom>
          <a:solidFill>
            <a:schemeClr val="accent1"/>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a:extLst>
              <a:ext uri="{FF2B5EF4-FFF2-40B4-BE49-F238E27FC236}">
                <a16:creationId xmlns:a16="http://schemas.microsoft.com/office/drawing/2014/main" id="{62E6D61F-5970-40C0-9520-A781C8B21EAB}"/>
              </a:ext>
            </a:extLst>
          </p:cNvPr>
          <p:cNvSpPr/>
          <p:nvPr/>
        </p:nvSpPr>
        <p:spPr>
          <a:xfrm>
            <a:off x="2670725"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a:extLst>
              <a:ext uri="{FF2B5EF4-FFF2-40B4-BE49-F238E27FC236}">
                <a16:creationId xmlns:a16="http://schemas.microsoft.com/office/drawing/2014/main" id="{B32380DD-0492-BAA0-BC63-828BE246DB02}"/>
              </a:ext>
            </a:extLst>
          </p:cNvPr>
          <p:cNvSpPr/>
          <p:nvPr/>
        </p:nvSpPr>
        <p:spPr>
          <a:xfrm>
            <a:off x="2167805" y="1967117"/>
            <a:ext cx="1426464" cy="457200"/>
          </a:xfrm>
          <a:prstGeom prst="rect">
            <a:avLst/>
          </a:prstGeom>
          <a:noFill/>
          <a:ln/>
        </p:spPr>
        <p:txBody>
          <a:bodyPr wrap="square" lIns="0" tIns="0" rIns="0" bIns="0" rtlCol="0" anchor="ctr"/>
          <a:lstStyle/>
          <a:p>
            <a:pPr marL="0" indent="0" algn="ctr">
              <a:buNone/>
            </a:pPr>
            <a:r>
              <a:rPr lang="en-US" sz="1100" b="1">
                <a:solidFill>
                  <a:schemeClr val="accent1"/>
                </a:solidFill>
                <a:latin typeface="Open Sans" panose="020B0606030504020204" pitchFamily="34" charset="0"/>
                <a:ea typeface="Open Sans" panose="020B0606030504020204" pitchFamily="34" charset="0"/>
                <a:cs typeface="Open Sans" panose="020B0606030504020204" pitchFamily="34" charset="0"/>
              </a:rPr>
              <a:t>LOOP</a:t>
            </a:r>
          </a:p>
        </p:txBody>
      </p:sp>
      <p:sp>
        <p:nvSpPr>
          <p:cNvPr id="14" name="Text 12">
            <a:extLst>
              <a:ext uri="{FF2B5EF4-FFF2-40B4-BE49-F238E27FC236}">
                <a16:creationId xmlns:a16="http://schemas.microsoft.com/office/drawing/2014/main" id="{5726A930-8FCE-7FED-DDEB-2C8CC22AAAE7}"/>
              </a:ext>
            </a:extLst>
          </p:cNvPr>
          <p:cNvSpPr/>
          <p:nvPr/>
        </p:nvSpPr>
        <p:spPr>
          <a:xfrm>
            <a:off x="2167805" y="2436846"/>
            <a:ext cx="1426464" cy="1418142"/>
          </a:xfrm>
          <a:prstGeom prst="rect">
            <a:avLst/>
          </a:prstGeom>
          <a:noFill/>
          <a:ln/>
        </p:spPr>
        <p:txBody>
          <a:bodyPr wrap="square" lIns="0" tIns="0" rIns="0" bIns="0" rtlCol="0" anchor="t"/>
          <a:lstStyle/>
          <a:p>
            <a:pPr algn="ctr"/>
            <a:r>
              <a:rPr lang="en-IN" sz="1050">
                <a:latin typeface="Open Sans" pitchFamily="2" charset="0"/>
                <a:ea typeface="Open Sans" pitchFamily="2" charset="0"/>
                <a:cs typeface="Open Sans" pitchFamily="2" charset="0"/>
              </a:rPr>
              <a:t>On a tool_use stop, run each call and return a tool_result carrying the matching id.</a:t>
            </a:r>
            <a:endParaRPr lang="en-US" sz="1050">
              <a:latin typeface="Open Sans" pitchFamily="2" charset="0"/>
              <a:ea typeface="Open Sans" pitchFamily="2" charset="0"/>
              <a:cs typeface="Open Sans" pitchFamily="2" charset="0"/>
            </a:endParaRPr>
          </a:p>
        </p:txBody>
      </p:sp>
      <p:sp>
        <p:nvSpPr>
          <p:cNvPr id="16" name="Shape 14">
            <a:extLst>
              <a:ext uri="{FF2B5EF4-FFF2-40B4-BE49-F238E27FC236}">
                <a16:creationId xmlns:a16="http://schemas.microsoft.com/office/drawing/2014/main" id="{8C69E38C-A8C9-CC38-234A-8F42DA7C8E99}"/>
              </a:ext>
            </a:extLst>
          </p:cNvPr>
          <p:cNvSpPr/>
          <p:nvPr/>
        </p:nvSpPr>
        <p:spPr>
          <a:xfrm>
            <a:off x="3804581" y="1308748"/>
            <a:ext cx="1572768" cy="2871757"/>
          </a:xfrm>
          <a:prstGeom prst="roundRect">
            <a:avLst>
              <a:gd name="adj" fmla="val 5814"/>
            </a:avLst>
          </a:prstGeom>
          <a:solidFill>
            <a:srgbClr val="F5F5F5"/>
          </a:solidFill>
          <a:ln w="19050">
            <a:solidFill>
              <a:srgbClr val="2E7D32"/>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5">
            <a:extLst>
              <a:ext uri="{FF2B5EF4-FFF2-40B4-BE49-F238E27FC236}">
                <a16:creationId xmlns:a16="http://schemas.microsoft.com/office/drawing/2014/main" id="{D9E8C8B3-0B2B-6DD3-7F60-44B1BBBF188D}"/>
              </a:ext>
            </a:extLst>
          </p:cNvPr>
          <p:cNvSpPr/>
          <p:nvPr/>
        </p:nvSpPr>
        <p:spPr>
          <a:xfrm>
            <a:off x="4380653" y="1486092"/>
            <a:ext cx="420624" cy="420624"/>
          </a:xfrm>
          <a:prstGeom prst="ellipse">
            <a:avLst/>
          </a:prstGeom>
          <a:solidFill>
            <a:srgbClr val="00B05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16">
            <a:extLst>
              <a:ext uri="{FF2B5EF4-FFF2-40B4-BE49-F238E27FC236}">
                <a16:creationId xmlns:a16="http://schemas.microsoft.com/office/drawing/2014/main" id="{8482D8CB-5147-98BE-C3EF-CC80B4A8FFB1}"/>
              </a:ext>
            </a:extLst>
          </p:cNvPr>
          <p:cNvSpPr/>
          <p:nvPr/>
        </p:nvSpPr>
        <p:spPr>
          <a:xfrm>
            <a:off x="4380653"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B788BF04-B8D2-5800-E0DB-2354D606D8B9}"/>
              </a:ext>
            </a:extLst>
          </p:cNvPr>
          <p:cNvSpPr/>
          <p:nvPr/>
        </p:nvSpPr>
        <p:spPr>
          <a:xfrm>
            <a:off x="3877733" y="1967117"/>
            <a:ext cx="1426464" cy="457200"/>
          </a:xfrm>
          <a:prstGeom prst="rect">
            <a:avLst/>
          </a:prstGeom>
          <a:noFill/>
          <a:ln/>
        </p:spPr>
        <p:txBody>
          <a:bodyPr wrap="square" lIns="0" tIns="0" rIns="0" bIns="0" rtlCol="0" anchor="ctr"/>
          <a:lstStyle/>
          <a:p>
            <a:pPr marL="0" indent="0" algn="ctr">
              <a:buNone/>
            </a:pPr>
            <a:r>
              <a:rPr lang="en-US" sz="1100" b="1">
                <a:solidFill>
                  <a:srgbClr val="00B050"/>
                </a:solidFill>
                <a:latin typeface="Open Sans" panose="020B0606030504020204" pitchFamily="34" charset="0"/>
                <a:ea typeface="Open Sans" panose="020B0606030504020204" pitchFamily="34" charset="0"/>
                <a:cs typeface="Open Sans" panose="020B0606030504020204" pitchFamily="34" charset="0"/>
              </a:rPr>
              <a:t>HOOKS</a:t>
            </a:r>
          </a:p>
        </p:txBody>
      </p:sp>
      <p:sp>
        <p:nvSpPr>
          <p:cNvPr id="20" name="Text 18">
            <a:extLst>
              <a:ext uri="{FF2B5EF4-FFF2-40B4-BE49-F238E27FC236}">
                <a16:creationId xmlns:a16="http://schemas.microsoft.com/office/drawing/2014/main" id="{85839D63-567A-EB8D-2029-A7279F768C9F}"/>
              </a:ext>
            </a:extLst>
          </p:cNvPr>
          <p:cNvSpPr/>
          <p:nvPr/>
        </p:nvSpPr>
        <p:spPr>
          <a:xfrm>
            <a:off x="3877733" y="2436846"/>
            <a:ext cx="1426464" cy="1418142"/>
          </a:xfrm>
          <a:prstGeom prst="rect">
            <a:avLst/>
          </a:prstGeom>
          <a:noFill/>
          <a:ln/>
        </p:spPr>
        <p:txBody>
          <a:bodyPr wrap="square" lIns="0" tIns="0" rIns="0" bIns="0" rtlCol="0" anchor="t"/>
          <a:lstStyle/>
          <a:p>
            <a:pPr algn="ctr"/>
            <a:r>
              <a:rPr lang="en-IN" sz="1050">
                <a:latin typeface="Open Sans" pitchFamily="2" charset="0"/>
                <a:ea typeface="Open Sans" pitchFamily="2" charset="0"/>
                <a:cs typeface="Open Sans" pitchFamily="2" charset="0"/>
              </a:rPr>
              <a:t>before_tool validates args and blocks unknown tools; after_tool masks PHI and writes an audit row.</a:t>
            </a:r>
            <a:br>
              <a:rPr lang="en-IN" sz="1050">
                <a:latin typeface="Open Sans" pitchFamily="2" charset="0"/>
                <a:ea typeface="Open Sans" pitchFamily="2" charset="0"/>
                <a:cs typeface="Open Sans" pitchFamily="2" charset="0"/>
              </a:rPr>
            </a:br>
            <a:r>
              <a:rPr lang="en-IN" sz="1050">
                <a:latin typeface="Open Sans" pitchFamily="2" charset="0"/>
                <a:ea typeface="Open Sans" pitchFamily="2" charset="0"/>
                <a:cs typeface="Open Sans" pitchFamily="2" charset="0"/>
              </a:rPr>
              <a:t/>
            </a:r>
            <a:endParaRPr lang="en-US" sz="1050">
              <a:latin typeface="Open Sans" pitchFamily="2" charset="0"/>
              <a:ea typeface="Open Sans" pitchFamily="2" charset="0"/>
              <a:cs typeface="Open Sans" pitchFamily="2" charset="0"/>
            </a:endParaRPr>
          </a:p>
        </p:txBody>
      </p:sp>
      <p:sp>
        <p:nvSpPr>
          <p:cNvPr id="22" name="Shape 20">
            <a:extLst>
              <a:ext uri="{FF2B5EF4-FFF2-40B4-BE49-F238E27FC236}">
                <a16:creationId xmlns:a16="http://schemas.microsoft.com/office/drawing/2014/main" id="{B3E1EB8A-C9CB-B081-9713-2088868828B0}"/>
              </a:ext>
            </a:extLst>
          </p:cNvPr>
          <p:cNvSpPr/>
          <p:nvPr/>
        </p:nvSpPr>
        <p:spPr>
          <a:xfrm>
            <a:off x="5514509" y="1308748"/>
            <a:ext cx="1572768" cy="2871757"/>
          </a:xfrm>
          <a:prstGeom prst="roundRect">
            <a:avLst>
              <a:gd name="adj" fmla="val 5814"/>
            </a:avLst>
          </a:prstGeom>
          <a:solidFill>
            <a:srgbClr val="F5F5F5"/>
          </a:solidFill>
          <a:ln w="19050">
            <a:solidFill>
              <a:schemeClr val="accent3"/>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3" name="Shape 21">
            <a:extLst>
              <a:ext uri="{FF2B5EF4-FFF2-40B4-BE49-F238E27FC236}">
                <a16:creationId xmlns:a16="http://schemas.microsoft.com/office/drawing/2014/main" id="{741C6268-42FC-D881-8C3D-281204924169}"/>
              </a:ext>
            </a:extLst>
          </p:cNvPr>
          <p:cNvSpPr/>
          <p:nvPr/>
        </p:nvSpPr>
        <p:spPr>
          <a:xfrm>
            <a:off x="6090581" y="1486092"/>
            <a:ext cx="420624" cy="420624"/>
          </a:xfrm>
          <a:prstGeom prst="ellipse">
            <a:avLst/>
          </a:prstGeom>
          <a:solidFill>
            <a:schemeClr val="accent3"/>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2">
            <a:extLst>
              <a:ext uri="{FF2B5EF4-FFF2-40B4-BE49-F238E27FC236}">
                <a16:creationId xmlns:a16="http://schemas.microsoft.com/office/drawing/2014/main" id="{40BB3FD6-9B06-8EBC-9CF7-EC1C7A4CABE4}"/>
              </a:ext>
            </a:extLst>
          </p:cNvPr>
          <p:cNvSpPr/>
          <p:nvPr/>
        </p:nvSpPr>
        <p:spPr>
          <a:xfrm>
            <a:off x="6090581"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a:extLst>
              <a:ext uri="{FF2B5EF4-FFF2-40B4-BE49-F238E27FC236}">
                <a16:creationId xmlns:a16="http://schemas.microsoft.com/office/drawing/2014/main" id="{27395BD7-BDC1-153A-49A1-ECB3E7D16287}"/>
              </a:ext>
            </a:extLst>
          </p:cNvPr>
          <p:cNvSpPr/>
          <p:nvPr/>
        </p:nvSpPr>
        <p:spPr>
          <a:xfrm>
            <a:off x="5587661" y="1967117"/>
            <a:ext cx="1426464" cy="457200"/>
          </a:xfrm>
          <a:prstGeom prst="rect">
            <a:avLst/>
          </a:prstGeom>
          <a:noFill/>
          <a:ln/>
        </p:spPr>
        <p:txBody>
          <a:bodyPr wrap="square" lIns="0" tIns="0" rIns="0" bIns="0" rtlCol="0" anchor="ctr"/>
          <a:lstStyle/>
          <a:p>
            <a:pPr marL="0" indent="0" algn="ctr">
              <a:buNone/>
            </a:pPr>
            <a:r>
              <a:rPr lang="en-US" sz="1100" b="1">
                <a:solidFill>
                  <a:schemeClr val="accent3"/>
                </a:solidFill>
                <a:latin typeface="Open Sans" panose="020B0606030504020204" pitchFamily="34" charset="0"/>
                <a:ea typeface="Open Sans" panose="020B0606030504020204" pitchFamily="34" charset="0"/>
                <a:cs typeface="Open Sans" panose="020B0606030504020204" pitchFamily="34" charset="0"/>
              </a:rPr>
              <a:t>MEMORY</a:t>
            </a:r>
          </a:p>
        </p:txBody>
      </p:sp>
      <p:sp>
        <p:nvSpPr>
          <p:cNvPr id="26" name="Text 24">
            <a:extLst>
              <a:ext uri="{FF2B5EF4-FFF2-40B4-BE49-F238E27FC236}">
                <a16:creationId xmlns:a16="http://schemas.microsoft.com/office/drawing/2014/main" id="{F642D309-5D67-599E-3C28-2705B233F1AB}"/>
              </a:ext>
            </a:extLst>
          </p:cNvPr>
          <p:cNvSpPr/>
          <p:nvPr/>
        </p:nvSpPr>
        <p:spPr>
          <a:xfrm>
            <a:off x="5587661" y="2436846"/>
            <a:ext cx="1426464" cy="1418142"/>
          </a:xfrm>
          <a:prstGeom prst="rect">
            <a:avLst/>
          </a:prstGeom>
          <a:noFill/>
          <a:ln/>
        </p:spPr>
        <p:txBody>
          <a:bodyPr wrap="square" lIns="0" tIns="0" rIns="0" bIns="0" rtlCol="0" anchor="t"/>
          <a:lstStyle/>
          <a:p>
            <a:pPr algn="ctr"/>
            <a:r>
              <a:rPr lang="en-IN" sz="1100">
                <a:latin typeface="Open Sans" pitchFamily="2" charset="0"/>
                <a:ea typeface="Open Sans" pitchFamily="2" charset="0"/>
                <a:cs typeface="Open Sans" pitchFamily="2" charset="0"/>
              </a:rPr>
              <a:t>Rejection reasons are stored per diagnosis and recalled before drafting: human feedback closes the loop.</a:t>
            </a:r>
            <a:endParaRPr lang="en-US" sz="1100">
              <a:latin typeface="Open Sans" pitchFamily="2" charset="0"/>
              <a:ea typeface="Open Sans" pitchFamily="2" charset="0"/>
              <a:cs typeface="Open Sans" pitchFamily="2" charset="0"/>
            </a:endParaRPr>
          </a:p>
        </p:txBody>
      </p:sp>
      <p:sp>
        <p:nvSpPr>
          <p:cNvPr id="28" name="Shape 26">
            <a:extLst>
              <a:ext uri="{FF2B5EF4-FFF2-40B4-BE49-F238E27FC236}">
                <a16:creationId xmlns:a16="http://schemas.microsoft.com/office/drawing/2014/main" id="{DE055E5B-CE6D-CE28-E687-40BBA659EBA2}"/>
              </a:ext>
            </a:extLst>
          </p:cNvPr>
          <p:cNvSpPr/>
          <p:nvPr/>
        </p:nvSpPr>
        <p:spPr>
          <a:xfrm>
            <a:off x="7224437" y="1308748"/>
            <a:ext cx="1572768" cy="2871757"/>
          </a:xfrm>
          <a:prstGeom prst="roundRect">
            <a:avLst>
              <a:gd name="adj" fmla="val 5814"/>
            </a:avLst>
          </a:prstGeom>
          <a:solidFill>
            <a:srgbClr val="F5F5F5"/>
          </a:solidFill>
          <a:ln w="19050">
            <a:solidFill>
              <a:srgbClr val="002060"/>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9" name="Shape 27">
            <a:extLst>
              <a:ext uri="{FF2B5EF4-FFF2-40B4-BE49-F238E27FC236}">
                <a16:creationId xmlns:a16="http://schemas.microsoft.com/office/drawing/2014/main" id="{81B10C7A-E862-64E1-5000-F02E85455EDC}"/>
              </a:ext>
            </a:extLst>
          </p:cNvPr>
          <p:cNvSpPr/>
          <p:nvPr/>
        </p:nvSpPr>
        <p:spPr>
          <a:xfrm>
            <a:off x="7800509" y="1486092"/>
            <a:ext cx="420624" cy="420624"/>
          </a:xfrm>
          <a:prstGeom prst="ellipse">
            <a:avLst/>
          </a:prstGeom>
          <a:solidFill>
            <a:srgbClr val="00206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30" name="Text 28">
            <a:extLst>
              <a:ext uri="{FF2B5EF4-FFF2-40B4-BE49-F238E27FC236}">
                <a16:creationId xmlns:a16="http://schemas.microsoft.com/office/drawing/2014/main" id="{1C2C2C58-CD3C-6EE3-D52F-9E479E9E4C96}"/>
              </a:ext>
            </a:extLst>
          </p:cNvPr>
          <p:cNvSpPr/>
          <p:nvPr/>
        </p:nvSpPr>
        <p:spPr>
          <a:xfrm>
            <a:off x="7800509"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5</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9">
            <a:extLst>
              <a:ext uri="{FF2B5EF4-FFF2-40B4-BE49-F238E27FC236}">
                <a16:creationId xmlns:a16="http://schemas.microsoft.com/office/drawing/2014/main" id="{66D4DF3E-16C6-4825-678C-B918EC115AD7}"/>
              </a:ext>
            </a:extLst>
          </p:cNvPr>
          <p:cNvSpPr/>
          <p:nvPr/>
        </p:nvSpPr>
        <p:spPr>
          <a:xfrm>
            <a:off x="7297589" y="1967117"/>
            <a:ext cx="1426464" cy="457200"/>
          </a:xfrm>
          <a:prstGeom prst="rect">
            <a:avLst/>
          </a:prstGeom>
          <a:noFill/>
          <a:ln/>
        </p:spPr>
        <p:txBody>
          <a:bodyPr wrap="square" lIns="0" tIns="0" rIns="0" bIns="0" rtlCol="0" anchor="ctr"/>
          <a:lstStyle/>
          <a:p>
            <a:pPr marL="0" indent="0" algn="ctr">
              <a:buNone/>
            </a:pPr>
            <a:r>
              <a:rPr lang="en-US" sz="1100" b="1">
                <a:solidFill>
                  <a:srgbClr val="002060"/>
                </a:solidFill>
                <a:latin typeface="Open Sans" panose="020B0606030504020204" pitchFamily="34" charset="0"/>
                <a:ea typeface="Open Sans" panose="020B0606030504020204" pitchFamily="34" charset="0"/>
                <a:cs typeface="Open Sans" panose="020B0606030504020204" pitchFamily="34" charset="0"/>
              </a:rPr>
              <a:t>TERMINATE</a:t>
            </a:r>
          </a:p>
        </p:txBody>
      </p:sp>
      <p:sp>
        <p:nvSpPr>
          <p:cNvPr id="32" name="Text 30">
            <a:extLst>
              <a:ext uri="{FF2B5EF4-FFF2-40B4-BE49-F238E27FC236}">
                <a16:creationId xmlns:a16="http://schemas.microsoft.com/office/drawing/2014/main" id="{CF60A68A-F0FF-002F-DEED-C8FBA7CC989D}"/>
              </a:ext>
            </a:extLst>
          </p:cNvPr>
          <p:cNvSpPr/>
          <p:nvPr/>
        </p:nvSpPr>
        <p:spPr>
          <a:xfrm>
            <a:off x="7297589" y="2436846"/>
            <a:ext cx="1426464" cy="1418142"/>
          </a:xfrm>
          <a:prstGeom prst="rect">
            <a:avLst/>
          </a:prstGeom>
          <a:noFill/>
          <a:ln/>
        </p:spPr>
        <p:txBody>
          <a:bodyPr wrap="square" lIns="0" tIns="0" rIns="0" bIns="0" rtlCol="0" anchor="t"/>
          <a:lstStyle/>
          <a:p>
            <a:pPr algn="ctr"/>
            <a:r>
              <a:rPr lang="en-IN" sz="1100">
                <a:latin typeface="Open Sans" pitchFamily="2" charset="0"/>
                <a:ea typeface="Open Sans" pitchFamily="2" charset="0"/>
                <a:cs typeface="Open Sans" pitchFamily="2" charset="0"/>
              </a:rPr>
              <a:t>The only exit is a schema-validated submit tool. A hard cap of 6 steps, else fail safely.</a:t>
            </a:r>
            <a:endParaRPr lang="en-US" sz="1100">
              <a:latin typeface="Open Sans" pitchFamily="2" charset="0"/>
              <a:ea typeface="Open Sans" pitchFamily="2" charset="0"/>
              <a:cs typeface="Open Sans" pitchFamily="2" charset="0"/>
            </a:endParaRPr>
          </a:p>
        </p:txBody>
      </p:sp>
      <p:sp>
        <p:nvSpPr>
          <p:cNvPr id="33" name="TextBox 32">
            <a:extLst>
              <a:ext uri="{FF2B5EF4-FFF2-40B4-BE49-F238E27FC236}">
                <a16:creationId xmlns:a16="http://schemas.microsoft.com/office/drawing/2014/main" id="{6F94E9D6-D29B-8793-8C00-E684E0BE1F94}"/>
              </a:ext>
            </a:extLst>
          </p:cNvPr>
          <p:cNvSpPr txBox="1"/>
          <p:nvPr/>
        </p:nvSpPr>
        <p:spPr>
          <a:xfrm>
            <a:off x="673376" y="4356212"/>
            <a:ext cx="7797247" cy="292388"/>
          </a:xfrm>
          <a:prstGeom prst="rect">
            <a:avLst/>
          </a:prstGeom>
          <a:noFill/>
        </p:spPr>
        <p:txBody>
          <a:bodyPr wrap="square" rtlCol="0">
            <a:spAutoFit/>
          </a:bodyPr>
          <a:lstStyle/>
          <a:p>
            <a:pPr algn="ctr"/>
            <a:r>
              <a:rPr lang="en-IN" sz="1300" b="1">
                <a:latin typeface="Open Sans" panose="020B0606030504020204" pitchFamily="34" charset="0"/>
                <a:ea typeface="Open Sans" panose="020B0606030504020204" pitchFamily="34" charset="0"/>
                <a:cs typeface="Open Sans" panose="020B0606030504020204" pitchFamily="34" charset="0"/>
              </a:rPr>
              <a:t/>
            </a:r>
            <a:r>
              <a:rPr lang="en-IN" sz="1300" i="1">
                <a:solidFill>
                  <a:schemeClr val="tx2"/>
                </a:solidFill>
                <a:latin typeface="Open Sans" pitchFamily="2" charset="0"/>
                <a:ea typeface="Open Sans" pitchFamily="2" charset="0"/>
                <a:cs typeface="Open Sans" pitchFamily="2" charset="0"/>
              </a:rPr>
              <a:t>An agent is a while-loop with a budget. Everything interesting lives in the tools, the guards and the exit.</a:t>
            </a:r>
            <a:endParaRPr lang="en-US" sz="1300" i="1">
              <a:solidFill>
                <a:schemeClr val="tx2"/>
              </a:solidFill>
              <a:latin typeface="Open Sans" pitchFamily="2" charset="0"/>
              <a:ea typeface="Open Sans" pitchFamily="2" charset="0"/>
              <a:cs typeface="Open Sans" pitchFamily="2" charset="0"/>
            </a:endParaRPr>
          </a:p>
        </p:txBody>
      </p:sp>
      <p:sp>
        <p:nvSpPr>
          <p:cNvPr id="34" name="TextBox 33">
            <a:extLst>
              <a:ext uri="{FF2B5EF4-FFF2-40B4-BE49-F238E27FC236}">
                <a16:creationId xmlns:a16="http://schemas.microsoft.com/office/drawing/2014/main" id="{F96E3954-CE77-0FA8-D672-EAEEFCF151E7}"/>
              </a:ext>
            </a:extLst>
          </p:cNvPr>
          <p:cNvSpPr txBox="1"/>
          <p:nvPr/>
        </p:nvSpPr>
        <p:spPr>
          <a:xfrm>
            <a:off x="367200" y="770400"/>
            <a:ext cx="8412480" cy="307777"/>
          </a:xfrm>
          <a:prstGeom prst="rect">
            <a:avLst/>
          </a:prstGeom>
          <a:noFill/>
        </p:spPr>
        <p:txBody>
          <a:bodyPr wrap="square" rtlCol="0">
            <a:noAutofit/>
          </a:bodyPr>
          <a:lstStyle/>
          <a:p>
            <a:pPr algn="l"/>
            <a:r>
              <a:rPr lang="en-IN" sz="1400">
                <a:solidFill>
                  <a:schemeClr val="tx2"/>
                </a:solidFill>
                <a:latin typeface="Open Sans" pitchFamily="2" charset="0"/>
                <a:ea typeface="Open Sans" pitchFamily="2" charset="0"/>
                <a:cs typeface="Open Sans" pitchFamily="2" charset="0"/>
              </a:rPr>
              <a:t>The Discharge Agent: one loop, five tools, a hard step limit.</a:t>
            </a:r>
            <a:endParaRPr lang="en-US" sz="1400">
              <a:solidFill>
                <a:schemeClr val="tx2"/>
              </a:solidFill>
              <a:latin typeface="Open Sans" pitchFamily="2" charset="0"/>
              <a:ea typeface="Open Sans" pitchFamily="2" charset="0"/>
              <a:cs typeface="Open Sans" pitchFamily="2" charset="0"/>
            </a:endParaRPr>
          </a:p>
        </p:txBody>
      </p:sp>
      <p:cxnSp>
        <p:nvCxnSpPr>
          <p:cNvPr id="36" name="Straight Arrow Connector 35">
            <a:extLst>
              <a:ext uri="{FF2B5EF4-FFF2-40B4-BE49-F238E27FC236}">
                <a16:creationId xmlns:a16="http://schemas.microsoft.com/office/drawing/2014/main" id="{6310AA2E-0BC1-3F66-D739-7FE38EF64F56}"/>
              </a:ext>
            </a:extLst>
          </p:cNvPr>
          <p:cNvCxnSpPr>
            <a:cxnSpLocks/>
          </p:cNvCxnSpPr>
          <p:nvPr/>
        </p:nvCxnSpPr>
        <p:spPr>
          <a:xfrm>
            <a:off x="1988738" y="2692846"/>
            <a:ext cx="8477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E6175C2-987D-E8BC-5C62-F5FD0C36E752}"/>
              </a:ext>
            </a:extLst>
          </p:cNvPr>
          <p:cNvCxnSpPr>
            <a:cxnSpLocks/>
          </p:cNvCxnSpPr>
          <p:nvPr/>
        </p:nvCxnSpPr>
        <p:spPr>
          <a:xfrm>
            <a:off x="3689030" y="2688109"/>
            <a:ext cx="8477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5652E88-3E7B-A626-4195-6C8A502DB81F}"/>
              </a:ext>
            </a:extLst>
          </p:cNvPr>
          <p:cNvCxnSpPr>
            <a:cxnSpLocks/>
          </p:cNvCxnSpPr>
          <p:nvPr/>
        </p:nvCxnSpPr>
        <p:spPr>
          <a:xfrm>
            <a:off x="5407750" y="2688109"/>
            <a:ext cx="8477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E2462479-C07C-FB37-D9A8-EE12598D8311}"/>
              </a:ext>
            </a:extLst>
          </p:cNvPr>
          <p:cNvCxnSpPr>
            <a:cxnSpLocks/>
          </p:cNvCxnSpPr>
          <p:nvPr/>
        </p:nvCxnSpPr>
        <p:spPr>
          <a:xfrm>
            <a:off x="7113282" y="2691823"/>
            <a:ext cx="8477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a:extLst>
              <a:ext uri="{FF2B5EF4-FFF2-40B4-BE49-F238E27FC236}">
                <a16:creationId xmlns:a16="http://schemas.microsoft.com/office/drawing/2014/main" id="{A5C4F579-AA11-E146-3811-2DE38DA7DA6E}"/>
              </a:ext>
            </a:extLst>
          </p:cNvPr>
          <p:cNvSpPr/>
          <p:nvPr/>
        </p:nvSpPr>
        <p:spPr>
          <a:xfrm>
            <a:off x="394212" y="201168"/>
            <a:ext cx="841248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MCP: Your System as AI Tools</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4CB6F957-8F0A-815F-C3D8-376B4980501A}"/>
              </a:ext>
            </a:extLst>
          </p:cNvPr>
          <p:cNvSpPr/>
          <p:nvPr/>
        </p:nvSpPr>
        <p:spPr>
          <a:xfrm>
            <a:off x="394212" y="676656"/>
            <a:ext cx="8412480" cy="420624"/>
          </a:xfrm>
          <a:prstGeom prst="rect">
            <a:avLst/>
          </a:prstGeom>
          <a:noFill/>
          <a:ln/>
        </p:spPr>
        <p:txBody>
          <a:bodyPr wrap="square" lIns="0" tIns="0" rIns="0" bIns="0" rtlCol="0" anchor="t">
            <a:noAutofit/>
          </a:bodyPr>
          <a:lstStyle/>
          <a:p>
            <a:pPr marL="0" indent="0" algn="l">
              <a:buNone/>
            </a:pPr>
            <a:r>
              <a:rPr lang="en-US" sz="1400">
                <a:solidFill>
                  <a:schemeClr val="tx2"/>
                </a:solidFill>
                <a:latin typeface="Open Sans" pitchFamily="2" charset="0"/>
                <a:ea typeface="Open Sans" pitchFamily="2" charset="0"/>
                <a:cs typeface="Open Sans" pitchFamily="2" charset="0"/>
              </a:rPr>
              <a:t>Model Context Protocol: one server, any MCP client, including Claude Code itself.</a:t>
            </a:r>
          </a:p>
        </p:txBody>
      </p:sp>
      <p:sp>
        <p:nvSpPr>
          <p:cNvPr id="5" name="Shape 2">
            <a:extLst>
              <a:ext uri="{FF2B5EF4-FFF2-40B4-BE49-F238E27FC236}">
                <a16:creationId xmlns:a16="http://schemas.microsoft.com/office/drawing/2014/main" id="{C70745E8-6A98-3B95-1B5F-97B9032C6271}"/>
              </a:ext>
            </a:extLst>
          </p:cNvPr>
          <p:cNvSpPr/>
          <p:nvPr/>
        </p:nvSpPr>
        <p:spPr>
          <a:xfrm>
            <a:off x="292608" y="1012503"/>
            <a:ext cx="4133088" cy="1401513"/>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DB4C9CCD-F4CB-11B4-EC98-94238644C43E}"/>
              </a:ext>
            </a:extLst>
          </p:cNvPr>
          <p:cNvSpPr/>
          <p:nvPr/>
        </p:nvSpPr>
        <p:spPr>
          <a:xfrm>
            <a:off x="493776" y="1092659"/>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PRIMITIVES</a:t>
            </a:r>
            <a:endParaRPr lang="en-US" sz="14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0359E624-96CC-1DCB-62CC-3CE87FC3AE07}"/>
              </a:ext>
            </a:extLst>
          </p:cNvPr>
          <p:cNvSpPr/>
          <p:nvPr/>
        </p:nvSpPr>
        <p:spPr>
          <a:xfrm>
            <a:off x="493776" y="1418514"/>
            <a:ext cx="3730752" cy="679981"/>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Tools (model-invoked), resources (readable data), prompts (templates)</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DischargeFlow exposes four read-only tools and nothing else</a:t>
            </a:r>
          </a:p>
        </p:txBody>
      </p:sp>
      <p:sp>
        <p:nvSpPr>
          <p:cNvPr id="8" name="Shape 5">
            <a:extLst>
              <a:ext uri="{FF2B5EF4-FFF2-40B4-BE49-F238E27FC236}">
                <a16:creationId xmlns:a16="http://schemas.microsoft.com/office/drawing/2014/main" id="{60CDCB1D-9E0E-2B44-BD1A-B10ECC61214F}"/>
              </a:ext>
            </a:extLst>
          </p:cNvPr>
          <p:cNvSpPr/>
          <p:nvPr/>
        </p:nvSpPr>
        <p:spPr>
          <a:xfrm>
            <a:off x="4718304" y="1012503"/>
            <a:ext cx="4133088" cy="1401513"/>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372B4D4F-3B7D-F00C-F53F-289AD2E5CCC8}"/>
              </a:ext>
            </a:extLst>
          </p:cNvPr>
          <p:cNvSpPr/>
          <p:nvPr/>
        </p:nvSpPr>
        <p:spPr>
          <a:xfrm>
            <a:off x="4919472" y="1092659"/>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TRANSPORTS</a:t>
            </a:r>
            <a:endParaRPr lang="en-US" sz="1400">
              <a:solidFill>
                <a:schemeClr val="accent2"/>
              </a:solidFill>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3075534D-A8B8-B24A-30AE-6A5E8F57B4B6}"/>
              </a:ext>
            </a:extLst>
          </p:cNvPr>
          <p:cNvSpPr/>
          <p:nvPr/>
        </p:nvSpPr>
        <p:spPr>
          <a:xfrm>
            <a:off x="4919472" y="1418514"/>
            <a:ext cx="3931920" cy="679981"/>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stdio for local servers: stdout carries the protocol, so log to stderr</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Streamable HTTP for remote, shared servers that need auth</a:t>
            </a:r>
          </a:p>
        </p:txBody>
      </p:sp>
      <p:sp>
        <p:nvSpPr>
          <p:cNvPr id="11" name="Shape 2">
            <a:extLst>
              <a:ext uri="{FF2B5EF4-FFF2-40B4-BE49-F238E27FC236}">
                <a16:creationId xmlns:a16="http://schemas.microsoft.com/office/drawing/2014/main" id="{5B38C73E-4DC7-5031-F4A2-C865B06C0B20}"/>
              </a:ext>
            </a:extLst>
          </p:cNvPr>
          <p:cNvSpPr/>
          <p:nvPr/>
        </p:nvSpPr>
        <p:spPr>
          <a:xfrm>
            <a:off x="292608" y="2576944"/>
            <a:ext cx="4133088" cy="1620152"/>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Text 3">
            <a:extLst>
              <a:ext uri="{FF2B5EF4-FFF2-40B4-BE49-F238E27FC236}">
                <a16:creationId xmlns:a16="http://schemas.microsoft.com/office/drawing/2014/main" id="{E5E070F2-EA40-BC2A-CE27-02F3BF7CF0E3}"/>
              </a:ext>
            </a:extLst>
          </p:cNvPr>
          <p:cNvSpPr/>
          <p:nvPr/>
        </p:nvSpPr>
        <p:spPr>
          <a:xfrm>
            <a:off x="493776" y="2714672"/>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WIRING</a:t>
            </a:r>
            <a:endParaRPr lang="en-US" sz="1400">
              <a:solidFill>
                <a:schemeClr val="accent2"/>
              </a:solidFill>
              <a:latin typeface="Open Sans" pitchFamily="2" charset="0"/>
              <a:ea typeface="Open Sans" pitchFamily="2" charset="0"/>
              <a:cs typeface="Open Sans" pitchFamily="2" charset="0"/>
            </a:endParaRPr>
          </a:p>
        </p:txBody>
      </p:sp>
      <p:sp>
        <p:nvSpPr>
          <p:cNvPr id="13" name="Text 4">
            <a:extLst>
              <a:ext uri="{FF2B5EF4-FFF2-40B4-BE49-F238E27FC236}">
                <a16:creationId xmlns:a16="http://schemas.microsoft.com/office/drawing/2014/main" id="{145029D4-4BC2-5111-3A00-1835A4DD0C3A}"/>
              </a:ext>
            </a:extLst>
          </p:cNvPr>
          <p:cNvSpPr/>
          <p:nvPr/>
        </p:nvSpPr>
        <p:spPr>
          <a:xfrm>
            <a:off x="493776" y="3040527"/>
            <a:ext cx="3730752" cy="879487"/>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claude mcp add --scope project writes .mcp.json for the whole team</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/mcp shows status; project servers need approval on first use</a:t>
            </a:r>
          </a:p>
        </p:txBody>
      </p:sp>
      <p:sp>
        <p:nvSpPr>
          <p:cNvPr id="14" name="Shape 5">
            <a:extLst>
              <a:ext uri="{FF2B5EF4-FFF2-40B4-BE49-F238E27FC236}">
                <a16:creationId xmlns:a16="http://schemas.microsoft.com/office/drawing/2014/main" id="{7DC3A9EF-923C-B111-E8D5-B07764CD447C}"/>
              </a:ext>
            </a:extLst>
          </p:cNvPr>
          <p:cNvSpPr/>
          <p:nvPr/>
        </p:nvSpPr>
        <p:spPr>
          <a:xfrm>
            <a:off x="4718304" y="2576944"/>
            <a:ext cx="4133088" cy="1620152"/>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Text 6">
            <a:extLst>
              <a:ext uri="{FF2B5EF4-FFF2-40B4-BE49-F238E27FC236}">
                <a16:creationId xmlns:a16="http://schemas.microsoft.com/office/drawing/2014/main" id="{D8E1E067-7BC2-6859-681C-FF3BF10712B0}"/>
              </a:ext>
            </a:extLst>
          </p:cNvPr>
          <p:cNvSpPr/>
          <p:nvPr/>
        </p:nvSpPr>
        <p:spPr>
          <a:xfrm>
            <a:off x="4919472" y="2714672"/>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SECURITY</a:t>
            </a:r>
            <a:endParaRPr lang="en-US" sz="1400">
              <a:solidFill>
                <a:schemeClr val="accent2"/>
              </a:solidFill>
              <a:latin typeface="Open Sans" pitchFamily="2" charset="0"/>
              <a:ea typeface="Open Sans" pitchFamily="2" charset="0"/>
              <a:cs typeface="Open Sans" pitchFamily="2" charset="0"/>
            </a:endParaRPr>
          </a:p>
        </p:txBody>
      </p:sp>
      <p:sp>
        <p:nvSpPr>
          <p:cNvPr id="16" name="Text 7">
            <a:extLst>
              <a:ext uri="{FF2B5EF4-FFF2-40B4-BE49-F238E27FC236}">
                <a16:creationId xmlns:a16="http://schemas.microsoft.com/office/drawing/2014/main" id="{BC8ED702-02AF-298C-9E39-A4AE88A6700D}"/>
              </a:ext>
            </a:extLst>
          </p:cNvPr>
          <p:cNvSpPr/>
          <p:nvPr/>
        </p:nvSpPr>
        <p:spPr>
          <a:xfrm>
            <a:off x="4919472" y="3040527"/>
            <a:ext cx="3730752" cy="879487"/>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Least privilege: no approve, reject or delete tools, ever</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Mask PHI in every result; treat MCP output as untrusted input</a:t>
            </a:r>
          </a:p>
        </p:txBody>
      </p:sp>
      <p:sp>
        <p:nvSpPr>
          <p:cNvPr id="17" name="Shape 8">
            <a:extLst>
              <a:ext uri="{FF2B5EF4-FFF2-40B4-BE49-F238E27FC236}">
                <a16:creationId xmlns:a16="http://schemas.microsoft.com/office/drawing/2014/main" id="{D19EDAE2-62A3-03D1-039F-53ED32B629F1}"/>
              </a:ext>
            </a:extLst>
          </p:cNvPr>
          <p:cNvSpPr/>
          <p:nvPr/>
        </p:nvSpPr>
        <p:spPr>
          <a:xfrm>
            <a:off x="292608" y="4379668"/>
            <a:ext cx="8558784" cy="420624"/>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9">
            <a:extLst>
              <a:ext uri="{FF2B5EF4-FFF2-40B4-BE49-F238E27FC236}">
                <a16:creationId xmlns:a16="http://schemas.microsoft.com/office/drawing/2014/main" id="{DBE77A76-D591-4D95-B2FE-147538E522FE}"/>
              </a:ext>
            </a:extLst>
          </p:cNvPr>
          <p:cNvSpPr/>
          <p:nvPr/>
        </p:nvSpPr>
        <p:spPr>
          <a:xfrm>
            <a:off x="493776" y="4396602"/>
            <a:ext cx="8156448"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The human sign-off lives in the product workflow, never in a tool an agent can call.</a:t>
            </a:r>
            <a:endParaRPr lang="en-US" sz="1200">
              <a:solidFill>
                <a:schemeClr val="tx2"/>
              </a:solidFill>
              <a:latin typeface="Open Sans" pitchFamily="2" charset="0"/>
              <a:ea typeface="Open Sans" pitchFamily="2" charset="0"/>
              <a:cs typeface="Open Sans" pitchFamily="2" charset="0"/>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a:extLst>
              <a:ext uri="{FF2B5EF4-FFF2-40B4-BE49-F238E27FC236}">
                <a16:creationId xmlns:a16="http://schemas.microsoft.com/office/drawing/2014/main" id="{A5C4F579-AA11-E146-3811-2DE38DA7DA6E}"/>
              </a:ext>
            </a:extLst>
          </p:cNvPr>
          <p:cNvSpPr/>
          <p:nvPr/>
        </p:nvSpPr>
        <p:spPr>
          <a:xfrm>
            <a:off x="394212" y="201168"/>
            <a:ext cx="841248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Production Gaps in LLM Systems</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4CB6F957-8F0A-815F-C3D8-376B4980501A}"/>
              </a:ext>
            </a:extLst>
          </p:cNvPr>
          <p:cNvSpPr/>
          <p:nvPr/>
        </p:nvSpPr>
        <p:spPr>
          <a:xfrm>
            <a:off x="394212" y="676656"/>
            <a:ext cx="8412480" cy="420624"/>
          </a:xfrm>
          <a:prstGeom prst="rect">
            <a:avLst/>
          </a:prstGeom>
          <a:noFill/>
          <a:ln/>
        </p:spPr>
        <p:txBody>
          <a:bodyPr wrap="square" lIns="0" tIns="0" rIns="0" bIns="0" rtlCol="0" anchor="t">
            <a:noAutofit/>
          </a:bodyPr>
          <a:lstStyle/>
          <a:p>
            <a:pPr marL="0" indent="0" algn="l">
              <a:buNone/>
            </a:pPr>
            <a:r>
              <a:rPr lang="en-US" sz="1400">
                <a:solidFill>
                  <a:schemeClr val="tx2"/>
                </a:solidFill>
                <a:latin typeface="Open Sans" pitchFamily="2" charset="0"/>
                <a:ea typeface="Open Sans" pitchFamily="2" charset="0"/>
                <a:cs typeface="Open Sans" pitchFamily="2" charset="0"/>
              </a:rPr>
              <a:t>What a PoC skips that a production AI service cannot.</a:t>
            </a:r>
          </a:p>
        </p:txBody>
      </p:sp>
      <p:sp>
        <p:nvSpPr>
          <p:cNvPr id="5" name="Shape 2">
            <a:extLst>
              <a:ext uri="{FF2B5EF4-FFF2-40B4-BE49-F238E27FC236}">
                <a16:creationId xmlns:a16="http://schemas.microsoft.com/office/drawing/2014/main" id="{C70745E8-6A98-3B95-1B5F-97B9032C6271}"/>
              </a:ext>
            </a:extLst>
          </p:cNvPr>
          <p:cNvSpPr/>
          <p:nvPr/>
        </p:nvSpPr>
        <p:spPr>
          <a:xfrm>
            <a:off x="292608" y="1012503"/>
            <a:ext cx="4133088" cy="1401513"/>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DB4C9CCD-F4CB-11B4-EC98-94238644C43E}"/>
              </a:ext>
            </a:extLst>
          </p:cNvPr>
          <p:cNvSpPr/>
          <p:nvPr/>
        </p:nvSpPr>
        <p:spPr>
          <a:xfrm>
            <a:off x="493776" y="1092659"/>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EVALUATION</a:t>
            </a:r>
            <a:endParaRPr lang="en-US" sz="14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0359E624-96CC-1DCB-62CC-3CE87FC3AE07}"/>
              </a:ext>
            </a:extLst>
          </p:cNvPr>
          <p:cNvSpPr/>
          <p:nvPr/>
        </p:nvSpPr>
        <p:spPr>
          <a:xfrm>
            <a:off x="493776" y="1418514"/>
            <a:ext cx="3730752" cy="679981"/>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Golden-set evals gate every prompt or model change</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Track hallucination, omission and flag rates per release</a:t>
            </a:r>
          </a:p>
        </p:txBody>
      </p:sp>
      <p:sp>
        <p:nvSpPr>
          <p:cNvPr id="8" name="Shape 5">
            <a:extLst>
              <a:ext uri="{FF2B5EF4-FFF2-40B4-BE49-F238E27FC236}">
                <a16:creationId xmlns:a16="http://schemas.microsoft.com/office/drawing/2014/main" id="{60CDCB1D-9E0E-2B44-BD1A-B10ECC61214F}"/>
              </a:ext>
            </a:extLst>
          </p:cNvPr>
          <p:cNvSpPr/>
          <p:nvPr/>
        </p:nvSpPr>
        <p:spPr>
          <a:xfrm>
            <a:off x="4718304" y="1012503"/>
            <a:ext cx="4133088" cy="1401513"/>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372B4D4F-3B7D-F00C-F53F-289AD2E5CCC8}"/>
              </a:ext>
            </a:extLst>
          </p:cNvPr>
          <p:cNvSpPr/>
          <p:nvPr/>
        </p:nvSpPr>
        <p:spPr>
          <a:xfrm>
            <a:off x="4919472" y="1092659"/>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OBSERVABILITY</a:t>
            </a:r>
            <a:endParaRPr lang="en-US" sz="1400">
              <a:solidFill>
                <a:schemeClr val="accent2"/>
              </a:solidFill>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3075534D-A8B8-B24A-30AE-6A5E8F57B4B6}"/>
              </a:ext>
            </a:extLst>
          </p:cNvPr>
          <p:cNvSpPr/>
          <p:nvPr/>
        </p:nvSpPr>
        <p:spPr>
          <a:xfrm>
            <a:off x="4919472" y="1418514"/>
            <a:ext cx="3931920" cy="679981"/>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Trace each call: prompt_version, model, tokens, latency, flags</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Alert on 503 rate, cost per draft and flag-rate drift</a:t>
            </a:r>
          </a:p>
        </p:txBody>
      </p:sp>
      <p:sp>
        <p:nvSpPr>
          <p:cNvPr id="11" name="Shape 2">
            <a:extLst>
              <a:ext uri="{FF2B5EF4-FFF2-40B4-BE49-F238E27FC236}">
                <a16:creationId xmlns:a16="http://schemas.microsoft.com/office/drawing/2014/main" id="{5B38C73E-4DC7-5031-F4A2-C865B06C0B20}"/>
              </a:ext>
            </a:extLst>
          </p:cNvPr>
          <p:cNvSpPr/>
          <p:nvPr/>
        </p:nvSpPr>
        <p:spPr>
          <a:xfrm>
            <a:off x="292608" y="2576944"/>
            <a:ext cx="4133088" cy="1620152"/>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Text 3">
            <a:extLst>
              <a:ext uri="{FF2B5EF4-FFF2-40B4-BE49-F238E27FC236}">
                <a16:creationId xmlns:a16="http://schemas.microsoft.com/office/drawing/2014/main" id="{E5E070F2-EA40-BC2A-CE27-02F3BF7CF0E3}"/>
              </a:ext>
            </a:extLst>
          </p:cNvPr>
          <p:cNvSpPr/>
          <p:nvPr/>
        </p:nvSpPr>
        <p:spPr>
          <a:xfrm>
            <a:off x="493776" y="2714672"/>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SAFETY &amp; PRIVACY</a:t>
            </a:r>
            <a:endParaRPr lang="en-US" sz="1400">
              <a:solidFill>
                <a:schemeClr val="accent2"/>
              </a:solidFill>
              <a:latin typeface="Open Sans" pitchFamily="2" charset="0"/>
              <a:ea typeface="Open Sans" pitchFamily="2" charset="0"/>
              <a:cs typeface="Open Sans" pitchFamily="2" charset="0"/>
            </a:endParaRPr>
          </a:p>
        </p:txBody>
      </p:sp>
      <p:sp>
        <p:nvSpPr>
          <p:cNvPr id="13" name="Text 4">
            <a:extLst>
              <a:ext uri="{FF2B5EF4-FFF2-40B4-BE49-F238E27FC236}">
                <a16:creationId xmlns:a16="http://schemas.microsoft.com/office/drawing/2014/main" id="{145029D4-4BC2-5111-3A00-1835A4DD0C3A}"/>
              </a:ext>
            </a:extLst>
          </p:cNvPr>
          <p:cNvSpPr/>
          <p:nvPr/>
        </p:nvSpPr>
        <p:spPr>
          <a:xfrm>
            <a:off x="493776" y="3040527"/>
            <a:ext cx="3730752" cy="879487"/>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DPA and data residency with the LLM vendor; masking audited</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Prompt-injection red-team suite runs in CI</a:t>
            </a:r>
          </a:p>
        </p:txBody>
      </p:sp>
      <p:sp>
        <p:nvSpPr>
          <p:cNvPr id="14" name="Shape 5">
            <a:extLst>
              <a:ext uri="{FF2B5EF4-FFF2-40B4-BE49-F238E27FC236}">
                <a16:creationId xmlns:a16="http://schemas.microsoft.com/office/drawing/2014/main" id="{7DC3A9EF-923C-B111-E8D5-B07764CD447C}"/>
              </a:ext>
            </a:extLst>
          </p:cNvPr>
          <p:cNvSpPr/>
          <p:nvPr/>
        </p:nvSpPr>
        <p:spPr>
          <a:xfrm>
            <a:off x="4718304" y="2576944"/>
            <a:ext cx="4133088" cy="1620152"/>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Text 6">
            <a:extLst>
              <a:ext uri="{FF2B5EF4-FFF2-40B4-BE49-F238E27FC236}">
                <a16:creationId xmlns:a16="http://schemas.microsoft.com/office/drawing/2014/main" id="{D8E1E067-7BC2-6859-681C-FF3BF10712B0}"/>
              </a:ext>
            </a:extLst>
          </p:cNvPr>
          <p:cNvSpPr/>
          <p:nvPr/>
        </p:nvSpPr>
        <p:spPr>
          <a:xfrm>
            <a:off x="4919472" y="2714672"/>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COST &amp; RESILIENCE</a:t>
            </a:r>
            <a:endParaRPr lang="en-US" sz="1400">
              <a:solidFill>
                <a:schemeClr val="accent2"/>
              </a:solidFill>
              <a:latin typeface="Open Sans" pitchFamily="2" charset="0"/>
              <a:ea typeface="Open Sans" pitchFamily="2" charset="0"/>
              <a:cs typeface="Open Sans" pitchFamily="2" charset="0"/>
            </a:endParaRPr>
          </a:p>
        </p:txBody>
      </p:sp>
      <p:sp>
        <p:nvSpPr>
          <p:cNvPr id="16" name="Text 7">
            <a:extLst>
              <a:ext uri="{FF2B5EF4-FFF2-40B4-BE49-F238E27FC236}">
                <a16:creationId xmlns:a16="http://schemas.microsoft.com/office/drawing/2014/main" id="{BC8ED702-02AF-298C-9E39-A4AE88A6700D}"/>
              </a:ext>
            </a:extLst>
          </p:cNvPr>
          <p:cNvSpPr/>
          <p:nvPr/>
        </p:nvSpPr>
        <p:spPr>
          <a:xfrm>
            <a:off x="4919472" y="3040527"/>
            <a:ext cx="3730752" cy="879487"/>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Timeouts, retries with backoff, rate limits, fallbacks</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Model tiering and prompt caching for stable context</a:t>
            </a:r>
          </a:p>
        </p:txBody>
      </p:sp>
      <p:sp>
        <p:nvSpPr>
          <p:cNvPr id="17" name="Shape 8">
            <a:extLst>
              <a:ext uri="{FF2B5EF4-FFF2-40B4-BE49-F238E27FC236}">
                <a16:creationId xmlns:a16="http://schemas.microsoft.com/office/drawing/2014/main" id="{D19EDAE2-62A3-03D1-039F-53ED32B629F1}"/>
              </a:ext>
            </a:extLst>
          </p:cNvPr>
          <p:cNvSpPr/>
          <p:nvPr/>
        </p:nvSpPr>
        <p:spPr>
          <a:xfrm>
            <a:off x="292608" y="4379668"/>
            <a:ext cx="8558784" cy="420624"/>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9">
            <a:extLst>
              <a:ext uri="{FF2B5EF4-FFF2-40B4-BE49-F238E27FC236}">
                <a16:creationId xmlns:a16="http://schemas.microsoft.com/office/drawing/2014/main" id="{DBE77A76-D591-4D95-B2FE-147538E522FE}"/>
              </a:ext>
            </a:extLst>
          </p:cNvPr>
          <p:cNvSpPr/>
          <p:nvPr/>
        </p:nvSpPr>
        <p:spPr>
          <a:xfrm>
            <a:off x="493776" y="4396602"/>
            <a:ext cx="8156448"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Traditional production gaps still apply. These come on top, and they are where AI PoCs usually fail.</a:t>
            </a:r>
            <a:endParaRPr lang="en-US" sz="1200">
              <a:solidFill>
                <a:schemeClr val="tx2"/>
              </a:solidFill>
              <a:latin typeface="Open Sans" pitchFamily="2" charset="0"/>
              <a:ea typeface="Open Sans" pitchFamily="2" charset="0"/>
              <a:cs typeface="Open Sans" pitchFamily="2" charset="0"/>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a:extLst>
              <a:ext uri="{FF2B5EF4-FFF2-40B4-BE49-F238E27FC236}">
                <a16:creationId xmlns:a16="http://schemas.microsoft.com/office/drawing/2014/main" id="{FA306A6F-C672-F83D-94F3-F42E6EA02C18}"/>
              </a:ext>
            </a:extLst>
          </p:cNvPr>
          <p:cNvSpPr/>
          <p:nvPr/>
        </p:nvSpPr>
        <p:spPr>
          <a:xfrm>
            <a:off x="367200" y="190800"/>
            <a:ext cx="8412480" cy="475488"/>
          </a:xfrm>
          <a:prstGeom prst="rect">
            <a:avLst/>
          </a:prstGeom>
          <a:noFill/>
          <a:ln/>
        </p:spPr>
        <p:txBody>
          <a:bodyPr wrap="square" lIns="0" tIns="0" rIns="0" bIns="0" rtlCol="0" anchor="ctr"/>
          <a:lstStyle/>
          <a:p>
            <a:r>
              <a:rPr lang="en-US" sz="2800" b="1">
                <a:latin typeface="Open Sans" panose="020B0606030504020204" pitchFamily="34" charset="0"/>
                <a:ea typeface="Open Sans" panose="020B0606030504020204" pitchFamily="34" charset="0"/>
                <a:cs typeface="Open Sans" panose="020B0606030504020204" pitchFamily="34" charset="0"/>
              </a:rPr>
              <a:t>Prompt Injection: The Threat Model</a:t>
            </a:r>
          </a:p>
        </p:txBody>
      </p:sp>
      <p:sp>
        <p:nvSpPr>
          <p:cNvPr id="4" name="Shape 2">
            <a:extLst>
              <a:ext uri="{FF2B5EF4-FFF2-40B4-BE49-F238E27FC236}">
                <a16:creationId xmlns:a16="http://schemas.microsoft.com/office/drawing/2014/main" id="{F26DC8F7-C91F-609A-4353-BDF40D1DEF38}"/>
              </a:ext>
            </a:extLst>
          </p:cNvPr>
          <p:cNvSpPr/>
          <p:nvPr/>
        </p:nvSpPr>
        <p:spPr>
          <a:xfrm>
            <a:off x="384725" y="1308748"/>
            <a:ext cx="1572768" cy="2871757"/>
          </a:xfrm>
          <a:prstGeom prst="roundRect">
            <a:avLst>
              <a:gd name="adj" fmla="val 5814"/>
            </a:avLst>
          </a:prstGeom>
          <a:solidFill>
            <a:srgbClr val="F5F5F5"/>
          </a:solidFill>
          <a:ln w="19050">
            <a:solidFill>
              <a:schemeClr val="accent2"/>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5" name="Shape 3">
            <a:extLst>
              <a:ext uri="{FF2B5EF4-FFF2-40B4-BE49-F238E27FC236}">
                <a16:creationId xmlns:a16="http://schemas.microsoft.com/office/drawing/2014/main" id="{D3A4E779-4D6C-73C3-2FCE-B36F8F6861A8}"/>
              </a:ext>
            </a:extLst>
          </p:cNvPr>
          <p:cNvSpPr/>
          <p:nvPr/>
        </p:nvSpPr>
        <p:spPr>
          <a:xfrm>
            <a:off x="960797" y="1486092"/>
            <a:ext cx="420624" cy="420624"/>
          </a:xfrm>
          <a:prstGeom prst="ellipse">
            <a:avLst/>
          </a:prstGeom>
          <a:solidFill>
            <a:schemeClr val="accent2"/>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a:extLst>
              <a:ext uri="{FF2B5EF4-FFF2-40B4-BE49-F238E27FC236}">
                <a16:creationId xmlns:a16="http://schemas.microsoft.com/office/drawing/2014/main" id="{42B2C5F8-9708-2520-C767-F74FF94A8507}"/>
              </a:ext>
            </a:extLst>
          </p:cNvPr>
          <p:cNvSpPr/>
          <p:nvPr/>
        </p:nvSpPr>
        <p:spPr>
          <a:xfrm>
            <a:off x="960797"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a:extLst>
              <a:ext uri="{FF2B5EF4-FFF2-40B4-BE49-F238E27FC236}">
                <a16:creationId xmlns:a16="http://schemas.microsoft.com/office/drawing/2014/main" id="{89F2FD95-2A77-849E-6363-F69EC723390A}"/>
              </a:ext>
            </a:extLst>
          </p:cNvPr>
          <p:cNvSpPr/>
          <p:nvPr/>
        </p:nvSpPr>
        <p:spPr>
          <a:xfrm>
            <a:off x="457877" y="1967117"/>
            <a:ext cx="1426464" cy="457200"/>
          </a:xfrm>
          <a:prstGeom prst="rect">
            <a:avLst/>
          </a:prstGeom>
          <a:noFill/>
          <a:ln/>
        </p:spPr>
        <p:txBody>
          <a:bodyPr wrap="square" lIns="0" tIns="0" rIns="0" bIns="0" rtlCol="0" anchor="ctr"/>
          <a:lstStyle/>
          <a:p>
            <a:pPr marL="0" indent="0" algn="ctr">
              <a:buNone/>
            </a:pPr>
            <a:r>
              <a:rPr lang="en-US" sz="1100" b="1">
                <a:solidFill>
                  <a:schemeClr val="accent2"/>
                </a:solidFill>
                <a:latin typeface="Open Sans" panose="020B0606030504020204" pitchFamily="34" charset="0"/>
                <a:ea typeface="Open Sans" panose="020B0606030504020204" pitchFamily="34" charset="0"/>
                <a:cs typeface="Open Sans" panose="020B0606030504020204" pitchFamily="34" charset="0"/>
              </a:rPr>
              <a:t>SOURCES</a:t>
            </a:r>
          </a:p>
        </p:txBody>
      </p:sp>
      <p:sp>
        <p:nvSpPr>
          <p:cNvPr id="8" name="Text 6">
            <a:extLst>
              <a:ext uri="{FF2B5EF4-FFF2-40B4-BE49-F238E27FC236}">
                <a16:creationId xmlns:a16="http://schemas.microsoft.com/office/drawing/2014/main" id="{1EA63F9F-2C9C-E219-1482-F7075ABA8355}"/>
              </a:ext>
            </a:extLst>
          </p:cNvPr>
          <p:cNvSpPr/>
          <p:nvPr/>
        </p:nvSpPr>
        <p:spPr>
          <a:xfrm>
            <a:off x="457877" y="2436846"/>
            <a:ext cx="1426464" cy="1418142"/>
          </a:xfrm>
          <a:prstGeom prst="rect">
            <a:avLst/>
          </a:prstGeom>
          <a:noFill/>
          <a:ln/>
        </p:spPr>
        <p:txBody>
          <a:bodyPr wrap="square" lIns="0" tIns="0" rIns="0" bIns="0" rtlCol="0" anchor="t"/>
          <a:lstStyle/>
          <a:p>
            <a:pPr algn="ctr"/>
            <a:r>
              <a:rPr lang="en-IN" sz="1050">
                <a:latin typeface="Open Sans" pitchFamily="2" charset="0"/>
                <a:ea typeface="Open Sans" pitchFamily="2" charset="0"/>
                <a:cs typeface="Open Sans" pitchFamily="2" charset="0"/>
              </a:rPr>
              <a:t>Direct: user or clinician free text. Indirect: RAG chunks, uploads, tool results, web pages.</a:t>
            </a:r>
            <a:endParaRPr lang="en-US" sz="1050">
              <a:latin typeface="Open Sans" pitchFamily="2" charset="0"/>
              <a:ea typeface="Open Sans" pitchFamily="2" charset="0"/>
              <a:cs typeface="Open Sans" pitchFamily="2" charset="0"/>
            </a:endParaRPr>
          </a:p>
        </p:txBody>
      </p:sp>
      <p:sp>
        <p:nvSpPr>
          <p:cNvPr id="10" name="Shape 8">
            <a:extLst>
              <a:ext uri="{FF2B5EF4-FFF2-40B4-BE49-F238E27FC236}">
                <a16:creationId xmlns:a16="http://schemas.microsoft.com/office/drawing/2014/main" id="{4153DF97-48D1-81C9-A7EC-FB10489AA962}"/>
              </a:ext>
            </a:extLst>
          </p:cNvPr>
          <p:cNvSpPr/>
          <p:nvPr/>
        </p:nvSpPr>
        <p:spPr>
          <a:xfrm>
            <a:off x="2094653" y="1308748"/>
            <a:ext cx="1572768" cy="2871757"/>
          </a:xfrm>
          <a:prstGeom prst="roundRect">
            <a:avLst>
              <a:gd name="adj" fmla="val 5814"/>
            </a:avLst>
          </a:prstGeom>
          <a:solidFill>
            <a:srgbClr val="F5F5F5"/>
          </a:solidFill>
          <a:ln w="19050">
            <a:solidFill>
              <a:schemeClr val="accent1"/>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1" name="Shape 9">
            <a:extLst>
              <a:ext uri="{FF2B5EF4-FFF2-40B4-BE49-F238E27FC236}">
                <a16:creationId xmlns:a16="http://schemas.microsoft.com/office/drawing/2014/main" id="{0D17BC0D-3BF4-B8E2-6CD8-C9145123347B}"/>
              </a:ext>
            </a:extLst>
          </p:cNvPr>
          <p:cNvSpPr/>
          <p:nvPr/>
        </p:nvSpPr>
        <p:spPr>
          <a:xfrm>
            <a:off x="2670725" y="1486092"/>
            <a:ext cx="420624" cy="420624"/>
          </a:xfrm>
          <a:prstGeom prst="ellipse">
            <a:avLst/>
          </a:prstGeom>
          <a:solidFill>
            <a:schemeClr val="accent1"/>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a:extLst>
              <a:ext uri="{FF2B5EF4-FFF2-40B4-BE49-F238E27FC236}">
                <a16:creationId xmlns:a16="http://schemas.microsoft.com/office/drawing/2014/main" id="{62E6D61F-5970-40C0-9520-A781C8B21EAB}"/>
              </a:ext>
            </a:extLst>
          </p:cNvPr>
          <p:cNvSpPr/>
          <p:nvPr/>
        </p:nvSpPr>
        <p:spPr>
          <a:xfrm>
            <a:off x="2670725"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a:extLst>
              <a:ext uri="{FF2B5EF4-FFF2-40B4-BE49-F238E27FC236}">
                <a16:creationId xmlns:a16="http://schemas.microsoft.com/office/drawing/2014/main" id="{B32380DD-0492-BAA0-BC63-828BE246DB02}"/>
              </a:ext>
            </a:extLst>
          </p:cNvPr>
          <p:cNvSpPr/>
          <p:nvPr/>
        </p:nvSpPr>
        <p:spPr>
          <a:xfrm>
            <a:off x="2167805" y="1967117"/>
            <a:ext cx="1426464" cy="457200"/>
          </a:xfrm>
          <a:prstGeom prst="rect">
            <a:avLst/>
          </a:prstGeom>
          <a:noFill/>
          <a:ln/>
        </p:spPr>
        <p:txBody>
          <a:bodyPr wrap="square" lIns="0" tIns="0" rIns="0" bIns="0" rtlCol="0" anchor="ctr"/>
          <a:lstStyle/>
          <a:p>
            <a:pPr marL="0" indent="0" algn="ctr">
              <a:buNone/>
            </a:pPr>
            <a:r>
              <a:rPr lang="en-US" sz="1100" b="1">
                <a:solidFill>
                  <a:schemeClr val="accent1"/>
                </a:solidFill>
                <a:latin typeface="Open Sans" panose="020B0606030504020204" pitchFamily="34" charset="0"/>
                <a:ea typeface="Open Sans" panose="020B0606030504020204" pitchFamily="34" charset="0"/>
                <a:cs typeface="Open Sans" panose="020B0606030504020204" pitchFamily="34" charset="0"/>
              </a:rPr>
              <a:t>ATTACKS</a:t>
            </a:r>
          </a:p>
        </p:txBody>
      </p:sp>
      <p:sp>
        <p:nvSpPr>
          <p:cNvPr id="14" name="Text 12">
            <a:extLst>
              <a:ext uri="{FF2B5EF4-FFF2-40B4-BE49-F238E27FC236}">
                <a16:creationId xmlns:a16="http://schemas.microsoft.com/office/drawing/2014/main" id="{5726A930-8FCE-7FED-DDEB-2C8CC22AAAE7}"/>
              </a:ext>
            </a:extLst>
          </p:cNvPr>
          <p:cNvSpPr/>
          <p:nvPr/>
        </p:nvSpPr>
        <p:spPr>
          <a:xfrm>
            <a:off x="2167805" y="2436846"/>
            <a:ext cx="1426464" cy="1418142"/>
          </a:xfrm>
          <a:prstGeom prst="rect">
            <a:avLst/>
          </a:prstGeom>
          <a:noFill/>
          <a:ln/>
        </p:spPr>
        <p:txBody>
          <a:bodyPr wrap="square" lIns="0" tIns="0" rIns="0" bIns="0" rtlCol="0" anchor="t"/>
          <a:lstStyle/>
          <a:p>
            <a:pPr algn="ctr"/>
            <a:r>
              <a:rPr lang="en-IN" sz="1050">
                <a:latin typeface="Open Sans" pitchFamily="2" charset="0"/>
                <a:ea typeface="Open Sans" pitchFamily="2" charset="0"/>
                <a:cs typeface="Open Sans" pitchFamily="2" charset="0"/>
              </a:rPr>
              <a:t>Override instructions, exfiltrate PHI, force unsafe advice, or forge a closing delimiter tag.</a:t>
            </a:r>
            <a:endParaRPr lang="en-US" sz="1050">
              <a:latin typeface="Open Sans" pitchFamily="2" charset="0"/>
              <a:ea typeface="Open Sans" pitchFamily="2" charset="0"/>
              <a:cs typeface="Open Sans" pitchFamily="2" charset="0"/>
            </a:endParaRPr>
          </a:p>
        </p:txBody>
      </p:sp>
      <p:sp>
        <p:nvSpPr>
          <p:cNvPr id="16" name="Shape 14">
            <a:extLst>
              <a:ext uri="{FF2B5EF4-FFF2-40B4-BE49-F238E27FC236}">
                <a16:creationId xmlns:a16="http://schemas.microsoft.com/office/drawing/2014/main" id="{8C69E38C-A8C9-CC38-234A-8F42DA7C8E99}"/>
              </a:ext>
            </a:extLst>
          </p:cNvPr>
          <p:cNvSpPr/>
          <p:nvPr/>
        </p:nvSpPr>
        <p:spPr>
          <a:xfrm>
            <a:off x="3804581" y="1308748"/>
            <a:ext cx="1572768" cy="2871757"/>
          </a:xfrm>
          <a:prstGeom prst="roundRect">
            <a:avLst>
              <a:gd name="adj" fmla="val 5814"/>
            </a:avLst>
          </a:prstGeom>
          <a:solidFill>
            <a:srgbClr val="F5F5F5"/>
          </a:solidFill>
          <a:ln w="19050">
            <a:solidFill>
              <a:srgbClr val="2E7D32"/>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7" name="Shape 15">
            <a:extLst>
              <a:ext uri="{FF2B5EF4-FFF2-40B4-BE49-F238E27FC236}">
                <a16:creationId xmlns:a16="http://schemas.microsoft.com/office/drawing/2014/main" id="{D9E8C8B3-0B2B-6DD3-7F60-44B1BBBF188D}"/>
              </a:ext>
            </a:extLst>
          </p:cNvPr>
          <p:cNvSpPr/>
          <p:nvPr/>
        </p:nvSpPr>
        <p:spPr>
          <a:xfrm>
            <a:off x="4380653" y="1486092"/>
            <a:ext cx="420624" cy="420624"/>
          </a:xfrm>
          <a:prstGeom prst="ellipse">
            <a:avLst/>
          </a:prstGeom>
          <a:solidFill>
            <a:srgbClr val="00B05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16">
            <a:extLst>
              <a:ext uri="{FF2B5EF4-FFF2-40B4-BE49-F238E27FC236}">
                <a16:creationId xmlns:a16="http://schemas.microsoft.com/office/drawing/2014/main" id="{8482D8CB-5147-98BE-C3EF-CC80B4A8FFB1}"/>
              </a:ext>
            </a:extLst>
          </p:cNvPr>
          <p:cNvSpPr/>
          <p:nvPr/>
        </p:nvSpPr>
        <p:spPr>
          <a:xfrm>
            <a:off x="4380653"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B788BF04-B8D2-5800-E0DB-2354D606D8B9}"/>
              </a:ext>
            </a:extLst>
          </p:cNvPr>
          <p:cNvSpPr/>
          <p:nvPr/>
        </p:nvSpPr>
        <p:spPr>
          <a:xfrm>
            <a:off x="3877733" y="1967117"/>
            <a:ext cx="1426464" cy="457200"/>
          </a:xfrm>
          <a:prstGeom prst="rect">
            <a:avLst/>
          </a:prstGeom>
          <a:noFill/>
          <a:ln/>
        </p:spPr>
        <p:txBody>
          <a:bodyPr wrap="square" lIns="0" tIns="0" rIns="0" bIns="0" rtlCol="0" anchor="ctr"/>
          <a:lstStyle/>
          <a:p>
            <a:pPr marL="0" indent="0" algn="ctr">
              <a:buNone/>
            </a:pPr>
            <a:r>
              <a:rPr lang="en-US" sz="1100" b="1">
                <a:solidFill>
                  <a:srgbClr val="00B050"/>
                </a:solidFill>
                <a:latin typeface="Open Sans" panose="020B0606030504020204" pitchFamily="34" charset="0"/>
                <a:ea typeface="Open Sans" panose="020B0606030504020204" pitchFamily="34" charset="0"/>
                <a:cs typeface="Open Sans" panose="020B0606030504020204" pitchFamily="34" charset="0"/>
              </a:rPr>
              <a:t>FENCE</a:t>
            </a:r>
          </a:p>
        </p:txBody>
      </p:sp>
      <p:sp>
        <p:nvSpPr>
          <p:cNvPr id="20" name="Text 18">
            <a:extLst>
              <a:ext uri="{FF2B5EF4-FFF2-40B4-BE49-F238E27FC236}">
                <a16:creationId xmlns:a16="http://schemas.microsoft.com/office/drawing/2014/main" id="{85839D63-567A-EB8D-2029-A7279F768C9F}"/>
              </a:ext>
            </a:extLst>
          </p:cNvPr>
          <p:cNvSpPr/>
          <p:nvPr/>
        </p:nvSpPr>
        <p:spPr>
          <a:xfrm>
            <a:off x="3877733" y="2436846"/>
            <a:ext cx="1426464" cy="1418142"/>
          </a:xfrm>
          <a:prstGeom prst="rect">
            <a:avLst/>
          </a:prstGeom>
          <a:noFill/>
          <a:ln/>
        </p:spPr>
        <p:txBody>
          <a:bodyPr wrap="square" lIns="0" tIns="0" rIns="0" bIns="0" rtlCol="0" anchor="t"/>
          <a:lstStyle/>
          <a:p>
            <a:pPr algn="ctr"/>
            <a:r>
              <a:rPr lang="en-IN" sz="1050">
                <a:latin typeface="Open Sans" pitchFamily="2" charset="0"/>
                <a:ea typeface="Open Sans" pitchFamily="2" charset="0"/>
                <a:cs typeface="Open Sans" pitchFamily="2" charset="0"/>
              </a:rPr>
              <a:t>Pass untrusted text as JSON inside tagged data blocks. Escape &lt; and &gt; so tags cannot be forged.</a:t>
            </a:r>
            <a:br>
              <a:rPr lang="en-IN" sz="1050">
                <a:latin typeface="Open Sans" pitchFamily="2" charset="0"/>
                <a:ea typeface="Open Sans" pitchFamily="2" charset="0"/>
                <a:cs typeface="Open Sans" pitchFamily="2" charset="0"/>
              </a:rPr>
            </a:br>
            <a:r>
              <a:rPr lang="en-IN" sz="1050">
                <a:latin typeface="Open Sans" pitchFamily="2" charset="0"/>
                <a:ea typeface="Open Sans" pitchFamily="2" charset="0"/>
                <a:cs typeface="Open Sans" pitchFamily="2" charset="0"/>
              </a:rPr>
              <a:t/>
            </a:r>
            <a:endParaRPr lang="en-US" sz="1050">
              <a:latin typeface="Open Sans" pitchFamily="2" charset="0"/>
              <a:ea typeface="Open Sans" pitchFamily="2" charset="0"/>
              <a:cs typeface="Open Sans" pitchFamily="2" charset="0"/>
            </a:endParaRPr>
          </a:p>
        </p:txBody>
      </p:sp>
      <p:sp>
        <p:nvSpPr>
          <p:cNvPr id="22" name="Shape 20">
            <a:extLst>
              <a:ext uri="{FF2B5EF4-FFF2-40B4-BE49-F238E27FC236}">
                <a16:creationId xmlns:a16="http://schemas.microsoft.com/office/drawing/2014/main" id="{B3E1EB8A-C9CB-B081-9713-2088868828B0}"/>
              </a:ext>
            </a:extLst>
          </p:cNvPr>
          <p:cNvSpPr/>
          <p:nvPr/>
        </p:nvSpPr>
        <p:spPr>
          <a:xfrm>
            <a:off x="5514509" y="1308748"/>
            <a:ext cx="1572768" cy="2871757"/>
          </a:xfrm>
          <a:prstGeom prst="roundRect">
            <a:avLst>
              <a:gd name="adj" fmla="val 5814"/>
            </a:avLst>
          </a:prstGeom>
          <a:solidFill>
            <a:srgbClr val="F5F5F5"/>
          </a:solidFill>
          <a:ln w="19050">
            <a:solidFill>
              <a:schemeClr val="accent3"/>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3" name="Shape 21">
            <a:extLst>
              <a:ext uri="{FF2B5EF4-FFF2-40B4-BE49-F238E27FC236}">
                <a16:creationId xmlns:a16="http://schemas.microsoft.com/office/drawing/2014/main" id="{741C6268-42FC-D881-8C3D-281204924169}"/>
              </a:ext>
            </a:extLst>
          </p:cNvPr>
          <p:cNvSpPr/>
          <p:nvPr/>
        </p:nvSpPr>
        <p:spPr>
          <a:xfrm>
            <a:off x="6090581" y="1486092"/>
            <a:ext cx="420624" cy="420624"/>
          </a:xfrm>
          <a:prstGeom prst="ellipse">
            <a:avLst/>
          </a:prstGeom>
          <a:solidFill>
            <a:schemeClr val="accent3"/>
          </a:solidFill>
          <a:ln w="12700">
            <a:noFill/>
            <a:prstDash val="solid"/>
          </a:ln>
        </p:spPr>
        <p:txBody>
          <a:bodyPr/>
          <a:lstStyle/>
          <a:p>
            <a:endParaRPr lang="en-US" b="1">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2">
            <a:extLst>
              <a:ext uri="{FF2B5EF4-FFF2-40B4-BE49-F238E27FC236}">
                <a16:creationId xmlns:a16="http://schemas.microsoft.com/office/drawing/2014/main" id="{40BB3FD6-9B06-8EBC-9CF7-EC1C7A4CABE4}"/>
              </a:ext>
            </a:extLst>
          </p:cNvPr>
          <p:cNvSpPr/>
          <p:nvPr/>
        </p:nvSpPr>
        <p:spPr>
          <a:xfrm>
            <a:off x="6090581"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a:extLst>
              <a:ext uri="{FF2B5EF4-FFF2-40B4-BE49-F238E27FC236}">
                <a16:creationId xmlns:a16="http://schemas.microsoft.com/office/drawing/2014/main" id="{27395BD7-BDC1-153A-49A1-ECB3E7D16287}"/>
              </a:ext>
            </a:extLst>
          </p:cNvPr>
          <p:cNvSpPr/>
          <p:nvPr/>
        </p:nvSpPr>
        <p:spPr>
          <a:xfrm>
            <a:off x="5587661" y="1967117"/>
            <a:ext cx="1426464" cy="457200"/>
          </a:xfrm>
          <a:prstGeom prst="rect">
            <a:avLst/>
          </a:prstGeom>
          <a:noFill/>
          <a:ln/>
        </p:spPr>
        <p:txBody>
          <a:bodyPr wrap="square" lIns="0" tIns="0" rIns="0" bIns="0" rtlCol="0" anchor="ctr"/>
          <a:lstStyle/>
          <a:p>
            <a:pPr marL="0" indent="0" algn="ctr">
              <a:buNone/>
            </a:pPr>
            <a:r>
              <a:rPr lang="en-US" sz="1100" b="1">
                <a:solidFill>
                  <a:schemeClr val="accent3"/>
                </a:solidFill>
                <a:latin typeface="Open Sans" panose="020B0606030504020204" pitchFamily="34" charset="0"/>
                <a:ea typeface="Open Sans" panose="020B0606030504020204" pitchFamily="34" charset="0"/>
                <a:cs typeface="Open Sans" panose="020B0606030504020204" pitchFamily="34" charset="0"/>
              </a:rPr>
              <a:t>CONSTRAIN</a:t>
            </a:r>
          </a:p>
        </p:txBody>
      </p:sp>
      <p:sp>
        <p:nvSpPr>
          <p:cNvPr id="26" name="Text 24">
            <a:extLst>
              <a:ext uri="{FF2B5EF4-FFF2-40B4-BE49-F238E27FC236}">
                <a16:creationId xmlns:a16="http://schemas.microsoft.com/office/drawing/2014/main" id="{F642D309-5D67-599E-3C28-2705B233F1AB}"/>
              </a:ext>
            </a:extLst>
          </p:cNvPr>
          <p:cNvSpPr/>
          <p:nvPr/>
        </p:nvSpPr>
        <p:spPr>
          <a:xfrm>
            <a:off x="5587661" y="2436846"/>
            <a:ext cx="1426464" cy="1418142"/>
          </a:xfrm>
          <a:prstGeom prst="rect">
            <a:avLst/>
          </a:prstGeom>
          <a:noFill/>
          <a:ln/>
        </p:spPr>
        <p:txBody>
          <a:bodyPr wrap="square" lIns="0" tIns="0" rIns="0" bIns="0" rtlCol="0" anchor="t"/>
          <a:lstStyle/>
          <a:p>
            <a:pPr algn="ctr"/>
            <a:r>
              <a:rPr lang="en-IN" sz="1100">
                <a:latin typeface="Open Sans" pitchFamily="2" charset="0"/>
                <a:ea typeface="Open Sans" pitchFamily="2" charset="0"/>
                <a:cs typeface="Open Sans" pitchFamily="2" charset="0"/>
              </a:rPr>
              <a:t>System prompt: data is never instructions. Least-privilege tools; no writes on the draft path.</a:t>
            </a:r>
            <a:endParaRPr lang="en-US" sz="1100">
              <a:latin typeface="Open Sans" pitchFamily="2" charset="0"/>
              <a:ea typeface="Open Sans" pitchFamily="2" charset="0"/>
              <a:cs typeface="Open Sans" pitchFamily="2" charset="0"/>
            </a:endParaRPr>
          </a:p>
        </p:txBody>
      </p:sp>
      <p:sp>
        <p:nvSpPr>
          <p:cNvPr id="28" name="Shape 26">
            <a:extLst>
              <a:ext uri="{FF2B5EF4-FFF2-40B4-BE49-F238E27FC236}">
                <a16:creationId xmlns:a16="http://schemas.microsoft.com/office/drawing/2014/main" id="{DE055E5B-CE6D-CE28-E687-40BBA659EBA2}"/>
              </a:ext>
            </a:extLst>
          </p:cNvPr>
          <p:cNvSpPr/>
          <p:nvPr/>
        </p:nvSpPr>
        <p:spPr>
          <a:xfrm>
            <a:off x="7224437" y="1308748"/>
            <a:ext cx="1572768" cy="2871757"/>
          </a:xfrm>
          <a:prstGeom prst="roundRect">
            <a:avLst>
              <a:gd name="adj" fmla="val 5814"/>
            </a:avLst>
          </a:prstGeom>
          <a:solidFill>
            <a:srgbClr val="F5F5F5"/>
          </a:solidFill>
          <a:ln w="19050">
            <a:solidFill>
              <a:srgbClr val="002060"/>
            </a:solidFill>
            <a:prstDash val="solid"/>
          </a:ln>
          <a:effectLst>
            <a:outerShdw blurRad="635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29" name="Shape 27">
            <a:extLst>
              <a:ext uri="{FF2B5EF4-FFF2-40B4-BE49-F238E27FC236}">
                <a16:creationId xmlns:a16="http://schemas.microsoft.com/office/drawing/2014/main" id="{81B10C7A-E862-64E1-5000-F02E85455EDC}"/>
              </a:ext>
            </a:extLst>
          </p:cNvPr>
          <p:cNvSpPr/>
          <p:nvPr/>
        </p:nvSpPr>
        <p:spPr>
          <a:xfrm>
            <a:off x="7800509" y="1486092"/>
            <a:ext cx="420624" cy="420624"/>
          </a:xfrm>
          <a:prstGeom prst="ellipse">
            <a:avLst/>
          </a:prstGeom>
          <a:solidFill>
            <a:srgbClr val="002060"/>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30" name="Text 28">
            <a:extLst>
              <a:ext uri="{FF2B5EF4-FFF2-40B4-BE49-F238E27FC236}">
                <a16:creationId xmlns:a16="http://schemas.microsoft.com/office/drawing/2014/main" id="{1C2C2C58-CD3C-6EE3-D52F-9E479E9E4C96}"/>
              </a:ext>
            </a:extLst>
          </p:cNvPr>
          <p:cNvSpPr/>
          <p:nvPr/>
        </p:nvSpPr>
        <p:spPr>
          <a:xfrm>
            <a:off x="7800509" y="1486092"/>
            <a:ext cx="420624" cy="420624"/>
          </a:xfrm>
          <a:prstGeom prst="rect">
            <a:avLst/>
          </a:prstGeom>
          <a:noFill/>
          <a:ln/>
        </p:spPr>
        <p:txBody>
          <a:bodyPr wrap="square" lIns="0" tIns="0" rIns="0" bIns="0" rtlCol="0" anchor="ctr"/>
          <a:lstStyle/>
          <a:p>
            <a:pPr marL="0" indent="0" algn="ctr">
              <a:buNone/>
            </a:pP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5</a:t>
            </a:r>
            <a:endParaRPr lang="en-US" sz="1600" b="1">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9">
            <a:extLst>
              <a:ext uri="{FF2B5EF4-FFF2-40B4-BE49-F238E27FC236}">
                <a16:creationId xmlns:a16="http://schemas.microsoft.com/office/drawing/2014/main" id="{66D4DF3E-16C6-4825-678C-B918EC115AD7}"/>
              </a:ext>
            </a:extLst>
          </p:cNvPr>
          <p:cNvSpPr/>
          <p:nvPr/>
        </p:nvSpPr>
        <p:spPr>
          <a:xfrm>
            <a:off x="7297589" y="1967117"/>
            <a:ext cx="1426464" cy="457200"/>
          </a:xfrm>
          <a:prstGeom prst="rect">
            <a:avLst/>
          </a:prstGeom>
          <a:noFill/>
          <a:ln/>
        </p:spPr>
        <p:txBody>
          <a:bodyPr wrap="square" lIns="0" tIns="0" rIns="0" bIns="0" rtlCol="0" anchor="ctr"/>
          <a:lstStyle/>
          <a:p>
            <a:pPr marL="0" indent="0" algn="ctr">
              <a:buNone/>
            </a:pPr>
            <a:r>
              <a:rPr lang="en-US" sz="1100" b="1">
                <a:solidFill>
                  <a:srgbClr val="002060"/>
                </a:solidFill>
                <a:latin typeface="Open Sans" panose="020B0606030504020204" pitchFamily="34" charset="0"/>
                <a:ea typeface="Open Sans" panose="020B0606030504020204" pitchFamily="34" charset="0"/>
                <a:cs typeface="Open Sans" panose="020B0606030504020204" pitchFamily="34" charset="0"/>
              </a:rPr>
              <a:t>VERIFY</a:t>
            </a:r>
          </a:p>
        </p:txBody>
      </p:sp>
      <p:sp>
        <p:nvSpPr>
          <p:cNvPr id="32" name="Text 30">
            <a:extLst>
              <a:ext uri="{FF2B5EF4-FFF2-40B4-BE49-F238E27FC236}">
                <a16:creationId xmlns:a16="http://schemas.microsoft.com/office/drawing/2014/main" id="{CF60A68A-F0FF-002F-DEED-C8FBA7CC989D}"/>
              </a:ext>
            </a:extLst>
          </p:cNvPr>
          <p:cNvSpPr/>
          <p:nvPr/>
        </p:nvSpPr>
        <p:spPr>
          <a:xfrm>
            <a:off x="7297589" y="2436846"/>
            <a:ext cx="1426464" cy="1418142"/>
          </a:xfrm>
          <a:prstGeom prst="rect">
            <a:avLst/>
          </a:prstGeom>
          <a:noFill/>
          <a:ln/>
        </p:spPr>
        <p:txBody>
          <a:bodyPr wrap="square" lIns="0" tIns="0" rIns="0" bIns="0" rtlCol="0" anchor="t"/>
          <a:lstStyle/>
          <a:p>
            <a:pPr algn="ctr"/>
            <a:r>
              <a:rPr lang="en-IN" sz="1100">
                <a:latin typeface="Open Sans" pitchFamily="2" charset="0"/>
                <a:ea typeface="Open Sans" pitchFamily="2" charset="0"/>
                <a:cs typeface="Open Sans" pitchFamily="2" charset="0"/>
              </a:rPr>
              <a:t>Validate the schema, cross-check facts against the DB, and flag anomalies for the human reviewer.</a:t>
            </a:r>
            <a:endParaRPr lang="en-US" sz="1100">
              <a:latin typeface="Open Sans" pitchFamily="2" charset="0"/>
              <a:ea typeface="Open Sans" pitchFamily="2" charset="0"/>
              <a:cs typeface="Open Sans" pitchFamily="2" charset="0"/>
            </a:endParaRPr>
          </a:p>
        </p:txBody>
      </p:sp>
      <p:sp>
        <p:nvSpPr>
          <p:cNvPr id="33" name="TextBox 32">
            <a:extLst>
              <a:ext uri="{FF2B5EF4-FFF2-40B4-BE49-F238E27FC236}">
                <a16:creationId xmlns:a16="http://schemas.microsoft.com/office/drawing/2014/main" id="{6F94E9D6-D29B-8793-8C00-E684E0BE1F94}"/>
              </a:ext>
            </a:extLst>
          </p:cNvPr>
          <p:cNvSpPr txBox="1"/>
          <p:nvPr/>
        </p:nvSpPr>
        <p:spPr>
          <a:xfrm>
            <a:off x="673376" y="4356212"/>
            <a:ext cx="7797247" cy="292388"/>
          </a:xfrm>
          <a:prstGeom prst="rect">
            <a:avLst/>
          </a:prstGeom>
          <a:noFill/>
        </p:spPr>
        <p:txBody>
          <a:bodyPr wrap="square" rtlCol="0">
            <a:spAutoFit/>
          </a:bodyPr>
          <a:lstStyle/>
          <a:p>
            <a:pPr algn="ctr"/>
            <a:r>
              <a:rPr lang="en-IN" sz="1300" b="1">
                <a:latin typeface="Open Sans" panose="020B0606030504020204" pitchFamily="34" charset="0"/>
                <a:ea typeface="Open Sans" panose="020B0606030504020204" pitchFamily="34" charset="0"/>
                <a:cs typeface="Open Sans" panose="020B0606030504020204" pitchFamily="34" charset="0"/>
              </a:rPr>
              <a:t/>
            </a:r>
            <a:r>
              <a:rPr lang="en-IN" sz="1300" i="1">
                <a:solidFill>
                  <a:schemeClr val="tx2"/>
                </a:solidFill>
                <a:latin typeface="Open Sans" pitchFamily="2" charset="0"/>
                <a:ea typeface="Open Sans" pitchFamily="2" charset="0"/>
                <a:cs typeface="Open Sans" pitchFamily="2" charset="0"/>
              </a:rPr>
              <a:t>You cannot prompt your way out of injection. Fix it structurally, then keep a red-team fixture in the suite.</a:t>
            </a:r>
            <a:endParaRPr lang="en-US" sz="1300" i="1">
              <a:solidFill>
                <a:schemeClr val="tx2"/>
              </a:solidFill>
              <a:latin typeface="Open Sans" pitchFamily="2" charset="0"/>
              <a:ea typeface="Open Sans" pitchFamily="2" charset="0"/>
              <a:cs typeface="Open Sans" pitchFamily="2" charset="0"/>
            </a:endParaRPr>
          </a:p>
        </p:txBody>
      </p:sp>
      <p:sp>
        <p:nvSpPr>
          <p:cNvPr id="34" name="TextBox 33">
            <a:extLst>
              <a:ext uri="{FF2B5EF4-FFF2-40B4-BE49-F238E27FC236}">
                <a16:creationId xmlns:a16="http://schemas.microsoft.com/office/drawing/2014/main" id="{F96E3954-CE77-0FA8-D672-EAEEFCF151E7}"/>
              </a:ext>
            </a:extLst>
          </p:cNvPr>
          <p:cNvSpPr txBox="1"/>
          <p:nvPr/>
        </p:nvSpPr>
        <p:spPr>
          <a:xfrm>
            <a:off x="367200" y="770400"/>
            <a:ext cx="8412480" cy="307777"/>
          </a:xfrm>
          <a:prstGeom prst="rect">
            <a:avLst/>
          </a:prstGeom>
          <a:noFill/>
        </p:spPr>
        <p:txBody>
          <a:bodyPr wrap="square" rtlCol="0">
            <a:noAutofit/>
          </a:bodyPr>
          <a:lstStyle/>
          <a:p>
            <a:pPr algn="l"/>
            <a:r>
              <a:rPr lang="en-IN" sz="1400">
                <a:solidFill>
                  <a:schemeClr val="tx2"/>
                </a:solidFill>
                <a:latin typeface="Open Sans" pitchFamily="2" charset="0"/>
                <a:ea typeface="Open Sans" pitchFamily="2" charset="0"/>
                <a:cs typeface="Open Sans" pitchFamily="2" charset="0"/>
              </a:rPr>
              <a:t>Any text the model reads can try to become an instruction.</a:t>
            </a:r>
            <a:endParaRPr lang="en-US" sz="1400">
              <a:solidFill>
                <a:schemeClr val="tx2"/>
              </a:solidFill>
              <a:latin typeface="Open Sans" pitchFamily="2" charset="0"/>
              <a:ea typeface="Open Sans" pitchFamily="2" charset="0"/>
              <a:cs typeface="Open Sans" pitchFamily="2" charset="0"/>
            </a:endParaRPr>
          </a:p>
        </p:txBody>
      </p:sp>
      <p:cxnSp>
        <p:nvCxnSpPr>
          <p:cNvPr id="36" name="Straight Arrow Connector 35">
            <a:extLst>
              <a:ext uri="{FF2B5EF4-FFF2-40B4-BE49-F238E27FC236}">
                <a16:creationId xmlns:a16="http://schemas.microsoft.com/office/drawing/2014/main" id="{6310AA2E-0BC1-3F66-D739-7FE38EF64F56}"/>
              </a:ext>
            </a:extLst>
          </p:cNvPr>
          <p:cNvCxnSpPr>
            <a:cxnSpLocks/>
          </p:cNvCxnSpPr>
          <p:nvPr/>
        </p:nvCxnSpPr>
        <p:spPr>
          <a:xfrm>
            <a:off x="1988738" y="2692846"/>
            <a:ext cx="8477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E6175C2-987D-E8BC-5C62-F5FD0C36E752}"/>
              </a:ext>
            </a:extLst>
          </p:cNvPr>
          <p:cNvCxnSpPr>
            <a:cxnSpLocks/>
          </p:cNvCxnSpPr>
          <p:nvPr/>
        </p:nvCxnSpPr>
        <p:spPr>
          <a:xfrm>
            <a:off x="3689030" y="2688109"/>
            <a:ext cx="8477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5652E88-3E7B-A626-4195-6C8A502DB81F}"/>
              </a:ext>
            </a:extLst>
          </p:cNvPr>
          <p:cNvCxnSpPr>
            <a:cxnSpLocks/>
          </p:cNvCxnSpPr>
          <p:nvPr/>
        </p:nvCxnSpPr>
        <p:spPr>
          <a:xfrm>
            <a:off x="5407750" y="2688109"/>
            <a:ext cx="8477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E2462479-C07C-FB37-D9A8-EE12598D8311}"/>
              </a:ext>
            </a:extLst>
          </p:cNvPr>
          <p:cNvCxnSpPr>
            <a:cxnSpLocks/>
          </p:cNvCxnSpPr>
          <p:nvPr/>
        </p:nvCxnSpPr>
        <p:spPr>
          <a:xfrm>
            <a:off x="7113282" y="2691823"/>
            <a:ext cx="8477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a:extLst>
              <a:ext uri="{FF2B5EF4-FFF2-40B4-BE49-F238E27FC236}">
                <a16:creationId xmlns:a16="http://schemas.microsoft.com/office/drawing/2014/main" id="{A5C4F579-AA11-E146-3811-2DE38DA7DA6E}"/>
              </a:ext>
            </a:extLst>
          </p:cNvPr>
          <p:cNvSpPr/>
          <p:nvPr/>
        </p:nvSpPr>
        <p:spPr>
          <a:xfrm>
            <a:off x="394212" y="201168"/>
            <a:ext cx="8412480" cy="502920"/>
          </a:xfrm>
          <a:prstGeom prst="rect">
            <a:avLst/>
          </a:prstGeom>
          <a:noFill/>
          <a:ln/>
        </p:spPr>
        <p:txBody>
          <a:bodyPr wrap="square" lIns="0" tIns="0" rIns="0" bIns="0" rtlCol="0" anchor="ctr"/>
          <a:lstStyle/>
          <a:p>
            <a:pPr marL="0" indent="0">
              <a:buNone/>
            </a:pPr>
            <a:r>
              <a:rPr lang="en-US" sz="2800" b="1">
                <a:latin typeface="Open Sans" pitchFamily="2" charset="0"/>
                <a:ea typeface="Open Sans" pitchFamily="2" charset="0"/>
                <a:cs typeface="Open Sans" pitchFamily="2" charset="0"/>
              </a:rPr>
              <a:t>RAG Without a Vector Database</a:t>
            </a:r>
            <a:endParaRPr lang="en-US" sz="280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4CB6F957-8F0A-815F-C3D8-376B4980501A}"/>
              </a:ext>
            </a:extLst>
          </p:cNvPr>
          <p:cNvSpPr/>
          <p:nvPr/>
        </p:nvSpPr>
        <p:spPr>
          <a:xfrm>
            <a:off x="394212" y="676656"/>
            <a:ext cx="8412480" cy="420624"/>
          </a:xfrm>
          <a:prstGeom prst="rect">
            <a:avLst/>
          </a:prstGeom>
          <a:noFill/>
          <a:ln/>
        </p:spPr>
        <p:txBody>
          <a:bodyPr wrap="square" lIns="0" tIns="0" rIns="0" bIns="0" rtlCol="0" anchor="t">
            <a:noAutofit/>
          </a:bodyPr>
          <a:lstStyle/>
          <a:p>
            <a:pPr marL="0" indent="0" algn="l">
              <a:buNone/>
            </a:pPr>
            <a:r>
              <a:rPr lang="en-US" sz="1400">
                <a:solidFill>
                  <a:schemeClr val="tx2"/>
                </a:solidFill>
                <a:latin typeface="Open Sans" pitchFamily="2" charset="0"/>
                <a:ea typeface="Open Sans" pitchFamily="2" charset="0"/>
                <a:cs typeface="Open Sans" pitchFamily="2" charset="0"/>
              </a:rPr>
              <a:t>Grounding drafts in reference summaries with about 60 lines of Python.</a:t>
            </a:r>
          </a:p>
        </p:txBody>
      </p:sp>
      <p:sp>
        <p:nvSpPr>
          <p:cNvPr id="5" name="Shape 2">
            <a:extLst>
              <a:ext uri="{FF2B5EF4-FFF2-40B4-BE49-F238E27FC236}">
                <a16:creationId xmlns:a16="http://schemas.microsoft.com/office/drawing/2014/main" id="{C70745E8-6A98-3B95-1B5F-97B9032C6271}"/>
              </a:ext>
            </a:extLst>
          </p:cNvPr>
          <p:cNvSpPr/>
          <p:nvPr/>
        </p:nvSpPr>
        <p:spPr>
          <a:xfrm>
            <a:off x="292608" y="1012503"/>
            <a:ext cx="4133088" cy="1401513"/>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DB4C9CCD-F4CB-11B4-EC98-94238644C43E}"/>
              </a:ext>
            </a:extLst>
          </p:cNvPr>
          <p:cNvSpPr/>
          <p:nvPr/>
        </p:nvSpPr>
        <p:spPr>
          <a:xfrm>
            <a:off x="493776" y="1092659"/>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INGEST</a:t>
            </a:r>
            <a:endParaRPr lang="en-US" sz="140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0359E624-96CC-1DCB-62CC-3CE87FC3AE07}"/>
              </a:ext>
            </a:extLst>
          </p:cNvPr>
          <p:cNvSpPr/>
          <p:nvPr/>
        </p:nvSpPr>
        <p:spPr>
          <a:xfrm>
            <a:off x="493776" y="1418514"/>
            <a:ext cx="3730752" cy="679981"/>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Heading-aware chunks of 120–200 words, each prefixed with its heading</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Reject non-text (415) and oversize (413) uploads at the edge</a:t>
            </a:r>
          </a:p>
        </p:txBody>
      </p:sp>
      <p:sp>
        <p:nvSpPr>
          <p:cNvPr id="8" name="Shape 5">
            <a:extLst>
              <a:ext uri="{FF2B5EF4-FFF2-40B4-BE49-F238E27FC236}">
                <a16:creationId xmlns:a16="http://schemas.microsoft.com/office/drawing/2014/main" id="{60CDCB1D-9E0E-2B44-BD1A-B10ECC61214F}"/>
              </a:ext>
            </a:extLst>
          </p:cNvPr>
          <p:cNvSpPr/>
          <p:nvPr/>
        </p:nvSpPr>
        <p:spPr>
          <a:xfrm>
            <a:off x="4718304" y="1012503"/>
            <a:ext cx="4133088" cy="1401513"/>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372B4D4F-3B7D-F00C-F53F-289AD2E5CCC8}"/>
              </a:ext>
            </a:extLst>
          </p:cNvPr>
          <p:cNvSpPr/>
          <p:nvPr/>
        </p:nvSpPr>
        <p:spPr>
          <a:xfrm>
            <a:off x="4919472" y="1092659"/>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RETRIEVE</a:t>
            </a:r>
            <a:endParaRPr lang="en-US" sz="1400">
              <a:solidFill>
                <a:schemeClr val="accent2"/>
              </a:solidFill>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3075534D-A8B8-B24A-30AE-6A5E8F57B4B6}"/>
              </a:ext>
            </a:extLst>
          </p:cNvPr>
          <p:cNvSpPr/>
          <p:nvPr/>
        </p:nvSpPr>
        <p:spPr>
          <a:xfrm>
            <a:off x="4919472" y="1418514"/>
            <a:ext cx="3931920" cy="679981"/>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BM25 over tokenised chunks: TF, IDF and length normalisation</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Query = primary diagnosis + procedures; top-k = 3</a:t>
            </a:r>
          </a:p>
        </p:txBody>
      </p:sp>
      <p:sp>
        <p:nvSpPr>
          <p:cNvPr id="11" name="Shape 2">
            <a:extLst>
              <a:ext uri="{FF2B5EF4-FFF2-40B4-BE49-F238E27FC236}">
                <a16:creationId xmlns:a16="http://schemas.microsoft.com/office/drawing/2014/main" id="{5B38C73E-4DC7-5031-F4A2-C865B06C0B20}"/>
              </a:ext>
            </a:extLst>
          </p:cNvPr>
          <p:cNvSpPr/>
          <p:nvPr/>
        </p:nvSpPr>
        <p:spPr>
          <a:xfrm>
            <a:off x="292608" y="2576944"/>
            <a:ext cx="4133088" cy="1620152"/>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Text 3">
            <a:extLst>
              <a:ext uri="{FF2B5EF4-FFF2-40B4-BE49-F238E27FC236}">
                <a16:creationId xmlns:a16="http://schemas.microsoft.com/office/drawing/2014/main" id="{E5E070F2-EA40-BC2A-CE27-02F3BF7CF0E3}"/>
              </a:ext>
            </a:extLst>
          </p:cNvPr>
          <p:cNvSpPr/>
          <p:nvPr/>
        </p:nvSpPr>
        <p:spPr>
          <a:xfrm>
            <a:off x="493776" y="2714672"/>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GENERATE</a:t>
            </a:r>
            <a:endParaRPr lang="en-US" sz="1400">
              <a:solidFill>
                <a:schemeClr val="accent2"/>
              </a:solidFill>
              <a:latin typeface="Open Sans" pitchFamily="2" charset="0"/>
              <a:ea typeface="Open Sans" pitchFamily="2" charset="0"/>
              <a:cs typeface="Open Sans" pitchFamily="2" charset="0"/>
            </a:endParaRPr>
          </a:p>
        </p:txBody>
      </p:sp>
      <p:sp>
        <p:nvSpPr>
          <p:cNvPr id="13" name="Text 4">
            <a:extLst>
              <a:ext uri="{FF2B5EF4-FFF2-40B4-BE49-F238E27FC236}">
                <a16:creationId xmlns:a16="http://schemas.microsoft.com/office/drawing/2014/main" id="{145029D4-4BC2-5111-3A00-1835A4DD0C3A}"/>
              </a:ext>
            </a:extLst>
          </p:cNvPr>
          <p:cNvSpPr/>
          <p:nvPr/>
        </p:nvSpPr>
        <p:spPr>
          <a:xfrm>
            <a:off x="493776" y="3040527"/>
            <a:ext cx="3730752" cy="879487"/>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Chunks enter as fenced, PHI-masked reference material</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Chunk ids used are stored with the draft as citations</a:t>
            </a:r>
          </a:p>
        </p:txBody>
      </p:sp>
      <p:sp>
        <p:nvSpPr>
          <p:cNvPr id="14" name="Shape 5">
            <a:extLst>
              <a:ext uri="{FF2B5EF4-FFF2-40B4-BE49-F238E27FC236}">
                <a16:creationId xmlns:a16="http://schemas.microsoft.com/office/drawing/2014/main" id="{7DC3A9EF-923C-B111-E8D5-B07764CD447C}"/>
              </a:ext>
            </a:extLst>
          </p:cNvPr>
          <p:cNvSpPr/>
          <p:nvPr/>
        </p:nvSpPr>
        <p:spPr>
          <a:xfrm>
            <a:off x="4718304" y="2576944"/>
            <a:ext cx="4133088" cy="1620152"/>
          </a:xfrm>
          <a:prstGeom prst="roundRect">
            <a:avLst>
              <a:gd name="adj" fmla="val 2553"/>
            </a:avLst>
          </a:prstGeom>
          <a:solidFill>
            <a:srgbClr val="F5F5F5"/>
          </a:solidFill>
          <a:ln w="9525">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Text 6">
            <a:extLst>
              <a:ext uri="{FF2B5EF4-FFF2-40B4-BE49-F238E27FC236}">
                <a16:creationId xmlns:a16="http://schemas.microsoft.com/office/drawing/2014/main" id="{D8E1E067-7BC2-6859-681C-FF3BF10712B0}"/>
              </a:ext>
            </a:extLst>
          </p:cNvPr>
          <p:cNvSpPr/>
          <p:nvPr/>
        </p:nvSpPr>
        <p:spPr>
          <a:xfrm>
            <a:off x="4919472" y="2714672"/>
            <a:ext cx="3730752" cy="347472"/>
          </a:xfrm>
          <a:prstGeom prst="rect">
            <a:avLst/>
          </a:prstGeom>
          <a:noFill/>
          <a:ln/>
        </p:spPr>
        <p:txBody>
          <a:bodyPr wrap="square" lIns="0" tIns="0" rIns="0" bIns="0" rtlCol="0" anchor="ctr"/>
          <a:lstStyle/>
          <a:p>
            <a:pPr marL="0" indent="0">
              <a:buNone/>
            </a:pPr>
            <a:r>
              <a:rPr lang="en-US" sz="1400" b="1">
                <a:solidFill>
                  <a:schemeClr val="accent2"/>
                </a:solidFill>
                <a:latin typeface="Open Sans" pitchFamily="2" charset="0"/>
                <a:ea typeface="Open Sans" pitchFamily="2" charset="0"/>
                <a:cs typeface="Open Sans" pitchFamily="2" charset="0"/>
              </a:rPr>
              <a:t>EVALUATE</a:t>
            </a:r>
            <a:endParaRPr lang="en-US" sz="1400">
              <a:solidFill>
                <a:schemeClr val="accent2"/>
              </a:solidFill>
              <a:latin typeface="Open Sans" pitchFamily="2" charset="0"/>
              <a:ea typeface="Open Sans" pitchFamily="2" charset="0"/>
              <a:cs typeface="Open Sans" pitchFamily="2" charset="0"/>
            </a:endParaRPr>
          </a:p>
        </p:txBody>
      </p:sp>
      <p:sp>
        <p:nvSpPr>
          <p:cNvPr id="16" name="Text 7">
            <a:extLst>
              <a:ext uri="{FF2B5EF4-FFF2-40B4-BE49-F238E27FC236}">
                <a16:creationId xmlns:a16="http://schemas.microsoft.com/office/drawing/2014/main" id="{BC8ED702-02AF-298C-9E39-A4AE88A6700D}"/>
              </a:ext>
            </a:extLst>
          </p:cNvPr>
          <p:cNvSpPr/>
          <p:nvPr/>
        </p:nvSpPr>
        <p:spPr>
          <a:xfrm>
            <a:off x="4919472" y="3040527"/>
            <a:ext cx="3730752" cy="879487"/>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Test retrieval in isolation: right document, never the distractor</a:t>
            </a:r>
          </a:p>
          <a:p>
            <a:pPr marL="171450" indent="-171450">
              <a:lnSpc>
                <a:spcPct val="116000"/>
              </a:lnSpc>
              <a:buFont typeface="Arial" panose="020B0604020202020204" pitchFamily="34" charset="0"/>
              <a:buChar char="•"/>
            </a:pPr>
            <a:r>
              <a:rPr lang="en-US" sz="1200">
                <a:solidFill>
                  <a:schemeClr val="tx2"/>
                </a:solidFill>
                <a:latin typeface="Open Sans" pitchFamily="2" charset="0"/>
                <a:ea typeface="Open Sans" pitchFamily="2" charset="0"/>
                <a:cs typeface="Open Sans" pitchFamily="2" charset="0"/>
              </a:rPr>
              <a:t>Watch for reference facts leaking into patient facts (AI-03)</a:t>
            </a:r>
          </a:p>
        </p:txBody>
      </p:sp>
      <p:sp>
        <p:nvSpPr>
          <p:cNvPr id="17" name="Shape 8">
            <a:extLst>
              <a:ext uri="{FF2B5EF4-FFF2-40B4-BE49-F238E27FC236}">
                <a16:creationId xmlns:a16="http://schemas.microsoft.com/office/drawing/2014/main" id="{D19EDAE2-62A3-03D1-039F-53ED32B629F1}"/>
              </a:ext>
            </a:extLst>
          </p:cNvPr>
          <p:cNvSpPr/>
          <p:nvPr/>
        </p:nvSpPr>
        <p:spPr>
          <a:xfrm>
            <a:off x="292608" y="4379668"/>
            <a:ext cx="8558784" cy="420624"/>
          </a:xfrm>
          <a:prstGeom prst="roundRect">
            <a:avLst>
              <a:gd name="adj" fmla="val 11905"/>
            </a:avLst>
          </a:prstGeom>
          <a:solidFill>
            <a:schemeClr val="accent6">
              <a:lumMod val="20000"/>
              <a:lumOff val="80000"/>
            </a:schemeClr>
          </a:solidFill>
          <a:ln w="12700">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9">
            <a:extLst>
              <a:ext uri="{FF2B5EF4-FFF2-40B4-BE49-F238E27FC236}">
                <a16:creationId xmlns:a16="http://schemas.microsoft.com/office/drawing/2014/main" id="{DBE77A76-D591-4D95-B2FE-147538E522FE}"/>
              </a:ext>
            </a:extLst>
          </p:cNvPr>
          <p:cNvSpPr/>
          <p:nvPr/>
        </p:nvSpPr>
        <p:spPr>
          <a:xfrm>
            <a:off x="493776" y="4396602"/>
            <a:ext cx="8156448" cy="384048"/>
          </a:xfrm>
          <a:prstGeom prst="rect">
            <a:avLst/>
          </a:prstGeom>
          <a:noFill/>
          <a:ln/>
        </p:spPr>
        <p:txBody>
          <a:bodyPr wrap="square" lIns="0" tIns="0" rIns="0" bIns="0" rtlCol="0" anchor="ctr"/>
          <a:lstStyle/>
          <a:p>
            <a:pPr marL="0" indent="0" algn="ctr">
              <a:buNone/>
            </a:pPr>
            <a:r>
              <a:rPr lang="en-US" sz="1200" i="1">
                <a:solidFill>
                  <a:schemeClr val="tx2"/>
                </a:solidFill>
                <a:latin typeface="Open Sans" pitchFamily="2" charset="0"/>
                <a:ea typeface="Open Sans" pitchFamily="2" charset="0"/>
                <a:cs typeface="Open Sans" pitchFamily="2" charset="0"/>
              </a:rPr>
              <a:t>Upgrade path: embeddings plus hybrid BM25 once the corpus outgrows keyword overlap.</a:t>
            </a:r>
            <a:endParaRPr lang="en-US" sz="1200">
              <a:solidFill>
                <a:schemeClr val="tx2"/>
              </a:solidFill>
              <a:latin typeface="Open Sans" pitchFamily="2" charset="0"/>
              <a:ea typeface="Open Sans" pitchFamily="2" charset="0"/>
              <a:cs typeface="Open Sans" pitchFamily="2" charset="0"/>
            </a:endParaRPr>
          </a:p>
        </p:txBody>
      </p:sp>
    </p:spTree>
  </p:cSld>
  <p:clrMapOvr>
    <a:masterClrMapping/>
  </p:clrMapOvr>
</p:sld>
</file>

<file path=ppt/theme/theme1.xml><?xml version="1.0" encoding="utf-8"?>
<a:theme xmlns:a="http://schemas.openxmlformats.org/drawingml/2006/main" name="CellStrat CCA">
  <a:themeElements>
    <a:clrScheme name="Phi Design">
      <a:dk1>
        <a:srgbClr val="383838"/>
      </a:dk1>
      <a:lt1>
        <a:srgbClr val="FFFFFF"/>
      </a:lt1>
      <a:dk2>
        <a:srgbClr val="6A6B6A"/>
      </a:dk2>
      <a:lt2>
        <a:srgbClr val="DADCDB"/>
      </a:lt2>
      <a:accent1>
        <a:srgbClr val="FDB71A"/>
      </a:accent1>
      <a:accent2>
        <a:srgbClr val="008CCC"/>
      </a:accent2>
      <a:accent3>
        <a:srgbClr val="EE3124"/>
      </a:accent3>
      <a:accent4>
        <a:srgbClr val="C3C4C3"/>
      </a:accent4>
      <a:accent5>
        <a:srgbClr val="5EC5F7"/>
      </a:accent5>
      <a:accent6>
        <a:srgbClr val="FDD373"/>
      </a:accent6>
      <a:hlink>
        <a:srgbClr val="F38C86"/>
      </a:hlink>
      <a:folHlink>
        <a:srgbClr val="C4C2C4"/>
      </a:folHlink>
    </a:clrScheme>
    <a:fontScheme name="New Beta theme">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l">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1">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bwMode="auto"/>
      <a:bodyPr/>
      <a:lstStyle>
        <a:defPPr algn="l">
          <a:defRPr dirty="0" smtClean="0"/>
        </a:defPPr>
      </a:lstStyle>
    </a:txDef>
  </a:objectDefaults>
  <a:extraClrSchemeLst/>
  <a:extLst>
    <a:ext uri="{05A4C25C-085E-4340-85A3-A5531E510DB2}">
      <thm15:themeFamily xmlns:thm15="http://schemas.microsoft.com/office/thememl/2012/main" name="Presentation1" id="{0210B50B-29D0-B849-B35D-819F9ED84FCA}" vid="{BE3D0D1F-83C9-2E46-AA81-4E9634B051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CellStrat CCA</Template>
  <TotalTime>10</TotalTime>
  <Words>6004</Words>
  <Application>Microsoft Macintosh PowerPoint</Application>
  <PresentationFormat>On-screen Show (16:9)</PresentationFormat>
  <Paragraphs>681</Paragraphs>
  <Slides>54</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Arial</vt:lpstr>
      <vt:lpstr>Calibri</vt:lpstr>
      <vt:lpstr>Consolas</vt:lpstr>
      <vt:lpstr>Open Sans</vt:lpstr>
      <vt:lpstr>Open Sans Semibold</vt:lpstr>
      <vt:lpstr>Wingdings</vt:lpstr>
      <vt:lpstr>CellStrat CCA</vt:lpstr>
      <vt:lpstr>Ship Your PoC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4: From PoC to Production</dc:title>
  <dc:subject>PptxGenJS Presentation</dc:subject>
  <dc:creator>CellStrat</dc:creator>
  <cp:lastModifiedBy>CellStrat</cp:lastModifiedBy>
  <cp:revision>26</cp:revision>
  <dcterms:created xsi:type="dcterms:W3CDTF">2026-06-20T20:06:01Z</dcterms:created>
  <dcterms:modified xsi:type="dcterms:W3CDTF">2026-06-26T07:24:40Z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0x01010006F8A97F61E63A45AE2A7731D2CE03A6</vt:lpwstr>
  </property>
  <property fmtid="{D5CDD505-2E9C-101B-9397-08002B2CF9AE}" pid="3" name="MediaServiceImageTags">
    <vt:lpwstr/>
  </property>
</Properties>
</file>