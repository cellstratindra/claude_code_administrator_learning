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4"/>
    <p:sldMasterId id="2147483712" r:id="rId5"/>
  </p:sldMasterIdLst>
  <p:notesMasterIdLst>
    <p:notesMasterId r:id="rId61"/>
  </p:notesMasterIdLst>
  <p:sldIdLst>
    <p:sldId id="2147483090" r:id="rId6"/>
    <p:sldId id="257" r:id="rId7"/>
    <p:sldId id="258" r:id="rId8"/>
    <p:sldId id="259" r:id="rId9"/>
    <p:sldId id="260" r:id="rId10"/>
    <p:sldId id="2147483093" r:id="rId11"/>
    <p:sldId id="2147483115" r:id="rId12"/>
    <p:sldId id="262" r:id="rId13"/>
    <p:sldId id="256" r:id="rId14"/>
    <p:sldId id="263" r:id="rId15"/>
    <p:sldId id="264" r:id="rId16"/>
    <p:sldId id="2147483092" r:id="rId17"/>
    <p:sldId id="2147483123" r:id="rId18"/>
    <p:sldId id="2147483114" r:id="rId19"/>
    <p:sldId id="2147483113" r:id="rId20"/>
    <p:sldId id="2147483124" r:id="rId21"/>
    <p:sldId id="267" r:id="rId22"/>
    <p:sldId id="2147483116" r:id="rId23"/>
    <p:sldId id="2147483117" r:id="rId24"/>
    <p:sldId id="270" r:id="rId25"/>
    <p:sldId id="2147483108" r:id="rId26"/>
    <p:sldId id="2147483130" r:id="rId3"/>
    <p:sldId id="2147483109" r:id="rId27"/>
    <p:sldId id="2147483110" r:id="rId28"/>
    <p:sldId id="2147483131" r:id="rId2"/>
    <p:sldId id="2147483111" r:id="rId29"/>
    <p:sldId id="2147483112" r:id="rId30"/>
    <p:sldId id="2147483118" r:id="rId31"/>
    <p:sldId id="2147483106" r:id="rId32"/>
    <p:sldId id="274" r:id="rId33"/>
    <p:sldId id="276" r:id="rId34"/>
    <p:sldId id="2147483119" r:id="rId35"/>
    <p:sldId id="278" r:id="rId36"/>
    <p:sldId id="279" r:id="rId37"/>
    <p:sldId id="2147483120" r:id="rId38"/>
    <p:sldId id="281" r:id="rId39"/>
    <p:sldId id="282" r:id="rId40"/>
    <p:sldId id="283" r:id="rId41"/>
    <p:sldId id="284" r:id="rId42"/>
    <p:sldId id="285" r:id="rId43"/>
    <p:sldId id="286" r:id="rId44"/>
    <p:sldId id="2147483121" r:id="rId45"/>
    <p:sldId id="2147483094" r:id="rId46"/>
    <p:sldId id="2147483125" r:id="rId47"/>
    <p:sldId id="2147483095" r:id="rId48"/>
    <p:sldId id="2147483126" r:id="rId49"/>
    <p:sldId id="2147483096" r:id="rId50"/>
    <p:sldId id="2147483127" r:id="rId51"/>
    <p:sldId id="2147483097" r:id="rId52"/>
    <p:sldId id="2147483128" r:id="rId53"/>
    <p:sldId id="2147483098" r:id="rId54"/>
    <p:sldId id="2147483129" r:id="rId55"/>
    <p:sldId id="2147483101" r:id="rId56"/>
    <p:sldId id="2147483099" r:id="rId57"/>
    <p:sldId id="2147483102" r:id="rId58"/>
    <p:sldId id="2147483100" r:id="rId59"/>
    <p:sldId id="2147483122" r:id="rId60"/>
  </p:sldIdLst>
  <p:sldSz cx="12193588" cy="6858000"/>
  <p:notesSz cx="5143500" cy="9144000"/>
  <p:defaultTextStyle>
    <a:lvl1pPr marL="0" algn="l" defTabSz="1219261" rtl="0" eaLnBrk="1" latinLnBrk="0" hangingPunct="1">
      <a:defRPr sz="2400" kern="1200">
        <a:solidFill>
          <a:schemeClr val="tx1"/>
        </a:solidFill>
        <a:latin typeface="+mn-lt"/>
        <a:ea typeface="+mn-ea"/>
        <a:cs typeface="+mn-cs"/>
      </a:defRPr>
    </a:lvl1pPr>
    <a:lvl2pPr marL="609630" algn="l" defTabSz="1219261" rtl="0" eaLnBrk="1" latinLnBrk="0" hangingPunct="1">
      <a:defRPr sz="2400" kern="1200">
        <a:solidFill>
          <a:schemeClr val="tx1"/>
        </a:solidFill>
        <a:latin typeface="+mn-lt"/>
        <a:ea typeface="+mn-ea"/>
        <a:cs typeface="+mn-cs"/>
      </a:defRPr>
    </a:lvl2pPr>
    <a:lvl3pPr marL="1219261" algn="l" defTabSz="1219261" rtl="0" eaLnBrk="1" latinLnBrk="0" hangingPunct="1">
      <a:defRPr sz="2400" kern="1200">
        <a:solidFill>
          <a:schemeClr val="tx1"/>
        </a:solidFill>
        <a:latin typeface="+mn-lt"/>
        <a:ea typeface="+mn-ea"/>
        <a:cs typeface="+mn-cs"/>
      </a:defRPr>
    </a:lvl3pPr>
    <a:lvl4pPr marL="1828891" algn="l" defTabSz="1219261" rtl="0" eaLnBrk="1" latinLnBrk="0" hangingPunct="1">
      <a:defRPr sz="2400" kern="1200">
        <a:solidFill>
          <a:schemeClr val="tx1"/>
        </a:solidFill>
        <a:latin typeface="+mn-lt"/>
        <a:ea typeface="+mn-ea"/>
        <a:cs typeface="+mn-cs"/>
      </a:defRPr>
    </a:lvl4pPr>
    <a:lvl5pPr marL="2438522" algn="l" defTabSz="1219261" rtl="0" eaLnBrk="1" latinLnBrk="0" hangingPunct="1">
      <a:defRPr sz="2400" kern="1200">
        <a:solidFill>
          <a:schemeClr val="tx1"/>
        </a:solidFill>
        <a:latin typeface="+mn-lt"/>
        <a:ea typeface="+mn-ea"/>
        <a:cs typeface="+mn-cs"/>
      </a:defRPr>
    </a:lvl5pPr>
    <a:lvl6pPr marL="3048152" algn="l" defTabSz="1219261" rtl="0" eaLnBrk="1" latinLnBrk="0" hangingPunct="1">
      <a:defRPr sz="2400" kern="1200">
        <a:solidFill>
          <a:schemeClr val="tx1"/>
        </a:solidFill>
        <a:latin typeface="+mn-lt"/>
        <a:ea typeface="+mn-ea"/>
        <a:cs typeface="+mn-cs"/>
      </a:defRPr>
    </a:lvl6pPr>
    <a:lvl7pPr marL="3657783" algn="l" defTabSz="1219261" rtl="0" eaLnBrk="1" latinLnBrk="0" hangingPunct="1">
      <a:defRPr sz="2400" kern="1200">
        <a:solidFill>
          <a:schemeClr val="tx1"/>
        </a:solidFill>
        <a:latin typeface="+mn-lt"/>
        <a:ea typeface="+mn-ea"/>
        <a:cs typeface="+mn-cs"/>
      </a:defRPr>
    </a:lvl7pPr>
    <a:lvl8pPr marL="4267413" algn="l" defTabSz="1219261" rtl="0" eaLnBrk="1" latinLnBrk="0" hangingPunct="1">
      <a:defRPr sz="2400" kern="1200">
        <a:solidFill>
          <a:schemeClr val="tx1"/>
        </a:solidFill>
        <a:latin typeface="+mn-lt"/>
        <a:ea typeface="+mn-ea"/>
        <a:cs typeface="+mn-cs"/>
      </a:defRPr>
    </a:lvl8pPr>
    <a:lvl9pPr marL="4877044" algn="l" defTabSz="1219261"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C4C3"/>
    <a:srgbClr val="F5F5F5"/>
    <a:srgbClr val="FFF2F2"/>
    <a:srgbClr val="FFDDDA"/>
    <a:srgbClr val="ECFEF6"/>
    <a:srgbClr val="ECFD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67"/>
    <p:restoredTop sz="94699"/>
  </p:normalViewPr>
  <p:slideViewPr>
    <p:cSldViewPr snapToGrid="0">
      <p:cViewPr varScale="1">
        <p:scale>
          <a:sx n="115" d="100"/>
          <a:sy n="115"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 Type="http://schemas.openxmlformats.org/officeDocument/2006/relationships/slide" Target="slides/slide57.xml"/><Relationship Id="rId3" Type="http://schemas.openxmlformats.org/officeDocument/2006/relationships/slide" Target="slides/slide56.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5FEE97-96EB-6D4B-B464-3BCB375446A4}" type="doc">
      <dgm:prSet loTypeId="urn:microsoft.com/office/officeart/2005/8/layout/radial4" loCatId="" qsTypeId="urn:microsoft.com/office/officeart/2005/8/quickstyle/simple1" qsCatId="simple" csTypeId="urn:microsoft.com/office/officeart/2005/8/colors/colorful3" csCatId="colorful" phldr="1"/>
      <dgm:spPr/>
      <dgm:t>
        <a:bodyPr/>
        <a:lstStyle/>
        <a:p>
          <a:endParaRPr lang="en-GB"/>
        </a:p>
      </dgm:t>
    </dgm:pt>
    <dgm:pt modelId="{1916B7DA-BB3A-C144-8E68-A7D6F6717975}">
      <dgm:prSet phldrT="[Text]" custT="1"/>
      <dgm:spPr/>
      <dgm:t>
        <a:bodyPr/>
        <a:lstStyle/>
        <a:p>
          <a:r>
            <a:rPr lang="en-GB" sz="4800" b="1" dirty="0"/>
            <a:t>PoC</a:t>
          </a:r>
        </a:p>
      </dgm:t>
    </dgm:pt>
    <dgm:pt modelId="{12BD602E-881D-4C40-83D3-384AEF90A595}" type="parTrans" cxnId="{C1EE26A0-B72F-CD40-A4C9-B6230C31193E}">
      <dgm:prSet/>
      <dgm:spPr/>
      <dgm:t>
        <a:bodyPr/>
        <a:lstStyle/>
        <a:p>
          <a:endParaRPr lang="en-GB" sz="1600"/>
        </a:p>
      </dgm:t>
    </dgm:pt>
    <dgm:pt modelId="{72667942-5E50-B941-8FF8-49F00FE34451}" type="sibTrans" cxnId="{C1EE26A0-B72F-CD40-A4C9-B6230C31193E}">
      <dgm:prSet/>
      <dgm:spPr/>
      <dgm:t>
        <a:bodyPr/>
        <a:lstStyle/>
        <a:p>
          <a:endParaRPr lang="en-GB" sz="1600"/>
        </a:p>
      </dgm:t>
    </dgm:pt>
    <dgm:pt modelId="{C630699B-BB2C-274F-AB44-850418BA29B8}">
      <dgm:prSet phldrT="[Text]" custT="1"/>
      <dgm:spPr/>
      <dgm:t>
        <a:bodyPr anchor="t"/>
        <a:lstStyle/>
        <a:p>
          <a:pPr algn="l"/>
          <a:r>
            <a:rPr lang="en-GB" sz="1600" b="1" dirty="0"/>
            <a:t>Frontend</a:t>
          </a:r>
        </a:p>
        <a:p>
          <a:pPr algn="l"/>
          <a:r>
            <a:rPr lang="en-GB" sz="1000" b="1" dirty="0" err="1"/>
            <a:t>Streamlit</a:t>
          </a:r>
          <a:endParaRPr lang="en-GB" sz="1000" b="1" dirty="0"/>
        </a:p>
        <a:p>
          <a:pPr algn="l"/>
          <a:r>
            <a:rPr lang="en-GB" sz="1000" b="0" dirty="0"/>
            <a:t>React</a:t>
          </a:r>
        </a:p>
        <a:p>
          <a:pPr algn="l"/>
          <a:r>
            <a:rPr lang="en-GB" sz="1000" b="0" dirty="0" err="1"/>
            <a:t>Gradio</a:t>
          </a:r>
          <a:endParaRPr lang="en-GB" sz="1000" b="0" dirty="0"/>
        </a:p>
        <a:p>
          <a:pPr algn="l"/>
          <a:r>
            <a:rPr lang="en-GB" sz="1000" b="0" dirty="0"/>
            <a:t>HTML/CSS</a:t>
          </a:r>
        </a:p>
      </dgm:t>
    </dgm:pt>
    <dgm:pt modelId="{8AF75D75-291A-754B-B3C5-20108A56D926}" type="parTrans" cxnId="{01ED9134-443E-3F42-B593-42AA89560C59}">
      <dgm:prSet/>
      <dgm:spPr/>
      <dgm:t>
        <a:bodyPr/>
        <a:lstStyle/>
        <a:p>
          <a:endParaRPr lang="en-GB" sz="1600"/>
        </a:p>
      </dgm:t>
    </dgm:pt>
    <dgm:pt modelId="{9D41BB77-6F5A-5E4B-A69D-15B8DAF40780}" type="sibTrans" cxnId="{01ED9134-443E-3F42-B593-42AA89560C59}">
      <dgm:prSet/>
      <dgm:spPr/>
      <dgm:t>
        <a:bodyPr/>
        <a:lstStyle/>
        <a:p>
          <a:endParaRPr lang="en-GB" sz="1600"/>
        </a:p>
      </dgm:t>
    </dgm:pt>
    <dgm:pt modelId="{5043F95F-6DB3-3843-BB36-145A7E3917A3}">
      <dgm:prSet phldrT="[Text]" custT="1"/>
      <dgm:spPr/>
      <dgm:t>
        <a:bodyPr anchor="t"/>
        <a:lstStyle/>
        <a:p>
          <a:pPr algn="l">
            <a:lnSpc>
              <a:spcPct val="90000"/>
            </a:lnSpc>
          </a:pPr>
          <a:r>
            <a:rPr lang="en-GB" sz="1600" b="1" dirty="0"/>
            <a:t>Backend</a:t>
          </a:r>
        </a:p>
        <a:p>
          <a:pPr algn="l">
            <a:lnSpc>
              <a:spcPct val="100000"/>
            </a:lnSpc>
          </a:pPr>
          <a:r>
            <a:rPr lang="en-GB" sz="1000" b="1" dirty="0" err="1"/>
            <a:t>FastAPI</a:t>
          </a:r>
          <a:endParaRPr lang="en-GB" sz="1000" b="1" dirty="0"/>
        </a:p>
        <a:p>
          <a:pPr algn="l">
            <a:lnSpc>
              <a:spcPct val="100000"/>
            </a:lnSpc>
          </a:pPr>
          <a:r>
            <a:rPr lang="en-GB" sz="1000" dirty="0"/>
            <a:t>Flask</a:t>
          </a:r>
        </a:p>
        <a:p>
          <a:pPr algn="l">
            <a:lnSpc>
              <a:spcPct val="100000"/>
            </a:lnSpc>
          </a:pPr>
          <a:r>
            <a:rPr lang="en-GB" sz="1000" dirty="0" err="1"/>
            <a:t>Express.js</a:t>
          </a:r>
          <a:endParaRPr lang="en-GB" sz="1000" dirty="0"/>
        </a:p>
        <a:p>
          <a:pPr algn="l">
            <a:lnSpc>
              <a:spcPct val="100000"/>
            </a:lnSpc>
          </a:pPr>
          <a:r>
            <a:rPr lang="en-GB" sz="1000" dirty="0"/>
            <a:t>Django</a:t>
          </a:r>
        </a:p>
        <a:p>
          <a:pPr algn="l">
            <a:lnSpc>
              <a:spcPct val="90000"/>
            </a:lnSpc>
          </a:pPr>
          <a:endParaRPr lang="en-GB" sz="1600" dirty="0"/>
        </a:p>
        <a:p>
          <a:pPr algn="l">
            <a:lnSpc>
              <a:spcPct val="90000"/>
            </a:lnSpc>
          </a:pPr>
          <a:endParaRPr lang="en-GB" sz="1600" dirty="0"/>
        </a:p>
      </dgm:t>
    </dgm:pt>
    <dgm:pt modelId="{03292604-84A6-C64C-9F33-0A85248852CA}" type="parTrans" cxnId="{A56E5504-D3BA-5A43-B9B3-781E1C6911CB}">
      <dgm:prSet/>
      <dgm:spPr/>
      <dgm:t>
        <a:bodyPr/>
        <a:lstStyle/>
        <a:p>
          <a:endParaRPr lang="en-GB" sz="1600"/>
        </a:p>
      </dgm:t>
    </dgm:pt>
    <dgm:pt modelId="{856C5B63-6401-6E49-9E2A-5BF2F1A285CE}" type="sibTrans" cxnId="{A56E5504-D3BA-5A43-B9B3-781E1C6911CB}">
      <dgm:prSet/>
      <dgm:spPr/>
      <dgm:t>
        <a:bodyPr/>
        <a:lstStyle/>
        <a:p>
          <a:endParaRPr lang="en-GB" sz="1600"/>
        </a:p>
      </dgm:t>
    </dgm:pt>
    <dgm:pt modelId="{66171597-0947-6D4A-8472-1CE9EBD825E3}">
      <dgm:prSet phldrT="[Text]" custT="1"/>
      <dgm:spPr/>
      <dgm:t>
        <a:bodyPr anchor="t"/>
        <a:lstStyle/>
        <a:p>
          <a:pPr algn="l"/>
          <a:r>
            <a:rPr lang="en-GB" sz="1600" b="1" dirty="0"/>
            <a:t>Server</a:t>
          </a:r>
        </a:p>
        <a:p>
          <a:pPr algn="l"/>
          <a:r>
            <a:rPr lang="en-GB" sz="1000" b="1" dirty="0" err="1"/>
            <a:t>Uvicorn</a:t>
          </a:r>
          <a:endParaRPr lang="en-GB" sz="1000" b="1" dirty="0"/>
        </a:p>
        <a:p>
          <a:pPr algn="l"/>
          <a:r>
            <a:rPr lang="en-GB" sz="1000" b="0" dirty="0" err="1"/>
            <a:t>Gunicorn</a:t>
          </a:r>
          <a:endParaRPr lang="en-GB" sz="1000" b="0" dirty="0"/>
        </a:p>
        <a:p>
          <a:pPr algn="l"/>
          <a:r>
            <a:rPr lang="en-GB" sz="1000" b="0" dirty="0"/>
            <a:t>Node.js</a:t>
          </a:r>
        </a:p>
        <a:p>
          <a:pPr algn="l"/>
          <a:r>
            <a:rPr lang="en-GB" sz="1000" b="0" dirty="0"/>
            <a:t>Flask Dev Server</a:t>
          </a:r>
        </a:p>
      </dgm:t>
    </dgm:pt>
    <dgm:pt modelId="{0B38D7E8-9022-AE47-A18F-2A2DBC82FDE0}" type="parTrans" cxnId="{12A3CB40-7993-234A-9592-78EA40A9CF0D}">
      <dgm:prSet/>
      <dgm:spPr/>
      <dgm:t>
        <a:bodyPr/>
        <a:lstStyle/>
        <a:p>
          <a:endParaRPr lang="en-GB" sz="1600"/>
        </a:p>
      </dgm:t>
    </dgm:pt>
    <dgm:pt modelId="{E6493CE3-3BAD-3E48-8619-36DCA1253DE5}" type="sibTrans" cxnId="{12A3CB40-7993-234A-9592-78EA40A9CF0D}">
      <dgm:prSet/>
      <dgm:spPr/>
      <dgm:t>
        <a:bodyPr/>
        <a:lstStyle/>
        <a:p>
          <a:endParaRPr lang="en-GB" sz="1600"/>
        </a:p>
      </dgm:t>
    </dgm:pt>
    <dgm:pt modelId="{86E455A2-187D-A542-A895-E8BBE9EFF1A6}">
      <dgm:prSet custT="1"/>
      <dgm:spPr/>
      <dgm:t>
        <a:bodyPr anchor="t"/>
        <a:lstStyle/>
        <a:p>
          <a:pPr algn="l"/>
          <a:r>
            <a:rPr lang="en-GB" sz="1600" b="1" dirty="0"/>
            <a:t>Schema</a:t>
          </a:r>
        </a:p>
        <a:p>
          <a:pPr algn="l"/>
          <a:r>
            <a:rPr lang="en-GB" sz="1000" b="1" dirty="0" err="1"/>
            <a:t>SQLAlchemy</a:t>
          </a:r>
          <a:endParaRPr lang="en-GB" sz="1000" b="1" dirty="0"/>
        </a:p>
        <a:p>
          <a:pPr algn="l"/>
          <a:r>
            <a:rPr lang="en-GB" sz="1000" b="0" dirty="0" err="1"/>
            <a:t>Pydantic</a:t>
          </a:r>
          <a:endParaRPr lang="en-GB" sz="1000" b="0" dirty="0"/>
        </a:p>
        <a:p>
          <a:pPr algn="l"/>
          <a:r>
            <a:rPr lang="en-GB" sz="1000" b="0" dirty="0"/>
            <a:t>Prisma</a:t>
          </a:r>
        </a:p>
        <a:p>
          <a:pPr algn="l"/>
          <a:r>
            <a:rPr lang="en-GB" sz="1000" b="0" dirty="0" err="1"/>
            <a:t>TypeORM</a:t>
          </a:r>
          <a:endParaRPr lang="en-GB" sz="1000" b="0" dirty="0"/>
        </a:p>
      </dgm:t>
    </dgm:pt>
    <dgm:pt modelId="{D1EAAFB2-FE2B-0E41-9ED0-D19EB91D5EF3}" type="parTrans" cxnId="{9091DBD6-8EE0-D247-A77F-DB4F757C2701}">
      <dgm:prSet/>
      <dgm:spPr/>
      <dgm:t>
        <a:bodyPr/>
        <a:lstStyle/>
        <a:p>
          <a:endParaRPr lang="en-GB" sz="1600"/>
        </a:p>
      </dgm:t>
    </dgm:pt>
    <dgm:pt modelId="{FA3BEB5B-E398-0545-9841-4E43723BADF9}" type="sibTrans" cxnId="{9091DBD6-8EE0-D247-A77F-DB4F757C2701}">
      <dgm:prSet/>
      <dgm:spPr/>
      <dgm:t>
        <a:bodyPr/>
        <a:lstStyle/>
        <a:p>
          <a:endParaRPr lang="en-GB" sz="1600"/>
        </a:p>
      </dgm:t>
    </dgm:pt>
    <dgm:pt modelId="{5F0BE9AE-4ED5-B848-8F8B-B90A40EEA002}">
      <dgm:prSet custT="1"/>
      <dgm:spPr/>
      <dgm:t>
        <a:bodyPr anchor="t"/>
        <a:lstStyle/>
        <a:p>
          <a:pPr algn="l"/>
          <a:r>
            <a:rPr lang="en-GB" sz="1600" b="1" dirty="0"/>
            <a:t>Database</a:t>
          </a:r>
        </a:p>
        <a:p>
          <a:pPr algn="l"/>
          <a:r>
            <a:rPr lang="en-GB" sz="1000" b="1" dirty="0"/>
            <a:t>SQLite</a:t>
          </a:r>
        </a:p>
        <a:p>
          <a:pPr algn="l"/>
          <a:r>
            <a:rPr lang="en-GB" sz="1000" b="0" dirty="0"/>
            <a:t>PostgreSQL</a:t>
          </a:r>
        </a:p>
        <a:p>
          <a:pPr algn="l"/>
          <a:r>
            <a:rPr lang="en-GB" sz="1000" b="0" dirty="0"/>
            <a:t>MySQL</a:t>
          </a:r>
        </a:p>
        <a:p>
          <a:pPr algn="l"/>
          <a:r>
            <a:rPr lang="en-GB" sz="1000" b="0" dirty="0"/>
            <a:t>MongoDB</a:t>
          </a:r>
        </a:p>
      </dgm:t>
    </dgm:pt>
    <dgm:pt modelId="{866957F2-E566-1C44-8194-A7A50DA55922}" type="parTrans" cxnId="{53B992C2-5FAE-BF44-B9AC-FE6246142BE2}">
      <dgm:prSet/>
      <dgm:spPr/>
      <dgm:t>
        <a:bodyPr/>
        <a:lstStyle/>
        <a:p>
          <a:endParaRPr lang="en-GB" sz="1600"/>
        </a:p>
      </dgm:t>
    </dgm:pt>
    <dgm:pt modelId="{8A535892-E718-EF4F-9040-A02406CBB4FC}" type="sibTrans" cxnId="{53B992C2-5FAE-BF44-B9AC-FE6246142BE2}">
      <dgm:prSet/>
      <dgm:spPr/>
      <dgm:t>
        <a:bodyPr/>
        <a:lstStyle/>
        <a:p>
          <a:endParaRPr lang="en-GB" sz="1600"/>
        </a:p>
      </dgm:t>
    </dgm:pt>
    <dgm:pt modelId="{AC535593-BE36-7D47-9E1D-D3B67BC18138}">
      <dgm:prSet custT="1"/>
      <dgm:spPr/>
      <dgm:t>
        <a:bodyPr anchor="t"/>
        <a:lstStyle/>
        <a:p>
          <a:pPr algn="l"/>
          <a:r>
            <a:rPr lang="en-GB" sz="1600" b="1" dirty="0"/>
            <a:t>API Layer</a:t>
          </a:r>
        </a:p>
        <a:p>
          <a:pPr algn="l"/>
          <a:r>
            <a:rPr lang="en-GB" sz="1000" b="1" dirty="0" err="1"/>
            <a:t>FastAPI</a:t>
          </a:r>
          <a:endParaRPr lang="en-GB" sz="1000" b="1" dirty="0"/>
        </a:p>
        <a:p>
          <a:pPr algn="l"/>
          <a:r>
            <a:rPr lang="en-GB" sz="1000" b="0" dirty="0"/>
            <a:t>Fast-REST</a:t>
          </a:r>
        </a:p>
        <a:p>
          <a:pPr algn="l"/>
          <a:r>
            <a:rPr lang="en-GB" sz="1000" b="0" dirty="0" err="1"/>
            <a:t>Express.js</a:t>
          </a:r>
          <a:endParaRPr lang="en-GB" sz="1000" b="0" dirty="0"/>
        </a:p>
        <a:p>
          <a:pPr algn="l"/>
          <a:r>
            <a:rPr lang="en-GB" sz="1000" b="0" dirty="0"/>
            <a:t>Django RESR Framework</a:t>
          </a:r>
        </a:p>
      </dgm:t>
    </dgm:pt>
    <dgm:pt modelId="{33824465-3AFD-F147-BFA8-900F5D4D9924}" type="parTrans" cxnId="{075BD907-34DE-3542-9C18-C9C5555917A5}">
      <dgm:prSet/>
      <dgm:spPr/>
      <dgm:t>
        <a:bodyPr/>
        <a:lstStyle/>
        <a:p>
          <a:endParaRPr lang="en-GB" sz="1600"/>
        </a:p>
      </dgm:t>
    </dgm:pt>
    <dgm:pt modelId="{571F5793-2A20-4B48-989B-F788DF54BCC8}" type="sibTrans" cxnId="{075BD907-34DE-3542-9C18-C9C5555917A5}">
      <dgm:prSet/>
      <dgm:spPr/>
      <dgm:t>
        <a:bodyPr/>
        <a:lstStyle/>
        <a:p>
          <a:endParaRPr lang="en-GB" sz="1600"/>
        </a:p>
      </dgm:t>
    </dgm:pt>
    <dgm:pt modelId="{805282F2-83A3-A340-B408-2929F6BC1B56}" type="pres">
      <dgm:prSet presAssocID="{F55FEE97-96EB-6D4B-B464-3BCB375446A4}" presName="cycle" presStyleCnt="0">
        <dgm:presLayoutVars>
          <dgm:chMax val="1"/>
          <dgm:dir/>
          <dgm:animLvl val="ctr"/>
          <dgm:resizeHandles val="exact"/>
        </dgm:presLayoutVars>
      </dgm:prSet>
      <dgm:spPr/>
    </dgm:pt>
    <dgm:pt modelId="{06E925B0-05AA-0C48-8081-983A5E686CB0}" type="pres">
      <dgm:prSet presAssocID="{1916B7DA-BB3A-C144-8E68-A7D6F6717975}" presName="centerShape" presStyleLbl="node0" presStyleIdx="0" presStyleCnt="1"/>
      <dgm:spPr/>
    </dgm:pt>
    <dgm:pt modelId="{B32C7160-A846-5043-A324-1014EAC0FDFF}" type="pres">
      <dgm:prSet presAssocID="{8AF75D75-291A-754B-B3C5-20108A56D926}" presName="parTrans" presStyleLbl="bgSibTrans2D1" presStyleIdx="0" presStyleCnt="6"/>
      <dgm:spPr/>
    </dgm:pt>
    <dgm:pt modelId="{1E6DA378-7BB6-0D49-9CF8-9A984F6A001F}" type="pres">
      <dgm:prSet presAssocID="{C630699B-BB2C-274F-AB44-850418BA29B8}" presName="node" presStyleLbl="node1" presStyleIdx="0" presStyleCnt="6" custScaleY="129615">
        <dgm:presLayoutVars>
          <dgm:bulletEnabled val="1"/>
        </dgm:presLayoutVars>
      </dgm:prSet>
      <dgm:spPr/>
    </dgm:pt>
    <dgm:pt modelId="{E280A73B-B2E7-E444-85C1-78C4CAB40982}" type="pres">
      <dgm:prSet presAssocID="{03292604-84A6-C64C-9F33-0A85248852CA}" presName="parTrans" presStyleLbl="bgSibTrans2D1" presStyleIdx="1" presStyleCnt="6"/>
      <dgm:spPr/>
    </dgm:pt>
    <dgm:pt modelId="{AD9413F3-1EDC-B045-90FC-28CAE6AF31FF}" type="pres">
      <dgm:prSet presAssocID="{5043F95F-6DB3-3843-BB36-145A7E3917A3}" presName="node" presStyleLbl="node1" presStyleIdx="1" presStyleCnt="6" custScaleY="129615">
        <dgm:presLayoutVars>
          <dgm:bulletEnabled val="1"/>
        </dgm:presLayoutVars>
      </dgm:prSet>
      <dgm:spPr/>
    </dgm:pt>
    <dgm:pt modelId="{DB80A343-9A29-FE46-B237-EA7F611AE62B}" type="pres">
      <dgm:prSet presAssocID="{0B38D7E8-9022-AE47-A18F-2A2DBC82FDE0}" presName="parTrans" presStyleLbl="bgSibTrans2D1" presStyleIdx="2" presStyleCnt="6"/>
      <dgm:spPr/>
    </dgm:pt>
    <dgm:pt modelId="{1D6BD0F5-923F-6D40-A6A6-BAD39C742544}" type="pres">
      <dgm:prSet presAssocID="{66171597-0947-6D4A-8472-1CE9EBD825E3}" presName="node" presStyleLbl="node1" presStyleIdx="2" presStyleCnt="6" custScaleY="129615">
        <dgm:presLayoutVars>
          <dgm:bulletEnabled val="1"/>
        </dgm:presLayoutVars>
      </dgm:prSet>
      <dgm:spPr/>
    </dgm:pt>
    <dgm:pt modelId="{1E650F86-D70D-F24F-96A3-1D39ADE5D0DC}" type="pres">
      <dgm:prSet presAssocID="{D1EAAFB2-FE2B-0E41-9ED0-D19EB91D5EF3}" presName="parTrans" presStyleLbl="bgSibTrans2D1" presStyleIdx="3" presStyleCnt="6"/>
      <dgm:spPr/>
    </dgm:pt>
    <dgm:pt modelId="{6DE79DAA-632E-024E-A577-4176EA1CB5AF}" type="pres">
      <dgm:prSet presAssocID="{86E455A2-187D-A542-A895-E8BBE9EFF1A6}" presName="node" presStyleLbl="node1" presStyleIdx="3" presStyleCnt="6" custScaleY="129615">
        <dgm:presLayoutVars>
          <dgm:bulletEnabled val="1"/>
        </dgm:presLayoutVars>
      </dgm:prSet>
      <dgm:spPr/>
    </dgm:pt>
    <dgm:pt modelId="{BC1D26EF-67F8-C047-B564-FFA3503AAB34}" type="pres">
      <dgm:prSet presAssocID="{866957F2-E566-1C44-8194-A7A50DA55922}" presName="parTrans" presStyleLbl="bgSibTrans2D1" presStyleIdx="4" presStyleCnt="6"/>
      <dgm:spPr/>
    </dgm:pt>
    <dgm:pt modelId="{14E967DD-170D-6441-ABE0-4ADB6C74A558}" type="pres">
      <dgm:prSet presAssocID="{5F0BE9AE-4ED5-B848-8F8B-B90A40EEA002}" presName="node" presStyleLbl="node1" presStyleIdx="4" presStyleCnt="6" custScaleY="129615">
        <dgm:presLayoutVars>
          <dgm:bulletEnabled val="1"/>
        </dgm:presLayoutVars>
      </dgm:prSet>
      <dgm:spPr/>
    </dgm:pt>
    <dgm:pt modelId="{C7798512-C19F-6C47-B242-F9AF7685003E}" type="pres">
      <dgm:prSet presAssocID="{33824465-3AFD-F147-BFA8-900F5D4D9924}" presName="parTrans" presStyleLbl="bgSibTrans2D1" presStyleIdx="5" presStyleCnt="6"/>
      <dgm:spPr/>
    </dgm:pt>
    <dgm:pt modelId="{F3401C1B-DBDF-F745-9234-5651AD892BDA}" type="pres">
      <dgm:prSet presAssocID="{AC535593-BE36-7D47-9E1D-D3B67BC18138}" presName="node" presStyleLbl="node1" presStyleIdx="5" presStyleCnt="6" custScaleY="129615">
        <dgm:presLayoutVars>
          <dgm:bulletEnabled val="1"/>
        </dgm:presLayoutVars>
      </dgm:prSet>
      <dgm:spPr/>
    </dgm:pt>
  </dgm:ptLst>
  <dgm:cxnLst>
    <dgm:cxn modelId="{A56E5504-D3BA-5A43-B9B3-781E1C6911CB}" srcId="{1916B7DA-BB3A-C144-8E68-A7D6F6717975}" destId="{5043F95F-6DB3-3843-BB36-145A7E3917A3}" srcOrd="1" destOrd="0" parTransId="{03292604-84A6-C64C-9F33-0A85248852CA}" sibTransId="{856C5B63-6401-6E49-9E2A-5BF2F1A285CE}"/>
    <dgm:cxn modelId="{075BD907-34DE-3542-9C18-C9C5555917A5}" srcId="{1916B7DA-BB3A-C144-8E68-A7D6F6717975}" destId="{AC535593-BE36-7D47-9E1D-D3B67BC18138}" srcOrd="5" destOrd="0" parTransId="{33824465-3AFD-F147-BFA8-900F5D4D9924}" sibTransId="{571F5793-2A20-4B48-989B-F788DF54BCC8}"/>
    <dgm:cxn modelId="{16E37E0B-6CC1-CB42-A452-E08A78BD823F}" type="presOf" srcId="{33824465-3AFD-F147-BFA8-900F5D4D9924}" destId="{C7798512-C19F-6C47-B242-F9AF7685003E}" srcOrd="0" destOrd="0" presId="urn:microsoft.com/office/officeart/2005/8/layout/radial4"/>
    <dgm:cxn modelId="{A194931A-F58E-1B4F-9B1A-E8272306EA51}" type="presOf" srcId="{86E455A2-187D-A542-A895-E8BBE9EFF1A6}" destId="{6DE79DAA-632E-024E-A577-4176EA1CB5AF}" srcOrd="0" destOrd="0" presId="urn:microsoft.com/office/officeart/2005/8/layout/radial4"/>
    <dgm:cxn modelId="{C477EC24-2164-E54D-9909-D2FAA48F191B}" type="presOf" srcId="{866957F2-E566-1C44-8194-A7A50DA55922}" destId="{BC1D26EF-67F8-C047-B564-FFA3503AAB34}" srcOrd="0" destOrd="0" presId="urn:microsoft.com/office/officeart/2005/8/layout/radial4"/>
    <dgm:cxn modelId="{01ED9134-443E-3F42-B593-42AA89560C59}" srcId="{1916B7DA-BB3A-C144-8E68-A7D6F6717975}" destId="{C630699B-BB2C-274F-AB44-850418BA29B8}" srcOrd="0" destOrd="0" parTransId="{8AF75D75-291A-754B-B3C5-20108A56D926}" sibTransId="{9D41BB77-6F5A-5E4B-A69D-15B8DAF40780}"/>
    <dgm:cxn modelId="{6C2FC43A-12E3-6B4F-A156-F6E4B14F37C1}" type="presOf" srcId="{0B38D7E8-9022-AE47-A18F-2A2DBC82FDE0}" destId="{DB80A343-9A29-FE46-B237-EA7F611AE62B}" srcOrd="0" destOrd="0" presId="urn:microsoft.com/office/officeart/2005/8/layout/radial4"/>
    <dgm:cxn modelId="{12A3CB40-7993-234A-9592-78EA40A9CF0D}" srcId="{1916B7DA-BB3A-C144-8E68-A7D6F6717975}" destId="{66171597-0947-6D4A-8472-1CE9EBD825E3}" srcOrd="2" destOrd="0" parTransId="{0B38D7E8-9022-AE47-A18F-2A2DBC82FDE0}" sibTransId="{E6493CE3-3BAD-3E48-8619-36DCA1253DE5}"/>
    <dgm:cxn modelId="{751EED45-D007-A545-8A74-EAB7F654BE90}" type="presOf" srcId="{5043F95F-6DB3-3843-BB36-145A7E3917A3}" destId="{AD9413F3-1EDC-B045-90FC-28CAE6AF31FF}" srcOrd="0" destOrd="0" presId="urn:microsoft.com/office/officeart/2005/8/layout/radial4"/>
    <dgm:cxn modelId="{2B66FA49-462D-694D-B380-83B1C192C963}" type="presOf" srcId="{03292604-84A6-C64C-9F33-0A85248852CA}" destId="{E280A73B-B2E7-E444-85C1-78C4CAB40982}" srcOrd="0" destOrd="0" presId="urn:microsoft.com/office/officeart/2005/8/layout/radial4"/>
    <dgm:cxn modelId="{BBF3CF6F-3CD3-704E-A92E-ED8ABFF578F9}" type="presOf" srcId="{AC535593-BE36-7D47-9E1D-D3B67BC18138}" destId="{F3401C1B-DBDF-F745-9234-5651AD892BDA}" srcOrd="0" destOrd="0" presId="urn:microsoft.com/office/officeart/2005/8/layout/radial4"/>
    <dgm:cxn modelId="{9CE93390-68A7-DE43-A760-15445301ABF9}" type="presOf" srcId="{C630699B-BB2C-274F-AB44-850418BA29B8}" destId="{1E6DA378-7BB6-0D49-9CF8-9A984F6A001F}" srcOrd="0" destOrd="0" presId="urn:microsoft.com/office/officeart/2005/8/layout/radial4"/>
    <dgm:cxn modelId="{C1EE26A0-B72F-CD40-A4C9-B6230C31193E}" srcId="{F55FEE97-96EB-6D4B-B464-3BCB375446A4}" destId="{1916B7DA-BB3A-C144-8E68-A7D6F6717975}" srcOrd="0" destOrd="0" parTransId="{12BD602E-881D-4C40-83D3-384AEF90A595}" sibTransId="{72667942-5E50-B941-8FF8-49F00FE34451}"/>
    <dgm:cxn modelId="{77FEA3AC-FF10-5046-80A9-E8A224AD8D04}" type="presOf" srcId="{F55FEE97-96EB-6D4B-B464-3BCB375446A4}" destId="{805282F2-83A3-A340-B408-2929F6BC1B56}" srcOrd="0" destOrd="0" presId="urn:microsoft.com/office/officeart/2005/8/layout/radial4"/>
    <dgm:cxn modelId="{D7295EB5-4542-A141-B9C4-E06554C911FC}" type="presOf" srcId="{1916B7DA-BB3A-C144-8E68-A7D6F6717975}" destId="{06E925B0-05AA-0C48-8081-983A5E686CB0}" srcOrd="0" destOrd="0" presId="urn:microsoft.com/office/officeart/2005/8/layout/radial4"/>
    <dgm:cxn modelId="{88BF37BD-953F-324F-9D99-679ED867A7EE}" type="presOf" srcId="{5F0BE9AE-4ED5-B848-8F8B-B90A40EEA002}" destId="{14E967DD-170D-6441-ABE0-4ADB6C74A558}" srcOrd="0" destOrd="0" presId="urn:microsoft.com/office/officeart/2005/8/layout/radial4"/>
    <dgm:cxn modelId="{53B992C2-5FAE-BF44-B9AC-FE6246142BE2}" srcId="{1916B7DA-BB3A-C144-8E68-A7D6F6717975}" destId="{5F0BE9AE-4ED5-B848-8F8B-B90A40EEA002}" srcOrd="4" destOrd="0" parTransId="{866957F2-E566-1C44-8194-A7A50DA55922}" sibTransId="{8A535892-E718-EF4F-9040-A02406CBB4FC}"/>
    <dgm:cxn modelId="{5F3346CB-97C6-0A43-9215-3CD84EC9CDDF}" type="presOf" srcId="{D1EAAFB2-FE2B-0E41-9ED0-D19EB91D5EF3}" destId="{1E650F86-D70D-F24F-96A3-1D39ADE5D0DC}" srcOrd="0" destOrd="0" presId="urn:microsoft.com/office/officeart/2005/8/layout/radial4"/>
    <dgm:cxn modelId="{977D44D3-9709-5C41-8C3E-EDA395C023B9}" type="presOf" srcId="{66171597-0947-6D4A-8472-1CE9EBD825E3}" destId="{1D6BD0F5-923F-6D40-A6A6-BAD39C742544}" srcOrd="0" destOrd="0" presId="urn:microsoft.com/office/officeart/2005/8/layout/radial4"/>
    <dgm:cxn modelId="{9091DBD6-8EE0-D247-A77F-DB4F757C2701}" srcId="{1916B7DA-BB3A-C144-8E68-A7D6F6717975}" destId="{86E455A2-187D-A542-A895-E8BBE9EFF1A6}" srcOrd="3" destOrd="0" parTransId="{D1EAAFB2-FE2B-0E41-9ED0-D19EB91D5EF3}" sibTransId="{FA3BEB5B-E398-0545-9841-4E43723BADF9}"/>
    <dgm:cxn modelId="{055DA4D7-C2D1-9843-8476-955A631EF4BD}" type="presOf" srcId="{8AF75D75-291A-754B-B3C5-20108A56D926}" destId="{B32C7160-A846-5043-A324-1014EAC0FDFF}" srcOrd="0" destOrd="0" presId="urn:microsoft.com/office/officeart/2005/8/layout/radial4"/>
    <dgm:cxn modelId="{1C3F59C8-1509-EF49-8B1C-5B4A017B2CCE}" type="presParOf" srcId="{805282F2-83A3-A340-B408-2929F6BC1B56}" destId="{06E925B0-05AA-0C48-8081-983A5E686CB0}" srcOrd="0" destOrd="0" presId="urn:microsoft.com/office/officeart/2005/8/layout/radial4"/>
    <dgm:cxn modelId="{4A48F4D8-A1D6-1E4A-944C-B55480BCFE2E}" type="presParOf" srcId="{805282F2-83A3-A340-B408-2929F6BC1B56}" destId="{B32C7160-A846-5043-A324-1014EAC0FDFF}" srcOrd="1" destOrd="0" presId="urn:microsoft.com/office/officeart/2005/8/layout/radial4"/>
    <dgm:cxn modelId="{44CBE4EF-B734-0F41-B5A8-F7CF41F21493}" type="presParOf" srcId="{805282F2-83A3-A340-B408-2929F6BC1B56}" destId="{1E6DA378-7BB6-0D49-9CF8-9A984F6A001F}" srcOrd="2" destOrd="0" presId="urn:microsoft.com/office/officeart/2005/8/layout/radial4"/>
    <dgm:cxn modelId="{7C9FA49E-9560-D64F-AA77-42E85514C586}" type="presParOf" srcId="{805282F2-83A3-A340-B408-2929F6BC1B56}" destId="{E280A73B-B2E7-E444-85C1-78C4CAB40982}" srcOrd="3" destOrd="0" presId="urn:microsoft.com/office/officeart/2005/8/layout/radial4"/>
    <dgm:cxn modelId="{8BC496AC-31DB-EC41-ABB1-EA2AC47939C3}" type="presParOf" srcId="{805282F2-83A3-A340-B408-2929F6BC1B56}" destId="{AD9413F3-1EDC-B045-90FC-28CAE6AF31FF}" srcOrd="4" destOrd="0" presId="urn:microsoft.com/office/officeart/2005/8/layout/radial4"/>
    <dgm:cxn modelId="{12FE4D28-195D-B742-A341-0A2C18C8EB9D}" type="presParOf" srcId="{805282F2-83A3-A340-B408-2929F6BC1B56}" destId="{DB80A343-9A29-FE46-B237-EA7F611AE62B}" srcOrd="5" destOrd="0" presId="urn:microsoft.com/office/officeart/2005/8/layout/radial4"/>
    <dgm:cxn modelId="{006D1EC4-2B7A-8C4C-9878-EC9EFE75005B}" type="presParOf" srcId="{805282F2-83A3-A340-B408-2929F6BC1B56}" destId="{1D6BD0F5-923F-6D40-A6A6-BAD39C742544}" srcOrd="6" destOrd="0" presId="urn:microsoft.com/office/officeart/2005/8/layout/radial4"/>
    <dgm:cxn modelId="{CA4129D1-3237-E643-B693-EB5770F09308}" type="presParOf" srcId="{805282F2-83A3-A340-B408-2929F6BC1B56}" destId="{1E650F86-D70D-F24F-96A3-1D39ADE5D0DC}" srcOrd="7" destOrd="0" presId="urn:microsoft.com/office/officeart/2005/8/layout/radial4"/>
    <dgm:cxn modelId="{F8501726-3A66-564B-BBBF-BA5BE0651DDE}" type="presParOf" srcId="{805282F2-83A3-A340-B408-2929F6BC1B56}" destId="{6DE79DAA-632E-024E-A577-4176EA1CB5AF}" srcOrd="8" destOrd="0" presId="urn:microsoft.com/office/officeart/2005/8/layout/radial4"/>
    <dgm:cxn modelId="{51C1DF90-0318-F34C-9772-6157D25936E8}" type="presParOf" srcId="{805282F2-83A3-A340-B408-2929F6BC1B56}" destId="{BC1D26EF-67F8-C047-B564-FFA3503AAB34}" srcOrd="9" destOrd="0" presId="urn:microsoft.com/office/officeart/2005/8/layout/radial4"/>
    <dgm:cxn modelId="{D52774B7-4CE2-824B-90DE-DD963F5EA051}" type="presParOf" srcId="{805282F2-83A3-A340-B408-2929F6BC1B56}" destId="{14E967DD-170D-6441-ABE0-4ADB6C74A558}" srcOrd="10" destOrd="0" presId="urn:microsoft.com/office/officeart/2005/8/layout/radial4"/>
    <dgm:cxn modelId="{33659531-AC47-2547-BA55-A94591B09C0E}" type="presParOf" srcId="{805282F2-83A3-A340-B408-2929F6BC1B56}" destId="{C7798512-C19F-6C47-B242-F9AF7685003E}" srcOrd="11" destOrd="0" presId="urn:microsoft.com/office/officeart/2005/8/layout/radial4"/>
    <dgm:cxn modelId="{1B27A4ED-292A-E543-BA16-DF022ADAFD0E}" type="presParOf" srcId="{805282F2-83A3-A340-B408-2929F6BC1B56}" destId="{F3401C1B-DBDF-F745-9234-5651AD892BDA}" srcOrd="12"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E925B0-05AA-0C48-8081-983A5E686CB0}">
      <dsp:nvSpPr>
        <dsp:cNvPr id="0" name=""/>
        <dsp:cNvSpPr/>
      </dsp:nvSpPr>
      <dsp:spPr>
        <a:xfrm>
          <a:off x="4541830" y="2677694"/>
          <a:ext cx="2121279" cy="2121279"/>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ct val="35000"/>
            </a:spcAft>
            <a:buNone/>
          </a:pPr>
          <a:r>
            <a:rPr lang="en-GB" sz="4800" b="1" kern="1200" dirty="0"/>
            <a:t>PoC</a:t>
          </a:r>
        </a:p>
      </dsp:txBody>
      <dsp:txXfrm>
        <a:off x="4852484" y="2988348"/>
        <a:ext cx="1499971" cy="1499971"/>
      </dsp:txXfrm>
    </dsp:sp>
    <dsp:sp modelId="{B32C7160-A846-5043-A324-1014EAC0FDFF}">
      <dsp:nvSpPr>
        <dsp:cNvPr id="0" name=""/>
        <dsp:cNvSpPr/>
      </dsp:nvSpPr>
      <dsp:spPr>
        <a:xfrm rot="10800000">
          <a:off x="2389077" y="3436051"/>
          <a:ext cx="2034352" cy="604564"/>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E6DA378-7BB6-0D49-9CF8-9A984F6A001F}">
      <dsp:nvSpPr>
        <dsp:cNvPr id="0" name=""/>
        <dsp:cNvSpPr/>
      </dsp:nvSpPr>
      <dsp:spPr>
        <a:xfrm>
          <a:off x="1646629" y="2968475"/>
          <a:ext cx="1484895" cy="153971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Frontend</a:t>
          </a:r>
        </a:p>
        <a:p>
          <a:pPr marL="0" lvl="0" indent="0" algn="l" defTabSz="711200">
            <a:lnSpc>
              <a:spcPct val="90000"/>
            </a:lnSpc>
            <a:spcBef>
              <a:spcPct val="0"/>
            </a:spcBef>
            <a:spcAft>
              <a:spcPct val="35000"/>
            </a:spcAft>
            <a:buNone/>
          </a:pPr>
          <a:r>
            <a:rPr lang="en-GB" sz="1000" b="1" kern="1200" dirty="0" err="1"/>
            <a:t>Streamlit</a:t>
          </a:r>
          <a:endParaRPr lang="en-GB" sz="1000" b="1" kern="1200" dirty="0"/>
        </a:p>
        <a:p>
          <a:pPr marL="0" lvl="0" indent="0" algn="l" defTabSz="711200">
            <a:lnSpc>
              <a:spcPct val="90000"/>
            </a:lnSpc>
            <a:spcBef>
              <a:spcPct val="0"/>
            </a:spcBef>
            <a:spcAft>
              <a:spcPct val="35000"/>
            </a:spcAft>
            <a:buNone/>
          </a:pPr>
          <a:r>
            <a:rPr lang="en-GB" sz="1000" b="0" kern="1200" dirty="0"/>
            <a:t>React</a:t>
          </a:r>
        </a:p>
        <a:p>
          <a:pPr marL="0" lvl="0" indent="0" algn="l" defTabSz="711200">
            <a:lnSpc>
              <a:spcPct val="90000"/>
            </a:lnSpc>
            <a:spcBef>
              <a:spcPct val="0"/>
            </a:spcBef>
            <a:spcAft>
              <a:spcPct val="35000"/>
            </a:spcAft>
            <a:buNone/>
          </a:pPr>
          <a:r>
            <a:rPr lang="en-GB" sz="1000" b="0" kern="1200" dirty="0" err="1"/>
            <a:t>Gradio</a:t>
          </a:r>
          <a:endParaRPr lang="en-GB" sz="1000" b="0" kern="1200" dirty="0"/>
        </a:p>
        <a:p>
          <a:pPr marL="0" lvl="0" indent="0" algn="l" defTabSz="711200">
            <a:lnSpc>
              <a:spcPct val="90000"/>
            </a:lnSpc>
            <a:spcBef>
              <a:spcPct val="0"/>
            </a:spcBef>
            <a:spcAft>
              <a:spcPct val="35000"/>
            </a:spcAft>
            <a:buNone/>
          </a:pPr>
          <a:r>
            <a:rPr lang="en-GB" sz="1000" b="0" kern="1200" dirty="0"/>
            <a:t>HTML/CSS</a:t>
          </a:r>
        </a:p>
      </dsp:txBody>
      <dsp:txXfrm>
        <a:off x="1690120" y="3011966"/>
        <a:ext cx="1397913" cy="1452735"/>
      </dsp:txXfrm>
    </dsp:sp>
    <dsp:sp modelId="{E280A73B-B2E7-E444-85C1-78C4CAB40982}">
      <dsp:nvSpPr>
        <dsp:cNvPr id="0" name=""/>
        <dsp:cNvSpPr/>
      </dsp:nvSpPr>
      <dsp:spPr>
        <a:xfrm rot="12960000">
          <a:off x="2808517" y="2145147"/>
          <a:ext cx="2034352" cy="604564"/>
        </a:xfrm>
        <a:prstGeom prst="leftArrow">
          <a:avLst>
            <a:gd name="adj1" fmla="val 60000"/>
            <a:gd name="adj2" fmla="val 50000"/>
          </a:avLst>
        </a:prstGeom>
        <a:solidFill>
          <a:schemeClr val="accent3">
            <a:hueOff val="1393666"/>
            <a:satOff val="-16950"/>
            <a:lumOff val="458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D9413F3-1EDC-B045-90FC-28CAE6AF31FF}">
      <dsp:nvSpPr>
        <dsp:cNvPr id="0" name=""/>
        <dsp:cNvSpPr/>
      </dsp:nvSpPr>
      <dsp:spPr>
        <a:xfrm>
          <a:off x="2260333" y="1079689"/>
          <a:ext cx="1484895" cy="1539717"/>
        </a:xfrm>
        <a:prstGeom prst="roundRect">
          <a:avLst>
            <a:gd name="adj" fmla="val 10000"/>
          </a:avLst>
        </a:prstGeom>
        <a:solidFill>
          <a:schemeClr val="accent3">
            <a:hueOff val="1393666"/>
            <a:satOff val="-16950"/>
            <a:lumOff val="4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Backend</a:t>
          </a:r>
        </a:p>
        <a:p>
          <a:pPr marL="0" lvl="0" indent="0" algn="l" defTabSz="711200">
            <a:lnSpc>
              <a:spcPct val="100000"/>
            </a:lnSpc>
            <a:spcBef>
              <a:spcPct val="0"/>
            </a:spcBef>
            <a:spcAft>
              <a:spcPct val="35000"/>
            </a:spcAft>
            <a:buNone/>
          </a:pPr>
          <a:r>
            <a:rPr lang="en-GB" sz="1000" b="1" kern="1200" dirty="0" err="1"/>
            <a:t>FastAPI</a:t>
          </a:r>
          <a:endParaRPr lang="en-GB" sz="1000" b="1" kern="1200" dirty="0"/>
        </a:p>
        <a:p>
          <a:pPr marL="0" lvl="0" indent="0" algn="l" defTabSz="711200">
            <a:lnSpc>
              <a:spcPct val="100000"/>
            </a:lnSpc>
            <a:spcBef>
              <a:spcPct val="0"/>
            </a:spcBef>
            <a:spcAft>
              <a:spcPct val="35000"/>
            </a:spcAft>
            <a:buNone/>
          </a:pPr>
          <a:r>
            <a:rPr lang="en-GB" sz="1000" kern="1200" dirty="0"/>
            <a:t>Flask</a:t>
          </a:r>
        </a:p>
        <a:p>
          <a:pPr marL="0" lvl="0" indent="0" algn="l" defTabSz="711200">
            <a:lnSpc>
              <a:spcPct val="100000"/>
            </a:lnSpc>
            <a:spcBef>
              <a:spcPct val="0"/>
            </a:spcBef>
            <a:spcAft>
              <a:spcPct val="35000"/>
            </a:spcAft>
            <a:buNone/>
          </a:pPr>
          <a:r>
            <a:rPr lang="en-GB" sz="1000" kern="1200" dirty="0" err="1"/>
            <a:t>Express.js</a:t>
          </a:r>
          <a:endParaRPr lang="en-GB" sz="1000" kern="1200" dirty="0"/>
        </a:p>
        <a:p>
          <a:pPr marL="0" lvl="0" indent="0" algn="l" defTabSz="711200">
            <a:lnSpc>
              <a:spcPct val="100000"/>
            </a:lnSpc>
            <a:spcBef>
              <a:spcPct val="0"/>
            </a:spcBef>
            <a:spcAft>
              <a:spcPct val="35000"/>
            </a:spcAft>
            <a:buNone/>
          </a:pPr>
          <a:r>
            <a:rPr lang="en-GB" sz="1000" kern="1200" dirty="0"/>
            <a:t>Django</a:t>
          </a:r>
        </a:p>
        <a:p>
          <a:pPr marL="0" lvl="0" indent="0" algn="l" defTabSz="711200">
            <a:lnSpc>
              <a:spcPct val="90000"/>
            </a:lnSpc>
            <a:spcBef>
              <a:spcPct val="0"/>
            </a:spcBef>
            <a:spcAft>
              <a:spcPct val="35000"/>
            </a:spcAft>
            <a:buNone/>
          </a:pPr>
          <a:endParaRPr lang="en-GB" sz="1600" kern="1200" dirty="0"/>
        </a:p>
        <a:p>
          <a:pPr marL="0" lvl="0" indent="0" algn="l" defTabSz="711200">
            <a:lnSpc>
              <a:spcPct val="90000"/>
            </a:lnSpc>
            <a:spcBef>
              <a:spcPct val="0"/>
            </a:spcBef>
            <a:spcAft>
              <a:spcPct val="35000"/>
            </a:spcAft>
            <a:buNone/>
          </a:pPr>
          <a:endParaRPr lang="en-GB" sz="1600" kern="1200" dirty="0"/>
        </a:p>
      </dsp:txBody>
      <dsp:txXfrm>
        <a:off x="2303824" y="1123180"/>
        <a:ext cx="1397913" cy="1452735"/>
      </dsp:txXfrm>
    </dsp:sp>
    <dsp:sp modelId="{DB80A343-9A29-FE46-B237-EA7F611AE62B}">
      <dsp:nvSpPr>
        <dsp:cNvPr id="0" name=""/>
        <dsp:cNvSpPr/>
      </dsp:nvSpPr>
      <dsp:spPr>
        <a:xfrm rot="15120000">
          <a:off x="3906625" y="1347325"/>
          <a:ext cx="2034352" cy="604564"/>
        </a:xfrm>
        <a:prstGeom prst="leftArrow">
          <a:avLst>
            <a:gd name="adj1" fmla="val 60000"/>
            <a:gd name="adj2" fmla="val 50000"/>
          </a:avLst>
        </a:prstGeom>
        <a:solidFill>
          <a:schemeClr val="accent3">
            <a:hueOff val="2787332"/>
            <a:satOff val="-33901"/>
            <a:lumOff val="917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6BD0F5-923F-6D40-A6A6-BAD39C742544}">
      <dsp:nvSpPr>
        <dsp:cNvPr id="0" name=""/>
        <dsp:cNvSpPr/>
      </dsp:nvSpPr>
      <dsp:spPr>
        <a:xfrm>
          <a:off x="3867029" y="-87643"/>
          <a:ext cx="1484895" cy="1539717"/>
        </a:xfrm>
        <a:prstGeom prst="roundRect">
          <a:avLst>
            <a:gd name="adj" fmla="val 10000"/>
          </a:avLst>
        </a:prstGeom>
        <a:solidFill>
          <a:schemeClr val="accent3">
            <a:hueOff val="2787332"/>
            <a:satOff val="-33901"/>
            <a:lumOff val="9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Server</a:t>
          </a:r>
        </a:p>
        <a:p>
          <a:pPr marL="0" lvl="0" indent="0" algn="l" defTabSz="711200">
            <a:lnSpc>
              <a:spcPct val="90000"/>
            </a:lnSpc>
            <a:spcBef>
              <a:spcPct val="0"/>
            </a:spcBef>
            <a:spcAft>
              <a:spcPct val="35000"/>
            </a:spcAft>
            <a:buNone/>
          </a:pPr>
          <a:r>
            <a:rPr lang="en-GB" sz="1000" b="1" kern="1200" dirty="0" err="1"/>
            <a:t>Uvicorn</a:t>
          </a:r>
          <a:endParaRPr lang="en-GB" sz="1000" b="1" kern="1200" dirty="0"/>
        </a:p>
        <a:p>
          <a:pPr marL="0" lvl="0" indent="0" algn="l" defTabSz="711200">
            <a:lnSpc>
              <a:spcPct val="90000"/>
            </a:lnSpc>
            <a:spcBef>
              <a:spcPct val="0"/>
            </a:spcBef>
            <a:spcAft>
              <a:spcPct val="35000"/>
            </a:spcAft>
            <a:buNone/>
          </a:pPr>
          <a:r>
            <a:rPr lang="en-GB" sz="1000" b="0" kern="1200" dirty="0" err="1"/>
            <a:t>Gunicorn</a:t>
          </a:r>
          <a:endParaRPr lang="en-GB" sz="1000" b="0" kern="1200" dirty="0"/>
        </a:p>
        <a:p>
          <a:pPr marL="0" lvl="0" indent="0" algn="l" defTabSz="711200">
            <a:lnSpc>
              <a:spcPct val="90000"/>
            </a:lnSpc>
            <a:spcBef>
              <a:spcPct val="0"/>
            </a:spcBef>
            <a:spcAft>
              <a:spcPct val="35000"/>
            </a:spcAft>
            <a:buNone/>
          </a:pPr>
          <a:r>
            <a:rPr lang="en-GB" sz="1000" b="0" kern="1200" dirty="0"/>
            <a:t>Node.js</a:t>
          </a:r>
        </a:p>
        <a:p>
          <a:pPr marL="0" lvl="0" indent="0" algn="l" defTabSz="711200">
            <a:lnSpc>
              <a:spcPct val="90000"/>
            </a:lnSpc>
            <a:spcBef>
              <a:spcPct val="0"/>
            </a:spcBef>
            <a:spcAft>
              <a:spcPct val="35000"/>
            </a:spcAft>
            <a:buNone/>
          </a:pPr>
          <a:r>
            <a:rPr lang="en-GB" sz="1000" b="0" kern="1200" dirty="0"/>
            <a:t>Flask Dev Server</a:t>
          </a:r>
        </a:p>
      </dsp:txBody>
      <dsp:txXfrm>
        <a:off x="3910520" y="-44152"/>
        <a:ext cx="1397913" cy="1452735"/>
      </dsp:txXfrm>
    </dsp:sp>
    <dsp:sp modelId="{1E650F86-D70D-F24F-96A3-1D39ADE5D0DC}">
      <dsp:nvSpPr>
        <dsp:cNvPr id="0" name=""/>
        <dsp:cNvSpPr/>
      </dsp:nvSpPr>
      <dsp:spPr>
        <a:xfrm rot="17280000">
          <a:off x="5263962" y="1347325"/>
          <a:ext cx="2034352" cy="604564"/>
        </a:xfrm>
        <a:prstGeom prst="leftArrow">
          <a:avLst>
            <a:gd name="adj1" fmla="val 60000"/>
            <a:gd name="adj2" fmla="val 50000"/>
          </a:avLst>
        </a:prstGeom>
        <a:solidFill>
          <a:schemeClr val="accent3">
            <a:hueOff val="4180998"/>
            <a:satOff val="-50851"/>
            <a:lumOff val="1376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DE79DAA-632E-024E-A577-4176EA1CB5AF}">
      <dsp:nvSpPr>
        <dsp:cNvPr id="0" name=""/>
        <dsp:cNvSpPr/>
      </dsp:nvSpPr>
      <dsp:spPr>
        <a:xfrm>
          <a:off x="5853015" y="-87643"/>
          <a:ext cx="1484895" cy="1539717"/>
        </a:xfrm>
        <a:prstGeom prst="roundRect">
          <a:avLst>
            <a:gd name="adj" fmla="val 10000"/>
          </a:avLst>
        </a:prstGeom>
        <a:solidFill>
          <a:schemeClr val="accent3">
            <a:hueOff val="4180998"/>
            <a:satOff val="-50851"/>
            <a:lumOff val="13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Schema</a:t>
          </a:r>
        </a:p>
        <a:p>
          <a:pPr marL="0" lvl="0" indent="0" algn="l" defTabSz="711200">
            <a:lnSpc>
              <a:spcPct val="90000"/>
            </a:lnSpc>
            <a:spcBef>
              <a:spcPct val="0"/>
            </a:spcBef>
            <a:spcAft>
              <a:spcPct val="35000"/>
            </a:spcAft>
            <a:buNone/>
          </a:pPr>
          <a:r>
            <a:rPr lang="en-GB" sz="1000" b="1" kern="1200" dirty="0" err="1"/>
            <a:t>SQLAlchemy</a:t>
          </a:r>
          <a:endParaRPr lang="en-GB" sz="1000" b="1" kern="1200" dirty="0"/>
        </a:p>
        <a:p>
          <a:pPr marL="0" lvl="0" indent="0" algn="l" defTabSz="711200">
            <a:lnSpc>
              <a:spcPct val="90000"/>
            </a:lnSpc>
            <a:spcBef>
              <a:spcPct val="0"/>
            </a:spcBef>
            <a:spcAft>
              <a:spcPct val="35000"/>
            </a:spcAft>
            <a:buNone/>
          </a:pPr>
          <a:r>
            <a:rPr lang="en-GB" sz="1000" b="0" kern="1200" dirty="0" err="1"/>
            <a:t>Pydantic</a:t>
          </a:r>
          <a:endParaRPr lang="en-GB" sz="1000" b="0" kern="1200" dirty="0"/>
        </a:p>
        <a:p>
          <a:pPr marL="0" lvl="0" indent="0" algn="l" defTabSz="711200">
            <a:lnSpc>
              <a:spcPct val="90000"/>
            </a:lnSpc>
            <a:spcBef>
              <a:spcPct val="0"/>
            </a:spcBef>
            <a:spcAft>
              <a:spcPct val="35000"/>
            </a:spcAft>
            <a:buNone/>
          </a:pPr>
          <a:r>
            <a:rPr lang="en-GB" sz="1000" b="0" kern="1200" dirty="0"/>
            <a:t>Prisma</a:t>
          </a:r>
        </a:p>
        <a:p>
          <a:pPr marL="0" lvl="0" indent="0" algn="l" defTabSz="711200">
            <a:lnSpc>
              <a:spcPct val="90000"/>
            </a:lnSpc>
            <a:spcBef>
              <a:spcPct val="0"/>
            </a:spcBef>
            <a:spcAft>
              <a:spcPct val="35000"/>
            </a:spcAft>
            <a:buNone/>
          </a:pPr>
          <a:r>
            <a:rPr lang="en-GB" sz="1000" b="0" kern="1200" dirty="0" err="1"/>
            <a:t>TypeORM</a:t>
          </a:r>
          <a:endParaRPr lang="en-GB" sz="1000" b="0" kern="1200" dirty="0"/>
        </a:p>
      </dsp:txBody>
      <dsp:txXfrm>
        <a:off x="5896506" y="-44152"/>
        <a:ext cx="1397913" cy="1452735"/>
      </dsp:txXfrm>
    </dsp:sp>
    <dsp:sp modelId="{BC1D26EF-67F8-C047-B564-FFA3503AAB34}">
      <dsp:nvSpPr>
        <dsp:cNvPr id="0" name=""/>
        <dsp:cNvSpPr/>
      </dsp:nvSpPr>
      <dsp:spPr>
        <a:xfrm rot="19440000">
          <a:off x="6362071" y="2145147"/>
          <a:ext cx="2034352" cy="604564"/>
        </a:xfrm>
        <a:prstGeom prst="leftArrow">
          <a:avLst>
            <a:gd name="adj1" fmla="val 60000"/>
            <a:gd name="adj2" fmla="val 50000"/>
          </a:avLst>
        </a:prstGeom>
        <a:solidFill>
          <a:schemeClr val="accent3">
            <a:hueOff val="5574664"/>
            <a:satOff val="-67802"/>
            <a:lumOff val="1835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4E967DD-170D-6441-ABE0-4ADB6C74A558}">
      <dsp:nvSpPr>
        <dsp:cNvPr id="0" name=""/>
        <dsp:cNvSpPr/>
      </dsp:nvSpPr>
      <dsp:spPr>
        <a:xfrm>
          <a:off x="7459712" y="1079689"/>
          <a:ext cx="1484895" cy="1539717"/>
        </a:xfrm>
        <a:prstGeom prst="roundRect">
          <a:avLst>
            <a:gd name="adj" fmla="val 10000"/>
          </a:avLst>
        </a:prstGeom>
        <a:solidFill>
          <a:schemeClr val="accent3">
            <a:hueOff val="5574664"/>
            <a:satOff val="-67802"/>
            <a:lumOff val="18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Database</a:t>
          </a:r>
        </a:p>
        <a:p>
          <a:pPr marL="0" lvl="0" indent="0" algn="l" defTabSz="711200">
            <a:lnSpc>
              <a:spcPct val="90000"/>
            </a:lnSpc>
            <a:spcBef>
              <a:spcPct val="0"/>
            </a:spcBef>
            <a:spcAft>
              <a:spcPct val="35000"/>
            </a:spcAft>
            <a:buNone/>
          </a:pPr>
          <a:r>
            <a:rPr lang="en-GB" sz="1000" b="1" kern="1200" dirty="0"/>
            <a:t>SQLite</a:t>
          </a:r>
        </a:p>
        <a:p>
          <a:pPr marL="0" lvl="0" indent="0" algn="l" defTabSz="711200">
            <a:lnSpc>
              <a:spcPct val="90000"/>
            </a:lnSpc>
            <a:spcBef>
              <a:spcPct val="0"/>
            </a:spcBef>
            <a:spcAft>
              <a:spcPct val="35000"/>
            </a:spcAft>
            <a:buNone/>
          </a:pPr>
          <a:r>
            <a:rPr lang="en-GB" sz="1000" b="0" kern="1200" dirty="0"/>
            <a:t>PostgreSQL</a:t>
          </a:r>
        </a:p>
        <a:p>
          <a:pPr marL="0" lvl="0" indent="0" algn="l" defTabSz="711200">
            <a:lnSpc>
              <a:spcPct val="90000"/>
            </a:lnSpc>
            <a:spcBef>
              <a:spcPct val="0"/>
            </a:spcBef>
            <a:spcAft>
              <a:spcPct val="35000"/>
            </a:spcAft>
            <a:buNone/>
          </a:pPr>
          <a:r>
            <a:rPr lang="en-GB" sz="1000" b="0" kern="1200" dirty="0"/>
            <a:t>MySQL</a:t>
          </a:r>
        </a:p>
        <a:p>
          <a:pPr marL="0" lvl="0" indent="0" algn="l" defTabSz="711200">
            <a:lnSpc>
              <a:spcPct val="90000"/>
            </a:lnSpc>
            <a:spcBef>
              <a:spcPct val="0"/>
            </a:spcBef>
            <a:spcAft>
              <a:spcPct val="35000"/>
            </a:spcAft>
            <a:buNone/>
          </a:pPr>
          <a:r>
            <a:rPr lang="en-GB" sz="1000" b="0" kern="1200" dirty="0"/>
            <a:t>MongoDB</a:t>
          </a:r>
        </a:p>
      </dsp:txBody>
      <dsp:txXfrm>
        <a:off x="7503203" y="1123180"/>
        <a:ext cx="1397913" cy="1452735"/>
      </dsp:txXfrm>
    </dsp:sp>
    <dsp:sp modelId="{C7798512-C19F-6C47-B242-F9AF7685003E}">
      <dsp:nvSpPr>
        <dsp:cNvPr id="0" name=""/>
        <dsp:cNvSpPr/>
      </dsp:nvSpPr>
      <dsp:spPr>
        <a:xfrm>
          <a:off x="6781511" y="3436051"/>
          <a:ext cx="2034352" cy="604564"/>
        </a:xfrm>
        <a:prstGeom prst="leftArrow">
          <a:avLst>
            <a:gd name="adj1" fmla="val 60000"/>
            <a:gd name="adj2" fmla="val 50000"/>
          </a:avLst>
        </a:prstGeom>
        <a:solidFill>
          <a:schemeClr val="accent3">
            <a:hueOff val="6968330"/>
            <a:satOff val="-84752"/>
            <a:lumOff val="2294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3401C1B-DBDF-F745-9234-5651AD892BDA}">
      <dsp:nvSpPr>
        <dsp:cNvPr id="0" name=""/>
        <dsp:cNvSpPr/>
      </dsp:nvSpPr>
      <dsp:spPr>
        <a:xfrm>
          <a:off x="8073416" y="2968475"/>
          <a:ext cx="1484895" cy="1539717"/>
        </a:xfrm>
        <a:prstGeom prst="roundRect">
          <a:avLst>
            <a:gd name="adj" fmla="val 10000"/>
          </a:avLst>
        </a:prstGeom>
        <a:solidFill>
          <a:schemeClr val="accent3">
            <a:hueOff val="6968330"/>
            <a:satOff val="-84752"/>
            <a:lumOff val="2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t" anchorCtr="0">
          <a:noAutofit/>
        </a:bodyPr>
        <a:lstStyle/>
        <a:p>
          <a:pPr marL="0" lvl="0" indent="0" algn="l" defTabSz="711200">
            <a:lnSpc>
              <a:spcPct val="90000"/>
            </a:lnSpc>
            <a:spcBef>
              <a:spcPct val="0"/>
            </a:spcBef>
            <a:spcAft>
              <a:spcPct val="35000"/>
            </a:spcAft>
            <a:buNone/>
          </a:pPr>
          <a:r>
            <a:rPr lang="en-GB" sz="1600" b="1" kern="1200" dirty="0"/>
            <a:t>API Layer</a:t>
          </a:r>
        </a:p>
        <a:p>
          <a:pPr marL="0" lvl="0" indent="0" algn="l" defTabSz="711200">
            <a:lnSpc>
              <a:spcPct val="90000"/>
            </a:lnSpc>
            <a:spcBef>
              <a:spcPct val="0"/>
            </a:spcBef>
            <a:spcAft>
              <a:spcPct val="35000"/>
            </a:spcAft>
            <a:buNone/>
          </a:pPr>
          <a:r>
            <a:rPr lang="en-GB" sz="1000" b="1" kern="1200" dirty="0" err="1"/>
            <a:t>FastAPI</a:t>
          </a:r>
          <a:endParaRPr lang="en-GB" sz="1000" b="1" kern="1200" dirty="0"/>
        </a:p>
        <a:p>
          <a:pPr marL="0" lvl="0" indent="0" algn="l" defTabSz="711200">
            <a:lnSpc>
              <a:spcPct val="90000"/>
            </a:lnSpc>
            <a:spcBef>
              <a:spcPct val="0"/>
            </a:spcBef>
            <a:spcAft>
              <a:spcPct val="35000"/>
            </a:spcAft>
            <a:buNone/>
          </a:pPr>
          <a:r>
            <a:rPr lang="en-GB" sz="1000" b="0" kern="1200" dirty="0"/>
            <a:t>Fast-REST</a:t>
          </a:r>
        </a:p>
        <a:p>
          <a:pPr marL="0" lvl="0" indent="0" algn="l" defTabSz="711200">
            <a:lnSpc>
              <a:spcPct val="90000"/>
            </a:lnSpc>
            <a:spcBef>
              <a:spcPct val="0"/>
            </a:spcBef>
            <a:spcAft>
              <a:spcPct val="35000"/>
            </a:spcAft>
            <a:buNone/>
          </a:pPr>
          <a:r>
            <a:rPr lang="en-GB" sz="1000" b="0" kern="1200" dirty="0" err="1"/>
            <a:t>Express.js</a:t>
          </a:r>
          <a:endParaRPr lang="en-GB" sz="1000" b="0" kern="1200" dirty="0"/>
        </a:p>
        <a:p>
          <a:pPr marL="0" lvl="0" indent="0" algn="l" defTabSz="711200">
            <a:lnSpc>
              <a:spcPct val="90000"/>
            </a:lnSpc>
            <a:spcBef>
              <a:spcPct val="0"/>
            </a:spcBef>
            <a:spcAft>
              <a:spcPct val="35000"/>
            </a:spcAft>
            <a:buNone/>
          </a:pPr>
          <a:r>
            <a:rPr lang="en-GB" sz="1000" b="0" kern="1200" dirty="0"/>
            <a:t>Django RESR Framework</a:t>
          </a:r>
        </a:p>
      </dsp:txBody>
      <dsp:txXfrm>
        <a:off x="8116907" y="3011966"/>
        <a:ext cx="1397913" cy="1452735"/>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9525402"/>
      </p:ext>
    </p:extLst>
  </p:cSld>
  <p:clrMap bg1="lt1" tx1="dk1" bg2="lt2" tx2="dk2" accent1="accent1" accent2="accent2" accent3="accent3" accent4="accent4" accent5="accent5" accent6="accent6" hlink="hlink" folHlink="folHlink"/>
  <p:notesStyle>
    <a:lvl1pPr marL="0" algn="l" defTabSz="1219261" rtl="0" eaLnBrk="1" latinLnBrk="0" hangingPunct="1">
      <a:defRPr sz="1600" kern="1200">
        <a:solidFill>
          <a:schemeClr val="tx1"/>
        </a:solidFill>
        <a:latin typeface="+mn-lt"/>
        <a:ea typeface="+mn-ea"/>
        <a:cs typeface="+mn-cs"/>
      </a:defRPr>
    </a:lvl1pPr>
    <a:lvl2pPr marL="609630" algn="l" defTabSz="1219261" rtl="0" eaLnBrk="1" latinLnBrk="0" hangingPunct="1">
      <a:defRPr sz="1600" kern="1200">
        <a:solidFill>
          <a:schemeClr val="tx1"/>
        </a:solidFill>
        <a:latin typeface="+mn-lt"/>
        <a:ea typeface="+mn-ea"/>
        <a:cs typeface="+mn-cs"/>
      </a:defRPr>
    </a:lvl2pPr>
    <a:lvl3pPr marL="1219261" algn="l" defTabSz="1219261" rtl="0" eaLnBrk="1" latinLnBrk="0" hangingPunct="1">
      <a:defRPr sz="1600" kern="1200">
        <a:solidFill>
          <a:schemeClr val="tx1"/>
        </a:solidFill>
        <a:latin typeface="+mn-lt"/>
        <a:ea typeface="+mn-ea"/>
        <a:cs typeface="+mn-cs"/>
      </a:defRPr>
    </a:lvl3pPr>
    <a:lvl4pPr marL="1828891" algn="l" defTabSz="1219261" rtl="0" eaLnBrk="1" latinLnBrk="0" hangingPunct="1">
      <a:defRPr sz="1600" kern="1200">
        <a:solidFill>
          <a:schemeClr val="tx1"/>
        </a:solidFill>
        <a:latin typeface="+mn-lt"/>
        <a:ea typeface="+mn-ea"/>
        <a:cs typeface="+mn-cs"/>
      </a:defRPr>
    </a:lvl4pPr>
    <a:lvl5pPr marL="2438522" algn="l" defTabSz="1219261" rtl="0" eaLnBrk="1" latinLnBrk="0" hangingPunct="1">
      <a:defRPr sz="1600" kern="1200">
        <a:solidFill>
          <a:schemeClr val="tx1"/>
        </a:solidFill>
        <a:latin typeface="+mn-lt"/>
        <a:ea typeface="+mn-ea"/>
        <a:cs typeface="+mn-cs"/>
      </a:defRPr>
    </a:lvl5pPr>
    <a:lvl6pPr marL="3048152" algn="l" defTabSz="1219261" rtl="0" eaLnBrk="1" latinLnBrk="0" hangingPunct="1">
      <a:defRPr sz="1600" kern="1200">
        <a:solidFill>
          <a:schemeClr val="tx1"/>
        </a:solidFill>
        <a:latin typeface="+mn-lt"/>
        <a:ea typeface="+mn-ea"/>
        <a:cs typeface="+mn-cs"/>
      </a:defRPr>
    </a:lvl6pPr>
    <a:lvl7pPr marL="3657783" algn="l" defTabSz="1219261" rtl="0" eaLnBrk="1" latinLnBrk="0" hangingPunct="1">
      <a:defRPr sz="1600" kern="1200">
        <a:solidFill>
          <a:schemeClr val="tx1"/>
        </a:solidFill>
        <a:latin typeface="+mn-lt"/>
        <a:ea typeface="+mn-ea"/>
        <a:cs typeface="+mn-cs"/>
      </a:defRPr>
    </a:lvl7pPr>
    <a:lvl8pPr marL="4267413" algn="l" defTabSz="1219261" rtl="0" eaLnBrk="1" latinLnBrk="0" hangingPunct="1">
      <a:defRPr sz="1600" kern="1200">
        <a:solidFill>
          <a:schemeClr val="tx1"/>
        </a:solidFill>
        <a:latin typeface="+mn-lt"/>
        <a:ea typeface="+mn-ea"/>
        <a:cs typeface="+mn-cs"/>
      </a:defRPr>
    </a:lvl8pPr>
    <a:lvl9pPr marL="4877044" algn="l" defTabSz="1219261"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536564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through the three recap columns briskly. Use this slide to surface any gaps before the build starts.</a:t>
            </a:r>
          </a:p>
          <a:p>
            <a:endParaRPr lang="en-IN"/>
          </a:p>
          <a:p>
            <a:r>
              <a:rPr lang="en-IN" b="1"/>
              <a:t>How to do</a:t>
            </a:r>
            <a:br>
              <a:rPr lang="en-IN"/>
            </a:br>
            <a:r>
              <a:rPr lang="en-IN"/>
              <a:t>Say: "These are the things you should have walked away with from Session 1. Let's do a quick check." Point to each column and read the checkmarks at a steady pace. Then ask: "Anything on this list that doesn't feel solid yet?" Pause and let people respond. If someone flags </a:t>
            </a:r>
            <a:r>
              <a:rPr lang="en-IN" err="1"/>
              <a:t>CLAUDE.md</a:t>
            </a:r>
            <a:r>
              <a:rPr lang="en-IN"/>
              <a:t> or the scaffold prompt, spend 2 minutes addressing it. Do not let gaps go unacknowledged because they will surface as blockers during the build.</a:t>
            </a:r>
          </a:p>
          <a:p>
            <a:endParaRPr lang="en-IN"/>
          </a:p>
          <a:p>
            <a:r>
              <a:rPr lang="en-IN" b="1"/>
              <a:t>Transition</a:t>
            </a:r>
            <a:br>
              <a:rPr lang="en-IN"/>
            </a:br>
            <a:r>
              <a:rPr lang="en-IN"/>
              <a:t>"Good. Here is exactly what you are going to have built by the end of this session."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deliverables. Make each one feel concrete and achievable, not aspirational.</a:t>
            </a:r>
          </a:p>
          <a:p>
            <a:endParaRPr lang="en-IN"/>
          </a:p>
          <a:p>
            <a:r>
              <a:rPr lang="en-IN" b="1"/>
              <a:t>How to do</a:t>
            </a:r>
            <a:br>
              <a:rPr lang="en-IN"/>
            </a:br>
            <a:r>
              <a:rPr lang="en-IN"/>
              <a:t>Point to each card in turn. "PoC Brief and </a:t>
            </a:r>
            <a:r>
              <a:rPr lang="en-IN" err="1"/>
              <a:t>CLAUDE.md</a:t>
            </a:r>
            <a:r>
              <a:rPr lang="en-IN"/>
              <a:t>: scoped, testable, and ready to build from. This is the foundation. If this is weak, everything that comes after is harder." "Working PoC: running code that answers a real business question. Not a toy. Not a template. Something that does something useful." "README and Git commit: documented and version-controlled. Handoff-ready from day one." "Demo-ready output: showable to a non-technical stakeholder right now. Not in a week after polish." Then read the footer line out loud: "One session. One real PoC. Yours to keep and build on in Sessions 3 and 4.”</a:t>
            </a:r>
          </a:p>
          <a:p>
            <a:endParaRPr lang="en-IN"/>
          </a:p>
          <a:p>
            <a:r>
              <a:rPr lang="en-IN" b="1"/>
              <a:t>Transition</a:t>
            </a:r>
            <a:br>
              <a:rPr lang="en-IN"/>
            </a:br>
            <a:r>
              <a:rPr lang="en-IN"/>
              <a:t>"Here is what you will be able to do after today."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each outcome. Briefly connect each one to what the session will cover.</a:t>
            </a:r>
          </a:p>
          <a:p>
            <a:endParaRPr lang="en-IN"/>
          </a:p>
          <a:p>
            <a:r>
              <a:rPr lang="en-IN" b="1"/>
              <a:t>How to do</a:t>
            </a:r>
            <a:br>
              <a:rPr lang="en-IN"/>
            </a:br>
            <a:r>
              <a:rPr lang="en-IN"/>
              <a:t>After outcome 1: "The brief is not a formality. It is the document that keeps Claude Code focused so you don't spend 40 minutes fixing scope creep." After outcome 2: "The five-step build loop is the method. You won't use a different approach. You will use this one, repeatedly, until the PoC passes your success criterion." After outcome 3: "Documentation and error handling happen before you commit. Not after." After outcome 4: "The Git commit is the close of the session. It's the signal that the work is real and preserved.”</a:t>
            </a:r>
          </a:p>
          <a:p>
            <a:endParaRPr lang="en-IN"/>
          </a:p>
          <a:p>
            <a:r>
              <a:rPr lang="en-IN" b="1"/>
              <a:t>Transition</a:t>
            </a:r>
            <a:br>
              <a:rPr lang="en-IN"/>
            </a:br>
            <a:r>
              <a:rPr lang="en-IN"/>
              <a:t>"Here is how the time breaks down today."</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 parts and their timings. Set expectations clearly about pacing.</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this as a live energiser before the content starts. Keep it light and fast.</a:t>
            </a:r>
          </a:p>
          <a:p>
            <a:endParaRPr lang="en-IN"/>
          </a:p>
          <a:p>
            <a:r>
              <a:rPr lang="en-IN" b="1"/>
              <a:t>What to ask</a:t>
            </a:r>
            <a:br>
              <a:rPr lang="en-IN"/>
            </a:br>
            <a:r>
              <a:rPr lang="en-IN"/>
              <a:t>"In one word, what does building a PoC feel like right now? Drop it in the chat or shout it out." Collect responses for 60 seconds. Point to the words on the slide and ask: "I see some of you said nervous and some said confident. Both are completely valid. The build loop we're about to learn is specifically designed to reduce the nervous and increase the confident. Let's get into it.”</a:t>
            </a:r>
          </a:p>
          <a:p>
            <a:endParaRPr lang="en-IN"/>
          </a:p>
          <a:p>
            <a:r>
              <a:rPr lang="en-IN" b="1"/>
              <a:t>How to do</a:t>
            </a:r>
            <a:br>
              <a:rPr lang="en-IN"/>
            </a:br>
            <a:r>
              <a:rPr lang="en-IN"/>
              <a:t>Do not dwell on negative responses. Acknowledge the range briefly and move on. The purpose is to prime engagement, not to surface anxiety.</a:t>
            </a:r>
          </a:p>
          <a:p>
            <a:endParaRPr lang="en-IN"/>
          </a:p>
          <a:p>
            <a:r>
              <a:rPr lang="en-IN" b="1"/>
              <a:t>Transition</a:t>
            </a:r>
            <a:br>
              <a:rPr lang="en-IN"/>
            </a:br>
            <a:r>
              <a:rPr lang="en-IN"/>
              <a:t>"Part 1. Scoping and briefing your PoC."</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elements. Use the word "one" deliberately each time, it is the defining constraint of the whole slide.</a:t>
            </a:r>
          </a:p>
          <a:p>
            <a:endParaRPr lang="en-IN"/>
          </a:p>
          <a:p>
            <a:r>
              <a:rPr lang="en-IN" b="1"/>
              <a:t>How to do</a:t>
            </a:r>
            <a:br>
              <a:rPr lang="en-IN"/>
            </a:br>
            <a:r>
              <a:rPr lang="en-IN"/>
              <a:t>Read each element and pause after it. "One user journey. Not two. Not 'and also.' One path, one action, one output." "One integration. People always try to sneak in a second API. They are always wrong to do so." "One testable outcome. Binary. Does it work or not? If you cannot answer that in 60 seconds, rewrite your brief." "Deliberately small scope. Cut it until it fits in a session. Then cut again." Close with: "Everything that does not make this list goes on a backlog. It does not go into today's build.”</a:t>
            </a:r>
          </a:p>
          <a:p>
            <a:endParaRPr lang="en-IN"/>
          </a:p>
          <a:p>
            <a:r>
              <a:rPr lang="en-IN" b="1"/>
              <a:t>Transition</a:t>
            </a:r>
            <a:br>
              <a:rPr lang="en-IN"/>
            </a:br>
            <a:r>
              <a:rPr lang="en-IN"/>
              <a:t>"Before you write the brief, there are some questions worth asking yourself."</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four framing questions. Then ask learners to add their own.</a:t>
            </a:r>
          </a:p>
          <a:p>
            <a:endParaRPr lang="en-IN"/>
          </a:p>
          <a:p>
            <a:r>
              <a:rPr lang="en-IN" b="1"/>
              <a:t>How to do</a:t>
            </a:r>
            <a:br>
              <a:rPr lang="en-IN"/>
            </a:br>
            <a:r>
              <a:rPr lang="en-IN"/>
              <a:t>Read each question and give it a beat. "What business problem am I trying to solve? If you cannot answer this, you are not ready to brief." "Who is the primary user? Not 'the team.' A specific person in a specific moment." "What is the smallest version of this idea that can demonstrate value? Smallest is the operative word." "What information does the solution need? If the data does not exist or is not accessible, the PoC cannot run."</a:t>
            </a:r>
          </a:p>
          <a:p>
            <a:endParaRPr lang="en-IN" b="1"/>
          </a:p>
          <a:p>
            <a:r>
              <a:rPr lang="en-IN" b="1"/>
              <a:t>What to ask</a:t>
            </a:r>
            <a:br>
              <a:rPr lang="en-IN"/>
            </a:br>
            <a:r>
              <a:rPr lang="en-IN"/>
              <a:t>"What other questions do you ask yourself before starting a build? Take 60 seconds and write one down." Take 2 to 3 responses. Acknowledge each one briefly. This builds engagement and surfaces domain-specific thinking from the room.</a:t>
            </a:r>
          </a:p>
          <a:p>
            <a:endParaRPr lang="en-IN" b="1"/>
          </a:p>
          <a:p>
            <a:r>
              <a:rPr lang="en-IN" b="1"/>
              <a:t>Transition</a:t>
            </a:r>
            <a:br>
              <a:rPr lang="en-IN"/>
            </a:br>
            <a:r>
              <a:rPr lang="en-IN"/>
              <a:t>"Now let's put those questions into a brief format you can use every time."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elements using the examples on the slide. This is the core instructional content of Part 1.</a:t>
            </a:r>
          </a:p>
          <a:p>
            <a:endParaRPr lang="en-IN"/>
          </a:p>
          <a:p>
            <a:r>
              <a:rPr lang="en-IN" b="1"/>
              <a:t>How to do</a:t>
            </a:r>
            <a:br>
              <a:rPr lang="en-IN"/>
            </a:br>
            <a:r>
              <a:rPr lang="en-IN"/>
              <a:t>Go element by element. Element 1, What does it do: "One sentence. Active voice. The example on screen does this perfectly. 'A script that reads stale CRM deals and drafts a follow-up email for each one.' Subject, verb, object, output. No more." Element 2, Who uses it: "Name the role and the context. Not 'the sales team.' 'A Sales Executive who runs it on Monday mornings before the pipeline review.' That specificity changes what you build." Element 3, What does success look like: "Testable in under 60 seconds. 'Correctly identifies deals stale 30 plus days and produces a usable email draft for each.' You either got the right deals or you didn't. You either got a draft or you didn't." Element 4, What is out of scope: "This element is as important as the other three. Write it explicitly. 'No email sending. No CRM write-back. No UI. CLI output only.' This is what keeps Claude from expanding scope on you.”</a:t>
            </a:r>
          </a:p>
          <a:p>
            <a:endParaRPr lang="en-I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four mistake/correction pairs. Spend the most time on the first two.</a:t>
            </a:r>
          </a:p>
          <a:p>
            <a:endParaRPr lang="en-IN"/>
          </a:p>
          <a:p>
            <a:r>
              <a:rPr lang="en-IN" b="1"/>
              <a:t>How to do</a:t>
            </a:r>
            <a:br>
              <a:rPr lang="en-IN"/>
            </a:br>
            <a:r>
              <a:rPr lang="en-IN"/>
              <a:t>Mistake 1, Building a product instead of a proof: "The most common one. You start with a PoC and you are suddenly designing a full CRM module. Ask yourself: what is the one question this needs to answer? Build only that." Mistake 2, Not defining done before starting: "If you do not write your success criterion before you open Claude Code, you will not know when to stop. And you will never stop." Mistake 3, Letting Claude expand scope mid-build: "Claude will suggest extras. It is trying to be helpful. When it does, say 'noted, adding to backlog' and carry on. Do not implement suggestions you didn't ask for." Mistake 4, Choosing a toy example: "If you would not actually use the output in your work, pick a different problem. The motivation to finish is much stronger when the output is real.”</a:t>
            </a:r>
          </a:p>
          <a:p>
            <a:endParaRPr lang="en-IN"/>
          </a:p>
          <a:p>
            <a:r>
              <a:rPr lang="en-IN" b="1"/>
              <a:t>Transition</a:t>
            </a:r>
            <a:br>
              <a:rPr lang="en-IN"/>
            </a:br>
            <a:r>
              <a:rPr lang="en-IN"/>
              <a:t>"Now let's see how the brief translates directly into a </a:t>
            </a:r>
            <a:r>
              <a:rPr lang="en-IN" err="1"/>
              <a:t>CLAUDE.md</a:t>
            </a:r>
            <a:r>
              <a:rPr lang="en-IN"/>
              <a: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Present the three problem statements. Give learners 30 seconds to read and identify which one they are using.</a:t>
            </a:r>
          </a:p>
          <a:p>
            <a:endParaRPr lang="en-IN"/>
          </a:p>
          <a:p>
            <a:r>
              <a:rPr lang="en-IN" b="1"/>
              <a:t>How to do</a:t>
            </a:r>
            <a:br>
              <a:rPr lang="en-IN"/>
            </a:br>
            <a:r>
              <a:rPr lang="en-IN"/>
              <a:t>Note: this slide has a placeholder in the deck. Read out whichever three problem statements have been added by the time of delivery. After presenting them, say: "If you brought your own problem from Session 1, you can use that. If not, pick one of these three. The brief format and the build loop work the same regardless of which one you choose.”</a:t>
            </a:r>
          </a:p>
          <a:p>
            <a:endParaRPr lang="en-IN"/>
          </a:p>
          <a:p>
            <a:r>
              <a:rPr lang="en-IN" b="1"/>
              <a:t>Transition</a:t>
            </a:r>
            <a:br>
              <a:rPr lang="en-IN"/>
            </a:br>
            <a:r>
              <a:rPr lang="en-IN"/>
              <a:t>"Before you write your brief, a quick scope check."</a:t>
            </a:r>
          </a:p>
          <a:p>
            <a:endParaRPr lang="en-US"/>
          </a:p>
        </p:txBody>
      </p:sp>
    </p:spTree>
    <p:extLst>
      <p:ext uri="{BB962C8B-B14F-4D97-AF65-F5344CB8AC3E}">
        <p14:creationId xmlns:p14="http://schemas.microsoft.com/office/powerpoint/2010/main" val="4229987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C258-9853-C056-8FD4-326EC46DB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580DE-8C5C-92E1-1CC6-02CB627AB573}"/>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07DFBB2-72FA-624B-6EA4-9F5757916F31}"/>
              </a:ext>
            </a:extLst>
          </p:cNvPr>
          <p:cNvSpPr>
            <a:spLocks noGrp="1"/>
          </p:cNvSpPr>
          <p:nvPr>
            <p:ph type="body" idx="1"/>
          </p:nvPr>
        </p:nvSpPr>
        <p:spPr>
          <a:xfrm>
            <a:off x="514350" y="4400550"/>
            <a:ext cx="4114800" cy="3600450"/>
          </a:xfrm>
          <a:prstGeom prst="rect">
            <a:avLst/>
          </a:prstGeom>
        </p:spPr>
        <p:txBody>
          <a:bodyPr/>
          <a:lstStyle/>
          <a:p>
            <a:r>
              <a:rPr lang="en-IN" b="1"/>
              <a:t>What to do</a:t>
            </a:r>
            <a:br>
              <a:rPr lang="en-IN"/>
            </a:br>
            <a:r>
              <a:rPr lang="en-IN"/>
              <a:t>Present the three problem statements. Give learners 30 seconds to read and identify which one they are using.</a:t>
            </a:r>
          </a:p>
          <a:p>
            <a:endParaRPr lang="en-IN"/>
          </a:p>
          <a:p>
            <a:r>
              <a:rPr lang="en-IN" b="1"/>
              <a:t>How to do</a:t>
            </a:r>
            <a:br>
              <a:rPr lang="en-IN"/>
            </a:br>
            <a:r>
              <a:rPr lang="en-IN"/>
              <a:t>Note: this slide has a placeholder in the deck. Read out whichever three problem statements have been added by the time of delivery. After presenting them, say: "If you brought your own problem from Session 1, you can use that. If not, pick one of these three. The brief format and the build loop work the same regardless of which one you choose.”</a:t>
            </a:r>
          </a:p>
          <a:p>
            <a:endParaRPr lang="en-IN"/>
          </a:p>
          <a:p>
            <a:r>
              <a:rPr lang="en-IN" b="1"/>
              <a:t>Transition</a:t>
            </a:r>
            <a:br>
              <a:rPr lang="en-IN"/>
            </a:br>
            <a:r>
              <a:rPr lang="en-IN"/>
              <a:t>"Before you write your brief, a quick scope check."</a:t>
            </a:r>
          </a:p>
          <a:p>
            <a:endParaRPr lang="en-US"/>
          </a:p>
        </p:txBody>
      </p:sp>
    </p:spTree>
    <p:extLst>
      <p:ext uri="{BB962C8B-B14F-4D97-AF65-F5344CB8AC3E}">
        <p14:creationId xmlns:p14="http://schemas.microsoft.com/office/powerpoint/2010/main" val="3901173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54059-9143-FDAB-8CFB-2B1223DF7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8041E-04F8-C1FB-18F9-62C25DA7A6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A453F-85F7-343B-6E7B-1B640A1AF6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B40B53A-650A-2D84-29DA-B588BB69560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347297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the lab. Give clear time guidance. Circulate actively. </a:t>
            </a:r>
            <a:r>
              <a:rPr lang="en-IN" b="1"/>
              <a:t>You will be building the </a:t>
            </a:r>
            <a:r>
              <a:rPr lang="en-IN" b="1" err="1"/>
              <a:t>Claude.md</a:t>
            </a:r>
            <a:r>
              <a:rPr lang="en-IN" b="1"/>
              <a:t> of your own problem statement and learners will follow you and build their </a:t>
            </a:r>
            <a:r>
              <a:rPr lang="en-IN" b="1" err="1"/>
              <a:t>Claude.md</a:t>
            </a:r>
            <a:r>
              <a:rPr lang="en-IN" b="1"/>
              <a:t> for their </a:t>
            </a:r>
            <a:r>
              <a:rPr lang="en-IN" b="1" err="1"/>
              <a:t>choosen</a:t>
            </a:r>
            <a:r>
              <a:rPr lang="en-IN" b="1"/>
              <a:t> problem statement.</a:t>
            </a:r>
          </a:p>
          <a:p>
            <a:endParaRPr lang="en-IN"/>
          </a:p>
          <a:p>
            <a:r>
              <a:rPr lang="en-IN" b="1"/>
              <a:t>How to do</a:t>
            </a:r>
            <a:br>
              <a:rPr lang="en-IN"/>
            </a:br>
            <a:r>
              <a:rPr lang="en-IN"/>
              <a:t>Say: "Four steps. First, open your brief template and fill in the four elements for your chosen problem. One sentence per element." "Second, apply the three scope questions. If any answer is no, revise before moving on." "Third, run /</a:t>
            </a:r>
            <a:r>
              <a:rPr lang="en-IN" err="1"/>
              <a:t>init</a:t>
            </a:r>
            <a:r>
              <a:rPr lang="en-IN"/>
              <a:t> to generate a starter </a:t>
            </a:r>
            <a:r>
              <a:rPr lang="en-IN" err="1"/>
              <a:t>CLAUDE.md</a:t>
            </a:r>
            <a:r>
              <a:rPr lang="en-IN"/>
              <a:t>, then edit it using your brief as the source of truth." "Fourth, and this is the verification step: ask Claude to name your project purpose and one constraint, without reading any file. If it gets it right, </a:t>
            </a:r>
            <a:r>
              <a:rPr lang="en-IN" err="1"/>
              <a:t>CLAUDE.md</a:t>
            </a:r>
            <a:r>
              <a:rPr lang="en-IN"/>
              <a:t> is working. If it gets it wrong, something is off." Give 10 minutes. Circulate. If someone is stuck on the brief, ask them: "What is the one thing your PoC needs to prove? Start there." After time is up, bring the group back and confirm: "Everyone should now have a brief that passes the three questions and a working </a:t>
            </a:r>
            <a:r>
              <a:rPr lang="en-IN" err="1"/>
              <a:t>CLAUDE.md</a:t>
            </a:r>
            <a:r>
              <a:rPr lang="en-IN"/>
              <a:t>. If you don't, flag me now. We will not start the build without both.”</a:t>
            </a:r>
          </a:p>
          <a:p>
            <a:endParaRPr lang="en-IN"/>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all five steps clearly. This is the most important instructional slide in the session.</a:t>
            </a:r>
          </a:p>
          <a:p>
            <a:endParaRPr lang="en-IN"/>
          </a:p>
          <a:p>
            <a:r>
              <a:rPr lang="en-IN" b="1"/>
              <a:t>How to do</a:t>
            </a:r>
            <a:br>
              <a:rPr lang="en-IN"/>
            </a:br>
            <a:r>
              <a:rPr lang="en-IN"/>
              <a:t>Step 1, Prompt: "Specific. Scoped. Name the file, the function, and the output format. If you do not name the file, Claude chooses one. It may choose wrong." Step 2, Claude Writes: "Claude generates diffs. Do not accept everything. Read what it proposes. Reject anything you did not ask for." Step 3, Run and Test: "Execute the code. Actually run it. Do not read the code and decide it looks right. Run it." Step 4, Describe What's Wrong: "Paste the full error with one sentence of context. What you were trying to do. Not just the error message." Step 5, Claude Fixes: "Review the fix. Run again. Do not accept a fix without running it." Read the closer out loud: "Repeat until the code passes your success criterion, not until it feels done." Ask: "What does 'feels done' usually mean?" Let someone answer. Usually: it runs without crashing. Say: "Running without crashing is not passing your success criterion. Go back to the brief.”</a:t>
            </a:r>
          </a:p>
          <a:p>
            <a:endParaRPr lang="en-IN"/>
          </a:p>
          <a:p>
            <a:r>
              <a:rPr lang="en-IN" b="1"/>
              <a:t>Transition</a:t>
            </a:r>
            <a:br>
              <a:rPr lang="en-IN"/>
            </a:br>
            <a:r>
              <a:rPr lang="en-IN"/>
              <a:t>"Most </a:t>
            </a:r>
            <a:r>
              <a:rPr lang="en-IN" err="1"/>
              <a:t>PoCs</a:t>
            </a:r>
            <a:r>
              <a:rPr lang="en-IN"/>
              <a:t> involve an API call. Here is how to handle that with Claude."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 output options. Ask learners to identify which one fits their PoC.</a:t>
            </a:r>
          </a:p>
          <a:p>
            <a:endParaRPr lang="en-IN"/>
          </a:p>
          <a:p>
            <a:r>
              <a:rPr lang="en-IN" b="1"/>
              <a:t>How to do</a:t>
            </a:r>
            <a:br>
              <a:rPr lang="en-IN"/>
            </a:br>
            <a:r>
              <a:rPr lang="en-IN"/>
              <a:t>CLI Output: "Formatted terminal output. Best for internal demos and technical stakeholders. The prompt is on screen, use it." Simple Front-end: "A minimal </a:t>
            </a:r>
            <a:r>
              <a:rPr lang="en-IN" err="1"/>
              <a:t>Streamlit</a:t>
            </a:r>
            <a:r>
              <a:rPr lang="en-IN"/>
              <a:t> app or HTML page. Best for client demos and non-technical stakeholders. You do not need to know how to build a front-end. Claude does." Formatted Report: "A markdown file saved to disk. Best for async review or something you need to email. Readable without running anything." Ask: "Which of these three fits what you are building? Make a decision now, before you start, and add it to your </a:t>
            </a:r>
            <a:r>
              <a:rPr lang="en-IN" err="1"/>
              <a:t>CLAUDE.md</a:t>
            </a:r>
            <a:r>
              <a:rPr lang="en-IN"/>
              <a:t>." Give 30 seconds.</a:t>
            </a:r>
          </a:p>
          <a:p>
            <a:endParaRPr lang="en-IN"/>
          </a:p>
          <a:p>
            <a:r>
              <a:rPr lang="en-IN" b="1"/>
              <a:t>Transition</a:t>
            </a:r>
            <a:br>
              <a:rPr lang="en-IN"/>
            </a:br>
            <a:r>
              <a:rPr lang="en-IN"/>
              <a:t>"Right. I'm going to demo the loop first. Then it's your turn."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the trainer demo first, then launch the learner build. Give clear progress checkpoints.</a:t>
            </a:r>
          </a:p>
          <a:p>
            <a:endParaRPr lang="en-IN"/>
          </a:p>
          <a:p>
            <a:r>
              <a:rPr lang="en-IN" b="1"/>
              <a:t>How to do</a:t>
            </a:r>
            <a:br>
              <a:rPr lang="en-IN"/>
            </a:br>
            <a:r>
              <a:rPr lang="en-IN"/>
              <a:t>Before launching the lab, demo the first two steps of the build loop live on your own PoC or one of the problem statements. Narrate every action: "I'm writing my scaffold prompt now. I'm naming the file, the function, the inputs, the outputs." "I'm reviewing the diff before accepting. Here is a line I'm going to reject because I didn't ask for it." Then hand it over: "Your turn. Five steps, same as I just showed you. The goal for Part 1 is a working core. Main function runs. Produces the right output, even if rough." Give 25 to 30 minutes. Circulate. If someone is stuck, ask: "What did your scaffold prompt look like? Did you name the file and the output format?" After time is up, check in: "Who has a working core? Who is still stuck?" Do not move to Part 3 until the majority have a running core. If people are behind, give 5 more minutes.</a:t>
            </a:r>
          </a:p>
          <a:p>
            <a:endParaRPr lang="en-IN"/>
          </a:p>
          <a:p>
            <a:r>
              <a:rPr lang="en-IN" b="1"/>
              <a:t>What to ask</a:t>
            </a:r>
            <a:br>
              <a:rPr lang="en-IN"/>
            </a:br>
            <a:r>
              <a:rPr lang="en-IN"/>
              <a:t>"What was the first error you hit? What did you paste back into Claude?"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Make the case for writing the README before the build is fully complete. Then share the README prompt.</a:t>
            </a:r>
          </a:p>
          <a:p>
            <a:endParaRPr lang="en-IN"/>
          </a:p>
          <a:p>
            <a:r>
              <a:rPr lang="en-IN" b="1"/>
              <a:t>How to do</a:t>
            </a:r>
            <a:br>
              <a:rPr lang="en-IN"/>
            </a:br>
            <a:r>
              <a:rPr lang="en-IN"/>
              <a:t>Walk through the three reasons on the slide. "It forces scope clarity. If you cannot describe what it does in one paragraph, it is not done." "It makes handoff instant. Engineering, a colleague, future you. No briefing required." "It confirms the build. Writing the README often reveals that Claude built something slightly different from what you intended. Better to find that now." Then point to the README prompt on the right: "Run this now. Literally. Open Claude Code and run this prompt while I am still talking." Read it out loud. "Write a </a:t>
            </a:r>
            <a:r>
              <a:rPr lang="en-IN" err="1"/>
              <a:t>README.md</a:t>
            </a:r>
            <a:r>
              <a:rPr lang="en-IN"/>
              <a:t> for this project. Include what it does, who uses it and when, how to install and run it, what a successful run looks like, and what is out of scope." Say: "When it comes back, read it. If anything is wrong or inaccurate, that is what you fix next.”</a:t>
            </a:r>
          </a:p>
          <a:p>
            <a:endParaRPr lang="en-IN"/>
          </a:p>
          <a:p>
            <a:r>
              <a:rPr lang="en-IN" b="1"/>
              <a:t>Transition</a:t>
            </a:r>
            <a:br>
              <a:rPr lang="en-IN"/>
            </a:br>
            <a:r>
              <a:rPr lang="en-IN"/>
              <a:t>"Now add the error handling that stops your demo from breaking at the worst possible moment."</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 error scenarios and the prompts for each. Make the Without/With contrast vivid.</a:t>
            </a:r>
          </a:p>
          <a:p>
            <a:endParaRPr lang="en-IN"/>
          </a:p>
          <a:p>
            <a:r>
              <a:rPr lang="en-IN" b="1"/>
              <a:t>How to do</a:t>
            </a:r>
            <a:br>
              <a:rPr lang="en-IN"/>
            </a:br>
            <a:r>
              <a:rPr lang="en-IN"/>
              <a:t>Scenario 1, Invalid or missing input: "Without handling, your script crashes with an unreadable stack trace. With handling, the user gets a clear message: what was expected, what was received." Read the prompt: "Add input validation. If this input is missing or invalid, print a clear error and exit gracefully." Scenario 2, API or service unavailable: "Without handling, you get a timeout with no explanation. With handling, you know what was tried, that it failed, and what to check." Read the prompt. Scenario 3, Empty or unexpected response: "Without handling, you get a </a:t>
            </a:r>
            <a:r>
              <a:rPr lang="en-IN" err="1"/>
              <a:t>KeyError</a:t>
            </a:r>
            <a:r>
              <a:rPr lang="en-IN"/>
              <a:t> mid-execution. With handling, it logs the empty response and exits cleanly." Read the prompt. Close: "These three scenarios cover the vast majority of live demo failures. Run all three prompts before you commit.”</a:t>
            </a:r>
          </a:p>
          <a:p>
            <a:endParaRPr lang="en-IN"/>
          </a:p>
          <a:p>
            <a:r>
              <a:rPr lang="en-IN" b="1"/>
              <a:t>Transition</a:t>
            </a:r>
            <a:br>
              <a:rPr lang="en-IN"/>
            </a:br>
            <a:r>
              <a:rPr lang="en-IN"/>
              <a:t>"One more thing: knowing when you are done."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prompt and the three classification categories.</a:t>
            </a:r>
          </a:p>
          <a:p>
            <a:endParaRPr lang="en-IN"/>
          </a:p>
          <a:p>
            <a:r>
              <a:rPr lang="en-IN" b="1"/>
              <a:t>How to do</a:t>
            </a:r>
            <a:br>
              <a:rPr lang="en-IN"/>
            </a:br>
            <a:r>
              <a:rPr lang="en-IN"/>
              <a:t>Read the prompt out loud: "What are the top 3 things most likely to break or fail in a live demo of this PoC? Be specific." Say: "Run this right now. 30 seconds. It will come back with three things." Then walk the classification: "Blocking means it breaks the demo entirely. Fix it before you commit." "Deferrable means it is an edge case unlikely to surface in a controlled demo. Note it in the README. Move on." "Known Limitation means it is out of scope by design. Confirm it is already in your Out of Scope list." Close: "The self-review is not optional. It is the difference between a demo that holds up under questions and one that crashes on the second slide.”</a:t>
            </a:r>
          </a:p>
          <a:p>
            <a:endParaRPr lang="en-IN"/>
          </a:p>
          <a:p>
            <a:r>
              <a:rPr lang="en-IN" b="1"/>
              <a:t>Transition</a:t>
            </a:r>
            <a:br>
              <a:rPr lang="en-IN"/>
            </a:br>
            <a:r>
              <a:rPr lang="en-IN"/>
              <a:t>"Now commit the work."</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Walk through the three-step commit process. Narrate each command.</a:t>
            </a:r>
          </a:p>
          <a:p>
            <a:endParaRPr lang="en-IN"/>
          </a:p>
          <a:p>
            <a:r>
              <a:rPr lang="en-IN" b="1"/>
              <a:t>How to do</a:t>
            </a:r>
            <a:br>
              <a:rPr lang="en-IN"/>
            </a:br>
            <a:r>
              <a:rPr lang="en-IN"/>
              <a:t>Step 1: "Ask Claude to write the commit message. The exact prompt is on screen. Read what comes back. Edit it if it is vague or inaccurate. A good commit message tells anyone looking at the log exactly what this PoC does and what it does not do." Step 2: "Run git status before git add dot. Check what files are staged. Only stage files you intended to change. If something unexpected is there, investigate before staging." Step 3: "Commit with the generated message. Copy it exactly. This PoC continues in Sessions 3 and 4. A clear message matters more than you think right now." Close: "The commit is the signal that the work is real. It is not just saved on your machine. It is in version control. It survives the session."</a:t>
            </a:r>
          </a:p>
          <a:p>
            <a:endParaRPr lang="en-IN" b="1"/>
          </a:p>
          <a:p>
            <a:r>
              <a:rPr lang="en-IN" b="1"/>
              <a:t>Transition</a:t>
            </a:r>
            <a:br>
              <a:rPr lang="en-IN"/>
            </a:br>
            <a:r>
              <a:rPr lang="en-IN"/>
              <a:t>"Let's pull it all together in the final hands-on."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Run the lab. This is the close of the session's hands-on work. Give clear time guidance.</a:t>
            </a:r>
          </a:p>
          <a:p>
            <a:endParaRPr lang="en-IN"/>
          </a:p>
          <a:p>
            <a:r>
              <a:rPr lang="en-IN" b="1"/>
              <a:t>How to do</a:t>
            </a:r>
            <a:br>
              <a:rPr lang="en-IN"/>
            </a:br>
            <a:r>
              <a:rPr lang="en-IN"/>
              <a:t>Say: "Five steps. You should have the core from Part 1. Now close the loop." Walk each step: "Step 1, finish any incomplete core logic. One clean output." "Step 2, run the self-review prompt. Fix anything blocking. Note deferrable items in the README." "Step 3, generate and review the README. Fix any inaccuracies before saving." "Step 4, run the three error handling prompts on your most likely failure points." "Step 5, generate the commit message, stage files, commit. You are done for Session 2." Give 20 to 25 minutes. The success criteria are on screen. Circulate and check that people are actually running the commands, not just reading the slide. After time is up, call the room back.</a:t>
            </a:r>
          </a:p>
          <a:p>
            <a:endParaRPr lang="en-IN"/>
          </a:p>
          <a:p>
            <a:r>
              <a:rPr lang="en-IN" b="1"/>
              <a:t>What to ask</a:t>
            </a:r>
            <a:br>
              <a:rPr lang="en-IN"/>
            </a:br>
            <a:r>
              <a:rPr lang="en-IN"/>
              <a:t>"What did the self-review prompt surface that you hadn't thought of?" Take two to three answers. These are usually the most interesting moments of the session.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Ask for one or two volunteers to demo their PoC live. Keep it strict on time.</a:t>
            </a:r>
          </a:p>
          <a:p>
            <a:endParaRPr lang="en-IN"/>
          </a:p>
          <a:p>
            <a:r>
              <a:rPr lang="en-IN" b="1"/>
              <a:t>What to ask</a:t>
            </a:r>
            <a:br>
              <a:rPr lang="en-IN"/>
            </a:br>
            <a:r>
              <a:rPr lang="en-IN"/>
              <a:t>"Who wants to go first? 60 seconds. Show it running, not on slides." Let the volunteer run it. Then ask the three debrief questions from the slide: "What question does your PoC answer? Show it running. What would you change with another 30 minutes?" After each demo: "Everyone else, what is one thing you would borrow from what you just saw?”</a:t>
            </a:r>
          </a:p>
          <a:p>
            <a:endParaRPr lang="en-IN"/>
          </a:p>
          <a:p>
            <a:r>
              <a:rPr lang="en-IN" b="1"/>
              <a:t>How to do</a:t>
            </a:r>
            <a:br>
              <a:rPr lang="en-IN"/>
            </a:br>
            <a:r>
              <a:rPr lang="en-IN"/>
              <a:t>Keep the demos brisk. 60 seconds is the constraint. If someone overruns, step in after 75 seconds with: "Let's freeze there. That's exactly enough to get the picture." The goal is to celebrate completion and surface diversity of approaches, not to do a deep technical review.</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Read through all three sections of the recap. Keep the tone celebratory but grounded.</a:t>
            </a:r>
          </a:p>
          <a:p>
            <a:endParaRPr lang="en-IN"/>
          </a:p>
          <a:p>
            <a:r>
              <a:rPr lang="en-IN" b="1"/>
              <a:t>How to do</a:t>
            </a:r>
            <a:br>
              <a:rPr lang="en-IN"/>
            </a:br>
            <a:r>
              <a:rPr lang="en-IN"/>
              <a:t>Go section by section. "Scoped and Briefed: brief written, scope test passed, </a:t>
            </a:r>
            <a:r>
              <a:rPr lang="en-IN" err="1"/>
              <a:t>CLAUDE.md</a:t>
            </a:r>
            <a:r>
              <a:rPr lang="en-IN"/>
              <a:t> created and verified." "Built and Running: working PoC, build loop applied, self-review done, blocking risks addressed." "Documented and Committed: README generated, error handling added, committed to Git." Then read the footer: "This PoC continues in Sessions 3 and 4. Keep it open. You will build on it." Acknowledge the effort: "You just built a working PoC from a plain-English brief in one session. That is something most people in your role have never done."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a:t>What to do</a:t>
            </a:r>
            <a:br>
              <a:rPr lang="en-IN"/>
            </a:br>
            <a:r>
              <a:rPr lang="en-IN"/>
              <a:t>Preview Session 3 concisely. End with the preparation reminder.</a:t>
            </a:r>
          </a:p>
          <a:p>
            <a:endParaRPr lang="en-IN"/>
          </a:p>
          <a:p>
            <a:r>
              <a:rPr lang="en-IN" b="1"/>
              <a:t>How to do</a:t>
            </a:r>
            <a:br>
              <a:rPr lang="en-IN"/>
            </a:br>
            <a:r>
              <a:rPr lang="en-IN"/>
              <a:t>Walk through the three parts briefly. "AI-Assisted Debugging: you will apply a 5-step debug framework to the PoC you just built. Claude becomes your co-pilot for reading stack traces and finding failures." "AI-Assisted Code Review: structured review prompt, severity-ranked issues, fixes applied, review re-run to confirm." "Development Workflows: clean Git history, Claude-generated commit messages, one-page technical overview your engineering team can act on." Read the bring list out loud and point to it: "Bring your committed PoC. Bring your Git branch. Bring your prompt log from today. If any of those three are missing, Session 3 starts with a recovery exercise instead of a build."</a:t>
            </a:r>
          </a:p>
          <a:p>
            <a:endParaRPr lang="en-IN" b="1"/>
          </a:p>
          <a:p>
            <a:r>
              <a:rPr lang="en-IN" b="1"/>
              <a:t>Transition</a:t>
            </a:r>
            <a:br>
              <a:rPr lang="en-IN"/>
            </a:br>
            <a:r>
              <a:rPr lang="en-IN"/>
              <a:t>"Any final questions?"</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2827-54A3-3811-FA38-062EBC9EB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D80E5E-78BA-BA50-1235-43DFA4B0D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EF5A7-F647-7D0C-DAF4-867F57770F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D1D214-A979-1F4A-6BFC-13B7BC353AB8}"/>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8914362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F4784-BD43-E26F-29D2-08FD8143F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F9129-1373-6A97-C8B2-E2EFEA5D2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F7B6A0-B336-D745-767A-65FDD8167C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6B509A-3040-D1B3-2F62-A8407717F3F4}"/>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2914317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4B230-3DDA-B468-AD54-71D32C070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91E3F-7748-4C54-8903-E612314BF4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2C309-B5B7-0BB4-F59E-62EAABF020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97B4E3-81C7-B0C8-BE9B-8FE7DC87449C}"/>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7867459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F28A2-B5E7-7919-4440-5A631F6E4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E629A-C288-553A-A31B-9E671325D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C3458-122C-C29E-BA32-ADE4D3A6E5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D768CB-CC16-4F80-7762-A8867F20B1A0}"/>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932876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C1E90-F370-97CE-3B3F-7A6A99B3E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7212-5745-50FC-A044-812DEB0D8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59D1D-F536-9146-142F-727E89E3C5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490879-2524-B794-0489-8AE9B59C3554}"/>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7851965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C6E99-1E04-652C-D122-B53BD98760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9EFF4-9931-12E8-71A3-AB1ED66B8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A3DA13-5ECE-376B-40C0-A2963CC10A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723682-987E-9EAE-8064-BDA8FFE670DD}"/>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363853297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E956-C5DC-7A3F-22F9-31F77FAB53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FE4857-083B-4242-BF04-741F01B2DA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11399-945A-1C70-B110-BE8ED81CF6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BE6E67-8185-F306-4ECB-67EB6AA6DD2D}"/>
              </a:ext>
            </a:extLst>
          </p:cNvPr>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40056874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3D6F-3BA5-23A6-3B8E-300A21C69EE0}"/>
              </a:ext>
            </a:extLst>
          </p:cNvPr>
          <p:cNvSpPr>
            <a:spLocks noGrp="1"/>
          </p:cNvSpPr>
          <p:nvPr>
            <p:ph type="ctrTitle"/>
          </p:nvPr>
        </p:nvSpPr>
        <p:spPr>
          <a:xfrm>
            <a:off x="1524199" y="1121833"/>
            <a:ext cx="9145191" cy="2387600"/>
          </a:xfrm>
        </p:spPr>
        <p:txBody>
          <a:bodyPr anchor="b"/>
          <a:lstStyle>
            <a:lvl1pPr algn="ctr">
              <a:defRPr sz="8000"/>
            </a:lvl1pPr>
          </a:lstStyle>
          <a:p>
            <a:r>
              <a:rPr lang="en-GB"/>
              <a:t>Click to edit Master title style</a:t>
            </a:r>
            <a:endParaRPr lang="en-US"/>
          </a:p>
        </p:txBody>
      </p:sp>
      <p:sp>
        <p:nvSpPr>
          <p:cNvPr id="3" name="Subtitle 2">
            <a:extLst>
              <a:ext uri="{FF2B5EF4-FFF2-40B4-BE49-F238E27FC236}">
                <a16:creationId xmlns:a16="http://schemas.microsoft.com/office/drawing/2014/main" id="{24928E85-23DD-06DD-3B79-4DF4AC5F5322}"/>
              </a:ext>
            </a:extLst>
          </p:cNvPr>
          <p:cNvSpPr>
            <a:spLocks noGrp="1"/>
          </p:cNvSpPr>
          <p:nvPr>
            <p:ph type="subTitle" idx="1"/>
          </p:nvPr>
        </p:nvSpPr>
        <p:spPr>
          <a:xfrm>
            <a:off x="1524199" y="3602568"/>
            <a:ext cx="9145191" cy="165523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D622E57-74DF-6E4D-06A4-6F1B0975494A}"/>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82FA0D93-F4CE-DC2E-FB3C-4CE68BC8E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1AD5B8-DFEC-431B-CB7D-333F6B0ADB15}"/>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73636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C87C-750F-8ADA-C379-243DAD57095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5ABB84D-8353-9C97-343C-17C3B50832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B1253E-310F-C14C-E0BF-0FAB4E28F760}"/>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0C01F649-3094-B0E1-3136-8E8FCD5AC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374BCF-1B28-CC91-419B-D6EF725AED50}"/>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577066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206A8-1F1B-BD8C-83C6-BF0ED33EE8C3}"/>
              </a:ext>
            </a:extLst>
          </p:cNvPr>
          <p:cNvSpPr>
            <a:spLocks noGrp="1"/>
          </p:cNvSpPr>
          <p:nvPr>
            <p:ph type="title"/>
          </p:nvPr>
        </p:nvSpPr>
        <p:spPr>
          <a:xfrm>
            <a:off x="831959" y="1710267"/>
            <a:ext cx="10516970" cy="2853267"/>
          </a:xfrm>
        </p:spPr>
        <p:txBody>
          <a:bodyPr anchor="b"/>
          <a:lstStyle>
            <a:lvl1pPr>
              <a:defRPr sz="8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4BF3830-592E-4CB4-D12B-351CF89FE6EC}"/>
              </a:ext>
            </a:extLst>
          </p:cNvPr>
          <p:cNvSpPr>
            <a:spLocks noGrp="1"/>
          </p:cNvSpPr>
          <p:nvPr>
            <p:ph type="body" idx="1"/>
          </p:nvPr>
        </p:nvSpPr>
        <p:spPr>
          <a:xfrm>
            <a:off x="831959" y="4588934"/>
            <a:ext cx="10516970" cy="1500717"/>
          </a:xfrm>
        </p:spPr>
        <p:txBody>
          <a:bodyPr/>
          <a:lstStyle>
            <a:lvl1pPr marL="0" indent="0">
              <a:buNone/>
              <a:defRPr sz="3200">
                <a:solidFill>
                  <a:schemeClr val="tx1">
                    <a:tint val="82000"/>
                  </a:schemeClr>
                </a:solidFill>
              </a:defRPr>
            </a:lvl1pPr>
            <a:lvl2pPr marL="609585" indent="0">
              <a:buNone/>
              <a:defRPr sz="2667">
                <a:solidFill>
                  <a:schemeClr val="tx1">
                    <a:tint val="82000"/>
                  </a:schemeClr>
                </a:solidFill>
              </a:defRPr>
            </a:lvl2pPr>
            <a:lvl3pPr marL="1219170" indent="0">
              <a:buNone/>
              <a:defRPr sz="2400">
                <a:solidFill>
                  <a:schemeClr val="tx1">
                    <a:tint val="82000"/>
                  </a:schemeClr>
                </a:solidFill>
              </a:defRPr>
            </a:lvl3pPr>
            <a:lvl4pPr marL="1828754" indent="0">
              <a:buNone/>
              <a:defRPr sz="2133">
                <a:solidFill>
                  <a:schemeClr val="tx1">
                    <a:tint val="82000"/>
                  </a:schemeClr>
                </a:solidFill>
              </a:defRPr>
            </a:lvl4pPr>
            <a:lvl5pPr marL="2438339" indent="0">
              <a:buNone/>
              <a:defRPr sz="2133">
                <a:solidFill>
                  <a:schemeClr val="tx1">
                    <a:tint val="82000"/>
                  </a:schemeClr>
                </a:solidFill>
              </a:defRPr>
            </a:lvl5pPr>
            <a:lvl6pPr marL="3047924" indent="0">
              <a:buNone/>
              <a:defRPr sz="2133">
                <a:solidFill>
                  <a:schemeClr val="tx1">
                    <a:tint val="82000"/>
                  </a:schemeClr>
                </a:solidFill>
              </a:defRPr>
            </a:lvl6pPr>
            <a:lvl7pPr marL="3657509" indent="0">
              <a:buNone/>
              <a:defRPr sz="2133">
                <a:solidFill>
                  <a:schemeClr val="tx1">
                    <a:tint val="82000"/>
                  </a:schemeClr>
                </a:solidFill>
              </a:defRPr>
            </a:lvl7pPr>
            <a:lvl8pPr marL="4267093" indent="0">
              <a:buNone/>
              <a:defRPr sz="2133">
                <a:solidFill>
                  <a:schemeClr val="tx1">
                    <a:tint val="82000"/>
                  </a:schemeClr>
                </a:solidFill>
              </a:defRPr>
            </a:lvl8pPr>
            <a:lvl9pPr marL="4876678" indent="0">
              <a:buNone/>
              <a:defRPr sz="2133">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1A352C-6DC6-C87D-16D0-B1DA1AA34BD5}"/>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5DAB6B1A-361F-6E94-8957-89D8E2B063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ADCA3-8D29-0941-9490-5128D8AB830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45864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FC24E-380E-409B-181A-B70229F6CC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0A656F5-F294-4BD5-4C48-8A2A5F87019C}"/>
              </a:ext>
            </a:extLst>
          </p:cNvPr>
          <p:cNvSpPr>
            <a:spLocks noGrp="1"/>
          </p:cNvSpPr>
          <p:nvPr>
            <p:ph sz="half" idx="1"/>
          </p:nvPr>
        </p:nvSpPr>
        <p:spPr>
          <a:xfrm>
            <a:off x="838309" y="1826684"/>
            <a:ext cx="5156872" cy="43497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44B7A3F-3395-377B-DB82-CB40A43FB739}"/>
              </a:ext>
            </a:extLst>
          </p:cNvPr>
          <p:cNvSpPr>
            <a:spLocks noGrp="1"/>
          </p:cNvSpPr>
          <p:nvPr>
            <p:ph sz="half" idx="2"/>
          </p:nvPr>
        </p:nvSpPr>
        <p:spPr>
          <a:xfrm>
            <a:off x="6198407" y="1826684"/>
            <a:ext cx="5156872" cy="434974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C30B8D3-CF76-1E0F-1FA9-AB33D8704DB4}"/>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6" name="Footer Placeholder 5">
            <a:extLst>
              <a:ext uri="{FF2B5EF4-FFF2-40B4-BE49-F238E27FC236}">
                <a16:creationId xmlns:a16="http://schemas.microsoft.com/office/drawing/2014/main" id="{1113EB13-365D-195E-7274-EADCF93418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65C900-3943-F294-8EA7-A8EA9AF4BB7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3395739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CBBC-8EBF-929E-0B15-4C6D75B1532C}"/>
              </a:ext>
            </a:extLst>
          </p:cNvPr>
          <p:cNvSpPr>
            <a:spLocks noGrp="1"/>
          </p:cNvSpPr>
          <p:nvPr>
            <p:ph type="title"/>
          </p:nvPr>
        </p:nvSpPr>
        <p:spPr>
          <a:xfrm>
            <a:off x="840427" y="366185"/>
            <a:ext cx="10516970" cy="132503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EAC2D12-221B-3D83-FB14-5A4A2DCF542B}"/>
              </a:ext>
            </a:extLst>
          </p:cNvPr>
          <p:cNvSpPr>
            <a:spLocks noGrp="1"/>
          </p:cNvSpPr>
          <p:nvPr>
            <p:ph type="body" idx="1"/>
          </p:nvPr>
        </p:nvSpPr>
        <p:spPr>
          <a:xfrm>
            <a:off x="840427" y="1680634"/>
            <a:ext cx="5158988" cy="825500"/>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GB"/>
              <a:t>Click to edit Master text styles</a:t>
            </a:r>
          </a:p>
        </p:txBody>
      </p:sp>
      <p:sp>
        <p:nvSpPr>
          <p:cNvPr id="4" name="Content Placeholder 3">
            <a:extLst>
              <a:ext uri="{FF2B5EF4-FFF2-40B4-BE49-F238E27FC236}">
                <a16:creationId xmlns:a16="http://schemas.microsoft.com/office/drawing/2014/main" id="{C46D6A35-4E3A-6EEB-D1A9-14C8F8BC96FD}"/>
              </a:ext>
            </a:extLst>
          </p:cNvPr>
          <p:cNvSpPr>
            <a:spLocks noGrp="1"/>
          </p:cNvSpPr>
          <p:nvPr>
            <p:ph sz="half" idx="2"/>
          </p:nvPr>
        </p:nvSpPr>
        <p:spPr>
          <a:xfrm>
            <a:off x="840427" y="2506133"/>
            <a:ext cx="5158988" cy="3683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1A13E71-0DE3-FB42-F717-0615A4E8EB53}"/>
              </a:ext>
            </a:extLst>
          </p:cNvPr>
          <p:cNvSpPr>
            <a:spLocks noGrp="1"/>
          </p:cNvSpPr>
          <p:nvPr>
            <p:ph type="body" sz="quarter" idx="3"/>
          </p:nvPr>
        </p:nvSpPr>
        <p:spPr>
          <a:xfrm>
            <a:off x="6173004" y="1680634"/>
            <a:ext cx="5184393" cy="825500"/>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GB"/>
              <a:t>Click to edit Master text styles</a:t>
            </a:r>
          </a:p>
        </p:txBody>
      </p:sp>
      <p:sp>
        <p:nvSpPr>
          <p:cNvPr id="6" name="Content Placeholder 5">
            <a:extLst>
              <a:ext uri="{FF2B5EF4-FFF2-40B4-BE49-F238E27FC236}">
                <a16:creationId xmlns:a16="http://schemas.microsoft.com/office/drawing/2014/main" id="{739B4324-E2B2-CD77-E7B9-7DB75DD7D619}"/>
              </a:ext>
            </a:extLst>
          </p:cNvPr>
          <p:cNvSpPr>
            <a:spLocks noGrp="1"/>
          </p:cNvSpPr>
          <p:nvPr>
            <p:ph sz="quarter" idx="4"/>
          </p:nvPr>
        </p:nvSpPr>
        <p:spPr>
          <a:xfrm>
            <a:off x="6173004" y="2506133"/>
            <a:ext cx="5184393" cy="3683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1277ED7-0F9F-6C57-1695-514C10E4DDFF}"/>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8" name="Footer Placeholder 7">
            <a:extLst>
              <a:ext uri="{FF2B5EF4-FFF2-40B4-BE49-F238E27FC236}">
                <a16:creationId xmlns:a16="http://schemas.microsoft.com/office/drawing/2014/main" id="{74B8AB22-A818-C14C-A794-E9ED36F433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E6FE9F-1FF4-99F6-5E75-A7A87DA221C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67084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9223-6247-D545-E140-69822E2EB9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22832B-D81F-5259-16D0-01DFB22BE321}"/>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4" name="Footer Placeholder 3">
            <a:extLst>
              <a:ext uri="{FF2B5EF4-FFF2-40B4-BE49-F238E27FC236}">
                <a16:creationId xmlns:a16="http://schemas.microsoft.com/office/drawing/2014/main" id="{BB8C6033-138D-E83F-4677-B27D340553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87AF35-65DB-6263-EC95-8A96F3B63BA3}"/>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517880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C81B68-FA5D-DA85-7CD9-DC5AD45C1E06}"/>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3" name="Footer Placeholder 2">
            <a:extLst>
              <a:ext uri="{FF2B5EF4-FFF2-40B4-BE49-F238E27FC236}">
                <a16:creationId xmlns:a16="http://schemas.microsoft.com/office/drawing/2014/main" id="{F83DB6E2-FA75-973C-DFAA-F6FC56034B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8D0D56-10B8-3FE0-935C-594AF492FCC1}"/>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14412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029B4-EA83-7DCD-9AFD-5F50B7518473}"/>
              </a:ext>
            </a:extLst>
          </p:cNvPr>
          <p:cNvSpPr>
            <a:spLocks noGrp="1"/>
          </p:cNvSpPr>
          <p:nvPr>
            <p:ph type="title"/>
          </p:nvPr>
        </p:nvSpPr>
        <p:spPr>
          <a:xfrm>
            <a:off x="840427" y="457200"/>
            <a:ext cx="3933279" cy="1600200"/>
          </a:xfrm>
        </p:spPr>
        <p:txBody>
          <a:bodyPr anchor="b"/>
          <a:lstStyle>
            <a:lvl1pPr>
              <a:defRPr sz="4267"/>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75C560D-48D4-4D52-447F-BA0625A1EF5E}"/>
              </a:ext>
            </a:extLst>
          </p:cNvPr>
          <p:cNvSpPr>
            <a:spLocks noGrp="1"/>
          </p:cNvSpPr>
          <p:nvPr>
            <p:ph idx="1"/>
          </p:nvPr>
        </p:nvSpPr>
        <p:spPr>
          <a:xfrm>
            <a:off x="5184392" y="988485"/>
            <a:ext cx="6173004" cy="48725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A737E81-B29B-603A-D350-EADFFE794510}"/>
              </a:ext>
            </a:extLst>
          </p:cNvPr>
          <p:cNvSpPr>
            <a:spLocks noGrp="1"/>
          </p:cNvSpPr>
          <p:nvPr>
            <p:ph type="body" sz="half" idx="2"/>
          </p:nvPr>
        </p:nvSpPr>
        <p:spPr>
          <a:xfrm>
            <a:off x="840427" y="2057400"/>
            <a:ext cx="3933279" cy="381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GB"/>
              <a:t>Click to edit Master text styles</a:t>
            </a:r>
          </a:p>
        </p:txBody>
      </p:sp>
      <p:sp>
        <p:nvSpPr>
          <p:cNvPr id="5" name="Date Placeholder 4">
            <a:extLst>
              <a:ext uri="{FF2B5EF4-FFF2-40B4-BE49-F238E27FC236}">
                <a16:creationId xmlns:a16="http://schemas.microsoft.com/office/drawing/2014/main" id="{6E37DEF9-9221-07E4-CD09-DDC37D732CB2}"/>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6" name="Footer Placeholder 5">
            <a:extLst>
              <a:ext uri="{FF2B5EF4-FFF2-40B4-BE49-F238E27FC236}">
                <a16:creationId xmlns:a16="http://schemas.microsoft.com/office/drawing/2014/main" id="{A7953D31-3FDF-9483-996C-37BB86B00A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56360E-537B-6040-E822-BA93764E202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116859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75A6D-B7E5-C6F0-A23D-0C61A3D7E68B}"/>
              </a:ext>
            </a:extLst>
          </p:cNvPr>
          <p:cNvSpPr>
            <a:spLocks noGrp="1"/>
          </p:cNvSpPr>
          <p:nvPr>
            <p:ph type="title"/>
          </p:nvPr>
        </p:nvSpPr>
        <p:spPr>
          <a:xfrm>
            <a:off x="840427" y="457200"/>
            <a:ext cx="3933279" cy="1600200"/>
          </a:xfrm>
        </p:spPr>
        <p:txBody>
          <a:bodyPr anchor="b"/>
          <a:lstStyle>
            <a:lvl1pPr>
              <a:defRPr sz="4267"/>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746751B-EC55-C43B-70EA-8B6FCE43BC28}"/>
              </a:ext>
            </a:extLst>
          </p:cNvPr>
          <p:cNvSpPr>
            <a:spLocks noGrp="1"/>
          </p:cNvSpPr>
          <p:nvPr>
            <p:ph type="pic" idx="1"/>
          </p:nvPr>
        </p:nvSpPr>
        <p:spPr>
          <a:xfrm>
            <a:off x="5184392" y="988485"/>
            <a:ext cx="6173004" cy="4872567"/>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a:extLst>
              <a:ext uri="{FF2B5EF4-FFF2-40B4-BE49-F238E27FC236}">
                <a16:creationId xmlns:a16="http://schemas.microsoft.com/office/drawing/2014/main" id="{E691F48E-AD00-E72E-46F0-C721742407A6}"/>
              </a:ext>
            </a:extLst>
          </p:cNvPr>
          <p:cNvSpPr>
            <a:spLocks noGrp="1"/>
          </p:cNvSpPr>
          <p:nvPr>
            <p:ph type="body" sz="half" idx="2"/>
          </p:nvPr>
        </p:nvSpPr>
        <p:spPr>
          <a:xfrm>
            <a:off x="840427" y="2057400"/>
            <a:ext cx="3933279" cy="381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GB"/>
              <a:t>Click to edit Master text styles</a:t>
            </a:r>
          </a:p>
        </p:txBody>
      </p:sp>
      <p:sp>
        <p:nvSpPr>
          <p:cNvPr id="5" name="Date Placeholder 4">
            <a:extLst>
              <a:ext uri="{FF2B5EF4-FFF2-40B4-BE49-F238E27FC236}">
                <a16:creationId xmlns:a16="http://schemas.microsoft.com/office/drawing/2014/main" id="{D53FE130-0192-BB3A-3E55-B9EC2EE9E801}"/>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6" name="Footer Placeholder 5">
            <a:extLst>
              <a:ext uri="{FF2B5EF4-FFF2-40B4-BE49-F238E27FC236}">
                <a16:creationId xmlns:a16="http://schemas.microsoft.com/office/drawing/2014/main" id="{964956B0-32FD-2872-FF5C-50152ECF10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1CFF6F-9D95-D396-3091-69C7CD2EF9BE}"/>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858578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2896B-6122-5FAD-9CDE-D9EEAF46715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DECC17-895D-265D-1CF6-C98BD97046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42A4F0-C407-C829-FFCB-777987BF1527}"/>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0190D752-257C-1B1A-2BE6-4527E2990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5E45F7-01BD-12CE-DBD7-878E4FC9AC46}"/>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1367627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4B6CF2-AAF6-03D2-5CDE-0A59427F0970}"/>
              </a:ext>
            </a:extLst>
          </p:cNvPr>
          <p:cNvSpPr>
            <a:spLocks noGrp="1"/>
          </p:cNvSpPr>
          <p:nvPr>
            <p:ph type="title" orient="vert"/>
          </p:nvPr>
        </p:nvSpPr>
        <p:spPr>
          <a:xfrm>
            <a:off x="8726037" y="366185"/>
            <a:ext cx="2629242" cy="5810249"/>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B6D3906-5F5C-8BD2-62AF-F6D18B65272F}"/>
              </a:ext>
            </a:extLst>
          </p:cNvPr>
          <p:cNvSpPr>
            <a:spLocks noGrp="1"/>
          </p:cNvSpPr>
          <p:nvPr>
            <p:ph type="body" orient="vert" idx="1"/>
          </p:nvPr>
        </p:nvSpPr>
        <p:spPr>
          <a:xfrm>
            <a:off x="838310" y="366185"/>
            <a:ext cx="7684501" cy="581024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192920C-10EA-958A-59A5-C55889E9396D}"/>
              </a:ext>
            </a:extLst>
          </p:cNvPr>
          <p:cNvSpPr>
            <a:spLocks noGrp="1"/>
          </p:cNvSpPr>
          <p:nvPr>
            <p:ph type="dt" sz="half" idx="10"/>
          </p:nvPr>
        </p:nvSpPr>
        <p:spPr/>
        <p:txBody>
          <a:body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75AD725B-31A6-8BAA-54EF-97408D6EA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D5CE0F-2E0C-1966-86D5-3C432C0BE362}"/>
              </a:ext>
            </a:extLst>
          </p:cNvPr>
          <p:cNvSpPr>
            <a:spLocks noGrp="1"/>
          </p:cNvSpPr>
          <p:nvPr>
            <p:ph type="sldNum" sz="quarter" idx="12"/>
          </p:nvPr>
        </p:nvSpPr>
        <p:spPr/>
        <p:txBody>
          <a:bodyPr/>
          <a:lstStyle/>
          <a:p>
            <a:fld id="{722B8769-7D86-D14A-8278-DEF63398E0A9}" type="slidenum">
              <a:rPr lang="en-US" smtClean="0"/>
              <a:t>‹#›</a:t>
            </a:fld>
            <a:endParaRPr lang="en-US"/>
          </a:p>
        </p:txBody>
      </p:sp>
    </p:spTree>
    <p:extLst>
      <p:ext uri="{BB962C8B-B14F-4D97-AF65-F5344CB8AC3E}">
        <p14:creationId xmlns:p14="http://schemas.microsoft.com/office/powerpoint/2010/main" val="23958255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712" y="2272209"/>
            <a:ext cx="8968393"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87" y="5503862"/>
            <a:ext cx="38374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9103" y="5494974"/>
            <a:ext cx="2010038"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11307018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792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712" y="2272209"/>
            <a:ext cx="8968393"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87" y="5503862"/>
            <a:ext cx="38374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sp>
        <p:nvSpPr>
          <p:cNvPr id="5" name="Text Placeholder 4">
            <a:extLst>
              <a:ext uri="{FF2B5EF4-FFF2-40B4-BE49-F238E27FC236}">
                <a16:creationId xmlns:a16="http://schemas.microsoft.com/office/drawing/2014/main" id="{245815A4-E035-7F4D-8C87-E50C04176350}"/>
              </a:ext>
            </a:extLst>
          </p:cNvPr>
          <p:cNvSpPr>
            <a:spLocks noGrp="1"/>
          </p:cNvSpPr>
          <p:nvPr>
            <p:ph type="body" sz="quarter" idx="10" hasCustomPrompt="1"/>
          </p:nvPr>
        </p:nvSpPr>
        <p:spPr>
          <a:xfrm>
            <a:off x="9549103" y="5494974"/>
            <a:ext cx="2010038"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51157137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2_Title Slide with Client Logo">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0186-1E0F-FE43-B402-AEC0E9FA21F9}"/>
              </a:ext>
            </a:extLst>
          </p:cNvPr>
          <p:cNvSpPr>
            <a:spLocks noGrp="1"/>
          </p:cNvSpPr>
          <p:nvPr>
            <p:ph type="ctrTitle" hasCustomPrompt="1"/>
          </p:nvPr>
        </p:nvSpPr>
        <p:spPr>
          <a:xfrm>
            <a:off x="580710" y="2272209"/>
            <a:ext cx="8968387" cy="3231655"/>
          </a:xfrm>
          <a:prstGeom prst="rect">
            <a:avLst/>
          </a:prstGeom>
        </p:spPr>
        <p:txBody>
          <a:bodyPr wrap="square" anchor="b">
            <a:spAutoFit/>
          </a:bodyPr>
          <a:lstStyle>
            <a:lvl1pPr algn="l">
              <a:lnSpc>
                <a:spcPct val="100000"/>
              </a:lnSpc>
              <a:defRPr sz="6800" b="1" i="0">
                <a:solidFill>
                  <a:schemeClr val="tx1"/>
                </a:solidFill>
                <a:latin typeface="+mn-lt"/>
                <a:ea typeface="Open Sans" panose="020B0606030504020204" pitchFamily="34" charset="0"/>
                <a:cs typeface="Open Sans" panose="020B0606030504020204" pitchFamily="34" charset="0"/>
              </a:defRPr>
            </a:lvl1pPr>
          </a:lstStyle>
          <a:p>
            <a:r>
              <a:rPr lang="en-GB"/>
              <a:t>Long Presentation Title that flows to the third line</a:t>
            </a:r>
            <a:endParaRPr lang="en-US"/>
          </a:p>
        </p:txBody>
      </p:sp>
      <p:sp>
        <p:nvSpPr>
          <p:cNvPr id="3" name="Subtitle 2">
            <a:extLst>
              <a:ext uri="{FF2B5EF4-FFF2-40B4-BE49-F238E27FC236}">
                <a16:creationId xmlns:a16="http://schemas.microsoft.com/office/drawing/2014/main" id="{B35CA9FE-791F-7D4E-9318-EAA5E92BFE59}"/>
              </a:ext>
            </a:extLst>
          </p:cNvPr>
          <p:cNvSpPr>
            <a:spLocks noGrp="1"/>
          </p:cNvSpPr>
          <p:nvPr>
            <p:ph type="subTitle" idx="1" hasCustomPrompt="1"/>
          </p:nvPr>
        </p:nvSpPr>
        <p:spPr>
          <a:xfrm>
            <a:off x="641287" y="5503862"/>
            <a:ext cx="3837488" cy="338554"/>
          </a:xfrm>
          <a:prstGeom prst="rect">
            <a:avLst/>
          </a:prstGeom>
        </p:spPr>
        <p:txBody>
          <a:bodyPr anchor="t">
            <a:spAutoFit/>
          </a:bodyPr>
          <a:lstStyle>
            <a:lvl1pPr marL="0" indent="0" algn="l">
              <a:lnSpc>
                <a:spcPct val="100000"/>
              </a:lnSpc>
              <a:buNone/>
              <a:defRPr sz="1600">
                <a:latin typeface="+mn-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a:t>Name of Presenter</a:t>
            </a:r>
            <a:endParaRPr lang="en-US"/>
          </a:p>
        </p:txBody>
      </p:sp>
      <p:cxnSp>
        <p:nvCxnSpPr>
          <p:cNvPr id="11" name="Straight Connector 10">
            <a:extLst>
              <a:ext uri="{FF2B5EF4-FFF2-40B4-BE49-F238E27FC236}">
                <a16:creationId xmlns:a16="http://schemas.microsoft.com/office/drawing/2014/main" id="{F23CED41-AC3E-944C-B524-BE6E0EC53EFC}"/>
              </a:ext>
            </a:extLst>
          </p:cNvPr>
          <p:cNvCxnSpPr>
            <a:cxnSpLocks/>
          </p:cNvCxnSpPr>
          <p:nvPr/>
        </p:nvCxnSpPr>
        <p:spPr>
          <a:xfrm>
            <a:off x="2693000" y="530519"/>
            <a:ext cx="0" cy="858252"/>
          </a:xfrm>
          <a:prstGeom prst="line">
            <a:avLst/>
          </a:prstGeom>
          <a:ln w="9525">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0AAB1E61-30C6-4D8B-9EBE-1DA0C53AA45D}"/>
              </a:ext>
            </a:extLst>
          </p:cNvPr>
          <p:cNvSpPr>
            <a:spLocks noGrp="1"/>
          </p:cNvSpPr>
          <p:nvPr>
            <p:ph type="body" sz="quarter" idx="11" hasCustomPrompt="1"/>
          </p:nvPr>
        </p:nvSpPr>
        <p:spPr>
          <a:xfrm>
            <a:off x="2925533" y="777240"/>
            <a:ext cx="2083279" cy="512211"/>
          </a:xfrm>
          <a:prstGeom prst="rect">
            <a:avLst/>
          </a:prstGeom>
        </p:spPr>
        <p:txBody>
          <a:bodyPr anchor="b">
            <a:noAutofit/>
          </a:bodyPr>
          <a:lstStyle>
            <a:lvl1pPr marL="0" indent="0">
              <a:lnSpc>
                <a:spcPct val="100000"/>
              </a:lnSpc>
              <a:buNone/>
              <a:defRPr sz="1400">
                <a:solidFill>
                  <a:schemeClr val="bg1">
                    <a:lumMod val="65000"/>
                  </a:schemeClr>
                </a:solidFill>
              </a:defRPr>
            </a:lvl1pPr>
            <a:lvl5pPr marL="1828754" indent="0">
              <a:buNone/>
              <a:defRPr sz="1100"/>
            </a:lvl5pPr>
          </a:lstStyle>
          <a:p>
            <a:pPr lvl="0"/>
            <a:r>
              <a:rPr lang="en-US"/>
              <a:t>Client Logo</a:t>
            </a:r>
          </a:p>
        </p:txBody>
      </p:sp>
      <p:sp>
        <p:nvSpPr>
          <p:cNvPr id="7" name="Text Placeholder 4">
            <a:extLst>
              <a:ext uri="{FF2B5EF4-FFF2-40B4-BE49-F238E27FC236}">
                <a16:creationId xmlns:a16="http://schemas.microsoft.com/office/drawing/2014/main" id="{9F24038D-4B97-4707-91F9-AD8FF199B6EC}"/>
              </a:ext>
            </a:extLst>
          </p:cNvPr>
          <p:cNvSpPr>
            <a:spLocks noGrp="1"/>
          </p:cNvSpPr>
          <p:nvPr>
            <p:ph type="body" sz="quarter" idx="10" hasCustomPrompt="1"/>
          </p:nvPr>
        </p:nvSpPr>
        <p:spPr>
          <a:xfrm>
            <a:off x="9549103" y="5494974"/>
            <a:ext cx="2010038" cy="338554"/>
          </a:xfrm>
          <a:prstGeom prst="rect">
            <a:avLst/>
          </a:prstGeom>
        </p:spPr>
        <p:txBody>
          <a:bodyPr wrap="square" anchor="t">
            <a:spAutoFit/>
          </a:bodyPr>
          <a:lstStyle>
            <a:lvl1pPr marL="0" indent="0" algn="r">
              <a:lnSpc>
                <a:spcPct val="100000"/>
              </a:lnSpc>
              <a:buNone/>
              <a:defRPr sz="1600">
                <a:solidFill>
                  <a:schemeClr val="tx1"/>
                </a:solidFill>
                <a:latin typeface="+mn-lt"/>
              </a:defRPr>
            </a:lvl1pPr>
            <a:lvl2pPr marL="457189" indent="0">
              <a:buNone/>
              <a:defRPr sz="1600">
                <a:solidFill>
                  <a:schemeClr val="tx1"/>
                </a:solidFill>
              </a:defRPr>
            </a:lvl2pPr>
            <a:lvl3pPr marL="914377" indent="0">
              <a:buNone/>
              <a:defRPr sz="1600">
                <a:solidFill>
                  <a:schemeClr val="tx1"/>
                </a:solidFill>
              </a:defRPr>
            </a:lvl3pPr>
            <a:lvl4pPr marL="1371566" indent="0">
              <a:buNone/>
              <a:defRPr sz="1600">
                <a:solidFill>
                  <a:schemeClr val="tx1"/>
                </a:solidFill>
              </a:defRPr>
            </a:lvl4pPr>
            <a:lvl5pPr marL="1828754" indent="0">
              <a:buNone/>
              <a:defRPr sz="1600">
                <a:solidFill>
                  <a:schemeClr val="tx1"/>
                </a:solidFill>
              </a:defRPr>
            </a:lvl5pPr>
          </a:lstStyle>
          <a:p>
            <a:pPr lvl="0"/>
            <a:r>
              <a:rPr lang="en-GB"/>
              <a:t>Date</a:t>
            </a:r>
          </a:p>
        </p:txBody>
      </p:sp>
    </p:spTree>
    <p:extLst>
      <p:ext uri="{BB962C8B-B14F-4D97-AF65-F5344CB8AC3E}">
        <p14:creationId xmlns:p14="http://schemas.microsoft.com/office/powerpoint/2010/main" val="27882384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FFFFFF"/>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E15A25E-3D3F-41FA-B15D-E04C54F8F517}"/>
              </a:ext>
            </a:extLst>
          </p:cNvPr>
          <p:cNvSpPr>
            <a:spLocks noGrp="1"/>
          </p:cNvSpPr>
          <p:nvPr>
            <p:ph type="title"/>
          </p:nvPr>
        </p:nvSpPr>
        <p:spPr>
          <a:xfrm>
            <a:off x="605443" y="498666"/>
            <a:ext cx="10856211" cy="646331"/>
          </a:xfrm>
          <a:prstGeom prst="rect">
            <a:avLst/>
          </a:prstGeom>
        </p:spPr>
        <p:txBody>
          <a:bodyPr wrap="square">
            <a:spAutoFit/>
          </a:bodyPr>
          <a:lstStyle>
            <a:lvl1pPr>
              <a:lnSpc>
                <a:spcPct val="100000"/>
              </a:lnSpc>
              <a:defRPr lang="en-IN" sz="3600" b="1" i="0">
                <a:solidFill>
                  <a:schemeClr val="tx1"/>
                </a:solidFill>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dirty="0"/>
          </a:p>
        </p:txBody>
      </p:sp>
    </p:spTree>
    <p:extLst>
      <p:ext uri="{BB962C8B-B14F-4D97-AF65-F5344CB8AC3E}">
        <p14:creationId xmlns:p14="http://schemas.microsoft.com/office/powerpoint/2010/main" val="9735109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 Grey bkgd.">
    <p:bg>
      <p:bgPr>
        <a:solidFill>
          <a:schemeClr val="bg2">
            <a:alpha val="4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DF0FA55-B6BE-461E-BEAB-DB74A01BEB0A}"/>
              </a:ext>
            </a:extLst>
          </p:cNvPr>
          <p:cNvSpPr>
            <a:spLocks noGrp="1"/>
          </p:cNvSpPr>
          <p:nvPr>
            <p:ph type="title"/>
          </p:nvPr>
        </p:nvSpPr>
        <p:spPr>
          <a:xfrm>
            <a:off x="605443" y="498666"/>
            <a:ext cx="10856211" cy="646331"/>
          </a:xfrm>
          <a:prstGeom prst="rect">
            <a:avLst/>
          </a:prstGeom>
        </p:spPr>
        <p:txBody>
          <a:bodyPr wrap="square">
            <a:spAutoFit/>
          </a:bodyPr>
          <a:lstStyle>
            <a:lvl1pPr>
              <a:lnSpc>
                <a:spcPct val="100000"/>
              </a:lnSpc>
              <a:defRPr lang="en-IN" sz="3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6803259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 Grey bkgd.+card">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98D64106-CBF3-1D40-B902-CBFCE2BFBCC7}"/>
              </a:ext>
            </a:extLst>
          </p:cNvPr>
          <p:cNvSpPr/>
          <p:nvPr/>
        </p:nvSpPr>
        <p:spPr>
          <a:xfrm>
            <a:off x="734140" y="1341439"/>
            <a:ext cx="10727516" cy="487203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79" y="500401"/>
            <a:ext cx="10855414"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spTree>
    <p:extLst>
      <p:ext uri="{BB962C8B-B14F-4D97-AF65-F5344CB8AC3E}">
        <p14:creationId xmlns:p14="http://schemas.microsoft.com/office/powerpoint/2010/main" val="39247505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Title + Grey bkgd.+grid">
    <p:bg>
      <p:bgPr>
        <a:solidFill>
          <a:schemeClr val="bg2">
            <a:alpha val="40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4EBA0A8-B7FE-4B35-9932-D5F8C2C04171}"/>
              </a:ext>
            </a:extLst>
          </p:cNvPr>
          <p:cNvSpPr>
            <a:spLocks noGrp="1"/>
          </p:cNvSpPr>
          <p:nvPr>
            <p:ph type="title"/>
          </p:nvPr>
        </p:nvSpPr>
        <p:spPr>
          <a:xfrm>
            <a:off x="604879" y="500401"/>
            <a:ext cx="10855414" cy="738664"/>
          </a:xfrm>
          <a:prstGeom prst="rect">
            <a:avLst/>
          </a:prstGeom>
        </p:spPr>
        <p:txBody>
          <a:bodyPr>
            <a:spAutoFit/>
          </a:bodyPr>
          <a:lstStyle>
            <a:lvl1pPr>
              <a:lnSpc>
                <a:spcPct val="100000"/>
              </a:lnSpc>
              <a:defRPr sz="4200" b="1">
                <a:latin typeface="+mj-lt"/>
              </a:defRPr>
            </a:lvl1pPr>
          </a:lstStyle>
          <a:p>
            <a:r>
              <a:rPr lang="en-US"/>
              <a:t>Click to edit Master title style</a:t>
            </a:r>
            <a:endParaRPr lang="en-IN"/>
          </a:p>
        </p:txBody>
      </p:sp>
      <p:pic>
        <p:nvPicPr>
          <p:cNvPr id="4" name="Graphic 3">
            <a:extLst>
              <a:ext uri="{FF2B5EF4-FFF2-40B4-BE49-F238E27FC236}">
                <a16:creationId xmlns:a16="http://schemas.microsoft.com/office/drawing/2014/main" id="{150FC115-50C9-314C-A766-9B8B69B08C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12193588" cy="6858000"/>
          </a:xfrm>
          <a:prstGeom prst="rect">
            <a:avLst/>
          </a:prstGeom>
        </p:spPr>
      </p:pic>
    </p:spTree>
    <p:extLst>
      <p:ext uri="{BB962C8B-B14F-4D97-AF65-F5344CB8AC3E}">
        <p14:creationId xmlns:p14="http://schemas.microsoft.com/office/powerpoint/2010/main" val="2464093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numbered">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93" y="1465553"/>
            <a:ext cx="464758" cy="4335547"/>
          </a:xfrm>
          <a:prstGeom prst="rect">
            <a:avLst/>
          </a:prstGeom>
        </p:spPr>
        <p:txBody>
          <a:bodyPr vert="horz" lIns="0" tIns="0" rIns="0" bIns="93600" anchor="t" anchorCtr="0">
            <a:spAutoFit/>
          </a:bodyPr>
          <a:lstStyle>
            <a:lvl1pPr marL="0" indent="0">
              <a:lnSpc>
                <a:spcPts val="4800"/>
              </a:lnSpc>
              <a:spcBef>
                <a:spcPts val="0"/>
              </a:spcBef>
              <a:buNone/>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01</a:t>
            </a:r>
          </a:p>
          <a:p>
            <a:pPr lvl="0"/>
            <a:r>
              <a:rPr lang="en-US"/>
              <a:t>02</a:t>
            </a:r>
          </a:p>
          <a:p>
            <a:pPr lvl="0"/>
            <a:r>
              <a:rPr lang="en-US"/>
              <a:t>03</a:t>
            </a:r>
          </a:p>
          <a:p>
            <a:pPr lvl="0"/>
            <a:r>
              <a:rPr lang="en-US"/>
              <a:t>04</a:t>
            </a:r>
          </a:p>
          <a:p>
            <a:pPr lvl="0"/>
            <a:r>
              <a:rPr lang="en-US"/>
              <a:t>05</a:t>
            </a:r>
          </a:p>
          <a:p>
            <a:pPr lvl="0"/>
            <a:r>
              <a:rPr lang="en-US"/>
              <a:t>06</a:t>
            </a:r>
          </a:p>
          <a:p>
            <a:pPr lvl="0"/>
            <a:r>
              <a:rPr lang="en-US"/>
              <a:t>07</a:t>
            </a:r>
          </a:p>
        </p:txBody>
      </p:sp>
      <p:sp>
        <p:nvSpPr>
          <p:cNvPr id="15" name="Text Placeholder 14">
            <a:extLst>
              <a:ext uri="{FF2B5EF4-FFF2-40B4-BE49-F238E27FC236}">
                <a16:creationId xmlns:a16="http://schemas.microsoft.com/office/drawing/2014/main" id="{9275958B-037F-624D-A93F-C5B2538CEBF0}"/>
              </a:ext>
            </a:extLst>
          </p:cNvPr>
          <p:cNvSpPr>
            <a:spLocks noGrp="1"/>
          </p:cNvSpPr>
          <p:nvPr>
            <p:ph type="body" sz="quarter" idx="17" hasCustomPrompt="1"/>
          </p:nvPr>
        </p:nvSpPr>
        <p:spPr>
          <a:xfrm>
            <a:off x="1500065" y="1465553"/>
            <a:ext cx="9961591" cy="4335547"/>
          </a:xfrm>
          <a:prstGeom prst="rect">
            <a:avLst/>
          </a:prstGeom>
        </p:spPr>
        <p:txBody>
          <a:bodyPr vert="horz"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4" name="Title 3">
            <a:extLst>
              <a:ext uri="{FF2B5EF4-FFF2-40B4-BE49-F238E27FC236}">
                <a16:creationId xmlns:a16="http://schemas.microsoft.com/office/drawing/2014/main" id="{2E0149FA-9A01-4DA3-AC47-C5D005EB841B}"/>
              </a:ext>
            </a:extLst>
          </p:cNvPr>
          <p:cNvSpPr>
            <a:spLocks noGrp="1"/>
          </p:cNvSpPr>
          <p:nvPr>
            <p:ph type="title"/>
          </p:nvPr>
        </p:nvSpPr>
        <p:spPr>
          <a:xfrm>
            <a:off x="604879" y="500401"/>
            <a:ext cx="10855414" cy="738664"/>
          </a:xfrm>
          <a:prstGeom prst="rect">
            <a:avLst/>
          </a:prstGeom>
          <a:noFill/>
        </p:spPr>
        <p:txBody>
          <a:bodyPr>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855974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Agenda with Time">
    <p:spTree>
      <p:nvGrpSpPr>
        <p:cNvPr id="1" name=""/>
        <p:cNvGrpSpPr/>
        <p:nvPr/>
      </p:nvGrpSpPr>
      <p:grpSpPr>
        <a:xfrm>
          <a:off x="0" y="0"/>
          <a:ext cx="0" cy="0"/>
          <a:chOff x="0" y="0"/>
          <a:chExt cx="0" cy="0"/>
        </a:xfrm>
      </p:grpSpPr>
      <p:sp>
        <p:nvSpPr>
          <p:cNvPr id="11" name="Text Placeholder 14">
            <a:extLst>
              <a:ext uri="{FF2B5EF4-FFF2-40B4-BE49-F238E27FC236}">
                <a16:creationId xmlns:a16="http://schemas.microsoft.com/office/drawing/2014/main" id="{BE13E168-390E-7242-8BD5-63BC8E951285}"/>
              </a:ext>
            </a:extLst>
          </p:cNvPr>
          <p:cNvSpPr>
            <a:spLocks noGrp="1"/>
          </p:cNvSpPr>
          <p:nvPr>
            <p:ph type="body" sz="quarter" idx="15" hasCustomPrompt="1"/>
          </p:nvPr>
        </p:nvSpPr>
        <p:spPr>
          <a:xfrm>
            <a:off x="711293" y="1465553"/>
            <a:ext cx="1076176" cy="4335547"/>
          </a:xfrm>
          <a:prstGeom prst="rect">
            <a:avLst/>
          </a:prstGeom>
        </p:spPr>
        <p:txBody>
          <a:bodyPr vert="horz"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1" i="0">
                <a:solidFill>
                  <a:schemeClr val="accent2"/>
                </a:solidFill>
                <a:latin typeface="+mn-lt"/>
                <a:ea typeface="Open Sans" panose="020B0606030504020204" pitchFamily="34" charset="0"/>
                <a:cs typeface="Open Sans" panose="020B0606030504020204" pitchFamily="34" charset="0"/>
              </a:defRPr>
            </a:lvl1pPr>
          </a:lstStyle>
          <a:p>
            <a:pPr lvl="0"/>
            <a:r>
              <a:rPr lang="en-US"/>
              <a:t>00.00</a:t>
            </a:r>
          </a:p>
          <a:p>
            <a:pPr lvl="0"/>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00.00</a:t>
            </a:r>
          </a:p>
        </p:txBody>
      </p:sp>
      <p:sp>
        <p:nvSpPr>
          <p:cNvPr id="12" name="Text Placeholder 14">
            <a:extLst>
              <a:ext uri="{FF2B5EF4-FFF2-40B4-BE49-F238E27FC236}">
                <a16:creationId xmlns:a16="http://schemas.microsoft.com/office/drawing/2014/main" id="{6CFFBF5E-8958-F744-93AB-76138CD6654E}"/>
              </a:ext>
            </a:extLst>
          </p:cNvPr>
          <p:cNvSpPr>
            <a:spLocks noGrp="1"/>
          </p:cNvSpPr>
          <p:nvPr>
            <p:ph type="body" sz="quarter" idx="19" hasCustomPrompt="1"/>
          </p:nvPr>
        </p:nvSpPr>
        <p:spPr>
          <a:xfrm>
            <a:off x="2017369" y="1465553"/>
            <a:ext cx="9464927" cy="4335547"/>
          </a:xfrm>
          <a:prstGeom prst="rect">
            <a:avLst/>
          </a:prstGeom>
        </p:spPr>
        <p:txBody>
          <a:bodyPr vert="horz" wrap="square" lIns="0" tIns="0" rIns="0" bIns="93600" anchor="t" anchorCtr="0">
            <a:spAutoFit/>
          </a:bodyPr>
          <a:lstStyle>
            <a:lvl1pPr marL="0" marR="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sz="2600" b="0" i="0">
                <a:solidFill>
                  <a:schemeClr val="tx1"/>
                </a:solidFill>
                <a:latin typeface="+mn-lt"/>
                <a:ea typeface="Open Sans" panose="020B0606030504020204" pitchFamily="34" charset="0"/>
                <a:cs typeface="Open Sans" panose="020B0606030504020204" pitchFamily="34" charset="0"/>
              </a:defRPr>
            </a:lvl1pPr>
          </a:lstStyle>
          <a:p>
            <a:pPr lvl="0"/>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a:p>
            <a:pPr marL="0" marR="0" lvl="0" indent="0" algn="l" defTabSz="914377" rtl="0" eaLnBrk="1" fontAlgn="auto" latinLnBrk="0" hangingPunct="1">
              <a:lnSpc>
                <a:spcPts val="4800"/>
              </a:lnSpc>
              <a:spcBef>
                <a:spcPts val="0"/>
              </a:spcBef>
              <a:spcAft>
                <a:spcPts val="0"/>
              </a:spcAft>
              <a:buClrTx/>
              <a:buSzTx/>
              <a:buFont typeface="Arial" panose="020B0604020202020204" pitchFamily="34" charset="0"/>
              <a:buNone/>
              <a:tabLst/>
              <a:defRPr/>
            </a:pPr>
            <a:r>
              <a:rPr lang="en-US"/>
              <a:t>Short Content Description</a:t>
            </a:r>
          </a:p>
        </p:txBody>
      </p:sp>
      <p:sp>
        <p:nvSpPr>
          <p:cNvPr id="2" name="Title 1">
            <a:extLst>
              <a:ext uri="{FF2B5EF4-FFF2-40B4-BE49-F238E27FC236}">
                <a16:creationId xmlns:a16="http://schemas.microsoft.com/office/drawing/2014/main" id="{3C00D4FC-75AD-41AC-9F2F-072B1ABBFC8E}"/>
              </a:ext>
            </a:extLst>
          </p:cNvPr>
          <p:cNvSpPr>
            <a:spLocks noGrp="1"/>
          </p:cNvSpPr>
          <p:nvPr>
            <p:ph type="title"/>
          </p:nvPr>
        </p:nvSpPr>
        <p:spPr>
          <a:xfrm>
            <a:off x="604879" y="500401"/>
            <a:ext cx="10877417" cy="738664"/>
          </a:xfrm>
          <a:prstGeom prst="rect">
            <a:avLst/>
          </a:prstGeom>
        </p:spPr>
        <p:txBody>
          <a:bodyPr wrap="square">
            <a:spAutoFit/>
          </a:bodyPr>
          <a:lstStyle>
            <a:lvl1pPr>
              <a:lnSpc>
                <a:spcPct val="100000"/>
              </a:lnSpc>
              <a:defRPr sz="4200" b="1">
                <a:latin typeface="+mn-lt"/>
              </a:defRPr>
            </a:lvl1pPr>
          </a:lstStyle>
          <a:p>
            <a:r>
              <a:rPr lang="en-US"/>
              <a:t>Click to edit Master title style</a:t>
            </a:r>
            <a:endParaRPr lang="en-IN"/>
          </a:p>
        </p:txBody>
      </p:sp>
    </p:spTree>
    <p:extLst>
      <p:ext uri="{BB962C8B-B14F-4D97-AF65-F5344CB8AC3E}">
        <p14:creationId xmlns:p14="http://schemas.microsoft.com/office/powerpoint/2010/main" val="14454471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hort content + title + body ">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730480" y="4370387"/>
            <a:ext cx="10089877" cy="246221"/>
          </a:xfrm>
          <a:prstGeom prst="rect">
            <a:avLst/>
          </a:prstGeom>
        </p:spPr>
        <p:txBody>
          <a:bodyPr lIns="0" tIns="0" rIns="0" bIns="0" anchor="t" anchorCtr="0">
            <a:spAutoFit/>
          </a:bodyPr>
          <a:lstStyle>
            <a:lvl1pPr marL="0" indent="0">
              <a:buNone/>
              <a:defRPr lang="en-US" sz="1600" b="0" spc="0" baseline="0" dirty="0">
                <a:latin typeface="+mn-lt"/>
                <a:ea typeface="Open Sans" panose="020B0606030504020204" pitchFamily="34" charset="0"/>
                <a:cs typeface="Open Sans" panose="020B0606030504020204" pitchFamily="34" charset="0"/>
              </a:defRPr>
            </a:lvl1pPr>
          </a:lstStyle>
          <a:p>
            <a:pPr marL="228594" lvl="0" indent="-228594">
              <a:lnSpc>
                <a:spcPct val="100000"/>
              </a:lnSpc>
              <a:spcBef>
                <a:spcPct val="0"/>
              </a:spcBef>
            </a:pPr>
            <a:r>
              <a:rPr lang="en-GB"/>
              <a:t>Short description in three of four lines maximum. Any highlighting to be done in bold or blue</a:t>
            </a:r>
            <a:endParaRPr lang="en-US"/>
          </a:p>
        </p:txBody>
      </p:sp>
      <p:sp>
        <p:nvSpPr>
          <p:cNvPr id="11" name="Text Placeholder 14">
            <a:extLst>
              <a:ext uri="{FF2B5EF4-FFF2-40B4-BE49-F238E27FC236}">
                <a16:creationId xmlns:a16="http://schemas.microsoft.com/office/drawing/2014/main" id="{FC81E2E5-E3CC-D749-8B2B-49ABC850A674}"/>
              </a:ext>
            </a:extLst>
          </p:cNvPr>
          <p:cNvSpPr>
            <a:spLocks noGrp="1"/>
          </p:cNvSpPr>
          <p:nvPr>
            <p:ph type="body" sz="quarter" idx="15" hasCustomPrompt="1"/>
          </p:nvPr>
        </p:nvSpPr>
        <p:spPr>
          <a:xfrm>
            <a:off x="730481" y="644691"/>
            <a:ext cx="9975427" cy="494624"/>
          </a:xfrm>
          <a:prstGeom prst="rect">
            <a:avLst/>
          </a:prstGeom>
        </p:spPr>
        <p:txBody>
          <a:bodyPr vert="horz" lIns="0" tIns="0" rIns="0" bIns="93600" anchor="t" anchorCtr="0">
            <a:spAutoFit/>
          </a:bodyPr>
          <a:lstStyle>
            <a:lvl1pPr marL="0" marR="0" indent="0" algn="l" defTabSz="609570" rtl="0" eaLnBrk="1" fontAlgn="auto" latinLnBrk="0" hangingPunct="1">
              <a:lnSpc>
                <a:spcPct val="100000"/>
              </a:lnSpc>
              <a:spcBef>
                <a:spcPts val="0"/>
              </a:spcBef>
              <a:spcAft>
                <a:spcPts val="0"/>
              </a:spcAft>
              <a:buClrTx/>
              <a:buSzTx/>
              <a:buFont typeface="Arial"/>
              <a:buNone/>
              <a:tabLst/>
              <a:defRPr sz="2600" b="0" i="0" baseline="0">
                <a:solidFill>
                  <a:schemeClr val="tx1"/>
                </a:solidFill>
                <a:latin typeface="+mn-lt"/>
                <a:ea typeface="Open Sans" panose="020B0606030504020204" pitchFamily="34" charset="0"/>
                <a:cs typeface="Open Sans" panose="020B0606030504020204" pitchFamily="34" charset="0"/>
              </a:defRPr>
            </a:lvl1pPr>
          </a:lstStyle>
          <a:p>
            <a:pPr lvl="0"/>
            <a:r>
              <a:rPr lang="en-US"/>
              <a:t>01 | Short content description</a:t>
            </a:r>
          </a:p>
        </p:txBody>
      </p:sp>
      <p:sp>
        <p:nvSpPr>
          <p:cNvPr id="15" name="Titel 7">
            <a:extLst>
              <a:ext uri="{FF2B5EF4-FFF2-40B4-BE49-F238E27FC236}">
                <a16:creationId xmlns:a16="http://schemas.microsoft.com/office/drawing/2014/main" id="{33509BAD-7366-6C49-9E01-5F193794089A}"/>
              </a:ext>
            </a:extLst>
          </p:cNvPr>
          <p:cNvSpPr>
            <a:spLocks noGrp="1"/>
          </p:cNvSpPr>
          <p:nvPr>
            <p:ph type="title" hasCustomPrompt="1"/>
          </p:nvPr>
        </p:nvSpPr>
        <p:spPr>
          <a:xfrm>
            <a:off x="730481" y="2236147"/>
            <a:ext cx="9975427" cy="1938992"/>
          </a:xfrm>
          <a:prstGeom prst="rect">
            <a:avLst/>
          </a:prstGeom>
        </p:spPr>
        <p:txBody>
          <a:bodyPr lIns="0" tIns="0" rIns="0" bIns="0" anchor="t" anchorCtr="0">
            <a:spAutoFit/>
          </a:bodyPr>
          <a:lstStyle>
            <a:lvl1pPr algn="l">
              <a:lnSpc>
                <a:spcPct val="100000"/>
              </a:lnSpc>
              <a:defRPr sz="4200" b="1" i="0" spc="0" baseline="0">
                <a:solidFill>
                  <a:schemeClr val="tx1"/>
                </a:solidFill>
                <a:latin typeface="+mn-lt"/>
                <a:ea typeface="Open Sans" panose="020B0606030504020204" pitchFamily="34" charset="0"/>
                <a:cs typeface="Open Sans" panose="020B0606030504020204" pitchFamily="34" charset="0"/>
              </a:defRPr>
            </a:lvl1pPr>
          </a:lstStyle>
          <a:p>
            <a:pPr lvl="0"/>
            <a:r>
              <a:rPr lang="en-GB"/>
              <a:t>A Long Title that fits in maximum three lines. This can have insights or call-outs </a:t>
            </a:r>
          </a:p>
        </p:txBody>
      </p:sp>
    </p:spTree>
    <p:extLst>
      <p:ext uri="{BB962C8B-B14F-4D97-AF65-F5344CB8AC3E}">
        <p14:creationId xmlns:p14="http://schemas.microsoft.com/office/powerpoint/2010/main" val="1048529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Slide Numbered">
    <p:bg>
      <p:bgPr>
        <a:solidFill>
          <a:srgbClr val="FFC00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13300-E9A2-F949-9B8E-8CA529315D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3588" cy="6858000"/>
          </a:xfrm>
          <a:prstGeom prst="rect">
            <a:avLst/>
          </a:prstGeom>
        </p:spPr>
      </p:pic>
      <p:sp>
        <p:nvSpPr>
          <p:cNvPr id="10" name="Text Placeholder 9">
            <a:extLst>
              <a:ext uri="{FF2B5EF4-FFF2-40B4-BE49-F238E27FC236}">
                <a16:creationId xmlns:a16="http://schemas.microsoft.com/office/drawing/2014/main" id="{D5BB2DF0-100F-9842-A143-F7EB4F259A7C}"/>
              </a:ext>
            </a:extLst>
          </p:cNvPr>
          <p:cNvSpPr>
            <a:spLocks noGrp="1"/>
          </p:cNvSpPr>
          <p:nvPr>
            <p:ph type="body" sz="quarter" idx="12" hasCustomPrompt="1"/>
          </p:nvPr>
        </p:nvSpPr>
        <p:spPr>
          <a:xfrm>
            <a:off x="601212" y="4161475"/>
            <a:ext cx="1795167" cy="1785104"/>
          </a:xfrm>
          <a:prstGeom prst="rect">
            <a:avLst/>
          </a:prstGeom>
        </p:spPr>
        <p:txBody>
          <a:bodyPr anchor="b">
            <a:spAutoFit/>
          </a:bodyPr>
          <a:lstStyle>
            <a:lvl1pPr marL="0" indent="0">
              <a:lnSpc>
                <a:spcPct val="100000"/>
              </a:lnSpc>
              <a:buNone/>
              <a:defRPr sz="11000" b="1">
                <a:solidFill>
                  <a:schemeClr val="bg1"/>
                </a:solidFill>
                <a:latin typeface="+mn-lt"/>
              </a:defRPr>
            </a:lvl1pPr>
            <a:lvl2pPr>
              <a:defRPr sz="11000" b="1"/>
            </a:lvl2pPr>
            <a:lvl3pPr>
              <a:defRPr sz="11000" b="1"/>
            </a:lvl3pPr>
            <a:lvl4pPr>
              <a:defRPr sz="11000" b="1"/>
            </a:lvl4pPr>
            <a:lvl5pPr>
              <a:defRPr sz="11000" b="1"/>
            </a:lvl5pPr>
          </a:lstStyle>
          <a:p>
            <a:pPr lvl="0"/>
            <a:r>
              <a:rPr lang="en-GB"/>
              <a:t>00</a:t>
            </a:r>
            <a:endParaRPr lang="en-US"/>
          </a:p>
        </p:txBody>
      </p:sp>
      <p:sp>
        <p:nvSpPr>
          <p:cNvPr id="11" name="Title 1">
            <a:extLst>
              <a:ext uri="{FF2B5EF4-FFF2-40B4-BE49-F238E27FC236}">
                <a16:creationId xmlns:a16="http://schemas.microsoft.com/office/drawing/2014/main" id="{18FE2173-6A2C-48AB-A6E9-5E80F98BCAB4}"/>
              </a:ext>
            </a:extLst>
          </p:cNvPr>
          <p:cNvSpPr>
            <a:spLocks noGrp="1"/>
          </p:cNvSpPr>
          <p:nvPr>
            <p:ph type="title" hasCustomPrompt="1"/>
          </p:nvPr>
        </p:nvSpPr>
        <p:spPr>
          <a:xfrm>
            <a:off x="2396379" y="4342482"/>
            <a:ext cx="9065277" cy="1384995"/>
          </a:xfrm>
          <a:prstGeom prst="rect">
            <a:avLst/>
          </a:prstGeom>
        </p:spPr>
        <p:txBody>
          <a:bodyPr wrap="square" anchor="b">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Slide Divider with Title in maximum two lines</a:t>
            </a:r>
          </a:p>
        </p:txBody>
      </p:sp>
    </p:spTree>
    <p:extLst>
      <p:ext uri="{BB962C8B-B14F-4D97-AF65-F5344CB8AC3E}">
        <p14:creationId xmlns:p14="http://schemas.microsoft.com/office/powerpoint/2010/main" val="4083391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 Image/Table + Body + Source/Footnot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93" y="1633929"/>
            <a:ext cx="10739248" cy="3496872"/>
          </a:xfrm>
          <a:prstGeom prst="rect">
            <a:avLst/>
          </a:prstGeom>
        </p:spPr>
        <p:txBody>
          <a:bodyPr/>
          <a:lstStyle>
            <a:lvl1pPr>
              <a:lnSpc>
                <a:spcPct val="100000"/>
              </a:lnSpc>
              <a:spcBef>
                <a:spcPts val="600"/>
              </a:spcBef>
              <a:defRPr sz="1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5" name="Text Placeholder 2">
            <a:extLst>
              <a:ext uri="{FF2B5EF4-FFF2-40B4-BE49-F238E27FC236}">
                <a16:creationId xmlns:a16="http://schemas.microsoft.com/office/drawing/2014/main" id="{C994A5DE-F173-4441-94D5-B98F1DD1FBD0}"/>
              </a:ext>
            </a:extLst>
          </p:cNvPr>
          <p:cNvSpPr>
            <a:spLocks noGrp="1"/>
          </p:cNvSpPr>
          <p:nvPr>
            <p:ph type="body" sz="quarter" idx="13" hasCustomPrompt="1"/>
          </p:nvPr>
        </p:nvSpPr>
        <p:spPr>
          <a:xfrm>
            <a:off x="616029" y="5527403"/>
            <a:ext cx="10089877" cy="338554"/>
          </a:xfrm>
          <a:prstGeom prst="rect">
            <a:avLst/>
          </a:prstGeom>
        </p:spPr>
        <p:txBody>
          <a:bodyPr anchor="b">
            <a:spAutoFit/>
          </a:bodyPr>
          <a:lstStyle>
            <a:lvl1pPr marL="0" indent="0" algn="l">
              <a:lnSpc>
                <a:spcPct val="100000"/>
              </a:lnSpc>
              <a:buNone/>
              <a:defRPr sz="160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in two or three lines maximum. Any highlighting to be done in bold or blue</a:t>
            </a:r>
            <a:endParaRPr lang="en-US"/>
          </a:p>
        </p:txBody>
      </p:sp>
      <p:sp>
        <p:nvSpPr>
          <p:cNvPr id="6" name="Text Placeholder 2">
            <a:extLst>
              <a:ext uri="{FF2B5EF4-FFF2-40B4-BE49-F238E27FC236}">
                <a16:creationId xmlns:a16="http://schemas.microsoft.com/office/drawing/2014/main" id="{2543B27D-BDF0-4ACA-A351-6DBA1A4E22B3}"/>
              </a:ext>
            </a:extLst>
          </p:cNvPr>
          <p:cNvSpPr>
            <a:spLocks noGrp="1"/>
          </p:cNvSpPr>
          <p:nvPr>
            <p:ph type="body" sz="quarter" idx="17" hasCustomPrompt="1"/>
          </p:nvPr>
        </p:nvSpPr>
        <p:spPr>
          <a:xfrm>
            <a:off x="643548" y="6212597"/>
            <a:ext cx="10856741" cy="246221"/>
          </a:xfrm>
          <a:prstGeom prst="rect">
            <a:avLst/>
          </a:prstGeom>
        </p:spPr>
        <p:txBody>
          <a:bodyPr anchor="b" anchorCtr="0">
            <a:spAutoFit/>
          </a:bodyPr>
          <a:lstStyle>
            <a:lvl1pPr marL="0" indent="0">
              <a:lnSpc>
                <a:spcPct val="100000"/>
              </a:lnSpc>
              <a:spcBef>
                <a:spcPts val="0"/>
              </a:spcBef>
              <a:buNone/>
              <a:defRPr sz="1000"/>
            </a:lvl1pPr>
            <a:lvl2pPr marL="457189" indent="0">
              <a:buNone/>
              <a:defRPr sz="1000"/>
            </a:lvl2pPr>
            <a:lvl3pPr marL="914377" indent="0">
              <a:buNone/>
              <a:defRPr sz="1000"/>
            </a:lvl3pPr>
            <a:lvl4pPr marL="1371566" indent="0">
              <a:buNone/>
              <a:defRPr sz="1000"/>
            </a:lvl4pPr>
            <a:lvl5pPr marL="1828754" indent="0">
              <a:buNone/>
              <a:defRPr sz="1000"/>
            </a:lvl5pPr>
          </a:lstStyle>
          <a:p>
            <a:pPr lvl="0"/>
            <a:r>
              <a:rPr lang="en-US"/>
              <a:t>Source:</a:t>
            </a:r>
            <a:endParaRPr lang="en-IN"/>
          </a:p>
        </p:txBody>
      </p:sp>
      <p:sp>
        <p:nvSpPr>
          <p:cNvPr id="7" name="Text Placeholder 2">
            <a:extLst>
              <a:ext uri="{FF2B5EF4-FFF2-40B4-BE49-F238E27FC236}">
                <a16:creationId xmlns:a16="http://schemas.microsoft.com/office/drawing/2014/main" id="{956E5191-1369-4DED-BE9E-389B43682BB1}"/>
              </a:ext>
            </a:extLst>
          </p:cNvPr>
          <p:cNvSpPr>
            <a:spLocks noGrp="1"/>
          </p:cNvSpPr>
          <p:nvPr>
            <p:ph type="body" sz="quarter" idx="18" hasCustomPrompt="1"/>
          </p:nvPr>
        </p:nvSpPr>
        <p:spPr>
          <a:xfrm>
            <a:off x="643548" y="5966376"/>
            <a:ext cx="10856741" cy="246221"/>
          </a:xfrm>
          <a:prstGeom prst="rect">
            <a:avLst/>
          </a:prstGeom>
        </p:spPr>
        <p:txBody>
          <a:bodyPr anchor="b" anchorCtr="0">
            <a:spAutoFit/>
          </a:bodyPr>
          <a:lstStyle>
            <a:lvl1pPr marL="0" indent="0">
              <a:lnSpc>
                <a:spcPct val="100000"/>
              </a:lnSpc>
              <a:spcBef>
                <a:spcPts val="0"/>
              </a:spcBef>
              <a:buNone/>
              <a:defRPr sz="1000"/>
            </a:lvl1pPr>
            <a:lvl2pPr marL="457189" indent="0">
              <a:buNone/>
              <a:defRPr sz="1000"/>
            </a:lvl2pPr>
            <a:lvl3pPr marL="914377" indent="0">
              <a:buNone/>
              <a:defRPr sz="1000"/>
            </a:lvl3pPr>
            <a:lvl4pPr marL="1371566" indent="0">
              <a:buNone/>
              <a:defRPr sz="1000"/>
            </a:lvl4pPr>
            <a:lvl5pPr marL="1828754" indent="0">
              <a:buNone/>
              <a:defRPr sz="1000"/>
            </a:lvl5pPr>
          </a:lstStyle>
          <a:p>
            <a:pPr lvl="0"/>
            <a:r>
              <a:rPr lang="en-US"/>
              <a:t>Note/Footnote:</a:t>
            </a:r>
          </a:p>
        </p:txBody>
      </p:sp>
    </p:spTree>
    <p:extLst>
      <p:ext uri="{BB962C8B-B14F-4D97-AF65-F5344CB8AC3E}">
        <p14:creationId xmlns:p14="http://schemas.microsoft.com/office/powerpoint/2010/main" val="22670888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ub title +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B39A8C-6D5F-4626-B41E-2A8AD11B2810}"/>
              </a:ext>
            </a:extLst>
          </p:cNvPr>
          <p:cNvSpPr>
            <a:spLocks noGrp="1"/>
          </p:cNvSpPr>
          <p:nvPr>
            <p:ph sz="quarter" idx="16"/>
          </p:nvPr>
        </p:nvSpPr>
        <p:spPr>
          <a:xfrm>
            <a:off x="711293" y="2526890"/>
            <a:ext cx="10739248" cy="3559279"/>
          </a:xfrm>
          <a:prstGeom prst="rect">
            <a:avLst/>
          </a:prstGeom>
        </p:spPr>
        <p:txBody>
          <a:bodyPr/>
          <a:lstStyle>
            <a:lvl1pPr>
              <a:lnSpc>
                <a:spcPct val="100000"/>
              </a:lnSpc>
              <a:spcBef>
                <a:spcPts val="600"/>
              </a:spcBef>
              <a:defRPr sz="1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Title 1">
            <a:extLst>
              <a:ext uri="{FF2B5EF4-FFF2-40B4-BE49-F238E27FC236}">
                <a16:creationId xmlns:a16="http://schemas.microsoft.com/office/drawing/2014/main" id="{7CF5F585-89DC-47EB-9DB3-228A1E9F4374}"/>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Content Placeholder 2">
            <a:extLst>
              <a:ext uri="{FF2B5EF4-FFF2-40B4-BE49-F238E27FC236}">
                <a16:creationId xmlns:a16="http://schemas.microsoft.com/office/drawing/2014/main" id="{F910E947-851C-48B4-83FD-A225938FFF21}"/>
              </a:ext>
            </a:extLst>
          </p:cNvPr>
          <p:cNvSpPr>
            <a:spLocks noGrp="1"/>
          </p:cNvSpPr>
          <p:nvPr>
            <p:ph sz="quarter" idx="19" hasCustomPrompt="1"/>
          </p:nvPr>
        </p:nvSpPr>
        <p:spPr>
          <a:xfrm>
            <a:off x="605443" y="1483552"/>
            <a:ext cx="10739248" cy="923329"/>
          </a:xfrm>
          <a:prstGeom prst="rect">
            <a:avLst/>
          </a:prstGeom>
        </p:spPr>
        <p:txBody>
          <a:bodyPr>
            <a:spAutoFit/>
          </a:bodyPr>
          <a:lstStyle>
            <a:lvl1pPr marL="0" indent="0">
              <a:lnSpc>
                <a:spcPct val="100000"/>
              </a:lnSpc>
              <a:spcBef>
                <a:spcPts val="600"/>
              </a:spcBef>
              <a:buNone/>
              <a:defRPr sz="2600"/>
            </a:lvl1pPr>
            <a:lvl2pPr marL="481001" indent="-228594">
              <a:lnSpc>
                <a:spcPct val="100000"/>
              </a:lnSpc>
              <a:spcBef>
                <a:spcPts val="600"/>
              </a:spcBef>
              <a:defRPr sz="1600"/>
            </a:lvl2pPr>
            <a:lvl3pPr marL="708008" indent="-228594">
              <a:lnSpc>
                <a:spcPct val="100000"/>
              </a:lnSpc>
              <a:spcBef>
                <a:spcPts val="600"/>
              </a:spcBef>
              <a:defRPr sz="1600"/>
            </a:lvl3pPr>
            <a:lvl4pPr marL="933427" indent="-228594">
              <a:lnSpc>
                <a:spcPct val="100000"/>
              </a:lnSpc>
              <a:spcBef>
                <a:spcPts val="600"/>
              </a:spcBef>
              <a:defRPr sz="1600"/>
            </a:lvl4pPr>
            <a:lvl5pPr marL="1130272" indent="-228594">
              <a:lnSpc>
                <a:spcPct val="100000"/>
              </a:lnSpc>
              <a:spcBef>
                <a:spcPts val="600"/>
              </a:spcBef>
              <a:defRPr sz="1600"/>
            </a:lvl5pPr>
          </a:lstStyle>
          <a:p>
            <a:pPr lvl="0"/>
            <a:r>
              <a:rPr lang="en-US"/>
              <a:t>Subtitle text to be added here in two lines. The second line is optional in this case.</a:t>
            </a:r>
            <a:endParaRPr lang="en-IN"/>
          </a:p>
        </p:txBody>
      </p:sp>
    </p:spTree>
    <p:extLst>
      <p:ext uri="{BB962C8B-B14F-4D97-AF65-F5344CB8AC3E}">
        <p14:creationId xmlns:p14="http://schemas.microsoft.com/office/powerpoint/2010/main" val="19308971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Bleed Image +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77B5801-B6B4-44F9-B8F7-3EE389260535}"/>
              </a:ext>
            </a:extLst>
          </p:cNvPr>
          <p:cNvSpPr>
            <a:spLocks noGrp="1"/>
          </p:cNvSpPr>
          <p:nvPr>
            <p:ph type="body" sz="quarter" idx="14" hasCustomPrompt="1"/>
          </p:nvPr>
        </p:nvSpPr>
        <p:spPr>
          <a:xfrm>
            <a:off x="1" y="4165601"/>
            <a:ext cx="5304529" cy="2047875"/>
          </a:xfrm>
          <a:prstGeom prst="rect">
            <a:avLst/>
          </a:prstGeom>
          <a:solidFill>
            <a:schemeClr val="bg1">
              <a:lumMod val="85000"/>
              <a:alpha val="85000"/>
            </a:schemeClr>
          </a:solidFill>
        </p:spPr>
        <p:txBody>
          <a:bodyPr lIns="720000" anchor="ctr"/>
          <a:lstStyle>
            <a:lvl1pPr marL="0" indent="0">
              <a:lnSpc>
                <a:spcPct val="100000"/>
              </a:lnSpc>
              <a:buNone/>
              <a:defRPr sz="2700"/>
            </a:lvl1pPr>
          </a:lstStyle>
          <a:p>
            <a:pPr lvl="0"/>
            <a:r>
              <a:rPr lang="en-US"/>
              <a:t>Add this grey patch in 15% transparency over a full image for text to be visible </a:t>
            </a:r>
            <a:endParaRPr lang="en-IN"/>
          </a:p>
        </p:txBody>
      </p:sp>
      <p:sp>
        <p:nvSpPr>
          <p:cNvPr id="13" name="Picture Placeholder 12">
            <a:extLst>
              <a:ext uri="{FF2B5EF4-FFF2-40B4-BE49-F238E27FC236}">
                <a16:creationId xmlns:a16="http://schemas.microsoft.com/office/drawing/2014/main" id="{6D10EE43-666F-1842-B517-A52976532723}"/>
              </a:ext>
            </a:extLst>
          </p:cNvPr>
          <p:cNvSpPr>
            <a:spLocks noGrp="1"/>
          </p:cNvSpPr>
          <p:nvPr>
            <p:ph type="pic" sz="quarter" idx="13" hasCustomPrompt="1"/>
          </p:nvPr>
        </p:nvSpPr>
        <p:spPr>
          <a:xfrm>
            <a:off x="0" y="1"/>
            <a:ext cx="12193588"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IMAGES</a:t>
            </a:r>
          </a:p>
        </p:txBody>
      </p:sp>
    </p:spTree>
    <p:extLst>
      <p:ext uri="{BB962C8B-B14F-4D97-AF65-F5344CB8AC3E}">
        <p14:creationId xmlns:p14="http://schemas.microsoft.com/office/powerpoint/2010/main" val="146928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 Images + Highlight">
    <p:spTree>
      <p:nvGrpSpPr>
        <p:cNvPr id="1" name=""/>
        <p:cNvGrpSpPr/>
        <p:nvPr/>
      </p:nvGrpSpPr>
      <p:grpSpPr>
        <a:xfrm>
          <a:off x="0" y="0"/>
          <a:ext cx="0" cy="0"/>
          <a:chOff x="0" y="0"/>
          <a:chExt cx="0" cy="0"/>
        </a:xfrm>
      </p:grpSpPr>
      <p:sp>
        <p:nvSpPr>
          <p:cNvPr id="6" name="Picture Placeholder 12">
            <a:extLst>
              <a:ext uri="{FF2B5EF4-FFF2-40B4-BE49-F238E27FC236}">
                <a16:creationId xmlns:a16="http://schemas.microsoft.com/office/drawing/2014/main" id="{2DC6E32C-0644-466D-BEF3-88F26564E10C}"/>
              </a:ext>
            </a:extLst>
          </p:cNvPr>
          <p:cNvSpPr>
            <a:spLocks noGrp="1"/>
          </p:cNvSpPr>
          <p:nvPr>
            <p:ph type="pic" sz="quarter" idx="13" hasCustomPrompt="1"/>
          </p:nvPr>
        </p:nvSpPr>
        <p:spPr>
          <a:xfrm>
            <a:off x="0" y="1500"/>
            <a:ext cx="6076471" cy="63612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- 1</a:t>
            </a:r>
          </a:p>
        </p:txBody>
      </p:sp>
      <p:sp>
        <p:nvSpPr>
          <p:cNvPr id="8" name="Text Placeholder 3">
            <a:extLst>
              <a:ext uri="{FF2B5EF4-FFF2-40B4-BE49-F238E27FC236}">
                <a16:creationId xmlns:a16="http://schemas.microsoft.com/office/drawing/2014/main" id="{5D0299D1-B6B7-48BC-BCC9-7379DD7C6835}"/>
              </a:ext>
            </a:extLst>
          </p:cNvPr>
          <p:cNvSpPr>
            <a:spLocks noGrp="1"/>
          </p:cNvSpPr>
          <p:nvPr>
            <p:ph type="body" sz="half" idx="15" hasCustomPrompt="1"/>
          </p:nvPr>
        </p:nvSpPr>
        <p:spPr>
          <a:xfrm>
            <a:off x="0" y="4630233"/>
            <a:ext cx="5121307" cy="1169551"/>
          </a:xfrm>
          <a:prstGeom prst="rect">
            <a:avLst/>
          </a:prstGeom>
          <a:solidFill>
            <a:schemeClr val="bg1">
              <a:lumMod val="85000"/>
              <a:alpha val="85000"/>
            </a:schemeClr>
          </a:solidFill>
        </p:spPr>
        <p:txBody>
          <a:bodyPr wrap="square" anchor="ctr">
            <a:spAutoFit/>
          </a:bodyPr>
          <a:lstStyle>
            <a:lvl1pPr marL="628635" indent="0" algn="l">
              <a:lnSpc>
                <a:spcPct val="100000"/>
              </a:lnSpc>
              <a:spcBef>
                <a:spcPts val="0"/>
              </a:spcBef>
              <a:buNone/>
              <a:defRPr sz="68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00%</a:t>
            </a:r>
          </a:p>
        </p:txBody>
      </p:sp>
      <p:sp>
        <p:nvSpPr>
          <p:cNvPr id="9" name="Picture Placeholder 12">
            <a:extLst>
              <a:ext uri="{FF2B5EF4-FFF2-40B4-BE49-F238E27FC236}">
                <a16:creationId xmlns:a16="http://schemas.microsoft.com/office/drawing/2014/main" id="{09957EFD-6026-4496-BDA8-33CA897C691F}"/>
              </a:ext>
            </a:extLst>
          </p:cNvPr>
          <p:cNvSpPr>
            <a:spLocks noGrp="1"/>
          </p:cNvSpPr>
          <p:nvPr>
            <p:ph type="pic" sz="quarter" idx="14" hasCustomPrompt="1"/>
          </p:nvPr>
        </p:nvSpPr>
        <p:spPr>
          <a:xfrm>
            <a:off x="6117890" y="1"/>
            <a:ext cx="6075698" cy="6362700"/>
          </a:xfrm>
          <a:prstGeom prst="rect">
            <a:avLst/>
          </a:prstGeom>
        </p:spPr>
        <p:txBody>
          <a:bodyPr/>
          <a:lstStyle>
            <a:lvl1pPr marL="0" indent="0">
              <a:lnSpc>
                <a:spcPct val="100000"/>
              </a:lnSpc>
              <a:buNone/>
              <a:defRPr sz="1600">
                <a:solidFill>
                  <a:srgbClr val="6B6B6B"/>
                </a:solidFill>
                <a:latin typeface="+mn-lt"/>
              </a:defRPr>
            </a:lvl1pPr>
          </a:lstStyle>
          <a:p>
            <a:r>
              <a:rPr lang="en-US"/>
              <a:t>INSERT HI- RES IMAGE - 2</a:t>
            </a:r>
          </a:p>
        </p:txBody>
      </p:sp>
      <p:sp>
        <p:nvSpPr>
          <p:cNvPr id="7" name="Text Placeholder 3">
            <a:extLst>
              <a:ext uri="{FF2B5EF4-FFF2-40B4-BE49-F238E27FC236}">
                <a16:creationId xmlns:a16="http://schemas.microsoft.com/office/drawing/2014/main" id="{597A81CE-4E6A-415B-B4CD-7C821AF9E204}"/>
              </a:ext>
            </a:extLst>
          </p:cNvPr>
          <p:cNvSpPr>
            <a:spLocks noGrp="1"/>
          </p:cNvSpPr>
          <p:nvPr>
            <p:ph type="body" sz="half" idx="2" hasCustomPrompt="1"/>
          </p:nvPr>
        </p:nvSpPr>
        <p:spPr>
          <a:xfrm>
            <a:off x="2824077" y="4661009"/>
            <a:ext cx="2297230" cy="1107996"/>
          </a:xfrm>
          <a:prstGeom prst="rect">
            <a:avLst/>
          </a:prstGeom>
          <a:noFill/>
        </p:spPr>
        <p:txBody>
          <a:bodyPr anchor="ctr">
            <a:spAutoFit/>
          </a:bodyPr>
          <a:lstStyle>
            <a:lvl1pPr marL="0" indent="0">
              <a:lnSpc>
                <a:spcPct val="100000"/>
              </a:lnSpc>
              <a:spcBef>
                <a:spcPts val="0"/>
              </a:spcBef>
              <a:buNone/>
              <a:defRPr sz="160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r>
              <a:rPr lang="en-US"/>
              <a:t>Add this grey patch in 15% transparency over a full image for text to be visible </a:t>
            </a:r>
          </a:p>
        </p:txBody>
      </p:sp>
    </p:spTree>
    <p:extLst>
      <p:ext uri="{BB962C8B-B14F-4D97-AF65-F5344CB8AC3E}">
        <p14:creationId xmlns:p14="http://schemas.microsoft.com/office/powerpoint/2010/main" val="35810985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takeholders chart structure">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932" y="1163201"/>
            <a:ext cx="8301"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3">
            <a:extLst>
              <a:ext uri="{FF2B5EF4-FFF2-40B4-BE49-F238E27FC236}">
                <a16:creationId xmlns:a16="http://schemas.microsoft.com/office/drawing/2014/main" id="{5BEAC6F4-2358-8945-9692-77054259F9D5}"/>
              </a:ext>
            </a:extLst>
          </p:cNvPr>
          <p:cNvSpPr>
            <a:spLocks noGrp="1"/>
          </p:cNvSpPr>
          <p:nvPr>
            <p:ph type="body" sz="half" idx="25" hasCustomPrompt="1"/>
          </p:nvPr>
        </p:nvSpPr>
        <p:spPr>
          <a:xfrm>
            <a:off x="608743" y="1204043"/>
            <a:ext cx="10864027" cy="492443"/>
          </a:xfrm>
          <a:prstGeom prst="rect">
            <a:avLst/>
          </a:prstGeom>
        </p:spPr>
        <p:txBody>
          <a:bodyPr>
            <a:spAutoFit/>
          </a:bodyPr>
          <a:lstStyle>
            <a:lvl1pPr marL="0" indent="0">
              <a:lnSpc>
                <a:spcPct val="100000"/>
              </a:lnSpc>
              <a:buNone/>
              <a:defRPr sz="2600" b="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Title that describes the image.</a:t>
            </a:r>
          </a:p>
        </p:txBody>
      </p:sp>
      <p:sp>
        <p:nvSpPr>
          <p:cNvPr id="30" name="Title 1">
            <a:extLst>
              <a:ext uri="{FF2B5EF4-FFF2-40B4-BE49-F238E27FC236}">
                <a16:creationId xmlns:a16="http://schemas.microsoft.com/office/drawing/2014/main" id="{F274C6F3-7207-4444-B514-67026B20162D}"/>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0" name="Rounded Rectangle 22">
            <a:extLst>
              <a:ext uri="{FF2B5EF4-FFF2-40B4-BE49-F238E27FC236}">
                <a16:creationId xmlns:a16="http://schemas.microsoft.com/office/drawing/2014/main" id="{9107712D-9CD1-4EFB-B209-9B155409C7C1}"/>
              </a:ext>
            </a:extLst>
          </p:cNvPr>
          <p:cNvSpPr/>
          <p:nvPr/>
        </p:nvSpPr>
        <p:spPr>
          <a:xfrm>
            <a:off x="734141" y="2744790"/>
            <a:ext cx="5351540" cy="346868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solidFill>
                <a:schemeClr val="tx1"/>
              </a:solidFill>
              <a:latin typeface="+mn-lt"/>
              <a:ea typeface="Open Sans" panose="020B0606030504020204" pitchFamily="34" charset="0"/>
              <a:cs typeface="Open Sans" panose="020B0606030504020204" pitchFamily="34" charset="0"/>
            </a:endParaRPr>
          </a:p>
        </p:txBody>
      </p:sp>
      <p:sp>
        <p:nvSpPr>
          <p:cNvPr id="21" name="Rounded Rectangle 23">
            <a:extLst>
              <a:ext uri="{FF2B5EF4-FFF2-40B4-BE49-F238E27FC236}">
                <a16:creationId xmlns:a16="http://schemas.microsoft.com/office/drawing/2014/main" id="{F1E9D45D-3C2A-4064-BE8F-87DD154B2AD2}"/>
              </a:ext>
            </a:extLst>
          </p:cNvPr>
          <p:cNvSpPr/>
          <p:nvPr/>
        </p:nvSpPr>
        <p:spPr>
          <a:xfrm>
            <a:off x="6189924" y="2744790"/>
            <a:ext cx="5288999" cy="3468687"/>
          </a:xfrm>
          <a:prstGeom prst="roundRect">
            <a:avLst>
              <a:gd name="adj" fmla="val 2889"/>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solidFill>
                <a:schemeClr val="tx1"/>
              </a:solidFill>
              <a:latin typeface="+mn-lt"/>
              <a:ea typeface="Open Sans" panose="020B0606030504020204" pitchFamily="34" charset="0"/>
              <a:cs typeface="Open Sans" panose="020B0606030504020204" pitchFamily="34" charset="0"/>
            </a:endParaRPr>
          </a:p>
        </p:txBody>
      </p:sp>
      <p:sp>
        <p:nvSpPr>
          <p:cNvPr id="29" name="Text Placeholder 2">
            <a:extLst>
              <a:ext uri="{FF2B5EF4-FFF2-40B4-BE49-F238E27FC236}">
                <a16:creationId xmlns:a16="http://schemas.microsoft.com/office/drawing/2014/main" id="{11400CDA-A3DA-43A3-9170-62364AF260B1}"/>
              </a:ext>
            </a:extLst>
          </p:cNvPr>
          <p:cNvSpPr>
            <a:spLocks noGrp="1"/>
          </p:cNvSpPr>
          <p:nvPr>
            <p:ph type="body" sz="quarter" idx="14"/>
          </p:nvPr>
        </p:nvSpPr>
        <p:spPr>
          <a:xfrm>
            <a:off x="734140" y="1942705"/>
            <a:ext cx="10725309" cy="635891"/>
          </a:xfrm>
          <a:prstGeom prst="round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0000" tIns="46800" rIns="90000" bIns="46800" anchor="ctr">
            <a:no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Click to edit Master text styles</a:t>
            </a:r>
          </a:p>
        </p:txBody>
      </p:sp>
      <p:sp>
        <p:nvSpPr>
          <p:cNvPr id="31" name="Text Placeholder 2">
            <a:extLst>
              <a:ext uri="{FF2B5EF4-FFF2-40B4-BE49-F238E27FC236}">
                <a16:creationId xmlns:a16="http://schemas.microsoft.com/office/drawing/2014/main" id="{1B7598BF-B756-4258-A753-99B23E5D4C24}"/>
              </a:ext>
            </a:extLst>
          </p:cNvPr>
          <p:cNvSpPr>
            <a:spLocks noGrp="1"/>
          </p:cNvSpPr>
          <p:nvPr>
            <p:ph type="body" sz="quarter" idx="26" hasCustomPrompt="1"/>
          </p:nvPr>
        </p:nvSpPr>
        <p:spPr>
          <a:xfrm>
            <a:off x="899050" y="2914425"/>
            <a:ext cx="5022654"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Core Team</a:t>
            </a:r>
            <a:endParaRPr lang="en-US"/>
          </a:p>
        </p:txBody>
      </p:sp>
      <p:sp>
        <p:nvSpPr>
          <p:cNvPr id="32" name="Text Placeholder 2">
            <a:extLst>
              <a:ext uri="{FF2B5EF4-FFF2-40B4-BE49-F238E27FC236}">
                <a16:creationId xmlns:a16="http://schemas.microsoft.com/office/drawing/2014/main" id="{BF77EAB8-2662-4077-A02E-83C6B93A6F71}"/>
              </a:ext>
            </a:extLst>
          </p:cNvPr>
          <p:cNvSpPr>
            <a:spLocks noGrp="1"/>
          </p:cNvSpPr>
          <p:nvPr>
            <p:ph type="body" sz="quarter" idx="27" hasCustomPrompt="1"/>
          </p:nvPr>
        </p:nvSpPr>
        <p:spPr>
          <a:xfrm>
            <a:off x="899050" y="3477930"/>
            <a:ext cx="5022654" cy="316113"/>
          </a:xfrm>
          <a:prstGeom prst="rect">
            <a:avLst/>
          </a:prstGeom>
        </p:spPr>
        <p:txBody>
          <a:bodyPr lIns="90000" tIns="46800" rIns="90000" bIns="46800" anchor="t">
            <a:spAutoFit/>
          </a:bodyPr>
          <a:lstStyle>
            <a:lvl1pPr marL="0" marR="0" indent="0" algn="l" defTabSz="914377" rtl="0" eaLnBrk="1" fontAlgn="auto" latinLnBrk="0" hangingPunct="1">
              <a:lnSpc>
                <a:spcPct val="100000"/>
              </a:lnSpc>
              <a:spcBef>
                <a:spcPts val="0"/>
              </a:spcBef>
              <a:spcAft>
                <a:spcPts val="0"/>
              </a:spcAft>
              <a:buClrTx/>
              <a:buSzTx/>
              <a:buFontTx/>
              <a:buNone/>
              <a:tabLst/>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45" name="Text Placeholder 2">
            <a:extLst>
              <a:ext uri="{FF2B5EF4-FFF2-40B4-BE49-F238E27FC236}">
                <a16:creationId xmlns:a16="http://schemas.microsoft.com/office/drawing/2014/main" id="{C4E93A6C-9403-4660-89BE-FA48C6A679B6}"/>
              </a:ext>
            </a:extLst>
          </p:cNvPr>
          <p:cNvSpPr>
            <a:spLocks noGrp="1"/>
          </p:cNvSpPr>
          <p:nvPr>
            <p:ph type="body" sz="quarter" idx="33" hasCustomPrompt="1"/>
          </p:nvPr>
        </p:nvSpPr>
        <p:spPr>
          <a:xfrm>
            <a:off x="6323097" y="3477929"/>
            <a:ext cx="5022654" cy="340735"/>
          </a:xfrm>
          <a:prstGeom prst="rect">
            <a:avLst/>
          </a:prstGeom>
        </p:spPr>
        <p:txBody>
          <a:bodyPr lIns="90000" tIns="46800" rIns="90000" bIns="46800"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a:t>
            </a:r>
            <a:endParaRPr lang="en-US"/>
          </a:p>
        </p:txBody>
      </p:sp>
      <p:sp>
        <p:nvSpPr>
          <p:cNvPr id="48" name="Text Placeholder 2">
            <a:extLst>
              <a:ext uri="{FF2B5EF4-FFF2-40B4-BE49-F238E27FC236}">
                <a16:creationId xmlns:a16="http://schemas.microsoft.com/office/drawing/2014/main" id="{D8E11F1F-66BD-4891-BAFE-1A8D9EB5B7E3}"/>
              </a:ext>
            </a:extLst>
          </p:cNvPr>
          <p:cNvSpPr>
            <a:spLocks noGrp="1"/>
          </p:cNvSpPr>
          <p:nvPr>
            <p:ph type="body" sz="quarter" idx="38" hasCustomPrompt="1"/>
          </p:nvPr>
        </p:nvSpPr>
        <p:spPr>
          <a:xfrm>
            <a:off x="6323097" y="2914425"/>
            <a:ext cx="5022654" cy="340735"/>
          </a:xfrm>
          <a:prstGeom prst="rect">
            <a:avLst/>
          </a:prstGeom>
        </p:spPr>
        <p:txBody>
          <a:bodyPr lIns="90000" tIns="46800" rIns="90000" bIns="46800"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Supporting Teams &amp; Capabilities</a:t>
            </a:r>
            <a:endParaRPr lang="en-US"/>
          </a:p>
        </p:txBody>
      </p:sp>
    </p:spTree>
    <p:extLst>
      <p:ext uri="{BB962C8B-B14F-4D97-AF65-F5344CB8AC3E}">
        <p14:creationId xmlns:p14="http://schemas.microsoft.com/office/powerpoint/2010/main" val="17738838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Journey map">
    <p:bg>
      <p:bgPr>
        <a:solidFill>
          <a:schemeClr val="bg2">
            <a:alpha val="40000"/>
          </a:schemeClr>
        </a:solidFill>
        <a:effectLst/>
      </p:bgPr>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A0E14D3D-69D3-49EA-8B61-5F00AF13E2E6}"/>
              </a:ext>
            </a:extLst>
          </p:cNvPr>
          <p:cNvSpPr>
            <a:spLocks noGrp="1"/>
          </p:cNvSpPr>
          <p:nvPr>
            <p:ph type="pic" sz="quarter" idx="76" hasCustomPrompt="1"/>
          </p:nvPr>
        </p:nvSpPr>
        <p:spPr>
          <a:xfrm>
            <a:off x="737036" y="3787661"/>
            <a:ext cx="10857865" cy="190211"/>
          </a:xfrm>
          <a:prstGeom prst="rightArrow">
            <a:avLst/>
          </a:prstGeom>
          <a:solidFill>
            <a:schemeClr val="accent1"/>
          </a:solidFill>
        </p:spPr>
        <p:txBody>
          <a:bodyPr/>
          <a:lstStyle>
            <a:lvl1pPr marL="0" indent="0">
              <a:lnSpc>
                <a:spcPct val="100000"/>
              </a:lnSpc>
              <a:buNone/>
              <a:defRPr/>
            </a:lvl1pPr>
          </a:lstStyle>
          <a:p>
            <a:r>
              <a:rPr lang="en-US"/>
              <a:t> </a:t>
            </a:r>
            <a:endParaRPr lang="en-IN"/>
          </a:p>
        </p:txBody>
      </p:sp>
      <p:sp>
        <p:nvSpPr>
          <p:cNvPr id="84" name="Text Placeholder 2">
            <a:extLst>
              <a:ext uri="{FF2B5EF4-FFF2-40B4-BE49-F238E27FC236}">
                <a16:creationId xmlns:a16="http://schemas.microsoft.com/office/drawing/2014/main" id="{9B26CDF5-5477-479B-915A-5E29865A4099}"/>
              </a:ext>
            </a:extLst>
          </p:cNvPr>
          <p:cNvSpPr>
            <a:spLocks noGrp="1"/>
          </p:cNvSpPr>
          <p:nvPr>
            <p:ph type="body" sz="quarter" idx="84" hasCustomPrompt="1"/>
          </p:nvPr>
        </p:nvSpPr>
        <p:spPr>
          <a:xfrm rot="5400000" flipV="1">
            <a:off x="9104129"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6" name="Text Placeholder 2">
            <a:extLst>
              <a:ext uri="{FF2B5EF4-FFF2-40B4-BE49-F238E27FC236}">
                <a16:creationId xmlns:a16="http://schemas.microsoft.com/office/drawing/2014/main" id="{F388BF24-09A4-461E-85CF-A1DB9C043B3D}"/>
              </a:ext>
            </a:extLst>
          </p:cNvPr>
          <p:cNvSpPr>
            <a:spLocks noGrp="1"/>
          </p:cNvSpPr>
          <p:nvPr>
            <p:ph type="body" sz="quarter" idx="85" hasCustomPrompt="1"/>
          </p:nvPr>
        </p:nvSpPr>
        <p:spPr>
          <a:xfrm rot="5400000" flipV="1">
            <a:off x="7540725"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7" name="Text Placeholder 2">
            <a:extLst>
              <a:ext uri="{FF2B5EF4-FFF2-40B4-BE49-F238E27FC236}">
                <a16:creationId xmlns:a16="http://schemas.microsoft.com/office/drawing/2014/main" id="{74937548-7795-4F5B-8764-0F68D8FECCDB}"/>
              </a:ext>
            </a:extLst>
          </p:cNvPr>
          <p:cNvSpPr>
            <a:spLocks noGrp="1"/>
          </p:cNvSpPr>
          <p:nvPr>
            <p:ph type="body" sz="quarter" idx="86" hasCustomPrompt="1"/>
          </p:nvPr>
        </p:nvSpPr>
        <p:spPr>
          <a:xfrm rot="5400000" flipV="1">
            <a:off x="5977322"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8" name="Text Placeholder 2">
            <a:extLst>
              <a:ext uri="{FF2B5EF4-FFF2-40B4-BE49-F238E27FC236}">
                <a16:creationId xmlns:a16="http://schemas.microsoft.com/office/drawing/2014/main" id="{0DDFA9BB-B827-468F-A168-71ECD5BED92A}"/>
              </a:ext>
            </a:extLst>
          </p:cNvPr>
          <p:cNvSpPr>
            <a:spLocks noGrp="1"/>
          </p:cNvSpPr>
          <p:nvPr>
            <p:ph type="body" sz="quarter" idx="87" hasCustomPrompt="1"/>
          </p:nvPr>
        </p:nvSpPr>
        <p:spPr>
          <a:xfrm rot="5400000" flipV="1">
            <a:off x="4413918"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9" name="Text Placeholder 2">
            <a:extLst>
              <a:ext uri="{FF2B5EF4-FFF2-40B4-BE49-F238E27FC236}">
                <a16:creationId xmlns:a16="http://schemas.microsoft.com/office/drawing/2014/main" id="{045EBFD7-773A-4D59-B6BA-0EEB9B62B5F0}"/>
              </a:ext>
            </a:extLst>
          </p:cNvPr>
          <p:cNvSpPr>
            <a:spLocks noGrp="1"/>
          </p:cNvSpPr>
          <p:nvPr>
            <p:ph type="body" sz="quarter" idx="88" hasCustomPrompt="1"/>
          </p:nvPr>
        </p:nvSpPr>
        <p:spPr>
          <a:xfrm rot="5400000" flipV="1">
            <a:off x="2850514"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90" name="Text Placeholder 2">
            <a:extLst>
              <a:ext uri="{FF2B5EF4-FFF2-40B4-BE49-F238E27FC236}">
                <a16:creationId xmlns:a16="http://schemas.microsoft.com/office/drawing/2014/main" id="{5328C5A8-EEB0-489C-9E4E-A15320220786}"/>
              </a:ext>
            </a:extLst>
          </p:cNvPr>
          <p:cNvSpPr>
            <a:spLocks noGrp="1"/>
          </p:cNvSpPr>
          <p:nvPr>
            <p:ph type="body" sz="quarter" idx="89" hasCustomPrompt="1"/>
          </p:nvPr>
        </p:nvSpPr>
        <p:spPr>
          <a:xfrm rot="5400000" flipV="1">
            <a:off x="1287111" y="4697907"/>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135" name="Text Placeholder 2">
            <a:extLst>
              <a:ext uri="{FF2B5EF4-FFF2-40B4-BE49-F238E27FC236}">
                <a16:creationId xmlns:a16="http://schemas.microsoft.com/office/drawing/2014/main" id="{37C1E9B7-D5ED-431C-8D45-2FA28C591976}"/>
              </a:ext>
            </a:extLst>
          </p:cNvPr>
          <p:cNvSpPr>
            <a:spLocks noGrp="1"/>
          </p:cNvSpPr>
          <p:nvPr>
            <p:ph type="body" sz="quarter" idx="62" hasCustomPrompt="1"/>
          </p:nvPr>
        </p:nvSpPr>
        <p:spPr>
          <a:xfrm rot="16200000">
            <a:off x="9885833"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7" name="Text Placeholder 2">
            <a:extLst>
              <a:ext uri="{FF2B5EF4-FFF2-40B4-BE49-F238E27FC236}">
                <a16:creationId xmlns:a16="http://schemas.microsoft.com/office/drawing/2014/main" id="{A56FFCCA-D544-4B46-A684-DD8C31990F16}"/>
              </a:ext>
            </a:extLst>
          </p:cNvPr>
          <p:cNvSpPr>
            <a:spLocks noGrp="1"/>
          </p:cNvSpPr>
          <p:nvPr>
            <p:ph type="body" sz="quarter" idx="77" hasCustomPrompt="1"/>
          </p:nvPr>
        </p:nvSpPr>
        <p:spPr>
          <a:xfrm rot="16200000">
            <a:off x="8322427"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8" name="Text Placeholder 2">
            <a:extLst>
              <a:ext uri="{FF2B5EF4-FFF2-40B4-BE49-F238E27FC236}">
                <a16:creationId xmlns:a16="http://schemas.microsoft.com/office/drawing/2014/main" id="{4CFD27C8-EB49-4E9D-94E9-66A5B78ACBD3}"/>
              </a:ext>
            </a:extLst>
          </p:cNvPr>
          <p:cNvSpPr>
            <a:spLocks noGrp="1"/>
          </p:cNvSpPr>
          <p:nvPr>
            <p:ph type="body" sz="quarter" idx="78" hasCustomPrompt="1"/>
          </p:nvPr>
        </p:nvSpPr>
        <p:spPr>
          <a:xfrm rot="16200000">
            <a:off x="6759024"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79" name="Text Placeholder 2">
            <a:extLst>
              <a:ext uri="{FF2B5EF4-FFF2-40B4-BE49-F238E27FC236}">
                <a16:creationId xmlns:a16="http://schemas.microsoft.com/office/drawing/2014/main" id="{5D1EB028-1273-4F57-9ADD-A1BDD1FFC194}"/>
              </a:ext>
            </a:extLst>
          </p:cNvPr>
          <p:cNvSpPr>
            <a:spLocks noGrp="1"/>
          </p:cNvSpPr>
          <p:nvPr>
            <p:ph type="body" sz="quarter" idx="79" hasCustomPrompt="1"/>
          </p:nvPr>
        </p:nvSpPr>
        <p:spPr>
          <a:xfrm rot="16200000">
            <a:off x="5195620"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0" name="Text Placeholder 2">
            <a:extLst>
              <a:ext uri="{FF2B5EF4-FFF2-40B4-BE49-F238E27FC236}">
                <a16:creationId xmlns:a16="http://schemas.microsoft.com/office/drawing/2014/main" id="{0D2DF2C5-1B2A-4A10-8CE6-D121D8C441E1}"/>
              </a:ext>
            </a:extLst>
          </p:cNvPr>
          <p:cNvSpPr>
            <a:spLocks noGrp="1"/>
          </p:cNvSpPr>
          <p:nvPr>
            <p:ph type="body" sz="quarter" idx="80" hasCustomPrompt="1"/>
          </p:nvPr>
        </p:nvSpPr>
        <p:spPr>
          <a:xfrm rot="16200000">
            <a:off x="3632216"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1" name="Text Placeholder 2">
            <a:extLst>
              <a:ext uri="{FF2B5EF4-FFF2-40B4-BE49-F238E27FC236}">
                <a16:creationId xmlns:a16="http://schemas.microsoft.com/office/drawing/2014/main" id="{A3992E2A-7C4E-4CBE-AA28-62A84555EF94}"/>
              </a:ext>
            </a:extLst>
          </p:cNvPr>
          <p:cNvSpPr>
            <a:spLocks noGrp="1"/>
          </p:cNvSpPr>
          <p:nvPr>
            <p:ph type="body" sz="quarter" idx="81" hasCustomPrompt="1"/>
          </p:nvPr>
        </p:nvSpPr>
        <p:spPr>
          <a:xfrm rot="16200000">
            <a:off x="2068813"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82" name="Text Placeholder 2">
            <a:extLst>
              <a:ext uri="{FF2B5EF4-FFF2-40B4-BE49-F238E27FC236}">
                <a16:creationId xmlns:a16="http://schemas.microsoft.com/office/drawing/2014/main" id="{B1731A51-8B04-491A-837A-961CFDC775E6}"/>
              </a:ext>
            </a:extLst>
          </p:cNvPr>
          <p:cNvSpPr>
            <a:spLocks noGrp="1"/>
          </p:cNvSpPr>
          <p:nvPr>
            <p:ph type="body" sz="quarter" idx="82" hasCustomPrompt="1"/>
          </p:nvPr>
        </p:nvSpPr>
        <p:spPr>
          <a:xfrm rot="16200000">
            <a:off x="505409" y="1672720"/>
            <a:ext cx="1782847" cy="1393381"/>
          </a:xfrm>
          <a:prstGeom prst="accentCallout1">
            <a:avLst>
              <a:gd name="adj1" fmla="val 50218"/>
              <a:gd name="adj2" fmla="val -682"/>
              <a:gd name="adj3" fmla="val 50454"/>
              <a:gd name="adj4" fmla="val -34786"/>
            </a:avLst>
          </a:prstGeom>
          <a:solidFill>
            <a:schemeClr val="bg1"/>
          </a:solidFill>
          <a:ln>
            <a:solidFill>
              <a:schemeClr val="bg2">
                <a:lumMod val="50000"/>
              </a:schemeClr>
            </a:solidFill>
            <a:tailEnd type="oval" w="lg" len="lg"/>
          </a:ln>
        </p:spPr>
        <p:txBody>
          <a:bodyPr vert="vert" tIns="72000" anchor="t" anchorCtr="0">
            <a:noAutofit/>
          </a:bodyPr>
          <a:lstStyle>
            <a:lvl1pPr marL="0" indent="0">
              <a:lnSpc>
                <a:spcPct val="100000"/>
              </a:lnSpc>
              <a:buNone/>
              <a:defRPr lang="en-US" sz="1000" b="1" dirty="0">
                <a:solidFill>
                  <a:schemeClr val="tx1"/>
                </a:solidFill>
                <a:latin typeface="+mn-lt"/>
              </a:defRPr>
            </a:lvl1pPr>
          </a:lstStyle>
          <a:p>
            <a:pPr marL="228594" lvl="0" indent="-228594">
              <a:lnSpc>
                <a:spcPct val="100000"/>
              </a:lnSpc>
              <a:spcBef>
                <a:spcPts val="0"/>
              </a:spcBef>
            </a:pPr>
            <a:r>
              <a:rPr lang="en-GB"/>
              <a:t>Sub Head 1</a:t>
            </a:r>
            <a:endParaRPr lang="en-US"/>
          </a:p>
        </p:txBody>
      </p:sp>
      <p:sp>
        <p:nvSpPr>
          <p:cNvPr id="102" name="Text Placeholder 2">
            <a:extLst>
              <a:ext uri="{FF2B5EF4-FFF2-40B4-BE49-F238E27FC236}">
                <a16:creationId xmlns:a16="http://schemas.microsoft.com/office/drawing/2014/main" id="{0E4EF968-8FED-47E0-A4C8-7F9C4EFC243C}"/>
              </a:ext>
            </a:extLst>
          </p:cNvPr>
          <p:cNvSpPr>
            <a:spLocks noGrp="1"/>
          </p:cNvSpPr>
          <p:nvPr>
            <p:ph type="body" sz="quarter" idx="27" hasCustomPrompt="1"/>
          </p:nvPr>
        </p:nvSpPr>
        <p:spPr>
          <a:xfrm>
            <a:off x="700142" y="1806043"/>
            <a:ext cx="1364578" cy="246221"/>
          </a:xfrm>
          <a:prstGeom prst="rect">
            <a:avLst/>
          </a:prstGeom>
        </p:spPr>
        <p:txBody>
          <a:bodyPr wrap="square"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00" name="Text Placeholder 2">
            <a:extLst>
              <a:ext uri="{FF2B5EF4-FFF2-40B4-BE49-F238E27FC236}">
                <a16:creationId xmlns:a16="http://schemas.microsoft.com/office/drawing/2014/main" id="{84F98EE3-3535-4255-A4D2-8C539DE352EE}"/>
              </a:ext>
            </a:extLst>
          </p:cNvPr>
          <p:cNvSpPr>
            <a:spLocks noGrp="1"/>
          </p:cNvSpPr>
          <p:nvPr>
            <p:ph type="body" sz="quarter" idx="53" hasCustomPrompt="1"/>
          </p:nvPr>
        </p:nvSpPr>
        <p:spPr>
          <a:xfrm>
            <a:off x="2263545"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18" name="Text Placeholder 2">
            <a:extLst>
              <a:ext uri="{FF2B5EF4-FFF2-40B4-BE49-F238E27FC236}">
                <a16:creationId xmlns:a16="http://schemas.microsoft.com/office/drawing/2014/main" id="{B9DD3740-A276-4018-A6FD-821C08C3B9F9}"/>
              </a:ext>
            </a:extLst>
          </p:cNvPr>
          <p:cNvSpPr>
            <a:spLocks noGrp="1"/>
          </p:cNvSpPr>
          <p:nvPr>
            <p:ph type="body" sz="quarter" idx="55" hasCustomPrompt="1"/>
          </p:nvPr>
        </p:nvSpPr>
        <p:spPr>
          <a:xfrm>
            <a:off x="3826949"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0" name="Text Placeholder 2">
            <a:extLst>
              <a:ext uri="{FF2B5EF4-FFF2-40B4-BE49-F238E27FC236}">
                <a16:creationId xmlns:a16="http://schemas.microsoft.com/office/drawing/2014/main" id="{79B8AC07-DFA8-4C81-80AF-1E1968421F41}"/>
              </a:ext>
            </a:extLst>
          </p:cNvPr>
          <p:cNvSpPr>
            <a:spLocks noGrp="1"/>
          </p:cNvSpPr>
          <p:nvPr>
            <p:ph type="body" sz="quarter" idx="57" hasCustomPrompt="1"/>
          </p:nvPr>
        </p:nvSpPr>
        <p:spPr>
          <a:xfrm>
            <a:off x="5390353"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2" name="Text Placeholder 2">
            <a:extLst>
              <a:ext uri="{FF2B5EF4-FFF2-40B4-BE49-F238E27FC236}">
                <a16:creationId xmlns:a16="http://schemas.microsoft.com/office/drawing/2014/main" id="{94395EE4-B45F-400E-89D9-6A84163FE3F7}"/>
              </a:ext>
            </a:extLst>
          </p:cNvPr>
          <p:cNvSpPr>
            <a:spLocks noGrp="1"/>
          </p:cNvSpPr>
          <p:nvPr>
            <p:ph type="body" sz="quarter" idx="59" hasCustomPrompt="1"/>
          </p:nvPr>
        </p:nvSpPr>
        <p:spPr>
          <a:xfrm>
            <a:off x="6953756"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4" name="Text Placeholder 2">
            <a:extLst>
              <a:ext uri="{FF2B5EF4-FFF2-40B4-BE49-F238E27FC236}">
                <a16:creationId xmlns:a16="http://schemas.microsoft.com/office/drawing/2014/main" id="{58720481-F0D4-4498-9EE8-F6B658509853}"/>
              </a:ext>
            </a:extLst>
          </p:cNvPr>
          <p:cNvSpPr>
            <a:spLocks noGrp="1"/>
          </p:cNvSpPr>
          <p:nvPr>
            <p:ph type="body" sz="quarter" idx="61" hasCustomPrompt="1"/>
          </p:nvPr>
        </p:nvSpPr>
        <p:spPr>
          <a:xfrm>
            <a:off x="8517160"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6" name="Text Placeholder 2">
            <a:extLst>
              <a:ext uri="{FF2B5EF4-FFF2-40B4-BE49-F238E27FC236}">
                <a16:creationId xmlns:a16="http://schemas.microsoft.com/office/drawing/2014/main" id="{4697D74A-B574-42A3-8026-5D4A23529A99}"/>
              </a:ext>
            </a:extLst>
          </p:cNvPr>
          <p:cNvSpPr>
            <a:spLocks noGrp="1"/>
          </p:cNvSpPr>
          <p:nvPr>
            <p:ph type="body" sz="quarter" idx="63" hasCustomPrompt="1"/>
          </p:nvPr>
        </p:nvSpPr>
        <p:spPr>
          <a:xfrm>
            <a:off x="10080566" y="180604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38" name="Text Placeholder 2">
            <a:extLst>
              <a:ext uri="{FF2B5EF4-FFF2-40B4-BE49-F238E27FC236}">
                <a16:creationId xmlns:a16="http://schemas.microsoft.com/office/drawing/2014/main" id="{0DFA9A7A-BE5B-4489-A0C0-1D636B9F8E4B}"/>
              </a:ext>
            </a:extLst>
          </p:cNvPr>
          <p:cNvSpPr>
            <a:spLocks noGrp="1"/>
          </p:cNvSpPr>
          <p:nvPr>
            <p:ph type="body" sz="quarter" idx="65" hasCustomPrompt="1"/>
          </p:nvPr>
        </p:nvSpPr>
        <p:spPr>
          <a:xfrm>
            <a:off x="1481844"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0" name="Text Placeholder 2">
            <a:extLst>
              <a:ext uri="{FF2B5EF4-FFF2-40B4-BE49-F238E27FC236}">
                <a16:creationId xmlns:a16="http://schemas.microsoft.com/office/drawing/2014/main" id="{90A996B7-9484-40EC-A65B-0A2500F54D66}"/>
              </a:ext>
            </a:extLst>
          </p:cNvPr>
          <p:cNvSpPr>
            <a:spLocks noGrp="1"/>
          </p:cNvSpPr>
          <p:nvPr>
            <p:ph type="body" sz="quarter" idx="67" hasCustomPrompt="1"/>
          </p:nvPr>
        </p:nvSpPr>
        <p:spPr>
          <a:xfrm>
            <a:off x="3045247"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2" name="Text Placeholder 2">
            <a:extLst>
              <a:ext uri="{FF2B5EF4-FFF2-40B4-BE49-F238E27FC236}">
                <a16:creationId xmlns:a16="http://schemas.microsoft.com/office/drawing/2014/main" id="{F9F976D9-BDA0-47D8-881F-0971F9746D52}"/>
              </a:ext>
            </a:extLst>
          </p:cNvPr>
          <p:cNvSpPr>
            <a:spLocks noGrp="1"/>
          </p:cNvSpPr>
          <p:nvPr>
            <p:ph type="body" sz="quarter" idx="69" hasCustomPrompt="1"/>
          </p:nvPr>
        </p:nvSpPr>
        <p:spPr>
          <a:xfrm>
            <a:off x="4608651"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4" name="Text Placeholder 2">
            <a:extLst>
              <a:ext uri="{FF2B5EF4-FFF2-40B4-BE49-F238E27FC236}">
                <a16:creationId xmlns:a16="http://schemas.microsoft.com/office/drawing/2014/main" id="{337594CA-8522-4C74-BA13-D26784E4BD88}"/>
              </a:ext>
            </a:extLst>
          </p:cNvPr>
          <p:cNvSpPr>
            <a:spLocks noGrp="1"/>
          </p:cNvSpPr>
          <p:nvPr>
            <p:ph type="body" sz="quarter" idx="71" hasCustomPrompt="1"/>
          </p:nvPr>
        </p:nvSpPr>
        <p:spPr>
          <a:xfrm>
            <a:off x="6172054"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6" name="Text Placeholder 2">
            <a:extLst>
              <a:ext uri="{FF2B5EF4-FFF2-40B4-BE49-F238E27FC236}">
                <a16:creationId xmlns:a16="http://schemas.microsoft.com/office/drawing/2014/main" id="{45EAA12B-9BD5-4940-A66D-EBEAA011C889}"/>
              </a:ext>
            </a:extLst>
          </p:cNvPr>
          <p:cNvSpPr>
            <a:spLocks noGrp="1"/>
          </p:cNvSpPr>
          <p:nvPr>
            <p:ph type="body" sz="quarter" idx="73" hasCustomPrompt="1"/>
          </p:nvPr>
        </p:nvSpPr>
        <p:spPr>
          <a:xfrm>
            <a:off x="7735458"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148" name="Text Placeholder 2">
            <a:extLst>
              <a:ext uri="{FF2B5EF4-FFF2-40B4-BE49-F238E27FC236}">
                <a16:creationId xmlns:a16="http://schemas.microsoft.com/office/drawing/2014/main" id="{96C5B3B6-A460-489A-ACD8-FADB2CC261F4}"/>
              </a:ext>
            </a:extLst>
          </p:cNvPr>
          <p:cNvSpPr>
            <a:spLocks noGrp="1"/>
          </p:cNvSpPr>
          <p:nvPr>
            <p:ph type="body" sz="quarter" idx="75" hasCustomPrompt="1"/>
          </p:nvPr>
        </p:nvSpPr>
        <p:spPr>
          <a:xfrm>
            <a:off x="9298862" y="4834393"/>
            <a:ext cx="1364578" cy="246221"/>
          </a:xfrm>
          <a:prstGeom prst="rect">
            <a:avLst/>
          </a:prstGeom>
        </p:spPr>
        <p:txBody>
          <a:bodyPr anchor="t">
            <a:spAutoFit/>
          </a:bodyPr>
          <a:lstStyle>
            <a:lvl1pPr marL="0" indent="0">
              <a:lnSpc>
                <a:spcPct val="100000"/>
              </a:lnSpc>
              <a:buNone/>
              <a:defRPr lang="en-US" sz="1000" dirty="0">
                <a:solidFill>
                  <a:schemeClr val="tx1"/>
                </a:solidFill>
                <a:latin typeface="+mn-lt"/>
              </a:defRPr>
            </a:lvl1pPr>
          </a:lstStyle>
          <a:p>
            <a:pPr marL="228594" lvl="0" indent="-228594">
              <a:lnSpc>
                <a:spcPct val="100000"/>
              </a:lnSpc>
              <a:spcBef>
                <a:spcPts val="0"/>
              </a:spcBef>
            </a:pPr>
            <a:r>
              <a:rPr lang="en-GB"/>
              <a:t>Body Text</a:t>
            </a:r>
          </a:p>
        </p:txBody>
      </p:sp>
      <p:sp>
        <p:nvSpPr>
          <p:cNvPr id="56" name="Title 1">
            <a:extLst>
              <a:ext uri="{FF2B5EF4-FFF2-40B4-BE49-F238E27FC236}">
                <a16:creationId xmlns:a16="http://schemas.microsoft.com/office/drawing/2014/main" id="{53E2515F-C5CF-4897-BE5F-E86B2876C356}"/>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5590308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ub Title + Content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4640419" y="644526"/>
            <a:ext cx="6832352"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3">
            <a:extLst>
              <a:ext uri="{FF2B5EF4-FFF2-40B4-BE49-F238E27FC236}">
                <a16:creationId xmlns:a16="http://schemas.microsoft.com/office/drawing/2014/main" id="{C4689938-8426-F245-8F5B-4165AD09FA1B}"/>
              </a:ext>
            </a:extLst>
          </p:cNvPr>
          <p:cNvSpPr>
            <a:spLocks noGrp="1"/>
          </p:cNvSpPr>
          <p:nvPr>
            <p:ph type="body" sz="half" idx="13" hasCustomPrompt="1"/>
          </p:nvPr>
        </p:nvSpPr>
        <p:spPr>
          <a:xfrm>
            <a:off x="621853" y="1971675"/>
            <a:ext cx="3926927" cy="2523768"/>
          </a:xfrm>
          <a:prstGeom prst="rect">
            <a:avLst/>
          </a:prstGeom>
        </p:spPr>
        <p:txBody>
          <a:bodyPr>
            <a:spAutoFit/>
          </a:bodyPr>
          <a:lstStyle>
            <a:lvl1pPr marL="0" indent="0">
              <a:lnSpc>
                <a:spcPct val="100000"/>
              </a:lnSpc>
              <a:buNone/>
              <a:defRPr sz="2600" b="0">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Short Sub Title that describes the image and fits in maximum four lines. Any highlighting to be done in bold or blue</a:t>
            </a:r>
          </a:p>
        </p:txBody>
      </p:sp>
      <p:sp>
        <p:nvSpPr>
          <p:cNvPr id="9" name="Title 1">
            <a:extLst>
              <a:ext uri="{FF2B5EF4-FFF2-40B4-BE49-F238E27FC236}">
                <a16:creationId xmlns:a16="http://schemas.microsoft.com/office/drawing/2014/main" id="{88E9B09B-82CB-4F50-BE65-AAEE816D17B1}"/>
              </a:ext>
            </a:extLst>
          </p:cNvPr>
          <p:cNvSpPr>
            <a:spLocks noGrp="1"/>
          </p:cNvSpPr>
          <p:nvPr>
            <p:ph type="title"/>
          </p:nvPr>
        </p:nvSpPr>
        <p:spPr>
          <a:xfrm>
            <a:off x="616031" y="527693"/>
            <a:ext cx="3926927" cy="892552"/>
          </a:xfrm>
          <a:prstGeom prst="rect">
            <a:avLst/>
          </a:prstGeom>
        </p:spPr>
        <p:txBody>
          <a:bodyPr>
            <a:spAutoFit/>
          </a:bodyPr>
          <a:lstStyle>
            <a:lvl1pPr>
              <a:defRPr lang="en-IN" sz="2600" b="1" i="0" dirty="0">
                <a:latin typeface="+mn-lt"/>
                <a:ea typeface="+mn-ea"/>
                <a:cs typeface="+mn-cs"/>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0070837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 Bullet + Visual">
    <p:spTree>
      <p:nvGrpSpPr>
        <p:cNvPr id="1" name=""/>
        <p:cNvGrpSpPr/>
        <p:nvPr/>
      </p:nvGrpSpPr>
      <p:grpSpPr>
        <a:xfrm>
          <a:off x="0" y="0"/>
          <a:ext cx="0" cy="0"/>
          <a:chOff x="0" y="0"/>
          <a:chExt cx="0" cy="0"/>
        </a:xfrm>
      </p:grpSpPr>
      <p:sp>
        <p:nvSpPr>
          <p:cNvPr id="5" name="Text Placeholder 14">
            <a:extLst>
              <a:ext uri="{FF2B5EF4-FFF2-40B4-BE49-F238E27FC236}">
                <a16:creationId xmlns:a16="http://schemas.microsoft.com/office/drawing/2014/main" id="{DABD7FFA-69E5-41E8-B82E-34B75DFB7888}"/>
              </a:ext>
            </a:extLst>
          </p:cNvPr>
          <p:cNvSpPr>
            <a:spLocks noGrp="1"/>
          </p:cNvSpPr>
          <p:nvPr>
            <p:ph type="body" sz="quarter" idx="15" hasCustomPrompt="1"/>
          </p:nvPr>
        </p:nvSpPr>
        <p:spPr>
          <a:xfrm>
            <a:off x="604917" y="2744789"/>
            <a:ext cx="4539254" cy="2175980"/>
          </a:xfrm>
          <a:prstGeom prst="rect">
            <a:avLst/>
          </a:prstGeom>
        </p:spPr>
        <p:txBody>
          <a:bodyPr wrap="square">
            <a:spAutoFit/>
          </a:bodyPr>
          <a:lstStyle>
            <a:lvl1pPr marL="0" marR="0" indent="0" algn="l" defTabSz="914377" rtl="0" eaLnBrk="1" fontAlgn="auto" latinLnBrk="0" hangingPunct="1">
              <a:lnSpc>
                <a:spcPct val="100000"/>
              </a:lnSpc>
              <a:spcBef>
                <a:spcPts val="1000"/>
              </a:spcBef>
              <a:spcAft>
                <a:spcPts val="0"/>
              </a:spcAft>
              <a:buClr>
                <a:schemeClr val="accent4"/>
              </a:buClr>
              <a:buSzTx/>
              <a:buFont typeface="Arial" panose="020B0604020202020204" pitchFamily="34" charset="0"/>
              <a:buNone/>
              <a:tabLst/>
              <a:defRPr sz="1600">
                <a:solidFill>
                  <a:schemeClr val="tx1"/>
                </a:solidFill>
                <a:latin typeface="+mn-lt"/>
              </a:defRPr>
            </a:lvl1pPr>
            <a:lvl2pPr marL="212720" indent="-212720">
              <a:lnSpc>
                <a:spcPct val="100000"/>
              </a:lnSpc>
              <a:buClr>
                <a:schemeClr val="tx1"/>
              </a:buClr>
              <a:defRPr sz="1600">
                <a:solidFill>
                  <a:schemeClr val="tx1"/>
                </a:solidFill>
              </a:defRPr>
            </a:lvl2pPr>
            <a:lvl3pPr marL="477827" indent="-247644">
              <a:lnSpc>
                <a:spcPct val="100000"/>
              </a:lnSpc>
              <a:spcAft>
                <a:spcPts val="0"/>
              </a:spcAft>
              <a:buClr>
                <a:schemeClr val="tx1"/>
              </a:buClr>
              <a:buFont typeface="Arial" panose="020B0604020202020204" pitchFamily="34" charset="0"/>
              <a:buChar char="•"/>
              <a:defRPr sz="1600">
                <a:solidFill>
                  <a:schemeClr val="tx1"/>
                </a:solidFill>
              </a:defRPr>
            </a:lvl3pPr>
            <a:lvl4pPr marL="255594" marR="0" indent="0" algn="l" defTabSz="914377" rtl="0" eaLnBrk="1" fontAlgn="auto" latinLnBrk="0" hangingPunct="1">
              <a:lnSpc>
                <a:spcPct val="100000"/>
              </a:lnSpc>
              <a:spcBef>
                <a:spcPts val="500"/>
              </a:spcBef>
              <a:spcAft>
                <a:spcPts val="0"/>
              </a:spcAft>
              <a:buClr>
                <a:schemeClr val="tx1"/>
              </a:buClr>
              <a:buSzTx/>
              <a:buFont typeface="Arial" panose="020B0604020202020204" pitchFamily="34" charset="0"/>
              <a:buNone/>
              <a:tabLst/>
              <a:defRPr sz="1600">
                <a:solidFill>
                  <a:schemeClr val="tx1"/>
                </a:solidFill>
              </a:defRPr>
            </a:lvl4pPr>
            <a:lvl5pPr marL="464388" indent="-284393">
              <a:lnSpc>
                <a:spcPct val="100000"/>
              </a:lnSpc>
              <a:defRPr sz="1600"/>
            </a:lvl5pPr>
          </a:lstStyle>
          <a:p>
            <a:pPr lvl="0"/>
            <a:r>
              <a:rPr lang="en-GB"/>
              <a:t>Text that needs to go in bullet points need to follow this template</a:t>
            </a:r>
          </a:p>
          <a:p>
            <a:pPr marL="285744" marR="0" lvl="0" indent="-285744" algn="l" defTabSz="914377" rtl="0" eaLnBrk="1" fontAlgn="auto" latinLnBrk="0" hangingPunct="1">
              <a:lnSpc>
                <a:spcPct val="90000"/>
              </a:lnSpc>
              <a:spcBef>
                <a:spcPts val="1000"/>
              </a:spcBef>
              <a:spcAft>
                <a:spcPts val="0"/>
              </a:spcAft>
              <a:buClrTx/>
              <a:buSzTx/>
              <a:tabLst/>
              <a:defRPr/>
            </a:pPr>
            <a:r>
              <a:rPr lang="en-GB"/>
              <a:t>First level - Sub text in preferably in one line</a:t>
            </a:r>
          </a:p>
          <a:p>
            <a:pPr lvl="1"/>
            <a:r>
              <a:rPr lang="en-GB"/>
              <a:t>Second level</a:t>
            </a:r>
          </a:p>
          <a:p>
            <a:pPr lvl="2"/>
            <a:r>
              <a:rPr lang="en-GB"/>
              <a:t>Sub- Second level</a:t>
            </a:r>
          </a:p>
          <a:p>
            <a:pPr lvl="1"/>
            <a:r>
              <a:rPr lang="en-GB"/>
              <a:t>Third level</a:t>
            </a:r>
          </a:p>
          <a:p>
            <a:pPr lvl="2"/>
            <a:r>
              <a:rPr lang="en-GB"/>
              <a:t>Sub- Third level</a:t>
            </a:r>
          </a:p>
        </p:txBody>
      </p:sp>
      <p:sp>
        <p:nvSpPr>
          <p:cNvPr id="6" name="Content Placeholder 2">
            <a:extLst>
              <a:ext uri="{FF2B5EF4-FFF2-40B4-BE49-F238E27FC236}">
                <a16:creationId xmlns:a16="http://schemas.microsoft.com/office/drawing/2014/main" id="{B60FAA21-A344-43D4-BDA4-FD3275200231}"/>
              </a:ext>
            </a:extLst>
          </p:cNvPr>
          <p:cNvSpPr>
            <a:spLocks noGrp="1"/>
          </p:cNvSpPr>
          <p:nvPr>
            <p:ph idx="1" hasCustomPrompt="1"/>
          </p:nvPr>
        </p:nvSpPr>
        <p:spPr>
          <a:xfrm>
            <a:off x="5291829" y="644526"/>
            <a:ext cx="6180942"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7" name="Title 1">
            <a:extLst>
              <a:ext uri="{FF2B5EF4-FFF2-40B4-BE49-F238E27FC236}">
                <a16:creationId xmlns:a16="http://schemas.microsoft.com/office/drawing/2014/main" id="{55630796-9AED-4972-A5CF-D6D6E73B6F62}"/>
              </a:ext>
            </a:extLst>
          </p:cNvPr>
          <p:cNvSpPr>
            <a:spLocks noGrp="1"/>
          </p:cNvSpPr>
          <p:nvPr>
            <p:ph type="title" hasCustomPrompt="1"/>
          </p:nvPr>
        </p:nvSpPr>
        <p:spPr>
          <a:xfrm>
            <a:off x="604880" y="471371"/>
            <a:ext cx="4539291" cy="2154436"/>
          </a:xfrm>
          <a:prstGeom prst="rect">
            <a:avLst/>
          </a:prstGeom>
        </p:spPr>
        <p:txBody>
          <a:bodyPr>
            <a:spAutoFit/>
          </a:bodyPr>
          <a:lstStyle>
            <a:lvl1pPr>
              <a:lnSpc>
                <a:spcPct val="100000"/>
              </a:lnSpc>
              <a:defRPr b="1">
                <a:latin typeface="+mn-lt"/>
              </a:defRPr>
            </a:lvl1pPr>
          </a:lstStyle>
          <a:p>
            <a:r>
              <a:rPr lang="en-GB"/>
              <a:t>Title in maximum </a:t>
            </a:r>
            <a:br>
              <a:rPr lang="en-GB"/>
            </a:br>
            <a:r>
              <a:rPr lang="en-GB"/>
              <a:t>three lines</a:t>
            </a:r>
            <a:endParaRPr lang="en-IN"/>
          </a:p>
        </p:txBody>
      </p:sp>
    </p:spTree>
    <p:extLst>
      <p:ext uri="{BB962C8B-B14F-4D97-AF65-F5344CB8AC3E}">
        <p14:creationId xmlns:p14="http://schemas.microsoft.com/office/powerpoint/2010/main" val="14289216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 content + 2 Visual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616031" y="4100514"/>
            <a:ext cx="4688499" cy="1723549"/>
          </a:xfrm>
          <a:prstGeom prst="rect">
            <a:avLst/>
          </a:prstGeom>
        </p:spPr>
        <p:txBody>
          <a:bodyPr anchor="t">
            <a:spAutoFit/>
          </a:bodyPr>
          <a:lstStyle>
            <a:lvl1pPr marL="0" indent="0" algn="l">
              <a:lnSpc>
                <a:spcPct val="100000"/>
              </a:lnSpc>
              <a:buNone/>
              <a:defRPr sz="260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in three of four lines maximum. Any highlighting to be done in bold or blue</a:t>
            </a:r>
            <a:endParaRPr lang="en-US"/>
          </a:p>
        </p:txBody>
      </p:sp>
      <p:sp>
        <p:nvSpPr>
          <p:cNvPr id="13" name="Content Placeholder 2">
            <a:extLst>
              <a:ext uri="{FF2B5EF4-FFF2-40B4-BE49-F238E27FC236}">
                <a16:creationId xmlns:a16="http://schemas.microsoft.com/office/drawing/2014/main" id="{17CE1F37-C7DA-0242-B2C0-160371F28412}"/>
              </a:ext>
            </a:extLst>
          </p:cNvPr>
          <p:cNvSpPr>
            <a:spLocks noGrp="1"/>
          </p:cNvSpPr>
          <p:nvPr>
            <p:ph idx="12" hasCustomPrompt="1"/>
          </p:nvPr>
        </p:nvSpPr>
        <p:spPr>
          <a:xfrm>
            <a:off x="6925577" y="3477373"/>
            <a:ext cx="4547192"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6925577" y="644525"/>
            <a:ext cx="4547192" cy="2747963"/>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itle 1">
            <a:extLst>
              <a:ext uri="{FF2B5EF4-FFF2-40B4-BE49-F238E27FC236}">
                <a16:creationId xmlns:a16="http://schemas.microsoft.com/office/drawing/2014/main" id="{2301CBD1-44C8-42DF-AEB1-BC9CB069B9B2}"/>
              </a:ext>
            </a:extLst>
          </p:cNvPr>
          <p:cNvSpPr>
            <a:spLocks noGrp="1"/>
          </p:cNvSpPr>
          <p:nvPr>
            <p:ph type="title"/>
          </p:nvPr>
        </p:nvSpPr>
        <p:spPr>
          <a:xfrm>
            <a:off x="605443" y="498666"/>
            <a:ext cx="5760750" cy="1384995"/>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11084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graphs + Highlight">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FC5EC474-5D54-473F-9E3A-41A08DB05227}"/>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3" name="Text Placeholder 6">
            <a:extLst>
              <a:ext uri="{FF2B5EF4-FFF2-40B4-BE49-F238E27FC236}">
                <a16:creationId xmlns:a16="http://schemas.microsoft.com/office/drawing/2014/main" id="{6EC92998-E102-43FB-9F0D-FE0513A0B097}"/>
              </a:ext>
            </a:extLst>
          </p:cNvPr>
          <p:cNvSpPr>
            <a:spLocks noGrp="1"/>
          </p:cNvSpPr>
          <p:nvPr>
            <p:ph type="body" sz="quarter" idx="18" hasCustomPrompt="1"/>
          </p:nvPr>
        </p:nvSpPr>
        <p:spPr>
          <a:xfrm>
            <a:off x="641060" y="6143891"/>
            <a:ext cx="10718549" cy="215444"/>
          </a:xfrm>
          <a:prstGeom prst="rect">
            <a:avLst/>
          </a:prstGeom>
        </p:spPr>
        <p:txBody>
          <a:bodyPr wrap="square" anchor="b">
            <a:spAutoFit/>
          </a:bodyPr>
          <a:lstStyle>
            <a:lvl1pPr marL="0" indent="0" algn="l">
              <a:lnSpc>
                <a:spcPct val="100000"/>
              </a:lnSpc>
              <a:spcBef>
                <a:spcPts val="0"/>
              </a:spcBef>
              <a:buNone/>
              <a:defRPr sz="800">
                <a:solidFill>
                  <a:schemeClr val="bg1">
                    <a:lumMod val="50000"/>
                  </a:schemeClr>
                </a:solidFill>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annotations or hyperlinks or websites here</a:t>
            </a:r>
          </a:p>
        </p:txBody>
      </p:sp>
      <p:sp>
        <p:nvSpPr>
          <p:cNvPr id="14" name="Content Placeholder 2">
            <a:extLst>
              <a:ext uri="{FF2B5EF4-FFF2-40B4-BE49-F238E27FC236}">
                <a16:creationId xmlns:a16="http://schemas.microsoft.com/office/drawing/2014/main" id="{0799E852-07DB-4C48-BE1E-6E5A5264B339}"/>
              </a:ext>
            </a:extLst>
          </p:cNvPr>
          <p:cNvSpPr>
            <a:spLocks noGrp="1"/>
          </p:cNvSpPr>
          <p:nvPr>
            <p:ph idx="1" hasCustomPrompt="1"/>
          </p:nvPr>
        </p:nvSpPr>
        <p:spPr>
          <a:xfrm>
            <a:off x="651685" y="1846073"/>
            <a:ext cx="4947204" cy="2521807"/>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16" name="Content Placeholder 2">
            <a:extLst>
              <a:ext uri="{FF2B5EF4-FFF2-40B4-BE49-F238E27FC236}">
                <a16:creationId xmlns:a16="http://schemas.microsoft.com/office/drawing/2014/main" id="{62BA6F40-D5C2-4C17-B2BB-13A1683A1A7B}"/>
              </a:ext>
            </a:extLst>
          </p:cNvPr>
          <p:cNvSpPr>
            <a:spLocks noGrp="1"/>
          </p:cNvSpPr>
          <p:nvPr>
            <p:ph idx="14" hasCustomPrompt="1"/>
          </p:nvPr>
        </p:nvSpPr>
        <p:spPr>
          <a:xfrm>
            <a:off x="6412405" y="1846073"/>
            <a:ext cx="4947204" cy="2521807"/>
          </a:xfrm>
          <a:prstGeom prst="rect">
            <a:avLst/>
          </a:prstGeom>
        </p:spPr>
        <p:txBody>
          <a:bodyPr/>
          <a:lstStyle>
            <a:lvl1pPr marL="0" indent="0">
              <a:lnSpc>
                <a:spcPct val="100000"/>
              </a:lnSpc>
              <a:buNone/>
              <a:defRPr sz="1600">
                <a:solidFill>
                  <a:srgbClr val="6B6B6B"/>
                </a:solidFill>
                <a:latin typeface="+mn-lt"/>
              </a:defRPr>
            </a:lvl1pPr>
          </a:lstStyle>
          <a:p>
            <a:r>
              <a:rPr lang="en-US"/>
              <a:t>INSERT CHART</a:t>
            </a:r>
          </a:p>
        </p:txBody>
      </p:sp>
      <p:sp>
        <p:nvSpPr>
          <p:cNvPr id="22" name="Text Placeholder 2">
            <a:extLst>
              <a:ext uri="{FF2B5EF4-FFF2-40B4-BE49-F238E27FC236}">
                <a16:creationId xmlns:a16="http://schemas.microsoft.com/office/drawing/2014/main" id="{E6F2106F-239F-421B-9DAB-8226991E879A}"/>
              </a:ext>
            </a:extLst>
          </p:cNvPr>
          <p:cNvSpPr>
            <a:spLocks noGrp="1"/>
          </p:cNvSpPr>
          <p:nvPr>
            <p:ph type="body" sz="quarter" idx="15" hasCustomPrompt="1"/>
          </p:nvPr>
        </p:nvSpPr>
        <p:spPr>
          <a:xfrm>
            <a:off x="6408667" y="4712628"/>
            <a:ext cx="4954245" cy="492443"/>
          </a:xfrm>
          <a:prstGeom prst="rect">
            <a:avLst/>
          </a:prstGeom>
        </p:spPr>
        <p:txBody>
          <a:bodyPr anchor="b">
            <a:spAutoFit/>
          </a:bodyPr>
          <a:lstStyle>
            <a:lvl1pPr marL="0" indent="0" algn="l">
              <a:lnSpc>
                <a:spcPct val="100000"/>
              </a:lnSpc>
              <a:buNone/>
              <a:defRPr sz="2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Insight highlight</a:t>
            </a:r>
            <a:endParaRPr lang="en-US"/>
          </a:p>
        </p:txBody>
      </p:sp>
      <p:sp>
        <p:nvSpPr>
          <p:cNvPr id="23" name="Text Placeholder 2">
            <a:extLst>
              <a:ext uri="{FF2B5EF4-FFF2-40B4-BE49-F238E27FC236}">
                <a16:creationId xmlns:a16="http://schemas.microsoft.com/office/drawing/2014/main" id="{0B6A52CA-AF91-4DF6-8C12-8A93EEFACDA9}"/>
              </a:ext>
            </a:extLst>
          </p:cNvPr>
          <p:cNvSpPr>
            <a:spLocks noGrp="1"/>
          </p:cNvSpPr>
          <p:nvPr>
            <p:ph type="body" sz="quarter" idx="13" hasCustomPrompt="1"/>
          </p:nvPr>
        </p:nvSpPr>
        <p:spPr>
          <a:xfrm>
            <a:off x="647947" y="4712628"/>
            <a:ext cx="4954245" cy="492443"/>
          </a:xfrm>
          <a:prstGeom prst="rect">
            <a:avLst/>
          </a:prstGeom>
        </p:spPr>
        <p:txBody>
          <a:bodyPr anchor="b">
            <a:spAutoFit/>
          </a:bodyPr>
          <a:lstStyle>
            <a:lvl1pPr marL="0" indent="0" algn="l">
              <a:lnSpc>
                <a:spcPct val="100000"/>
              </a:lnSpc>
              <a:buNone/>
              <a:defRPr sz="2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Insight highlight</a:t>
            </a:r>
            <a:endParaRPr lang="en-US"/>
          </a:p>
        </p:txBody>
      </p:sp>
      <p:sp>
        <p:nvSpPr>
          <p:cNvPr id="24" name="Text Placeholder 6">
            <a:extLst>
              <a:ext uri="{FF2B5EF4-FFF2-40B4-BE49-F238E27FC236}">
                <a16:creationId xmlns:a16="http://schemas.microsoft.com/office/drawing/2014/main" id="{F8C68E73-4694-4068-A989-F6E6EAB35B26}"/>
              </a:ext>
            </a:extLst>
          </p:cNvPr>
          <p:cNvSpPr>
            <a:spLocks noGrp="1"/>
          </p:cNvSpPr>
          <p:nvPr>
            <p:ph type="body" sz="quarter" idx="16" hasCustomPrompt="1"/>
          </p:nvPr>
        </p:nvSpPr>
        <p:spPr>
          <a:xfrm>
            <a:off x="647947" y="5287718"/>
            <a:ext cx="4954245" cy="338554"/>
          </a:xfrm>
          <a:prstGeom prst="rect">
            <a:avLst/>
          </a:prstGeom>
        </p:spPr>
        <p:txBody>
          <a:bodyPr anchor="t">
            <a:spAutoFit/>
          </a:bodyPr>
          <a:lstStyle>
            <a:lvl1pPr marL="0" indent="0" algn="l">
              <a:lnSpc>
                <a:spcPct val="100000"/>
              </a:lnSpc>
              <a:spcBef>
                <a:spcPts val="0"/>
              </a:spcBef>
              <a:buNone/>
              <a:defRPr sz="1600">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body text here</a:t>
            </a:r>
          </a:p>
        </p:txBody>
      </p:sp>
      <p:sp>
        <p:nvSpPr>
          <p:cNvPr id="25" name="Text Placeholder 6">
            <a:extLst>
              <a:ext uri="{FF2B5EF4-FFF2-40B4-BE49-F238E27FC236}">
                <a16:creationId xmlns:a16="http://schemas.microsoft.com/office/drawing/2014/main" id="{D97D5BBB-3C42-4532-BBD4-50DFB00BA9D0}"/>
              </a:ext>
            </a:extLst>
          </p:cNvPr>
          <p:cNvSpPr>
            <a:spLocks noGrp="1"/>
          </p:cNvSpPr>
          <p:nvPr>
            <p:ph type="body" sz="quarter" idx="17" hasCustomPrompt="1"/>
          </p:nvPr>
        </p:nvSpPr>
        <p:spPr>
          <a:xfrm>
            <a:off x="6408667" y="5287718"/>
            <a:ext cx="4954245" cy="338554"/>
          </a:xfrm>
          <a:prstGeom prst="rect">
            <a:avLst/>
          </a:prstGeom>
        </p:spPr>
        <p:txBody>
          <a:bodyPr anchor="t">
            <a:spAutoFit/>
          </a:bodyPr>
          <a:lstStyle>
            <a:lvl1pPr marL="0" indent="0" algn="l">
              <a:lnSpc>
                <a:spcPct val="100000"/>
              </a:lnSpc>
              <a:spcBef>
                <a:spcPts val="0"/>
              </a:spcBef>
              <a:buNone/>
              <a:defRPr sz="1600">
                <a:latin typeface="+mn-lt"/>
              </a:defRPr>
            </a:lvl1pPr>
            <a:lvl2pPr marL="457189" indent="0">
              <a:buNone/>
              <a:defRPr sz="1600"/>
            </a:lvl2pPr>
            <a:lvl3pPr marL="914377" indent="0">
              <a:buNone/>
              <a:defRPr sz="1600"/>
            </a:lvl3pPr>
            <a:lvl4pPr marL="1371566" indent="0">
              <a:buNone/>
              <a:defRPr sz="1600"/>
            </a:lvl4pPr>
            <a:lvl5pPr marL="1828754" indent="0">
              <a:buNone/>
              <a:defRPr sz="1600"/>
            </a:lvl5pPr>
          </a:lstStyle>
          <a:p>
            <a:pPr lvl="0"/>
            <a:r>
              <a:rPr lang="en-GB"/>
              <a:t>Enter body text here</a:t>
            </a:r>
          </a:p>
        </p:txBody>
      </p:sp>
    </p:spTree>
    <p:extLst>
      <p:ext uri="{BB962C8B-B14F-4D97-AF65-F5344CB8AC3E}">
        <p14:creationId xmlns:p14="http://schemas.microsoft.com/office/powerpoint/2010/main" val="32964438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 card horizontal layout">
    <p:bg>
      <p:bgPr>
        <a:solidFill>
          <a:schemeClr val="bg2">
            <a:alpha val="40000"/>
          </a:schemeClr>
        </a:solidFill>
        <a:effectLst/>
      </p:bgPr>
    </p:bg>
    <p:spTree>
      <p:nvGrpSpPr>
        <p:cNvPr id="1" name=""/>
        <p:cNvGrpSpPr/>
        <p:nvPr/>
      </p:nvGrpSpPr>
      <p:grpSpPr>
        <a:xfrm>
          <a:off x="0" y="0"/>
          <a:ext cx="0" cy="0"/>
          <a:chOff x="0" y="0"/>
          <a:chExt cx="0" cy="0"/>
        </a:xfrm>
      </p:grpSpPr>
      <p:cxnSp>
        <p:nvCxnSpPr>
          <p:cNvPr id="89" name="Straight Connector 88">
            <a:extLst>
              <a:ext uri="{FF2B5EF4-FFF2-40B4-BE49-F238E27FC236}">
                <a16:creationId xmlns:a16="http://schemas.microsoft.com/office/drawing/2014/main" id="{35D85233-F60E-624E-A783-92937421B2FD}"/>
              </a:ext>
            </a:extLst>
          </p:cNvPr>
          <p:cNvCxnSpPr>
            <a:cxnSpLocks/>
          </p:cNvCxnSpPr>
          <p:nvPr/>
        </p:nvCxnSpPr>
        <p:spPr>
          <a:xfrm flipH="1" flipV="1">
            <a:off x="2185932" y="1163201"/>
            <a:ext cx="8301" cy="47"/>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3AC1F3C0-0D2C-42BA-AE4B-0D8BAA8BAAA1}"/>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25" name="Text Placeholder 2">
            <a:extLst>
              <a:ext uri="{FF2B5EF4-FFF2-40B4-BE49-F238E27FC236}">
                <a16:creationId xmlns:a16="http://schemas.microsoft.com/office/drawing/2014/main" id="{DDCB3788-B640-4E0C-8D72-5AE250E17347}"/>
              </a:ext>
            </a:extLst>
          </p:cNvPr>
          <p:cNvSpPr>
            <a:spLocks noGrp="1"/>
          </p:cNvSpPr>
          <p:nvPr>
            <p:ph type="body" sz="quarter" idx="26" hasCustomPrompt="1"/>
          </p:nvPr>
        </p:nvSpPr>
        <p:spPr>
          <a:xfrm>
            <a:off x="712881" y="1494972"/>
            <a:ext cx="2700352"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1</a:t>
            </a:r>
            <a:endParaRPr lang="en-US"/>
          </a:p>
        </p:txBody>
      </p:sp>
      <p:sp>
        <p:nvSpPr>
          <p:cNvPr id="27" name="Text Placeholder 2">
            <a:extLst>
              <a:ext uri="{FF2B5EF4-FFF2-40B4-BE49-F238E27FC236}">
                <a16:creationId xmlns:a16="http://schemas.microsoft.com/office/drawing/2014/main" id="{103C16C2-B4D8-41F9-81B8-E71F2940694C}"/>
              </a:ext>
            </a:extLst>
          </p:cNvPr>
          <p:cNvSpPr>
            <a:spLocks noGrp="1"/>
          </p:cNvSpPr>
          <p:nvPr>
            <p:ph type="body" sz="quarter" idx="37" hasCustomPrompt="1"/>
          </p:nvPr>
        </p:nvSpPr>
        <p:spPr>
          <a:xfrm>
            <a:off x="712881" y="3095305"/>
            <a:ext cx="2700352"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2</a:t>
            </a:r>
            <a:endParaRPr lang="en-US"/>
          </a:p>
        </p:txBody>
      </p:sp>
      <p:sp>
        <p:nvSpPr>
          <p:cNvPr id="30" name="Text Placeholder 2">
            <a:extLst>
              <a:ext uri="{FF2B5EF4-FFF2-40B4-BE49-F238E27FC236}">
                <a16:creationId xmlns:a16="http://schemas.microsoft.com/office/drawing/2014/main" id="{AF91E91A-6668-489F-B084-A6DE167813D9}"/>
              </a:ext>
            </a:extLst>
          </p:cNvPr>
          <p:cNvSpPr>
            <a:spLocks noGrp="1"/>
          </p:cNvSpPr>
          <p:nvPr>
            <p:ph type="body" sz="quarter" idx="39" hasCustomPrompt="1"/>
          </p:nvPr>
        </p:nvSpPr>
        <p:spPr>
          <a:xfrm>
            <a:off x="712881" y="4695639"/>
            <a:ext cx="2700352"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1">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3</a:t>
            </a:r>
            <a:endParaRPr lang="en-US"/>
          </a:p>
        </p:txBody>
      </p:sp>
      <p:sp>
        <p:nvSpPr>
          <p:cNvPr id="35" name="Text Placeholder 2">
            <a:extLst>
              <a:ext uri="{FF2B5EF4-FFF2-40B4-BE49-F238E27FC236}">
                <a16:creationId xmlns:a16="http://schemas.microsoft.com/office/drawing/2014/main" id="{8089179D-B2A0-4A15-A6DF-CF99DC9C5D99}"/>
              </a:ext>
            </a:extLst>
          </p:cNvPr>
          <p:cNvSpPr>
            <a:spLocks noGrp="1"/>
          </p:cNvSpPr>
          <p:nvPr>
            <p:ph type="body" sz="quarter" idx="41" hasCustomPrompt="1"/>
          </p:nvPr>
        </p:nvSpPr>
        <p:spPr>
          <a:xfrm>
            <a:off x="3535170" y="1494972"/>
            <a:ext cx="7913351" cy="1512000"/>
          </a:xfrm>
          <a:prstGeom prst="roundRect">
            <a:avLst>
              <a:gd name="adj" fmla="val 8828"/>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
        <p:nvSpPr>
          <p:cNvPr id="36" name="Text Placeholder 2">
            <a:extLst>
              <a:ext uri="{FF2B5EF4-FFF2-40B4-BE49-F238E27FC236}">
                <a16:creationId xmlns:a16="http://schemas.microsoft.com/office/drawing/2014/main" id="{B7EAB319-3FDE-498E-AA33-CDBFDCDB7E66}"/>
              </a:ext>
            </a:extLst>
          </p:cNvPr>
          <p:cNvSpPr>
            <a:spLocks noGrp="1"/>
          </p:cNvSpPr>
          <p:nvPr>
            <p:ph type="body" sz="quarter" idx="42" hasCustomPrompt="1"/>
          </p:nvPr>
        </p:nvSpPr>
        <p:spPr>
          <a:xfrm>
            <a:off x="3535170" y="3095305"/>
            <a:ext cx="7913351" cy="1512000"/>
          </a:xfrm>
          <a:prstGeom prst="roundRect">
            <a:avLst>
              <a:gd name="adj" fmla="val 1106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
        <p:nvSpPr>
          <p:cNvPr id="37" name="Text Placeholder 2">
            <a:extLst>
              <a:ext uri="{FF2B5EF4-FFF2-40B4-BE49-F238E27FC236}">
                <a16:creationId xmlns:a16="http://schemas.microsoft.com/office/drawing/2014/main" id="{743B7E32-F244-4B56-AC4B-5E0E39764812}"/>
              </a:ext>
            </a:extLst>
          </p:cNvPr>
          <p:cNvSpPr>
            <a:spLocks noGrp="1"/>
          </p:cNvSpPr>
          <p:nvPr>
            <p:ph type="body" sz="quarter" idx="43" hasCustomPrompt="1"/>
          </p:nvPr>
        </p:nvSpPr>
        <p:spPr>
          <a:xfrm>
            <a:off x="3535170" y="4695639"/>
            <a:ext cx="7913351" cy="1512000"/>
          </a:xfrm>
          <a:prstGeom prst="roundRect">
            <a:avLst>
              <a:gd name="adj" fmla="val 9947"/>
            </a:avLst>
          </a:prstGeom>
          <a:solidFill>
            <a:schemeClr val="bg1"/>
          </a:solidFill>
        </p:spPr>
        <p:txBody>
          <a:bodyPr lIns="144000" tIns="72000" rIns="108000" bIns="72000" anchor="ctr">
            <a:noAutofit/>
          </a:bodyPr>
          <a:lstStyle>
            <a:lvl1pPr marL="0" indent="0" algn="l">
              <a:lnSpc>
                <a:spcPct val="100000"/>
              </a:lnSpc>
              <a:buNone/>
              <a:defRPr sz="1800" b="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Text in maximum 3 lines</a:t>
            </a:r>
          </a:p>
        </p:txBody>
      </p:sp>
    </p:spTree>
    <p:extLst>
      <p:ext uri="{BB962C8B-B14F-4D97-AF65-F5344CB8AC3E}">
        <p14:creationId xmlns:p14="http://schemas.microsoft.com/office/powerpoint/2010/main" val="10593179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ards">
    <p:bg>
      <p:bgPr>
        <a:solidFill>
          <a:schemeClr val="bg2">
            <a:alpha val="40000"/>
          </a:schemeClr>
        </a:solidFill>
        <a:effectLst/>
      </p:bgPr>
    </p:bg>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4F6E4A95-165C-5040-B76F-D5419E1A0D2A}"/>
              </a:ext>
            </a:extLst>
          </p:cNvPr>
          <p:cNvSpPr/>
          <p:nvPr/>
        </p:nvSpPr>
        <p:spPr>
          <a:xfrm>
            <a:off x="734142" y="1971675"/>
            <a:ext cx="5288999"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4" name="Rounded Rectangle 23">
            <a:extLst>
              <a:ext uri="{FF2B5EF4-FFF2-40B4-BE49-F238E27FC236}">
                <a16:creationId xmlns:a16="http://schemas.microsoft.com/office/drawing/2014/main" id="{58A2D04A-6C44-4145-81D0-1AB218484459}"/>
              </a:ext>
            </a:extLst>
          </p:cNvPr>
          <p:cNvSpPr/>
          <p:nvPr/>
        </p:nvSpPr>
        <p:spPr>
          <a:xfrm>
            <a:off x="6158186" y="1971675"/>
            <a:ext cx="5288999"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6" name="Text Placeholder 2">
            <a:extLst>
              <a:ext uri="{FF2B5EF4-FFF2-40B4-BE49-F238E27FC236}">
                <a16:creationId xmlns:a16="http://schemas.microsoft.com/office/drawing/2014/main" id="{72AFDBBF-EDC4-6148-9022-57EB4425C5F2}"/>
              </a:ext>
            </a:extLst>
          </p:cNvPr>
          <p:cNvSpPr>
            <a:spLocks noGrp="1"/>
          </p:cNvSpPr>
          <p:nvPr>
            <p:ph type="body" sz="quarter" idx="16" hasCustomPrompt="1"/>
          </p:nvPr>
        </p:nvSpPr>
        <p:spPr>
          <a:xfrm>
            <a:off x="6282969" y="2190628"/>
            <a:ext cx="5016168"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one line</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58925" y="2190628"/>
            <a:ext cx="5016168"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one line</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58951" y="2819083"/>
            <a:ext cx="5015565" cy="1600439"/>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
        <p:nvSpPr>
          <p:cNvPr id="12" name="Title 1">
            <a:extLst>
              <a:ext uri="{FF2B5EF4-FFF2-40B4-BE49-F238E27FC236}">
                <a16:creationId xmlns:a16="http://schemas.microsoft.com/office/drawing/2014/main" id="{A4208F43-5ED5-4F0B-8C92-B60C9EBCE152}"/>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9" name="Text Placeholder 13">
            <a:extLst>
              <a:ext uri="{FF2B5EF4-FFF2-40B4-BE49-F238E27FC236}">
                <a16:creationId xmlns:a16="http://schemas.microsoft.com/office/drawing/2014/main" id="{D093CA32-3824-4AEC-BAA2-3AD477C44622}"/>
              </a:ext>
            </a:extLst>
          </p:cNvPr>
          <p:cNvSpPr>
            <a:spLocks noGrp="1"/>
          </p:cNvSpPr>
          <p:nvPr>
            <p:ph type="body" sz="quarter" idx="19" hasCustomPrompt="1"/>
          </p:nvPr>
        </p:nvSpPr>
        <p:spPr>
          <a:xfrm>
            <a:off x="6282969" y="2819083"/>
            <a:ext cx="5015565" cy="1600439"/>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 You can also add images/ or charts here.</a:t>
            </a:r>
            <a:endParaRPr lang="en-US"/>
          </a:p>
        </p:txBody>
      </p:sp>
    </p:spTree>
    <p:extLst>
      <p:ext uri="{BB962C8B-B14F-4D97-AF65-F5344CB8AC3E}">
        <p14:creationId xmlns:p14="http://schemas.microsoft.com/office/powerpoint/2010/main" val="10940673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ards">
    <p:bg>
      <p:bgPr>
        <a:solidFill>
          <a:schemeClr val="bg2">
            <a:alpha val="40000"/>
          </a:schemeClr>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8C864F8-CC83-446D-8CD0-6FB8DDA66FB3}"/>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0" name="Rounded Rectangle 16">
            <a:extLst>
              <a:ext uri="{FF2B5EF4-FFF2-40B4-BE49-F238E27FC236}">
                <a16:creationId xmlns:a16="http://schemas.microsoft.com/office/drawing/2014/main" id="{26A9BF2E-939C-41BF-9350-64DA0A2C9415}"/>
              </a:ext>
            </a:extLst>
          </p:cNvPr>
          <p:cNvSpPr/>
          <p:nvPr/>
        </p:nvSpPr>
        <p:spPr>
          <a:xfrm>
            <a:off x="4395534" y="1971675"/>
            <a:ext cx="341108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1" name="Text Placeholder 2">
            <a:extLst>
              <a:ext uri="{FF2B5EF4-FFF2-40B4-BE49-F238E27FC236}">
                <a16:creationId xmlns:a16="http://schemas.microsoft.com/office/drawing/2014/main" id="{DF130D2E-C413-438C-86A3-381F6D4B2F31}"/>
              </a:ext>
            </a:extLst>
          </p:cNvPr>
          <p:cNvSpPr>
            <a:spLocks noGrp="1"/>
          </p:cNvSpPr>
          <p:nvPr>
            <p:ph type="body" sz="quarter" idx="19" hasCustomPrompt="1"/>
          </p:nvPr>
        </p:nvSpPr>
        <p:spPr>
          <a:xfrm>
            <a:off x="4515470" y="2103334"/>
            <a:ext cx="3060281"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2" name="Text Placeholder 13">
            <a:extLst>
              <a:ext uri="{FF2B5EF4-FFF2-40B4-BE49-F238E27FC236}">
                <a16:creationId xmlns:a16="http://schemas.microsoft.com/office/drawing/2014/main" id="{0CAD4D6D-121A-48D2-B58C-3502E9124B74}"/>
              </a:ext>
            </a:extLst>
          </p:cNvPr>
          <p:cNvSpPr>
            <a:spLocks noGrp="1"/>
          </p:cNvSpPr>
          <p:nvPr>
            <p:ph type="body" sz="quarter" idx="20" hasCustomPrompt="1"/>
          </p:nvPr>
        </p:nvSpPr>
        <p:spPr>
          <a:xfrm>
            <a:off x="4515471" y="3100088"/>
            <a:ext cx="3060252"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4" name="Rounded Rectangle 11">
            <a:extLst>
              <a:ext uri="{FF2B5EF4-FFF2-40B4-BE49-F238E27FC236}">
                <a16:creationId xmlns:a16="http://schemas.microsoft.com/office/drawing/2014/main" id="{AEB82AF5-8A2C-4A53-81D2-312F9A7972BC}"/>
              </a:ext>
            </a:extLst>
          </p:cNvPr>
          <p:cNvSpPr/>
          <p:nvPr/>
        </p:nvSpPr>
        <p:spPr>
          <a:xfrm>
            <a:off x="727169" y="1971675"/>
            <a:ext cx="341108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5" name="Text Placeholder 2">
            <a:extLst>
              <a:ext uri="{FF2B5EF4-FFF2-40B4-BE49-F238E27FC236}">
                <a16:creationId xmlns:a16="http://schemas.microsoft.com/office/drawing/2014/main" id="{C4BF43E2-7B80-4FFF-91BE-9326EB09F6BC}"/>
              </a:ext>
            </a:extLst>
          </p:cNvPr>
          <p:cNvSpPr>
            <a:spLocks noGrp="1"/>
          </p:cNvSpPr>
          <p:nvPr>
            <p:ph type="body" sz="quarter" idx="14" hasCustomPrompt="1"/>
          </p:nvPr>
        </p:nvSpPr>
        <p:spPr>
          <a:xfrm>
            <a:off x="832114" y="2103334"/>
            <a:ext cx="3060281"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6" name="Text Placeholder 13">
            <a:extLst>
              <a:ext uri="{FF2B5EF4-FFF2-40B4-BE49-F238E27FC236}">
                <a16:creationId xmlns:a16="http://schemas.microsoft.com/office/drawing/2014/main" id="{8D3252AC-30AF-4915-9390-47EF6E7E526E}"/>
              </a:ext>
            </a:extLst>
          </p:cNvPr>
          <p:cNvSpPr>
            <a:spLocks noGrp="1"/>
          </p:cNvSpPr>
          <p:nvPr>
            <p:ph type="body" sz="quarter" idx="18" hasCustomPrompt="1"/>
          </p:nvPr>
        </p:nvSpPr>
        <p:spPr>
          <a:xfrm>
            <a:off x="832114" y="3100088"/>
            <a:ext cx="3060252"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
        <p:nvSpPr>
          <p:cNvPr id="37" name="Rounded Rectangle 15">
            <a:extLst>
              <a:ext uri="{FF2B5EF4-FFF2-40B4-BE49-F238E27FC236}">
                <a16:creationId xmlns:a16="http://schemas.microsoft.com/office/drawing/2014/main" id="{4792AB79-EEE5-4FAC-B89D-5544B31C9B31}"/>
              </a:ext>
            </a:extLst>
          </p:cNvPr>
          <p:cNvSpPr/>
          <p:nvPr/>
        </p:nvSpPr>
        <p:spPr>
          <a:xfrm>
            <a:off x="8063899" y="1971675"/>
            <a:ext cx="341108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8" name="Text Placeholder 2">
            <a:extLst>
              <a:ext uri="{FF2B5EF4-FFF2-40B4-BE49-F238E27FC236}">
                <a16:creationId xmlns:a16="http://schemas.microsoft.com/office/drawing/2014/main" id="{EA57752D-BEFB-4BBD-B333-56BAFD1F04C6}"/>
              </a:ext>
            </a:extLst>
          </p:cNvPr>
          <p:cNvSpPr>
            <a:spLocks noGrp="1"/>
          </p:cNvSpPr>
          <p:nvPr>
            <p:ph type="body" sz="quarter" idx="21" hasCustomPrompt="1"/>
          </p:nvPr>
        </p:nvSpPr>
        <p:spPr>
          <a:xfrm>
            <a:off x="8168844" y="2103334"/>
            <a:ext cx="3060281" cy="923329"/>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 two lines</a:t>
            </a:r>
            <a:endParaRPr lang="en-US"/>
          </a:p>
        </p:txBody>
      </p:sp>
      <p:sp>
        <p:nvSpPr>
          <p:cNvPr id="39" name="Text Placeholder 13">
            <a:extLst>
              <a:ext uri="{FF2B5EF4-FFF2-40B4-BE49-F238E27FC236}">
                <a16:creationId xmlns:a16="http://schemas.microsoft.com/office/drawing/2014/main" id="{F6E44EEB-A30C-4411-8788-3DD526977077}"/>
              </a:ext>
            </a:extLst>
          </p:cNvPr>
          <p:cNvSpPr>
            <a:spLocks noGrp="1"/>
          </p:cNvSpPr>
          <p:nvPr>
            <p:ph type="body" sz="quarter" idx="22" hasCustomPrompt="1"/>
          </p:nvPr>
        </p:nvSpPr>
        <p:spPr>
          <a:xfrm>
            <a:off x="8168844" y="3100088"/>
            <a:ext cx="3060252" cy="2092880"/>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No bullet points to be added unless specified in a master template. This is dummy text. Please replace it. Please do not change the spacing given in this template.</a:t>
            </a:r>
            <a:endParaRPr lang="en-US"/>
          </a:p>
        </p:txBody>
      </p:sp>
    </p:spTree>
    <p:extLst>
      <p:ext uri="{BB962C8B-B14F-4D97-AF65-F5344CB8AC3E}">
        <p14:creationId xmlns:p14="http://schemas.microsoft.com/office/powerpoint/2010/main" val="361836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4 cards">
    <p:bg>
      <p:bgPr>
        <a:solidFill>
          <a:schemeClr val="bg2">
            <a:alpha val="40000"/>
          </a:schemeClr>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76C2E72-5089-B443-B7F9-E689DB0766B3}"/>
              </a:ext>
            </a:extLst>
          </p:cNvPr>
          <p:cNvSpPr/>
          <p:nvPr/>
        </p:nvSpPr>
        <p:spPr>
          <a:xfrm>
            <a:off x="712882"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5" name="Rounded Rectangle 24">
            <a:extLst>
              <a:ext uri="{FF2B5EF4-FFF2-40B4-BE49-F238E27FC236}">
                <a16:creationId xmlns:a16="http://schemas.microsoft.com/office/drawing/2014/main" id="{E082C6D0-04B4-4C4A-B8F4-A2322184414F}"/>
              </a:ext>
            </a:extLst>
          </p:cNvPr>
          <p:cNvSpPr/>
          <p:nvPr/>
        </p:nvSpPr>
        <p:spPr>
          <a:xfrm>
            <a:off x="3430496"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8" name="Rounded Rectangle 27">
            <a:extLst>
              <a:ext uri="{FF2B5EF4-FFF2-40B4-BE49-F238E27FC236}">
                <a16:creationId xmlns:a16="http://schemas.microsoft.com/office/drawing/2014/main" id="{9AFEE3B1-DBFF-9149-9A70-602B0BDC7C68}"/>
              </a:ext>
            </a:extLst>
          </p:cNvPr>
          <p:cNvSpPr/>
          <p:nvPr/>
        </p:nvSpPr>
        <p:spPr>
          <a:xfrm>
            <a:off x="6136127"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1" name="Rounded Rectangle 30">
            <a:extLst>
              <a:ext uri="{FF2B5EF4-FFF2-40B4-BE49-F238E27FC236}">
                <a16:creationId xmlns:a16="http://schemas.microsoft.com/office/drawing/2014/main" id="{04654EF6-85F9-BD4A-83BB-9AFC9B2E95B9}"/>
              </a:ext>
            </a:extLst>
          </p:cNvPr>
          <p:cNvSpPr/>
          <p:nvPr/>
        </p:nvSpPr>
        <p:spPr>
          <a:xfrm>
            <a:off x="8847290" y="2038351"/>
            <a:ext cx="2614367" cy="4175125"/>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35051"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14" name="Text Placeholder 13">
            <a:extLst>
              <a:ext uri="{FF2B5EF4-FFF2-40B4-BE49-F238E27FC236}">
                <a16:creationId xmlns:a16="http://schemas.microsoft.com/office/drawing/2014/main" id="{F942D11D-43C3-FD4E-B872-AC26CECB3FFD}"/>
              </a:ext>
            </a:extLst>
          </p:cNvPr>
          <p:cNvSpPr>
            <a:spLocks noGrp="1"/>
          </p:cNvSpPr>
          <p:nvPr>
            <p:ph type="body" sz="quarter" idx="18" hasCustomPrompt="1"/>
          </p:nvPr>
        </p:nvSpPr>
        <p:spPr>
          <a:xfrm>
            <a:off x="835065"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9" name="Text Placeholder 2">
            <a:extLst>
              <a:ext uri="{FF2B5EF4-FFF2-40B4-BE49-F238E27FC236}">
                <a16:creationId xmlns:a16="http://schemas.microsoft.com/office/drawing/2014/main" id="{34A9FF0C-3BAE-2142-9B47-4AFF32473A3F}"/>
              </a:ext>
            </a:extLst>
          </p:cNvPr>
          <p:cNvSpPr>
            <a:spLocks noGrp="1"/>
          </p:cNvSpPr>
          <p:nvPr>
            <p:ph type="body" sz="quarter" idx="19" hasCustomPrompt="1"/>
          </p:nvPr>
        </p:nvSpPr>
        <p:spPr>
          <a:xfrm>
            <a:off x="3552666"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0" name="Text Placeholder 13">
            <a:extLst>
              <a:ext uri="{FF2B5EF4-FFF2-40B4-BE49-F238E27FC236}">
                <a16:creationId xmlns:a16="http://schemas.microsoft.com/office/drawing/2014/main" id="{4526AB58-817C-DC46-9C5B-C6C8A4FF4056}"/>
              </a:ext>
            </a:extLst>
          </p:cNvPr>
          <p:cNvSpPr>
            <a:spLocks noGrp="1"/>
          </p:cNvSpPr>
          <p:nvPr>
            <p:ph type="body" sz="quarter" idx="20" hasCustomPrompt="1"/>
          </p:nvPr>
        </p:nvSpPr>
        <p:spPr>
          <a:xfrm>
            <a:off x="3552680"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1" name="Text Placeholder 2">
            <a:extLst>
              <a:ext uri="{FF2B5EF4-FFF2-40B4-BE49-F238E27FC236}">
                <a16:creationId xmlns:a16="http://schemas.microsoft.com/office/drawing/2014/main" id="{0498259F-A942-8C44-B339-590E6B1B14D1}"/>
              </a:ext>
            </a:extLst>
          </p:cNvPr>
          <p:cNvSpPr>
            <a:spLocks noGrp="1"/>
          </p:cNvSpPr>
          <p:nvPr>
            <p:ph type="body" sz="quarter" idx="21" hasCustomPrompt="1"/>
          </p:nvPr>
        </p:nvSpPr>
        <p:spPr>
          <a:xfrm>
            <a:off x="6258296"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2" name="Text Placeholder 13">
            <a:extLst>
              <a:ext uri="{FF2B5EF4-FFF2-40B4-BE49-F238E27FC236}">
                <a16:creationId xmlns:a16="http://schemas.microsoft.com/office/drawing/2014/main" id="{AA1F0924-098C-2C40-883B-43B65B44D7F0}"/>
              </a:ext>
            </a:extLst>
          </p:cNvPr>
          <p:cNvSpPr>
            <a:spLocks noGrp="1"/>
          </p:cNvSpPr>
          <p:nvPr>
            <p:ph type="body" sz="quarter" idx="22" hasCustomPrompt="1"/>
          </p:nvPr>
        </p:nvSpPr>
        <p:spPr>
          <a:xfrm>
            <a:off x="6258310"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3" name="Text Placeholder 2">
            <a:extLst>
              <a:ext uri="{FF2B5EF4-FFF2-40B4-BE49-F238E27FC236}">
                <a16:creationId xmlns:a16="http://schemas.microsoft.com/office/drawing/2014/main" id="{DE577571-274C-A94F-AF4E-4A72174E3ABF}"/>
              </a:ext>
            </a:extLst>
          </p:cNvPr>
          <p:cNvSpPr>
            <a:spLocks noGrp="1"/>
          </p:cNvSpPr>
          <p:nvPr>
            <p:ph type="body" sz="quarter" idx="23" hasCustomPrompt="1"/>
          </p:nvPr>
        </p:nvSpPr>
        <p:spPr>
          <a:xfrm>
            <a:off x="8969458" y="2150285"/>
            <a:ext cx="2370030" cy="861775"/>
          </a:xfrm>
          <a:prstGeom prst="rect">
            <a:avLst/>
          </a:prstGeom>
        </p:spPr>
        <p:txBody>
          <a:bodyPr anchor="b">
            <a:spAutoFit/>
          </a:bodyPr>
          <a:lstStyle>
            <a:lvl1pPr marL="0" indent="0" algn="l">
              <a:lnSpc>
                <a:spcPct val="100000"/>
              </a:lnSpc>
              <a:buNone/>
              <a:defRPr sz="24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two lines</a:t>
            </a:r>
            <a:endParaRPr lang="en-US"/>
          </a:p>
        </p:txBody>
      </p:sp>
      <p:sp>
        <p:nvSpPr>
          <p:cNvPr id="24" name="Text Placeholder 13">
            <a:extLst>
              <a:ext uri="{FF2B5EF4-FFF2-40B4-BE49-F238E27FC236}">
                <a16:creationId xmlns:a16="http://schemas.microsoft.com/office/drawing/2014/main" id="{9B5B9A6F-E17B-984B-B995-324A217E33FE}"/>
              </a:ext>
            </a:extLst>
          </p:cNvPr>
          <p:cNvSpPr>
            <a:spLocks noGrp="1"/>
          </p:cNvSpPr>
          <p:nvPr>
            <p:ph type="body" sz="quarter" idx="24" hasCustomPrompt="1"/>
          </p:nvPr>
        </p:nvSpPr>
        <p:spPr>
          <a:xfrm>
            <a:off x="8969472" y="3085485"/>
            <a:ext cx="2369999" cy="1354217"/>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6" name="Title 1">
            <a:extLst>
              <a:ext uri="{FF2B5EF4-FFF2-40B4-BE49-F238E27FC236}">
                <a16:creationId xmlns:a16="http://schemas.microsoft.com/office/drawing/2014/main" id="{473198A7-04CB-4634-82ED-C7D465DF1C45}"/>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40994581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5 cards">
    <p:bg>
      <p:bgPr>
        <a:solidFill>
          <a:schemeClr val="bg2">
            <a:alpha val="40000"/>
          </a:schemeClr>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39112710-93EC-4A43-A143-6D58C784FF93}"/>
              </a:ext>
            </a:extLst>
          </p:cNvPr>
          <p:cNvSpPr/>
          <p:nvPr/>
        </p:nvSpPr>
        <p:spPr>
          <a:xfrm>
            <a:off x="711293"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4" name="Rounded Rectangle 33">
            <a:extLst>
              <a:ext uri="{FF2B5EF4-FFF2-40B4-BE49-F238E27FC236}">
                <a16:creationId xmlns:a16="http://schemas.microsoft.com/office/drawing/2014/main" id="{96E6FCCD-FDE0-2141-961A-355E07354DD0}"/>
              </a:ext>
            </a:extLst>
          </p:cNvPr>
          <p:cNvSpPr/>
          <p:nvPr/>
        </p:nvSpPr>
        <p:spPr>
          <a:xfrm>
            <a:off x="2877092"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7" name="Rounded Rectangle 36">
            <a:extLst>
              <a:ext uri="{FF2B5EF4-FFF2-40B4-BE49-F238E27FC236}">
                <a16:creationId xmlns:a16="http://schemas.microsoft.com/office/drawing/2014/main" id="{7CA1BEC8-6A59-CF4A-A1DE-2992DA6DE8E6}"/>
              </a:ext>
            </a:extLst>
          </p:cNvPr>
          <p:cNvSpPr/>
          <p:nvPr/>
        </p:nvSpPr>
        <p:spPr>
          <a:xfrm>
            <a:off x="5042891"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40" name="Rounded Rectangle 39">
            <a:extLst>
              <a:ext uri="{FF2B5EF4-FFF2-40B4-BE49-F238E27FC236}">
                <a16:creationId xmlns:a16="http://schemas.microsoft.com/office/drawing/2014/main" id="{8E47931E-3171-5F4D-AF57-F522EBE78F9C}"/>
              </a:ext>
            </a:extLst>
          </p:cNvPr>
          <p:cNvSpPr/>
          <p:nvPr/>
        </p:nvSpPr>
        <p:spPr>
          <a:xfrm>
            <a:off x="7208689"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43" name="Rounded Rectangle 42">
            <a:extLst>
              <a:ext uri="{FF2B5EF4-FFF2-40B4-BE49-F238E27FC236}">
                <a16:creationId xmlns:a16="http://schemas.microsoft.com/office/drawing/2014/main" id="{3492EAE1-3C78-DE47-92C4-503042C68CC1}"/>
              </a:ext>
            </a:extLst>
          </p:cNvPr>
          <p:cNvSpPr/>
          <p:nvPr/>
        </p:nvSpPr>
        <p:spPr>
          <a:xfrm>
            <a:off x="9374487" y="2033589"/>
            <a:ext cx="2087168" cy="4179887"/>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 name="Text Placeholder 2">
            <a:extLst>
              <a:ext uri="{FF2B5EF4-FFF2-40B4-BE49-F238E27FC236}">
                <a16:creationId xmlns:a16="http://schemas.microsoft.com/office/drawing/2014/main" id="{E63FBF14-2DD0-B34C-99FB-55F2E67C17B0}"/>
              </a:ext>
            </a:extLst>
          </p:cNvPr>
          <p:cNvSpPr>
            <a:spLocks noGrp="1"/>
          </p:cNvSpPr>
          <p:nvPr>
            <p:ph type="body" sz="quarter" idx="13" hasCustomPrompt="1"/>
          </p:nvPr>
        </p:nvSpPr>
        <p:spPr>
          <a:xfrm>
            <a:off x="818719"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33" name="Text Placeholder 2">
            <a:extLst>
              <a:ext uri="{FF2B5EF4-FFF2-40B4-BE49-F238E27FC236}">
                <a16:creationId xmlns:a16="http://schemas.microsoft.com/office/drawing/2014/main" id="{7919FD0C-0977-AF4E-9118-7F4E0221975B}"/>
              </a:ext>
            </a:extLst>
          </p:cNvPr>
          <p:cNvSpPr>
            <a:spLocks noGrp="1"/>
          </p:cNvSpPr>
          <p:nvPr>
            <p:ph type="body" sz="quarter" idx="14" hasCustomPrompt="1"/>
          </p:nvPr>
        </p:nvSpPr>
        <p:spPr>
          <a:xfrm>
            <a:off x="818719"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4" name="Text Placeholder 2">
            <a:extLst>
              <a:ext uri="{FF2B5EF4-FFF2-40B4-BE49-F238E27FC236}">
                <a16:creationId xmlns:a16="http://schemas.microsoft.com/office/drawing/2014/main" id="{E995B304-7A90-8741-990F-A8C42EE76A1C}"/>
              </a:ext>
            </a:extLst>
          </p:cNvPr>
          <p:cNvSpPr>
            <a:spLocks noGrp="1"/>
          </p:cNvSpPr>
          <p:nvPr>
            <p:ph type="body" sz="quarter" idx="15" hasCustomPrompt="1"/>
          </p:nvPr>
        </p:nvSpPr>
        <p:spPr>
          <a:xfrm>
            <a:off x="2984519"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5" name="Text Placeholder 2">
            <a:extLst>
              <a:ext uri="{FF2B5EF4-FFF2-40B4-BE49-F238E27FC236}">
                <a16:creationId xmlns:a16="http://schemas.microsoft.com/office/drawing/2014/main" id="{7531DAAE-FE72-714F-AA22-B72AD73548F2}"/>
              </a:ext>
            </a:extLst>
          </p:cNvPr>
          <p:cNvSpPr>
            <a:spLocks noGrp="1"/>
          </p:cNvSpPr>
          <p:nvPr>
            <p:ph type="body" sz="quarter" idx="16" hasCustomPrompt="1"/>
          </p:nvPr>
        </p:nvSpPr>
        <p:spPr>
          <a:xfrm>
            <a:off x="2984519"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6" name="Text Placeholder 2">
            <a:extLst>
              <a:ext uri="{FF2B5EF4-FFF2-40B4-BE49-F238E27FC236}">
                <a16:creationId xmlns:a16="http://schemas.microsoft.com/office/drawing/2014/main" id="{72CB5D55-B826-C841-BAB8-4BE94A3E58AF}"/>
              </a:ext>
            </a:extLst>
          </p:cNvPr>
          <p:cNvSpPr>
            <a:spLocks noGrp="1"/>
          </p:cNvSpPr>
          <p:nvPr>
            <p:ph type="body" sz="quarter" idx="17" hasCustomPrompt="1"/>
          </p:nvPr>
        </p:nvSpPr>
        <p:spPr>
          <a:xfrm>
            <a:off x="5150318"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7" name="Text Placeholder 2">
            <a:extLst>
              <a:ext uri="{FF2B5EF4-FFF2-40B4-BE49-F238E27FC236}">
                <a16:creationId xmlns:a16="http://schemas.microsoft.com/office/drawing/2014/main" id="{EB0E953D-2181-B14D-B81B-DE2760F52E45}"/>
              </a:ext>
            </a:extLst>
          </p:cNvPr>
          <p:cNvSpPr>
            <a:spLocks noGrp="1"/>
          </p:cNvSpPr>
          <p:nvPr>
            <p:ph type="body" sz="quarter" idx="18" hasCustomPrompt="1"/>
          </p:nvPr>
        </p:nvSpPr>
        <p:spPr>
          <a:xfrm>
            <a:off x="5150318"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8" name="Text Placeholder 2">
            <a:extLst>
              <a:ext uri="{FF2B5EF4-FFF2-40B4-BE49-F238E27FC236}">
                <a16:creationId xmlns:a16="http://schemas.microsoft.com/office/drawing/2014/main" id="{78CD5C4A-1D40-4D41-979E-E0BF5D00A6C7}"/>
              </a:ext>
            </a:extLst>
          </p:cNvPr>
          <p:cNvSpPr>
            <a:spLocks noGrp="1"/>
          </p:cNvSpPr>
          <p:nvPr>
            <p:ph type="body" sz="quarter" idx="19" hasCustomPrompt="1"/>
          </p:nvPr>
        </p:nvSpPr>
        <p:spPr>
          <a:xfrm>
            <a:off x="7316118"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29" name="Text Placeholder 2">
            <a:extLst>
              <a:ext uri="{FF2B5EF4-FFF2-40B4-BE49-F238E27FC236}">
                <a16:creationId xmlns:a16="http://schemas.microsoft.com/office/drawing/2014/main" id="{A07A4B7E-C23A-C848-AAEF-294D2D1AFBD8}"/>
              </a:ext>
            </a:extLst>
          </p:cNvPr>
          <p:cNvSpPr>
            <a:spLocks noGrp="1"/>
          </p:cNvSpPr>
          <p:nvPr>
            <p:ph type="body" sz="quarter" idx="20" hasCustomPrompt="1"/>
          </p:nvPr>
        </p:nvSpPr>
        <p:spPr>
          <a:xfrm>
            <a:off x="7316118"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30" name="Text Placeholder 2">
            <a:extLst>
              <a:ext uri="{FF2B5EF4-FFF2-40B4-BE49-F238E27FC236}">
                <a16:creationId xmlns:a16="http://schemas.microsoft.com/office/drawing/2014/main" id="{E16C5C97-4A3F-6D45-820F-5ACFFA7EBA52}"/>
              </a:ext>
            </a:extLst>
          </p:cNvPr>
          <p:cNvSpPr>
            <a:spLocks noGrp="1"/>
          </p:cNvSpPr>
          <p:nvPr>
            <p:ph type="body" sz="quarter" idx="21" hasCustomPrompt="1"/>
          </p:nvPr>
        </p:nvSpPr>
        <p:spPr>
          <a:xfrm>
            <a:off x="9481916" y="2760142"/>
            <a:ext cx="1872317" cy="584775"/>
          </a:xfrm>
          <a:prstGeom prst="rect">
            <a:avLst/>
          </a:prstGeom>
        </p:spPr>
        <p:txBody>
          <a:bodyPr anchor="t">
            <a:spAutoFit/>
          </a:bodyPr>
          <a:lstStyle>
            <a:lvl1pPr marL="0" indent="0" algn="l">
              <a:lnSpc>
                <a:spcPct val="100000"/>
              </a:lnSpc>
              <a:buNone/>
              <a:defRPr sz="160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Short description body copy text</a:t>
            </a:r>
            <a:endParaRPr lang="en-US"/>
          </a:p>
        </p:txBody>
      </p:sp>
      <p:sp>
        <p:nvSpPr>
          <p:cNvPr id="31" name="Text Placeholder 2">
            <a:extLst>
              <a:ext uri="{FF2B5EF4-FFF2-40B4-BE49-F238E27FC236}">
                <a16:creationId xmlns:a16="http://schemas.microsoft.com/office/drawing/2014/main" id="{5AA87B6F-02A5-1544-A70B-698D2E5B0558}"/>
              </a:ext>
            </a:extLst>
          </p:cNvPr>
          <p:cNvSpPr>
            <a:spLocks noGrp="1"/>
          </p:cNvSpPr>
          <p:nvPr>
            <p:ph type="body" sz="quarter" idx="22" hasCustomPrompt="1"/>
          </p:nvPr>
        </p:nvSpPr>
        <p:spPr>
          <a:xfrm>
            <a:off x="9481916" y="2138511"/>
            <a:ext cx="1872317" cy="492443"/>
          </a:xfrm>
          <a:prstGeom prst="rect">
            <a:avLst/>
          </a:prstGeom>
        </p:spPr>
        <p:txBody>
          <a:bodyPr anchor="b">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a:t>
            </a:r>
            <a:endParaRPr lang="en-US"/>
          </a:p>
        </p:txBody>
      </p:sp>
      <p:sp>
        <p:nvSpPr>
          <p:cNvPr id="22" name="Title 1">
            <a:extLst>
              <a:ext uri="{FF2B5EF4-FFF2-40B4-BE49-F238E27FC236}">
                <a16:creationId xmlns:a16="http://schemas.microsoft.com/office/drawing/2014/main" id="{26778A26-3C32-4323-A61B-8DB36072A9D6}"/>
              </a:ext>
            </a:extLst>
          </p:cNvPr>
          <p:cNvSpPr>
            <a:spLocks noGrp="1"/>
          </p:cNvSpPr>
          <p:nvPr>
            <p:ph type="title"/>
          </p:nvPr>
        </p:nvSpPr>
        <p:spPr>
          <a:xfrm>
            <a:off x="605443" y="498666"/>
            <a:ext cx="10856211"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9493762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6 cards">
    <p:bg>
      <p:bgPr>
        <a:solidFill>
          <a:schemeClr val="bg2">
            <a:alpha val="40000"/>
          </a:schemeClr>
        </a:solidFill>
        <a:effectLst/>
      </p:bgPr>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3F8D3419-B8FB-DD4F-AA34-154EA631B9DC}"/>
              </a:ext>
            </a:extLst>
          </p:cNvPr>
          <p:cNvSpPr/>
          <p:nvPr/>
        </p:nvSpPr>
        <p:spPr>
          <a:xfrm>
            <a:off x="4385246" y="1973770"/>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7" name="Rounded Rectangle 26">
            <a:extLst>
              <a:ext uri="{FF2B5EF4-FFF2-40B4-BE49-F238E27FC236}">
                <a16:creationId xmlns:a16="http://schemas.microsoft.com/office/drawing/2014/main" id="{48526222-E811-6645-9D04-A0AF7431982A}"/>
              </a:ext>
            </a:extLst>
          </p:cNvPr>
          <p:cNvSpPr/>
          <p:nvPr/>
        </p:nvSpPr>
        <p:spPr>
          <a:xfrm>
            <a:off x="8052749" y="1973770"/>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29" name="Rounded Rectangle 28">
            <a:extLst>
              <a:ext uri="{FF2B5EF4-FFF2-40B4-BE49-F238E27FC236}">
                <a16:creationId xmlns:a16="http://schemas.microsoft.com/office/drawing/2014/main" id="{8FFA1DFF-6593-E241-B48A-BD1E74935819}"/>
              </a:ext>
            </a:extLst>
          </p:cNvPr>
          <p:cNvSpPr/>
          <p:nvPr/>
        </p:nvSpPr>
        <p:spPr>
          <a:xfrm>
            <a:off x="727169" y="4170217"/>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0" name="Text Placeholder 2">
            <a:extLst>
              <a:ext uri="{FF2B5EF4-FFF2-40B4-BE49-F238E27FC236}">
                <a16:creationId xmlns:a16="http://schemas.microsoft.com/office/drawing/2014/main" id="{BCC5A599-7A69-BF4C-A01A-3AF4515ACB37}"/>
              </a:ext>
            </a:extLst>
          </p:cNvPr>
          <p:cNvSpPr>
            <a:spLocks noGrp="1"/>
          </p:cNvSpPr>
          <p:nvPr>
            <p:ph type="body" sz="quarter" idx="23" hasCustomPrompt="1"/>
          </p:nvPr>
        </p:nvSpPr>
        <p:spPr>
          <a:xfrm>
            <a:off x="843853" y="4248874"/>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2" name="Text Placeholder 13">
            <a:extLst>
              <a:ext uri="{FF2B5EF4-FFF2-40B4-BE49-F238E27FC236}">
                <a16:creationId xmlns:a16="http://schemas.microsoft.com/office/drawing/2014/main" id="{428B7788-3E4F-824C-B16A-5B2E1595EF79}"/>
              </a:ext>
            </a:extLst>
          </p:cNvPr>
          <p:cNvSpPr>
            <a:spLocks noGrp="1"/>
          </p:cNvSpPr>
          <p:nvPr>
            <p:ph type="body" sz="quarter" idx="24" hasCustomPrompt="1"/>
          </p:nvPr>
        </p:nvSpPr>
        <p:spPr>
          <a:xfrm>
            <a:off x="858949" y="4824730"/>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Rounded Rectangle 33">
            <a:extLst>
              <a:ext uri="{FF2B5EF4-FFF2-40B4-BE49-F238E27FC236}">
                <a16:creationId xmlns:a16="http://schemas.microsoft.com/office/drawing/2014/main" id="{09546C7B-1047-4B4D-A907-7B12EE3B41C5}"/>
              </a:ext>
            </a:extLst>
          </p:cNvPr>
          <p:cNvSpPr/>
          <p:nvPr/>
        </p:nvSpPr>
        <p:spPr>
          <a:xfrm>
            <a:off x="4385246" y="4170217"/>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5" name="Text Placeholder 2">
            <a:extLst>
              <a:ext uri="{FF2B5EF4-FFF2-40B4-BE49-F238E27FC236}">
                <a16:creationId xmlns:a16="http://schemas.microsoft.com/office/drawing/2014/main" id="{F3DB1F31-41AD-AE49-847C-7A380E3AF4CF}"/>
              </a:ext>
            </a:extLst>
          </p:cNvPr>
          <p:cNvSpPr>
            <a:spLocks noGrp="1"/>
          </p:cNvSpPr>
          <p:nvPr>
            <p:ph type="body" sz="quarter" idx="25" hasCustomPrompt="1"/>
          </p:nvPr>
        </p:nvSpPr>
        <p:spPr>
          <a:xfrm>
            <a:off x="4501930" y="4248874"/>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6" name="Text Placeholder 13">
            <a:extLst>
              <a:ext uri="{FF2B5EF4-FFF2-40B4-BE49-F238E27FC236}">
                <a16:creationId xmlns:a16="http://schemas.microsoft.com/office/drawing/2014/main" id="{81164B21-23EB-EF40-900E-5BDADBE458CB}"/>
              </a:ext>
            </a:extLst>
          </p:cNvPr>
          <p:cNvSpPr>
            <a:spLocks noGrp="1"/>
          </p:cNvSpPr>
          <p:nvPr>
            <p:ph type="body" sz="quarter" idx="26" hasCustomPrompt="1"/>
          </p:nvPr>
        </p:nvSpPr>
        <p:spPr>
          <a:xfrm>
            <a:off x="4517026" y="4824730"/>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7" name="Rounded Rectangle 36">
            <a:extLst>
              <a:ext uri="{FF2B5EF4-FFF2-40B4-BE49-F238E27FC236}">
                <a16:creationId xmlns:a16="http://schemas.microsoft.com/office/drawing/2014/main" id="{DA41FCA4-42DE-B84D-B9EA-F58C34C4EB6B}"/>
              </a:ext>
            </a:extLst>
          </p:cNvPr>
          <p:cNvSpPr/>
          <p:nvPr/>
        </p:nvSpPr>
        <p:spPr>
          <a:xfrm>
            <a:off x="8052749" y="4170217"/>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38" name="Text Placeholder 2">
            <a:extLst>
              <a:ext uri="{FF2B5EF4-FFF2-40B4-BE49-F238E27FC236}">
                <a16:creationId xmlns:a16="http://schemas.microsoft.com/office/drawing/2014/main" id="{3E05BB9B-1C80-F64C-93F4-B72F86189BB6}"/>
              </a:ext>
            </a:extLst>
          </p:cNvPr>
          <p:cNvSpPr>
            <a:spLocks noGrp="1"/>
          </p:cNvSpPr>
          <p:nvPr>
            <p:ph type="body" sz="quarter" idx="27" hasCustomPrompt="1"/>
          </p:nvPr>
        </p:nvSpPr>
        <p:spPr>
          <a:xfrm>
            <a:off x="8169433" y="4248874"/>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39" name="Text Placeholder 13">
            <a:extLst>
              <a:ext uri="{FF2B5EF4-FFF2-40B4-BE49-F238E27FC236}">
                <a16:creationId xmlns:a16="http://schemas.microsoft.com/office/drawing/2014/main" id="{B0A1DFCD-C101-6C46-8B94-AF8628244711}"/>
              </a:ext>
            </a:extLst>
          </p:cNvPr>
          <p:cNvSpPr>
            <a:spLocks noGrp="1"/>
          </p:cNvSpPr>
          <p:nvPr>
            <p:ph type="body" sz="quarter" idx="28" hasCustomPrompt="1"/>
          </p:nvPr>
        </p:nvSpPr>
        <p:spPr>
          <a:xfrm>
            <a:off x="8184530" y="4824730"/>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0" name="Rounded Rectangle 39">
            <a:extLst>
              <a:ext uri="{FF2B5EF4-FFF2-40B4-BE49-F238E27FC236}">
                <a16:creationId xmlns:a16="http://schemas.microsoft.com/office/drawing/2014/main" id="{084CA5E0-F916-F94A-A4F7-CA5867FFF468}"/>
              </a:ext>
            </a:extLst>
          </p:cNvPr>
          <p:cNvSpPr/>
          <p:nvPr/>
        </p:nvSpPr>
        <p:spPr>
          <a:xfrm>
            <a:off x="727169" y="1973770"/>
            <a:ext cx="3413570" cy="2064623"/>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mn-lt"/>
            </a:endParaRPr>
          </a:p>
        </p:txBody>
      </p:sp>
      <p:sp>
        <p:nvSpPr>
          <p:cNvPr id="41" name="Text Placeholder 2">
            <a:extLst>
              <a:ext uri="{FF2B5EF4-FFF2-40B4-BE49-F238E27FC236}">
                <a16:creationId xmlns:a16="http://schemas.microsoft.com/office/drawing/2014/main" id="{FB498EF0-EEC4-F146-845C-C2D72D9E8EA7}"/>
              </a:ext>
            </a:extLst>
          </p:cNvPr>
          <p:cNvSpPr>
            <a:spLocks noGrp="1"/>
          </p:cNvSpPr>
          <p:nvPr>
            <p:ph type="body" sz="quarter" idx="14" hasCustomPrompt="1"/>
          </p:nvPr>
        </p:nvSpPr>
        <p:spPr>
          <a:xfrm>
            <a:off x="843853" y="2052428"/>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2" name="Text Placeholder 13">
            <a:extLst>
              <a:ext uri="{FF2B5EF4-FFF2-40B4-BE49-F238E27FC236}">
                <a16:creationId xmlns:a16="http://schemas.microsoft.com/office/drawing/2014/main" id="{79A67EA1-6BCB-5A43-963F-E15F65923E78}"/>
              </a:ext>
            </a:extLst>
          </p:cNvPr>
          <p:cNvSpPr>
            <a:spLocks noGrp="1"/>
          </p:cNvSpPr>
          <p:nvPr>
            <p:ph type="body" sz="quarter" idx="18" hasCustomPrompt="1"/>
          </p:nvPr>
        </p:nvSpPr>
        <p:spPr>
          <a:xfrm>
            <a:off x="858949" y="2628283"/>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3" name="Text Placeholder 2">
            <a:extLst>
              <a:ext uri="{FF2B5EF4-FFF2-40B4-BE49-F238E27FC236}">
                <a16:creationId xmlns:a16="http://schemas.microsoft.com/office/drawing/2014/main" id="{32980E6D-0D3C-3C44-B752-A28A21BED5A4}"/>
              </a:ext>
            </a:extLst>
          </p:cNvPr>
          <p:cNvSpPr>
            <a:spLocks noGrp="1"/>
          </p:cNvSpPr>
          <p:nvPr>
            <p:ph type="body" sz="quarter" idx="19" hasCustomPrompt="1"/>
          </p:nvPr>
        </p:nvSpPr>
        <p:spPr>
          <a:xfrm>
            <a:off x="4501930" y="2052428"/>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4" name="Text Placeholder 13">
            <a:extLst>
              <a:ext uri="{FF2B5EF4-FFF2-40B4-BE49-F238E27FC236}">
                <a16:creationId xmlns:a16="http://schemas.microsoft.com/office/drawing/2014/main" id="{02354588-70BC-224B-AE50-5093D92BA564}"/>
              </a:ext>
            </a:extLst>
          </p:cNvPr>
          <p:cNvSpPr>
            <a:spLocks noGrp="1"/>
          </p:cNvSpPr>
          <p:nvPr>
            <p:ph type="body" sz="quarter" idx="20" hasCustomPrompt="1"/>
          </p:nvPr>
        </p:nvSpPr>
        <p:spPr>
          <a:xfrm>
            <a:off x="4517026" y="2628283"/>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45" name="Text Placeholder 2">
            <a:extLst>
              <a:ext uri="{FF2B5EF4-FFF2-40B4-BE49-F238E27FC236}">
                <a16:creationId xmlns:a16="http://schemas.microsoft.com/office/drawing/2014/main" id="{3CE21FEB-540A-DE43-8666-63B85B077C1B}"/>
              </a:ext>
            </a:extLst>
          </p:cNvPr>
          <p:cNvSpPr>
            <a:spLocks noGrp="1"/>
          </p:cNvSpPr>
          <p:nvPr>
            <p:ph type="body" sz="quarter" idx="21" hasCustomPrompt="1"/>
          </p:nvPr>
        </p:nvSpPr>
        <p:spPr>
          <a:xfrm>
            <a:off x="8169433" y="2052428"/>
            <a:ext cx="3180202" cy="584775"/>
          </a:xfrm>
          <a:prstGeom prst="rect">
            <a:avLst/>
          </a:prstGeom>
        </p:spPr>
        <p:txBody>
          <a:bodyPr anchor="b">
            <a:spAutoFit/>
          </a:bodyPr>
          <a:lstStyle>
            <a:lvl1pPr marL="0" indent="0" algn="l">
              <a:lnSpc>
                <a:spcPct val="100000"/>
              </a:lnSpc>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in maximum two lines</a:t>
            </a:r>
            <a:endParaRPr lang="en-US"/>
          </a:p>
        </p:txBody>
      </p:sp>
      <p:sp>
        <p:nvSpPr>
          <p:cNvPr id="46" name="Text Placeholder 13">
            <a:extLst>
              <a:ext uri="{FF2B5EF4-FFF2-40B4-BE49-F238E27FC236}">
                <a16:creationId xmlns:a16="http://schemas.microsoft.com/office/drawing/2014/main" id="{9FB74C92-5EA4-B843-A476-AC4B9F95E9BD}"/>
              </a:ext>
            </a:extLst>
          </p:cNvPr>
          <p:cNvSpPr>
            <a:spLocks noGrp="1"/>
          </p:cNvSpPr>
          <p:nvPr>
            <p:ph type="body" sz="quarter" idx="22" hasCustomPrompt="1"/>
          </p:nvPr>
        </p:nvSpPr>
        <p:spPr>
          <a:xfrm>
            <a:off x="8184530" y="2628283"/>
            <a:ext cx="3180177" cy="1107996"/>
          </a:xfrm>
          <a:prstGeom prst="rect">
            <a:avLst/>
          </a:prstGeom>
        </p:spPr>
        <p:txBody>
          <a:bodyPr>
            <a:spAutoFit/>
          </a:bodyPr>
          <a:lstStyle>
            <a:lvl1pPr marL="0" indent="0">
              <a:lnSpc>
                <a:spcPct val="100000"/>
              </a:lnSpc>
              <a:buNone/>
              <a:defRPr sz="16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24" name="Title 1">
            <a:extLst>
              <a:ext uri="{FF2B5EF4-FFF2-40B4-BE49-F238E27FC236}">
                <a16:creationId xmlns:a16="http://schemas.microsoft.com/office/drawing/2014/main" id="{91963E8D-2FF2-4001-9B8D-7FE754685AF9}"/>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36493888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roduct Logo + Subtitle + Image  ">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5375975" y="644526"/>
            <a:ext cx="6096794" cy="5568951"/>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4" name="Text Placeholder 3">
            <a:extLst>
              <a:ext uri="{FF2B5EF4-FFF2-40B4-BE49-F238E27FC236}">
                <a16:creationId xmlns:a16="http://schemas.microsoft.com/office/drawing/2014/main" id="{2B123F89-7EFA-469E-85C4-C2C4535BDDE0}"/>
              </a:ext>
            </a:extLst>
          </p:cNvPr>
          <p:cNvSpPr>
            <a:spLocks noGrp="1"/>
          </p:cNvSpPr>
          <p:nvPr>
            <p:ph type="body" sz="quarter" idx="14" hasCustomPrompt="1"/>
          </p:nvPr>
        </p:nvSpPr>
        <p:spPr>
          <a:xfrm>
            <a:off x="621853" y="1971676"/>
            <a:ext cx="3926927" cy="1723549"/>
          </a:xfrm>
          <a:prstGeom prst="rect">
            <a:avLst/>
          </a:prstGeom>
        </p:spPr>
        <p:txBody>
          <a:bodyPr>
            <a:spAutoFit/>
          </a:bodyPr>
          <a:lstStyle>
            <a:lvl1pPr marL="0" indent="0" algn="l">
              <a:lnSpc>
                <a:spcPct val="100000"/>
              </a:lnSpc>
              <a:buNone/>
              <a:defRPr sz="2600"/>
            </a:lvl1pPr>
            <a:lvl2pPr marL="457189" indent="0">
              <a:buNone/>
              <a:defRPr/>
            </a:lvl2pPr>
            <a:lvl3pPr marL="914377" indent="0">
              <a:buNone/>
              <a:defRPr/>
            </a:lvl3pPr>
            <a:lvl4pPr marL="1371566" indent="0">
              <a:buNone/>
              <a:defRPr/>
            </a:lvl4pPr>
            <a:lvl5pPr marL="1828754" indent="0">
              <a:buNone/>
              <a:defRPr/>
            </a:lvl5pPr>
          </a:lstStyle>
          <a:p>
            <a:pPr lvl="0"/>
            <a:r>
              <a:rPr lang="en-US"/>
              <a:t>Short Sub Title that describes the image and fits in maximum four lines</a:t>
            </a:r>
            <a:endParaRPr lang="en-IN"/>
          </a:p>
        </p:txBody>
      </p:sp>
      <p:sp>
        <p:nvSpPr>
          <p:cNvPr id="5" name="Text Placeholder 7">
            <a:extLst>
              <a:ext uri="{FF2B5EF4-FFF2-40B4-BE49-F238E27FC236}">
                <a16:creationId xmlns:a16="http://schemas.microsoft.com/office/drawing/2014/main" id="{403ABB45-0CC5-4414-B609-0F6CDC509A38}"/>
              </a:ext>
            </a:extLst>
          </p:cNvPr>
          <p:cNvSpPr>
            <a:spLocks noGrp="1"/>
          </p:cNvSpPr>
          <p:nvPr>
            <p:ph type="body" sz="quarter" idx="11" hasCustomPrompt="1"/>
          </p:nvPr>
        </p:nvSpPr>
        <p:spPr>
          <a:xfrm>
            <a:off x="621854" y="644526"/>
            <a:ext cx="3036223"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23634127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Product Logo +Subtitle + Visual">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3035698" y="1971675"/>
            <a:ext cx="8437073" cy="4241800"/>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8" name="Text Placeholder 7">
            <a:extLst>
              <a:ext uri="{FF2B5EF4-FFF2-40B4-BE49-F238E27FC236}">
                <a16:creationId xmlns:a16="http://schemas.microsoft.com/office/drawing/2014/main" id="{974E908D-F0C8-43B8-88EE-AF9BBE439300}"/>
              </a:ext>
            </a:extLst>
          </p:cNvPr>
          <p:cNvSpPr>
            <a:spLocks noGrp="1"/>
          </p:cNvSpPr>
          <p:nvPr>
            <p:ph type="body" sz="quarter" idx="11" hasCustomPrompt="1"/>
          </p:nvPr>
        </p:nvSpPr>
        <p:spPr>
          <a:xfrm>
            <a:off x="621854" y="644526"/>
            <a:ext cx="3036223"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
        <p:nvSpPr>
          <p:cNvPr id="5" name="Text Placeholder 3">
            <a:extLst>
              <a:ext uri="{FF2B5EF4-FFF2-40B4-BE49-F238E27FC236}">
                <a16:creationId xmlns:a16="http://schemas.microsoft.com/office/drawing/2014/main" id="{325C07C5-6398-42F9-BB80-665B2901EE3A}"/>
              </a:ext>
            </a:extLst>
          </p:cNvPr>
          <p:cNvSpPr>
            <a:spLocks noGrp="1"/>
          </p:cNvSpPr>
          <p:nvPr>
            <p:ph type="body" sz="quarter" idx="14" hasCustomPrompt="1"/>
          </p:nvPr>
        </p:nvSpPr>
        <p:spPr>
          <a:xfrm>
            <a:off x="621854" y="1971675"/>
            <a:ext cx="2274124" cy="1292662"/>
          </a:xfrm>
          <a:prstGeom prst="rect">
            <a:avLst/>
          </a:prstGeom>
        </p:spPr>
        <p:txBody>
          <a:bodyPr wrap="square">
            <a:spAutoFit/>
          </a:bodyPr>
          <a:lstStyle>
            <a:lvl1pPr marL="0" indent="0" algn="l">
              <a:lnSpc>
                <a:spcPct val="100000"/>
              </a:lnSpc>
              <a:buNone/>
              <a:defRPr sz="2600"/>
            </a:lvl1pPr>
            <a:lvl2pPr marL="457189" indent="0">
              <a:buNone/>
              <a:defRPr/>
            </a:lvl2pPr>
            <a:lvl3pPr marL="914377" indent="0">
              <a:buNone/>
              <a:defRPr/>
            </a:lvl3pPr>
            <a:lvl4pPr marL="1371566" indent="0">
              <a:buNone/>
              <a:defRPr/>
            </a:lvl4pPr>
            <a:lvl5pPr marL="1828754" indent="0">
              <a:buNone/>
              <a:defRPr/>
            </a:lvl5pPr>
          </a:lstStyle>
          <a:p>
            <a:pPr lvl="0"/>
            <a:r>
              <a:rPr lang="en-US"/>
              <a:t>Sub Title that describes the image</a:t>
            </a:r>
            <a:endParaRPr lang="en-IN"/>
          </a:p>
        </p:txBody>
      </p:sp>
    </p:spTree>
    <p:extLst>
      <p:ext uri="{BB962C8B-B14F-4D97-AF65-F5344CB8AC3E}">
        <p14:creationId xmlns:p14="http://schemas.microsoft.com/office/powerpoint/2010/main" val="28091434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Product Logo + Image + Subtitle">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4A722C6E-8091-D148-A118-AB6B363FD483}"/>
              </a:ext>
            </a:extLst>
          </p:cNvPr>
          <p:cNvSpPr>
            <a:spLocks noGrp="1"/>
          </p:cNvSpPr>
          <p:nvPr>
            <p:ph idx="1" hasCustomPrompt="1"/>
          </p:nvPr>
        </p:nvSpPr>
        <p:spPr>
          <a:xfrm>
            <a:off x="711294" y="2229957"/>
            <a:ext cx="10761476" cy="3983519"/>
          </a:xfrm>
          <a:prstGeom prst="rect">
            <a:avLst/>
          </a:prstGeom>
        </p:spPr>
        <p:txBody>
          <a:bodyPr/>
          <a:lstStyle>
            <a:lvl1pPr marL="0" indent="0">
              <a:lnSpc>
                <a:spcPct val="100000"/>
              </a:lnSpc>
              <a:buNone/>
              <a:defRPr sz="1600">
                <a:solidFill>
                  <a:srgbClr val="6B6B6B"/>
                </a:solidFill>
                <a:latin typeface="+mn-lt"/>
              </a:defRPr>
            </a:lvl1pPr>
          </a:lstStyle>
          <a:p>
            <a:r>
              <a:rPr lang="en-US"/>
              <a:t>INSERT IMAGES/CHART/MEDIA/GRAPHIC</a:t>
            </a:r>
          </a:p>
        </p:txBody>
      </p:sp>
      <p:sp>
        <p:nvSpPr>
          <p:cNvPr id="11" name="Title 1">
            <a:extLst>
              <a:ext uri="{FF2B5EF4-FFF2-40B4-BE49-F238E27FC236}">
                <a16:creationId xmlns:a16="http://schemas.microsoft.com/office/drawing/2014/main" id="{E10CC725-6E89-4083-B26D-E98DE4D4B5F8}"/>
              </a:ext>
            </a:extLst>
          </p:cNvPr>
          <p:cNvSpPr>
            <a:spLocks noGrp="1"/>
          </p:cNvSpPr>
          <p:nvPr>
            <p:ph type="title" hasCustomPrompt="1"/>
          </p:nvPr>
        </p:nvSpPr>
        <p:spPr>
          <a:xfrm>
            <a:off x="621854" y="1619430"/>
            <a:ext cx="10850916" cy="492443"/>
          </a:xfrm>
          <a:prstGeom prst="rect">
            <a:avLst/>
          </a:prstGeom>
        </p:spPr>
        <p:txBody>
          <a:bodyPr wrap="square">
            <a:spAutoFit/>
          </a:bodyPr>
          <a:lstStyle>
            <a:lvl1pPr>
              <a:defRPr lang="en-IN" sz="2600" b="0" i="0" dirty="0">
                <a:latin typeface="+mn-lt"/>
                <a:ea typeface="+mn-ea"/>
                <a:cs typeface="+mn-cs"/>
              </a:defRPr>
            </a:lvl1pPr>
          </a:lstStyle>
          <a:p>
            <a:pPr marL="0" lvl="0" indent="0">
              <a:lnSpc>
                <a:spcPct val="100000"/>
              </a:lnSpc>
              <a:spcBef>
                <a:spcPts val="1000"/>
              </a:spcBef>
              <a:buFont typeface="Arial" panose="020B0604020202020204" pitchFamily="34" charset="0"/>
            </a:pPr>
            <a:r>
              <a:rPr lang="en-US"/>
              <a:t>Sub Title that describes the image.</a:t>
            </a:r>
          </a:p>
        </p:txBody>
      </p:sp>
      <p:sp>
        <p:nvSpPr>
          <p:cNvPr id="8" name="Text Placeholder 7">
            <a:extLst>
              <a:ext uri="{FF2B5EF4-FFF2-40B4-BE49-F238E27FC236}">
                <a16:creationId xmlns:a16="http://schemas.microsoft.com/office/drawing/2014/main" id="{34DD6C36-E4DD-4B7E-9561-6D5EC33E1BA7}"/>
              </a:ext>
            </a:extLst>
          </p:cNvPr>
          <p:cNvSpPr>
            <a:spLocks noGrp="1"/>
          </p:cNvSpPr>
          <p:nvPr>
            <p:ph type="body" sz="quarter" idx="11" hasCustomPrompt="1"/>
          </p:nvPr>
        </p:nvSpPr>
        <p:spPr>
          <a:xfrm>
            <a:off x="621854" y="644526"/>
            <a:ext cx="3036223" cy="646331"/>
          </a:xfrm>
          <a:prstGeom prst="rect">
            <a:avLst/>
          </a:prstGeom>
        </p:spPr>
        <p:txBody>
          <a:bodyPr wrap="square" anchor="b">
            <a:spAutoFit/>
          </a:bodyPr>
          <a:lstStyle>
            <a:lvl1pPr marL="0" indent="0">
              <a:lnSpc>
                <a:spcPct val="100000"/>
              </a:lnSpc>
              <a:spcBef>
                <a:spcPts val="0"/>
              </a:spcBef>
              <a:buNone/>
              <a:defRPr sz="1800">
                <a:solidFill>
                  <a:schemeClr val="bg1">
                    <a:lumMod val="65000"/>
                  </a:schemeClr>
                </a:solidFill>
              </a:defRPr>
            </a:lvl1pPr>
            <a:lvl5pPr marL="1828754" indent="0">
              <a:buNone/>
              <a:defRPr sz="1100"/>
            </a:lvl5pPr>
          </a:lstStyle>
          <a:p>
            <a:pPr lvl="0"/>
            <a:r>
              <a:rPr lang="en-US"/>
              <a:t>Space to add respective</a:t>
            </a:r>
            <a:br>
              <a:rPr lang="en-US"/>
            </a:br>
            <a:r>
              <a:rPr lang="en-US"/>
              <a:t>Product logo, e.g., Cuddle</a:t>
            </a:r>
          </a:p>
        </p:txBody>
      </p:sp>
    </p:spTree>
    <p:extLst>
      <p:ext uri="{BB962C8B-B14F-4D97-AF65-F5344CB8AC3E}">
        <p14:creationId xmlns:p14="http://schemas.microsoft.com/office/powerpoint/2010/main" val="25250471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ase study ">
    <p:bg>
      <p:bgPr>
        <a:solidFill>
          <a:schemeClr val="bg2">
            <a:alpha val="40000"/>
          </a:schemeClr>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711293" y="1645078"/>
            <a:ext cx="3045222" cy="4573159"/>
          </a:xfrm>
          <a:prstGeom prst="roundRect">
            <a:avLst>
              <a:gd name="adj" fmla="val 4672"/>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Graphic</a:t>
            </a:r>
          </a:p>
        </p:txBody>
      </p:sp>
      <p:sp>
        <p:nvSpPr>
          <p:cNvPr id="16" name="Rounded Rectangle 15">
            <a:extLst>
              <a:ext uri="{FF2B5EF4-FFF2-40B4-BE49-F238E27FC236}">
                <a16:creationId xmlns:a16="http://schemas.microsoft.com/office/drawing/2014/main" id="{AB0FD3F0-CADA-2A43-A855-218DC961FA55}"/>
              </a:ext>
            </a:extLst>
          </p:cNvPr>
          <p:cNvSpPr/>
          <p:nvPr/>
        </p:nvSpPr>
        <p:spPr>
          <a:xfrm>
            <a:off x="3846932" y="1645078"/>
            <a:ext cx="3780492" cy="4573159"/>
          </a:xfrm>
          <a:prstGeom prst="roundRect">
            <a:avLst>
              <a:gd name="adj" fmla="val 3933"/>
            </a:avLst>
          </a:prstGeom>
          <a:solidFill>
            <a:srgbClr val="FFFFFF"/>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3900727" y="1771661"/>
            <a:ext cx="359465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1</a:t>
            </a:r>
          </a:p>
        </p:txBody>
      </p:sp>
      <p:sp>
        <p:nvSpPr>
          <p:cNvPr id="28" name="Rounded Rectangle 27">
            <a:extLst>
              <a:ext uri="{FF2B5EF4-FFF2-40B4-BE49-F238E27FC236}">
                <a16:creationId xmlns:a16="http://schemas.microsoft.com/office/drawing/2014/main" id="{23297810-B42F-4E43-AAF0-9C880E9E5776}"/>
              </a:ext>
            </a:extLst>
          </p:cNvPr>
          <p:cNvSpPr/>
          <p:nvPr/>
        </p:nvSpPr>
        <p:spPr>
          <a:xfrm>
            <a:off x="7717843" y="1645078"/>
            <a:ext cx="3780492" cy="4573159"/>
          </a:xfrm>
          <a:prstGeom prst="roundRect">
            <a:avLst>
              <a:gd name="adj" fmla="val 2891"/>
            </a:avLst>
          </a:prstGeom>
          <a:solidFill>
            <a:srgbClr val="FFFFFF"/>
          </a:solidFill>
          <a:ln w="12700" cap="flat" cmpd="sng" algn="ctr">
            <a:noFill/>
            <a:prstDash val="solid"/>
            <a:miter lim="800000"/>
          </a:ln>
          <a:effectLst/>
        </p:spPr>
        <p:txBody>
          <a:bodyPr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AFFFF"/>
              </a:solidFill>
              <a:effectLst/>
              <a:uLnTx/>
              <a:uFillTx/>
              <a:latin typeface="+mn-lt"/>
              <a:ea typeface="+mn-ea"/>
              <a:cs typeface="+mn-cs"/>
            </a:endParaRPr>
          </a:p>
        </p:txBody>
      </p:sp>
      <p:sp>
        <p:nvSpPr>
          <p:cNvPr id="30" name="Text Placeholder 3">
            <a:extLst>
              <a:ext uri="{FF2B5EF4-FFF2-40B4-BE49-F238E27FC236}">
                <a16:creationId xmlns:a16="http://schemas.microsoft.com/office/drawing/2014/main" id="{7B936880-5BF6-594A-8BAD-B4D73AACDF8D}"/>
              </a:ext>
            </a:extLst>
          </p:cNvPr>
          <p:cNvSpPr>
            <a:spLocks noGrp="1"/>
          </p:cNvSpPr>
          <p:nvPr>
            <p:ph type="body" sz="half" idx="16" hasCustomPrompt="1"/>
          </p:nvPr>
        </p:nvSpPr>
        <p:spPr>
          <a:xfrm>
            <a:off x="7771638" y="1771661"/>
            <a:ext cx="3555646"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2</a:t>
            </a:r>
          </a:p>
        </p:txBody>
      </p:sp>
      <p:sp>
        <p:nvSpPr>
          <p:cNvPr id="31" name="Text Placeholder 13">
            <a:extLst>
              <a:ext uri="{FF2B5EF4-FFF2-40B4-BE49-F238E27FC236}">
                <a16:creationId xmlns:a16="http://schemas.microsoft.com/office/drawing/2014/main" id="{FCA37391-5567-454B-8A95-829FE162E13F}"/>
              </a:ext>
            </a:extLst>
          </p:cNvPr>
          <p:cNvSpPr>
            <a:spLocks noGrp="1"/>
          </p:cNvSpPr>
          <p:nvPr>
            <p:ph type="body" sz="quarter" idx="18" hasCustomPrompt="1"/>
          </p:nvPr>
        </p:nvSpPr>
        <p:spPr>
          <a:xfrm>
            <a:off x="3900727" y="2388250"/>
            <a:ext cx="3594651"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2" name="Text Placeholder 13">
            <a:extLst>
              <a:ext uri="{FF2B5EF4-FFF2-40B4-BE49-F238E27FC236}">
                <a16:creationId xmlns:a16="http://schemas.microsoft.com/office/drawing/2014/main" id="{2AEF9A3F-C3D4-5749-90E3-1547F3B8F260}"/>
              </a:ext>
            </a:extLst>
          </p:cNvPr>
          <p:cNvSpPr>
            <a:spLocks noGrp="1"/>
          </p:cNvSpPr>
          <p:nvPr>
            <p:ph type="body" sz="quarter" idx="19" hasCustomPrompt="1"/>
          </p:nvPr>
        </p:nvSpPr>
        <p:spPr>
          <a:xfrm>
            <a:off x="7771638" y="2388250"/>
            <a:ext cx="3555646" cy="738664"/>
          </a:xfrm>
          <a:prstGeom prst="rect">
            <a:avLst/>
          </a:prstGeom>
        </p:spPr>
        <p:txBody>
          <a:bodyPr wrap="square">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17" name="Title 1">
            <a:extLst>
              <a:ext uri="{FF2B5EF4-FFF2-40B4-BE49-F238E27FC236}">
                <a16:creationId xmlns:a16="http://schemas.microsoft.com/office/drawing/2014/main" id="{0336F1B1-07AE-44D7-B87E-02D7F71C3645}"/>
              </a:ext>
            </a:extLst>
          </p:cNvPr>
          <p:cNvSpPr>
            <a:spLocks noGrp="1"/>
          </p:cNvSpPr>
          <p:nvPr>
            <p:ph type="title"/>
          </p:nvPr>
        </p:nvSpPr>
        <p:spPr>
          <a:xfrm>
            <a:off x="1595328" y="527693"/>
            <a:ext cx="9913480"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18" name="Group 17">
            <a:extLst>
              <a:ext uri="{FF2B5EF4-FFF2-40B4-BE49-F238E27FC236}">
                <a16:creationId xmlns:a16="http://schemas.microsoft.com/office/drawing/2014/main" id="{691BF75A-D0A4-4185-9701-031ACC826FD3}"/>
              </a:ext>
            </a:extLst>
          </p:cNvPr>
          <p:cNvGrpSpPr/>
          <p:nvPr/>
        </p:nvGrpSpPr>
        <p:grpSpPr>
          <a:xfrm>
            <a:off x="717536" y="415139"/>
            <a:ext cx="797290" cy="717551"/>
            <a:chOff x="644873" y="545729"/>
            <a:chExt cx="797186" cy="717551"/>
          </a:xfrm>
        </p:grpSpPr>
        <p:sp>
          <p:nvSpPr>
            <p:cNvPr id="19" name="Rectangle: Rounded Corners 18">
              <a:extLst>
                <a:ext uri="{FF2B5EF4-FFF2-40B4-BE49-F238E27FC236}">
                  <a16:creationId xmlns:a16="http://schemas.microsoft.com/office/drawing/2014/main" id="{61A1FB06-2971-449C-BE12-C3834072DB9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latin typeface="+mn-lt"/>
              </a:endParaRPr>
            </a:p>
          </p:txBody>
        </p:sp>
        <p:pic>
          <p:nvPicPr>
            <p:cNvPr id="20" name="Graphic 24">
              <a:extLst>
                <a:ext uri="{FF2B5EF4-FFF2-40B4-BE49-F238E27FC236}">
                  <a16:creationId xmlns:a16="http://schemas.microsoft.com/office/drawing/2014/main" id="{08ABD3B6-14ED-4371-A7B8-7D60D76F0123}"/>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16303084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ase study continuation">
    <p:bg>
      <p:bgPr>
        <a:solidFill>
          <a:schemeClr val="bg2">
            <a:alpha val="40000"/>
          </a:schemeClr>
        </a:solidFill>
        <a:effectLst/>
      </p:bgPr>
    </p:bg>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1ADC7FFF-64D4-054B-B83A-FCCD216E7154}"/>
              </a:ext>
            </a:extLst>
          </p:cNvPr>
          <p:cNvSpPr/>
          <p:nvPr/>
        </p:nvSpPr>
        <p:spPr>
          <a:xfrm>
            <a:off x="715319" y="648970"/>
            <a:ext cx="5302941" cy="2743519"/>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15" name="Rounded Rectangle 14">
            <a:extLst>
              <a:ext uri="{FF2B5EF4-FFF2-40B4-BE49-F238E27FC236}">
                <a16:creationId xmlns:a16="http://schemas.microsoft.com/office/drawing/2014/main" id="{9518A8F8-E3DA-BF48-9557-22BE8356F5E8}"/>
              </a:ext>
            </a:extLst>
          </p:cNvPr>
          <p:cNvSpPr/>
          <p:nvPr/>
        </p:nvSpPr>
        <p:spPr>
          <a:xfrm>
            <a:off x="715319" y="3468369"/>
            <a:ext cx="5302941"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18" name="Rounded Rectangle 17">
            <a:extLst>
              <a:ext uri="{FF2B5EF4-FFF2-40B4-BE49-F238E27FC236}">
                <a16:creationId xmlns:a16="http://schemas.microsoft.com/office/drawing/2014/main" id="{741C1DAA-C674-5E44-BA02-3C1C16913FF4}"/>
              </a:ext>
            </a:extLst>
          </p:cNvPr>
          <p:cNvSpPr/>
          <p:nvPr/>
        </p:nvSpPr>
        <p:spPr>
          <a:xfrm>
            <a:off x="6122852" y="3468369"/>
            <a:ext cx="5302941" cy="2743200"/>
          </a:xfrm>
          <a:prstGeom prst="roundRect">
            <a:avLst>
              <a:gd name="adj" fmla="val 5181"/>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sp>
        <p:nvSpPr>
          <p:cNvPr id="32" name="Text Placeholder 13">
            <a:extLst>
              <a:ext uri="{FF2B5EF4-FFF2-40B4-BE49-F238E27FC236}">
                <a16:creationId xmlns:a16="http://schemas.microsoft.com/office/drawing/2014/main" id="{A5D640D8-F686-C042-81BE-C77EE1652A8F}"/>
              </a:ext>
            </a:extLst>
          </p:cNvPr>
          <p:cNvSpPr>
            <a:spLocks noGrp="1"/>
          </p:cNvSpPr>
          <p:nvPr>
            <p:ph type="body" sz="quarter" idx="22" hasCustomPrompt="1"/>
          </p:nvPr>
        </p:nvSpPr>
        <p:spPr>
          <a:xfrm>
            <a:off x="840841" y="1481563"/>
            <a:ext cx="5065442"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3" name="Text Placeholder 13">
            <a:extLst>
              <a:ext uri="{FF2B5EF4-FFF2-40B4-BE49-F238E27FC236}">
                <a16:creationId xmlns:a16="http://schemas.microsoft.com/office/drawing/2014/main" id="{82BD860B-B439-8942-977F-6323060861B4}"/>
              </a:ext>
            </a:extLst>
          </p:cNvPr>
          <p:cNvSpPr>
            <a:spLocks noGrp="1"/>
          </p:cNvSpPr>
          <p:nvPr>
            <p:ph type="body" sz="quarter" idx="23" hasCustomPrompt="1"/>
          </p:nvPr>
        </p:nvSpPr>
        <p:spPr>
          <a:xfrm>
            <a:off x="840841" y="4308846"/>
            <a:ext cx="5065442"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4" name="Text Placeholder 13">
            <a:extLst>
              <a:ext uri="{FF2B5EF4-FFF2-40B4-BE49-F238E27FC236}">
                <a16:creationId xmlns:a16="http://schemas.microsoft.com/office/drawing/2014/main" id="{93AB9F4F-57DE-4942-8FFC-B506FA460B1B}"/>
              </a:ext>
            </a:extLst>
          </p:cNvPr>
          <p:cNvSpPr>
            <a:spLocks noGrp="1"/>
          </p:cNvSpPr>
          <p:nvPr>
            <p:ph type="body" sz="quarter" idx="24" hasCustomPrompt="1"/>
          </p:nvPr>
        </p:nvSpPr>
        <p:spPr>
          <a:xfrm>
            <a:off x="6248375" y="4308846"/>
            <a:ext cx="5065442" cy="523220"/>
          </a:xfrm>
          <a:prstGeom prst="rect">
            <a:avLst/>
          </a:prstGeom>
        </p:spPr>
        <p:txBody>
          <a:bodyPr anchor="t">
            <a:spAutoFit/>
          </a:bodyPr>
          <a:lstStyle>
            <a:lvl1pPr marL="0" indent="0">
              <a:lnSpc>
                <a:spcPct val="100000"/>
              </a:lnSpc>
              <a:buFont typeface="Arial" panose="020B0604020202020204" pitchFamily="34" charset="0"/>
              <a:buNone/>
              <a:defRPr sz="1400">
                <a:solidFill>
                  <a:schemeClr val="tx1"/>
                </a:solidFill>
                <a:latin typeface="+mn-lt"/>
              </a:defRPr>
            </a:lvl1pPr>
            <a:lvl2pPr marL="457189" indent="0">
              <a:lnSpc>
                <a:spcPct val="100000"/>
              </a:lnSpc>
              <a:buNone/>
              <a:defRPr sz="1600">
                <a:solidFill>
                  <a:schemeClr val="accent3"/>
                </a:solidFill>
              </a:defRPr>
            </a:lvl2pPr>
            <a:lvl3pPr marL="914377" indent="0">
              <a:lnSpc>
                <a:spcPct val="100000"/>
              </a:lnSpc>
              <a:buNone/>
              <a:defRPr sz="1600">
                <a:solidFill>
                  <a:schemeClr val="accent3"/>
                </a:solidFill>
              </a:defRPr>
            </a:lvl3pPr>
            <a:lvl4pPr marL="1371566" indent="0">
              <a:lnSpc>
                <a:spcPct val="100000"/>
              </a:lnSpc>
              <a:buNone/>
              <a:defRPr sz="1600">
                <a:solidFill>
                  <a:schemeClr val="accent3"/>
                </a:solidFill>
              </a:defRPr>
            </a:lvl4pPr>
            <a:lvl5pPr marL="1828754" indent="0">
              <a:lnSpc>
                <a:spcPct val="100000"/>
              </a:lnSpc>
              <a:buNone/>
              <a:defRPr sz="1600">
                <a:solidFill>
                  <a:schemeClr val="accent3"/>
                </a:solidFill>
              </a:defRPr>
            </a:lvl5pPr>
          </a:lstStyle>
          <a:p>
            <a:pPr lvl="0"/>
            <a:r>
              <a:rPr lang="en-GB"/>
              <a:t>Description body copy text that flows in point form without bullets unless specified in the template.</a:t>
            </a:r>
          </a:p>
        </p:txBody>
      </p:sp>
      <p:sp>
        <p:nvSpPr>
          <p:cNvPr id="3" name="Picture Placeholder 2">
            <a:extLst>
              <a:ext uri="{FF2B5EF4-FFF2-40B4-BE49-F238E27FC236}">
                <a16:creationId xmlns:a16="http://schemas.microsoft.com/office/drawing/2014/main" id="{E10D1EB5-2605-6140-8954-5BCC4EDBE605}"/>
              </a:ext>
            </a:extLst>
          </p:cNvPr>
          <p:cNvSpPr>
            <a:spLocks noGrp="1"/>
          </p:cNvSpPr>
          <p:nvPr>
            <p:ph type="pic" sz="quarter" idx="17" hasCustomPrompt="1"/>
          </p:nvPr>
        </p:nvSpPr>
        <p:spPr>
          <a:xfrm>
            <a:off x="6122852" y="649288"/>
            <a:ext cx="5302941" cy="2743200"/>
          </a:xfrm>
          <a:prstGeom prst="roundRect">
            <a:avLst>
              <a:gd name="adj" fmla="val 3541"/>
            </a:avLst>
          </a:prstGeom>
          <a:solidFill>
            <a:schemeClr val="bg1"/>
          </a:solidFill>
        </p:spPr>
        <p:txBody>
          <a:bodyPr/>
          <a:lstStyle>
            <a:lvl1pPr marL="0" indent="0">
              <a:lnSpc>
                <a:spcPct val="100000"/>
              </a:lnSpc>
              <a:buFont typeface="Arial" panose="020B0604020202020204" pitchFamily="34" charset="0"/>
              <a:buNone/>
              <a:defRPr sz="1600">
                <a:latin typeface="+mn-lt"/>
              </a:defRPr>
            </a:lvl1pPr>
          </a:lstStyle>
          <a:p>
            <a:r>
              <a:rPr lang="en-US"/>
              <a:t>Insert Picture / Architecture</a:t>
            </a:r>
          </a:p>
        </p:txBody>
      </p:sp>
      <p:sp>
        <p:nvSpPr>
          <p:cNvPr id="26" name="Text Placeholder 3">
            <a:extLst>
              <a:ext uri="{FF2B5EF4-FFF2-40B4-BE49-F238E27FC236}">
                <a16:creationId xmlns:a16="http://schemas.microsoft.com/office/drawing/2014/main" id="{144FD2C0-1C4A-AE42-B253-49EAA65CE990}"/>
              </a:ext>
            </a:extLst>
          </p:cNvPr>
          <p:cNvSpPr>
            <a:spLocks noGrp="1"/>
          </p:cNvSpPr>
          <p:nvPr>
            <p:ph type="body" sz="half" idx="13" hasCustomPrompt="1"/>
          </p:nvPr>
        </p:nvSpPr>
        <p:spPr>
          <a:xfrm>
            <a:off x="840841" y="795225"/>
            <a:ext cx="506544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1</a:t>
            </a:r>
          </a:p>
        </p:txBody>
      </p:sp>
      <p:sp>
        <p:nvSpPr>
          <p:cNvPr id="22" name="Text Placeholder 3">
            <a:extLst>
              <a:ext uri="{FF2B5EF4-FFF2-40B4-BE49-F238E27FC236}">
                <a16:creationId xmlns:a16="http://schemas.microsoft.com/office/drawing/2014/main" id="{BB3941A8-BFDA-994C-8AF2-7C35E145566F}"/>
              </a:ext>
            </a:extLst>
          </p:cNvPr>
          <p:cNvSpPr>
            <a:spLocks noGrp="1"/>
          </p:cNvSpPr>
          <p:nvPr>
            <p:ph type="body" sz="half" idx="19" hasCustomPrompt="1"/>
          </p:nvPr>
        </p:nvSpPr>
        <p:spPr>
          <a:xfrm>
            <a:off x="840841" y="3626915"/>
            <a:ext cx="506544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2</a:t>
            </a:r>
          </a:p>
        </p:txBody>
      </p:sp>
      <p:sp>
        <p:nvSpPr>
          <p:cNvPr id="31" name="Text Placeholder 3">
            <a:extLst>
              <a:ext uri="{FF2B5EF4-FFF2-40B4-BE49-F238E27FC236}">
                <a16:creationId xmlns:a16="http://schemas.microsoft.com/office/drawing/2014/main" id="{F28D07AB-DC67-684B-B587-A42D95B261D7}"/>
              </a:ext>
            </a:extLst>
          </p:cNvPr>
          <p:cNvSpPr>
            <a:spLocks noGrp="1"/>
          </p:cNvSpPr>
          <p:nvPr>
            <p:ph type="body" sz="half" idx="21" hasCustomPrompt="1"/>
          </p:nvPr>
        </p:nvSpPr>
        <p:spPr>
          <a:xfrm>
            <a:off x="6248375" y="3626915"/>
            <a:ext cx="5065442" cy="492443"/>
          </a:xfrm>
          <a:prstGeom prst="rect">
            <a:avLst/>
          </a:prstGeom>
        </p:spPr>
        <p:txBody>
          <a:bodyPr anchor="b">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Sub Heading 3</a:t>
            </a:r>
          </a:p>
        </p:txBody>
      </p:sp>
    </p:spTree>
    <p:extLst>
      <p:ext uri="{BB962C8B-B14F-4D97-AF65-F5344CB8AC3E}">
        <p14:creationId xmlns:p14="http://schemas.microsoft.com/office/powerpoint/2010/main" val="29501265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ase study blank">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28B8B1CD-FDA0-4656-842E-5BC6BE592A2B}"/>
              </a:ext>
            </a:extLst>
          </p:cNvPr>
          <p:cNvSpPr>
            <a:spLocks noGrp="1"/>
          </p:cNvSpPr>
          <p:nvPr>
            <p:ph type="title"/>
          </p:nvPr>
        </p:nvSpPr>
        <p:spPr>
          <a:xfrm>
            <a:off x="1595328" y="527693"/>
            <a:ext cx="9913480" cy="492443"/>
          </a:xfrm>
          <a:prstGeom prst="rect">
            <a:avLst/>
          </a:prstGeom>
        </p:spPr>
        <p:txBody>
          <a:bodyPr wrap="square" anchor="ctr">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grpSp>
        <p:nvGrpSpPr>
          <p:cNvPr id="7" name="Group 6">
            <a:extLst>
              <a:ext uri="{FF2B5EF4-FFF2-40B4-BE49-F238E27FC236}">
                <a16:creationId xmlns:a16="http://schemas.microsoft.com/office/drawing/2014/main" id="{E1FCAE3B-8C74-4DFB-B8E8-0A8A42F5508D}"/>
              </a:ext>
            </a:extLst>
          </p:cNvPr>
          <p:cNvGrpSpPr/>
          <p:nvPr/>
        </p:nvGrpSpPr>
        <p:grpSpPr>
          <a:xfrm>
            <a:off x="717536" y="415139"/>
            <a:ext cx="797290" cy="717551"/>
            <a:chOff x="644873" y="545729"/>
            <a:chExt cx="797186" cy="717551"/>
          </a:xfrm>
        </p:grpSpPr>
        <p:sp>
          <p:nvSpPr>
            <p:cNvPr id="8" name="Rectangle: Rounded Corners 7">
              <a:extLst>
                <a:ext uri="{FF2B5EF4-FFF2-40B4-BE49-F238E27FC236}">
                  <a16:creationId xmlns:a16="http://schemas.microsoft.com/office/drawing/2014/main" id="{FC41C30E-7AAD-46DD-9E01-3D7B0ED290AC}"/>
                </a:ext>
              </a:extLst>
            </p:cNvPr>
            <p:cNvSpPr/>
            <p:nvPr userDrawn="1"/>
          </p:nvSpPr>
          <p:spPr>
            <a:xfrm>
              <a:off x="644873" y="545729"/>
              <a:ext cx="797186" cy="717550"/>
            </a:xfrm>
            <a:prstGeom prst="roundRect">
              <a:avLst>
                <a:gd name="adj" fmla="val 12371"/>
              </a:avLst>
            </a:prstGeom>
            <a:solidFill>
              <a:srgbClr val="323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latin typeface="+mn-lt"/>
              </a:endParaRPr>
            </a:p>
          </p:txBody>
        </p:sp>
        <p:pic>
          <p:nvPicPr>
            <p:cNvPr id="9" name="Graphic 24">
              <a:extLst>
                <a:ext uri="{FF2B5EF4-FFF2-40B4-BE49-F238E27FC236}">
                  <a16:creationId xmlns:a16="http://schemas.microsoft.com/office/drawing/2014/main" id="{B051F9DC-86F3-42DD-8409-02013402BF3F}"/>
                </a:ext>
              </a:extLst>
            </p:cNvPr>
            <p:cNvPicPr>
              <a:picLocks noChangeAspect="1"/>
            </p:cNvPicPr>
            <p:nvPr userDrawn="1"/>
          </p:nvPicPr>
          <p:blipFill>
            <a:blip r:embed="rId2"/>
            <a:srcRect/>
            <a:stretch/>
          </p:blipFill>
          <p:spPr>
            <a:xfrm>
              <a:off x="684691" y="545730"/>
              <a:ext cx="717550" cy="717550"/>
            </a:xfrm>
            <a:prstGeom prst="roundRect">
              <a:avLst>
                <a:gd name="adj" fmla="val 11357"/>
              </a:avLst>
            </a:prstGeom>
          </p:spPr>
        </p:pic>
      </p:grpSp>
    </p:spTree>
    <p:extLst>
      <p:ext uri="{BB962C8B-B14F-4D97-AF65-F5344CB8AC3E}">
        <p14:creationId xmlns:p14="http://schemas.microsoft.com/office/powerpoint/2010/main" val="22223720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Engagement Model">
    <p:bg>
      <p:bgPr>
        <a:solidFill>
          <a:schemeClr val="bg2">
            <a:alpha val="40000"/>
          </a:schemeClr>
        </a:solidFill>
        <a:effectLst/>
      </p:bgPr>
    </p:bg>
    <p:spTree>
      <p:nvGrpSpPr>
        <p:cNvPr id="1" name=""/>
        <p:cNvGrpSpPr/>
        <p:nvPr/>
      </p:nvGrpSpPr>
      <p:grpSpPr>
        <a:xfrm>
          <a:off x="0" y="0"/>
          <a:ext cx="0" cy="0"/>
          <a:chOff x="0" y="0"/>
          <a:chExt cx="0" cy="0"/>
        </a:xfrm>
      </p:grpSpPr>
      <p:sp>
        <p:nvSpPr>
          <p:cNvPr id="6" name="Rounded Rectangle 8">
            <a:extLst>
              <a:ext uri="{FF2B5EF4-FFF2-40B4-BE49-F238E27FC236}">
                <a16:creationId xmlns:a16="http://schemas.microsoft.com/office/drawing/2014/main" id="{FAF27359-B05D-4355-8F09-EC1B22D472EA}"/>
              </a:ext>
            </a:extLst>
          </p:cNvPr>
          <p:cNvSpPr/>
          <p:nvPr/>
        </p:nvSpPr>
        <p:spPr>
          <a:xfrm>
            <a:off x="734140" y="1341439"/>
            <a:ext cx="10727516" cy="4872037"/>
          </a:xfrm>
          <a:prstGeom prst="roundRect">
            <a:avLst>
              <a:gd name="adj" fmla="val 3175"/>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sz="1800">
              <a:latin typeface="+mn-lt"/>
            </a:endParaRPr>
          </a:p>
        </p:txBody>
      </p:sp>
      <p:pic>
        <p:nvPicPr>
          <p:cNvPr id="10" name="Picture 8" descr="pasted-image.pdf">
            <a:extLst>
              <a:ext uri="{FF2B5EF4-FFF2-40B4-BE49-F238E27FC236}">
                <a16:creationId xmlns:a16="http://schemas.microsoft.com/office/drawing/2014/main" id="{847C4804-25FF-4E4D-A750-2866A85069C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0742" y="1594462"/>
            <a:ext cx="1225446" cy="258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7">
            <a:extLst>
              <a:ext uri="{FF2B5EF4-FFF2-40B4-BE49-F238E27FC236}">
                <a16:creationId xmlns:a16="http://schemas.microsoft.com/office/drawing/2014/main" id="{3F7EBD02-0E9E-4C16-A191-F287F79CA41D}"/>
              </a:ext>
            </a:extLst>
          </p:cNvPr>
          <p:cNvSpPr>
            <a:spLocks noGrp="1"/>
          </p:cNvSpPr>
          <p:nvPr>
            <p:ph type="body" sz="quarter" idx="11" hasCustomPrompt="1"/>
          </p:nvPr>
        </p:nvSpPr>
        <p:spPr>
          <a:xfrm>
            <a:off x="6570207" y="1594462"/>
            <a:ext cx="1417367" cy="369332"/>
          </a:xfrm>
          <a:prstGeom prst="rect">
            <a:avLst/>
          </a:prstGeom>
        </p:spPr>
        <p:txBody>
          <a:bodyPr wrap="square">
            <a:spAutoFit/>
          </a:bodyPr>
          <a:lstStyle>
            <a:lvl1pPr marL="0" indent="0">
              <a:lnSpc>
                <a:spcPct val="100000"/>
              </a:lnSpc>
              <a:buNone/>
              <a:defRPr sz="1800"/>
            </a:lvl1pPr>
            <a:lvl5pPr marL="1828754" indent="0">
              <a:buNone/>
              <a:defRPr sz="1100"/>
            </a:lvl5pPr>
          </a:lstStyle>
          <a:p>
            <a:pPr lvl="0"/>
            <a:r>
              <a:rPr lang="en-US"/>
              <a:t>Client Logo</a:t>
            </a:r>
          </a:p>
        </p:txBody>
      </p:sp>
      <p:sp>
        <p:nvSpPr>
          <p:cNvPr id="9" name="Title 1">
            <a:extLst>
              <a:ext uri="{FF2B5EF4-FFF2-40B4-BE49-F238E27FC236}">
                <a16:creationId xmlns:a16="http://schemas.microsoft.com/office/drawing/2014/main" id="{78E77AAB-E79E-4F03-BA3D-B669B5E75A5A}"/>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Open Sans" panose="020B0606030504020204" pitchFamily="34" charset="0"/>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Tree>
    <p:extLst>
      <p:ext uri="{BB962C8B-B14F-4D97-AF65-F5344CB8AC3E}">
        <p14:creationId xmlns:p14="http://schemas.microsoft.com/office/powerpoint/2010/main" val="28131056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4 pictur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700A166-0BD3-47A9-A0E9-AE7D1F956088}"/>
              </a:ext>
            </a:extLst>
          </p:cNvPr>
          <p:cNvSpPr>
            <a:spLocks noGrp="1"/>
          </p:cNvSpPr>
          <p:nvPr>
            <p:ph type="title"/>
          </p:nvPr>
        </p:nvSpPr>
        <p:spPr>
          <a:xfrm>
            <a:off x="605443" y="498666"/>
            <a:ext cx="10856211" cy="738664"/>
          </a:xfrm>
          <a:prstGeom prst="rect">
            <a:avLst/>
          </a:prstGeom>
        </p:spPr>
        <p:txBody>
          <a:bodyPr wrap="square">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1" name="Text Placeholder 2">
            <a:extLst>
              <a:ext uri="{FF2B5EF4-FFF2-40B4-BE49-F238E27FC236}">
                <a16:creationId xmlns:a16="http://schemas.microsoft.com/office/drawing/2014/main" id="{910495AC-282D-4204-9498-121084FBA8B9}"/>
              </a:ext>
            </a:extLst>
          </p:cNvPr>
          <p:cNvSpPr>
            <a:spLocks noGrp="1"/>
          </p:cNvSpPr>
          <p:nvPr>
            <p:ph type="body" sz="quarter" idx="13" hasCustomPrompt="1"/>
          </p:nvPr>
        </p:nvSpPr>
        <p:spPr>
          <a:xfrm>
            <a:off x="604879"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2" name="Text Placeholder 2">
            <a:extLst>
              <a:ext uri="{FF2B5EF4-FFF2-40B4-BE49-F238E27FC236}">
                <a16:creationId xmlns:a16="http://schemas.microsoft.com/office/drawing/2014/main" id="{575F9165-A1E1-4467-90AB-8B52D75ABAC1}"/>
              </a:ext>
            </a:extLst>
          </p:cNvPr>
          <p:cNvSpPr>
            <a:spLocks noGrp="1"/>
          </p:cNvSpPr>
          <p:nvPr>
            <p:ph type="body" sz="quarter" idx="15" hasCustomPrompt="1"/>
          </p:nvPr>
        </p:nvSpPr>
        <p:spPr>
          <a:xfrm>
            <a:off x="604879"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3" name="Text Placeholder 2">
            <a:extLst>
              <a:ext uri="{FF2B5EF4-FFF2-40B4-BE49-F238E27FC236}">
                <a16:creationId xmlns:a16="http://schemas.microsoft.com/office/drawing/2014/main" id="{8973D04A-22DF-4D73-A661-04A169E546A7}"/>
              </a:ext>
            </a:extLst>
          </p:cNvPr>
          <p:cNvSpPr>
            <a:spLocks noGrp="1"/>
          </p:cNvSpPr>
          <p:nvPr>
            <p:ph type="body" sz="quarter" idx="16" hasCustomPrompt="1"/>
          </p:nvPr>
        </p:nvSpPr>
        <p:spPr>
          <a:xfrm>
            <a:off x="3506856"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5" name="Text Placeholder 2">
            <a:extLst>
              <a:ext uri="{FF2B5EF4-FFF2-40B4-BE49-F238E27FC236}">
                <a16:creationId xmlns:a16="http://schemas.microsoft.com/office/drawing/2014/main" id="{9F4A8D6C-5106-480D-8F98-7C4599774806}"/>
              </a:ext>
            </a:extLst>
          </p:cNvPr>
          <p:cNvSpPr>
            <a:spLocks noGrp="1"/>
          </p:cNvSpPr>
          <p:nvPr>
            <p:ph type="body" sz="quarter" idx="17" hasCustomPrompt="1"/>
          </p:nvPr>
        </p:nvSpPr>
        <p:spPr>
          <a:xfrm>
            <a:off x="3506856"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6" name="Text Placeholder 2">
            <a:extLst>
              <a:ext uri="{FF2B5EF4-FFF2-40B4-BE49-F238E27FC236}">
                <a16:creationId xmlns:a16="http://schemas.microsoft.com/office/drawing/2014/main" id="{69EEA2FF-9BB2-4F6B-9BB5-5EAE344BDA6C}"/>
              </a:ext>
            </a:extLst>
          </p:cNvPr>
          <p:cNvSpPr>
            <a:spLocks noGrp="1"/>
          </p:cNvSpPr>
          <p:nvPr>
            <p:ph type="body" sz="quarter" idx="18" hasCustomPrompt="1"/>
          </p:nvPr>
        </p:nvSpPr>
        <p:spPr>
          <a:xfrm>
            <a:off x="6408834"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7" name="Text Placeholder 2">
            <a:extLst>
              <a:ext uri="{FF2B5EF4-FFF2-40B4-BE49-F238E27FC236}">
                <a16:creationId xmlns:a16="http://schemas.microsoft.com/office/drawing/2014/main" id="{61EE2008-2F92-4E81-83EB-843A870920A7}"/>
              </a:ext>
            </a:extLst>
          </p:cNvPr>
          <p:cNvSpPr>
            <a:spLocks noGrp="1"/>
          </p:cNvSpPr>
          <p:nvPr>
            <p:ph type="body" sz="quarter" idx="19" hasCustomPrompt="1"/>
          </p:nvPr>
        </p:nvSpPr>
        <p:spPr>
          <a:xfrm>
            <a:off x="6408834"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18" name="Text Placeholder 2">
            <a:extLst>
              <a:ext uri="{FF2B5EF4-FFF2-40B4-BE49-F238E27FC236}">
                <a16:creationId xmlns:a16="http://schemas.microsoft.com/office/drawing/2014/main" id="{E1BC066D-D49E-490B-91B0-8BFBD1493881}"/>
              </a:ext>
            </a:extLst>
          </p:cNvPr>
          <p:cNvSpPr>
            <a:spLocks noGrp="1"/>
          </p:cNvSpPr>
          <p:nvPr>
            <p:ph type="body" sz="quarter" idx="20" hasCustomPrompt="1"/>
          </p:nvPr>
        </p:nvSpPr>
        <p:spPr>
          <a:xfrm>
            <a:off x="9310812" y="4351339"/>
            <a:ext cx="2138679" cy="338554"/>
          </a:xfrm>
          <a:prstGeom prst="rect">
            <a:avLst/>
          </a:prstGeom>
        </p:spPr>
        <p:txBody>
          <a:bodyPr anchor="b">
            <a:spAutoFit/>
          </a:bodyPr>
          <a:lstStyle>
            <a:lvl1pPr marL="0" indent="0" algn="l">
              <a:lnSpc>
                <a:spcPct val="100000"/>
              </a:lnSpc>
              <a:buNone/>
              <a:defRPr sz="1600" b="1">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Name</a:t>
            </a:r>
            <a:endParaRPr lang="en-US"/>
          </a:p>
        </p:txBody>
      </p:sp>
      <p:sp>
        <p:nvSpPr>
          <p:cNvPr id="19" name="Text Placeholder 2">
            <a:extLst>
              <a:ext uri="{FF2B5EF4-FFF2-40B4-BE49-F238E27FC236}">
                <a16:creationId xmlns:a16="http://schemas.microsoft.com/office/drawing/2014/main" id="{856E1F5E-5F64-4E8A-BF08-F6A1BCB0695C}"/>
              </a:ext>
            </a:extLst>
          </p:cNvPr>
          <p:cNvSpPr>
            <a:spLocks noGrp="1"/>
          </p:cNvSpPr>
          <p:nvPr>
            <p:ph type="body" sz="quarter" idx="21" hasCustomPrompt="1"/>
          </p:nvPr>
        </p:nvSpPr>
        <p:spPr>
          <a:xfrm>
            <a:off x="9310812" y="4798170"/>
            <a:ext cx="2138679" cy="338554"/>
          </a:xfrm>
          <a:prstGeom prst="rect">
            <a:avLst/>
          </a:prstGeom>
        </p:spPr>
        <p:txBody>
          <a:bodyPr anchor="t">
            <a:spAutoFit/>
          </a:bodyPr>
          <a:lstStyle>
            <a:lvl1pPr marL="0" indent="0" algn="l">
              <a:lnSpc>
                <a:spcPct val="100000"/>
              </a:lnSpc>
              <a:buNone/>
              <a:defRPr sz="1600" b="0">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Designation</a:t>
            </a:r>
            <a:endParaRPr lang="en-US"/>
          </a:p>
        </p:txBody>
      </p:sp>
      <p:sp>
        <p:nvSpPr>
          <p:cNvPr id="32" name="Picture Placeholder 12">
            <a:extLst>
              <a:ext uri="{FF2B5EF4-FFF2-40B4-BE49-F238E27FC236}">
                <a16:creationId xmlns:a16="http://schemas.microsoft.com/office/drawing/2014/main" id="{CBFB457F-60E3-43EF-B593-882BACB2F310}"/>
              </a:ext>
            </a:extLst>
          </p:cNvPr>
          <p:cNvSpPr>
            <a:spLocks noGrp="1"/>
          </p:cNvSpPr>
          <p:nvPr>
            <p:ph type="pic" sz="quarter" idx="26" hasCustomPrompt="1"/>
          </p:nvPr>
        </p:nvSpPr>
        <p:spPr>
          <a:xfrm>
            <a:off x="901005"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3" name="Picture Placeholder 12">
            <a:extLst>
              <a:ext uri="{FF2B5EF4-FFF2-40B4-BE49-F238E27FC236}">
                <a16:creationId xmlns:a16="http://schemas.microsoft.com/office/drawing/2014/main" id="{B84A6687-418A-46AE-B213-7D943209C6F8}"/>
              </a:ext>
            </a:extLst>
          </p:cNvPr>
          <p:cNvSpPr>
            <a:spLocks noGrp="1"/>
          </p:cNvSpPr>
          <p:nvPr>
            <p:ph type="pic" sz="quarter" idx="27" hasCustomPrompt="1"/>
          </p:nvPr>
        </p:nvSpPr>
        <p:spPr>
          <a:xfrm>
            <a:off x="3802095"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4" name="Picture Placeholder 12">
            <a:extLst>
              <a:ext uri="{FF2B5EF4-FFF2-40B4-BE49-F238E27FC236}">
                <a16:creationId xmlns:a16="http://schemas.microsoft.com/office/drawing/2014/main" id="{8B6C4EAA-626F-4A76-AD74-FA19C19D0B35}"/>
              </a:ext>
            </a:extLst>
          </p:cNvPr>
          <p:cNvSpPr>
            <a:spLocks noGrp="1"/>
          </p:cNvSpPr>
          <p:nvPr>
            <p:ph type="pic" sz="quarter" idx="28" hasCustomPrompt="1"/>
          </p:nvPr>
        </p:nvSpPr>
        <p:spPr>
          <a:xfrm>
            <a:off x="6704073"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
        <p:nvSpPr>
          <p:cNvPr id="35" name="Picture Placeholder 12">
            <a:extLst>
              <a:ext uri="{FF2B5EF4-FFF2-40B4-BE49-F238E27FC236}">
                <a16:creationId xmlns:a16="http://schemas.microsoft.com/office/drawing/2014/main" id="{04E769F0-5E4B-4E9B-AAC2-EFA27CC86476}"/>
              </a:ext>
            </a:extLst>
          </p:cNvPr>
          <p:cNvSpPr>
            <a:spLocks noGrp="1"/>
          </p:cNvSpPr>
          <p:nvPr>
            <p:ph type="pic" sz="quarter" idx="29" hasCustomPrompt="1"/>
          </p:nvPr>
        </p:nvSpPr>
        <p:spPr>
          <a:xfrm>
            <a:off x="9606051"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14475635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eam profile - Individual">
    <p:bg>
      <p:bgPr>
        <a:solidFill>
          <a:schemeClr val="bg2">
            <a:alpha val="40000"/>
          </a:schemeClr>
        </a:solidFill>
        <a:effectLst/>
      </p:bgPr>
    </p:bg>
    <p:spTree>
      <p:nvGrpSpPr>
        <p:cNvPr id="1" name=""/>
        <p:cNvGrpSpPr/>
        <p:nvPr/>
      </p:nvGrpSpPr>
      <p:grpSpPr>
        <a:xfrm>
          <a:off x="0" y="0"/>
          <a:ext cx="0" cy="0"/>
          <a:chOff x="0" y="0"/>
          <a:chExt cx="0" cy="0"/>
        </a:xfrm>
      </p:grpSpPr>
      <p:sp>
        <p:nvSpPr>
          <p:cNvPr id="38" name="Text Placeholder 3">
            <a:extLst>
              <a:ext uri="{FF2B5EF4-FFF2-40B4-BE49-F238E27FC236}">
                <a16:creationId xmlns:a16="http://schemas.microsoft.com/office/drawing/2014/main" id="{824FF929-799B-CC42-AD0A-50DE7C50166F}"/>
              </a:ext>
            </a:extLst>
          </p:cNvPr>
          <p:cNvSpPr>
            <a:spLocks noGrp="1"/>
          </p:cNvSpPr>
          <p:nvPr>
            <p:ph type="body" sz="half" idx="25" hasCustomPrompt="1"/>
          </p:nvPr>
        </p:nvSpPr>
        <p:spPr>
          <a:xfrm>
            <a:off x="608743" y="1239125"/>
            <a:ext cx="10864027" cy="492443"/>
          </a:xfrm>
          <a:prstGeom prst="rect">
            <a:avLst/>
          </a:prstGeom>
        </p:spPr>
        <p:txBody>
          <a:bodyPr anchor="t">
            <a:spAutoFit/>
          </a:bodyPr>
          <a:lstStyle>
            <a:lvl1pPr marL="0" indent="0">
              <a:lnSpc>
                <a:spcPct val="100000"/>
              </a:lnSpc>
              <a:buNone/>
              <a:defRPr sz="2600" b="1">
                <a:solidFill>
                  <a:schemeClr val="tx1"/>
                </a:solidFill>
                <a:latin typeface="+mn-lt"/>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GB"/>
              <a:t>Name (Bold) | Designation (Regular)</a:t>
            </a:r>
          </a:p>
        </p:txBody>
      </p:sp>
      <p:sp>
        <p:nvSpPr>
          <p:cNvPr id="20" name="Title 1">
            <a:extLst>
              <a:ext uri="{FF2B5EF4-FFF2-40B4-BE49-F238E27FC236}">
                <a16:creationId xmlns:a16="http://schemas.microsoft.com/office/drawing/2014/main" id="{CCC14BB6-9D64-4D42-8177-26FEBB446B25}"/>
              </a:ext>
            </a:extLst>
          </p:cNvPr>
          <p:cNvSpPr>
            <a:spLocks noGrp="1"/>
          </p:cNvSpPr>
          <p:nvPr>
            <p:ph type="title"/>
          </p:nvPr>
        </p:nvSpPr>
        <p:spPr>
          <a:xfrm>
            <a:off x="605443" y="498666"/>
            <a:ext cx="10856211" cy="738664"/>
          </a:xfrm>
          <a:prstGeom prst="rect">
            <a:avLst/>
          </a:prstGeom>
        </p:spPr>
        <p:txBody>
          <a:bodyPr wrap="square" anchor="t">
            <a:spAutoFit/>
          </a:bodyPr>
          <a:lstStyle>
            <a:lvl1pPr>
              <a:lnSpc>
                <a:spcPct val="100000"/>
              </a:lnSpc>
              <a:defRPr lang="en-IN" sz="42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15" name="Rounded Rectangle 22">
            <a:extLst>
              <a:ext uri="{FF2B5EF4-FFF2-40B4-BE49-F238E27FC236}">
                <a16:creationId xmlns:a16="http://schemas.microsoft.com/office/drawing/2014/main" id="{3B529447-726C-40E4-B6BA-0A911BD533A8}"/>
              </a:ext>
            </a:extLst>
          </p:cNvPr>
          <p:cNvSpPr/>
          <p:nvPr/>
        </p:nvSpPr>
        <p:spPr>
          <a:xfrm>
            <a:off x="3047472" y="2033590"/>
            <a:ext cx="261034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6" name="Text Placeholder 2">
            <a:extLst>
              <a:ext uri="{FF2B5EF4-FFF2-40B4-BE49-F238E27FC236}">
                <a16:creationId xmlns:a16="http://schemas.microsoft.com/office/drawing/2014/main" id="{4989B2EB-AC50-41BF-A86B-8A9FAE74F1B7}"/>
              </a:ext>
            </a:extLst>
          </p:cNvPr>
          <p:cNvSpPr>
            <a:spLocks noGrp="1"/>
          </p:cNvSpPr>
          <p:nvPr>
            <p:ph type="body" sz="quarter" idx="26" hasCustomPrompt="1"/>
          </p:nvPr>
        </p:nvSpPr>
        <p:spPr>
          <a:xfrm>
            <a:off x="3167407" y="2164639"/>
            <a:ext cx="2376309"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1</a:t>
            </a:r>
            <a:endParaRPr lang="en-US"/>
          </a:p>
        </p:txBody>
      </p:sp>
      <p:sp>
        <p:nvSpPr>
          <p:cNvPr id="17" name="Text Placeholder 2">
            <a:extLst>
              <a:ext uri="{FF2B5EF4-FFF2-40B4-BE49-F238E27FC236}">
                <a16:creationId xmlns:a16="http://schemas.microsoft.com/office/drawing/2014/main" id="{4C1CC606-90DE-4596-91CB-53B9A7B789E2}"/>
              </a:ext>
            </a:extLst>
          </p:cNvPr>
          <p:cNvSpPr>
            <a:spLocks noGrp="1"/>
          </p:cNvSpPr>
          <p:nvPr>
            <p:ph type="body" sz="quarter" idx="36" hasCustomPrompt="1"/>
          </p:nvPr>
        </p:nvSpPr>
        <p:spPr>
          <a:xfrm>
            <a:off x="3167407" y="2744789"/>
            <a:ext cx="2376309"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18" name="Rounded Rectangle 40">
            <a:extLst>
              <a:ext uri="{FF2B5EF4-FFF2-40B4-BE49-F238E27FC236}">
                <a16:creationId xmlns:a16="http://schemas.microsoft.com/office/drawing/2014/main" id="{EC8FD91C-0DAF-411D-AD4D-B074FD824683}"/>
              </a:ext>
            </a:extLst>
          </p:cNvPr>
          <p:cNvSpPr/>
          <p:nvPr/>
        </p:nvSpPr>
        <p:spPr>
          <a:xfrm>
            <a:off x="8851315" y="2033590"/>
            <a:ext cx="261034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19" name="Text Placeholder 2">
            <a:extLst>
              <a:ext uri="{FF2B5EF4-FFF2-40B4-BE49-F238E27FC236}">
                <a16:creationId xmlns:a16="http://schemas.microsoft.com/office/drawing/2014/main" id="{1B8A1763-AFD6-46FE-A164-BECAD744ACC3}"/>
              </a:ext>
            </a:extLst>
          </p:cNvPr>
          <p:cNvSpPr>
            <a:spLocks noGrp="1"/>
          </p:cNvSpPr>
          <p:nvPr>
            <p:ph type="body" sz="quarter" idx="37" hasCustomPrompt="1"/>
          </p:nvPr>
        </p:nvSpPr>
        <p:spPr>
          <a:xfrm>
            <a:off x="8971251" y="2164639"/>
            <a:ext cx="2376309"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3</a:t>
            </a:r>
            <a:endParaRPr lang="en-US"/>
          </a:p>
        </p:txBody>
      </p:sp>
      <p:sp>
        <p:nvSpPr>
          <p:cNvPr id="21" name="Text Placeholder 2">
            <a:extLst>
              <a:ext uri="{FF2B5EF4-FFF2-40B4-BE49-F238E27FC236}">
                <a16:creationId xmlns:a16="http://schemas.microsoft.com/office/drawing/2014/main" id="{B863CDCC-69A3-4812-84D1-A4F5EA461831}"/>
              </a:ext>
            </a:extLst>
          </p:cNvPr>
          <p:cNvSpPr>
            <a:spLocks noGrp="1"/>
          </p:cNvSpPr>
          <p:nvPr>
            <p:ph type="body" sz="quarter" idx="38" hasCustomPrompt="1"/>
          </p:nvPr>
        </p:nvSpPr>
        <p:spPr>
          <a:xfrm>
            <a:off x="8971251" y="2744789"/>
            <a:ext cx="2376309"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22" name="Rounded Rectangle 45">
            <a:extLst>
              <a:ext uri="{FF2B5EF4-FFF2-40B4-BE49-F238E27FC236}">
                <a16:creationId xmlns:a16="http://schemas.microsoft.com/office/drawing/2014/main" id="{4E81CAD9-27E6-487A-99E3-9EE1B2201DA6}"/>
              </a:ext>
            </a:extLst>
          </p:cNvPr>
          <p:cNvSpPr/>
          <p:nvPr/>
        </p:nvSpPr>
        <p:spPr>
          <a:xfrm>
            <a:off x="5949393" y="2033590"/>
            <a:ext cx="2610340" cy="4179887"/>
          </a:xfrm>
          <a:prstGeom prst="roundRect">
            <a:avLst>
              <a:gd name="adj" fmla="val 5181"/>
            </a:avLst>
          </a:prstGeom>
          <a:solidFill>
            <a:sysClr val="window" lastClr="FFFFFF"/>
          </a:solidFill>
          <a:ln w="12700" cap="flat" cmpd="sng" algn="ctr">
            <a:noFill/>
            <a:prstDash val="solid"/>
            <a:miter lim="800000"/>
          </a:ln>
          <a:effectLst/>
        </p:spPr>
        <p:txBody>
          <a:bodyPr rtlCol="0" anchor="ctr"/>
          <a:lstStyle/>
          <a:p>
            <a:pPr marL="285744" marR="0" lvl="0" indent="-285744" algn="ctr" defTabSz="914377"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a:ln>
                <a:noFill/>
              </a:ln>
              <a:solidFill>
                <a:prstClr val="white"/>
              </a:solidFill>
              <a:effectLst/>
              <a:uLnTx/>
              <a:uFillTx/>
              <a:latin typeface="+mn-lt"/>
              <a:ea typeface="Open Sans" panose="020B0606030504020204" pitchFamily="34" charset="0"/>
              <a:cs typeface="Open Sans" panose="020B0606030504020204" pitchFamily="34" charset="0"/>
            </a:endParaRPr>
          </a:p>
        </p:txBody>
      </p:sp>
      <p:sp>
        <p:nvSpPr>
          <p:cNvPr id="24" name="Text Placeholder 2">
            <a:extLst>
              <a:ext uri="{FF2B5EF4-FFF2-40B4-BE49-F238E27FC236}">
                <a16:creationId xmlns:a16="http://schemas.microsoft.com/office/drawing/2014/main" id="{419715FF-EF9F-4D12-9905-947EA6639F53}"/>
              </a:ext>
            </a:extLst>
          </p:cNvPr>
          <p:cNvSpPr>
            <a:spLocks noGrp="1"/>
          </p:cNvSpPr>
          <p:nvPr>
            <p:ph type="body" sz="quarter" idx="39" hasCustomPrompt="1"/>
          </p:nvPr>
        </p:nvSpPr>
        <p:spPr>
          <a:xfrm>
            <a:off x="6069329" y="2164639"/>
            <a:ext cx="2376309" cy="338554"/>
          </a:xfrm>
          <a:prstGeom prst="rect">
            <a:avLst/>
          </a:prstGeom>
        </p:spPr>
        <p:txBody>
          <a:bodyPr anchor="b">
            <a:spAutoFit/>
          </a:bodyPr>
          <a:lstStyle>
            <a:lvl1pPr marL="0" indent="0" algn="l">
              <a:lnSpc>
                <a:spcPct val="100000"/>
              </a:lnSpc>
              <a:buNone/>
              <a:defRPr sz="1600" b="1">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Head 2</a:t>
            </a:r>
            <a:endParaRPr lang="en-US"/>
          </a:p>
        </p:txBody>
      </p:sp>
      <p:sp>
        <p:nvSpPr>
          <p:cNvPr id="25" name="Text Placeholder 2">
            <a:extLst>
              <a:ext uri="{FF2B5EF4-FFF2-40B4-BE49-F238E27FC236}">
                <a16:creationId xmlns:a16="http://schemas.microsoft.com/office/drawing/2014/main" id="{0DE2BCCD-A7D1-45CC-A565-19E8F5888844}"/>
              </a:ext>
            </a:extLst>
          </p:cNvPr>
          <p:cNvSpPr>
            <a:spLocks noGrp="1"/>
          </p:cNvSpPr>
          <p:nvPr>
            <p:ph type="body" sz="quarter" idx="40" hasCustomPrompt="1"/>
          </p:nvPr>
        </p:nvSpPr>
        <p:spPr>
          <a:xfrm>
            <a:off x="6069329" y="2744789"/>
            <a:ext cx="2376309" cy="338554"/>
          </a:xfrm>
          <a:prstGeom prst="rect">
            <a:avLst/>
          </a:prstGeom>
        </p:spPr>
        <p:txBody>
          <a:bodyPr anchor="t">
            <a:spAutoFit/>
          </a:bodyPr>
          <a:lstStyle>
            <a:lvl1pPr marL="0" indent="0" algn="l">
              <a:lnSpc>
                <a:spcPct val="100000"/>
              </a:lnSpc>
              <a:buNone/>
              <a:defRPr sz="1600" b="0">
                <a:solidFill>
                  <a:schemeClr val="tx1"/>
                </a:solidFill>
                <a:latin typeface="+mn-lt"/>
                <a:ea typeface="Open Sans" panose="020B0606030504020204" pitchFamily="34" charset="0"/>
                <a:cs typeface="Open Sans" panose="020B0606030504020204" pitchFamily="34" charset="0"/>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Text Description</a:t>
            </a:r>
            <a:endParaRPr lang="en-US"/>
          </a:p>
        </p:txBody>
      </p:sp>
      <p:sp>
        <p:nvSpPr>
          <p:cNvPr id="23" name="Picture Placeholder 12">
            <a:extLst>
              <a:ext uri="{FF2B5EF4-FFF2-40B4-BE49-F238E27FC236}">
                <a16:creationId xmlns:a16="http://schemas.microsoft.com/office/drawing/2014/main" id="{397B0893-417B-4DE0-B1BD-2B1BD471F523}"/>
              </a:ext>
            </a:extLst>
          </p:cNvPr>
          <p:cNvSpPr>
            <a:spLocks noGrp="1"/>
          </p:cNvSpPr>
          <p:nvPr>
            <p:ph type="pic" sz="quarter" idx="41" hasCustomPrompt="1"/>
          </p:nvPr>
        </p:nvSpPr>
        <p:spPr>
          <a:xfrm>
            <a:off x="901005" y="2055149"/>
            <a:ext cx="1548202" cy="1548000"/>
          </a:xfrm>
          <a:prstGeom prst="ellipse">
            <a:avLst/>
          </a:prstGeom>
        </p:spPr>
        <p:txBody>
          <a:bodyPr anchor="ctr" anchorCtr="0"/>
          <a:lstStyle>
            <a:lvl1pPr marL="0" indent="0" algn="ctr">
              <a:lnSpc>
                <a:spcPct val="100000"/>
              </a:lnSpc>
              <a:buNone/>
              <a:defRPr sz="1600">
                <a:solidFill>
                  <a:srgbClr val="6B6B6B"/>
                </a:solidFill>
                <a:latin typeface="+mn-lt"/>
              </a:defRPr>
            </a:lvl1pPr>
          </a:lstStyle>
          <a:p>
            <a:r>
              <a:rPr lang="en-US"/>
              <a:t>Insert image</a:t>
            </a:r>
          </a:p>
        </p:txBody>
      </p:sp>
    </p:spTree>
    <p:extLst>
      <p:ext uri="{BB962C8B-B14F-4D97-AF65-F5344CB8AC3E}">
        <p14:creationId xmlns:p14="http://schemas.microsoft.com/office/powerpoint/2010/main" val="154833214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 KPI + Chart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292" y="6358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601"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290" y="2039811"/>
            <a:ext cx="1075036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963" y="635870"/>
            <a:ext cx="7641629" cy="1332631"/>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two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564" y="1463283"/>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564" y="16500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40185539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 KPI + Chart + Table + Insight">
    <p:bg>
      <p:bgPr>
        <a:solidFill>
          <a:schemeClr val="bg2">
            <a:alpha val="40000"/>
          </a:schemeClr>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AF5089CB-7511-41A5-8BB2-19BFBF1AA219}"/>
              </a:ext>
            </a:extLst>
          </p:cNvPr>
          <p:cNvSpPr>
            <a:spLocks noGrp="1"/>
          </p:cNvSpPr>
          <p:nvPr>
            <p:ph type="body" sz="quarter" idx="34" hasCustomPrompt="1"/>
          </p:nvPr>
        </p:nvSpPr>
        <p:spPr>
          <a:xfrm>
            <a:off x="711292" y="6358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a:p>
            <a:pPr lvl="0"/>
            <a:endParaRPr lang="en-US"/>
          </a:p>
        </p:txBody>
      </p:sp>
      <p:sp>
        <p:nvSpPr>
          <p:cNvPr id="24" name="Text Placeholder 2">
            <a:extLst>
              <a:ext uri="{FF2B5EF4-FFF2-40B4-BE49-F238E27FC236}">
                <a16:creationId xmlns:a16="http://schemas.microsoft.com/office/drawing/2014/main" id="{B53BDD87-8487-47E6-9940-D76772149479}"/>
              </a:ext>
            </a:extLst>
          </p:cNvPr>
          <p:cNvSpPr>
            <a:spLocks noGrp="1"/>
          </p:cNvSpPr>
          <p:nvPr>
            <p:ph type="body" sz="quarter" idx="19" hasCustomPrompt="1"/>
          </p:nvPr>
        </p:nvSpPr>
        <p:spPr>
          <a:xfrm>
            <a:off x="1191601"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8" name="Text Placeholder 2">
            <a:extLst>
              <a:ext uri="{FF2B5EF4-FFF2-40B4-BE49-F238E27FC236}">
                <a16:creationId xmlns:a16="http://schemas.microsoft.com/office/drawing/2014/main" id="{620836B1-9C69-4E0F-BAAD-CE5281147C9C}"/>
              </a:ext>
            </a:extLst>
          </p:cNvPr>
          <p:cNvSpPr>
            <a:spLocks noGrp="1"/>
          </p:cNvSpPr>
          <p:nvPr>
            <p:ph type="body" sz="quarter" idx="32" hasCustomPrompt="1"/>
          </p:nvPr>
        </p:nvSpPr>
        <p:spPr>
          <a:xfrm>
            <a:off x="711291" y="2039811"/>
            <a:ext cx="5335895" cy="4173664"/>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19" name="Text Placeholder 2">
            <a:extLst>
              <a:ext uri="{FF2B5EF4-FFF2-40B4-BE49-F238E27FC236}">
                <a16:creationId xmlns:a16="http://schemas.microsoft.com/office/drawing/2014/main" id="{5B436396-7387-4332-BF8F-0A614F03B93A}"/>
              </a:ext>
            </a:extLst>
          </p:cNvPr>
          <p:cNvSpPr>
            <a:spLocks noGrp="1"/>
          </p:cNvSpPr>
          <p:nvPr>
            <p:ph type="body" sz="quarter" idx="33" hasCustomPrompt="1"/>
          </p:nvPr>
        </p:nvSpPr>
        <p:spPr>
          <a:xfrm>
            <a:off x="6133695" y="2039811"/>
            <a:ext cx="5335895" cy="4173664"/>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Insert Table</a:t>
            </a:r>
          </a:p>
        </p:txBody>
      </p:sp>
      <p:sp>
        <p:nvSpPr>
          <p:cNvPr id="21" name="Text Placeholder 2">
            <a:extLst>
              <a:ext uri="{FF2B5EF4-FFF2-40B4-BE49-F238E27FC236}">
                <a16:creationId xmlns:a16="http://schemas.microsoft.com/office/drawing/2014/main" id="{0E30B14A-4BE2-413A-ADB3-6F948978664F}"/>
              </a:ext>
            </a:extLst>
          </p:cNvPr>
          <p:cNvSpPr>
            <a:spLocks noGrp="1"/>
          </p:cNvSpPr>
          <p:nvPr>
            <p:ph type="body" sz="quarter" idx="22" hasCustomPrompt="1"/>
          </p:nvPr>
        </p:nvSpPr>
        <p:spPr>
          <a:xfrm>
            <a:off x="3827963" y="635870"/>
            <a:ext cx="7641629" cy="1332631"/>
          </a:xfrm>
          <a:prstGeom prst="roundRect">
            <a:avLst>
              <a:gd name="adj" fmla="val 7772"/>
            </a:avLst>
          </a:prstGeom>
          <a:solidFill>
            <a:schemeClr val="bg1">
              <a:lumMod val="85000"/>
            </a:schemeClr>
          </a:solidFill>
        </p:spPr>
        <p:txBody>
          <a:bodyPr wrap="square" anchor="ctr">
            <a:noAutofit/>
          </a:bodyPr>
          <a:lstStyle>
            <a:lvl1pPr marL="14400" indent="0" algn="l">
              <a:lnSpc>
                <a:spcPct val="100000"/>
              </a:lnSpc>
              <a:spcBef>
                <a:spcPts val="0"/>
              </a:spcBef>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three lines</a:t>
            </a:r>
          </a:p>
        </p:txBody>
      </p:sp>
      <p:sp>
        <p:nvSpPr>
          <p:cNvPr id="8" name="Text Placeholder 2">
            <a:extLst>
              <a:ext uri="{FF2B5EF4-FFF2-40B4-BE49-F238E27FC236}">
                <a16:creationId xmlns:a16="http://schemas.microsoft.com/office/drawing/2014/main" id="{6C14C1E8-22CB-416D-B781-FF68BA042A4E}"/>
              </a:ext>
            </a:extLst>
          </p:cNvPr>
          <p:cNvSpPr>
            <a:spLocks noGrp="1"/>
          </p:cNvSpPr>
          <p:nvPr>
            <p:ph type="body" sz="quarter" idx="31" hasCustomPrompt="1"/>
          </p:nvPr>
        </p:nvSpPr>
        <p:spPr>
          <a:xfrm>
            <a:off x="938564" y="1463283"/>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57F1FA94-5B2F-4916-81BF-8C7F82789638}"/>
              </a:ext>
            </a:extLst>
          </p:cNvPr>
          <p:cNvSpPr>
            <a:spLocks noGrp="1"/>
          </p:cNvSpPr>
          <p:nvPr>
            <p:ph type="body" sz="quarter" idx="37" hasCustomPrompt="1"/>
          </p:nvPr>
        </p:nvSpPr>
        <p:spPr>
          <a:xfrm flipV="1">
            <a:off x="938564" y="16500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16387642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KPIs + Insight + chart">
    <p:bg>
      <p:bgPr>
        <a:solidFill>
          <a:schemeClr val="bg2">
            <a:alpha val="40000"/>
          </a:schemeClr>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9AC613AD-8235-4A79-9642-52D062C164AA}"/>
              </a:ext>
            </a:extLst>
          </p:cNvPr>
          <p:cNvSpPr>
            <a:spLocks noGrp="1"/>
          </p:cNvSpPr>
          <p:nvPr>
            <p:ph type="body" sz="quarter" idx="14" hasCustomPrompt="1"/>
          </p:nvPr>
        </p:nvSpPr>
        <p:spPr>
          <a:xfrm>
            <a:off x="711292" y="6358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p:txBody>
      </p:sp>
      <p:sp>
        <p:nvSpPr>
          <p:cNvPr id="30" name="Text Placeholder 2">
            <a:extLst>
              <a:ext uri="{FF2B5EF4-FFF2-40B4-BE49-F238E27FC236}">
                <a16:creationId xmlns:a16="http://schemas.microsoft.com/office/drawing/2014/main" id="{C0563764-0DA7-4CFF-8301-A953289685C4}"/>
              </a:ext>
            </a:extLst>
          </p:cNvPr>
          <p:cNvSpPr>
            <a:spLocks noGrp="1"/>
          </p:cNvSpPr>
          <p:nvPr>
            <p:ph type="body" sz="quarter" idx="21" hasCustomPrompt="1"/>
          </p:nvPr>
        </p:nvSpPr>
        <p:spPr>
          <a:xfrm>
            <a:off x="3831954" y="635870"/>
            <a:ext cx="3038872" cy="1332631"/>
          </a:xfrm>
          <a:prstGeom prst="roundRect">
            <a:avLst>
              <a:gd name="adj" fmla="val 809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KPI Title in maximum two lines (Delete unused arrow)</a:t>
            </a:r>
          </a:p>
        </p:txBody>
      </p:sp>
      <p:sp>
        <p:nvSpPr>
          <p:cNvPr id="24" name="Text Placeholder 2">
            <a:extLst>
              <a:ext uri="{FF2B5EF4-FFF2-40B4-BE49-F238E27FC236}">
                <a16:creationId xmlns:a16="http://schemas.microsoft.com/office/drawing/2014/main" id="{B7CDD66C-B2F6-4749-AE42-AEC20A5F48F8}"/>
              </a:ext>
            </a:extLst>
          </p:cNvPr>
          <p:cNvSpPr>
            <a:spLocks noGrp="1"/>
          </p:cNvSpPr>
          <p:nvPr>
            <p:ph type="body" sz="quarter" idx="19" hasCustomPrompt="1"/>
          </p:nvPr>
        </p:nvSpPr>
        <p:spPr>
          <a:xfrm>
            <a:off x="1191601"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2" name="Text Placeholder 2">
            <a:extLst>
              <a:ext uri="{FF2B5EF4-FFF2-40B4-BE49-F238E27FC236}">
                <a16:creationId xmlns:a16="http://schemas.microsoft.com/office/drawing/2014/main" id="{41DBA1B1-CCCD-47AC-9977-51C5A1090B02}"/>
              </a:ext>
            </a:extLst>
          </p:cNvPr>
          <p:cNvSpPr>
            <a:spLocks noGrp="1"/>
          </p:cNvSpPr>
          <p:nvPr>
            <p:ph type="body" sz="quarter" idx="30" hasCustomPrompt="1"/>
          </p:nvPr>
        </p:nvSpPr>
        <p:spPr>
          <a:xfrm>
            <a:off x="4312264" y="140437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3" name="Text Placeholder 2">
            <a:extLst>
              <a:ext uri="{FF2B5EF4-FFF2-40B4-BE49-F238E27FC236}">
                <a16:creationId xmlns:a16="http://schemas.microsoft.com/office/drawing/2014/main" id="{081ABFB0-EF3F-4F37-8A1C-C2879001CF11}"/>
              </a:ext>
            </a:extLst>
          </p:cNvPr>
          <p:cNvSpPr>
            <a:spLocks noGrp="1"/>
          </p:cNvSpPr>
          <p:nvPr>
            <p:ph type="body" sz="quarter" idx="31" hasCustomPrompt="1"/>
          </p:nvPr>
        </p:nvSpPr>
        <p:spPr>
          <a:xfrm>
            <a:off x="938564" y="1473116"/>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34" name="Text Placeholder 2">
            <a:extLst>
              <a:ext uri="{FF2B5EF4-FFF2-40B4-BE49-F238E27FC236}">
                <a16:creationId xmlns:a16="http://schemas.microsoft.com/office/drawing/2014/main" id="{4487B58C-9A6E-4D70-858F-B041D458DF29}"/>
              </a:ext>
            </a:extLst>
          </p:cNvPr>
          <p:cNvSpPr>
            <a:spLocks noGrp="1"/>
          </p:cNvSpPr>
          <p:nvPr>
            <p:ph type="body" sz="quarter" idx="32" hasCustomPrompt="1"/>
          </p:nvPr>
        </p:nvSpPr>
        <p:spPr>
          <a:xfrm flipV="1">
            <a:off x="4010585" y="1659929"/>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5" name="Text Placeholder 2">
            <a:extLst>
              <a:ext uri="{FF2B5EF4-FFF2-40B4-BE49-F238E27FC236}">
                <a16:creationId xmlns:a16="http://schemas.microsoft.com/office/drawing/2014/main" id="{A1F59B7B-92F7-4E94-A5F5-8BF72D3C9249}"/>
              </a:ext>
            </a:extLst>
          </p:cNvPr>
          <p:cNvSpPr>
            <a:spLocks noGrp="1"/>
          </p:cNvSpPr>
          <p:nvPr>
            <p:ph type="body" sz="quarter" idx="22" hasCustomPrompt="1"/>
          </p:nvPr>
        </p:nvSpPr>
        <p:spPr>
          <a:xfrm>
            <a:off x="6952618" y="635870"/>
            <a:ext cx="4516974"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19" name="Text Placeholder 2">
            <a:extLst>
              <a:ext uri="{FF2B5EF4-FFF2-40B4-BE49-F238E27FC236}">
                <a16:creationId xmlns:a16="http://schemas.microsoft.com/office/drawing/2014/main" id="{001620DB-988A-43D0-9AFF-640BE1F8A9D7}"/>
              </a:ext>
            </a:extLst>
          </p:cNvPr>
          <p:cNvSpPr>
            <a:spLocks noGrp="1"/>
          </p:cNvSpPr>
          <p:nvPr>
            <p:ph type="body" sz="quarter" idx="29" hasCustomPrompt="1"/>
          </p:nvPr>
        </p:nvSpPr>
        <p:spPr>
          <a:xfrm>
            <a:off x="711294" y="2039814"/>
            <a:ext cx="10758298" cy="4173663"/>
          </a:xfrm>
          <a:prstGeom prst="roundRect">
            <a:avLst>
              <a:gd name="adj" fmla="val 3430"/>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10" name="Text Placeholder 2">
            <a:extLst>
              <a:ext uri="{FF2B5EF4-FFF2-40B4-BE49-F238E27FC236}">
                <a16:creationId xmlns:a16="http://schemas.microsoft.com/office/drawing/2014/main" id="{1D9909DD-F223-4431-8E15-DC413D95670E}"/>
              </a:ext>
            </a:extLst>
          </p:cNvPr>
          <p:cNvSpPr>
            <a:spLocks noGrp="1"/>
          </p:cNvSpPr>
          <p:nvPr>
            <p:ph type="body" sz="quarter" idx="33" hasCustomPrompt="1"/>
          </p:nvPr>
        </p:nvSpPr>
        <p:spPr>
          <a:xfrm>
            <a:off x="4010585" y="1473116"/>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1" name="Text Placeholder 2">
            <a:extLst>
              <a:ext uri="{FF2B5EF4-FFF2-40B4-BE49-F238E27FC236}">
                <a16:creationId xmlns:a16="http://schemas.microsoft.com/office/drawing/2014/main" id="{39764314-F0BB-4810-BAD9-EE48461D49C7}"/>
              </a:ext>
            </a:extLst>
          </p:cNvPr>
          <p:cNvSpPr>
            <a:spLocks noGrp="1"/>
          </p:cNvSpPr>
          <p:nvPr>
            <p:ph type="body" sz="quarter" idx="34" hasCustomPrompt="1"/>
          </p:nvPr>
        </p:nvSpPr>
        <p:spPr>
          <a:xfrm flipV="1">
            <a:off x="938564" y="1659929"/>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713488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 KPI + Chart + Table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0227ED67-A913-4C02-A8B1-C4D8A92EF4F4}"/>
              </a:ext>
            </a:extLst>
          </p:cNvPr>
          <p:cNvSpPr>
            <a:spLocks noGrp="1"/>
          </p:cNvSpPr>
          <p:nvPr>
            <p:ph type="body" sz="quarter" idx="37" hasCustomPrompt="1"/>
          </p:nvPr>
        </p:nvSpPr>
        <p:spPr>
          <a:xfrm>
            <a:off x="3831954" y="1305970"/>
            <a:ext cx="3038872" cy="1332631"/>
          </a:xfrm>
          <a:prstGeom prst="roundRect">
            <a:avLst>
              <a:gd name="adj" fmla="val 7137"/>
            </a:avLst>
          </a:prstGeom>
          <a:solidFill>
            <a:schemeClr val="bg1"/>
          </a:solidFill>
        </p:spPr>
        <p:txBody>
          <a:bodyPr anchor="t">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0" name="Text Placeholder 2">
            <a:extLst>
              <a:ext uri="{FF2B5EF4-FFF2-40B4-BE49-F238E27FC236}">
                <a16:creationId xmlns:a16="http://schemas.microsoft.com/office/drawing/2014/main" id="{95680F84-7CA0-4A76-A066-EE3509ABFAA5}"/>
              </a:ext>
            </a:extLst>
          </p:cNvPr>
          <p:cNvSpPr>
            <a:spLocks noGrp="1"/>
          </p:cNvSpPr>
          <p:nvPr>
            <p:ph type="body" sz="quarter" idx="35" hasCustomPrompt="1"/>
          </p:nvPr>
        </p:nvSpPr>
        <p:spPr>
          <a:xfrm>
            <a:off x="711292" y="1305970"/>
            <a:ext cx="3038872" cy="1332631"/>
          </a:xfrm>
          <a:prstGeom prst="roundRect">
            <a:avLst>
              <a:gd name="adj" fmla="val 7137"/>
            </a:avLst>
          </a:prstGeom>
          <a:solidFill>
            <a:schemeClr val="bg1"/>
          </a:solidFill>
        </p:spPr>
        <p:txBody>
          <a:bodyPr anchor="t">
            <a:no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marR="0" lvl="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a:pPr>
            <a:r>
              <a:rPr lang="en-GB"/>
              <a:t>KPI Title in maximum two lines (Delete unused arrow)</a:t>
            </a:r>
            <a:endParaRPr lang="en-US"/>
          </a:p>
          <a:p>
            <a:pPr lvl="0"/>
            <a:endParaRPr lang="en-US"/>
          </a:p>
        </p:txBody>
      </p:sp>
      <p:sp>
        <p:nvSpPr>
          <p:cNvPr id="22" name="Text Placeholder 2">
            <a:extLst>
              <a:ext uri="{FF2B5EF4-FFF2-40B4-BE49-F238E27FC236}">
                <a16:creationId xmlns:a16="http://schemas.microsoft.com/office/drawing/2014/main" id="{2B5ACE8A-00AB-4751-B44E-BC98A2C47FDF}"/>
              </a:ext>
            </a:extLst>
          </p:cNvPr>
          <p:cNvSpPr>
            <a:spLocks noGrp="1"/>
          </p:cNvSpPr>
          <p:nvPr>
            <p:ph type="body" sz="quarter" idx="36" hasCustomPrompt="1"/>
          </p:nvPr>
        </p:nvSpPr>
        <p:spPr>
          <a:xfrm>
            <a:off x="6952618" y="1305970"/>
            <a:ext cx="4516974"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443" y="527694"/>
            <a:ext cx="10856211"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601"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2264"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3" name="Text Placeholder 2">
            <a:extLst>
              <a:ext uri="{FF2B5EF4-FFF2-40B4-BE49-F238E27FC236}">
                <a16:creationId xmlns:a16="http://schemas.microsoft.com/office/drawing/2014/main" id="{E6134188-DB8A-4DF9-87F8-34A8BEDCA7FC}"/>
              </a:ext>
            </a:extLst>
          </p:cNvPr>
          <p:cNvSpPr>
            <a:spLocks noGrp="1"/>
          </p:cNvSpPr>
          <p:nvPr>
            <p:ph type="body" sz="quarter" idx="41" hasCustomPrompt="1"/>
          </p:nvPr>
        </p:nvSpPr>
        <p:spPr>
          <a:xfrm>
            <a:off x="3999154" y="2166077"/>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4" name="Text Placeholder 2">
            <a:extLst>
              <a:ext uri="{FF2B5EF4-FFF2-40B4-BE49-F238E27FC236}">
                <a16:creationId xmlns:a16="http://schemas.microsoft.com/office/drawing/2014/main" id="{D5941F27-B6F5-4E44-8310-0328CB9A3F91}"/>
              </a:ext>
            </a:extLst>
          </p:cNvPr>
          <p:cNvSpPr>
            <a:spLocks noGrp="1"/>
          </p:cNvSpPr>
          <p:nvPr>
            <p:ph type="body" sz="quarter" idx="42" hasCustomPrompt="1"/>
          </p:nvPr>
        </p:nvSpPr>
        <p:spPr>
          <a:xfrm flipV="1">
            <a:off x="3999154" y="2352892"/>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6" name="Text Placeholder 2">
            <a:extLst>
              <a:ext uri="{FF2B5EF4-FFF2-40B4-BE49-F238E27FC236}">
                <a16:creationId xmlns:a16="http://schemas.microsoft.com/office/drawing/2014/main" id="{015AA8D5-E7C5-48A7-860E-F1C92F07CF88}"/>
              </a:ext>
            </a:extLst>
          </p:cNvPr>
          <p:cNvSpPr>
            <a:spLocks noGrp="1"/>
          </p:cNvSpPr>
          <p:nvPr>
            <p:ph type="body" sz="quarter" idx="31" hasCustomPrompt="1"/>
          </p:nvPr>
        </p:nvSpPr>
        <p:spPr>
          <a:xfrm>
            <a:off x="904131" y="2164184"/>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8" name="Text Placeholder 2">
            <a:extLst>
              <a:ext uri="{FF2B5EF4-FFF2-40B4-BE49-F238E27FC236}">
                <a16:creationId xmlns:a16="http://schemas.microsoft.com/office/drawing/2014/main" id="{A31D3082-BA96-40FA-85B8-3D8F90E67B79}"/>
              </a:ext>
            </a:extLst>
          </p:cNvPr>
          <p:cNvSpPr>
            <a:spLocks noGrp="1"/>
          </p:cNvSpPr>
          <p:nvPr>
            <p:ph type="body" sz="quarter" idx="43" hasCustomPrompt="1"/>
          </p:nvPr>
        </p:nvSpPr>
        <p:spPr>
          <a:xfrm flipV="1">
            <a:off x="904131" y="23509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5" name="Text Placeholder 2">
            <a:extLst>
              <a:ext uri="{FF2B5EF4-FFF2-40B4-BE49-F238E27FC236}">
                <a16:creationId xmlns:a16="http://schemas.microsoft.com/office/drawing/2014/main" id="{1CB3C3F8-03F6-41D1-BC35-CE9BDCFD64DE}"/>
              </a:ext>
            </a:extLst>
          </p:cNvPr>
          <p:cNvSpPr>
            <a:spLocks noGrp="1"/>
          </p:cNvSpPr>
          <p:nvPr>
            <p:ph type="body" sz="quarter" idx="32" hasCustomPrompt="1"/>
          </p:nvPr>
        </p:nvSpPr>
        <p:spPr>
          <a:xfrm>
            <a:off x="711291" y="2720493"/>
            <a:ext cx="5335895" cy="3492981"/>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21" name="Text Placeholder 2">
            <a:extLst>
              <a:ext uri="{FF2B5EF4-FFF2-40B4-BE49-F238E27FC236}">
                <a16:creationId xmlns:a16="http://schemas.microsoft.com/office/drawing/2014/main" id="{2C63D07C-8DA6-4872-BED2-04DD278713B4}"/>
              </a:ext>
            </a:extLst>
          </p:cNvPr>
          <p:cNvSpPr>
            <a:spLocks noGrp="1"/>
          </p:cNvSpPr>
          <p:nvPr>
            <p:ph type="body" sz="quarter" idx="44" hasCustomPrompt="1"/>
          </p:nvPr>
        </p:nvSpPr>
        <p:spPr>
          <a:xfrm>
            <a:off x="6133695" y="2720493"/>
            <a:ext cx="5335895" cy="3492981"/>
          </a:xfrm>
          <a:prstGeom prst="roundRect">
            <a:avLst>
              <a:gd name="adj" fmla="val 317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Insert Table</a:t>
            </a:r>
          </a:p>
        </p:txBody>
      </p:sp>
    </p:spTree>
    <p:extLst>
      <p:ext uri="{BB962C8B-B14F-4D97-AF65-F5344CB8AC3E}">
        <p14:creationId xmlns:p14="http://schemas.microsoft.com/office/powerpoint/2010/main" val="10488633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 KPI + Chart + Insight + Subtitle">
    <p:bg>
      <p:bgPr>
        <a:solidFill>
          <a:schemeClr val="bg2">
            <a:alpha val="40000"/>
          </a:schemeClr>
        </a:solidFill>
        <a:effectLst/>
      </p:bgPr>
    </p:bg>
    <p:spTree>
      <p:nvGrpSpPr>
        <p:cNvPr id="1" name=""/>
        <p:cNvGrpSpPr/>
        <p:nvPr/>
      </p:nvGrpSpPr>
      <p:grpSpPr>
        <a:xfrm>
          <a:off x="0" y="0"/>
          <a:ext cx="0" cy="0"/>
          <a:chOff x="0" y="0"/>
          <a:chExt cx="0" cy="0"/>
        </a:xfrm>
      </p:grpSpPr>
      <p:sp>
        <p:nvSpPr>
          <p:cNvPr id="18" name="Text Placeholder 2">
            <a:extLst>
              <a:ext uri="{FF2B5EF4-FFF2-40B4-BE49-F238E27FC236}">
                <a16:creationId xmlns:a16="http://schemas.microsoft.com/office/drawing/2014/main" id="{1CF79DE6-489F-4295-A9F8-2AC173EAE383}"/>
              </a:ext>
            </a:extLst>
          </p:cNvPr>
          <p:cNvSpPr>
            <a:spLocks noGrp="1"/>
          </p:cNvSpPr>
          <p:nvPr>
            <p:ph type="body" sz="quarter" idx="38" hasCustomPrompt="1"/>
          </p:nvPr>
        </p:nvSpPr>
        <p:spPr>
          <a:xfrm>
            <a:off x="3831954" y="13059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16" name="Text Placeholder 2">
            <a:extLst>
              <a:ext uri="{FF2B5EF4-FFF2-40B4-BE49-F238E27FC236}">
                <a16:creationId xmlns:a16="http://schemas.microsoft.com/office/drawing/2014/main" id="{C7071110-F302-4469-BCA4-6E70028B0AA7}"/>
              </a:ext>
            </a:extLst>
          </p:cNvPr>
          <p:cNvSpPr>
            <a:spLocks noGrp="1"/>
          </p:cNvSpPr>
          <p:nvPr>
            <p:ph type="body" sz="quarter" idx="35" hasCustomPrompt="1"/>
          </p:nvPr>
        </p:nvSpPr>
        <p:spPr>
          <a:xfrm>
            <a:off x="711292" y="1305970"/>
            <a:ext cx="3038872" cy="1332631"/>
          </a:xfrm>
          <a:prstGeom prst="roundRect">
            <a:avLst>
              <a:gd name="adj" fmla="val 713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KPI Title in maximum two lines (Delete unused arrow)</a:t>
            </a:r>
            <a:endParaRPr lang="en-US"/>
          </a:p>
        </p:txBody>
      </p:sp>
      <p:sp>
        <p:nvSpPr>
          <p:cNvPr id="19" name="Text Placeholder 2">
            <a:extLst>
              <a:ext uri="{FF2B5EF4-FFF2-40B4-BE49-F238E27FC236}">
                <a16:creationId xmlns:a16="http://schemas.microsoft.com/office/drawing/2014/main" id="{FD9FF712-8955-4640-BEE9-B35894011E84}"/>
              </a:ext>
            </a:extLst>
          </p:cNvPr>
          <p:cNvSpPr>
            <a:spLocks noGrp="1"/>
          </p:cNvSpPr>
          <p:nvPr>
            <p:ph type="body" sz="quarter" idx="36" hasCustomPrompt="1"/>
          </p:nvPr>
        </p:nvSpPr>
        <p:spPr>
          <a:xfrm>
            <a:off x="6952618" y="1305970"/>
            <a:ext cx="4516974" cy="1332631"/>
          </a:xfrm>
          <a:prstGeom prst="roundRect">
            <a:avLst>
              <a:gd name="adj" fmla="val 8993"/>
            </a:avLst>
          </a:prstGeom>
          <a:solidFill>
            <a:schemeClr val="bg1">
              <a:lumMod val="85000"/>
            </a:schemeClr>
          </a:solidFill>
        </p:spPr>
        <p:txBody>
          <a:bodyPr anchor="ctr">
            <a:noAutofit/>
          </a:bodyPr>
          <a:lstStyle>
            <a:lvl1pPr marL="14400" indent="0" algn="l">
              <a:lnSpc>
                <a:spcPct val="100000"/>
              </a:lnSpc>
              <a:spcBef>
                <a:spcPts val="0"/>
              </a:spcBef>
              <a:buNone/>
              <a:defRPr sz="1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Sub Title or Important Insight / Takeaway from the data in maximum four lines</a:t>
            </a:r>
            <a:endParaRPr lang="en-US"/>
          </a:p>
        </p:txBody>
      </p:sp>
      <p:sp>
        <p:nvSpPr>
          <p:cNvPr id="15" name="Text Placeholder 2">
            <a:extLst>
              <a:ext uri="{FF2B5EF4-FFF2-40B4-BE49-F238E27FC236}">
                <a16:creationId xmlns:a16="http://schemas.microsoft.com/office/drawing/2014/main" id="{9E5A48BC-DC4F-4ACA-8BFB-82DF79BF4A9E}"/>
              </a:ext>
            </a:extLst>
          </p:cNvPr>
          <p:cNvSpPr>
            <a:spLocks noGrp="1"/>
          </p:cNvSpPr>
          <p:nvPr>
            <p:ph type="body" sz="quarter" idx="33" hasCustomPrompt="1"/>
          </p:nvPr>
        </p:nvSpPr>
        <p:spPr>
          <a:xfrm>
            <a:off x="711291" y="2720495"/>
            <a:ext cx="10750363" cy="3492980"/>
          </a:xfrm>
          <a:prstGeom prst="roundRect">
            <a:avLst>
              <a:gd name="adj" fmla="val 2467"/>
            </a:avLst>
          </a:prstGeom>
          <a:solidFill>
            <a:schemeClr val="bg1"/>
          </a:solidFill>
        </p:spPr>
        <p:txBody>
          <a:bodyPr anchor="t">
            <a:noAutofit/>
          </a:bodyPr>
          <a:lstStyle>
            <a:lvl1pPr marL="0" indent="0" algn="l">
              <a:lnSpc>
                <a:spcPct val="100000"/>
              </a:lnSpc>
              <a:buNone/>
              <a:defRPr sz="1600" b="0">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marL="0" lvl="0" indent="0">
              <a:lnSpc>
                <a:spcPct val="100000"/>
              </a:lnSpc>
              <a:buNone/>
            </a:pPr>
            <a:r>
              <a:rPr lang="en-US"/>
              <a:t>Chart / Graph Title with time period</a:t>
            </a:r>
          </a:p>
        </p:txBody>
      </p:sp>
      <p:sp>
        <p:nvSpPr>
          <p:cNvPr id="30" name="Title 1">
            <a:extLst>
              <a:ext uri="{FF2B5EF4-FFF2-40B4-BE49-F238E27FC236}">
                <a16:creationId xmlns:a16="http://schemas.microsoft.com/office/drawing/2014/main" id="{A5F196B3-494F-4A41-BB7B-AD9B60DBC551}"/>
              </a:ext>
            </a:extLst>
          </p:cNvPr>
          <p:cNvSpPr>
            <a:spLocks noGrp="1"/>
          </p:cNvSpPr>
          <p:nvPr>
            <p:ph type="title"/>
          </p:nvPr>
        </p:nvSpPr>
        <p:spPr>
          <a:xfrm>
            <a:off x="605443" y="527694"/>
            <a:ext cx="10856211" cy="492443"/>
          </a:xfrm>
          <a:prstGeom prst="rect">
            <a:avLst/>
          </a:prstGeom>
        </p:spPr>
        <p:txBody>
          <a:bodyPr wrap="square" anchor="t">
            <a:spAutoFit/>
          </a:bodyPr>
          <a:lstStyle>
            <a:lvl1pPr>
              <a:lnSpc>
                <a:spcPct val="100000"/>
              </a:lnSpc>
              <a:defRPr lang="en-IN" sz="2600" b="1" i="0">
                <a:latin typeface="+mn-lt"/>
                <a:ea typeface="Open Sans" panose="020B0606030504020204" pitchFamily="34" charset="0"/>
                <a:cs typeface="Open Sans" panose="020B0606030504020204" pitchFamily="34" charset="0"/>
              </a:defRPr>
            </a:lvl1pPr>
          </a:lstStyle>
          <a:p>
            <a:pPr marL="0" lvl="0" indent="0">
              <a:lnSpc>
                <a:spcPct val="100000"/>
              </a:lnSpc>
              <a:spcBef>
                <a:spcPts val="1000"/>
              </a:spcBef>
              <a:buFont typeface="Arial" panose="020B0604020202020204" pitchFamily="34" charset="0"/>
            </a:pPr>
            <a:r>
              <a:rPr lang="en-US"/>
              <a:t>Click to edit Master title style</a:t>
            </a:r>
            <a:endParaRPr lang="en-IN"/>
          </a:p>
        </p:txBody>
      </p:sp>
      <p:sp>
        <p:nvSpPr>
          <p:cNvPr id="35" name="Text Placeholder 2">
            <a:extLst>
              <a:ext uri="{FF2B5EF4-FFF2-40B4-BE49-F238E27FC236}">
                <a16:creationId xmlns:a16="http://schemas.microsoft.com/office/drawing/2014/main" id="{5CEC8C48-72E4-4A29-87D0-B1134274908E}"/>
              </a:ext>
            </a:extLst>
          </p:cNvPr>
          <p:cNvSpPr>
            <a:spLocks noGrp="1"/>
          </p:cNvSpPr>
          <p:nvPr>
            <p:ph type="body" sz="quarter" idx="26" hasCustomPrompt="1"/>
          </p:nvPr>
        </p:nvSpPr>
        <p:spPr>
          <a:xfrm>
            <a:off x="1191601"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37" name="Text Placeholder 2">
            <a:extLst>
              <a:ext uri="{FF2B5EF4-FFF2-40B4-BE49-F238E27FC236}">
                <a16:creationId xmlns:a16="http://schemas.microsoft.com/office/drawing/2014/main" id="{EA1F07C0-0A41-47D4-8349-0FC63CDE2EE6}"/>
              </a:ext>
            </a:extLst>
          </p:cNvPr>
          <p:cNvSpPr>
            <a:spLocks noGrp="1"/>
          </p:cNvSpPr>
          <p:nvPr>
            <p:ph type="body" sz="quarter" idx="28" hasCustomPrompt="1"/>
          </p:nvPr>
        </p:nvSpPr>
        <p:spPr>
          <a:xfrm>
            <a:off x="4312264" y="2091110"/>
            <a:ext cx="1844095" cy="472813"/>
          </a:xfrm>
          <a:prstGeom prst="rect">
            <a:avLst/>
          </a:prstGeom>
        </p:spPr>
        <p:txBody>
          <a:bodyPr tIns="36000" bIns="36000" anchor="ctr" anchorCtr="0">
            <a:spAutoFit/>
          </a:bodyPr>
          <a:lstStyle>
            <a:lvl1pPr marL="0" indent="0" algn="l">
              <a:lnSpc>
                <a:spcPct val="100000"/>
              </a:lnSpc>
              <a:buNone/>
              <a:defRPr sz="2600" b="1">
                <a:solidFill>
                  <a:schemeClr val="tx1"/>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GB"/>
              <a:t>0.00%</a:t>
            </a:r>
            <a:endParaRPr lang="en-US"/>
          </a:p>
        </p:txBody>
      </p:sp>
      <p:sp>
        <p:nvSpPr>
          <p:cNvPr id="11" name="Text Placeholder 2">
            <a:extLst>
              <a:ext uri="{FF2B5EF4-FFF2-40B4-BE49-F238E27FC236}">
                <a16:creationId xmlns:a16="http://schemas.microsoft.com/office/drawing/2014/main" id="{34B3935D-25DE-4CF1-9411-C911A59E6897}"/>
              </a:ext>
            </a:extLst>
          </p:cNvPr>
          <p:cNvSpPr>
            <a:spLocks noGrp="1"/>
          </p:cNvSpPr>
          <p:nvPr>
            <p:ph type="body" sz="quarter" idx="31" hasCustomPrompt="1"/>
          </p:nvPr>
        </p:nvSpPr>
        <p:spPr>
          <a:xfrm>
            <a:off x="904131" y="2164184"/>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2" name="Text Placeholder 2">
            <a:extLst>
              <a:ext uri="{FF2B5EF4-FFF2-40B4-BE49-F238E27FC236}">
                <a16:creationId xmlns:a16="http://schemas.microsoft.com/office/drawing/2014/main" id="{ACE0E8C8-A862-4F77-BD30-287974C85C87}"/>
              </a:ext>
            </a:extLst>
          </p:cNvPr>
          <p:cNvSpPr>
            <a:spLocks noGrp="1"/>
          </p:cNvSpPr>
          <p:nvPr>
            <p:ph type="body" sz="quarter" idx="32" hasCustomPrompt="1"/>
          </p:nvPr>
        </p:nvSpPr>
        <p:spPr>
          <a:xfrm flipV="1">
            <a:off x="4010585" y="23509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3" name="Text Placeholder 2">
            <a:extLst>
              <a:ext uri="{FF2B5EF4-FFF2-40B4-BE49-F238E27FC236}">
                <a16:creationId xmlns:a16="http://schemas.microsoft.com/office/drawing/2014/main" id="{480E203D-96C0-4E30-8CCA-4B1C46536594}"/>
              </a:ext>
            </a:extLst>
          </p:cNvPr>
          <p:cNvSpPr>
            <a:spLocks noGrp="1"/>
          </p:cNvSpPr>
          <p:nvPr>
            <p:ph type="body" sz="quarter" idx="37" hasCustomPrompt="1"/>
          </p:nvPr>
        </p:nvSpPr>
        <p:spPr>
          <a:xfrm>
            <a:off x="4010585" y="2164184"/>
            <a:ext cx="205677" cy="134395"/>
          </a:xfrm>
          <a:prstGeom prst="triangle">
            <a:avLst/>
          </a:prstGeom>
          <a:solidFill>
            <a:srgbClr val="00B050"/>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
        <p:nvSpPr>
          <p:cNvPr id="14" name="Text Placeholder 2">
            <a:extLst>
              <a:ext uri="{FF2B5EF4-FFF2-40B4-BE49-F238E27FC236}">
                <a16:creationId xmlns:a16="http://schemas.microsoft.com/office/drawing/2014/main" id="{E9060D44-04A5-496A-8472-D89D3962E2FD}"/>
              </a:ext>
            </a:extLst>
          </p:cNvPr>
          <p:cNvSpPr>
            <a:spLocks noGrp="1"/>
          </p:cNvSpPr>
          <p:nvPr>
            <p:ph type="body" sz="quarter" idx="34" hasCustomPrompt="1"/>
          </p:nvPr>
        </p:nvSpPr>
        <p:spPr>
          <a:xfrm flipV="1">
            <a:off x="904131" y="2350997"/>
            <a:ext cx="205677" cy="134395"/>
          </a:xfrm>
          <a:prstGeom prst="triangle">
            <a:avLst/>
          </a:prstGeom>
          <a:solidFill>
            <a:schemeClr val="accent3"/>
          </a:solidFill>
        </p:spPr>
        <p:txBody>
          <a:bodyPr tIns="36000" bIns="36000" anchor="ctr" anchorCtr="0">
            <a:noAutofit/>
          </a:bodyPr>
          <a:lstStyle>
            <a:lvl1pPr marL="0" indent="0" algn="l">
              <a:lnSpc>
                <a:spcPct val="100000"/>
              </a:lnSpc>
              <a:buNone/>
              <a:defRPr sz="133" b="1">
                <a:solidFill>
                  <a:srgbClr val="00B050"/>
                </a:solidFill>
                <a:latin typeface="+mn-lt"/>
              </a:defRPr>
            </a:lvl1pPr>
            <a:lvl2pPr marL="457189" indent="0">
              <a:buNone/>
              <a:defRPr sz="2600"/>
            </a:lvl2pPr>
            <a:lvl3pPr marL="914377" indent="0">
              <a:buNone/>
              <a:defRPr sz="2600"/>
            </a:lvl3pPr>
            <a:lvl4pPr marL="1371566" indent="0">
              <a:buNone/>
              <a:defRPr sz="2600"/>
            </a:lvl4pPr>
            <a:lvl5pPr marL="1828754" indent="0">
              <a:buNone/>
              <a:defRPr sz="2600"/>
            </a:lvl5pPr>
          </a:lstStyle>
          <a:p>
            <a:pPr lvl="0"/>
            <a:r>
              <a:rPr lang="en-US"/>
              <a:t>a</a:t>
            </a:r>
          </a:p>
        </p:txBody>
      </p:sp>
    </p:spTree>
    <p:extLst>
      <p:ext uri="{BB962C8B-B14F-4D97-AF65-F5344CB8AC3E}">
        <p14:creationId xmlns:p14="http://schemas.microsoft.com/office/powerpoint/2010/main" val="20744189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p:bg>
      <p:bgPr>
        <a:solidFill>
          <a:schemeClr val="bg2">
            <a:alpha val="4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76445B9-FF81-4E47-A45B-590DC428B361}"/>
              </a:ext>
            </a:extLst>
          </p:cNvPr>
          <p:cNvGrpSpPr/>
          <p:nvPr/>
        </p:nvGrpSpPr>
        <p:grpSpPr>
          <a:xfrm>
            <a:off x="731932" y="1507586"/>
            <a:ext cx="1455478" cy="845823"/>
            <a:chOff x="7946718" y="2965722"/>
            <a:chExt cx="1455288" cy="845823"/>
          </a:xfrm>
          <a:solidFill>
            <a:schemeClr val="accent4"/>
          </a:solidFill>
        </p:grpSpPr>
        <p:sp>
          <p:nvSpPr>
            <p:cNvPr id="8" name="TextBox 7">
              <a:extLst>
                <a:ext uri="{FF2B5EF4-FFF2-40B4-BE49-F238E27FC236}">
                  <a16:creationId xmlns:a16="http://schemas.microsoft.com/office/drawing/2014/main" id="{0E08AC23-D07F-4E5A-9DA0-FBB0C09B0E8F}"/>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chemeClr val="tx1"/>
                </a:solidFill>
                <a:latin typeface="+mn-lt"/>
              </a:endParaRPr>
            </a:p>
          </p:txBody>
        </p:sp>
        <p:sp>
          <p:nvSpPr>
            <p:cNvPr id="10" name="TextBox 9">
              <a:extLst>
                <a:ext uri="{FF2B5EF4-FFF2-40B4-BE49-F238E27FC236}">
                  <a16:creationId xmlns:a16="http://schemas.microsoft.com/office/drawing/2014/main" id="{6C374CEA-CE97-4473-9FCF-AC562A1AF22E}"/>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chemeClr val="tx1"/>
                </a:solidFill>
                <a:latin typeface="+mn-lt"/>
              </a:endParaRPr>
            </a:p>
          </p:txBody>
        </p:sp>
      </p:grpSp>
      <p:sp>
        <p:nvSpPr>
          <p:cNvPr id="14" name="Text Placeholder 4">
            <a:extLst>
              <a:ext uri="{FF2B5EF4-FFF2-40B4-BE49-F238E27FC236}">
                <a16:creationId xmlns:a16="http://schemas.microsoft.com/office/drawing/2014/main" id="{0D6DD118-6375-439A-BC1B-899B6DC48BBC}"/>
              </a:ext>
            </a:extLst>
          </p:cNvPr>
          <p:cNvSpPr>
            <a:spLocks noGrp="1"/>
          </p:cNvSpPr>
          <p:nvPr>
            <p:ph type="body" sz="quarter" idx="15" hasCustomPrompt="1"/>
          </p:nvPr>
        </p:nvSpPr>
        <p:spPr>
          <a:xfrm>
            <a:off x="1035924" y="870634"/>
            <a:ext cx="10418531" cy="492443"/>
          </a:xfrm>
          <a:prstGeom prst="rect">
            <a:avLst/>
          </a:prstGeom>
        </p:spPr>
        <p:txBody>
          <a:bodyPr anchor="t">
            <a:spAutoFit/>
          </a:bodyPr>
          <a:lstStyle>
            <a:lvl1pPr marL="0" indent="0" algn="l">
              <a:lnSpc>
                <a:spcPct val="100000"/>
              </a:lnSpc>
              <a:spcBef>
                <a:spcPts val="0"/>
              </a:spcBef>
              <a:buNone/>
              <a:defRPr sz="2600" b="0"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
        <p:nvSpPr>
          <p:cNvPr id="15" name="Text Placeholder 4">
            <a:extLst>
              <a:ext uri="{FF2B5EF4-FFF2-40B4-BE49-F238E27FC236}">
                <a16:creationId xmlns:a16="http://schemas.microsoft.com/office/drawing/2014/main" id="{B4ECFA27-67F6-46A2-81A9-B46702AEDC06}"/>
              </a:ext>
            </a:extLst>
          </p:cNvPr>
          <p:cNvSpPr>
            <a:spLocks noGrp="1"/>
          </p:cNvSpPr>
          <p:nvPr>
            <p:ph type="body" sz="quarter" idx="13" hasCustomPrompt="1"/>
          </p:nvPr>
        </p:nvSpPr>
        <p:spPr>
          <a:xfrm>
            <a:off x="1043126" y="1712423"/>
            <a:ext cx="10418531" cy="4388845"/>
          </a:xfrm>
          <a:prstGeom prst="rect">
            <a:avLst/>
          </a:prstGeom>
        </p:spPr>
        <p:txBody>
          <a:bodyPr tIns="288000" anchor="t" anchorCtr="0">
            <a:spAutoFit/>
          </a:bodyPr>
          <a:lstStyle>
            <a:lvl1pPr marL="0" indent="0">
              <a:lnSpc>
                <a:spcPct val="100000"/>
              </a:lnSpc>
              <a:spcBef>
                <a:spcPts val="0"/>
              </a:spcBef>
              <a:buNone/>
              <a:defRPr sz="6400" b="1" i="0">
                <a:solidFill>
                  <a:schemeClr val="tx1"/>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Tree>
    <p:extLst>
      <p:ext uri="{BB962C8B-B14F-4D97-AF65-F5344CB8AC3E}">
        <p14:creationId xmlns:p14="http://schemas.microsoft.com/office/powerpoint/2010/main" val="381171553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 Dark bkgd.">
    <p:bg>
      <p:bgPr>
        <a:solidFill>
          <a:schemeClr val="tx1"/>
        </a:solidFill>
        <a:effectLst/>
      </p:bgPr>
    </p:bg>
    <p:spTree>
      <p:nvGrpSpPr>
        <p:cNvPr id="1" name=""/>
        <p:cNvGrpSpPr/>
        <p:nvPr/>
      </p:nvGrpSpPr>
      <p:grpSpPr>
        <a:xfrm>
          <a:off x="0" y="0"/>
          <a:ext cx="0" cy="0"/>
          <a:chOff x="0" y="0"/>
          <a:chExt cx="0" cy="0"/>
        </a:xfrm>
      </p:grpSpPr>
      <p:pic>
        <p:nvPicPr>
          <p:cNvPr id="13" name="Picture 12" descr="A close up of a logo&#10;&#10;Description generated with very high confidence">
            <a:extLst>
              <a:ext uri="{FF2B5EF4-FFF2-40B4-BE49-F238E27FC236}">
                <a16:creationId xmlns:a16="http://schemas.microsoft.com/office/drawing/2014/main" id="{C49040EA-FE23-4B53-8BE5-BD8E2C4178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5266" y="6556891"/>
            <a:ext cx="686233" cy="147200"/>
          </a:xfrm>
          <a:prstGeom prst="rect">
            <a:avLst/>
          </a:prstGeom>
        </p:spPr>
      </p:pic>
      <p:sp>
        <p:nvSpPr>
          <p:cNvPr id="14" name="Title 1">
            <a:extLst>
              <a:ext uri="{FF2B5EF4-FFF2-40B4-BE49-F238E27FC236}">
                <a16:creationId xmlns:a16="http://schemas.microsoft.com/office/drawing/2014/main" id="{848B6007-B878-459B-95AA-ADC9B06B3C01}"/>
              </a:ext>
            </a:extLst>
          </p:cNvPr>
          <p:cNvSpPr txBox="1">
            <a:spLocks/>
          </p:cNvSpPr>
          <p:nvPr/>
        </p:nvSpPr>
        <p:spPr>
          <a:xfrm>
            <a:off x="5872499" y="6523250"/>
            <a:ext cx="448593" cy="218655"/>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fld id="{8CDB8CBA-EB11-894E-8631-17E36B7DB51E}" type="slidenum">
              <a:rPr lang="en-US" sz="800" smtClean="0">
                <a:solidFill>
                  <a:schemeClr val="bg1">
                    <a:lumMod val="75000"/>
                  </a:schemeClr>
                </a:solidFill>
                <a:latin typeface="+mn-lt"/>
              </a:rPr>
              <a:pPr>
                <a:lnSpc>
                  <a:spcPct val="100000"/>
                </a:lnSpc>
              </a:pPr>
              <a:t>‹#›</a:t>
            </a:fld>
            <a:endParaRPr lang="en-US" sz="800">
              <a:solidFill>
                <a:schemeClr val="bg1">
                  <a:lumMod val="75000"/>
                </a:schemeClr>
              </a:solidFill>
              <a:latin typeface="+mn-lt"/>
            </a:endParaRPr>
          </a:p>
        </p:txBody>
      </p:sp>
      <p:sp>
        <p:nvSpPr>
          <p:cNvPr id="15" name="Title 1">
            <a:extLst>
              <a:ext uri="{FF2B5EF4-FFF2-40B4-BE49-F238E27FC236}">
                <a16:creationId xmlns:a16="http://schemas.microsoft.com/office/drawing/2014/main" id="{C6629807-3F1E-438A-BAAD-E5AEF947C5F5}"/>
              </a:ext>
            </a:extLst>
          </p:cNvPr>
          <p:cNvSpPr txBox="1">
            <a:spLocks/>
          </p:cNvSpPr>
          <p:nvPr/>
        </p:nvSpPr>
        <p:spPr>
          <a:xfrm>
            <a:off x="652549" y="6523250"/>
            <a:ext cx="3200816" cy="218655"/>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00000"/>
              </a:lnSpc>
            </a:pPr>
            <a:r>
              <a:rPr lang="en-US" sz="800">
                <a:solidFill>
                  <a:schemeClr val="bg1">
                    <a:lumMod val="75000"/>
                  </a:schemeClr>
                </a:solidFill>
                <a:latin typeface="+mn-lt"/>
              </a:rPr>
              <a:t>© 2026 CellStrat. All rights reserved | CCA Intensive</a:t>
            </a:r>
          </a:p>
        </p:txBody>
      </p:sp>
      <p:grpSp>
        <p:nvGrpSpPr>
          <p:cNvPr id="10" name="Group 9">
            <a:extLst>
              <a:ext uri="{FF2B5EF4-FFF2-40B4-BE49-F238E27FC236}">
                <a16:creationId xmlns:a16="http://schemas.microsoft.com/office/drawing/2014/main" id="{D4EF20FE-8CE2-47D4-BA67-42C359E87A36}"/>
              </a:ext>
            </a:extLst>
          </p:cNvPr>
          <p:cNvGrpSpPr/>
          <p:nvPr/>
        </p:nvGrpSpPr>
        <p:grpSpPr>
          <a:xfrm>
            <a:off x="731932" y="1507586"/>
            <a:ext cx="1455478" cy="845823"/>
            <a:chOff x="4640712" y="1507584"/>
            <a:chExt cx="1455288" cy="845823"/>
          </a:xfrm>
        </p:grpSpPr>
        <p:sp>
          <p:nvSpPr>
            <p:cNvPr id="16" name="TextBox 15">
              <a:extLst>
                <a:ext uri="{FF2B5EF4-FFF2-40B4-BE49-F238E27FC236}">
                  <a16:creationId xmlns:a16="http://schemas.microsoft.com/office/drawing/2014/main" id="{AC591764-F364-4147-B28C-D6CF0DD6FF88}"/>
                </a:ext>
              </a:extLst>
            </p:cNvPr>
            <p:cNvSpPr txBox="1">
              <a:spLocks/>
            </p:cNvSpPr>
            <p:nvPr userDrawn="1"/>
          </p:nvSpPr>
          <p:spPr>
            <a:xfrm>
              <a:off x="4640712" y="1507584"/>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sp>
          <p:nvSpPr>
            <p:cNvPr id="17" name="TextBox 16">
              <a:extLst>
                <a:ext uri="{FF2B5EF4-FFF2-40B4-BE49-F238E27FC236}">
                  <a16:creationId xmlns:a16="http://schemas.microsoft.com/office/drawing/2014/main" id="{5B56254D-ECCA-4335-A674-D290293E0913}"/>
                </a:ext>
              </a:extLst>
            </p:cNvPr>
            <p:cNvSpPr txBox="1">
              <a:spLocks/>
            </p:cNvSpPr>
            <p:nvPr userDrawn="1"/>
          </p:nvSpPr>
          <p:spPr>
            <a:xfrm>
              <a:off x="5429133" y="1507584"/>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solidFill>
              <a:srgbClr val="6B6B6B"/>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grpSp>
      <p:sp>
        <p:nvSpPr>
          <p:cNvPr id="18" name="Text Placeholder 4">
            <a:extLst>
              <a:ext uri="{FF2B5EF4-FFF2-40B4-BE49-F238E27FC236}">
                <a16:creationId xmlns:a16="http://schemas.microsoft.com/office/drawing/2014/main" id="{539A892A-E0A3-4F85-AC15-00958250E5A0}"/>
              </a:ext>
            </a:extLst>
          </p:cNvPr>
          <p:cNvSpPr>
            <a:spLocks noGrp="1"/>
          </p:cNvSpPr>
          <p:nvPr>
            <p:ph type="body" sz="quarter" idx="13" hasCustomPrompt="1"/>
          </p:nvPr>
        </p:nvSpPr>
        <p:spPr>
          <a:xfrm>
            <a:off x="1043126" y="1712423"/>
            <a:ext cx="10418531" cy="4388845"/>
          </a:xfrm>
          <a:prstGeom prst="rect">
            <a:avLst/>
          </a:prstGeom>
        </p:spPr>
        <p:txBody>
          <a:bodyPr tIns="288000" anchor="t" anchorCtr="0">
            <a:spAutoFit/>
          </a:bodyPr>
          <a:lstStyle>
            <a:lvl1pPr marL="0" indent="0">
              <a:lnSpc>
                <a:spcPct val="100000"/>
              </a:lnSpc>
              <a:spcBef>
                <a:spcPts val="0"/>
              </a:spcBef>
              <a:buNone/>
              <a:defRPr sz="6400" b="1"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from speech that the speaker has said</a:t>
            </a:r>
          </a:p>
        </p:txBody>
      </p:sp>
      <p:sp>
        <p:nvSpPr>
          <p:cNvPr id="19" name="Text Placeholder 4">
            <a:extLst>
              <a:ext uri="{FF2B5EF4-FFF2-40B4-BE49-F238E27FC236}">
                <a16:creationId xmlns:a16="http://schemas.microsoft.com/office/drawing/2014/main" id="{73946CEA-176B-4058-93BA-D0D282E61443}"/>
              </a:ext>
            </a:extLst>
          </p:cNvPr>
          <p:cNvSpPr>
            <a:spLocks noGrp="1"/>
          </p:cNvSpPr>
          <p:nvPr>
            <p:ph type="body" sz="quarter" idx="15" hasCustomPrompt="1"/>
          </p:nvPr>
        </p:nvSpPr>
        <p:spPr>
          <a:xfrm>
            <a:off x="1035924" y="870634"/>
            <a:ext cx="10418531" cy="492443"/>
          </a:xfrm>
          <a:prstGeom prst="rect">
            <a:avLst/>
          </a:prstGeom>
        </p:spPr>
        <p:txBody>
          <a:bodyPr anchor="t">
            <a:spAutoFit/>
          </a:bodyPr>
          <a:lstStyle>
            <a:lvl1pPr marL="0" indent="0" algn="l">
              <a:lnSpc>
                <a:spcPct val="100000"/>
              </a:lnSpc>
              <a:spcBef>
                <a:spcPts val="0"/>
              </a:spcBef>
              <a:buNone/>
              <a:defRPr sz="2600" b="0" i="0">
                <a:solidFill>
                  <a:srgbClr val="FFFFFF"/>
                </a:solidFill>
                <a:latin typeface="+mn-lt"/>
                <a:ea typeface="Open Sans Semibold" panose="020B0606030504020204" pitchFamily="34" charset="0"/>
                <a:cs typeface="Open Sans Semibold" panose="020B0606030504020204" pitchFamily="34" charset="0"/>
              </a:defRPr>
            </a:lvl1pPr>
            <a:lvl2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Speaker’s name</a:t>
            </a:r>
          </a:p>
        </p:txBody>
      </p:sp>
    </p:spTree>
    <p:extLst>
      <p:ext uri="{BB962C8B-B14F-4D97-AF65-F5344CB8AC3E}">
        <p14:creationId xmlns:p14="http://schemas.microsoft.com/office/powerpoint/2010/main" val="27522563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 speaker image">
    <p:bg>
      <p:bgPr>
        <a:solidFill>
          <a:srgbClr val="FFFFFF"/>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D19EA7E8-D58C-4823-96CC-7C58457E2C33}"/>
              </a:ext>
            </a:extLst>
          </p:cNvPr>
          <p:cNvGrpSpPr/>
          <p:nvPr/>
        </p:nvGrpSpPr>
        <p:grpSpPr>
          <a:xfrm>
            <a:off x="615227" y="667216"/>
            <a:ext cx="1455478" cy="845823"/>
            <a:chOff x="7946718" y="2965722"/>
            <a:chExt cx="1455288" cy="845823"/>
          </a:xfrm>
          <a:solidFill>
            <a:srgbClr val="D6D6D6"/>
          </a:solidFill>
        </p:grpSpPr>
        <p:sp>
          <p:nvSpPr>
            <p:cNvPr id="10" name="TextBox 9">
              <a:extLst>
                <a:ext uri="{FF2B5EF4-FFF2-40B4-BE49-F238E27FC236}">
                  <a16:creationId xmlns:a16="http://schemas.microsoft.com/office/drawing/2014/main" id="{252B4F35-079E-4266-92C5-94E8876B874B}"/>
                </a:ext>
              </a:extLst>
            </p:cNvPr>
            <p:cNvSpPr txBox="1">
              <a:spLocks/>
            </p:cNvSpPr>
            <p:nvPr/>
          </p:nvSpPr>
          <p:spPr>
            <a:xfrm>
              <a:off x="7946718" y="2965722"/>
              <a:ext cx="666866" cy="845823"/>
            </a:xfrm>
            <a:custGeom>
              <a:avLst/>
              <a:gdLst/>
              <a:ahLst/>
              <a:cxnLst/>
              <a:rect l="l" t="t" r="r" b="b"/>
              <a:pathLst>
                <a:path w="666866" h="845823">
                  <a:moveTo>
                    <a:pt x="297135" y="0"/>
                  </a:moveTo>
                  <a:lnTo>
                    <a:pt x="666866" y="0"/>
                  </a:lnTo>
                  <a:cubicBezTo>
                    <a:pt x="592582" y="300512"/>
                    <a:pt x="535744" y="582453"/>
                    <a:pt x="496351" y="845823"/>
                  </a:cubicBezTo>
                  <a:lnTo>
                    <a:pt x="23636" y="845823"/>
                  </a:lnTo>
                  <a:lnTo>
                    <a:pt x="0" y="808681"/>
                  </a:lnTo>
                  <a:cubicBezTo>
                    <a:pt x="24761" y="706259"/>
                    <a:pt x="65561" y="577669"/>
                    <a:pt x="122399" y="422911"/>
                  </a:cubicBezTo>
                  <a:cubicBezTo>
                    <a:pt x="179238" y="268153"/>
                    <a:pt x="237483" y="127183"/>
                    <a:pt x="297135"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sp>
          <p:nvSpPr>
            <p:cNvPr id="11" name="TextBox 10">
              <a:extLst>
                <a:ext uri="{FF2B5EF4-FFF2-40B4-BE49-F238E27FC236}">
                  <a16:creationId xmlns:a16="http://schemas.microsoft.com/office/drawing/2014/main" id="{12BE29EC-219E-4956-B6C5-7099FDB8AC2F}"/>
                </a:ext>
              </a:extLst>
            </p:cNvPr>
            <p:cNvSpPr txBox="1">
              <a:spLocks/>
            </p:cNvSpPr>
            <p:nvPr/>
          </p:nvSpPr>
          <p:spPr>
            <a:xfrm>
              <a:off x="8735139" y="2965722"/>
              <a:ext cx="666867" cy="845823"/>
            </a:xfrm>
            <a:custGeom>
              <a:avLst/>
              <a:gdLst/>
              <a:ahLst/>
              <a:cxnLst/>
              <a:rect l="l" t="t" r="r" b="b"/>
              <a:pathLst>
                <a:path w="666867" h="845823">
                  <a:moveTo>
                    <a:pt x="297136" y="0"/>
                  </a:moveTo>
                  <a:lnTo>
                    <a:pt x="666867" y="0"/>
                  </a:lnTo>
                  <a:cubicBezTo>
                    <a:pt x="592583" y="300512"/>
                    <a:pt x="535745" y="582453"/>
                    <a:pt x="496351" y="845823"/>
                  </a:cubicBezTo>
                  <a:lnTo>
                    <a:pt x="23636" y="845823"/>
                  </a:lnTo>
                  <a:lnTo>
                    <a:pt x="0" y="808681"/>
                  </a:lnTo>
                  <a:cubicBezTo>
                    <a:pt x="24762" y="706259"/>
                    <a:pt x="65561" y="577669"/>
                    <a:pt x="122400" y="422911"/>
                  </a:cubicBezTo>
                  <a:cubicBezTo>
                    <a:pt x="179238" y="268153"/>
                    <a:pt x="237483" y="127183"/>
                    <a:pt x="297136"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lgn="l" defTabSz="914400" rtl="0" eaLnBrk="1" latinLnBrk="0" hangingPunct="1">
                <a:lnSpc>
                  <a:spcPct val="90000"/>
                </a:lnSpc>
                <a:spcBef>
                  <a:spcPts val="1000"/>
                </a:spcBef>
                <a:buFont typeface="Arial" panose="020B0604020202020204" pitchFamily="34" charset="0"/>
                <a:buNone/>
                <a:defRPr sz="27200" b="1" i="0" kern="1200">
                  <a:solidFill>
                    <a:srgbClr val="D6D6D6"/>
                  </a:solidFill>
                  <a:latin typeface="Open Sans" panose="020B06060305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0" b="1" i="0" kern="1200">
                  <a:solidFill>
                    <a:schemeClr val="tx1"/>
                  </a:solidFill>
                  <a:latin typeface="Open Sans" panose="020B06060305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7199">
                <a:solidFill>
                  <a:srgbClr val="383637"/>
                </a:solidFill>
                <a:latin typeface="+mn-lt"/>
              </a:endParaRPr>
            </a:p>
          </p:txBody>
        </p:sp>
      </p:grpSp>
      <p:sp>
        <p:nvSpPr>
          <p:cNvPr id="12" name="Picture Placeholder 6">
            <a:extLst>
              <a:ext uri="{FF2B5EF4-FFF2-40B4-BE49-F238E27FC236}">
                <a16:creationId xmlns:a16="http://schemas.microsoft.com/office/drawing/2014/main" id="{C4CCC91B-5611-41BA-BE62-D049438FE5F4}"/>
              </a:ext>
            </a:extLst>
          </p:cNvPr>
          <p:cNvSpPr>
            <a:spLocks noGrp="1"/>
          </p:cNvSpPr>
          <p:nvPr>
            <p:ph type="pic" sz="quarter" idx="14" hasCustomPrompt="1"/>
          </p:nvPr>
        </p:nvSpPr>
        <p:spPr>
          <a:xfrm>
            <a:off x="6887254" y="1"/>
            <a:ext cx="5306334" cy="6213475"/>
          </a:xfrm>
          <a:prstGeom prst="rect">
            <a:avLst/>
          </a:prstGeom>
        </p:spPr>
        <p:txBody>
          <a:bodyPr/>
          <a:lstStyle>
            <a:lvl1pPr marL="0" indent="0">
              <a:lnSpc>
                <a:spcPct val="100000"/>
              </a:lnSpc>
              <a:buNone/>
              <a:defRPr sz="1600">
                <a:solidFill>
                  <a:srgbClr val="6B6B6B"/>
                </a:solidFill>
                <a:latin typeface="+mn-lt"/>
              </a:defRPr>
            </a:lvl1pPr>
          </a:lstStyle>
          <a:p>
            <a:r>
              <a:rPr lang="en-US"/>
              <a:t>INSERT SPEAKER IMAGE ONLY</a:t>
            </a:r>
          </a:p>
        </p:txBody>
      </p:sp>
      <p:sp>
        <p:nvSpPr>
          <p:cNvPr id="13" name="Text Placeholder 16">
            <a:extLst>
              <a:ext uri="{FF2B5EF4-FFF2-40B4-BE49-F238E27FC236}">
                <a16:creationId xmlns:a16="http://schemas.microsoft.com/office/drawing/2014/main" id="{33B46CD2-E3EF-4444-AEB6-327ED5FB15BA}"/>
              </a:ext>
            </a:extLst>
          </p:cNvPr>
          <p:cNvSpPr>
            <a:spLocks noGrp="1"/>
          </p:cNvSpPr>
          <p:nvPr>
            <p:ph type="body" sz="quarter" idx="16" hasCustomPrompt="1"/>
          </p:nvPr>
        </p:nvSpPr>
        <p:spPr>
          <a:xfrm>
            <a:off x="1432112" y="1127877"/>
            <a:ext cx="5426781" cy="4616648"/>
          </a:xfrm>
          <a:prstGeom prst="rect">
            <a:avLst/>
          </a:prstGeom>
        </p:spPr>
        <p:txBody>
          <a:bodyPr anchor="t">
            <a:spAutoFit/>
          </a:bodyPr>
          <a:lstStyle>
            <a:lvl1pPr marL="0" indent="0">
              <a:lnSpc>
                <a:spcPct val="100000"/>
              </a:lnSpc>
              <a:spcBef>
                <a:spcPts val="0"/>
              </a:spcBef>
              <a:buNone/>
              <a:defRPr sz="4200" b="1" i="0">
                <a:solidFill>
                  <a:schemeClr val="tx1"/>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A quotation is the repetition of a sentence, phrase or passage from speech or text that someone has said or written.</a:t>
            </a:r>
            <a:endParaRPr lang="en-US"/>
          </a:p>
        </p:txBody>
      </p:sp>
      <p:sp>
        <p:nvSpPr>
          <p:cNvPr id="18" name="Text Placeholder 16">
            <a:extLst>
              <a:ext uri="{FF2B5EF4-FFF2-40B4-BE49-F238E27FC236}">
                <a16:creationId xmlns:a16="http://schemas.microsoft.com/office/drawing/2014/main" id="{F5851328-40A6-45EA-AF35-C383544429D3}"/>
              </a:ext>
            </a:extLst>
          </p:cNvPr>
          <p:cNvSpPr>
            <a:spLocks noGrp="1"/>
          </p:cNvSpPr>
          <p:nvPr>
            <p:ph type="body" sz="quarter" idx="18" hasCustomPrompt="1"/>
          </p:nvPr>
        </p:nvSpPr>
        <p:spPr>
          <a:xfrm>
            <a:off x="1432112" y="5730125"/>
            <a:ext cx="5426781" cy="492443"/>
          </a:xfrm>
          <a:prstGeom prst="rect">
            <a:avLst/>
          </a:prstGeom>
        </p:spPr>
        <p:txBody>
          <a:bodyPr anchor="t">
            <a:spAutoFit/>
          </a:bodyPr>
          <a:lstStyle>
            <a:lvl1pPr marL="0" indent="0" algn="r">
              <a:lnSpc>
                <a:spcPct val="100000"/>
              </a:lnSpc>
              <a:spcBef>
                <a:spcPts val="0"/>
              </a:spcBef>
              <a:buNone/>
              <a:defRPr sz="2600" b="1" i="0">
                <a:solidFill>
                  <a:schemeClr val="accent4"/>
                </a:solidFill>
                <a:latin typeface="+mn-lt"/>
                <a:ea typeface="Open Sans Semibold" panose="020B0606030504020204" pitchFamily="34" charset="0"/>
                <a:cs typeface="Open Sans Semibold" panose="020B0606030504020204" pitchFamily="34" charset="0"/>
              </a:defRPr>
            </a:lvl1pPr>
            <a:lvl2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2pPr>
            <a:lvl3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3pPr>
            <a:lvl4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4pPr>
            <a:lvl5pPr indent="0">
              <a:lnSpc>
                <a:spcPct val="100000"/>
              </a:lnSpc>
              <a:buNone/>
              <a:defRPr sz="4200" b="1" i="0">
                <a:latin typeface="Open Sans Semibold" panose="020B0606030504020204" pitchFamily="34" charset="0"/>
                <a:ea typeface="Open Sans Semibold" panose="020B0606030504020204" pitchFamily="34" charset="0"/>
                <a:cs typeface="Open Sans Semibold" panose="020B0606030504020204" pitchFamily="34" charset="0"/>
              </a:defRPr>
            </a:lvl5pPr>
          </a:lstStyle>
          <a:p>
            <a:pPr lvl="0"/>
            <a:r>
              <a:rPr lang="en-GB"/>
              <a:t>— Speaker name</a:t>
            </a:r>
            <a:endParaRPr lang="en-US"/>
          </a:p>
        </p:txBody>
      </p:sp>
    </p:spTree>
    <p:extLst>
      <p:ext uri="{BB962C8B-B14F-4D97-AF65-F5344CB8AC3E}">
        <p14:creationId xmlns:p14="http://schemas.microsoft.com/office/powerpoint/2010/main" val="21209498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Closing Slide/ Thank You">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B712C1D-486A-B749-B52A-C169E419CDA4}"/>
              </a:ext>
            </a:extLst>
          </p:cNvPr>
          <p:cNvSpPr txBox="1">
            <a:spLocks/>
          </p:cNvSpPr>
          <p:nvPr/>
        </p:nvSpPr>
        <p:spPr>
          <a:xfrm>
            <a:off x="580712" y="2595485"/>
            <a:ext cx="5003953" cy="1046440"/>
          </a:xfrm>
          <a:prstGeom prst="rect">
            <a:avLst/>
          </a:prstGeom>
          <a:noFill/>
        </p:spPr>
        <p:txBody>
          <a:bodyPr tIns="0" bIns="0" anchor="t">
            <a:spAutoFit/>
          </a:bodyPr>
          <a:lstStyle>
            <a:lvl1pPr algn="l" defTabSz="914400" rtl="0" eaLnBrk="1" latinLnBrk="0" hangingPunct="1">
              <a:lnSpc>
                <a:spcPct val="90000"/>
              </a:lnSpc>
              <a:spcBef>
                <a:spcPct val="0"/>
              </a:spcBef>
              <a:buNone/>
              <a:defRPr sz="6800" b="1"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a:lnSpc>
                <a:spcPct val="100000"/>
              </a:lnSpc>
            </a:pPr>
            <a:r>
              <a:rPr lang="en-GB" sz="6800"/>
              <a:t>Thank You.</a:t>
            </a:r>
            <a:endParaRPr lang="en-US" sz="6800"/>
          </a:p>
        </p:txBody>
      </p:sp>
      <p:sp>
        <p:nvSpPr>
          <p:cNvPr id="18" name="TextBox 17">
            <a:extLst>
              <a:ext uri="{FF2B5EF4-FFF2-40B4-BE49-F238E27FC236}">
                <a16:creationId xmlns:a16="http://schemas.microsoft.com/office/drawing/2014/main" id="{0FAC5960-9DFE-4FCE-9F3E-7E71D5335D59}"/>
              </a:ext>
            </a:extLst>
          </p:cNvPr>
          <p:cNvSpPr txBox="1"/>
          <p:nvPr/>
        </p:nvSpPr>
        <p:spPr>
          <a:xfrm>
            <a:off x="729719" y="5382480"/>
            <a:ext cx="4360331" cy="830997"/>
          </a:xfrm>
          <a:prstGeom prst="rect">
            <a:avLst/>
          </a:prstGeom>
          <a:noFill/>
        </p:spPr>
        <p:txBody>
          <a:bodyPr wrap="square" rtlCol="0">
            <a:spAutoFit/>
          </a:bodyPr>
          <a:lstStyle/>
          <a:p>
            <a:r>
              <a:rPr lang="en-US" sz="1200">
                <a:solidFill>
                  <a:schemeClr val="tx2"/>
                </a:solidFill>
                <a:latin typeface="Open Sans" panose="020B0606030504020204" pitchFamily="34" charset="0"/>
                <a:ea typeface="Open Sans" panose="020B0606030504020204" pitchFamily="34" charset="0"/>
                <a:cs typeface="Open Sans" panose="020B0606030504020204" pitchFamily="34" charset="0"/>
              </a:rPr>
              <a:t>Claude Code Certified Architect (CCA) · a hands-on CellStrat intensive. Build, break, secure, test and ship.</a:t>
            </a:r>
          </a:p>
        </p:txBody>
      </p:sp>
      <p:sp>
        <p:nvSpPr>
          <p:cNvPr id="19" name="TextBox 18">
            <a:extLst>
              <a:ext uri="{FF2B5EF4-FFF2-40B4-BE49-F238E27FC236}">
                <a16:creationId xmlns:a16="http://schemas.microsoft.com/office/drawing/2014/main" id="{436E1585-D766-4B04-A7D7-9B27FF597730}"/>
              </a:ext>
            </a:extLst>
          </p:cNvPr>
          <p:cNvSpPr txBox="1"/>
          <p:nvPr/>
        </p:nvSpPr>
        <p:spPr>
          <a:xfrm>
            <a:off x="10352445" y="6029238"/>
            <a:ext cx="1199859" cy="276999"/>
          </a:xfrm>
          <a:prstGeom prst="rect">
            <a:avLst/>
          </a:prstGeom>
          <a:noFill/>
        </p:spPr>
        <p:txBody>
          <a:bodyPr wrap="square" rtlCol="0">
            <a:spAutoFit/>
          </a:bodyPr>
          <a:lstStyle/>
          <a:p>
            <a:r>
              <a:rPr lang="en-US" sz="1200" err="1">
                <a:solidFill>
                  <a:srgbClr val="6B6B6B"/>
                </a:solidFill>
                <a:latin typeface="Open Sans" panose="020B0606030504020204" pitchFamily="34" charset="0"/>
                <a:ea typeface="Open Sans" panose="020B0606030504020204" pitchFamily="34" charset="0"/>
                <a:cs typeface="Open Sans" panose="020B0606030504020204" pitchFamily="34" charset="0"/>
              </a:rPr>
              <a:t>CellStrat</a:t>
            </a:r>
            <a:endParaRPr lang="en-US" sz="1200">
              <a:solidFill>
                <a:srgbClr val="6B6B6B"/>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Freeform 6">
            <a:extLst>
              <a:ext uri="{FF2B5EF4-FFF2-40B4-BE49-F238E27FC236}">
                <a16:creationId xmlns:a16="http://schemas.microsoft.com/office/drawing/2014/main" id="{B6C1155E-5832-4871-A7A9-F568C266B18F}"/>
              </a:ext>
            </a:extLst>
          </p:cNvPr>
          <p:cNvSpPr>
            <a:spLocks noEditPoints="1"/>
          </p:cNvSpPr>
          <p:nvPr/>
        </p:nvSpPr>
        <p:spPr bwMode="auto">
          <a:xfrm>
            <a:off x="9002237" y="5942607"/>
            <a:ext cx="309639" cy="335495"/>
          </a:xfrm>
          <a:custGeom>
            <a:avLst/>
            <a:gdLst>
              <a:gd name="T0" fmla="*/ 6321 w 8634"/>
              <a:gd name="T1" fmla="*/ 3305 h 9592"/>
              <a:gd name="T2" fmla="*/ 6622 w 8634"/>
              <a:gd name="T3" fmla="*/ 3222 h 9592"/>
              <a:gd name="T4" fmla="*/ 6304 w 8634"/>
              <a:gd name="T5" fmla="*/ 3665 h 9592"/>
              <a:gd name="T6" fmla="*/ 5563 w 8634"/>
              <a:gd name="T7" fmla="*/ 5255 h 9592"/>
              <a:gd name="T8" fmla="*/ 4494 w 8634"/>
              <a:gd name="T9" fmla="*/ 5709 h 9592"/>
              <a:gd name="T10" fmla="*/ 3218 w 8634"/>
              <a:gd name="T11" fmla="*/ 5420 h 9592"/>
              <a:gd name="T12" fmla="*/ 3739 w 8634"/>
              <a:gd name="T13" fmla="*/ 5338 h 9592"/>
              <a:gd name="T14" fmla="*/ 4172 w 8634"/>
              <a:gd name="T15" fmla="*/ 5136 h 9592"/>
              <a:gd name="T16" fmla="*/ 3575 w 8634"/>
              <a:gd name="T17" fmla="*/ 4644 h 9592"/>
              <a:gd name="T18" fmla="*/ 3600 w 8634"/>
              <a:gd name="T19" fmla="*/ 4634 h 9592"/>
              <a:gd name="T20" fmla="*/ 3818 w 8634"/>
              <a:gd name="T21" fmla="*/ 4598 h 9592"/>
              <a:gd name="T22" fmla="*/ 3295 w 8634"/>
              <a:gd name="T23" fmla="*/ 3892 h 9592"/>
              <a:gd name="T24" fmla="*/ 3558 w 8634"/>
              <a:gd name="T25" fmla="*/ 3942 h 9592"/>
              <a:gd name="T26" fmla="*/ 3412 w 8634"/>
              <a:gd name="T27" fmla="*/ 3003 h 9592"/>
              <a:gd name="T28" fmla="*/ 3991 w 8634"/>
              <a:gd name="T29" fmla="*/ 3486 h 9592"/>
              <a:gd name="T30" fmla="*/ 4863 w 8634"/>
              <a:gd name="T31" fmla="*/ 3748 h 9592"/>
              <a:gd name="T32" fmla="*/ 6009 w 8634"/>
              <a:gd name="T33" fmla="*/ 3024 h 9592"/>
              <a:gd name="T34" fmla="*/ 6538 w 8634"/>
              <a:gd name="T35" fmla="*/ 2936 h 9592"/>
              <a:gd name="T36" fmla="*/ 6321 w 8634"/>
              <a:gd name="T37" fmla="*/ 3305 h 9592"/>
              <a:gd name="T38" fmla="*/ 8393 w 8634"/>
              <a:gd name="T39" fmla="*/ 4538 h 9592"/>
              <a:gd name="T40" fmla="*/ 3555 w 8634"/>
              <a:gd name="T41" fmla="*/ 990 h 9592"/>
              <a:gd name="T42" fmla="*/ 1699 w 8634"/>
              <a:gd name="T43" fmla="*/ 2664 h 9592"/>
              <a:gd name="T44" fmla="*/ 7236 w 8634"/>
              <a:gd name="T45" fmla="*/ 6930 h 9592"/>
              <a:gd name="T46" fmla="*/ 8393 w 8634"/>
              <a:gd name="T47" fmla="*/ 4538 h 9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634" h="9592">
                <a:moveTo>
                  <a:pt x="6321" y="3305"/>
                </a:moveTo>
                <a:lnTo>
                  <a:pt x="6622" y="3222"/>
                </a:lnTo>
                <a:cubicBezTo>
                  <a:pt x="6520" y="3400"/>
                  <a:pt x="6336" y="3508"/>
                  <a:pt x="6304" y="3665"/>
                </a:cubicBezTo>
                <a:cubicBezTo>
                  <a:pt x="6198" y="4171"/>
                  <a:pt x="6196" y="4748"/>
                  <a:pt x="5563" y="5255"/>
                </a:cubicBezTo>
                <a:cubicBezTo>
                  <a:pt x="5297" y="5468"/>
                  <a:pt x="4960" y="5664"/>
                  <a:pt x="4494" y="5709"/>
                </a:cubicBezTo>
                <a:cubicBezTo>
                  <a:pt x="4093" y="5749"/>
                  <a:pt x="3440" y="5639"/>
                  <a:pt x="3218" y="5420"/>
                </a:cubicBezTo>
                <a:cubicBezTo>
                  <a:pt x="3350" y="5361"/>
                  <a:pt x="3576" y="5384"/>
                  <a:pt x="3739" y="5338"/>
                </a:cubicBezTo>
                <a:cubicBezTo>
                  <a:pt x="3916" y="5289"/>
                  <a:pt x="4054" y="5210"/>
                  <a:pt x="4172" y="5136"/>
                </a:cubicBezTo>
                <a:cubicBezTo>
                  <a:pt x="4013" y="5025"/>
                  <a:pt x="3707" y="5000"/>
                  <a:pt x="3575" y="4644"/>
                </a:cubicBezTo>
                <a:cubicBezTo>
                  <a:pt x="3583" y="4639"/>
                  <a:pt x="3596" y="4626"/>
                  <a:pt x="3600" y="4634"/>
                </a:cubicBezTo>
                <a:lnTo>
                  <a:pt x="3818" y="4598"/>
                </a:lnTo>
                <a:cubicBezTo>
                  <a:pt x="3508" y="4393"/>
                  <a:pt x="3360" y="4352"/>
                  <a:pt x="3295" y="3892"/>
                </a:cubicBezTo>
                <a:lnTo>
                  <a:pt x="3558" y="3942"/>
                </a:lnTo>
                <a:cubicBezTo>
                  <a:pt x="3373" y="3718"/>
                  <a:pt x="3184" y="3367"/>
                  <a:pt x="3412" y="3003"/>
                </a:cubicBezTo>
                <a:cubicBezTo>
                  <a:pt x="3614" y="3174"/>
                  <a:pt x="3609" y="3272"/>
                  <a:pt x="3991" y="3486"/>
                </a:cubicBezTo>
                <a:cubicBezTo>
                  <a:pt x="4253" y="3632"/>
                  <a:pt x="4505" y="3715"/>
                  <a:pt x="4863" y="3748"/>
                </a:cubicBezTo>
                <a:cubicBezTo>
                  <a:pt x="4837" y="3016"/>
                  <a:pt x="5390" y="2650"/>
                  <a:pt x="6009" y="3024"/>
                </a:cubicBezTo>
                <a:cubicBezTo>
                  <a:pt x="6201" y="3141"/>
                  <a:pt x="6311" y="3009"/>
                  <a:pt x="6538" y="2936"/>
                </a:cubicBezTo>
                <a:cubicBezTo>
                  <a:pt x="6481" y="3106"/>
                  <a:pt x="6394" y="3160"/>
                  <a:pt x="6321" y="3305"/>
                </a:cubicBezTo>
                <a:close/>
                <a:moveTo>
                  <a:pt x="8393" y="4538"/>
                </a:moveTo>
                <a:cubicBezTo>
                  <a:pt x="8634" y="2125"/>
                  <a:pt x="6090" y="0"/>
                  <a:pt x="3555" y="990"/>
                </a:cubicBezTo>
                <a:cubicBezTo>
                  <a:pt x="2733" y="1311"/>
                  <a:pt x="2094" y="1889"/>
                  <a:pt x="1699" y="2664"/>
                </a:cubicBezTo>
                <a:cubicBezTo>
                  <a:pt x="0" y="5997"/>
                  <a:pt x="3979" y="9592"/>
                  <a:pt x="7236" y="6930"/>
                </a:cubicBezTo>
                <a:cubicBezTo>
                  <a:pt x="7915" y="6376"/>
                  <a:pt x="8302" y="5446"/>
                  <a:pt x="8393" y="4538"/>
                </a:cubicBez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Freeform 11">
            <a:extLst>
              <a:ext uri="{FF2B5EF4-FFF2-40B4-BE49-F238E27FC236}">
                <a16:creationId xmlns:a16="http://schemas.microsoft.com/office/drawing/2014/main" id="{123AD49C-4EAA-4A9F-8D0C-E2B97FC4CB79}"/>
              </a:ext>
            </a:extLst>
          </p:cNvPr>
          <p:cNvSpPr>
            <a:spLocks noEditPoints="1"/>
          </p:cNvSpPr>
          <p:nvPr/>
        </p:nvSpPr>
        <p:spPr bwMode="auto">
          <a:xfrm>
            <a:off x="9388149" y="5963631"/>
            <a:ext cx="269183" cy="263699"/>
          </a:xfrm>
          <a:custGeom>
            <a:avLst/>
            <a:gdLst>
              <a:gd name="T0" fmla="*/ 1829 w 7029"/>
              <a:gd name="T1" fmla="*/ 2378 h 7017"/>
              <a:gd name="T2" fmla="*/ 2499 w 7029"/>
              <a:gd name="T3" fmla="*/ 2376 h 7017"/>
              <a:gd name="T4" fmla="*/ 2495 w 7029"/>
              <a:gd name="T5" fmla="*/ 4751 h 7017"/>
              <a:gd name="T6" fmla="*/ 1829 w 7029"/>
              <a:gd name="T7" fmla="*/ 4741 h 7017"/>
              <a:gd name="T8" fmla="*/ 1829 w 7029"/>
              <a:gd name="T9" fmla="*/ 2378 h 7017"/>
              <a:gd name="T10" fmla="*/ 3807 w 7029"/>
              <a:gd name="T11" fmla="*/ 2623 h 7017"/>
              <a:gd name="T12" fmla="*/ 5220 w 7029"/>
              <a:gd name="T13" fmla="*/ 2756 h 7017"/>
              <a:gd name="T14" fmla="*/ 5359 w 7029"/>
              <a:gd name="T15" fmla="*/ 4751 h 7017"/>
              <a:gd name="T16" fmla="*/ 4688 w 7029"/>
              <a:gd name="T17" fmla="*/ 4739 h 7017"/>
              <a:gd name="T18" fmla="*/ 4688 w 7029"/>
              <a:gd name="T19" fmla="*/ 3585 h 7017"/>
              <a:gd name="T20" fmla="*/ 4216 w 7029"/>
              <a:gd name="T21" fmla="*/ 2871 h 7017"/>
              <a:gd name="T22" fmla="*/ 3788 w 7029"/>
              <a:gd name="T23" fmla="*/ 3621 h 7017"/>
              <a:gd name="T24" fmla="*/ 3788 w 7029"/>
              <a:gd name="T25" fmla="*/ 4750 h 7017"/>
              <a:gd name="T26" fmla="*/ 3119 w 7029"/>
              <a:gd name="T27" fmla="*/ 4746 h 7017"/>
              <a:gd name="T28" fmla="*/ 3123 w 7029"/>
              <a:gd name="T29" fmla="*/ 2377 h 7017"/>
              <a:gd name="T30" fmla="*/ 3807 w 7029"/>
              <a:gd name="T31" fmla="*/ 2623 h 7017"/>
              <a:gd name="T32" fmla="*/ 2078 w 7029"/>
              <a:gd name="T33" fmla="*/ 1430 h 7017"/>
              <a:gd name="T34" fmla="*/ 2300 w 7029"/>
              <a:gd name="T35" fmla="*/ 2167 h 7017"/>
              <a:gd name="T36" fmla="*/ 2078 w 7029"/>
              <a:gd name="T37" fmla="*/ 1430 h 7017"/>
              <a:gd name="T38" fmla="*/ 3018 w 7029"/>
              <a:gd name="T39" fmla="*/ 294 h 7017"/>
              <a:gd name="T40" fmla="*/ 288 w 7029"/>
              <a:gd name="T41" fmla="*/ 3992 h 7017"/>
              <a:gd name="T42" fmla="*/ 4023 w 7029"/>
              <a:gd name="T43" fmla="*/ 6708 h 7017"/>
              <a:gd name="T44" fmla="*/ 6733 w 7029"/>
              <a:gd name="T45" fmla="*/ 3005 h 7017"/>
              <a:gd name="T46" fmla="*/ 3018 w 7029"/>
              <a:gd name="T47" fmla="*/ 294 h 7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29" h="7017">
                <a:moveTo>
                  <a:pt x="1829" y="2378"/>
                </a:moveTo>
                <a:lnTo>
                  <a:pt x="2499" y="2376"/>
                </a:lnTo>
                <a:lnTo>
                  <a:pt x="2495" y="4751"/>
                </a:lnTo>
                <a:lnTo>
                  <a:pt x="1829" y="4741"/>
                </a:lnTo>
                <a:lnTo>
                  <a:pt x="1829" y="2378"/>
                </a:lnTo>
                <a:close/>
                <a:moveTo>
                  <a:pt x="3807" y="2623"/>
                </a:moveTo>
                <a:cubicBezTo>
                  <a:pt x="4148" y="2196"/>
                  <a:pt x="4940" y="2286"/>
                  <a:pt x="5220" y="2756"/>
                </a:cubicBezTo>
                <a:cubicBezTo>
                  <a:pt x="5446" y="3134"/>
                  <a:pt x="5370" y="4239"/>
                  <a:pt x="5359" y="4751"/>
                </a:cubicBezTo>
                <a:lnTo>
                  <a:pt x="4688" y="4739"/>
                </a:lnTo>
                <a:cubicBezTo>
                  <a:pt x="4691" y="4355"/>
                  <a:pt x="4688" y="3970"/>
                  <a:pt x="4688" y="3585"/>
                </a:cubicBezTo>
                <a:cubicBezTo>
                  <a:pt x="4688" y="3207"/>
                  <a:pt x="4670" y="2818"/>
                  <a:pt x="4216" y="2871"/>
                </a:cubicBezTo>
                <a:cubicBezTo>
                  <a:pt x="3845" y="2913"/>
                  <a:pt x="3786" y="3247"/>
                  <a:pt x="3788" y="3621"/>
                </a:cubicBezTo>
                <a:cubicBezTo>
                  <a:pt x="3790" y="3997"/>
                  <a:pt x="3788" y="4374"/>
                  <a:pt x="3788" y="4750"/>
                </a:cubicBezTo>
                <a:lnTo>
                  <a:pt x="3119" y="4746"/>
                </a:lnTo>
                <a:lnTo>
                  <a:pt x="3123" y="2377"/>
                </a:lnTo>
                <a:cubicBezTo>
                  <a:pt x="3927" y="2374"/>
                  <a:pt x="3741" y="2318"/>
                  <a:pt x="3807" y="2623"/>
                </a:cubicBezTo>
                <a:close/>
                <a:moveTo>
                  <a:pt x="2078" y="1430"/>
                </a:moveTo>
                <a:cubicBezTo>
                  <a:pt x="2577" y="1304"/>
                  <a:pt x="2732" y="2029"/>
                  <a:pt x="2300" y="2167"/>
                </a:cubicBezTo>
                <a:cubicBezTo>
                  <a:pt x="1779" y="2333"/>
                  <a:pt x="1529" y="1568"/>
                  <a:pt x="2078" y="1430"/>
                </a:cubicBezTo>
                <a:close/>
                <a:moveTo>
                  <a:pt x="3018" y="294"/>
                </a:moveTo>
                <a:cubicBezTo>
                  <a:pt x="1398" y="540"/>
                  <a:pt x="0" y="2030"/>
                  <a:pt x="288" y="3992"/>
                </a:cubicBezTo>
                <a:cubicBezTo>
                  <a:pt x="525" y="5610"/>
                  <a:pt x="2082" y="7017"/>
                  <a:pt x="4023" y="6708"/>
                </a:cubicBezTo>
                <a:cubicBezTo>
                  <a:pt x="5629" y="6453"/>
                  <a:pt x="7029" y="4935"/>
                  <a:pt x="6733" y="3005"/>
                </a:cubicBezTo>
                <a:cubicBezTo>
                  <a:pt x="6484" y="1382"/>
                  <a:pt x="4950" y="0"/>
                  <a:pt x="3018" y="294"/>
                </a:cubicBezTo>
                <a:close/>
              </a:path>
            </a:pathLst>
          </a:cu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Picture 35">
            <a:extLst>
              <a:ext uri="{FF2B5EF4-FFF2-40B4-BE49-F238E27FC236}">
                <a16:creationId xmlns:a16="http://schemas.microsoft.com/office/drawing/2014/main" id="{B982B858-E814-42A5-B633-8AC8151FA0C2}"/>
              </a:ext>
            </a:extLst>
          </p:cNvPr>
          <p:cNvPicPr>
            <a:picLocks noChangeAspect="1"/>
          </p:cNvPicPr>
          <p:nvPr/>
        </p:nvPicPr>
        <p:blipFill>
          <a:blip r:embed="rId5"/>
          <a:srcRect/>
          <a:stretch/>
        </p:blipFill>
        <p:spPr>
          <a:xfrm>
            <a:off x="762935" y="4795113"/>
            <a:ext cx="1804362" cy="462596"/>
          </a:xfrm>
          <a:prstGeom prst="rect">
            <a:avLst/>
          </a:prstGeom>
        </p:spPr>
      </p:pic>
      <p:pic>
        <p:nvPicPr>
          <p:cNvPr id="37" name="Picture 36" descr="Logo&#10;&#10;Description automatically generated">
            <a:extLst>
              <a:ext uri="{FF2B5EF4-FFF2-40B4-BE49-F238E27FC236}">
                <a16:creationId xmlns:a16="http://schemas.microsoft.com/office/drawing/2014/main" id="{F94D8FD5-CAB5-47A9-976D-DFB774A6BE63}"/>
              </a:ext>
            </a:extLst>
          </p:cNvPr>
          <p:cNvPicPr>
            <a:picLocks noChangeAspect="1"/>
          </p:cNvPicPr>
          <p:nvPr/>
        </p:nvPicPr>
        <p:blipFill>
          <a:blip r:embed="rId6"/>
          <a:stretch>
            <a:fillRect/>
          </a:stretch>
        </p:blipFill>
        <p:spPr>
          <a:xfrm>
            <a:off x="10041801" y="5975875"/>
            <a:ext cx="237631" cy="237600"/>
          </a:xfrm>
          <a:prstGeom prst="rect">
            <a:avLst/>
          </a:prstGeom>
        </p:spPr>
      </p:pic>
      <p:pic>
        <p:nvPicPr>
          <p:cNvPr id="38" name="Picture 37" descr="Icon&#10;&#10;Description automatically generated">
            <a:extLst>
              <a:ext uri="{FF2B5EF4-FFF2-40B4-BE49-F238E27FC236}">
                <a16:creationId xmlns:a16="http://schemas.microsoft.com/office/drawing/2014/main" id="{C546B0A2-978B-4322-9B77-B8BAE7EEE896}"/>
              </a:ext>
            </a:extLst>
          </p:cNvPr>
          <p:cNvPicPr>
            <a:picLocks noChangeAspect="1"/>
          </p:cNvPicPr>
          <p:nvPr/>
        </p:nvPicPr>
        <p:blipFill>
          <a:blip r:embed="rId7"/>
          <a:stretch>
            <a:fillRect/>
          </a:stretch>
        </p:blipFill>
        <p:spPr>
          <a:xfrm>
            <a:off x="9727898" y="5975875"/>
            <a:ext cx="237631" cy="237600"/>
          </a:xfrm>
          <a:prstGeom prst="rect">
            <a:avLst/>
          </a:prstGeom>
        </p:spPr>
      </p:pic>
    </p:spTree>
    <p:extLst>
      <p:ext uri="{BB962C8B-B14F-4D97-AF65-F5344CB8AC3E}">
        <p14:creationId xmlns:p14="http://schemas.microsoft.com/office/powerpoint/2010/main" val="40228565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8562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slideLayout" Target="../slideLayouts/slideLayout25.xml"/><Relationship Id="rId13" Type="http://schemas.openxmlformats.org/officeDocument/2006/relationships/slideLayout" Target="../slideLayouts/slideLayout26.xml"/><Relationship Id="rId14" Type="http://schemas.openxmlformats.org/officeDocument/2006/relationships/slideLayout" Target="../slideLayouts/slideLayout27.xml"/><Relationship Id="rId15" Type="http://schemas.openxmlformats.org/officeDocument/2006/relationships/slideLayout" Target="../slideLayouts/slideLayout28.xml"/><Relationship Id="rId16" Type="http://schemas.openxmlformats.org/officeDocument/2006/relationships/slideLayout" Target="../slideLayouts/slideLayout29.xml"/><Relationship Id="rId17" Type="http://schemas.openxmlformats.org/officeDocument/2006/relationships/slideLayout" Target="../slideLayouts/slideLayout30.xml"/><Relationship Id="rId18" Type="http://schemas.openxmlformats.org/officeDocument/2006/relationships/slideLayout" Target="../slideLayouts/slideLayout31.xml"/><Relationship Id="rId19" Type="http://schemas.openxmlformats.org/officeDocument/2006/relationships/slideLayout" Target="../slideLayouts/slideLayout32.xml"/><Relationship Id="rId20" Type="http://schemas.openxmlformats.org/officeDocument/2006/relationships/slideLayout" Target="../slideLayouts/slideLayout33.xml"/><Relationship Id="rId21" Type="http://schemas.openxmlformats.org/officeDocument/2006/relationships/slideLayout" Target="../slideLayouts/slideLayout34.xml"/><Relationship Id="rId22" Type="http://schemas.openxmlformats.org/officeDocument/2006/relationships/slideLayout" Target="../slideLayouts/slideLayout35.xml"/><Relationship Id="rId23" Type="http://schemas.openxmlformats.org/officeDocument/2006/relationships/slideLayout" Target="../slideLayouts/slideLayout36.xml"/><Relationship Id="rId24" Type="http://schemas.openxmlformats.org/officeDocument/2006/relationships/slideLayout" Target="../slideLayouts/slideLayout37.xml"/><Relationship Id="rId25" Type="http://schemas.openxmlformats.org/officeDocument/2006/relationships/slideLayout" Target="../slideLayouts/slideLayout38.xml"/><Relationship Id="rId26" Type="http://schemas.openxmlformats.org/officeDocument/2006/relationships/slideLayout" Target="../slideLayouts/slideLayout39.xml"/><Relationship Id="rId27" Type="http://schemas.openxmlformats.org/officeDocument/2006/relationships/slideLayout" Target="../slideLayouts/slideLayout40.xml"/><Relationship Id="rId28" Type="http://schemas.openxmlformats.org/officeDocument/2006/relationships/slideLayout" Target="../slideLayouts/slideLayout41.xml"/><Relationship Id="rId29" Type="http://schemas.openxmlformats.org/officeDocument/2006/relationships/slideLayout" Target="../slideLayouts/slideLayout42.xml"/><Relationship Id="rId30" Type="http://schemas.openxmlformats.org/officeDocument/2006/relationships/slideLayout" Target="../slideLayouts/slideLayout43.xml"/><Relationship Id="rId31" Type="http://schemas.openxmlformats.org/officeDocument/2006/relationships/slideLayout" Target="../slideLayouts/slideLayout44.xml"/><Relationship Id="rId32" Type="http://schemas.openxmlformats.org/officeDocument/2006/relationships/slideLayout" Target="../slideLayouts/slideLayout45.xml"/><Relationship Id="rId33" Type="http://schemas.openxmlformats.org/officeDocument/2006/relationships/slideLayout" Target="../slideLayouts/slideLayout46.xml"/><Relationship Id="rId34" Type="http://schemas.openxmlformats.org/officeDocument/2006/relationships/slideLayout" Target="../slideLayouts/slideLayout47.xml"/><Relationship Id="rId35" Type="http://schemas.openxmlformats.org/officeDocument/2006/relationships/slideLayout" Target="../slideLayouts/slideLayout48.xml"/><Relationship Id="rId36" Type="http://schemas.openxmlformats.org/officeDocument/2006/relationships/slideLayout" Target="../slideLayouts/slideLayout49.xml"/><Relationship Id="rId37" Type="http://schemas.openxmlformats.org/officeDocument/2006/relationships/slideLayout" Target="../slideLayouts/slideLayout50.xml"/><Relationship Id="rId38" Type="http://schemas.openxmlformats.org/officeDocument/2006/relationships/slideLayout" Target="../slideLayouts/slideLayout51.xml"/><Relationship Id="rId39" Type="http://schemas.openxmlformats.org/officeDocument/2006/relationships/slideLayout" Target="../slideLayouts/slideLayout52.xml"/><Relationship Id="rId40" Type="http://schemas.openxmlformats.org/officeDocument/2006/relationships/slideLayout" Target="../slideLayouts/slideLayout53.xml"/><Relationship Id="rId41" Type="http://schemas.openxmlformats.org/officeDocument/2006/relationships/slideLayout" Target="../slideLayouts/slideLayout54.xml"/><Relationship Id="rId42" Type="http://schemas.openxmlformats.org/officeDocument/2006/relationships/slideLayout" Target="../slideLayouts/slideLayout55.xml"/><Relationship Id="rId43" Type="http://schemas.openxmlformats.org/officeDocument/2006/relationships/slideLayout" Target="../slideLayouts/slideLayout56.xml"/><Relationship Id="rId44" Type="http://schemas.openxmlformats.org/officeDocument/2006/relationships/slideLayout" Target="../slideLayouts/slideLayout57.xml"/><Relationship Id="rId45" Type="http://schemas.openxmlformats.org/officeDocument/2006/relationships/slideLayout" Target="../slideLayouts/slideLayout58.xml"/><Relationship Id="rId46" Type="http://schemas.openxmlformats.org/officeDocument/2006/relationships/theme" Target="../theme/theme2.xml"/><Relationship Id="rId47" Type="http://schemas.openxmlformats.org/officeDocument/2006/relationships/image" Target="../media/image2_cellstrat.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425A41-B384-BE45-5EBF-53DA1A99508D}"/>
              </a:ext>
            </a:extLst>
          </p:cNvPr>
          <p:cNvSpPr>
            <a:spLocks noGrp="1"/>
          </p:cNvSpPr>
          <p:nvPr>
            <p:ph type="title"/>
          </p:nvPr>
        </p:nvSpPr>
        <p:spPr>
          <a:xfrm>
            <a:off x="838309" y="366185"/>
            <a:ext cx="10516970" cy="132503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F21F026-B779-C806-82F3-BBAB3840240D}"/>
              </a:ext>
            </a:extLst>
          </p:cNvPr>
          <p:cNvSpPr>
            <a:spLocks noGrp="1"/>
          </p:cNvSpPr>
          <p:nvPr>
            <p:ph type="body" idx="1"/>
          </p:nvPr>
        </p:nvSpPr>
        <p:spPr>
          <a:xfrm>
            <a:off x="838309" y="1826684"/>
            <a:ext cx="10516970" cy="434974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524E19C-E8E1-EF78-86F6-DE4E0B7BF8FD}"/>
              </a:ext>
            </a:extLst>
          </p:cNvPr>
          <p:cNvSpPr>
            <a:spLocks noGrp="1"/>
          </p:cNvSpPr>
          <p:nvPr>
            <p:ph type="dt" sz="half" idx="2"/>
          </p:nvPr>
        </p:nvSpPr>
        <p:spPr>
          <a:xfrm>
            <a:off x="838309" y="6356351"/>
            <a:ext cx="2743557" cy="366183"/>
          </a:xfrm>
          <a:prstGeom prst="rect">
            <a:avLst/>
          </a:prstGeom>
        </p:spPr>
        <p:txBody>
          <a:bodyPr vert="horz" lIns="91440" tIns="45720" rIns="91440" bIns="45720" rtlCol="0" anchor="ctr"/>
          <a:lstStyle>
            <a:lvl1pPr algn="l">
              <a:defRPr sz="1600">
                <a:solidFill>
                  <a:schemeClr val="tx1">
                    <a:tint val="82000"/>
                  </a:schemeClr>
                </a:solidFill>
              </a:defRPr>
            </a:lvl1pPr>
          </a:lstStyle>
          <a:p>
            <a:fld id="{F9086368-8FEA-964C-B544-28F45DD28C13}" type="datetimeFigureOut">
              <a:rPr lang="en-US" smtClean="0"/>
              <a:t>6/26/26</a:t>
            </a:fld>
            <a:endParaRPr lang="en-US"/>
          </a:p>
        </p:txBody>
      </p:sp>
      <p:sp>
        <p:nvSpPr>
          <p:cNvPr id="5" name="Footer Placeholder 4">
            <a:extLst>
              <a:ext uri="{FF2B5EF4-FFF2-40B4-BE49-F238E27FC236}">
                <a16:creationId xmlns:a16="http://schemas.microsoft.com/office/drawing/2014/main" id="{2CE320D5-DDC3-8F80-3EF9-0BBEB3F95AB0}"/>
              </a:ext>
            </a:extLst>
          </p:cNvPr>
          <p:cNvSpPr>
            <a:spLocks noGrp="1"/>
          </p:cNvSpPr>
          <p:nvPr>
            <p:ph type="ftr" sz="quarter" idx="3"/>
          </p:nvPr>
        </p:nvSpPr>
        <p:spPr>
          <a:xfrm>
            <a:off x="4039126" y="6356351"/>
            <a:ext cx="4115336" cy="366183"/>
          </a:xfrm>
          <a:prstGeom prst="rect">
            <a:avLst/>
          </a:prstGeom>
        </p:spPr>
        <p:txBody>
          <a:bodyPr vert="horz" lIns="91440" tIns="45720" rIns="91440" bIns="45720" rtlCol="0" anchor="ctr"/>
          <a:lstStyle>
            <a:lvl1pPr algn="ctr">
              <a:defRPr sz="16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262585-3DDE-BEFE-A6A1-A69A330BBF20}"/>
              </a:ext>
            </a:extLst>
          </p:cNvPr>
          <p:cNvSpPr>
            <a:spLocks noGrp="1"/>
          </p:cNvSpPr>
          <p:nvPr>
            <p:ph type="sldNum" sz="quarter" idx="4"/>
          </p:nvPr>
        </p:nvSpPr>
        <p:spPr>
          <a:xfrm>
            <a:off x="8611722" y="6356351"/>
            <a:ext cx="2743557" cy="366183"/>
          </a:xfrm>
          <a:prstGeom prst="rect">
            <a:avLst/>
          </a:prstGeom>
        </p:spPr>
        <p:txBody>
          <a:bodyPr vert="horz" lIns="91440" tIns="45720" rIns="91440" bIns="45720" rtlCol="0" anchor="ctr"/>
          <a:lstStyle>
            <a:lvl1pPr algn="r">
              <a:defRPr sz="1600">
                <a:solidFill>
                  <a:schemeClr val="tx1">
                    <a:tint val="82000"/>
                  </a:schemeClr>
                </a:solidFill>
              </a:defRPr>
            </a:lvl1pPr>
          </a:lstStyle>
          <a:p>
            <a:fld id="{722B8769-7D86-D14A-8278-DEF63398E0A9}" type="slidenum">
              <a:rPr lang="en-US" smtClean="0"/>
              <a:t>‹#›</a:t>
            </a:fld>
            <a:endParaRPr lang="en-US"/>
          </a:p>
        </p:txBody>
      </p:sp>
    </p:spTree>
    <p:extLst>
      <p:ext uri="{BB962C8B-B14F-4D97-AF65-F5344CB8AC3E}">
        <p14:creationId xmlns:p14="http://schemas.microsoft.com/office/powerpoint/2010/main" val="172585487"/>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710" r:id="rId12"/>
    <p:sldLayoutId id="2147483711" r:id="rId13"/>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40CAB4F-5315-40D1-8058-A8F38B46EFA8}"/>
              </a:ext>
            </a:extLst>
          </p:cNvPr>
          <p:cNvSpPr txBox="1">
            <a:spLocks/>
          </p:cNvSpPr>
          <p:nvPr/>
        </p:nvSpPr>
        <p:spPr>
          <a:xfrm>
            <a:off x="5872499" y="6523250"/>
            <a:ext cx="448593" cy="218655"/>
          </a:xfrm>
          <a:prstGeom prst="rect">
            <a:avLst/>
          </a:prstGeom>
        </p:spPr>
        <p:txBody>
          <a:bodyPr/>
          <a:lstStyle>
            <a:defPPr>
              <a:defRPr lang="en-US"/>
            </a:defPPr>
            <a:lvl1pPr algn="ct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fld id="{8CDB8CBA-EB11-894E-8631-17E36B7DB51E}" type="slidenum">
              <a:rPr lang="en-US" sz="800" smtClean="0"/>
              <a:pPr/>
              <a:t>‹#›</a:t>
            </a:fld>
            <a:endParaRPr lang="en-US" sz="800"/>
          </a:p>
        </p:txBody>
      </p:sp>
      <p:sp>
        <p:nvSpPr>
          <p:cNvPr id="5" name="Title 1">
            <a:extLst>
              <a:ext uri="{FF2B5EF4-FFF2-40B4-BE49-F238E27FC236}">
                <a16:creationId xmlns:a16="http://schemas.microsoft.com/office/drawing/2014/main" id="{F24B51A2-DD97-4295-83B2-4725824AC004}"/>
              </a:ext>
            </a:extLst>
          </p:cNvPr>
          <p:cNvSpPr txBox="1">
            <a:spLocks/>
          </p:cNvSpPr>
          <p:nvPr/>
        </p:nvSpPr>
        <p:spPr>
          <a:xfrm>
            <a:off x="652549" y="6523250"/>
            <a:ext cx="3200816" cy="218655"/>
          </a:xfrm>
          <a:prstGeom prst="rect">
            <a:avLst/>
          </a:prstGeom>
        </p:spPr>
        <p:txBody>
          <a:bodyPr/>
          <a:lstStyle>
            <a:defPPr>
              <a:defRPr lang="en-US"/>
            </a:defPPr>
            <a:lvl1pPr>
              <a:defRPr sz="800">
                <a:solidFill>
                  <a:srgbClr val="6B6B6B"/>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sz="800" dirty="0"/>
              <a:t>© 2026 CellStrat. All rights reserved | CCA Intensive</a:t>
            </a:r>
          </a:p>
        </p:txBody>
      </p:sp>
      <p:pic>
        <p:nvPicPr>
          <p:cNvPr id="6" name="Picture 5">
            <a:extLst>
              <a:ext uri="{FF2B5EF4-FFF2-40B4-BE49-F238E27FC236}">
                <a16:creationId xmlns:a16="http://schemas.microsoft.com/office/drawing/2014/main" id="{34A67515-0D27-4632-837D-002EE0CF30EF}"/>
              </a:ext>
            </a:extLst>
          </p:cNvPr>
          <p:cNvPicPr>
            <a:picLocks noChangeAspect="1"/>
          </p:cNvPicPr>
          <p:nvPr/>
        </p:nvPicPr>
        <p:blipFill rotWithShape="1">
          <a:blip r:embed="rId47">
            <a:extLst>
              <a:ext uri="{28A0092B-C50C-407E-A947-70E740481C1C}">
                <a14:useLocalDpi xmlns:a14="http://schemas.microsoft.com/office/drawing/2010/main" val="0"/>
              </a:ext>
            </a:extLst>
          </a:blip>
          <a:srcRect b="24104"/>
          <a:stretch/>
        </p:blipFill>
        <p:spPr>
          <a:xfrm>
            <a:off x="10785266" y="6556352"/>
            <a:ext cx="686233" cy="149645"/>
          </a:xfrm>
          <a:prstGeom prst="rect">
            <a:avLst/>
          </a:prstGeom>
        </p:spPr>
      </p:pic>
    </p:spTree>
    <p:extLst>
      <p:ext uri="{BB962C8B-B14F-4D97-AF65-F5344CB8AC3E}">
        <p14:creationId xmlns:p14="http://schemas.microsoft.com/office/powerpoint/2010/main" val="149784429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 id="2147483740" r:id="rId28"/>
    <p:sldLayoutId id="2147483741" r:id="rId29"/>
    <p:sldLayoutId id="2147483742" r:id="rId30"/>
    <p:sldLayoutId id="2147483743" r:id="rId31"/>
    <p:sldLayoutId id="2147483744" r:id="rId32"/>
    <p:sldLayoutId id="2147483745" r:id="rId33"/>
    <p:sldLayoutId id="2147483746" r:id="rId34"/>
    <p:sldLayoutId id="2147483747" r:id="rId35"/>
    <p:sldLayoutId id="2147483748" r:id="rId36"/>
    <p:sldLayoutId id="2147483749" r:id="rId37"/>
    <p:sldLayoutId id="2147483750" r:id="rId38"/>
    <p:sldLayoutId id="2147483751" r:id="rId39"/>
    <p:sldLayoutId id="2147483752" r:id="rId40"/>
    <p:sldLayoutId id="2147483753" r:id="rId41"/>
    <p:sldLayoutId id="2147483754" r:id="rId42"/>
    <p:sldLayoutId id="2147483755" r:id="rId43"/>
    <p:sldLayoutId id="2147483756" r:id="rId44"/>
    <p:sldLayoutId id="2147483757" r:id="rId45"/>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b="0" i="0" kern="1200">
          <a:solidFill>
            <a:schemeClr val="tx1"/>
          </a:solidFill>
          <a:latin typeface="Open Sans" panose="020B060603050402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b="0" i="0" kern="1200">
          <a:solidFill>
            <a:schemeClr val="tx1"/>
          </a:solidFill>
          <a:latin typeface="Open Sans" panose="020B0606030504020204" pitchFamily="34"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b="0" i="0" kern="1200">
          <a:solidFill>
            <a:schemeClr val="tx1"/>
          </a:solidFill>
          <a:latin typeface="Open Sans" panose="020B0606030504020204" pitchFamily="34"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b="0" i="0" kern="1200">
          <a:solidFill>
            <a:schemeClr val="tx1"/>
          </a:solidFill>
          <a:latin typeface="Open Sans" panose="020B0606030504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33" userDrawn="1">
          <p15:clr>
            <a:srgbClr val="F26B43"/>
          </p15:clr>
        </p15:guide>
        <p15:guide id="2" pos="597" userDrawn="1">
          <p15:clr>
            <a:srgbClr val="F26B43"/>
          </p15:clr>
        </p15:guide>
        <p15:guide id="29" orient="horz" pos="1079" userDrawn="1">
          <p15:clr>
            <a:srgbClr val="F26B43"/>
          </p15:clr>
        </p15:guide>
        <p15:guide id="43" orient="horz" pos="5219" userDrawn="1">
          <p15:clr>
            <a:srgbClr val="F26B43"/>
          </p15:clr>
        </p15:guide>
        <p15:guide id="44" pos="962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 Id="rId8" Type="http://schemas.openxmlformats.org/officeDocument/2006/relationships/image" Target="../media/image18.svg"/><Relationship Id="rId9" Type="http://schemas.openxmlformats.org/officeDocument/2006/relationships/image" Target="../media/image19.png"/><Relationship Id="rId10" Type="http://schemas.openxmlformats.org/officeDocument/2006/relationships/image" Target="../media/image2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image" Target="../media/image23.png"/><Relationship Id="rId8" Type="http://schemas.openxmlformats.org/officeDocument/2006/relationships/image" Target="../media/image24.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20365-B7BC-8899-3513-BDF822F2080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13CC98-C233-94D1-8B26-808E93C47D19}"/>
              </a:ext>
            </a:extLst>
          </p:cNvPr>
          <p:cNvSpPr>
            <a:spLocks noGrp="1"/>
          </p:cNvSpPr>
          <p:nvPr>
            <p:ph type="ctrTitle"/>
          </p:nvPr>
        </p:nvSpPr>
        <p:spPr>
          <a:xfrm>
            <a:off x="730800" y="2575840"/>
            <a:ext cx="8967225" cy="2062103"/>
          </a:xfrm>
        </p:spPr>
        <p:txBody>
          <a:bodyPr wrap="square" lIns="91440" tIns="45720" rIns="91440" bIns="45720" anchor="b">
            <a:spAutoFit/>
          </a:bodyPr>
          <a:lstStyle/>
          <a:p>
            <a:r>
              <a:rPr lang="en-IN" sz="6400" dirty="0">
                <a:latin typeface="Open Sans"/>
                <a:ea typeface="Open Sans"/>
                <a:cs typeface="Open Sans"/>
              </a:rPr>
              <a:t>Build Your </a:t>
            </a:r>
            <a:br>
              <a:rPr lang="en-IN" sz="6400" dirty="0">
                <a:solidFill>
                  <a:srgbClr val="383838"/>
                </a:solidFill>
                <a:latin typeface="Open Sans"/>
                <a:ea typeface="Open Sans"/>
                <a:cs typeface="Open Sans"/>
              </a:rPr>
            </a:br>
            <a:r>
              <a:rPr lang="en-IN" sz="6400" dirty="0">
                <a:solidFill>
                  <a:schemeClr val="accent2"/>
                </a:solidFill>
                <a:latin typeface="Open Sans"/>
                <a:ea typeface="Open Sans"/>
                <a:cs typeface="Open Sans"/>
              </a:rPr>
              <a:t>First PoC</a:t>
            </a:r>
            <a:endParaRPr lang="en-US" sz="6400" dirty="0">
              <a:solidFill>
                <a:schemeClr val="accent2"/>
              </a:solidFill>
              <a:latin typeface="Open Sans"/>
              <a:ea typeface="Open Sans"/>
              <a:cs typeface="Open Sans"/>
            </a:endParaRPr>
          </a:p>
        </p:txBody>
      </p:sp>
      <p:sp>
        <p:nvSpPr>
          <p:cNvPr id="7" name="Shape 10">
            <a:extLst>
              <a:ext uri="{FF2B5EF4-FFF2-40B4-BE49-F238E27FC236}">
                <a16:creationId xmlns:a16="http://schemas.microsoft.com/office/drawing/2014/main" id="{D1A2A319-805A-A6E5-04EF-EFF027E090A2}"/>
              </a:ext>
            </a:extLst>
          </p:cNvPr>
          <p:cNvSpPr/>
          <p:nvPr/>
        </p:nvSpPr>
        <p:spPr>
          <a:xfrm>
            <a:off x="730800" y="1780469"/>
            <a:ext cx="2786912" cy="515419"/>
          </a:xfrm>
          <a:prstGeom prst="roundRect">
            <a:avLst>
              <a:gd name="adj" fmla="val 11905"/>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a:extLst>
              <a:ext uri="{FF2B5EF4-FFF2-40B4-BE49-F238E27FC236}">
                <a16:creationId xmlns:a16="http://schemas.microsoft.com/office/drawing/2014/main" id="{C81D6E02-DB5A-C964-32B1-090C32F51BA4}"/>
              </a:ext>
            </a:extLst>
          </p:cNvPr>
          <p:cNvSpPr txBox="1">
            <a:spLocks/>
          </p:cNvSpPr>
          <p:nvPr/>
        </p:nvSpPr>
        <p:spPr>
          <a:xfrm>
            <a:off x="773765" y="1761180"/>
            <a:ext cx="2703339" cy="584775"/>
          </a:xfrm>
          <a:prstGeom prst="rect">
            <a:avLst/>
          </a:prstGeom>
        </p:spPr>
        <p:txBody>
          <a:bodyPr wrap="square" anchor="b">
            <a:spAutoFit/>
          </a:bodyPr>
          <a:lstStyle>
            <a:lvl1pPr algn="l" defTabSz="685800" rtl="0" eaLnBrk="1" latinLnBrk="0" hangingPunct="1">
              <a:lnSpc>
                <a:spcPct val="100000"/>
              </a:lnSpc>
              <a:spcBef>
                <a:spcPct val="0"/>
              </a:spcBef>
              <a:buNone/>
              <a:defRPr sz="5100" b="1" i="0" kern="1200">
                <a:solidFill>
                  <a:schemeClr val="tx1"/>
                </a:solidFill>
                <a:latin typeface="+mn-lt"/>
                <a:ea typeface="Open Sans" panose="020B0606030504020204" pitchFamily="34" charset="0"/>
                <a:cs typeface="Open Sans" panose="020B0606030504020204" pitchFamily="34" charset="0"/>
              </a:defRPr>
            </a:lvl1pPr>
          </a:lstStyle>
          <a:p>
            <a:pPr algn="ctr"/>
            <a:r>
              <a:rPr lang="en-IN" sz="3200" dirty="0">
                <a:solidFill>
                  <a:schemeClr val="bg1"/>
                </a:solidFill>
                <a:latin typeface="Open Sans" panose="020B0606030504020204" pitchFamily="34" charset="0"/>
              </a:rPr>
              <a:t>Module 2:</a:t>
            </a:r>
            <a:endParaRPr lang="en-US" sz="3200" dirty="0">
              <a:solidFill>
                <a:schemeClr val="bg1"/>
              </a:solidFill>
              <a:latin typeface="Open Sans" panose="020B0606030504020204" pitchFamily="34" charset="0"/>
            </a:endParaRPr>
          </a:p>
        </p:txBody>
      </p:sp>
    </p:spTree>
    <p:extLst>
      <p:ext uri="{BB962C8B-B14F-4D97-AF65-F5344CB8AC3E}">
        <p14:creationId xmlns:p14="http://schemas.microsoft.com/office/powerpoint/2010/main" val="3883918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Module 1 Recap</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867"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You Came In With</a:t>
            </a:r>
            <a:endParaRPr lang="en-US" sz="1867"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292352"/>
            <a:ext cx="11216640" cy="0"/>
          </a:xfrm>
          <a:prstGeom prst="line">
            <a:avLst/>
          </a:prstGeom>
          <a:noFill/>
          <a:ln w="1270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488474" y="1463040"/>
            <a:ext cx="3633216" cy="512064"/>
          </a:xfrm>
          <a:prstGeom prst="roundRect">
            <a:avLst>
              <a:gd name="adj" fmla="val 11905"/>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488474" y="1463040"/>
            <a:ext cx="3633216" cy="512064"/>
          </a:xfrm>
          <a:prstGeom prst="rect">
            <a:avLst/>
          </a:prstGeom>
          <a:noFill/>
          <a:ln/>
        </p:spPr>
        <p:txBody>
          <a:bodyPr wrap="square" lIns="0" tIns="0" rIns="0" bIns="0" rtlCol="0" anchor="ctr"/>
          <a:lstStyle/>
          <a:p>
            <a:pPr algn="ctr"/>
            <a:r>
              <a:rPr lang="en-US" sz="1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AI Coding Landscape</a:t>
            </a:r>
            <a:endPar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488474" y="1999488"/>
            <a:ext cx="3633216" cy="4267200"/>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34778" y="214579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Four tool categories and where each belongs</a:t>
            </a:r>
          </a:p>
        </p:txBody>
      </p:sp>
      <p:sp>
        <p:nvSpPr>
          <p:cNvPr id="9" name="Text 7"/>
          <p:cNvSpPr/>
          <p:nvPr/>
        </p:nvSpPr>
        <p:spPr>
          <a:xfrm>
            <a:off x="634778" y="312115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Selection framework applied to real scenarios</a:t>
            </a:r>
          </a:p>
        </p:txBody>
      </p:sp>
      <p:sp>
        <p:nvSpPr>
          <p:cNvPr id="10" name="Text 8"/>
          <p:cNvSpPr/>
          <p:nvPr/>
        </p:nvSpPr>
        <p:spPr>
          <a:xfrm>
            <a:off x="634778" y="409651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Mental model: AI as the fast junior developer</a:t>
            </a:r>
          </a:p>
        </p:txBody>
      </p:sp>
      <p:sp>
        <p:nvSpPr>
          <p:cNvPr id="11" name="Text 9"/>
          <p:cNvSpPr/>
          <p:nvPr/>
        </p:nvSpPr>
        <p:spPr>
          <a:xfrm>
            <a:off x="634778" y="507187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Right tool matched to the right task</a:t>
            </a:r>
          </a:p>
        </p:txBody>
      </p:sp>
      <p:sp>
        <p:nvSpPr>
          <p:cNvPr id="12" name="Shape 10"/>
          <p:cNvSpPr/>
          <p:nvPr/>
        </p:nvSpPr>
        <p:spPr>
          <a:xfrm>
            <a:off x="4292378" y="1463040"/>
            <a:ext cx="3633216" cy="512064"/>
          </a:xfrm>
          <a:prstGeom prst="roundRect">
            <a:avLst>
              <a:gd name="adj" fmla="val 11905"/>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292378" y="1463040"/>
            <a:ext cx="3633216" cy="512064"/>
          </a:xfrm>
          <a:prstGeom prst="rect">
            <a:avLst/>
          </a:prstGeom>
          <a:noFill/>
          <a:ln/>
        </p:spPr>
        <p:txBody>
          <a:bodyPr wrap="square" lIns="0" tIns="0" rIns="0" bIns="0" rtlCol="0" anchor="ctr"/>
          <a:lstStyle/>
          <a:p>
            <a:pPr algn="ctr"/>
            <a:r>
              <a:rPr lang="en-US" sz="16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Claude Code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4292378" y="1999488"/>
            <a:ext cx="3633216" cy="4267200"/>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438682" y="214579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Terminal interface navigated and understood</a:t>
            </a:r>
          </a:p>
        </p:txBody>
      </p:sp>
      <p:sp>
        <p:nvSpPr>
          <p:cNvPr id="16" name="Text 14"/>
          <p:cNvSpPr/>
          <p:nvPr/>
        </p:nvSpPr>
        <p:spPr>
          <a:xfrm>
            <a:off x="4438682" y="312115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CLAUDE.md</a:t>
            </a:r>
            <a:r>
              <a:rPr lang="en-US" sz="1600" dirty="0">
                <a:latin typeface="Open Sans" panose="020B0606030504020204" pitchFamily="34" charset="0"/>
                <a:ea typeface="Open Sans" panose="020B0606030504020204" pitchFamily="34" charset="0"/>
                <a:cs typeface="Open Sans" panose="020B0606030504020204" pitchFamily="34" charset="0"/>
              </a:rPr>
              <a:t> created and verified</a:t>
            </a:r>
          </a:p>
        </p:txBody>
      </p:sp>
      <p:sp>
        <p:nvSpPr>
          <p:cNvPr id="17" name="Text 15"/>
          <p:cNvSpPr/>
          <p:nvPr/>
        </p:nvSpPr>
        <p:spPr>
          <a:xfrm>
            <a:off x="4438682" y="409651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Permission model — nothing changed without approval</a:t>
            </a:r>
          </a:p>
        </p:txBody>
      </p:sp>
      <p:sp>
        <p:nvSpPr>
          <p:cNvPr id="18" name="Text 16"/>
          <p:cNvSpPr/>
          <p:nvPr/>
        </p:nvSpPr>
        <p:spPr>
          <a:xfrm>
            <a:off x="4438682" y="507187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2E7D32"/>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Key commands: /</a:t>
            </a:r>
            <a:r>
              <a:rPr lang="en-US" sz="1600" dirty="0" err="1">
                <a:latin typeface="Open Sans" panose="020B0606030504020204" pitchFamily="34" charset="0"/>
                <a:ea typeface="Open Sans" panose="020B0606030504020204" pitchFamily="34" charset="0"/>
                <a:cs typeface="Open Sans" panose="020B0606030504020204" pitchFamily="34" charset="0"/>
              </a:rPr>
              <a:t>init</a:t>
            </a:r>
            <a:r>
              <a:rPr lang="en-US" sz="1600" dirty="0">
                <a:latin typeface="Open Sans" panose="020B0606030504020204" pitchFamily="34" charset="0"/>
                <a:ea typeface="Open Sans" panose="020B0606030504020204" pitchFamily="34" charset="0"/>
                <a:cs typeface="Open Sans" panose="020B0606030504020204" pitchFamily="34" charset="0"/>
              </a:rPr>
              <a:t> · /compact · /cost · /clear</a:t>
            </a:r>
          </a:p>
        </p:txBody>
      </p:sp>
      <p:sp>
        <p:nvSpPr>
          <p:cNvPr id="19" name="Shape 17"/>
          <p:cNvSpPr/>
          <p:nvPr/>
        </p:nvSpPr>
        <p:spPr>
          <a:xfrm>
            <a:off x="8096282" y="1463040"/>
            <a:ext cx="3633216" cy="512064"/>
          </a:xfrm>
          <a:prstGeom prst="roundRect">
            <a:avLst>
              <a:gd name="adj" fmla="val 11905"/>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8096282" y="1463040"/>
            <a:ext cx="3633216" cy="512064"/>
          </a:xfrm>
          <a:prstGeom prst="rect">
            <a:avLst/>
          </a:prstGeom>
          <a:noFill/>
          <a:ln/>
        </p:spPr>
        <p:txBody>
          <a:bodyPr wrap="square" lIns="0" tIns="0" rIns="0" bIns="0" rtlCol="0" anchor="ctr"/>
          <a:lstStyle/>
          <a:p>
            <a:pPr algn="ctr"/>
            <a:r>
              <a:rPr lang="en-US" sz="1600" b="1">
                <a:solidFill>
                  <a:srgbClr val="FFFFFF"/>
                </a:solidFill>
                <a:latin typeface="Open Sans" panose="020B0606030504020204" pitchFamily="34" charset="0"/>
                <a:ea typeface="Open Sans" panose="020B0606030504020204" pitchFamily="34" charset="0"/>
                <a:cs typeface="Open Sans" panose="020B0606030504020204" pitchFamily="34" charset="0"/>
              </a:rPr>
              <a:t>Prompt Engineering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8096282" y="1999488"/>
            <a:ext cx="3633216" cy="4267200"/>
          </a:xfrm>
          <a:prstGeom prst="roundRect">
            <a:avLst>
              <a:gd name="adj" fmla="val 2685"/>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8242586" y="214579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Scaffold prompt template applied</a:t>
            </a:r>
          </a:p>
        </p:txBody>
      </p:sp>
      <p:sp>
        <p:nvSpPr>
          <p:cNvPr id="23" name="Text 21"/>
          <p:cNvSpPr/>
          <p:nvPr/>
        </p:nvSpPr>
        <p:spPr>
          <a:xfrm>
            <a:off x="8242586" y="312115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v1 → v2 improvement loop completed</a:t>
            </a:r>
          </a:p>
        </p:txBody>
      </p:sp>
      <p:sp>
        <p:nvSpPr>
          <p:cNvPr id="24" name="Text 22"/>
          <p:cNvSpPr/>
          <p:nvPr/>
        </p:nvSpPr>
        <p:spPr>
          <a:xfrm>
            <a:off x="8242586" y="409651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Brief written for a real utility</a:t>
            </a:r>
          </a:p>
        </p:txBody>
      </p:sp>
      <p:sp>
        <p:nvSpPr>
          <p:cNvPr id="25" name="Text 23"/>
          <p:cNvSpPr/>
          <p:nvPr/>
        </p:nvSpPr>
        <p:spPr>
          <a:xfrm>
            <a:off x="8242586" y="5071872"/>
            <a:ext cx="3340608" cy="877824"/>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latin typeface="Open Sans" panose="020B0606030504020204" pitchFamily="34" charset="0"/>
                <a:ea typeface="Open Sans" panose="020B0606030504020204" pitchFamily="34" charset="0"/>
                <a:cs typeface="Open Sans" panose="020B0606030504020204" pitchFamily="34" charset="0"/>
              </a:rPr>
              <a:t>Prompt log started and ready to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 You Will Build Today</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42751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5" name="Text 3"/>
          <p:cNvSpPr/>
          <p:nvPr/>
        </p:nvSpPr>
        <p:spPr>
          <a:xfrm>
            <a:off x="54943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PoC Brief +</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67"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CLAUDE.md</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549434" y="3397398"/>
            <a:ext cx="2438400" cy="1462199"/>
          </a:xfrm>
          <a:prstGeom prst="rect">
            <a:avLst/>
          </a:prstGeom>
          <a:noFill/>
          <a:ln/>
        </p:spPr>
        <p:txBody>
          <a:bodyPr wrap="square" lIns="0" tIns="0" rIns="0" bIns="0" rtlCol="0" anchor="ctr"/>
          <a:lstStyle/>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Scoped, testable,</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and ready to build from</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329263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9" name="Text 7"/>
          <p:cNvSpPr/>
          <p:nvPr/>
        </p:nvSpPr>
        <p:spPr>
          <a:xfrm>
            <a:off x="341455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Working PoC</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3414554" y="3397398"/>
            <a:ext cx="2438400" cy="1462199"/>
          </a:xfrm>
          <a:prstGeom prst="rect">
            <a:avLst/>
          </a:prstGeom>
          <a:noFill/>
          <a:ln/>
        </p:spPr>
        <p:txBody>
          <a:bodyPr wrap="square" lIns="0" tIns="0" rIns="0" bIns="0" rtlCol="0" anchor="ctr"/>
          <a:lstStyle/>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Typed, tested code that meets </a:t>
            </a:r>
            <a:r>
              <a:rPr lang="en-US" sz="1600" dirty="0">
                <a:latin typeface="Open Sans" panose="020B0606030504020204" pitchFamily="34" charset="0"/>
                <a:ea typeface="Open Sans" panose="020B0606030504020204" pitchFamily="34" charset="0"/>
                <a:cs typeface="Open Sans" panose="020B0606030504020204" pitchFamily="34" charset="0"/>
              </a:rPr>
              <a:t/>
            </a: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
            </a: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SPEC.md acceptance criteria</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615775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3" name="Text 11"/>
          <p:cNvSpPr/>
          <p:nvPr/>
        </p:nvSpPr>
        <p:spPr>
          <a:xfrm>
            <a:off x="627967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README +</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Git Commit</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279674" y="3397398"/>
            <a:ext cx="2438400" cy="1462199"/>
          </a:xfrm>
          <a:prstGeom prst="rect">
            <a:avLst/>
          </a:prstGeom>
          <a:noFill/>
          <a:ln/>
        </p:spPr>
        <p:txBody>
          <a:bodyPr wrap="square" lIns="0" tIns="0" rIns="0" bIns="0" rtlCol="0" anchor="ctr"/>
          <a:lstStyle/>
          <a:p>
            <a:pPr algn="ct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Documented, version-</a:t>
            </a:r>
            <a:endParaRPr lang="en-US" sz="1600">
              <a:latin typeface="Open Sans" panose="020B0606030504020204" pitchFamily="34" charset="0"/>
              <a:ea typeface="Open Sans" panose="020B0606030504020204" pitchFamily="34" charset="0"/>
              <a:cs typeface="Open Sans" panose="020B0606030504020204" pitchFamily="34" charset="0"/>
            </a:endParaRPr>
          </a:p>
          <a:p>
            <a:pPr algn="ctr"/>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controlled, handoff-ready</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9022874" y="1280161"/>
            <a:ext cx="2682240" cy="3947935"/>
          </a:xfrm>
          <a:prstGeom prst="roundRect">
            <a:avLst>
              <a:gd name="adj" fmla="val 4545"/>
            </a:avLst>
          </a:prstGeom>
          <a:solidFill>
            <a:srgbClr val="F5F5F5"/>
          </a:solidFill>
          <a:ln w="19050">
            <a:noFill/>
            <a:prstDash val="solid"/>
          </a:ln>
          <a:effectLst>
            <a:outerShdw blurRad="63500" dist="25400" dir="2700000" algn="bl" rotWithShape="0">
              <a:srgbClr val="000000">
                <a:alpha val="11000"/>
              </a:srgbClr>
            </a:outerShdw>
          </a:effectLst>
        </p:spPr>
        <p:txBody>
          <a:bodyPr/>
          <a:lstStyle/>
          <a:p>
            <a:endParaRPr lang="en-US" sz="3200"/>
          </a:p>
        </p:txBody>
      </p:sp>
      <p:sp>
        <p:nvSpPr>
          <p:cNvPr id="17" name="Text 15"/>
          <p:cNvSpPr/>
          <p:nvPr/>
        </p:nvSpPr>
        <p:spPr>
          <a:xfrm>
            <a:off x="9144794" y="2502413"/>
            <a:ext cx="2438400" cy="633619"/>
          </a:xfrm>
          <a:prstGeom prst="rect">
            <a:avLst/>
          </a:prstGeom>
          <a:noFill/>
          <a:ln/>
        </p:spPr>
        <p:txBody>
          <a:bodyPr wrap="square" lIns="0" tIns="0" rIns="0" bIns="0" rtlCol="0" anchor="ctr"/>
          <a:lstStyle/>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Demo-Ready</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867"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Output</a:t>
            </a:r>
            <a:endParaRPr lang="en-US" sz="1867"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9144794" y="3397398"/>
            <a:ext cx="2438400" cy="1462199"/>
          </a:xfrm>
          <a:prstGeom prst="rect">
            <a:avLst/>
          </a:prstGeom>
          <a:noFill/>
          <a:ln/>
        </p:spPr>
        <p:txBody>
          <a:bodyPr wrap="square" lIns="0" tIns="0" rIns="0" bIns="0" rtlCol="0" anchor="ctr"/>
          <a:lstStyle/>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API, Swagger and </a:t>
            </a: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clinician console,</a:t>
            </a:r>
            <a:endParaRPr lang="en-US" sz="1600" dirty="0">
              <a:latin typeface="Open Sans" panose="020B0606030504020204" pitchFamily="34" charset="0"/>
              <a:ea typeface="Open Sans" panose="020B0606030504020204" pitchFamily="34" charset="0"/>
              <a:cs typeface="Open Sans" panose="020B0606030504020204" pitchFamily="34" charset="0"/>
            </a:endParaRPr>
          </a:p>
          <a:p>
            <a:pPr algn="ct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end to end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485374" y="5713864"/>
            <a:ext cx="11216640" cy="304800"/>
          </a:xfrm>
          <a:prstGeom prst="rect">
            <a:avLst/>
          </a:prstGeom>
          <a:noFill/>
          <a:ln/>
        </p:spPr>
        <p:txBody>
          <a:bodyPr wrap="square" lIns="0" tIns="0" rIns="0" bIns="0" rtlCol="0" anchor="ctr"/>
          <a:lstStyle/>
          <a:p>
            <a:pPr algn="ct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One module. One real PoC, DischargeFlow, that you build on through Modules 3, 4 and 5.</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27" name="Graphic 26">
            <a:extLst>
              <a:ext uri="{FF2B5EF4-FFF2-40B4-BE49-F238E27FC236}">
                <a16:creationId xmlns:a16="http://schemas.microsoft.com/office/drawing/2014/main" id="{7AD9314A-995C-0B7B-9447-F23777E393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4802" y="1531832"/>
            <a:ext cx="527664" cy="527664"/>
          </a:xfrm>
          <a:prstGeom prst="rect">
            <a:avLst/>
          </a:prstGeom>
        </p:spPr>
      </p:pic>
      <p:pic>
        <p:nvPicPr>
          <p:cNvPr id="29" name="Graphic 28">
            <a:extLst>
              <a:ext uri="{FF2B5EF4-FFF2-40B4-BE49-F238E27FC236}">
                <a16:creationId xmlns:a16="http://schemas.microsoft.com/office/drawing/2014/main" id="{04878F9D-22FF-1FE5-3ADC-D87E6FAC368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0091" y="1522001"/>
            <a:ext cx="547329" cy="547329"/>
          </a:xfrm>
          <a:prstGeom prst="rect">
            <a:avLst/>
          </a:prstGeom>
        </p:spPr>
      </p:pic>
      <p:pic>
        <p:nvPicPr>
          <p:cNvPr id="31" name="Graphic 30">
            <a:extLst>
              <a:ext uri="{FF2B5EF4-FFF2-40B4-BE49-F238E27FC236}">
                <a16:creationId xmlns:a16="http://schemas.microsoft.com/office/drawing/2014/main" id="{F6403119-59BA-69B7-77F2-9F8DFA71DCF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24882" y="1521672"/>
            <a:ext cx="547984" cy="547984"/>
          </a:xfrm>
          <a:prstGeom prst="rect">
            <a:avLst/>
          </a:prstGeom>
        </p:spPr>
      </p:pic>
      <p:pic>
        <p:nvPicPr>
          <p:cNvPr id="33" name="Graphic 32">
            <a:extLst>
              <a:ext uri="{FF2B5EF4-FFF2-40B4-BE49-F238E27FC236}">
                <a16:creationId xmlns:a16="http://schemas.microsoft.com/office/drawing/2014/main" id="{16FC4E8A-C2BA-3FE1-03D4-126C56DF071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89512" y="1521182"/>
            <a:ext cx="548967" cy="5489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Learning Outcomes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1024128"/>
            <a:ext cx="11216640" cy="341376"/>
          </a:xfrm>
          <a:prstGeom prst="rect">
            <a:avLst/>
          </a:prstGeom>
          <a:noFill/>
          <a:ln/>
        </p:spPr>
        <p:txBody>
          <a:bodyPr wrap="square" lIns="0" tIns="0" rIns="0" bIns="0" rtlCol="0" anchor="ctr"/>
          <a:lstStyle/>
          <a:p>
            <a:r>
              <a:rPr lang="en-US" sz="1800" dirty="0">
                <a:solidFill>
                  <a:srgbClr val="757575"/>
                </a:solidFill>
                <a:latin typeface="Open Sans" panose="020B0606030504020204" pitchFamily="34" charset="0"/>
                <a:ea typeface="Open Sans" panose="020B0606030504020204" pitchFamily="34" charset="0"/>
                <a:cs typeface="Open Sans" panose="020B0606030504020204" pitchFamily="34" charset="0"/>
              </a:rPr>
              <a:t>By the end of this module, you will be able to:</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5">
            <a:extLst>
              <a:ext uri="{FF2B5EF4-FFF2-40B4-BE49-F238E27FC236}">
                <a16:creationId xmlns:a16="http://schemas.microsoft.com/office/drawing/2014/main" id="{3B36EA87-3934-17AE-2DA0-125A035802EC}"/>
              </a:ext>
            </a:extLst>
          </p:cNvPr>
          <p:cNvSpPr/>
          <p:nvPr/>
        </p:nvSpPr>
        <p:spPr>
          <a:xfrm>
            <a:off x="579914" y="1713961"/>
            <a:ext cx="670560" cy="670560"/>
          </a:xfrm>
          <a:prstGeom prst="ellipse">
            <a:avLst/>
          </a:prstGeom>
          <a:solidFill>
            <a:srgbClr val="008CCC"/>
          </a:solidFill>
          <a:ln/>
        </p:spPr>
        <p:txBody>
          <a:bodyPr/>
          <a:lstStyle/>
          <a:p>
            <a:endParaRPr lang="en-IN" sz="3200"/>
          </a:p>
        </p:txBody>
      </p:sp>
      <p:sp>
        <p:nvSpPr>
          <p:cNvPr id="4" name="Text 2"/>
          <p:cNvSpPr/>
          <p:nvPr/>
        </p:nvSpPr>
        <p:spPr>
          <a:xfrm>
            <a:off x="488474" y="1610329"/>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1463834" y="1610329"/>
            <a:ext cx="10241280" cy="877824"/>
          </a:xfrm>
          <a:prstGeom prst="rect">
            <a:avLst/>
          </a:prstGeom>
          <a:noFill/>
          <a:ln/>
        </p:spPr>
        <p:txBody>
          <a:bodyPr wrap="square" lIns="0" tIns="0" rIns="0" bIns="0" rtlCol="0" anchor="ctr"/>
          <a:lstStyle/>
          <a:p>
            <a:r>
              <a:rPr lang="en-IN"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Write a PoC brief that is scoped, testable, and translatable into a </a:t>
            </a:r>
            <a:r>
              <a:rPr lang="en-IN" sz="1800" dirty="0" err="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CLAUDE.md</a:t>
            </a:r>
            <a:endPar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488474" y="2594143"/>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5">
            <a:extLst>
              <a:ext uri="{FF2B5EF4-FFF2-40B4-BE49-F238E27FC236}">
                <a16:creationId xmlns:a16="http://schemas.microsoft.com/office/drawing/2014/main" id="{45A046BE-E793-ECA2-E02D-6D4D18F258E0}"/>
              </a:ext>
            </a:extLst>
          </p:cNvPr>
          <p:cNvSpPr/>
          <p:nvPr/>
        </p:nvSpPr>
        <p:spPr>
          <a:xfrm>
            <a:off x="579914" y="2892848"/>
            <a:ext cx="670560" cy="670560"/>
          </a:xfrm>
          <a:prstGeom prst="ellipse">
            <a:avLst/>
          </a:prstGeom>
          <a:solidFill>
            <a:srgbClr val="008CCC"/>
          </a:solidFill>
          <a:ln/>
        </p:spPr>
        <p:txBody>
          <a:bodyPr/>
          <a:lstStyle/>
          <a:p>
            <a:endParaRPr lang="en-IN" sz="3200"/>
          </a:p>
        </p:txBody>
      </p:sp>
      <p:sp>
        <p:nvSpPr>
          <p:cNvPr id="7" name="Text 5"/>
          <p:cNvSpPr/>
          <p:nvPr/>
        </p:nvSpPr>
        <p:spPr>
          <a:xfrm>
            <a:off x="488474" y="2789216"/>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463834" y="2789216"/>
            <a:ext cx="10241280" cy="877824"/>
          </a:xfrm>
          <a:prstGeom prst="rect">
            <a:avLst/>
          </a:prstGeom>
          <a:noFill/>
          <a:ln/>
        </p:spPr>
        <p:txBody>
          <a:bodyPr wrap="square" lIns="0" tIns="0" rIns="0" bIns="0" rtlCol="0" anchor="ctr"/>
          <a:lstStyle/>
          <a:p>
            <a:r>
              <a:rPr lang="en-IN"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Build a working, runnable PoC from a plain-English brief by applying the five-step build loop</a:t>
            </a:r>
            <a:endPar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5">
            <a:extLst>
              <a:ext uri="{FF2B5EF4-FFF2-40B4-BE49-F238E27FC236}">
                <a16:creationId xmlns:a16="http://schemas.microsoft.com/office/drawing/2014/main" id="{5B1B51B0-C52B-20E0-222E-321C89F35B49}"/>
              </a:ext>
            </a:extLst>
          </p:cNvPr>
          <p:cNvSpPr/>
          <p:nvPr/>
        </p:nvSpPr>
        <p:spPr>
          <a:xfrm>
            <a:off x="579914" y="4095136"/>
            <a:ext cx="670560" cy="670560"/>
          </a:xfrm>
          <a:prstGeom prst="ellipse">
            <a:avLst/>
          </a:prstGeom>
          <a:solidFill>
            <a:srgbClr val="008CCC"/>
          </a:solidFill>
          <a:ln/>
        </p:spPr>
        <p:txBody>
          <a:bodyPr/>
          <a:lstStyle/>
          <a:p>
            <a:endParaRPr lang="en-IN" sz="3200"/>
          </a:p>
        </p:txBody>
      </p:sp>
      <p:sp>
        <p:nvSpPr>
          <p:cNvPr id="9" name="Shape 7"/>
          <p:cNvSpPr/>
          <p:nvPr/>
        </p:nvSpPr>
        <p:spPr>
          <a:xfrm>
            <a:off x="488474" y="3862112"/>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488474" y="3991504"/>
            <a:ext cx="853440" cy="877824"/>
          </a:xfrm>
          <a:prstGeom prst="rect">
            <a:avLst/>
          </a:prstGeom>
          <a:noFill/>
          <a:ln/>
        </p:spPr>
        <p:txBody>
          <a:bodyPr wrap="square" lIns="0" tIns="0" rIns="0" bIns="0" rtlCol="0" anchor="ct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endParaRPr lang="en-US" sz="1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463834" y="3991504"/>
            <a:ext cx="10241280" cy="877824"/>
          </a:xfrm>
          <a:prstGeom prst="rect">
            <a:avLst/>
          </a:prstGeom>
          <a:noFill/>
          <a:ln/>
        </p:spPr>
        <p:txBody>
          <a:bodyPr wrap="square" lIns="0" tIns="0" rIns="0" bIns="0" rtlCol="0" anchor="ctr"/>
          <a:lstStyle/>
          <a:p>
            <a:r>
              <a:rPr lang="en-IN"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Use Claude Code to document and add basic error handling to a completed PoC</a:t>
            </a:r>
            <a:endParaRPr lang="en-US" sz="18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488474" y="5038048"/>
            <a:ext cx="11216640" cy="0"/>
          </a:xfrm>
          <a:prstGeom prst="line">
            <a:avLst/>
          </a:prstGeom>
          <a:noFill/>
          <a:ln w="6350">
            <a:solidFill>
              <a:srgbClr val="DEDEDE"/>
            </a:solidFill>
            <a:prstDash val="solid"/>
          </a:ln>
        </p:spPr>
        <p:txBody>
          <a:bodyPr/>
          <a:lstStyle/>
          <a:p>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5">
            <a:extLst>
              <a:ext uri="{FF2B5EF4-FFF2-40B4-BE49-F238E27FC236}">
                <a16:creationId xmlns:a16="http://schemas.microsoft.com/office/drawing/2014/main" id="{CD2720DA-F749-0DE9-60A0-44B1EFB10931}"/>
              </a:ext>
            </a:extLst>
          </p:cNvPr>
          <p:cNvSpPr/>
          <p:nvPr/>
        </p:nvSpPr>
        <p:spPr>
          <a:xfrm>
            <a:off x="579914" y="5275004"/>
            <a:ext cx="670560" cy="670560"/>
          </a:xfrm>
          <a:prstGeom prst="ellipse">
            <a:avLst/>
          </a:prstGeom>
          <a:solidFill>
            <a:srgbClr val="008CCC"/>
          </a:solidFill>
          <a:ln/>
        </p:spPr>
        <p:txBody>
          <a:bodyPr/>
          <a:lstStyle/>
          <a:p>
            <a:endParaRPr lang="en-IN" sz="3200"/>
          </a:p>
        </p:txBody>
      </p:sp>
      <p:sp>
        <p:nvSpPr>
          <p:cNvPr id="13" name="Text 11"/>
          <p:cNvSpPr/>
          <p:nvPr/>
        </p:nvSpPr>
        <p:spPr>
          <a:xfrm>
            <a:off x="488474" y="5171372"/>
            <a:ext cx="853440" cy="877824"/>
          </a:xfrm>
          <a:prstGeom prst="rect">
            <a:avLst/>
          </a:prstGeom>
          <a:noFill/>
          <a:ln/>
        </p:spPr>
        <p:txBody>
          <a:bodyPr wrap="square" lIns="0" tIns="0" rIns="0" bIns="0" rtlCol="0" anchor="ctr"/>
          <a:lstStyle/>
          <a:p>
            <a:pPr algn="ctr"/>
            <a:r>
              <a:rPr lang="en-US" sz="18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US" sz="180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1463834" y="5171372"/>
            <a:ext cx="10241280" cy="877824"/>
          </a:xfrm>
          <a:prstGeom prst="rect">
            <a:avLst/>
          </a:prstGeom>
          <a:noFill/>
          <a:ln/>
        </p:spPr>
        <p:txBody>
          <a:bodyPr wrap="square" lIns="0" tIns="0" rIns="0" bIns="0" rtlCol="0" anchor="ctr"/>
          <a:lstStyle/>
          <a:p>
            <a:r>
              <a:rPr lang="en-US" sz="18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Commit a documented PoC to Git using Claude Code-generated commit messages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Today's Agenda</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5">
            <a:extLst>
              <a:ext uri="{FF2B5EF4-FFF2-40B4-BE49-F238E27FC236}">
                <a16:creationId xmlns:a16="http://schemas.microsoft.com/office/drawing/2014/main" id="{0C8C63D3-9DB9-0FD3-4BBF-C44A1DA087AE}"/>
              </a:ext>
            </a:extLst>
          </p:cNvPr>
          <p:cNvSpPr/>
          <p:nvPr/>
        </p:nvSpPr>
        <p:spPr>
          <a:xfrm>
            <a:off x="601725" y="170732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1" name="Rounded Rectangle 20">
            <a:extLst>
              <a:ext uri="{FF2B5EF4-FFF2-40B4-BE49-F238E27FC236}">
                <a16:creationId xmlns:a16="http://schemas.microsoft.com/office/drawing/2014/main" id="{5D6AF3C5-2E30-4ABB-691C-2B77564C623D}"/>
              </a:ext>
            </a:extLst>
          </p:cNvPr>
          <p:cNvSpPr/>
          <p:nvPr/>
        </p:nvSpPr>
        <p:spPr>
          <a:xfrm>
            <a:off x="601725" y="1572587"/>
            <a:ext cx="3155795" cy="165239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sz="1800" b="1" dirty="0">
                <a:solidFill>
                  <a:schemeClr val="accent2"/>
                </a:solidFill>
              </a:rPr>
              <a:t>PART 1                   ~ 20 min</a:t>
            </a:r>
          </a:p>
          <a:p>
            <a:endParaRPr lang="en-IN" sz="1600" dirty="0">
              <a:solidFill>
                <a:schemeClr val="tx1"/>
              </a:solidFill>
            </a:endParaRPr>
          </a:p>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Scoping and Briefing Your PoC</a:t>
            </a:r>
          </a:p>
          <a:p>
            <a:endParaRPr lang="en-IN" sz="1600" dirty="0">
              <a:solidFill>
                <a:schemeClr val="tx1"/>
              </a:solidFill>
            </a:endParaRPr>
          </a:p>
        </p:txBody>
      </p:sp>
      <p:sp>
        <p:nvSpPr>
          <p:cNvPr id="22" name="Shape 5">
            <a:extLst>
              <a:ext uri="{FF2B5EF4-FFF2-40B4-BE49-F238E27FC236}">
                <a16:creationId xmlns:a16="http://schemas.microsoft.com/office/drawing/2014/main" id="{0BFDC73F-204E-2A55-68C9-35F1CE584BBC}"/>
              </a:ext>
            </a:extLst>
          </p:cNvPr>
          <p:cNvSpPr/>
          <p:nvPr/>
        </p:nvSpPr>
        <p:spPr>
          <a:xfrm>
            <a:off x="4518896" y="170732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5">
            <a:extLst>
              <a:ext uri="{FF2B5EF4-FFF2-40B4-BE49-F238E27FC236}">
                <a16:creationId xmlns:a16="http://schemas.microsoft.com/office/drawing/2014/main" id="{3C0C8B34-DC2E-447D-0372-5DB5B6188E8F}"/>
              </a:ext>
            </a:extLst>
          </p:cNvPr>
          <p:cNvSpPr/>
          <p:nvPr/>
        </p:nvSpPr>
        <p:spPr>
          <a:xfrm>
            <a:off x="8436068" y="1707326"/>
            <a:ext cx="3155794" cy="3401122"/>
          </a:xfrm>
          <a:prstGeom prst="roundRect">
            <a:avLst>
              <a:gd name="adj" fmla="val 7220"/>
            </a:avLst>
          </a:prstGeom>
          <a:solidFill>
            <a:srgbClr val="F5F5F5"/>
          </a:solidFill>
          <a:ln w="19050">
            <a:solidFill>
              <a:srgbClr val="DEDEDE"/>
            </a:solidFill>
            <a:prstDash val="solid"/>
          </a:ln>
          <a:effectLst>
            <a:outerShdw blurRad="63500" dist="25400" dir="2700000" algn="bl" rotWithShape="0">
              <a:srgbClr val="000000">
                <a:alpha val="11000"/>
              </a:srgbClr>
            </a:outerShdw>
          </a:effectLst>
        </p:spPr>
        <p:txBody>
          <a:bodyPr/>
          <a:lstStyle/>
          <a:p>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27" name="Rounded Rectangle 26">
            <a:extLst>
              <a:ext uri="{FF2B5EF4-FFF2-40B4-BE49-F238E27FC236}">
                <a16:creationId xmlns:a16="http://schemas.microsoft.com/office/drawing/2014/main" id="{8309BB36-21D0-1F45-714A-9AEF67FE6BAE}"/>
              </a:ext>
            </a:extLst>
          </p:cNvPr>
          <p:cNvSpPr/>
          <p:nvPr/>
        </p:nvSpPr>
        <p:spPr>
          <a:xfrm>
            <a:off x="4518896" y="1572587"/>
            <a:ext cx="3155795" cy="165239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sz="1800" b="1" dirty="0">
                <a:solidFill>
                  <a:schemeClr val="accent2"/>
                </a:solidFill>
              </a:rPr>
              <a:t>PART 2                   ~ 60 min</a:t>
            </a:r>
          </a:p>
          <a:p>
            <a:endParaRPr lang="en-IN" sz="1600" dirty="0">
              <a:solidFill>
                <a:schemeClr val="tx1"/>
              </a:solidFill>
            </a:endParaRPr>
          </a:p>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The Build Loop</a:t>
            </a:r>
            <a:endPar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endParaRPr lang="en-IN" sz="1600" dirty="0">
              <a:solidFill>
                <a:schemeClr val="tx1"/>
              </a:solidFill>
            </a:endParaRPr>
          </a:p>
        </p:txBody>
      </p:sp>
      <p:sp>
        <p:nvSpPr>
          <p:cNvPr id="28" name="Rounded Rectangle 27">
            <a:extLst>
              <a:ext uri="{FF2B5EF4-FFF2-40B4-BE49-F238E27FC236}">
                <a16:creationId xmlns:a16="http://schemas.microsoft.com/office/drawing/2014/main" id="{CAD2DAA2-6673-9957-6574-388B289631A4}"/>
              </a:ext>
            </a:extLst>
          </p:cNvPr>
          <p:cNvSpPr/>
          <p:nvPr/>
        </p:nvSpPr>
        <p:spPr>
          <a:xfrm>
            <a:off x="8436068" y="1572587"/>
            <a:ext cx="3155795" cy="1652392"/>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b="1" dirty="0">
              <a:solidFill>
                <a:schemeClr val="tx1"/>
              </a:solidFill>
            </a:endParaRPr>
          </a:p>
          <a:p>
            <a:r>
              <a:rPr lang="en-IN" sz="1800" b="1" dirty="0">
                <a:solidFill>
                  <a:schemeClr val="accent2"/>
                </a:solidFill>
              </a:rPr>
              <a:t>PART 3                   ~ 40 min</a:t>
            </a:r>
          </a:p>
          <a:p>
            <a:endParaRPr lang="en-IN" sz="1600" dirty="0">
              <a:solidFill>
                <a:schemeClr val="tx1"/>
              </a:solidFill>
            </a:endParaRPr>
          </a:p>
          <a:p>
            <a:r>
              <a:rPr lang="en-US" sz="1800" b="1" dirty="0">
                <a:solidFill>
                  <a:schemeClr val="tx1"/>
                </a:solidFill>
                <a:latin typeface="Open Sans" panose="020B0606030504020204" pitchFamily="34" charset="0"/>
                <a:ea typeface="Open Sans" panose="020B0606030504020204" pitchFamily="34" charset="0"/>
                <a:cs typeface="Open Sans" panose="020B0606030504020204" pitchFamily="34" charset="0"/>
              </a:rPr>
              <a:t>Finish, Document, </a:t>
            </a:r>
            <a:r>
              <a:rPr lang="en-US" sz="1800" b="1" dirty="0" err="1">
                <a:solidFill>
                  <a:schemeClr val="tx1"/>
                </a:solidFill>
                <a:latin typeface="Open Sans" panose="020B0606030504020204" pitchFamily="34" charset="0"/>
                <a:ea typeface="Open Sans" panose="020B0606030504020204" pitchFamily="34" charset="0"/>
                <a:cs typeface="Open Sans" panose="020B0606030504020204" pitchFamily="34" charset="0"/>
              </a:rPr>
              <a:t>Stabilise</a:t>
            </a:r>
            <a:endPar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endParaRPr lang="en-IN" sz="1600" dirty="0">
              <a:solidFill>
                <a:schemeClr val="tx1"/>
              </a:solidFill>
            </a:endParaRPr>
          </a:p>
        </p:txBody>
      </p:sp>
      <p:sp>
        <p:nvSpPr>
          <p:cNvPr id="29" name="Rounded Rectangle 28">
            <a:extLst>
              <a:ext uri="{FF2B5EF4-FFF2-40B4-BE49-F238E27FC236}">
                <a16:creationId xmlns:a16="http://schemas.microsoft.com/office/drawing/2014/main" id="{4B8A0112-6C52-410E-512C-CA8BFDAD3455}"/>
              </a:ext>
            </a:extLst>
          </p:cNvPr>
          <p:cNvSpPr/>
          <p:nvPr/>
        </p:nvSpPr>
        <p:spPr>
          <a:xfrm>
            <a:off x="601725" y="3056705"/>
            <a:ext cx="3155795" cy="2044699"/>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Brief writing</a:t>
            </a:r>
          </a:p>
          <a:p>
            <a:pPr marL="285750" indent="-285750">
              <a:lnSpc>
                <a:spcPct val="150000"/>
              </a:lnSpc>
              <a:buClr>
                <a:schemeClr val="tx1"/>
              </a:buClr>
              <a:buSzPct val="100000"/>
              <a:buFont typeface="Arial" panose="020B0604020202020204" pitchFamily="34" charset="0"/>
              <a:buChar char="•"/>
            </a:pPr>
            <a:r>
              <a:rPr lang="en-US" sz="16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CLAUDE.md</a:t>
            </a: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Scope check</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Lab</a:t>
            </a:r>
          </a:p>
          <a:p>
            <a:pPr marL="285750" indent="-285750">
              <a:lnSpc>
                <a:spcPct val="150000"/>
              </a:lnSpc>
              <a:buSzPct val="100000"/>
              <a:buFont typeface="Arial" panose="020B0604020202020204" pitchFamily="34" charset="0"/>
              <a:buChar char="•"/>
            </a:pPr>
            <a:endParaRPr lang="en-US" sz="1600" dirty="0">
              <a:solidFill>
                <a:schemeClr val="tx1"/>
              </a:solidFill>
            </a:endParaRPr>
          </a:p>
        </p:txBody>
      </p:sp>
      <p:sp>
        <p:nvSpPr>
          <p:cNvPr id="30" name="Rounded Rectangle 29">
            <a:extLst>
              <a:ext uri="{FF2B5EF4-FFF2-40B4-BE49-F238E27FC236}">
                <a16:creationId xmlns:a16="http://schemas.microsoft.com/office/drawing/2014/main" id="{48ED9B3A-8098-22B8-2508-D0B1248BA8F0}"/>
              </a:ext>
            </a:extLst>
          </p:cNvPr>
          <p:cNvSpPr/>
          <p:nvPr/>
        </p:nvSpPr>
        <p:spPr>
          <a:xfrm>
            <a:off x="4518896" y="3051576"/>
            <a:ext cx="3155795" cy="2049828"/>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Trainer demo</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Live build Part 1</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Working core </a:t>
            </a:r>
          </a:p>
          <a:p>
            <a:pPr marL="285750" indent="-285750">
              <a:lnSpc>
                <a:spcPct val="150000"/>
              </a:lnSpc>
              <a:buSzPct val="100000"/>
              <a:buFont typeface="Arial" panose="020B0604020202020204" pitchFamily="34" charset="0"/>
              <a:buChar char="•"/>
            </a:pPr>
            <a:endParaRPr lang="en-US" sz="1600" dirty="0">
              <a:solidFill>
                <a:schemeClr val="tx1"/>
              </a:solidFill>
            </a:endParaRPr>
          </a:p>
        </p:txBody>
      </p:sp>
      <p:sp>
        <p:nvSpPr>
          <p:cNvPr id="32" name="Rounded Rectangle 31">
            <a:extLst>
              <a:ext uri="{FF2B5EF4-FFF2-40B4-BE49-F238E27FC236}">
                <a16:creationId xmlns:a16="http://schemas.microsoft.com/office/drawing/2014/main" id="{A4D7DC7C-BCF9-30EF-F221-3E735CCED252}"/>
              </a:ext>
            </a:extLst>
          </p:cNvPr>
          <p:cNvSpPr/>
          <p:nvPr/>
        </p:nvSpPr>
        <p:spPr>
          <a:xfrm>
            <a:off x="8436068" y="3056705"/>
            <a:ext cx="3155795" cy="2044699"/>
          </a:xfrm>
          <a:prstGeom prst="roundRect">
            <a:avLst>
              <a:gd name="adj" fmla="val 7126"/>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IN" sz="1600" dirty="0">
              <a:solidFill>
                <a:schemeClr val="tx1"/>
              </a:solidFill>
            </a:endParaRP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README</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Error handling</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Git commit</a:t>
            </a:r>
          </a:p>
          <a:p>
            <a:pPr marL="285750" indent="-285750">
              <a:lnSpc>
                <a:spcPct val="150000"/>
              </a:lnSpc>
              <a:buClr>
                <a:schemeClr val="tx1"/>
              </a:buClr>
              <a:buSzPct val="100000"/>
              <a:buFont typeface="Arial" panose="020B0604020202020204" pitchFamily="34" charset="0"/>
              <a:buChar char="•"/>
            </a:pPr>
            <a:r>
              <a:rPr lang="en-US" sz="1600" dirty="0">
                <a:solidFill>
                  <a:schemeClr val="tx1"/>
                </a:solidFill>
                <a:latin typeface="Open Sans" panose="020B0606030504020204" pitchFamily="34" charset="0"/>
                <a:ea typeface="Open Sans" panose="020B0606030504020204" pitchFamily="34" charset="0"/>
                <a:cs typeface="Open Sans" panose="020B0606030504020204" pitchFamily="34" charset="0"/>
              </a:rPr>
              <a:t>Demo share-out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754394" y="225997"/>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754394" y="225997"/>
            <a:ext cx="1842565"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WORD CLOUD</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732314" y="1376395"/>
            <a:ext cx="10728960" cy="1371600"/>
          </a:xfrm>
          <a:prstGeom prst="rect">
            <a:avLst/>
          </a:prstGeom>
          <a:noFill/>
          <a:ln/>
        </p:spPr>
        <p:txBody>
          <a:bodyPr wrap="square" lIns="0" tIns="0" rIns="0" bIns="0" rtlCol="0" anchor="ctr"/>
          <a:lstStyle/>
          <a:p>
            <a:pPr algn="ctr"/>
            <a:r>
              <a:rPr lang="en-US" sz="3733"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comes to your mind when you think of building a </a:t>
            </a:r>
            <a:r>
              <a:rPr lang="en-US" sz="3733" dirty="0">
                <a:solidFill>
                  <a:schemeClr val="accent2"/>
                </a:solidFill>
                <a:latin typeface="Open Sans" panose="020B0606030504020204" pitchFamily="34" charset="0"/>
                <a:ea typeface="Open Sans" panose="020B0606030504020204" pitchFamily="34" charset="0"/>
                <a:cs typeface="Open Sans" panose="020B0606030504020204" pitchFamily="34" charset="0"/>
              </a:rPr>
              <a:t>new PoC</a:t>
            </a:r>
            <a:r>
              <a:rPr lang="en-US" sz="3733"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7" name="Shape 5"/>
          <p:cNvSpPr/>
          <p:nvPr/>
        </p:nvSpPr>
        <p:spPr>
          <a:xfrm>
            <a:off x="1829594" y="3429000"/>
            <a:ext cx="8534400" cy="2097024"/>
          </a:xfrm>
          <a:prstGeom prst="roundRect">
            <a:avLst>
              <a:gd name="adj" fmla="val 5814"/>
            </a:avLst>
          </a:prstGeom>
          <a:solidFill>
            <a:schemeClr val="accent5">
              <a:lumMod val="20000"/>
              <a:lumOff val="80000"/>
            </a:schemeClr>
          </a:solidFill>
          <a:ln w="15240">
            <a:solidFill>
              <a:schemeClr val="accent2"/>
            </a:solidFill>
            <a:prstDash val="dash"/>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2561114" y="3575304"/>
            <a:ext cx="2682240" cy="512064"/>
          </a:xfrm>
          <a:prstGeom prst="rect">
            <a:avLst/>
          </a:prstGeom>
          <a:noFill/>
          <a:ln/>
        </p:spPr>
        <p:txBody>
          <a:bodyPr wrap="square" lIns="0" tIns="0" rIns="0" bIns="0" rtlCol="0" anchor="ctr"/>
          <a:lstStyle/>
          <a:p>
            <a:r>
              <a:rPr lang="en-US" sz="2933"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excited</a:t>
            </a:r>
            <a:endParaRPr lang="en-US" sz="2933"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511834" y="3514344"/>
            <a:ext cx="2682240" cy="512064"/>
          </a:xfrm>
          <a:prstGeom prst="rect">
            <a:avLst/>
          </a:prstGeom>
          <a:noFill/>
          <a:ln/>
        </p:spPr>
        <p:txBody>
          <a:bodyPr wrap="square" lIns="0" tIns="0" rIns="0" bIns="0" rtlCol="0" anchor="ctr"/>
          <a:lstStyle/>
          <a:p>
            <a:r>
              <a:rPr lang="en-US" sz="2267">
                <a:solidFill>
                  <a:srgbClr val="757575"/>
                </a:solidFill>
                <a:latin typeface="Open Sans" panose="020B0606030504020204" pitchFamily="34" charset="0"/>
                <a:ea typeface="Open Sans" panose="020B0606030504020204" pitchFamily="34" charset="0"/>
                <a:cs typeface="Open Sans" panose="020B0606030504020204" pitchFamily="34" charset="0"/>
              </a:rPr>
              <a:t>nervous</a:t>
            </a:r>
            <a:endParaRPr lang="en-US" sz="2267">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828314" y="3550920"/>
            <a:ext cx="2682240" cy="512064"/>
          </a:xfrm>
          <a:prstGeom prst="rect">
            <a:avLst/>
          </a:prstGeom>
          <a:noFill/>
          <a:ln/>
        </p:spPr>
        <p:txBody>
          <a:bodyPr wrap="square" lIns="0" tIns="0" rIns="0" bIns="0" rtlCol="0" anchor="ctr"/>
          <a:lstStyle/>
          <a:p>
            <a:r>
              <a:rPr lang="en-US" sz="2667" b="1">
                <a:solidFill>
                  <a:schemeClr val="accent2"/>
                </a:solidFill>
                <a:latin typeface="Open Sans" panose="020B0606030504020204" pitchFamily="34" charset="0"/>
                <a:ea typeface="Open Sans" panose="020B0606030504020204" pitchFamily="34" charset="0"/>
                <a:cs typeface="Open Sans" panose="020B0606030504020204" pitchFamily="34" charset="0"/>
              </a:rPr>
              <a:t>ready</a:t>
            </a:r>
            <a:endParaRPr lang="en-US" sz="2667">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8779034" y="3599688"/>
            <a:ext cx="1097280" cy="512064"/>
          </a:xfrm>
          <a:prstGeom prst="rect">
            <a:avLst/>
          </a:prstGeom>
          <a:noFill/>
          <a:ln/>
        </p:spPr>
        <p:txBody>
          <a:bodyPr wrap="square" lIns="0" tIns="0" rIns="0" bIns="0" rtlCol="0" anchor="ctr"/>
          <a:lstStyle/>
          <a:p>
            <a:r>
              <a:rPr lang="en-US" sz="2000" dirty="0">
                <a:solidFill>
                  <a:srgbClr val="AAAAAA"/>
                </a:solidFill>
                <a:latin typeface="Open Sans" panose="020B0606030504020204" pitchFamily="34" charset="0"/>
                <a:ea typeface="Open Sans" panose="020B0606030504020204" pitchFamily="34" charset="0"/>
                <a:cs typeface="Open Sans" panose="020B0606030504020204" pitchFamily="34" charset="0"/>
              </a:rPr>
              <a:t>curious</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2926874" y="4209288"/>
            <a:ext cx="2682240" cy="512064"/>
          </a:xfrm>
          <a:prstGeom prst="rect">
            <a:avLst/>
          </a:prstGeom>
          <a:noFill/>
          <a:ln/>
        </p:spPr>
        <p:txBody>
          <a:bodyPr wrap="square" lIns="0" tIns="0" rIns="0" bIns="0" rtlCol="0" anchor="ctr"/>
          <a:lstStyle/>
          <a:p>
            <a:r>
              <a:rPr lang="en-US" sz="2133" dirty="0">
                <a:solidFill>
                  <a:srgbClr val="AAAAAA"/>
                </a:solidFill>
                <a:latin typeface="Open Sans" panose="020B0606030504020204" pitchFamily="34" charset="0"/>
                <a:ea typeface="Open Sans" panose="020B0606030504020204" pitchFamily="34" charset="0"/>
                <a:cs typeface="Open Sans" panose="020B0606030504020204" pitchFamily="34" charset="0"/>
              </a:rPr>
              <a:t>unsure</a:t>
            </a:r>
            <a:endParaRPr lang="en-US" sz="2133"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877594" y="4172712"/>
            <a:ext cx="2682240" cy="512064"/>
          </a:xfrm>
          <a:prstGeom prst="rect">
            <a:avLst/>
          </a:prstGeom>
          <a:noFill/>
          <a:ln/>
        </p:spPr>
        <p:txBody>
          <a:bodyPr wrap="square" lIns="0" tIns="0" rIns="0" bIns="0" rtlCol="0" anchor="ctr"/>
          <a:lstStyle/>
          <a:p>
            <a:r>
              <a:rPr lang="en-US" sz="3200" b="1">
                <a:solidFill>
                  <a:schemeClr val="accent2"/>
                </a:solidFill>
                <a:latin typeface="Open Sans" panose="020B0606030504020204" pitchFamily="34" charset="0"/>
                <a:ea typeface="Open Sans" panose="020B0606030504020204" pitchFamily="34" charset="0"/>
                <a:cs typeface="Open Sans" panose="020B0606030504020204" pitchFamily="34" charset="0"/>
              </a:rPr>
              <a:t>confident</a:t>
            </a:r>
            <a:endParaRPr lang="en-US" sz="320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7559834" y="4148328"/>
            <a:ext cx="2682240" cy="512064"/>
          </a:xfrm>
          <a:prstGeom prst="rect">
            <a:avLst/>
          </a:prstGeom>
          <a:noFill/>
          <a:ln/>
        </p:spPr>
        <p:txBody>
          <a:bodyPr wrap="square" lIns="0" tIns="0" rIns="0" bIns="0" rtlCol="0" anchor="ctr"/>
          <a:lstStyle/>
          <a:p>
            <a:r>
              <a:rPr lang="en-US">
                <a:solidFill>
                  <a:srgbClr val="757575"/>
                </a:solidFill>
                <a:latin typeface="Open Sans" panose="020B0606030504020204" pitchFamily="34" charset="0"/>
                <a:ea typeface="Open Sans" panose="020B0606030504020204" pitchFamily="34" charset="0"/>
                <a:cs typeface="Open Sans" panose="020B0606030504020204" pitchFamily="34" charset="0"/>
              </a:rPr>
              <a:t>focused</a:t>
            </a: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2683034" y="4843272"/>
            <a:ext cx="2682240" cy="512064"/>
          </a:xfrm>
          <a:prstGeom prst="rect">
            <a:avLst/>
          </a:prstGeom>
          <a:noFill/>
          <a:ln/>
        </p:spPr>
        <p:txBody>
          <a:bodyPr wrap="square" lIns="0" tIns="0" rIns="0" bIns="0" rtlCol="0" anchor="ctr"/>
          <a:lstStyle/>
          <a:p>
            <a:r>
              <a:rPr lang="en-US" sz="1867">
                <a:solidFill>
                  <a:srgbClr val="AAAAAA"/>
                </a:solidFill>
                <a:latin typeface="Open Sans" panose="020B0606030504020204" pitchFamily="34" charset="0"/>
                <a:ea typeface="Open Sans" panose="020B0606030504020204" pitchFamily="34" charset="0"/>
                <a:cs typeface="Open Sans" panose="020B0606030504020204" pitchFamily="34" charset="0"/>
              </a:rPr>
              <a:t>hopeful</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4511834" y="4770120"/>
            <a:ext cx="2682240" cy="512064"/>
          </a:xfrm>
          <a:prstGeom prst="rect">
            <a:avLst/>
          </a:prstGeom>
          <a:noFill/>
          <a:ln/>
        </p:spPr>
        <p:txBody>
          <a:bodyPr wrap="square" lIns="0" tIns="0" rIns="0" bIns="0" rtlCol="0" anchor="ctr"/>
          <a:lstStyle/>
          <a:p>
            <a:r>
              <a:rPr lang="en-US" sz="2533" b="1" dirty="0">
                <a:solidFill>
                  <a:srgbClr val="757575"/>
                </a:solidFill>
                <a:latin typeface="Open Sans" panose="020B0606030504020204" pitchFamily="34" charset="0"/>
                <a:ea typeface="Open Sans" panose="020B0606030504020204" pitchFamily="34" charset="0"/>
                <a:cs typeface="Open Sans" panose="020B0606030504020204" pitchFamily="34" charset="0"/>
              </a:rPr>
              <a:t>motivated</a:t>
            </a:r>
            <a:endParaRPr lang="en-US" sz="2533"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7681754" y="4806696"/>
            <a:ext cx="2682240" cy="512064"/>
          </a:xfrm>
          <a:prstGeom prst="rect">
            <a:avLst/>
          </a:prstGeom>
          <a:noFill/>
          <a:ln/>
        </p:spPr>
        <p:txBody>
          <a:bodyPr wrap="square" lIns="0" tIns="0" rIns="0" bIns="0" rtlCol="0" anchor="ctr"/>
          <a:lstStyle/>
          <a:p>
            <a:r>
              <a:rPr lang="en-US" sz="2000" dirty="0">
                <a:solidFill>
                  <a:srgbClr val="AAAAAA"/>
                </a:solidFill>
                <a:latin typeface="Open Sans" panose="020B0606030504020204" pitchFamily="34" charset="0"/>
                <a:ea typeface="Open Sans" panose="020B0606030504020204" pitchFamily="34" charset="0"/>
                <a:cs typeface="Open Sans" panose="020B0606030504020204" pitchFamily="34" charset="0"/>
              </a:rPr>
              <a:t>challenged</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47A4D02-33C2-0B60-8F49-65F29783266A}"/>
              </a:ext>
            </a:extLst>
          </p:cNvPr>
          <p:cNvSpPr>
            <a:spLocks noGrp="1"/>
          </p:cNvSpPr>
          <p:nvPr>
            <p:ph type="body" sz="quarter" idx="12"/>
          </p:nvPr>
        </p:nvSpPr>
        <p:spPr>
          <a:xfrm>
            <a:off x="483941" y="2562160"/>
            <a:ext cx="1915924" cy="1733680"/>
          </a:xfrm>
        </p:spPr>
        <p:txBody>
          <a:bodyPr/>
          <a:lstStyle/>
          <a:p>
            <a:r>
              <a:rPr lang="en-US" sz="10600" dirty="0">
                <a:latin typeface="Open Sans" panose="020B0606030504020204" pitchFamily="34" charset="0"/>
                <a:ea typeface="Open Sans" panose="020B0606030504020204" pitchFamily="34" charset="0"/>
                <a:cs typeface="Open Sans" panose="020B0606030504020204" pitchFamily="34" charset="0"/>
              </a:rPr>
              <a:t>01</a:t>
            </a:r>
          </a:p>
        </p:txBody>
      </p:sp>
      <p:sp>
        <p:nvSpPr>
          <p:cNvPr id="3" name="Title 2">
            <a:extLst>
              <a:ext uri="{FF2B5EF4-FFF2-40B4-BE49-F238E27FC236}">
                <a16:creationId xmlns:a16="http://schemas.microsoft.com/office/drawing/2014/main" id="{63D3C685-FF45-687A-6611-BAAE28F29C3D}"/>
              </a:ext>
            </a:extLst>
          </p:cNvPr>
          <p:cNvSpPr>
            <a:spLocks noGrp="1"/>
          </p:cNvSpPr>
          <p:nvPr>
            <p:ph type="title"/>
          </p:nvPr>
        </p:nvSpPr>
        <p:spPr>
          <a:xfrm>
            <a:off x="2399865" y="2382623"/>
            <a:ext cx="9064096" cy="2123658"/>
          </a:xfrm>
        </p:spPr>
        <p:txBody>
          <a:bodyPr/>
          <a:lstStyle/>
          <a:p>
            <a:r>
              <a:rPr lang="en-US" sz="6600" dirty="0">
                <a:solidFill>
                  <a:srgbClr val="2D2D2D"/>
                </a:solidFill>
                <a:latin typeface="Open Sans" panose="020B0606030504020204" pitchFamily="34" charset="0"/>
              </a:rPr>
              <a:t>SCOPING AND</a:t>
            </a:r>
            <a:br>
              <a:rPr lang="en-US" sz="6600" dirty="0">
                <a:solidFill>
                  <a:srgbClr val="2D2D2D"/>
                </a:solidFill>
                <a:latin typeface="Open Sans" panose="020B0606030504020204" pitchFamily="34" charset="0"/>
              </a:rPr>
            </a:br>
            <a:r>
              <a:rPr lang="en-US" sz="6600" dirty="0">
                <a:solidFill>
                  <a:srgbClr val="2D2D2D"/>
                </a:solidFill>
                <a:latin typeface="Open Sans" panose="020B0606030504020204" pitchFamily="34" charset="0"/>
              </a:rPr>
              <a:t>BRIEFING YOUR PoC</a:t>
            </a:r>
            <a:endParaRPr lang="en-US" sz="6600" dirty="0">
              <a:latin typeface="Open Sans" panose="020B0606030504020204" pitchFamily="34" charset="0"/>
            </a:endParaRPr>
          </a:p>
        </p:txBody>
      </p:sp>
    </p:spTree>
    <p:extLst>
      <p:ext uri="{BB962C8B-B14F-4D97-AF65-F5344CB8AC3E}">
        <p14:creationId xmlns:p14="http://schemas.microsoft.com/office/powerpoint/2010/main" val="1608212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 Makes a Good PoC Brief</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608287" y="1917085"/>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797208" y="2014621"/>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One user journey</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797208" y="2429149"/>
            <a:ext cx="4864718" cy="48768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Who uses it and what they do — one path, no branches, no secondary flows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608287" y="3575620"/>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7208" y="3673156"/>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One integration</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797208" y="4087684"/>
            <a:ext cx="4864718" cy="487680"/>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One API, one data source, one external connection — not three 'small' ones</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342742" y="1917085"/>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31663" y="2014621"/>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One testable outcome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531663" y="2429149"/>
            <a:ext cx="4864718" cy="48768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 clear binary: does this work or not? If you cannot test it, rewrite it.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6342742" y="3575620"/>
            <a:ext cx="5242560" cy="1097280"/>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6531663" y="3673156"/>
            <a:ext cx="4864718" cy="36576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Deliberately small scope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31663" y="4087684"/>
            <a:ext cx="4864718" cy="487680"/>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If you cannot finish it in a session — cut it until you can. Then cut again.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Questions You Ask Before Building a PoC</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973497"/>
            <a:ext cx="11216640" cy="365760"/>
          </a:xfrm>
          <a:prstGeom prst="rect">
            <a:avLst/>
          </a:prstGeom>
          <a:noFill/>
          <a:ln/>
        </p:spPr>
        <p:txBody>
          <a:bodyPr wrap="square" lIns="0" tIns="0" rIns="0" bIns="0" rtlCol="0" anchor="ctr"/>
          <a:lstStyle/>
          <a:p>
            <a:r>
              <a:rPr lang="en-IN" sz="1600" dirty="0">
                <a:latin typeface="Open Sans" panose="020B0606030504020204" pitchFamily="34" charset="0"/>
                <a:ea typeface="Open Sans" panose="020B0606030504020204" pitchFamily="34" charset="0"/>
                <a:cs typeface="Open Sans" panose="020B0606030504020204" pitchFamily="34" charset="0"/>
              </a:rPr>
              <a:t>Answer these before the first prompt. Each answer becomes a line in SPEC.md.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642980"/>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5" name="Text 3"/>
          <p:cNvSpPr/>
          <p:nvPr/>
        </p:nvSpPr>
        <p:spPr>
          <a:xfrm>
            <a:off x="671354" y="1691748"/>
            <a:ext cx="390144" cy="536448"/>
          </a:xfrm>
          <a:prstGeom prst="rect">
            <a:avLst/>
          </a:prstGeom>
          <a:noFill/>
          <a:ln/>
        </p:spPr>
        <p:txBody>
          <a:bodyPr wrap="square" lIns="0" tIns="0" rIns="0" bIns="0" rtlCol="0" anchor="ctr"/>
          <a:lstStyle/>
          <a:p>
            <a:pPr algn="ctr"/>
            <a:r>
              <a:rPr lang="en-US" sz="2933" b="1" dirty="0">
                <a:solidFill>
                  <a:schemeClr val="accent1"/>
                </a:solidFill>
                <a:latin typeface="Arial" pitchFamily="34" charset="0"/>
                <a:ea typeface="Arial" pitchFamily="34" charset="-122"/>
                <a:cs typeface="Arial" pitchFamily="34" charset="-120"/>
              </a:rPr>
              <a:t>“</a:t>
            </a:r>
            <a:endParaRPr lang="en-US" sz="2933" dirty="0">
              <a:solidFill>
                <a:schemeClr val="accent1"/>
              </a:solidFill>
            </a:endParaRPr>
          </a:p>
        </p:txBody>
      </p:sp>
      <p:sp>
        <p:nvSpPr>
          <p:cNvPr id="6" name="Text 4"/>
          <p:cNvSpPr/>
          <p:nvPr/>
        </p:nvSpPr>
        <p:spPr>
          <a:xfrm>
            <a:off x="1159034" y="1716132"/>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Contract</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must the system guarantee: inputs, outputs, invariants?</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
            <a:extLst>
              <a:ext uri="{FF2B5EF4-FFF2-40B4-BE49-F238E27FC236}">
                <a16:creationId xmlns:a16="http://schemas.microsoft.com/office/drawing/2014/main" id="{5415D811-DA7C-BA41-F606-279A5E6EB619}"/>
              </a:ext>
            </a:extLst>
          </p:cNvPr>
          <p:cNvSpPr/>
          <p:nvPr/>
        </p:nvSpPr>
        <p:spPr>
          <a:xfrm>
            <a:off x="488474" y="2569233"/>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27" name="Text 3">
            <a:extLst>
              <a:ext uri="{FF2B5EF4-FFF2-40B4-BE49-F238E27FC236}">
                <a16:creationId xmlns:a16="http://schemas.microsoft.com/office/drawing/2014/main" id="{36524D82-9034-0A15-1BED-1E529E5A3E12}"/>
              </a:ext>
            </a:extLst>
          </p:cNvPr>
          <p:cNvSpPr/>
          <p:nvPr/>
        </p:nvSpPr>
        <p:spPr>
          <a:xfrm>
            <a:off x="671354" y="2618001"/>
            <a:ext cx="390144" cy="536448"/>
          </a:xfrm>
          <a:prstGeom prst="rect">
            <a:avLst/>
          </a:prstGeom>
          <a:noFill/>
          <a:ln/>
        </p:spPr>
        <p:txBody>
          <a:bodyPr wrap="square" lIns="0" tIns="0" rIns="0" bIns="0" rtlCol="0" anchor="ctr"/>
          <a:lstStyle/>
          <a:p>
            <a:pPr algn="ctr"/>
            <a:r>
              <a:rPr lang="en-US" sz="2933" b="1">
                <a:solidFill>
                  <a:schemeClr val="accent1"/>
                </a:solidFill>
                <a:latin typeface="Arial" pitchFamily="34" charset="0"/>
                <a:ea typeface="Arial" pitchFamily="34" charset="-122"/>
                <a:cs typeface="Arial" pitchFamily="34" charset="-120"/>
              </a:rPr>
              <a:t>“</a:t>
            </a:r>
            <a:endParaRPr lang="en-US" sz="2933">
              <a:solidFill>
                <a:schemeClr val="accent1"/>
              </a:solidFill>
            </a:endParaRPr>
          </a:p>
        </p:txBody>
      </p:sp>
      <p:sp>
        <p:nvSpPr>
          <p:cNvPr id="28" name="Text 4">
            <a:extLst>
              <a:ext uri="{FF2B5EF4-FFF2-40B4-BE49-F238E27FC236}">
                <a16:creationId xmlns:a16="http://schemas.microsoft.com/office/drawing/2014/main" id="{F4FB1CE2-A040-2263-2A7F-C268145B8DFD}"/>
              </a:ext>
            </a:extLst>
          </p:cNvPr>
          <p:cNvSpPr/>
          <p:nvPr/>
        </p:nvSpPr>
        <p:spPr>
          <a:xfrm>
            <a:off x="1159034" y="2642385"/>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Actors &amp; Trust</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Who calls it, and which inputs are untrusted?</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
            <a:extLst>
              <a:ext uri="{FF2B5EF4-FFF2-40B4-BE49-F238E27FC236}">
                <a16:creationId xmlns:a16="http://schemas.microsoft.com/office/drawing/2014/main" id="{6EC02106-AD46-74C4-C4BC-C0867A9B11E2}"/>
              </a:ext>
            </a:extLst>
          </p:cNvPr>
          <p:cNvSpPr/>
          <p:nvPr/>
        </p:nvSpPr>
        <p:spPr>
          <a:xfrm>
            <a:off x="488474" y="3499212"/>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30" name="Text 3">
            <a:extLst>
              <a:ext uri="{FF2B5EF4-FFF2-40B4-BE49-F238E27FC236}">
                <a16:creationId xmlns:a16="http://schemas.microsoft.com/office/drawing/2014/main" id="{3642DBF4-4447-1D19-3EDC-8810D9ACEE18}"/>
              </a:ext>
            </a:extLst>
          </p:cNvPr>
          <p:cNvSpPr/>
          <p:nvPr/>
        </p:nvSpPr>
        <p:spPr>
          <a:xfrm>
            <a:off x="671354" y="3547980"/>
            <a:ext cx="390144" cy="536448"/>
          </a:xfrm>
          <a:prstGeom prst="rect">
            <a:avLst/>
          </a:prstGeom>
          <a:noFill/>
          <a:ln/>
        </p:spPr>
        <p:txBody>
          <a:bodyPr wrap="square" lIns="0" tIns="0" rIns="0" bIns="0" rtlCol="0" anchor="ctr"/>
          <a:lstStyle/>
          <a:p>
            <a:pPr algn="ctr"/>
            <a:r>
              <a:rPr lang="en-US" sz="2933" b="1">
                <a:solidFill>
                  <a:schemeClr val="accent1"/>
                </a:solidFill>
                <a:latin typeface="Arial" pitchFamily="34" charset="0"/>
                <a:ea typeface="Arial" pitchFamily="34" charset="-122"/>
                <a:cs typeface="Arial" pitchFamily="34" charset="-120"/>
              </a:rPr>
              <a:t>“</a:t>
            </a:r>
            <a:endParaRPr lang="en-US" sz="2933">
              <a:solidFill>
                <a:schemeClr val="accent1"/>
              </a:solidFill>
            </a:endParaRPr>
          </a:p>
        </p:txBody>
      </p:sp>
      <p:sp>
        <p:nvSpPr>
          <p:cNvPr id="31" name="Text 4">
            <a:extLst>
              <a:ext uri="{FF2B5EF4-FFF2-40B4-BE49-F238E27FC236}">
                <a16:creationId xmlns:a16="http://schemas.microsoft.com/office/drawing/2014/main" id="{4A4B0FE8-7181-B4F0-449A-4A589BB710ED}"/>
              </a:ext>
            </a:extLst>
          </p:cNvPr>
          <p:cNvSpPr/>
          <p:nvPr/>
        </p:nvSpPr>
        <p:spPr>
          <a:xfrm>
            <a:off x="1159034" y="3572364"/>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Thin Slice</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is the smallest end-to-end path that proves the architecture?</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2">
            <a:extLst>
              <a:ext uri="{FF2B5EF4-FFF2-40B4-BE49-F238E27FC236}">
                <a16:creationId xmlns:a16="http://schemas.microsoft.com/office/drawing/2014/main" id="{2D4F1D2F-0801-91A3-F588-8CF58BF83E3F}"/>
              </a:ext>
            </a:extLst>
          </p:cNvPr>
          <p:cNvSpPr/>
          <p:nvPr/>
        </p:nvSpPr>
        <p:spPr>
          <a:xfrm>
            <a:off x="488474" y="4425465"/>
            <a:ext cx="11216640" cy="658368"/>
          </a:xfrm>
          <a:prstGeom prst="roundRect">
            <a:avLst>
              <a:gd name="adj" fmla="val 11111"/>
            </a:avLst>
          </a:prstGeom>
          <a:solidFill>
            <a:srgbClr val="F5F5F5"/>
          </a:solidFill>
          <a:ln w="6350">
            <a:solidFill>
              <a:srgbClr val="DEDEDE"/>
            </a:solidFill>
            <a:prstDash val="solid"/>
          </a:ln>
          <a:effectLst>
            <a:outerShdw blurRad="63500" dist="25400" dir="2700000" algn="bl" rotWithShape="0">
              <a:srgbClr val="000000">
                <a:alpha val="10000"/>
              </a:srgbClr>
            </a:outerShdw>
          </a:effectLst>
        </p:spPr>
        <p:txBody>
          <a:bodyPr/>
          <a:lstStyle/>
          <a:p>
            <a:endParaRPr lang="en-US" sz="3200"/>
          </a:p>
        </p:txBody>
      </p:sp>
      <p:sp>
        <p:nvSpPr>
          <p:cNvPr id="33" name="Text 3">
            <a:extLst>
              <a:ext uri="{FF2B5EF4-FFF2-40B4-BE49-F238E27FC236}">
                <a16:creationId xmlns:a16="http://schemas.microsoft.com/office/drawing/2014/main" id="{01BAB709-0CC6-1197-71C7-A9AEAEC85233}"/>
              </a:ext>
            </a:extLst>
          </p:cNvPr>
          <p:cNvSpPr/>
          <p:nvPr/>
        </p:nvSpPr>
        <p:spPr>
          <a:xfrm>
            <a:off x="671354" y="4474233"/>
            <a:ext cx="390144" cy="536448"/>
          </a:xfrm>
          <a:prstGeom prst="rect">
            <a:avLst/>
          </a:prstGeom>
          <a:noFill/>
          <a:ln/>
        </p:spPr>
        <p:txBody>
          <a:bodyPr wrap="square" lIns="0" tIns="0" rIns="0" bIns="0" rtlCol="0" anchor="ctr"/>
          <a:lstStyle/>
          <a:p>
            <a:pPr algn="ctr"/>
            <a:r>
              <a:rPr lang="en-US" sz="2933" b="1">
                <a:solidFill>
                  <a:schemeClr val="accent1"/>
                </a:solidFill>
                <a:latin typeface="Arial" pitchFamily="34" charset="0"/>
                <a:ea typeface="Arial" pitchFamily="34" charset="-122"/>
                <a:cs typeface="Arial" pitchFamily="34" charset="-120"/>
              </a:rPr>
              <a:t>“</a:t>
            </a:r>
            <a:endParaRPr lang="en-US" sz="2933">
              <a:solidFill>
                <a:schemeClr val="accent1"/>
              </a:solidFill>
            </a:endParaRPr>
          </a:p>
        </p:txBody>
      </p:sp>
      <p:sp>
        <p:nvSpPr>
          <p:cNvPr id="34" name="Text 4">
            <a:extLst>
              <a:ext uri="{FF2B5EF4-FFF2-40B4-BE49-F238E27FC236}">
                <a16:creationId xmlns:a16="http://schemas.microsoft.com/office/drawing/2014/main" id="{488C08E0-B57C-EFFE-B083-0288BA176531}"/>
              </a:ext>
            </a:extLst>
          </p:cNvPr>
          <p:cNvSpPr/>
          <p:nvPr/>
        </p:nvSpPr>
        <p:spPr>
          <a:xfrm>
            <a:off x="1159034" y="4498617"/>
            <a:ext cx="10363200" cy="48768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Data &amp; Failure</a:t>
            </a:r>
          </a:p>
          <a:p>
            <a:r>
              <a:rPr lang="en-US" sz="1600" i="1"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rPr>
              <a:t>What schema, and what happens when the model or API fails?</a:t>
            </a:r>
            <a:endParaRPr lang="en-US" sz="1600" dirty="0">
              <a:solidFill>
                <a:schemeClr val="tx1">
                  <a:lumMod val="60000"/>
                  <a:lumOff val="40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5" name="TextBox 34">
            <a:extLst>
              <a:ext uri="{FF2B5EF4-FFF2-40B4-BE49-F238E27FC236}">
                <a16:creationId xmlns:a16="http://schemas.microsoft.com/office/drawing/2014/main" id="{F7FE22B6-BC98-032D-493A-6C0A74D782EB}"/>
              </a:ext>
            </a:extLst>
          </p:cNvPr>
          <p:cNvSpPr txBox="1"/>
          <p:nvPr/>
        </p:nvSpPr>
        <p:spPr>
          <a:xfrm>
            <a:off x="1463895" y="5387557"/>
            <a:ext cx="9265799" cy="379656"/>
          </a:xfrm>
          <a:prstGeom prst="rect">
            <a:avLst/>
          </a:prstGeom>
          <a:noFill/>
        </p:spPr>
        <p:txBody>
          <a:bodyPr wrap="square" rtlCol="0">
            <a:spAutoFit/>
          </a:bodyPr>
          <a:lstStyle/>
          <a:p>
            <a:r>
              <a:rPr lang="en-US" sz="1800" dirty="0">
                <a:solidFill>
                  <a:schemeClr val="tx1">
                    <a:lumMod val="60000"/>
                    <a:lumOff val="40000"/>
                  </a:schemeClr>
                </a:solidFill>
              </a:rPr>
              <a:t>Exercise: add two questions of your own, e.g. latency budget, cost per call, or eval metric.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The Four Elements of PoC Brief</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Write this before you open Claude Code. Every element has a job.</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439443"/>
            <a:ext cx="5486400" cy="2292096"/>
          </a:xfrm>
          <a:prstGeom prst="roundRect">
            <a:avLst>
              <a:gd name="adj" fmla="val 5319"/>
            </a:avLst>
          </a:prstGeom>
          <a:solidFill>
            <a:srgbClr val="E3F2FD"/>
          </a:solidFill>
          <a:ln w="15240">
            <a:solidFill>
              <a:schemeClr val="accent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659162" y="1610131"/>
            <a:ext cx="463296" cy="463296"/>
          </a:xfrm>
          <a:prstGeom prst="ellipse">
            <a:avLst/>
          </a:prstGeom>
          <a:solidFill>
            <a:schemeClr val="accent2"/>
          </a:solidFill>
          <a:ln w="12700">
            <a:solidFill>
              <a:schemeClr val="accent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659162" y="1610131"/>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1244378" y="1628419"/>
            <a:ext cx="4572000" cy="42672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What does it do?</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59162" y="2262403"/>
            <a:ext cx="5145024" cy="46329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One sentence. Active voice. Name the action and the output.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659162" y="2737891"/>
            <a:ext cx="5145024" cy="926592"/>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"An API that turns a structured discharge record into a Claude-drafted, clinician-approved patient summary."</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88474" y="3902227"/>
            <a:ext cx="5486400" cy="2292096"/>
          </a:xfrm>
          <a:prstGeom prst="roundRect">
            <a:avLst>
              <a:gd name="adj" fmla="val 5319"/>
            </a:avLst>
          </a:prstGeom>
          <a:solidFill>
            <a:srgbClr val="FFF8E1"/>
          </a:solidFill>
          <a:ln w="15240">
            <a:solidFill>
              <a:schemeClr val="accent1"/>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659162" y="4072915"/>
            <a:ext cx="463296" cy="463296"/>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659162" y="4072915"/>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244378" y="4091203"/>
            <a:ext cx="4572000" cy="42672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Who uses it?</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9162" y="4702376"/>
            <a:ext cx="5145024" cy="46329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Name the role and the context. Not 'the team' — the specific person in a specific moment.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59162" y="5165672"/>
            <a:ext cx="5145024" cy="926592"/>
          </a:xfrm>
          <a:prstGeom prst="rect">
            <a:avLst/>
          </a:prstGeom>
          <a:noFill/>
          <a:ln/>
        </p:spPr>
        <p:txBody>
          <a:bodyPr wrap="square" lIns="0" tIns="0" rIns="0" bIns="0" rtlCol="0" anchor="ctr"/>
          <a:lstStyle/>
          <a:p>
            <a:r>
              <a:rPr lang="en-US" sz="1400" i="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 discharging clinician submits; a second clinician reviews the draft in the console before release."</a:t>
            </a:r>
            <a:endPar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6218714" y="1439443"/>
            <a:ext cx="5486400" cy="2292096"/>
          </a:xfrm>
          <a:prstGeom prst="roundRect">
            <a:avLst>
              <a:gd name="adj" fmla="val 5319"/>
            </a:avLst>
          </a:prstGeom>
          <a:solidFill>
            <a:srgbClr val="ECFDF5"/>
          </a:solidFill>
          <a:ln w="1524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6389402" y="1610131"/>
            <a:ext cx="463296" cy="463296"/>
          </a:xfrm>
          <a:prstGeom prst="ellipse">
            <a:avLst/>
          </a:prstGeom>
          <a:solidFill>
            <a:srgbClr val="00B050"/>
          </a:solidFill>
          <a:ln w="1270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389402" y="1610131"/>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6974618" y="1628419"/>
            <a:ext cx="4572000" cy="42672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What does success look like?</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6389402" y="2262403"/>
            <a:ext cx="5145024" cy="46329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One testable outcome. If you cannot verify it in under 60 seconds, rewrite it.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6389402" y="2737891"/>
            <a:ext cx="5145024" cy="926592"/>
          </a:xfrm>
          <a:prstGeom prst="rect">
            <a:avLst/>
          </a:prstGeom>
          <a:noFill/>
          <a:ln/>
        </p:spPr>
        <p:txBody>
          <a:bodyPr wrap="square" lIns="0" tIns="0" rIns="0" bIns="0" rtlCol="0" anchor="ctr"/>
          <a:lstStyle/>
          <a:p>
            <a:r>
              <a:rPr lang="en-US" sz="1400" i="1">
                <a:solidFill>
                  <a:srgbClr val="2E7D32"/>
                </a:solidFill>
                <a:latin typeface="Open Sans" panose="020B0606030504020204" pitchFamily="34" charset="0"/>
                <a:ea typeface="Open Sans" panose="020B0606030504020204" pitchFamily="34" charset="0"/>
                <a:cs typeface="Open Sans" panose="020B0606030504020204" pitchFamily="34" charset="0"/>
              </a:rPr>
              <a:t>"POST /discharges/{id}/drafts returns 201 with a schema-valid draft; approval by the submitter returns 403."</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6218714" y="3902227"/>
            <a:ext cx="5486400" cy="2292096"/>
          </a:xfrm>
          <a:prstGeom prst="roundRect">
            <a:avLst>
              <a:gd name="adj" fmla="val 5319"/>
            </a:avLst>
          </a:prstGeom>
          <a:solidFill>
            <a:srgbClr val="FFF2F2"/>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6389402" y="4072915"/>
            <a:ext cx="463296" cy="463296"/>
          </a:xfrm>
          <a:prstGeom prst="ellipse">
            <a:avLst/>
          </a:prstGeom>
          <a:solidFill>
            <a:schemeClr val="accent3"/>
          </a:solidFill>
          <a:ln w="12700">
            <a:solidFill>
              <a:schemeClr val="accent3"/>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6389402" y="4072915"/>
            <a:ext cx="463296" cy="463296"/>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6974618" y="4091203"/>
            <a:ext cx="4572000" cy="42672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What is deliberately out of scope?</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6389402" y="4702376"/>
            <a:ext cx="5145024" cy="46329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Name what you will not build. This is as important as what you will.</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6389402" y="5165672"/>
            <a:ext cx="5145024" cy="926592"/>
          </a:xfrm>
          <a:prstGeom prst="rect">
            <a:avLst/>
          </a:prstGeom>
          <a:noFill/>
          <a:ln/>
        </p:spPr>
        <p:txBody>
          <a:bodyPr wrap="square" lIns="0" tIns="0" rIns="0" bIns="0" rtlCol="0" anchor="ctr"/>
          <a:lstStyle/>
          <a:p>
            <a:r>
              <a:rPr lang="en-US" sz="1400" i="1" dirty="0">
                <a:solidFill>
                  <a:schemeClr val="accent3"/>
                </a:solidFill>
                <a:latin typeface="Open Sans" panose="020B0606030504020204" pitchFamily="34" charset="0"/>
                <a:ea typeface="Open Sans" panose="020B0606030504020204" pitchFamily="34" charset="0"/>
                <a:cs typeface="Open Sans" panose="020B0606030504020204" pitchFamily="34" charset="0"/>
              </a:rPr>
              <a:t>"No EHR integration. No real PHI. No SSO. English only."</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Common Scoping Mistakes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488474" y="121920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671354" y="1560576"/>
            <a:ext cx="390144" cy="390144"/>
          </a:xfrm>
          <a:prstGeom prst="rect">
            <a:avLst/>
          </a:prstGeom>
          <a:noFill/>
          <a:ln/>
        </p:spPr>
        <p:txBody>
          <a:bodyPr wrap="square" lIns="0" tIns="0" rIns="0" bIns="0" rtlCol="0" anchor="ctr"/>
          <a:lstStyle/>
          <a:p>
            <a:pPr algn="ctr"/>
            <a:r>
              <a:rPr lang="en-US" sz="20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1159034" y="1359408"/>
            <a:ext cx="4450080" cy="79248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Trying to build a product instead of a proof</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5877338" y="156057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6401594" y="121920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584474" y="1560576"/>
            <a:ext cx="390144" cy="390144"/>
          </a:xfrm>
          <a:prstGeom prst="rect">
            <a:avLst/>
          </a:prstGeom>
          <a:noFill/>
          <a:ln/>
        </p:spPr>
        <p:txBody>
          <a:bodyPr wrap="square" lIns="0" tIns="0" rIns="0" bIns="0" rtlCol="0" anchor="ctr"/>
          <a:lstStyle/>
          <a:p>
            <a:pPr algn="ctr"/>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072154" y="1359408"/>
            <a:ext cx="4450080" cy="79248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Ask: what is the one question this needs to answer? Build only that.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88474" y="249936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71354" y="2840736"/>
            <a:ext cx="390144" cy="390144"/>
          </a:xfrm>
          <a:prstGeom prst="rect">
            <a:avLst/>
          </a:prstGeom>
          <a:noFill/>
          <a:ln/>
        </p:spPr>
        <p:txBody>
          <a:bodyPr wrap="square" lIns="0" tIns="0" rIns="0" bIns="0" rtlCol="0" anchor="ctr"/>
          <a:lstStyle/>
          <a:p>
            <a:pPr algn="ctr"/>
            <a:r>
              <a:rPr lang="en-US" sz="20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159034" y="263956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Not defining what 'done' looks like before starting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5877338" y="284073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401594" y="249936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584474" y="2840736"/>
            <a:ext cx="390144" cy="390144"/>
          </a:xfrm>
          <a:prstGeom prst="rect">
            <a:avLst/>
          </a:prstGeom>
          <a:noFill/>
          <a:ln/>
        </p:spPr>
        <p:txBody>
          <a:bodyPr wrap="square" lIns="0" tIns="0" rIns="0" bIns="0" rtlCol="0" anchor="ctr"/>
          <a:lstStyle/>
          <a:p>
            <a:pPr algn="ctr"/>
            <a:r>
              <a:rPr lang="en-US" sz="20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7072154" y="263956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Write your success criterion first. If you cannot test it, rewrite it.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488474" y="377952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71354" y="4120896"/>
            <a:ext cx="390144" cy="390144"/>
          </a:xfrm>
          <a:prstGeom prst="rect">
            <a:avLst/>
          </a:prstGeom>
          <a:noFill/>
          <a:ln/>
        </p:spPr>
        <p:txBody>
          <a:bodyPr wrap="square" lIns="0" tIns="0" rIns="0" bIns="0" rtlCol="0" anchor="ctr"/>
          <a:lstStyle/>
          <a:p>
            <a:pPr algn="ctr"/>
            <a:r>
              <a:rPr lang="en-US" sz="2000"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159034" y="391972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Letting Claude expand scope mid-build</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5877338" y="412089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401594" y="377952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84474" y="4120896"/>
            <a:ext cx="390144" cy="390144"/>
          </a:xfrm>
          <a:prstGeom prst="rect">
            <a:avLst/>
          </a:prstGeom>
          <a:noFill/>
          <a:ln/>
        </p:spPr>
        <p:txBody>
          <a:bodyPr wrap="square" lIns="0" tIns="0" rIns="0" bIns="0" rtlCol="0" anchor="ctr"/>
          <a:lstStyle/>
          <a:p>
            <a:pPr algn="ctr"/>
            <a:r>
              <a:rPr lang="en-US" sz="20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7072154" y="391972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When Claude suggests extras, add them to a backlog — not the current session.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488474" y="5059680"/>
            <a:ext cx="5303520" cy="1072896"/>
          </a:xfrm>
          <a:prstGeom prst="roundRect">
            <a:avLst>
              <a:gd name="adj" fmla="val 7955"/>
            </a:avLst>
          </a:prstGeom>
          <a:solidFill>
            <a:srgbClr val="FFF2F2"/>
          </a:solidFill>
          <a:ln w="1016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671354" y="5401056"/>
            <a:ext cx="390144" cy="390144"/>
          </a:xfrm>
          <a:prstGeom prst="rect">
            <a:avLst/>
          </a:prstGeom>
          <a:noFill/>
          <a:ln/>
        </p:spPr>
        <p:txBody>
          <a:bodyPr wrap="square" lIns="0" tIns="0" rIns="0" bIns="0" rtlCol="0" anchor="ctr"/>
          <a:lstStyle/>
          <a:p>
            <a:pPr algn="ctr"/>
            <a:r>
              <a:rPr lang="en-US" sz="20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20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1159034" y="5199888"/>
            <a:ext cx="4450080" cy="792480"/>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Choosing a toy example instead of a real problem</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5877338" y="5401056"/>
            <a:ext cx="438912" cy="390144"/>
          </a:xfrm>
          <a:prstGeom prst="rect">
            <a:avLst/>
          </a:prstGeom>
          <a:noFill/>
          <a:ln/>
        </p:spPr>
        <p:txBody>
          <a:bodyPr wrap="square" lIns="0" tIns="0" rIns="0" bIns="0" rtlCol="0" anchor="ctr"/>
          <a:lstStyle/>
          <a:p>
            <a:pPr algn="ctr"/>
            <a:r>
              <a:rPr lang="en-US" sz="2133">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6401594" y="5059680"/>
            <a:ext cx="5303520" cy="1072896"/>
          </a:xfrm>
          <a:prstGeom prst="roundRect">
            <a:avLst>
              <a:gd name="adj" fmla="val 7955"/>
            </a:avLst>
          </a:prstGeom>
          <a:solidFill>
            <a:srgbClr val="ECFEF6"/>
          </a:solidFill>
          <a:ln w="1016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6584474" y="5401056"/>
            <a:ext cx="390144" cy="390144"/>
          </a:xfrm>
          <a:prstGeom prst="rect">
            <a:avLst/>
          </a:prstGeom>
          <a:noFill/>
          <a:ln/>
        </p:spPr>
        <p:txBody>
          <a:bodyPr wrap="square" lIns="0" tIns="0" rIns="0" bIns="0" rtlCol="0" anchor="ctr"/>
          <a:lstStyle/>
          <a:p>
            <a:pPr algn="ctr"/>
            <a:r>
              <a:rPr lang="en-US" sz="2000"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20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7072154" y="5199888"/>
            <a:ext cx="4450080" cy="79248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If you would not use the output in your actual work, pick a different problem.</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75C6BDF8-7C4E-B9A2-F878-A7F679435668}"/>
              </a:ext>
            </a:extLst>
          </p:cNvPr>
          <p:cNvSpPr/>
          <p:nvPr/>
        </p:nvSpPr>
        <p:spPr>
          <a:xfrm>
            <a:off x="537294" y="139190"/>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Components of a PoC</a:t>
            </a:r>
          </a:p>
        </p:txBody>
      </p:sp>
      <p:graphicFrame>
        <p:nvGraphicFramePr>
          <p:cNvPr id="18" name="Diagram 17">
            <a:extLst>
              <a:ext uri="{FF2B5EF4-FFF2-40B4-BE49-F238E27FC236}">
                <a16:creationId xmlns:a16="http://schemas.microsoft.com/office/drawing/2014/main" id="{0C29CDC0-3C9C-FD17-D82C-55612EE1DAC5}"/>
              </a:ext>
            </a:extLst>
          </p:cNvPr>
          <p:cNvGraphicFramePr/>
          <p:nvPr>
            <p:extLst>
              <p:ext uri="{D42A27DB-BD31-4B8C-83A1-F6EECF244321}">
                <p14:modId xmlns:p14="http://schemas.microsoft.com/office/powerpoint/2010/main" val="1769190232"/>
              </p:ext>
            </p:extLst>
          </p:nvPr>
        </p:nvGraphicFramePr>
        <p:xfrm>
          <a:off x="537293" y="1427356"/>
          <a:ext cx="11204941" cy="4711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5523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20A8-D451-FF2A-C0DA-9D80EB54EAFF}"/>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08A37D9-5940-D792-4BFE-E559A4154160}"/>
              </a:ext>
            </a:extLst>
          </p:cNvPr>
          <p:cNvSpPr/>
          <p:nvPr/>
        </p:nvSpPr>
        <p:spPr>
          <a:xfrm>
            <a:off x="537294" y="139190"/>
            <a:ext cx="10824035" cy="851329"/>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3 Usable Problem Statements</a:t>
            </a:r>
          </a:p>
        </p:txBody>
      </p:sp>
      <p:sp>
        <p:nvSpPr>
          <p:cNvPr id="5" name="Shape 1">
            <a:extLst>
              <a:ext uri="{FF2B5EF4-FFF2-40B4-BE49-F238E27FC236}">
                <a16:creationId xmlns:a16="http://schemas.microsoft.com/office/drawing/2014/main" id="{5529032D-923F-F789-CA94-BC88A6CCBF0E}"/>
              </a:ext>
            </a:extLst>
          </p:cNvPr>
          <p:cNvSpPr/>
          <p:nvPr/>
        </p:nvSpPr>
        <p:spPr>
          <a:xfrm>
            <a:off x="537294" y="1579773"/>
            <a:ext cx="3620148" cy="3647374"/>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2">
            <a:extLst>
              <a:ext uri="{FF2B5EF4-FFF2-40B4-BE49-F238E27FC236}">
                <a16:creationId xmlns:a16="http://schemas.microsoft.com/office/drawing/2014/main" id="{34586A33-CE0B-73FD-B140-2C5A49EE22D3}"/>
              </a:ext>
            </a:extLst>
          </p:cNvPr>
          <p:cNvSpPr/>
          <p:nvPr/>
        </p:nvSpPr>
        <p:spPr>
          <a:xfrm>
            <a:off x="667750" y="1903984"/>
            <a:ext cx="3359237" cy="393167"/>
          </a:xfrm>
          <a:prstGeom prst="rect">
            <a:avLst/>
          </a:prstGeom>
          <a:noFill/>
          <a:ln/>
        </p:spPr>
        <p:txBody>
          <a:bodyPr wrap="square" lIns="0" tIns="0" rIns="0" bIns="0" rtlCol="0" anchor="t"/>
          <a:lstStyle/>
          <a:p>
            <a:r>
              <a:rPr lang="en-US" sz="1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ExpenseFlow</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Text 3">
            <a:extLst>
              <a:ext uri="{FF2B5EF4-FFF2-40B4-BE49-F238E27FC236}">
                <a16:creationId xmlns:a16="http://schemas.microsoft.com/office/drawing/2014/main" id="{20BDE820-3EC6-6BF0-3FE7-7C1E6B6ADFCA}"/>
              </a:ext>
            </a:extLst>
          </p:cNvPr>
          <p:cNvSpPr/>
          <p:nvPr/>
        </p:nvSpPr>
        <p:spPr>
          <a:xfrm>
            <a:off x="667750" y="2386361"/>
            <a:ext cx="3359237" cy="2516576"/>
          </a:xfrm>
          <a:prstGeom prst="rect">
            <a:avLst/>
          </a:prstGeom>
          <a:noFill/>
          <a:ln/>
        </p:spPr>
        <p:txBody>
          <a:bodyPr wrap="square" lIns="0" tIns="0" rIns="0" bIns="0" rtlCol="0" anchor="t"/>
          <a:lstStyle/>
          <a:p>
            <a:r>
              <a:rPr lang="en-US" sz="1600" b="1"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it does:</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Submit an expense, store it, normalize to INR</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Generate an AI spending insight via Claude API</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Approver accepts or rejects the submission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1">
            <a:extLst>
              <a:ext uri="{FF2B5EF4-FFF2-40B4-BE49-F238E27FC236}">
                <a16:creationId xmlns:a16="http://schemas.microsoft.com/office/drawing/2014/main" id="{2F12F40D-A362-ED53-55E2-FA72D85D75B3}"/>
              </a:ext>
            </a:extLst>
          </p:cNvPr>
          <p:cNvSpPr/>
          <p:nvPr/>
        </p:nvSpPr>
        <p:spPr>
          <a:xfrm>
            <a:off x="4427732" y="1579773"/>
            <a:ext cx="3620148" cy="3647374"/>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2">
            <a:extLst>
              <a:ext uri="{FF2B5EF4-FFF2-40B4-BE49-F238E27FC236}">
                <a16:creationId xmlns:a16="http://schemas.microsoft.com/office/drawing/2014/main" id="{6073024F-9D4B-334F-FE1F-D3F280345D5C}"/>
              </a:ext>
            </a:extLst>
          </p:cNvPr>
          <p:cNvSpPr/>
          <p:nvPr/>
        </p:nvSpPr>
        <p:spPr>
          <a:xfrm>
            <a:off x="4558188" y="1903984"/>
            <a:ext cx="3359237" cy="393167"/>
          </a:xfrm>
          <a:prstGeom prst="rect">
            <a:avLst/>
          </a:prstGeom>
          <a:noFill/>
          <a:ln/>
        </p:spPr>
        <p:txBody>
          <a:bodyPr wrap="square" lIns="0" tIns="0" rIns="0" bIns="0" rtlCol="0" anchor="t"/>
          <a:lstStyle/>
          <a:p>
            <a:r>
              <a:rPr lang="en-US" sz="1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DischargeFlow</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3">
            <a:extLst>
              <a:ext uri="{FF2B5EF4-FFF2-40B4-BE49-F238E27FC236}">
                <a16:creationId xmlns:a16="http://schemas.microsoft.com/office/drawing/2014/main" id="{1D1BF3AF-0364-7AE8-5A5A-C888AD0F4F64}"/>
              </a:ext>
            </a:extLst>
          </p:cNvPr>
          <p:cNvSpPr/>
          <p:nvPr/>
        </p:nvSpPr>
        <p:spPr>
          <a:xfrm>
            <a:off x="4558188" y="2621363"/>
            <a:ext cx="3359237" cy="2281574"/>
          </a:xfrm>
          <a:prstGeom prst="rect">
            <a:avLst/>
          </a:prstGeom>
          <a:noFill/>
          <a:ln/>
        </p:spPr>
        <p:txBody>
          <a:bodyPr wrap="square" lIns="0" tIns="0" rIns="0" bIns="0" rtlCol="0" anchor="ctr"/>
          <a:lstStyle/>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
            <a:extLst>
              <a:ext uri="{FF2B5EF4-FFF2-40B4-BE49-F238E27FC236}">
                <a16:creationId xmlns:a16="http://schemas.microsoft.com/office/drawing/2014/main" id="{591DD61D-7BC4-6F83-7C13-AB38CC8CBF73}"/>
              </a:ext>
            </a:extLst>
          </p:cNvPr>
          <p:cNvSpPr/>
          <p:nvPr/>
        </p:nvSpPr>
        <p:spPr>
          <a:xfrm>
            <a:off x="8318171" y="1570472"/>
            <a:ext cx="3620148" cy="3647374"/>
          </a:xfrm>
          <a:prstGeom prst="roundRect">
            <a:avLst>
              <a:gd name="adj" fmla="val 888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2">
            <a:extLst>
              <a:ext uri="{FF2B5EF4-FFF2-40B4-BE49-F238E27FC236}">
                <a16:creationId xmlns:a16="http://schemas.microsoft.com/office/drawing/2014/main" id="{32DCA2E7-11E0-13F0-A110-17B93F48088C}"/>
              </a:ext>
            </a:extLst>
          </p:cNvPr>
          <p:cNvSpPr/>
          <p:nvPr/>
        </p:nvSpPr>
        <p:spPr>
          <a:xfrm>
            <a:off x="8448627" y="1894683"/>
            <a:ext cx="3359237" cy="393167"/>
          </a:xfrm>
          <a:prstGeom prst="rect">
            <a:avLst/>
          </a:prstGeom>
          <a:noFill/>
          <a:ln/>
        </p:spPr>
        <p:txBody>
          <a:bodyPr wrap="square" lIns="0" tIns="0" rIns="0" bIns="0" rtlCol="0" anchor="t"/>
          <a:lstStyle/>
          <a:p>
            <a:r>
              <a:rPr lang="en-US" sz="18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ReturnFlow</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3">
            <a:extLst>
              <a:ext uri="{FF2B5EF4-FFF2-40B4-BE49-F238E27FC236}">
                <a16:creationId xmlns:a16="http://schemas.microsoft.com/office/drawing/2014/main" id="{91214079-0D91-6DE8-6107-A6AE7925BDAC}"/>
              </a:ext>
            </a:extLst>
          </p:cNvPr>
          <p:cNvSpPr/>
          <p:nvPr/>
        </p:nvSpPr>
        <p:spPr>
          <a:xfrm>
            <a:off x="8448627" y="2386361"/>
            <a:ext cx="3359237" cy="2507275"/>
          </a:xfrm>
          <a:prstGeom prst="rect">
            <a:avLst/>
          </a:prstGeom>
          <a:noFill/>
          <a:ln/>
        </p:spPr>
        <p:txBody>
          <a:bodyPr wrap="square" lIns="0" tIns="0" rIns="0" bIns="0" rtlCol="0" anchor="t"/>
          <a:lstStyle/>
          <a:p>
            <a:r>
              <a:rPr lang="en-US" sz="1600" b="1"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it does:</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Customer raises a return against an order line</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Return window eligibility is computed server-side</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Claude API generates a returns insight. Agent approves or rejects with a disposition</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3">
            <a:extLst>
              <a:ext uri="{FF2B5EF4-FFF2-40B4-BE49-F238E27FC236}">
                <a16:creationId xmlns:a16="http://schemas.microsoft.com/office/drawing/2014/main" id="{09C63338-41F7-7908-4FBD-8E1C8B12648C}"/>
              </a:ext>
            </a:extLst>
          </p:cNvPr>
          <p:cNvSpPr/>
          <p:nvPr/>
        </p:nvSpPr>
        <p:spPr>
          <a:xfrm>
            <a:off x="4558188" y="2386361"/>
            <a:ext cx="3359237" cy="2516576"/>
          </a:xfrm>
          <a:prstGeom prst="rect">
            <a:avLst/>
          </a:prstGeom>
          <a:noFill/>
          <a:ln/>
        </p:spPr>
        <p:txBody>
          <a:bodyPr wrap="square" lIns="0" tIns="0" rIns="0" bIns="0" rtlCol="0" anchor="t"/>
          <a:lstStyle/>
          <a:p>
            <a:r>
              <a:rPr lang="en-US" sz="1600" b="1" dirty="0">
                <a:solidFill>
                  <a:srgbClr val="757575"/>
                </a:solidFill>
                <a:latin typeface="Open Sans" panose="020B0606030504020204" pitchFamily="34" charset="0"/>
                <a:ea typeface="Open Sans" panose="020B0606030504020204" pitchFamily="34" charset="0"/>
                <a:cs typeface="Open Sans" panose="020B0606030504020204" pitchFamily="34" charset="0"/>
              </a:rPr>
              <a:t>What it does:</a:t>
            </a:r>
          </a:p>
          <a:p>
            <a:endPar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Clinician submits a structured discharge record</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Claude API drafts a plain-language patient summary</a:t>
            </a:r>
          </a:p>
          <a:p>
            <a:pPr marL="285750" indent="-285750">
              <a:buFont typeface="Arial" panose="020B0604020202020204" pitchFamily="34" charset="0"/>
              <a:buChar char="•"/>
            </a:pPr>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Reviewing clinician approves or rejects the draft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51682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26431" y="256723"/>
            <a:ext cx="11094720" cy="609600"/>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From Brief to </a:t>
            </a:r>
            <a:r>
              <a:rPr lang="en-US" sz="3600" b="1" dirty="0" err="1">
                <a:latin typeface="Open Sans" panose="020B0606030504020204" pitchFamily="34" charset="0"/>
                <a:ea typeface="Open Sans" panose="020B0606030504020204" pitchFamily="34" charset="0"/>
                <a:cs typeface="Open Sans" panose="020B0606030504020204" pitchFamily="34" charset="0"/>
              </a:rPr>
              <a:t>CLAUDE.md</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549434" y="877824"/>
            <a:ext cx="11094720" cy="316992"/>
          </a:xfrm>
          <a:prstGeom prst="rect">
            <a:avLst/>
          </a:prstGeom>
          <a:noFill/>
          <a:ln/>
        </p:spPr>
        <p:txBody>
          <a:bodyPr wrap="square" lIns="0" tIns="0" rIns="0" bIns="0" rtlCol="0" anchor="ctr"/>
          <a:lstStyle/>
          <a:p>
            <a:r>
              <a:rPr lang="en-US" sz="1600" dirty="0">
                <a:solidFill>
                  <a:srgbClr val="555555"/>
                </a:solidFill>
                <a:latin typeface="Open Sans" panose="020B0606030504020204" pitchFamily="34" charset="0"/>
                <a:ea typeface="Open Sans" panose="020B0606030504020204" pitchFamily="34" charset="0"/>
                <a:cs typeface="Open Sans" panose="020B0606030504020204" pitchFamily="34" charset="0"/>
              </a:rPr>
              <a:t>Your brief becomes the standing instruction that keeps Claude Code focused throughout the build.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549434" y="1370617"/>
            <a:ext cx="5242560" cy="4998720"/>
          </a:xfrm>
          <a:prstGeom prst="roundRect">
            <a:avLst>
              <a:gd name="adj" fmla="val 2439"/>
            </a:avLst>
          </a:prstGeom>
          <a:solidFill>
            <a:srgbClr val="F2F2F2"/>
          </a:solidFill>
          <a:ln w="6350">
            <a:solidFill>
              <a:srgbClr val="DDDDDD"/>
            </a:solidFill>
            <a:prstDash val="solid"/>
          </a:ln>
          <a:effectLst>
            <a:outerShdw blurRad="63500" dist="25400" dir="2700000" algn="bl" rotWithShape="0">
              <a:srgbClr val="000000">
                <a:alpha val="9000"/>
              </a:srgbClr>
            </a:outerShdw>
          </a:effectLst>
        </p:spPr>
        <p:txBody>
          <a:bodyPr/>
          <a:lstStyle/>
          <a:p>
            <a:endParaRPr lang="en-US" sz="3200"/>
          </a:p>
        </p:txBody>
      </p:sp>
      <p:sp>
        <p:nvSpPr>
          <p:cNvPr id="5" name="Text 3"/>
          <p:cNvSpPr/>
          <p:nvPr/>
        </p:nvSpPr>
        <p:spPr>
          <a:xfrm>
            <a:off x="549434" y="1370617"/>
            <a:ext cx="5242560" cy="463296"/>
          </a:xfrm>
          <a:prstGeom prst="rect">
            <a:avLst/>
          </a:prstGeom>
          <a:noFill/>
          <a:ln/>
        </p:spPr>
        <p:txBody>
          <a:bodyPr wrap="square" lIns="0" tIns="0" rIns="0" bIns="0" rtlCol="0" anchor="ctr"/>
          <a:lstStyle/>
          <a:p>
            <a:pPr algn="ctr"/>
            <a:r>
              <a:rPr lang="en-US" sz="14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PoC BRIEF</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793274" y="1882681"/>
            <a:ext cx="4754880" cy="4291584"/>
          </a:xfrm>
          <a:prstGeom prst="rect">
            <a:avLst/>
          </a:prstGeom>
          <a:noFill/>
          <a:ln/>
        </p:spPr>
        <p:txBody>
          <a:bodyPr wrap="square" lIns="0" tIns="0" rIns="0" bIns="0" rtlCol="0" anchor="t"/>
          <a:lstStyle/>
          <a:p>
            <a:r>
              <a:rPr lang="en-US" sz="1267">
                <a:solidFill>
                  <a:srgbClr val="2D2D2D"/>
                </a:solidFill>
                <a:latin typeface="Courier New" pitchFamily="34" charset="0"/>
                <a:ea typeface="Courier New" pitchFamily="34" charset="-122"/>
                <a:cs typeface="Courier New" pitchFamily="34" charset="-120"/>
              </a:rPr>
              <a:t>What: Discharge API that turns structured</a:t>
            </a:r>
            <a:endParaRPr lang="en-US" sz="1267"/>
          </a:p>
          <a:p>
            <a:r>
              <a:rPr lang="en-US" sz="1267">
                <a:solidFill>
                  <a:srgbClr val="2D2D2D"/>
                </a:solidFill>
                <a:latin typeface="Courier New" pitchFamily="34" charset="0"/>
                <a:ea typeface="Courier New" pitchFamily="34" charset="-122"/>
                <a:cs typeface="Courier New" pitchFamily="34" charset="-120"/>
              </a:rPr>
              <a:t>      records into plain-language patient</a:t>
            </a:r>
            <a:endParaRPr lang="en-US" sz="1267"/>
          </a:p>
          <a:p>
            <a:r>
              <a:rPr lang="en-US" sz="1267">
                <a:solidFill>
                  <a:srgbClr val="2D2D2D"/>
                </a:solidFill>
                <a:latin typeface="Courier New" pitchFamily="34" charset="0"/>
                <a:ea typeface="Courier New" pitchFamily="34" charset="-122"/>
                <a:cs typeface="Courier New" pitchFamily="34" charset="-120"/>
              </a:rPr>
              <a:t>      summaries via Claude, grounded by</a:t>
            </a:r>
            <a:endParaRPr lang="en-US" sz="1267"/>
          </a:p>
          <a:p>
            <a:r>
              <a:rPr lang="en-US" sz="1267">
                <a:solidFill>
                  <a:srgbClr val="2D2D2D"/>
                </a:solidFill>
                <a:latin typeface="Courier New" pitchFamily="34" charset="0"/>
                <a:ea typeface="Courier New" pitchFamily="34" charset="-122"/>
                <a:cs typeface="Courier New" pitchFamily="34" charset="-120"/>
              </a:rPr>
              <a:t>      reference summaries (RAG)</a:t>
            </a:r>
            <a:endParaRPr lang="en-US" sz="1267"/>
          </a:p>
          <a:p>
            <a:endParaRPr lang="en-US" sz="1267"/>
          </a:p>
          <a:p>
            <a:r>
              <a:rPr lang="en-US" sz="1267">
                <a:solidFill>
                  <a:srgbClr val="2D2D2D"/>
                </a:solidFill>
                <a:latin typeface="Courier New" pitchFamily="34" charset="0"/>
                <a:ea typeface="Courier New" pitchFamily="34" charset="-122"/>
                <a:cs typeface="Courier New" pitchFamily="34" charset="-120"/>
              </a:rPr>
              <a:t>Who: Clinicians submitting records and</a:t>
            </a:r>
            <a:endParaRPr lang="en-US" sz="1267"/>
          </a:p>
          <a:p>
            <a:r>
              <a:rPr lang="en-US" sz="1267">
                <a:solidFill>
                  <a:srgbClr val="2D2D2D"/>
                </a:solidFill>
                <a:latin typeface="Courier New" pitchFamily="34" charset="0"/>
                <a:ea typeface="Courier New" pitchFamily="34" charset="-122"/>
                <a:cs typeface="Courier New" pitchFamily="34" charset="-120"/>
              </a:rPr>
              <a:t>      reviewing clinicians signing off</a:t>
            </a:r>
            <a:endParaRPr lang="en-US" sz="1267"/>
          </a:p>
          <a:p>
            <a:endParaRPr lang="en-US" sz="1267"/>
          </a:p>
          <a:p>
            <a:r>
              <a:rPr lang="en-US" sz="1267">
                <a:solidFill>
                  <a:srgbClr val="2D2D2D"/>
                </a:solidFill>
                <a:latin typeface="Courier New" pitchFamily="34" charset="0"/>
                <a:ea typeface="Courier New" pitchFamily="34" charset="-122"/>
                <a:cs typeface="Courier New" pitchFamily="34" charset="-120"/>
              </a:rPr>
              <a:t>Success: Draft stored, doses as integer</a:t>
            </a:r>
            <a:endParaRPr lang="en-US" sz="1267"/>
          </a:p>
          <a:p>
            <a:r>
              <a:rPr lang="en-US" sz="1267">
                <a:solidFill>
                  <a:srgbClr val="2D2D2D"/>
                </a:solidFill>
                <a:latin typeface="Courier New" pitchFamily="34" charset="0"/>
                <a:ea typeface="Courier New" pitchFamily="34" charset="-122"/>
                <a:cs typeface="Courier New" pitchFamily="34" charset="-120"/>
              </a:rPr>
              <a:t>        dose_x1000, reviewer approves,</a:t>
            </a:r>
            <a:endParaRPr lang="en-US" sz="1267"/>
          </a:p>
          <a:p>
            <a:r>
              <a:rPr lang="en-US" sz="1267">
                <a:solidFill>
                  <a:srgbClr val="2D2D2D"/>
                </a:solidFill>
                <a:latin typeface="Courier New" pitchFamily="34" charset="0"/>
                <a:ea typeface="Courier New" pitchFamily="34" charset="-122"/>
                <a:cs typeface="Courier New" pitchFamily="34" charset="-120"/>
              </a:rPr>
              <a:t>        patient sees approved summary only</a:t>
            </a:r>
            <a:endParaRPr lang="en-US" sz="1267"/>
          </a:p>
          <a:p>
            <a:endParaRPr lang="en-US" sz="1267"/>
          </a:p>
          <a:p>
            <a:r>
              <a:rPr lang="en-US" sz="1267">
                <a:solidFill>
                  <a:srgbClr val="2D2D2D"/>
                </a:solidFill>
                <a:latin typeface="Courier New" pitchFamily="34" charset="0"/>
                <a:ea typeface="Courier New" pitchFamily="34" charset="-122"/>
                <a:cs typeface="Courier New" pitchFamily="34" charset="-120"/>
              </a:rPr>
              <a:t>Out of scope: No EHR, no real PHI, no SSO,</a:t>
            </a:r>
            <a:endParaRPr lang="en-US" sz="1267"/>
          </a:p>
          <a:p>
            <a:r>
              <a:rPr lang="en-US" sz="1267">
                <a:solidFill>
                  <a:srgbClr val="2D2D2D"/>
                </a:solidFill>
                <a:latin typeface="Courier New" pitchFamily="34" charset="0"/>
                <a:ea typeface="Courier New" pitchFamily="34" charset="-122"/>
                <a:cs typeface="Courier New" pitchFamily="34" charset="-120"/>
              </a:rPr>
              <a:t>             no multi-language output</a:t>
            </a:r>
            <a:endParaRPr lang="en-US" sz="1267"/>
          </a:p>
        </p:txBody>
      </p:sp>
      <p:sp>
        <p:nvSpPr>
          <p:cNvPr id="7" name="Text 5"/>
          <p:cNvSpPr/>
          <p:nvPr/>
        </p:nvSpPr>
        <p:spPr>
          <a:xfrm>
            <a:off x="5877338" y="3626137"/>
            <a:ext cx="438912" cy="487680"/>
          </a:xfrm>
          <a:prstGeom prst="rect">
            <a:avLst/>
          </a:prstGeom>
          <a:noFill/>
          <a:ln/>
        </p:spPr>
        <p:txBody>
          <a:bodyPr wrap="square" lIns="0" tIns="0" rIns="0" bIns="0" rtlCol="0" anchor="ctr"/>
          <a:lstStyle/>
          <a:p>
            <a:pPr algn="ctr"/>
            <a:r>
              <a:rPr lang="en-US" sz="2667" dirty="0">
                <a:solidFill>
                  <a:schemeClr val="tx1">
                    <a:lumMod val="60000"/>
                    <a:lumOff val="40000"/>
                  </a:schemeClr>
                </a:solidFill>
                <a:latin typeface="Calibri" pitchFamily="34" charset="0"/>
                <a:ea typeface="Calibri" pitchFamily="34" charset="-122"/>
                <a:cs typeface="Calibri" pitchFamily="34" charset="-120"/>
              </a:rPr>
              <a:t>→</a:t>
            </a:r>
            <a:endParaRPr lang="en-US" sz="2667" dirty="0">
              <a:solidFill>
                <a:schemeClr val="tx1">
                  <a:lumMod val="60000"/>
                  <a:lumOff val="40000"/>
                </a:schemeClr>
              </a:solidFill>
            </a:endParaRPr>
          </a:p>
        </p:txBody>
      </p:sp>
      <p:sp>
        <p:nvSpPr>
          <p:cNvPr id="8" name="Shape 6"/>
          <p:cNvSpPr/>
          <p:nvPr/>
        </p:nvSpPr>
        <p:spPr>
          <a:xfrm>
            <a:off x="6401594" y="1370617"/>
            <a:ext cx="5242560" cy="4998720"/>
          </a:xfrm>
          <a:prstGeom prst="roundRect">
            <a:avLst>
              <a:gd name="adj" fmla="val 2439"/>
            </a:avLst>
          </a:prstGeom>
          <a:solidFill>
            <a:srgbClr val="1A1A1A"/>
          </a:solidFill>
          <a:ln w="15240">
            <a:solidFill>
              <a:schemeClr val="accent2"/>
            </a:solidFill>
            <a:prstDash val="solid"/>
          </a:ln>
          <a:effectLst>
            <a:outerShdw blurRad="63500" dist="25400" dir="2700000" algn="bl" rotWithShape="0">
              <a:srgbClr val="000000">
                <a:alpha val="9000"/>
              </a:srgbClr>
            </a:outerShdw>
          </a:effectLst>
        </p:spPr>
        <p:txBody>
          <a:bodyPr/>
          <a:lstStyle/>
          <a:p>
            <a:endParaRPr lang="en-US" sz="3200"/>
          </a:p>
        </p:txBody>
      </p:sp>
      <p:sp>
        <p:nvSpPr>
          <p:cNvPr id="9" name="Text 7"/>
          <p:cNvSpPr/>
          <p:nvPr/>
        </p:nvSpPr>
        <p:spPr>
          <a:xfrm>
            <a:off x="6401594" y="1370617"/>
            <a:ext cx="5242560" cy="463296"/>
          </a:xfrm>
          <a:prstGeom prst="rect">
            <a:avLst/>
          </a:prstGeom>
          <a:noFill/>
          <a:ln/>
        </p:spPr>
        <p:txBody>
          <a:bodyPr wrap="square" lIns="0" tIns="0" rIns="0" bIns="0" rtlCol="0" anchor="ctr"/>
          <a:lstStyle/>
          <a:p>
            <a:pPr algn="ctr"/>
            <a:r>
              <a:rPr lang="en-US" sz="1400" b="1" dirty="0" err="1">
                <a:solidFill>
                  <a:schemeClr val="accent2"/>
                </a:solidFill>
                <a:latin typeface="Open Sans" panose="020B0606030504020204" pitchFamily="34" charset="0"/>
                <a:ea typeface="Open Sans" panose="020B0606030504020204" pitchFamily="34" charset="0"/>
                <a:cs typeface="Open Sans" panose="020B0606030504020204" pitchFamily="34" charset="0"/>
              </a:rPr>
              <a:t>CLAUDE.md</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608858" y="1919258"/>
            <a:ext cx="4828032" cy="241401"/>
          </a:xfrm>
          <a:prstGeom prst="rect">
            <a:avLst/>
          </a:prstGeom>
          <a:noFill/>
          <a:ln/>
        </p:spPr>
        <p:txBody>
          <a:bodyPr wrap="square" lIns="0" tIns="0" rIns="0" bIns="0" rtlCol="0" anchor="t"/>
          <a:lstStyle/>
          <a:p>
            <a:r>
              <a:rPr lang="en-US" sz="1200" dirty="0">
                <a:solidFill>
                  <a:srgbClr val="00B050"/>
                </a:solidFill>
                <a:latin typeface="Courier New" pitchFamily="34" charset="0"/>
                <a:ea typeface="Courier New" pitchFamily="34" charset="-122"/>
                <a:cs typeface="Courier New" pitchFamily="34" charset="-120"/>
              </a:rPr>
              <a:t>## Project Overview</a:t>
            </a:r>
            <a:endParaRPr lang="en-US" sz="1200" dirty="0">
              <a:solidFill>
                <a:srgbClr val="00B050"/>
              </a:solidFill>
            </a:endParaRPr>
          </a:p>
        </p:txBody>
      </p:sp>
      <p:sp>
        <p:nvSpPr>
          <p:cNvPr id="11" name="Text 9"/>
          <p:cNvSpPr/>
          <p:nvPr/>
        </p:nvSpPr>
        <p:spPr>
          <a:xfrm>
            <a:off x="6608858" y="2160660"/>
            <a:ext cx="4828032" cy="241401"/>
          </a:xfrm>
          <a:prstGeom prst="rect">
            <a:avLst/>
          </a:prstGeom>
          <a:noFill/>
          <a:ln/>
        </p:spPr>
        <p:txBody>
          <a:bodyPr wrap="square" lIns="0" tIns="0" rIns="0" bIns="0" rtlCol="0" anchor="t"/>
          <a:lstStyle/>
          <a:p>
            <a:r>
              <a:rPr lang="en-US" sz="1200" dirty="0" err="1">
                <a:solidFill>
                  <a:schemeClr val="accent2"/>
                </a:solidFill>
                <a:latin typeface="Courier New" pitchFamily="34" charset="0"/>
                <a:ea typeface="Courier New" pitchFamily="34" charset="-122"/>
                <a:cs typeface="Courier New" pitchFamily="34" charset="-120"/>
              </a:rPr>
              <a:t>DischargeFlow PoC — structured discharge</a:t>
            </a:r>
            <a:r>
              <a:rPr lang="en-US" sz="1200" dirty="0">
                <a:solidFill>
                  <a:schemeClr val="accent2"/>
                </a:solidFill>
                <a:latin typeface="Courier New" pitchFamily="34" charset="0"/>
                <a:ea typeface="Courier New" pitchFamily="34" charset="-122"/>
                <a:cs typeface="Courier New" pitchFamily="34" charset="-120"/>
              </a:rPr>
              <a:t/>
            </a:r>
            <a:endParaRPr lang="en-US" sz="1200" dirty="0">
              <a:solidFill>
                <a:schemeClr val="accent2"/>
              </a:solidFill>
            </a:endParaRPr>
          </a:p>
        </p:txBody>
      </p:sp>
      <p:sp>
        <p:nvSpPr>
          <p:cNvPr id="12" name="Text 10"/>
          <p:cNvSpPr/>
          <p:nvPr/>
        </p:nvSpPr>
        <p:spPr>
          <a:xfrm>
            <a:off x="6608858" y="2402061"/>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records in, plain-language summaries out,</a:t>
            </a:r>
            <a:endParaRPr lang="en-US" sz="1200">
              <a:solidFill>
                <a:schemeClr val="accent2"/>
              </a:solidFill>
            </a:endParaRPr>
          </a:p>
        </p:txBody>
      </p:sp>
      <p:sp>
        <p:nvSpPr>
          <p:cNvPr id="13" name="Text 11"/>
          <p:cNvSpPr/>
          <p:nvPr/>
        </p:nvSpPr>
        <p:spPr>
          <a:xfrm>
            <a:off x="6608858" y="2643464"/>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drafted by Claude, signed off by a clinician.</a:t>
            </a:r>
            <a:endParaRPr lang="en-US" sz="1200">
              <a:solidFill>
                <a:schemeClr val="accent2"/>
              </a:solidFill>
            </a:endParaRPr>
          </a:p>
        </p:txBody>
      </p:sp>
      <p:sp>
        <p:nvSpPr>
          <p:cNvPr id="14" name="Text 12"/>
          <p:cNvSpPr/>
          <p:nvPr/>
        </p:nvSpPr>
        <p:spPr>
          <a:xfrm>
            <a:off x="6608858" y="2884865"/>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Used by clinicians — API + Streamlit console.</a:t>
            </a:r>
            <a:endParaRPr lang="en-US" sz="1200">
              <a:solidFill>
                <a:schemeClr val="accent2"/>
              </a:solidFill>
            </a:endParaRPr>
          </a:p>
        </p:txBody>
      </p:sp>
      <p:sp>
        <p:nvSpPr>
          <p:cNvPr id="15" name="Text 13"/>
          <p:cNvSpPr/>
          <p:nvPr/>
        </p:nvSpPr>
        <p:spPr>
          <a:xfrm>
            <a:off x="6608858" y="3126266"/>
            <a:ext cx="4828032" cy="241401"/>
          </a:xfrm>
          <a:prstGeom prst="rect">
            <a:avLst/>
          </a:prstGeom>
          <a:noFill/>
          <a:ln/>
        </p:spPr>
        <p:txBody>
          <a:bodyPr wrap="square" lIns="0" tIns="0" rIns="0" bIns="0" rtlCol="0" anchor="t"/>
          <a:lstStyle/>
          <a:p>
            <a:endParaRPr lang="en-US" sz="1200"/>
          </a:p>
        </p:txBody>
      </p:sp>
      <p:sp>
        <p:nvSpPr>
          <p:cNvPr id="16" name="Text 14"/>
          <p:cNvSpPr/>
          <p:nvPr/>
        </p:nvSpPr>
        <p:spPr>
          <a:xfrm>
            <a:off x="6608858" y="3367668"/>
            <a:ext cx="4828032" cy="241401"/>
          </a:xfrm>
          <a:prstGeom prst="rect">
            <a:avLst/>
          </a:prstGeom>
          <a:noFill/>
          <a:ln/>
        </p:spPr>
        <p:txBody>
          <a:bodyPr wrap="square" lIns="0" tIns="0" rIns="0" bIns="0" rtlCol="0" anchor="t"/>
          <a:lstStyle/>
          <a:p>
            <a:r>
              <a:rPr lang="en-US" sz="1200">
                <a:solidFill>
                  <a:srgbClr val="00B050"/>
                </a:solidFill>
                <a:latin typeface="Courier New" pitchFamily="34" charset="0"/>
                <a:ea typeface="Courier New" pitchFamily="34" charset="-122"/>
                <a:cs typeface="Courier New" pitchFamily="34" charset="-120"/>
              </a:rPr>
              <a:t>## Tech Stack</a:t>
            </a:r>
            <a:endParaRPr lang="en-US" sz="1200">
              <a:solidFill>
                <a:srgbClr val="00B050"/>
              </a:solidFill>
            </a:endParaRPr>
          </a:p>
        </p:txBody>
      </p:sp>
      <p:sp>
        <p:nvSpPr>
          <p:cNvPr id="17" name="Text 15"/>
          <p:cNvSpPr/>
          <p:nvPr/>
        </p:nvSpPr>
        <p:spPr>
          <a:xfrm>
            <a:off x="6608858" y="3609069"/>
            <a:ext cx="4828032" cy="241401"/>
          </a:xfrm>
          <a:prstGeom prst="rect">
            <a:avLst/>
          </a:prstGeom>
          <a:noFill/>
          <a:ln/>
        </p:spPr>
        <p:txBody>
          <a:bodyPr wrap="square" lIns="0" tIns="0" rIns="0" bIns="0" rtlCol="0" anchor="t"/>
          <a:lstStyle/>
          <a:p>
            <a:r>
              <a:rPr lang="en-US" sz="1200" dirty="0">
                <a:solidFill>
                  <a:schemeClr val="accent2"/>
                </a:solidFill>
                <a:latin typeface="Courier New" pitchFamily="34" charset="0"/>
                <a:ea typeface="Courier New" pitchFamily="34" charset="-122"/>
                <a:cs typeface="Courier New" pitchFamily="34" charset="-120"/>
              </a:rPr>
              <a:t>Python 3.12 · FastAPI · SQLite</a:t>
            </a:r>
            <a:r>
              <a:rPr lang="en-US" sz="1200" dirty="0" err="1">
                <a:solidFill>
                  <a:schemeClr val="accent2"/>
                </a:solidFill>
                <a:latin typeface="Courier New" pitchFamily="34" charset="0"/>
                <a:ea typeface="Courier New" pitchFamily="34" charset="-122"/>
                <a:cs typeface="Courier New" pitchFamily="34" charset="-120"/>
              </a:rPr>
              <a:t/>
            </a:r>
            <a:r>
              <a:rPr lang="en-US" sz="1200" dirty="0">
                <a:solidFill>
                  <a:schemeClr val="accent2"/>
                </a:solidFill>
                <a:latin typeface="Courier New" pitchFamily="34" charset="0"/>
                <a:ea typeface="Courier New" pitchFamily="34" charset="-122"/>
                <a:cs typeface="Courier New" pitchFamily="34" charset="-120"/>
              </a:rPr>
              <a:t/>
            </a:r>
            <a:endParaRPr lang="en-US" sz="1200" dirty="0">
              <a:solidFill>
                <a:schemeClr val="accent2"/>
              </a:solidFill>
            </a:endParaRPr>
          </a:p>
        </p:txBody>
      </p:sp>
      <p:sp>
        <p:nvSpPr>
          <p:cNvPr id="18" name="Text 16"/>
          <p:cNvSpPr/>
          <p:nvPr/>
        </p:nvSpPr>
        <p:spPr>
          <a:xfrm>
            <a:off x="6608858" y="3850472"/>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anthropic SDK · Entry: app/main.py</a:t>
            </a:r>
            <a:endParaRPr lang="en-US" sz="1200">
              <a:solidFill>
                <a:schemeClr val="accent2"/>
              </a:solidFill>
            </a:endParaRPr>
          </a:p>
        </p:txBody>
      </p:sp>
      <p:sp>
        <p:nvSpPr>
          <p:cNvPr id="19" name="Text 17"/>
          <p:cNvSpPr/>
          <p:nvPr/>
        </p:nvSpPr>
        <p:spPr>
          <a:xfrm>
            <a:off x="6608858" y="4091873"/>
            <a:ext cx="4828032" cy="241401"/>
          </a:xfrm>
          <a:prstGeom prst="rect">
            <a:avLst/>
          </a:prstGeom>
          <a:noFill/>
          <a:ln/>
        </p:spPr>
        <p:txBody>
          <a:bodyPr wrap="square" lIns="0" tIns="0" rIns="0" bIns="0" rtlCol="0" anchor="t"/>
          <a:lstStyle/>
          <a:p>
            <a:endParaRPr lang="en-US" sz="1200"/>
          </a:p>
        </p:txBody>
      </p:sp>
      <p:sp>
        <p:nvSpPr>
          <p:cNvPr id="20" name="Text 18"/>
          <p:cNvSpPr/>
          <p:nvPr/>
        </p:nvSpPr>
        <p:spPr>
          <a:xfrm>
            <a:off x="6608858" y="4333274"/>
            <a:ext cx="4828032" cy="241401"/>
          </a:xfrm>
          <a:prstGeom prst="rect">
            <a:avLst/>
          </a:prstGeom>
          <a:noFill/>
          <a:ln/>
        </p:spPr>
        <p:txBody>
          <a:bodyPr wrap="square" lIns="0" tIns="0" rIns="0" bIns="0" rtlCol="0" anchor="t"/>
          <a:lstStyle/>
          <a:p>
            <a:r>
              <a:rPr lang="en-US" sz="1200">
                <a:solidFill>
                  <a:srgbClr val="00B050"/>
                </a:solidFill>
                <a:latin typeface="Courier New" pitchFamily="34" charset="0"/>
                <a:ea typeface="Courier New" pitchFamily="34" charset="-122"/>
                <a:cs typeface="Courier New" pitchFamily="34" charset="-120"/>
              </a:rPr>
              <a:t>## Constraints</a:t>
            </a:r>
            <a:endParaRPr lang="en-US" sz="1200">
              <a:solidFill>
                <a:srgbClr val="00B050"/>
              </a:solidFill>
            </a:endParaRPr>
          </a:p>
        </p:txBody>
      </p:sp>
      <p:sp>
        <p:nvSpPr>
          <p:cNvPr id="21" name="Text 19"/>
          <p:cNvSpPr/>
          <p:nvPr/>
        </p:nvSpPr>
        <p:spPr>
          <a:xfrm>
            <a:off x="6608858" y="4574676"/>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Doses as integer dose_x1000, never floats.</a:t>
            </a:r>
            <a:endParaRPr lang="en-US" sz="1200">
              <a:solidFill>
                <a:schemeClr val="accent2"/>
              </a:solidFill>
            </a:endParaRPr>
          </a:p>
        </p:txBody>
      </p:sp>
      <p:sp>
        <p:nvSpPr>
          <p:cNvPr id="22" name="Text 20"/>
          <p:cNvSpPr/>
          <p:nvPr/>
        </p:nvSpPr>
        <p:spPr>
          <a:xfrm>
            <a:off x="6608858" y="4816077"/>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Mask PHI before any Claude API call.</a:t>
            </a:r>
            <a:endParaRPr lang="en-US" sz="1200">
              <a:solidFill>
                <a:schemeClr val="accent2"/>
              </a:solidFill>
            </a:endParaRPr>
          </a:p>
        </p:txBody>
      </p:sp>
      <p:sp>
        <p:nvSpPr>
          <p:cNvPr id="23" name="Text 21"/>
          <p:cNvSpPr/>
          <p:nvPr/>
        </p:nvSpPr>
        <p:spPr>
          <a:xfrm>
            <a:off x="6608858" y="5057480"/>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A second clinician approves every draft.</a:t>
            </a:r>
            <a:endParaRPr lang="en-US" sz="1200">
              <a:solidFill>
                <a:schemeClr val="accent2"/>
              </a:solidFill>
            </a:endParaRPr>
          </a:p>
        </p:txBody>
      </p:sp>
      <p:sp>
        <p:nvSpPr>
          <p:cNvPr id="24" name="Text 22"/>
          <p:cNvSpPr/>
          <p:nvPr/>
        </p:nvSpPr>
        <p:spPr>
          <a:xfrm>
            <a:off x="6608858" y="5298881"/>
            <a:ext cx="4828032" cy="241401"/>
          </a:xfrm>
          <a:prstGeom prst="rect">
            <a:avLst/>
          </a:prstGeom>
          <a:noFill/>
          <a:ln/>
        </p:spPr>
        <p:txBody>
          <a:bodyPr wrap="square" lIns="0" tIns="0" rIns="0" bIns="0" rtlCol="0" anchor="t"/>
          <a:lstStyle/>
          <a:p>
            <a:endParaRPr lang="en-US" sz="1200"/>
          </a:p>
        </p:txBody>
      </p:sp>
      <p:sp>
        <p:nvSpPr>
          <p:cNvPr id="25" name="Text 23"/>
          <p:cNvSpPr/>
          <p:nvPr/>
        </p:nvSpPr>
        <p:spPr>
          <a:xfrm>
            <a:off x="6608858" y="5540282"/>
            <a:ext cx="4828032" cy="241401"/>
          </a:xfrm>
          <a:prstGeom prst="rect">
            <a:avLst/>
          </a:prstGeom>
          <a:noFill/>
          <a:ln/>
        </p:spPr>
        <p:txBody>
          <a:bodyPr wrap="square" lIns="0" tIns="0" rIns="0" bIns="0" rtlCol="0" anchor="t"/>
          <a:lstStyle/>
          <a:p>
            <a:r>
              <a:rPr lang="en-US" sz="1200">
                <a:solidFill>
                  <a:srgbClr val="00B050"/>
                </a:solidFill>
                <a:latin typeface="Courier New" pitchFamily="34" charset="0"/>
                <a:ea typeface="Courier New" pitchFamily="34" charset="-122"/>
                <a:cs typeface="Courier New" pitchFamily="34" charset="-120"/>
              </a:rPr>
              <a:t>## Do Not Touch</a:t>
            </a:r>
            <a:endParaRPr lang="en-US" sz="1200">
              <a:solidFill>
                <a:srgbClr val="00B050"/>
              </a:solidFill>
            </a:endParaRPr>
          </a:p>
        </p:txBody>
      </p:sp>
      <p:sp>
        <p:nvSpPr>
          <p:cNvPr id="26" name="Text 24"/>
          <p:cNvSpPr/>
          <p:nvPr/>
        </p:nvSpPr>
        <p:spPr>
          <a:xfrm>
            <a:off x="6608858" y="5781684"/>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Do not invent endpoints beyond SPEC.md.</a:t>
            </a:r>
            <a:endParaRPr lang="en-US" sz="1200">
              <a:solidFill>
                <a:schemeClr val="accent2"/>
              </a:solidFill>
            </a:endParaRPr>
          </a:p>
        </p:txBody>
      </p:sp>
      <p:sp>
        <p:nvSpPr>
          <p:cNvPr id="27" name="Text 25"/>
          <p:cNvSpPr/>
          <p:nvPr/>
        </p:nvSpPr>
        <p:spPr>
          <a:xfrm>
            <a:off x="6608858" y="6023085"/>
            <a:ext cx="4828032" cy="241401"/>
          </a:xfrm>
          <a:prstGeom prst="rect">
            <a:avLst/>
          </a:prstGeom>
          <a:noFill/>
          <a:ln/>
        </p:spPr>
        <p:txBody>
          <a:bodyPr wrap="square" lIns="0" tIns="0" rIns="0" bIns="0" rtlCol="0" anchor="t"/>
          <a:lstStyle/>
          <a:p>
            <a:r>
              <a:rPr lang="en-US" sz="1200">
                <a:solidFill>
                  <a:schemeClr val="accent2"/>
                </a:solidFill>
                <a:latin typeface="Courier New" pitchFamily="34" charset="0"/>
                <a:ea typeface="Courier New" pitchFamily="34" charset="-122"/>
                <a:cs typeface="Courier New" pitchFamily="34" charset="-120"/>
              </a:rPr>
              <a:t>Do not let the model write doses.</a:t>
            </a:r>
            <a:endParaRPr lang="en-US" sz="1200">
              <a:solidFill>
                <a:schemeClr val="accent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hape 0">
            <a:extLst>
              <a:ext uri="{FF2B5EF4-FFF2-40B4-BE49-F238E27FC236}">
                <a16:creationId xmlns:a16="http://schemas.microsoft.com/office/drawing/2014/main" id="{4A0CC85B-7B7F-B789-45A0-6BBA3BA5C003}"/>
              </a:ext>
            </a:extLst>
          </p:cNvPr>
          <p:cNvSpPr/>
          <p:nvPr/>
        </p:nvSpPr>
        <p:spPr>
          <a:xfrm>
            <a:off x="9745544" y="22142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543000" y="160464"/>
            <a:ext cx="2247655" cy="58521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REFLECT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549434" y="274320"/>
            <a:ext cx="8534400" cy="585216"/>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Is Your PoC Good Enough?</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944765"/>
            <a:ext cx="11094720" cy="316992"/>
          </a:xfrm>
          <a:prstGeom prst="rect">
            <a:avLst/>
          </a:prstGeom>
          <a:noFill/>
          <a:ln/>
        </p:spPr>
        <p:txBody>
          <a:bodyPr wrap="square" lIns="0" tIns="0" rIns="0" bIns="0" rtlCol="0" anchor="ctr"/>
          <a:lstStyle/>
          <a:p>
            <a:r>
              <a:rPr lang="en-US" sz="1600" dirty="0">
                <a:solidFill>
                  <a:srgbClr val="555555"/>
                </a:solidFill>
                <a:latin typeface="Open Sans" panose="020B0606030504020204" pitchFamily="34" charset="0"/>
                <a:ea typeface="Open Sans" panose="020B0606030504020204" pitchFamily="34" charset="0"/>
                <a:cs typeface="Open Sans" panose="020B0606030504020204" pitchFamily="34" charset="0"/>
              </a:rPr>
              <a:t>Four questions — one per element of your brief. If any answer is no, revise before you open Claude Code.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549434" y="1420253"/>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756698" y="1712861"/>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756698" y="1712861"/>
            <a:ext cx="536448" cy="536448"/>
          </a:xfrm>
          <a:prstGeom prst="rect">
            <a:avLst/>
          </a:prstGeom>
          <a:noFill/>
          <a:ln/>
        </p:spPr>
        <p:txBody>
          <a:bodyPr wrap="square" lIns="0" tIns="0" rIns="0" bIns="0" rtlCol="0" anchor="ctr"/>
          <a:lstStyle/>
          <a:p>
            <a:pPr algn="ctr"/>
            <a:r>
              <a:rPr lang="en-US" sz="1733" b="1" dirty="0">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524794" y="1542173"/>
            <a:ext cx="2682240" cy="316992"/>
          </a:xfrm>
          <a:prstGeom prst="rect">
            <a:avLst/>
          </a:prstGeom>
          <a:noFill/>
          <a:ln/>
        </p:spPr>
        <p:txBody>
          <a:bodyPr wrap="square" lIns="0" tIns="0" rIns="0" bIns="0" rtlCol="0" anchor="ctr"/>
          <a:lstStyle/>
          <a:p>
            <a:r>
              <a:rPr lang="en-US" sz="1100" b="1" kern="0" spc="107" dirty="0">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IT DO?</a:t>
            </a:r>
            <a:endParaRPr lang="en-US" sz="11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524794" y="1859165"/>
            <a:ext cx="5608320" cy="585216"/>
          </a:xfrm>
          <a:prstGeom prst="rect">
            <a:avLst/>
          </a:prstGeom>
          <a:noFill/>
          <a:ln/>
        </p:spPr>
        <p:txBody>
          <a:bodyPr wrap="square" lIns="0" tIns="0" rIns="0" bIns="0" rtlCol="0" anchor="t"/>
          <a:lstStyle/>
          <a:p>
            <a:r>
              <a:rPr lang="en-US" sz="1600" dirty="0">
                <a:latin typeface="Open Sans" panose="020B0606030504020204" pitchFamily="34" charset="0"/>
                <a:ea typeface="Open Sans" panose="020B0606030504020204" pitchFamily="34" charset="0"/>
                <a:cs typeface="Open Sans" panose="020B0606030504020204" pitchFamily="34" charset="0"/>
              </a:rPr>
              <a:t>Can you describe it in one sentence, active voice, with 'and' used at most once?</a:t>
            </a:r>
          </a:p>
        </p:txBody>
      </p:sp>
      <p:sp>
        <p:nvSpPr>
          <p:cNvPr id="13" name="Text 11"/>
          <p:cNvSpPr/>
          <p:nvPr/>
        </p:nvSpPr>
        <p:spPr>
          <a:xfrm>
            <a:off x="7681754" y="1542173"/>
            <a:ext cx="585216" cy="426720"/>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7437914" y="1993277"/>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7681754" y="2042045"/>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549434" y="2712605"/>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756698" y="3005213"/>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756698" y="3005213"/>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524794" y="2834525"/>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WHO USES IT?</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524794" y="3151517"/>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named a specific role in a specific moment — not just 'the team'?</a:t>
            </a:r>
          </a:p>
        </p:txBody>
      </p:sp>
      <p:sp>
        <p:nvSpPr>
          <p:cNvPr id="26" name="Text 24"/>
          <p:cNvSpPr/>
          <p:nvPr/>
        </p:nvSpPr>
        <p:spPr>
          <a:xfrm>
            <a:off x="7681754" y="2834525"/>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7437914" y="3285629"/>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7681754" y="3334397"/>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549434" y="4004957"/>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31"/>
          <p:cNvSpPr/>
          <p:nvPr/>
        </p:nvSpPr>
        <p:spPr>
          <a:xfrm>
            <a:off x="756698" y="4297565"/>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32"/>
          <p:cNvSpPr/>
          <p:nvPr/>
        </p:nvSpPr>
        <p:spPr>
          <a:xfrm>
            <a:off x="756698" y="4297565"/>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1524794" y="4126877"/>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SUCCESS LOOK LIKE?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4"/>
          <p:cNvSpPr/>
          <p:nvPr/>
        </p:nvSpPr>
        <p:spPr>
          <a:xfrm>
            <a:off x="1524794" y="4443869"/>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Can you verify whether it worked in under 60 seconds of running it?</a:t>
            </a:r>
          </a:p>
        </p:txBody>
      </p:sp>
      <p:sp>
        <p:nvSpPr>
          <p:cNvPr id="37" name="Shape 35"/>
          <p:cNvSpPr/>
          <p:nvPr/>
        </p:nvSpPr>
        <p:spPr>
          <a:xfrm>
            <a:off x="7291610" y="4151261"/>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7"/>
          <p:cNvSpPr/>
          <p:nvPr/>
        </p:nvSpPr>
        <p:spPr>
          <a:xfrm>
            <a:off x="7681754" y="4126877"/>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39"/>
          <p:cNvSpPr/>
          <p:nvPr/>
        </p:nvSpPr>
        <p:spPr>
          <a:xfrm>
            <a:off x="7437914" y="4577981"/>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41"/>
          <p:cNvSpPr/>
          <p:nvPr/>
        </p:nvSpPr>
        <p:spPr>
          <a:xfrm>
            <a:off x="7681754" y="4626749"/>
            <a:ext cx="512064" cy="426720"/>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43"/>
          <p:cNvSpPr/>
          <p:nvPr/>
        </p:nvSpPr>
        <p:spPr>
          <a:xfrm>
            <a:off x="549434" y="5297309"/>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44"/>
          <p:cNvSpPr/>
          <p:nvPr/>
        </p:nvSpPr>
        <p:spPr>
          <a:xfrm>
            <a:off x="756698" y="5589917"/>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5"/>
          <p:cNvSpPr/>
          <p:nvPr/>
        </p:nvSpPr>
        <p:spPr>
          <a:xfrm>
            <a:off x="756698" y="5589917"/>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6"/>
          <p:cNvSpPr/>
          <p:nvPr/>
        </p:nvSpPr>
        <p:spPr>
          <a:xfrm>
            <a:off x="1524794" y="5419229"/>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IS OUT OF SCOPE?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7"/>
          <p:cNvSpPr/>
          <p:nvPr/>
        </p:nvSpPr>
        <p:spPr>
          <a:xfrm>
            <a:off x="1524794" y="5736221"/>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written down at least two things your PoC will not do?</a:t>
            </a:r>
          </a:p>
        </p:txBody>
      </p:sp>
      <p:sp>
        <p:nvSpPr>
          <p:cNvPr id="50" name="Shape 48"/>
          <p:cNvSpPr/>
          <p:nvPr/>
        </p:nvSpPr>
        <p:spPr>
          <a:xfrm>
            <a:off x="7291610" y="5443613"/>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50"/>
          <p:cNvSpPr/>
          <p:nvPr/>
        </p:nvSpPr>
        <p:spPr>
          <a:xfrm>
            <a:off x="7681754" y="5419229"/>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52"/>
          <p:cNvSpPr/>
          <p:nvPr/>
        </p:nvSpPr>
        <p:spPr>
          <a:xfrm>
            <a:off x="7437914" y="5870333"/>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54"/>
          <p:cNvSpPr/>
          <p:nvPr/>
        </p:nvSpPr>
        <p:spPr>
          <a:xfrm>
            <a:off x="7681754" y="5919101"/>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35">
            <a:extLst>
              <a:ext uri="{FF2B5EF4-FFF2-40B4-BE49-F238E27FC236}">
                <a16:creationId xmlns:a16="http://schemas.microsoft.com/office/drawing/2014/main" id="{0228653D-A73B-2A9F-7551-2CA739356A0D}"/>
              </a:ext>
            </a:extLst>
          </p:cNvPr>
          <p:cNvSpPr/>
          <p:nvPr/>
        </p:nvSpPr>
        <p:spPr>
          <a:xfrm>
            <a:off x="7286605" y="2858909"/>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8" name="Shape 35">
            <a:extLst>
              <a:ext uri="{FF2B5EF4-FFF2-40B4-BE49-F238E27FC236}">
                <a16:creationId xmlns:a16="http://schemas.microsoft.com/office/drawing/2014/main" id="{293898EA-9857-03F0-DC14-FB448AAD1A9B}"/>
              </a:ext>
            </a:extLst>
          </p:cNvPr>
          <p:cNvSpPr/>
          <p:nvPr/>
        </p:nvSpPr>
        <p:spPr>
          <a:xfrm>
            <a:off x="7286605" y="1566557"/>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2C05C-9E89-C19D-E96A-019FA06D1C4B}"/>
            </a:ext>
          </a:extLst>
        </p:cNvPr>
        <p:cNvGrpSpPr/>
        <p:nvPr/>
      </p:nvGrpSpPr>
      <p:grpSpPr>
        <a:xfrm>
          <a:off x="0" y="0"/>
          <a:ext cx="0" cy="0"/>
          <a:chOff x="0" y="0"/>
          <a:chExt cx="0" cy="0"/>
        </a:xfrm>
      </p:grpSpPr>
      <p:sp>
        <p:nvSpPr>
          <p:cNvPr id="63" name="Shape 0">
            <a:extLst>
              <a:ext uri="{FF2B5EF4-FFF2-40B4-BE49-F238E27FC236}">
                <a16:creationId xmlns:a16="http://schemas.microsoft.com/office/drawing/2014/main" id="{284E1EA8-DCD0-7B7B-57C3-63F3E193AD73}"/>
              </a:ext>
            </a:extLst>
          </p:cNvPr>
          <p:cNvSpPr/>
          <p:nvPr/>
        </p:nvSpPr>
        <p:spPr>
          <a:xfrm>
            <a:off x="9745544" y="22142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a:extLst>
              <a:ext uri="{FF2B5EF4-FFF2-40B4-BE49-F238E27FC236}">
                <a16:creationId xmlns:a16="http://schemas.microsoft.com/office/drawing/2014/main" id="{B227675E-681C-0ECE-9924-1359D0417CA1}"/>
              </a:ext>
            </a:extLst>
          </p:cNvPr>
          <p:cNvSpPr/>
          <p:nvPr/>
        </p:nvSpPr>
        <p:spPr>
          <a:xfrm>
            <a:off x="9543000" y="160464"/>
            <a:ext cx="2247655" cy="58521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REFLECT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a:extLst>
              <a:ext uri="{FF2B5EF4-FFF2-40B4-BE49-F238E27FC236}">
                <a16:creationId xmlns:a16="http://schemas.microsoft.com/office/drawing/2014/main" id="{F0642FCB-CB99-2C93-7CDC-72A2791F6923}"/>
              </a:ext>
            </a:extLst>
          </p:cNvPr>
          <p:cNvSpPr/>
          <p:nvPr/>
        </p:nvSpPr>
        <p:spPr>
          <a:xfrm>
            <a:off x="549434" y="274320"/>
            <a:ext cx="8534400" cy="585216"/>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Is Your PoC Good Enough?</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a:extLst>
              <a:ext uri="{FF2B5EF4-FFF2-40B4-BE49-F238E27FC236}">
                <a16:creationId xmlns:a16="http://schemas.microsoft.com/office/drawing/2014/main" id="{E6B8ED4B-C25A-8FF0-ADB9-E56B6928E00E}"/>
              </a:ext>
            </a:extLst>
          </p:cNvPr>
          <p:cNvSpPr/>
          <p:nvPr/>
        </p:nvSpPr>
        <p:spPr>
          <a:xfrm>
            <a:off x="549434" y="944765"/>
            <a:ext cx="11094720" cy="316992"/>
          </a:xfrm>
          <a:prstGeom prst="rect">
            <a:avLst/>
          </a:prstGeom>
          <a:noFill/>
          <a:ln/>
        </p:spPr>
        <p:txBody>
          <a:bodyPr wrap="square" lIns="0" tIns="0" rIns="0" bIns="0" rtlCol="0" anchor="ctr"/>
          <a:lstStyle/>
          <a:p>
            <a:r>
              <a:rPr lang="en-US" sz="1600" dirty="0">
                <a:solidFill>
                  <a:srgbClr val="555555"/>
                </a:solidFill>
                <a:latin typeface="Open Sans" panose="020B0606030504020204" pitchFamily="34" charset="0"/>
                <a:ea typeface="Open Sans" panose="020B0606030504020204" pitchFamily="34" charset="0"/>
                <a:cs typeface="Open Sans" panose="020B0606030504020204" pitchFamily="34" charset="0"/>
              </a:rPr>
              <a:t>Four questions — one per element of your brief. If any answer is no, revise before you open Claude Code.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a:extLst>
              <a:ext uri="{FF2B5EF4-FFF2-40B4-BE49-F238E27FC236}">
                <a16:creationId xmlns:a16="http://schemas.microsoft.com/office/drawing/2014/main" id="{61FCBB9A-1E0A-EAE8-0C41-E7F6F7B98592}"/>
              </a:ext>
            </a:extLst>
          </p:cNvPr>
          <p:cNvSpPr/>
          <p:nvPr/>
        </p:nvSpPr>
        <p:spPr>
          <a:xfrm>
            <a:off x="549434" y="1420253"/>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a:extLst>
              <a:ext uri="{FF2B5EF4-FFF2-40B4-BE49-F238E27FC236}">
                <a16:creationId xmlns:a16="http://schemas.microsoft.com/office/drawing/2014/main" id="{2F1F1169-83CF-F0C2-9247-BB4E106D621F}"/>
              </a:ext>
            </a:extLst>
          </p:cNvPr>
          <p:cNvSpPr/>
          <p:nvPr/>
        </p:nvSpPr>
        <p:spPr>
          <a:xfrm>
            <a:off x="756698" y="1712861"/>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a:extLst>
              <a:ext uri="{FF2B5EF4-FFF2-40B4-BE49-F238E27FC236}">
                <a16:creationId xmlns:a16="http://schemas.microsoft.com/office/drawing/2014/main" id="{DF851854-2C73-41F2-6683-3E4EEBB8EBA5}"/>
              </a:ext>
            </a:extLst>
          </p:cNvPr>
          <p:cNvSpPr/>
          <p:nvPr/>
        </p:nvSpPr>
        <p:spPr>
          <a:xfrm>
            <a:off x="756698" y="1712861"/>
            <a:ext cx="536448" cy="536448"/>
          </a:xfrm>
          <a:prstGeom prst="rect">
            <a:avLst/>
          </a:prstGeom>
          <a:noFill/>
          <a:ln/>
        </p:spPr>
        <p:txBody>
          <a:bodyPr wrap="square" lIns="0" tIns="0" rIns="0" bIns="0" rtlCol="0" anchor="ctr"/>
          <a:lstStyle/>
          <a:p>
            <a:pPr algn="ctr"/>
            <a:r>
              <a:rPr lang="en-US" sz="1733" b="1" dirty="0">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a:extLst>
              <a:ext uri="{FF2B5EF4-FFF2-40B4-BE49-F238E27FC236}">
                <a16:creationId xmlns:a16="http://schemas.microsoft.com/office/drawing/2014/main" id="{ED5E5A82-0DE2-291D-849D-1A18164174ED}"/>
              </a:ext>
            </a:extLst>
          </p:cNvPr>
          <p:cNvSpPr/>
          <p:nvPr/>
        </p:nvSpPr>
        <p:spPr>
          <a:xfrm>
            <a:off x="1524794" y="1542173"/>
            <a:ext cx="2682240" cy="316992"/>
          </a:xfrm>
          <a:prstGeom prst="rect">
            <a:avLst/>
          </a:prstGeom>
          <a:noFill/>
          <a:ln/>
        </p:spPr>
        <p:txBody>
          <a:bodyPr wrap="square" lIns="0" tIns="0" rIns="0" bIns="0" rtlCol="0" anchor="ctr"/>
          <a:lstStyle/>
          <a:p>
            <a:r>
              <a:rPr lang="en-US" sz="1100" b="1" kern="0" spc="107" dirty="0">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IT DO?</a:t>
            </a:r>
            <a:endParaRPr lang="en-US" sz="11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EE9A19B2-DBB2-5DAE-D980-9ABF6526ECB6}"/>
              </a:ext>
            </a:extLst>
          </p:cNvPr>
          <p:cNvSpPr/>
          <p:nvPr/>
        </p:nvSpPr>
        <p:spPr>
          <a:xfrm>
            <a:off x="1524794" y="1859165"/>
            <a:ext cx="5608320" cy="585216"/>
          </a:xfrm>
          <a:prstGeom prst="rect">
            <a:avLst/>
          </a:prstGeom>
          <a:noFill/>
          <a:ln/>
        </p:spPr>
        <p:txBody>
          <a:bodyPr wrap="square" lIns="0" tIns="0" rIns="0" bIns="0" rtlCol="0" anchor="t"/>
          <a:lstStyle/>
          <a:p>
            <a:r>
              <a:rPr lang="en-US" sz="1600" dirty="0">
                <a:latin typeface="Open Sans" panose="020B0606030504020204" pitchFamily="34" charset="0"/>
                <a:ea typeface="Open Sans" panose="020B0606030504020204" pitchFamily="34" charset="0"/>
                <a:cs typeface="Open Sans" panose="020B0606030504020204" pitchFamily="34" charset="0"/>
              </a:rPr>
              <a:t>Can you describe it in one sentence, active voice, with 'and' used at most once?</a:t>
            </a:r>
          </a:p>
        </p:txBody>
      </p:sp>
      <p:sp>
        <p:nvSpPr>
          <p:cNvPr id="11" name="Shape 9">
            <a:extLst>
              <a:ext uri="{FF2B5EF4-FFF2-40B4-BE49-F238E27FC236}">
                <a16:creationId xmlns:a16="http://schemas.microsoft.com/office/drawing/2014/main" id="{821243AA-16BA-B6FC-F9D3-742606818136}"/>
              </a:ext>
            </a:extLst>
          </p:cNvPr>
          <p:cNvSpPr/>
          <p:nvPr/>
        </p:nvSpPr>
        <p:spPr>
          <a:xfrm>
            <a:off x="7291610" y="1566557"/>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21D8A5C8-00CE-1DE8-5693-6507FA877E3D}"/>
              </a:ext>
            </a:extLst>
          </p:cNvPr>
          <p:cNvSpPr/>
          <p:nvPr/>
        </p:nvSpPr>
        <p:spPr>
          <a:xfrm>
            <a:off x="7437914" y="1542173"/>
            <a:ext cx="268224" cy="426720"/>
          </a:xfrm>
          <a:prstGeom prst="rect">
            <a:avLst/>
          </a:prstGeom>
          <a:noFill/>
          <a:ln/>
        </p:spPr>
        <p:txBody>
          <a:bodyPr wrap="square" lIns="0" tIns="0" rIns="0" bIns="0" rtlCol="0" anchor="ctr"/>
          <a:lstStyle/>
          <a:p>
            <a:r>
              <a:rPr lang="en-US" sz="1467" b="1" dirty="0">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2AEF4032-A896-2A88-A84C-AF1F22A0F2DA}"/>
              </a:ext>
            </a:extLst>
          </p:cNvPr>
          <p:cNvSpPr/>
          <p:nvPr/>
        </p:nvSpPr>
        <p:spPr>
          <a:xfrm>
            <a:off x="7681754" y="1542173"/>
            <a:ext cx="585216" cy="426720"/>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8645663F-F8FD-EE68-1166-D6FDB84A37E8}"/>
              </a:ext>
            </a:extLst>
          </p:cNvPr>
          <p:cNvSpPr/>
          <p:nvPr/>
        </p:nvSpPr>
        <p:spPr>
          <a:xfrm>
            <a:off x="8169434" y="1542173"/>
            <a:ext cx="3230880" cy="426720"/>
          </a:xfrm>
          <a:prstGeom prst="rect">
            <a:avLst/>
          </a:prstGeom>
          <a:noFill/>
          <a:ln/>
        </p:spPr>
        <p:txBody>
          <a:bodyPr wrap="square" lIns="0" tIns="0" rIns="0" bIns="0" rtlCol="0" anchor="ctr"/>
          <a:lstStyle/>
          <a:p>
            <a:r>
              <a:rPr lang="en-US" sz="1050" dirty="0">
                <a:solidFill>
                  <a:srgbClr val="555555"/>
                </a:solidFill>
                <a:latin typeface="Open Sans" panose="020B0606030504020204" pitchFamily="34" charset="0"/>
                <a:ea typeface="Open Sans" panose="020B0606030504020204" pitchFamily="34" charset="0"/>
                <a:cs typeface="Open Sans" panose="020B0606030504020204" pitchFamily="34" charset="0"/>
              </a:rPr>
              <a:t>Good. That is a scoped action with a clear output.</a:t>
            </a:r>
            <a:endParaRPr lang="en-US" sz="105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a:extLst>
              <a:ext uri="{FF2B5EF4-FFF2-40B4-BE49-F238E27FC236}">
                <a16:creationId xmlns:a16="http://schemas.microsoft.com/office/drawing/2014/main" id="{62C7F2CC-C733-6E79-0734-E21376247AB0}"/>
              </a:ext>
            </a:extLst>
          </p:cNvPr>
          <p:cNvSpPr/>
          <p:nvPr/>
        </p:nvSpPr>
        <p:spPr>
          <a:xfrm>
            <a:off x="7437914" y="1993277"/>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2668FA9C-B414-26B5-EF40-6BEC5273B7CC}"/>
              </a:ext>
            </a:extLst>
          </p:cNvPr>
          <p:cNvSpPr/>
          <p:nvPr/>
        </p:nvSpPr>
        <p:spPr>
          <a:xfrm>
            <a:off x="7437914" y="2042045"/>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a:extLst>
              <a:ext uri="{FF2B5EF4-FFF2-40B4-BE49-F238E27FC236}">
                <a16:creationId xmlns:a16="http://schemas.microsoft.com/office/drawing/2014/main" id="{A9A7CE81-3C09-FEC5-80B1-05117FC966FB}"/>
              </a:ext>
            </a:extLst>
          </p:cNvPr>
          <p:cNvSpPr/>
          <p:nvPr/>
        </p:nvSpPr>
        <p:spPr>
          <a:xfrm>
            <a:off x="7681754" y="2042045"/>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9B2BFD91-027F-C86A-D5BC-DAADFD9E30EB}"/>
              </a:ext>
            </a:extLst>
          </p:cNvPr>
          <p:cNvSpPr/>
          <p:nvPr/>
        </p:nvSpPr>
        <p:spPr>
          <a:xfrm>
            <a:off x="8169434" y="2042045"/>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Split it. If you used 'and' more than once, you have two PoCs. Pick one.</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a:extLst>
              <a:ext uri="{FF2B5EF4-FFF2-40B4-BE49-F238E27FC236}">
                <a16:creationId xmlns:a16="http://schemas.microsoft.com/office/drawing/2014/main" id="{AF8FFF4B-E1C3-BB8B-9E7F-77D4B239F4EC}"/>
              </a:ext>
            </a:extLst>
          </p:cNvPr>
          <p:cNvSpPr/>
          <p:nvPr/>
        </p:nvSpPr>
        <p:spPr>
          <a:xfrm>
            <a:off x="549434" y="2712605"/>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E0CA5870-4199-ACF5-D80E-A9D1858D9DCC}"/>
              </a:ext>
            </a:extLst>
          </p:cNvPr>
          <p:cNvSpPr/>
          <p:nvPr/>
        </p:nvSpPr>
        <p:spPr>
          <a:xfrm>
            <a:off x="756698" y="3005213"/>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a:extLst>
              <a:ext uri="{FF2B5EF4-FFF2-40B4-BE49-F238E27FC236}">
                <a16:creationId xmlns:a16="http://schemas.microsoft.com/office/drawing/2014/main" id="{9281C6FD-60B8-3458-E83E-6B3069EEAD7E}"/>
              </a:ext>
            </a:extLst>
          </p:cNvPr>
          <p:cNvSpPr/>
          <p:nvPr/>
        </p:nvSpPr>
        <p:spPr>
          <a:xfrm>
            <a:off x="756698" y="3005213"/>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08517D12-2F32-227E-5D43-2C0F0128F090}"/>
              </a:ext>
            </a:extLst>
          </p:cNvPr>
          <p:cNvSpPr/>
          <p:nvPr/>
        </p:nvSpPr>
        <p:spPr>
          <a:xfrm>
            <a:off x="1524794" y="2834525"/>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WHO USES IT?</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2F260FBB-05BC-66D1-2771-CF3B7C5364A5}"/>
              </a:ext>
            </a:extLst>
          </p:cNvPr>
          <p:cNvSpPr/>
          <p:nvPr/>
        </p:nvSpPr>
        <p:spPr>
          <a:xfrm>
            <a:off x="1524794" y="3151517"/>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named a specific role in a specific moment — not just 'the team'?</a:t>
            </a:r>
          </a:p>
        </p:txBody>
      </p:sp>
      <p:sp>
        <p:nvSpPr>
          <p:cNvPr id="24" name="Shape 22">
            <a:extLst>
              <a:ext uri="{FF2B5EF4-FFF2-40B4-BE49-F238E27FC236}">
                <a16:creationId xmlns:a16="http://schemas.microsoft.com/office/drawing/2014/main" id="{DFC116B4-7683-3329-373F-0D912167A6AD}"/>
              </a:ext>
            </a:extLst>
          </p:cNvPr>
          <p:cNvSpPr/>
          <p:nvPr/>
        </p:nvSpPr>
        <p:spPr>
          <a:xfrm>
            <a:off x="7291610" y="2858909"/>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A0A83EA9-9177-9382-4434-36A36EC66481}"/>
              </a:ext>
            </a:extLst>
          </p:cNvPr>
          <p:cNvSpPr/>
          <p:nvPr/>
        </p:nvSpPr>
        <p:spPr>
          <a:xfrm>
            <a:off x="7437914" y="2834525"/>
            <a:ext cx="268224" cy="426720"/>
          </a:xfrm>
          <a:prstGeom prst="rect">
            <a:avLst/>
          </a:prstGeom>
          <a:noFill/>
          <a:ln/>
        </p:spPr>
        <p:txBody>
          <a:bodyPr wrap="square" lIns="0" tIns="0" rIns="0" bIns="0" rtlCol="0" anchor="ctr"/>
          <a:lstStyle/>
          <a:p>
            <a:r>
              <a:rPr lang="en-US" sz="1467"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FECEF98E-A93D-FF3F-EA77-D237208E9448}"/>
              </a:ext>
            </a:extLst>
          </p:cNvPr>
          <p:cNvSpPr/>
          <p:nvPr/>
        </p:nvSpPr>
        <p:spPr>
          <a:xfrm>
            <a:off x="7681754" y="2834525"/>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AED0651A-DF31-403D-BC55-BA511345BE0B}"/>
              </a:ext>
            </a:extLst>
          </p:cNvPr>
          <p:cNvSpPr/>
          <p:nvPr/>
        </p:nvSpPr>
        <p:spPr>
          <a:xfrm>
            <a:off x="8169434" y="2834525"/>
            <a:ext cx="323088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Good. You have a real user with a real context.</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a:extLst>
              <a:ext uri="{FF2B5EF4-FFF2-40B4-BE49-F238E27FC236}">
                <a16:creationId xmlns:a16="http://schemas.microsoft.com/office/drawing/2014/main" id="{F22309F2-4C11-B859-D337-1F4DC5132B4F}"/>
              </a:ext>
            </a:extLst>
          </p:cNvPr>
          <p:cNvSpPr/>
          <p:nvPr/>
        </p:nvSpPr>
        <p:spPr>
          <a:xfrm>
            <a:off x="7437914" y="3285629"/>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a:extLst>
              <a:ext uri="{FF2B5EF4-FFF2-40B4-BE49-F238E27FC236}">
                <a16:creationId xmlns:a16="http://schemas.microsoft.com/office/drawing/2014/main" id="{5D1F3977-9A7A-EA5F-0B86-9416D784EB08}"/>
              </a:ext>
            </a:extLst>
          </p:cNvPr>
          <p:cNvSpPr/>
          <p:nvPr/>
        </p:nvSpPr>
        <p:spPr>
          <a:xfrm>
            <a:off x="7437914" y="3334397"/>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a:extLst>
              <a:ext uri="{FF2B5EF4-FFF2-40B4-BE49-F238E27FC236}">
                <a16:creationId xmlns:a16="http://schemas.microsoft.com/office/drawing/2014/main" id="{57E9D680-6F32-E2E4-E75E-BD2A4672D377}"/>
              </a:ext>
            </a:extLst>
          </p:cNvPr>
          <p:cNvSpPr/>
          <p:nvPr/>
        </p:nvSpPr>
        <p:spPr>
          <a:xfrm>
            <a:off x="7681754" y="3334397"/>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a:extLst>
              <a:ext uri="{FF2B5EF4-FFF2-40B4-BE49-F238E27FC236}">
                <a16:creationId xmlns:a16="http://schemas.microsoft.com/office/drawing/2014/main" id="{7BA141DF-4543-BFB5-B710-DCF9F3AB9A43}"/>
              </a:ext>
            </a:extLst>
          </p:cNvPr>
          <p:cNvSpPr/>
          <p:nvPr/>
        </p:nvSpPr>
        <p:spPr>
          <a:xfrm>
            <a:off x="8169434" y="3334397"/>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Name the person and the moment. 'A reviewing clinician in the approval console' is specific. 'The team' is not.</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a:extLst>
              <a:ext uri="{FF2B5EF4-FFF2-40B4-BE49-F238E27FC236}">
                <a16:creationId xmlns:a16="http://schemas.microsoft.com/office/drawing/2014/main" id="{39017CCD-CDAA-F701-4FC2-59CA396D46F9}"/>
              </a:ext>
            </a:extLst>
          </p:cNvPr>
          <p:cNvSpPr/>
          <p:nvPr/>
        </p:nvSpPr>
        <p:spPr>
          <a:xfrm>
            <a:off x="549434" y="4004957"/>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31">
            <a:extLst>
              <a:ext uri="{FF2B5EF4-FFF2-40B4-BE49-F238E27FC236}">
                <a16:creationId xmlns:a16="http://schemas.microsoft.com/office/drawing/2014/main" id="{A8090EFD-F1F9-2A11-032A-85353580F2D8}"/>
              </a:ext>
            </a:extLst>
          </p:cNvPr>
          <p:cNvSpPr/>
          <p:nvPr/>
        </p:nvSpPr>
        <p:spPr>
          <a:xfrm>
            <a:off x="756698" y="4297565"/>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32">
            <a:extLst>
              <a:ext uri="{FF2B5EF4-FFF2-40B4-BE49-F238E27FC236}">
                <a16:creationId xmlns:a16="http://schemas.microsoft.com/office/drawing/2014/main" id="{3BBC41F1-5520-23D5-DC40-F5D48F2AD7F9}"/>
              </a:ext>
            </a:extLst>
          </p:cNvPr>
          <p:cNvSpPr/>
          <p:nvPr/>
        </p:nvSpPr>
        <p:spPr>
          <a:xfrm>
            <a:off x="756698" y="4297565"/>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a:extLst>
              <a:ext uri="{FF2B5EF4-FFF2-40B4-BE49-F238E27FC236}">
                <a16:creationId xmlns:a16="http://schemas.microsoft.com/office/drawing/2014/main" id="{87770169-2ED5-935D-D822-1EE3856F72B2}"/>
              </a:ext>
            </a:extLst>
          </p:cNvPr>
          <p:cNvSpPr/>
          <p:nvPr/>
        </p:nvSpPr>
        <p:spPr>
          <a:xfrm>
            <a:off x="1524794" y="4126877"/>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DOES SUCCESS LOOK LIKE?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6" name="Text 34">
            <a:extLst>
              <a:ext uri="{FF2B5EF4-FFF2-40B4-BE49-F238E27FC236}">
                <a16:creationId xmlns:a16="http://schemas.microsoft.com/office/drawing/2014/main" id="{7E5DFA81-A8C8-4249-C4FB-9FE8F07D0601}"/>
              </a:ext>
            </a:extLst>
          </p:cNvPr>
          <p:cNvSpPr/>
          <p:nvPr/>
        </p:nvSpPr>
        <p:spPr>
          <a:xfrm>
            <a:off x="1524794" y="4443869"/>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Can you verify whether it worked in under 60 seconds of running it?</a:t>
            </a:r>
          </a:p>
        </p:txBody>
      </p:sp>
      <p:sp>
        <p:nvSpPr>
          <p:cNvPr id="37" name="Shape 35">
            <a:extLst>
              <a:ext uri="{FF2B5EF4-FFF2-40B4-BE49-F238E27FC236}">
                <a16:creationId xmlns:a16="http://schemas.microsoft.com/office/drawing/2014/main" id="{27FDCA62-C532-5CE4-9F9B-196EFCA418B4}"/>
              </a:ext>
            </a:extLst>
          </p:cNvPr>
          <p:cNvSpPr/>
          <p:nvPr/>
        </p:nvSpPr>
        <p:spPr>
          <a:xfrm>
            <a:off x="7291610" y="4151261"/>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8" name="Text 36">
            <a:extLst>
              <a:ext uri="{FF2B5EF4-FFF2-40B4-BE49-F238E27FC236}">
                <a16:creationId xmlns:a16="http://schemas.microsoft.com/office/drawing/2014/main" id="{FAAF4DC8-59AF-4CEC-F2D7-8B15027C1775}"/>
              </a:ext>
            </a:extLst>
          </p:cNvPr>
          <p:cNvSpPr/>
          <p:nvPr/>
        </p:nvSpPr>
        <p:spPr>
          <a:xfrm>
            <a:off x="7437914" y="4126877"/>
            <a:ext cx="268224" cy="426720"/>
          </a:xfrm>
          <a:prstGeom prst="rect">
            <a:avLst/>
          </a:prstGeom>
          <a:noFill/>
          <a:ln/>
        </p:spPr>
        <p:txBody>
          <a:bodyPr wrap="square" lIns="0" tIns="0" rIns="0" bIns="0" rtlCol="0" anchor="ctr"/>
          <a:lstStyle/>
          <a:p>
            <a:r>
              <a:rPr lang="en-US" sz="1467"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9" name="Text 37">
            <a:extLst>
              <a:ext uri="{FF2B5EF4-FFF2-40B4-BE49-F238E27FC236}">
                <a16:creationId xmlns:a16="http://schemas.microsoft.com/office/drawing/2014/main" id="{833E8BB8-444F-69FC-C9C0-A3D19AEF9035}"/>
              </a:ext>
            </a:extLst>
          </p:cNvPr>
          <p:cNvSpPr/>
          <p:nvPr/>
        </p:nvSpPr>
        <p:spPr>
          <a:xfrm>
            <a:off x="7681754" y="4126877"/>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Text 38">
            <a:extLst>
              <a:ext uri="{FF2B5EF4-FFF2-40B4-BE49-F238E27FC236}">
                <a16:creationId xmlns:a16="http://schemas.microsoft.com/office/drawing/2014/main" id="{70B710A7-0E47-B3CD-89BC-7F17FEFDC048}"/>
              </a:ext>
            </a:extLst>
          </p:cNvPr>
          <p:cNvSpPr/>
          <p:nvPr/>
        </p:nvSpPr>
        <p:spPr>
          <a:xfrm>
            <a:off x="8169434" y="4126877"/>
            <a:ext cx="323088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Good. You have a testable outcome.</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41" name="Shape 39">
            <a:extLst>
              <a:ext uri="{FF2B5EF4-FFF2-40B4-BE49-F238E27FC236}">
                <a16:creationId xmlns:a16="http://schemas.microsoft.com/office/drawing/2014/main" id="{6502F233-1BEE-4A56-5C82-59D2BCBF9792}"/>
              </a:ext>
            </a:extLst>
          </p:cNvPr>
          <p:cNvSpPr/>
          <p:nvPr/>
        </p:nvSpPr>
        <p:spPr>
          <a:xfrm>
            <a:off x="7437914" y="4577981"/>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40">
            <a:extLst>
              <a:ext uri="{FF2B5EF4-FFF2-40B4-BE49-F238E27FC236}">
                <a16:creationId xmlns:a16="http://schemas.microsoft.com/office/drawing/2014/main" id="{F8A868FD-E2A3-CFE3-8BD5-B4DD14CAA442}"/>
              </a:ext>
            </a:extLst>
          </p:cNvPr>
          <p:cNvSpPr/>
          <p:nvPr/>
        </p:nvSpPr>
        <p:spPr>
          <a:xfrm>
            <a:off x="7437914" y="4626749"/>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3" name="Text 41">
            <a:extLst>
              <a:ext uri="{FF2B5EF4-FFF2-40B4-BE49-F238E27FC236}">
                <a16:creationId xmlns:a16="http://schemas.microsoft.com/office/drawing/2014/main" id="{0CC0D5FD-88A1-EEC4-617D-00CF3D515F13}"/>
              </a:ext>
            </a:extLst>
          </p:cNvPr>
          <p:cNvSpPr/>
          <p:nvPr/>
        </p:nvSpPr>
        <p:spPr>
          <a:xfrm>
            <a:off x="7681754" y="4626749"/>
            <a:ext cx="512064" cy="426720"/>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42">
            <a:extLst>
              <a:ext uri="{FF2B5EF4-FFF2-40B4-BE49-F238E27FC236}">
                <a16:creationId xmlns:a16="http://schemas.microsoft.com/office/drawing/2014/main" id="{A3FE4A6B-66DE-42CF-35BC-AAEBBEBC5551}"/>
              </a:ext>
            </a:extLst>
          </p:cNvPr>
          <p:cNvSpPr/>
          <p:nvPr/>
        </p:nvSpPr>
        <p:spPr>
          <a:xfrm>
            <a:off x="8169434" y="4626749"/>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Rewrite your success criterion. If you cannot test it in 60 seconds, it is not done.</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43">
            <a:extLst>
              <a:ext uri="{FF2B5EF4-FFF2-40B4-BE49-F238E27FC236}">
                <a16:creationId xmlns:a16="http://schemas.microsoft.com/office/drawing/2014/main" id="{64F28D58-B7ED-75DC-3665-EC61E213A087}"/>
              </a:ext>
            </a:extLst>
          </p:cNvPr>
          <p:cNvSpPr/>
          <p:nvPr/>
        </p:nvSpPr>
        <p:spPr>
          <a:xfrm>
            <a:off x="549434" y="5297309"/>
            <a:ext cx="11094720" cy="1146048"/>
          </a:xfrm>
          <a:prstGeom prst="roundRect">
            <a:avLst>
              <a:gd name="adj" fmla="val 9574"/>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6" name="Shape 44">
            <a:extLst>
              <a:ext uri="{FF2B5EF4-FFF2-40B4-BE49-F238E27FC236}">
                <a16:creationId xmlns:a16="http://schemas.microsoft.com/office/drawing/2014/main" id="{1C6D26EA-1778-09A3-C0E2-549FF8246546}"/>
              </a:ext>
            </a:extLst>
          </p:cNvPr>
          <p:cNvSpPr/>
          <p:nvPr/>
        </p:nvSpPr>
        <p:spPr>
          <a:xfrm>
            <a:off x="756698" y="5589917"/>
            <a:ext cx="536448" cy="536448"/>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7" name="Text 45">
            <a:extLst>
              <a:ext uri="{FF2B5EF4-FFF2-40B4-BE49-F238E27FC236}">
                <a16:creationId xmlns:a16="http://schemas.microsoft.com/office/drawing/2014/main" id="{7EA138EF-2EFF-6B12-3AF3-DB1729BB7203}"/>
              </a:ext>
            </a:extLst>
          </p:cNvPr>
          <p:cNvSpPr/>
          <p:nvPr/>
        </p:nvSpPr>
        <p:spPr>
          <a:xfrm>
            <a:off x="756698" y="5589917"/>
            <a:ext cx="536448" cy="536448"/>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46">
            <a:extLst>
              <a:ext uri="{FF2B5EF4-FFF2-40B4-BE49-F238E27FC236}">
                <a16:creationId xmlns:a16="http://schemas.microsoft.com/office/drawing/2014/main" id="{8459B6BA-6A5C-3D86-DDB8-E3B4938B1F42}"/>
              </a:ext>
            </a:extLst>
          </p:cNvPr>
          <p:cNvSpPr/>
          <p:nvPr/>
        </p:nvSpPr>
        <p:spPr>
          <a:xfrm>
            <a:off x="1524794" y="5419229"/>
            <a:ext cx="2682240" cy="316992"/>
          </a:xfrm>
          <a:prstGeom prst="rect">
            <a:avLst/>
          </a:prstGeom>
          <a:noFill/>
          <a:ln/>
        </p:spPr>
        <p:txBody>
          <a:bodyPr wrap="square" lIns="0" tIns="0" rIns="0" bIns="0" rtlCol="0" anchor="ctr"/>
          <a:lstStyle/>
          <a:p>
            <a:r>
              <a:rPr lang="en-US" sz="1100" b="1" kern="0" spc="107">
                <a:solidFill>
                  <a:schemeClr val="accent1"/>
                </a:solidFill>
                <a:latin typeface="Open Sans" panose="020B0606030504020204" pitchFamily="34" charset="0"/>
                <a:ea typeface="Open Sans" panose="020B0606030504020204" pitchFamily="34" charset="0"/>
                <a:cs typeface="Open Sans" panose="020B0606030504020204" pitchFamily="34" charset="0"/>
              </a:rPr>
              <a:t>WHAT IS OUT OF SCOPE?</a:t>
            </a:r>
            <a:endParaRPr lang="en-US" sz="11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9" name="Text 47">
            <a:extLst>
              <a:ext uri="{FF2B5EF4-FFF2-40B4-BE49-F238E27FC236}">
                <a16:creationId xmlns:a16="http://schemas.microsoft.com/office/drawing/2014/main" id="{05FA1195-0524-7359-960F-9430A4F759AC}"/>
              </a:ext>
            </a:extLst>
          </p:cNvPr>
          <p:cNvSpPr/>
          <p:nvPr/>
        </p:nvSpPr>
        <p:spPr>
          <a:xfrm>
            <a:off x="1524794" y="5736221"/>
            <a:ext cx="5608320" cy="585216"/>
          </a:xfrm>
          <a:prstGeom prst="rect">
            <a:avLst/>
          </a:prstGeom>
          <a:noFill/>
          <a:ln/>
        </p:spPr>
        <p:txBody>
          <a:bodyPr wrap="square" lIns="0" tIns="0" rIns="0" bIns="0" rtlCol="0" anchor="t"/>
          <a:lstStyle/>
          <a:p>
            <a:r>
              <a:rPr lang="en-US" sz="1600">
                <a:latin typeface="Open Sans" panose="020B0606030504020204" pitchFamily="34" charset="0"/>
                <a:ea typeface="Open Sans" panose="020B0606030504020204" pitchFamily="34" charset="0"/>
                <a:cs typeface="Open Sans" panose="020B0606030504020204" pitchFamily="34" charset="0"/>
              </a:rPr>
              <a:t>Have you written down at least two things your PoC will not do?</a:t>
            </a:r>
          </a:p>
        </p:txBody>
      </p:sp>
      <p:sp>
        <p:nvSpPr>
          <p:cNvPr id="50" name="Shape 48">
            <a:extLst>
              <a:ext uri="{FF2B5EF4-FFF2-40B4-BE49-F238E27FC236}">
                <a16:creationId xmlns:a16="http://schemas.microsoft.com/office/drawing/2014/main" id="{A416D4C0-0995-AA7A-0938-A3A0AA758E56}"/>
              </a:ext>
            </a:extLst>
          </p:cNvPr>
          <p:cNvSpPr/>
          <p:nvPr/>
        </p:nvSpPr>
        <p:spPr>
          <a:xfrm>
            <a:off x="7291610" y="5443613"/>
            <a:ext cx="0" cy="853440"/>
          </a:xfrm>
          <a:prstGeom prst="line">
            <a:avLst/>
          </a:prstGeom>
          <a:noFill/>
          <a:ln w="10160">
            <a:solidFill>
              <a:srgbClr val="CCCCCC"/>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1" name="Text 49">
            <a:extLst>
              <a:ext uri="{FF2B5EF4-FFF2-40B4-BE49-F238E27FC236}">
                <a16:creationId xmlns:a16="http://schemas.microsoft.com/office/drawing/2014/main" id="{147CD444-70EE-7297-6D23-6F304FC02F36}"/>
              </a:ext>
            </a:extLst>
          </p:cNvPr>
          <p:cNvSpPr/>
          <p:nvPr/>
        </p:nvSpPr>
        <p:spPr>
          <a:xfrm>
            <a:off x="7437914" y="5419229"/>
            <a:ext cx="268224" cy="426720"/>
          </a:xfrm>
          <a:prstGeom prst="rect">
            <a:avLst/>
          </a:prstGeom>
          <a:noFill/>
          <a:ln/>
        </p:spPr>
        <p:txBody>
          <a:bodyPr wrap="square" lIns="0" tIns="0" rIns="0" bIns="0" rtlCol="0" anchor="ctr"/>
          <a:lstStyle/>
          <a:p>
            <a:r>
              <a:rPr lang="en-US" sz="1467" b="1">
                <a:solidFill>
                  <a:srgbClr val="00B050"/>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50">
            <a:extLst>
              <a:ext uri="{FF2B5EF4-FFF2-40B4-BE49-F238E27FC236}">
                <a16:creationId xmlns:a16="http://schemas.microsoft.com/office/drawing/2014/main" id="{B3D4B621-79B1-8A72-2F37-D3B8533749CA}"/>
              </a:ext>
            </a:extLst>
          </p:cNvPr>
          <p:cNvSpPr/>
          <p:nvPr/>
        </p:nvSpPr>
        <p:spPr>
          <a:xfrm>
            <a:off x="7681754" y="5419229"/>
            <a:ext cx="585216" cy="426720"/>
          </a:xfrm>
          <a:prstGeom prst="rect">
            <a:avLst/>
          </a:prstGeom>
          <a:noFill/>
          <a:ln/>
        </p:spPr>
        <p:txBody>
          <a:bodyPr wrap="square" lIns="0" tIns="0" rIns="0" bIns="0" rtlCol="0" anchor="ctr"/>
          <a:lstStyle/>
          <a:p>
            <a:r>
              <a:rPr lang="en-US" sz="1400" b="1">
                <a:solidFill>
                  <a:srgbClr val="00B050"/>
                </a:solidFill>
                <a:latin typeface="Open Sans" panose="020B0606030504020204" pitchFamily="34" charset="0"/>
                <a:ea typeface="Open Sans" panose="020B0606030504020204" pitchFamily="34" charset="0"/>
                <a:cs typeface="Open Sans" panose="020B0606030504020204" pitchFamily="34" charset="0"/>
              </a:rPr>
              <a:t>YES: </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3" name="Text 51">
            <a:extLst>
              <a:ext uri="{FF2B5EF4-FFF2-40B4-BE49-F238E27FC236}">
                <a16:creationId xmlns:a16="http://schemas.microsoft.com/office/drawing/2014/main" id="{8C14F3C7-2ECD-ABE5-B122-22BDA3E7B8A1}"/>
              </a:ext>
            </a:extLst>
          </p:cNvPr>
          <p:cNvSpPr/>
          <p:nvPr/>
        </p:nvSpPr>
        <p:spPr>
          <a:xfrm>
            <a:off x="8169434" y="5419229"/>
            <a:ext cx="323088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Good. That list is what keeps Claude Code from expanding scope mid-build.</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
        <p:nvSpPr>
          <p:cNvPr id="54" name="Shape 52">
            <a:extLst>
              <a:ext uri="{FF2B5EF4-FFF2-40B4-BE49-F238E27FC236}">
                <a16:creationId xmlns:a16="http://schemas.microsoft.com/office/drawing/2014/main" id="{8B2F839C-5861-CD1A-F369-95EF3402D88C}"/>
              </a:ext>
            </a:extLst>
          </p:cNvPr>
          <p:cNvSpPr/>
          <p:nvPr/>
        </p:nvSpPr>
        <p:spPr>
          <a:xfrm>
            <a:off x="7437914" y="5870333"/>
            <a:ext cx="3998976" cy="0"/>
          </a:xfrm>
          <a:prstGeom prst="line">
            <a:avLst/>
          </a:prstGeom>
          <a:noFill/>
          <a:ln w="635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5" name="Text 53">
            <a:extLst>
              <a:ext uri="{FF2B5EF4-FFF2-40B4-BE49-F238E27FC236}">
                <a16:creationId xmlns:a16="http://schemas.microsoft.com/office/drawing/2014/main" id="{9CC5FF89-8E9F-1A8F-2D45-AC4A2AC74897}"/>
              </a:ext>
            </a:extLst>
          </p:cNvPr>
          <p:cNvSpPr/>
          <p:nvPr/>
        </p:nvSpPr>
        <p:spPr>
          <a:xfrm>
            <a:off x="7437914" y="5919101"/>
            <a:ext cx="268224" cy="426720"/>
          </a:xfrm>
          <a:prstGeom prst="rect">
            <a:avLst/>
          </a:prstGeom>
          <a:noFill/>
          <a:ln/>
        </p:spPr>
        <p:txBody>
          <a:bodyPr wrap="square" lIns="0" tIns="0" rIns="0" bIns="0" rtlCol="0" anchor="ctr"/>
          <a:lstStyle/>
          <a:p>
            <a:r>
              <a:rPr lang="en-US" sz="1467" b="1">
                <a:solidFill>
                  <a:schemeClr val="accent3"/>
                </a:solidFill>
                <a:latin typeface="Open Sans" panose="020B0606030504020204" pitchFamily="34" charset="0"/>
                <a:ea typeface="Open Sans" panose="020B0606030504020204" pitchFamily="34" charset="0"/>
                <a:cs typeface="Open Sans" panose="020B0606030504020204" pitchFamily="34" charset="0"/>
              </a:rPr>
              <a:t>✗</a:t>
            </a:r>
            <a:endParaRPr lang="en-US" sz="1467">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6" name="Text 54">
            <a:extLst>
              <a:ext uri="{FF2B5EF4-FFF2-40B4-BE49-F238E27FC236}">
                <a16:creationId xmlns:a16="http://schemas.microsoft.com/office/drawing/2014/main" id="{61200447-12BD-F695-5728-D31534920B8E}"/>
              </a:ext>
            </a:extLst>
          </p:cNvPr>
          <p:cNvSpPr/>
          <p:nvPr/>
        </p:nvSpPr>
        <p:spPr>
          <a:xfrm>
            <a:off x="7681754" y="5919101"/>
            <a:ext cx="512064" cy="426720"/>
          </a:xfrm>
          <a:prstGeom prst="rect">
            <a:avLst/>
          </a:prstGeom>
          <a:noFill/>
          <a:ln/>
        </p:spPr>
        <p:txBody>
          <a:bodyPr wrap="square" lIns="0" tIns="0" rIns="0" bIns="0" rtlCol="0" anchor="ctr"/>
          <a:lstStyle/>
          <a:p>
            <a:r>
              <a:rPr lang="en-US" sz="1400" b="1">
                <a:solidFill>
                  <a:schemeClr val="accent3"/>
                </a:solidFill>
                <a:latin typeface="Open Sans" panose="020B0606030504020204" pitchFamily="34" charset="0"/>
                <a:ea typeface="Open Sans" panose="020B0606030504020204" pitchFamily="34" charset="0"/>
                <a:cs typeface="Open Sans" panose="020B0606030504020204" pitchFamily="34" charset="0"/>
              </a:rPr>
              <a:t>NO: </a:t>
            </a:r>
            <a:endParaRPr lang="en-US" sz="140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7" name="Text 55">
            <a:extLst>
              <a:ext uri="{FF2B5EF4-FFF2-40B4-BE49-F238E27FC236}">
                <a16:creationId xmlns:a16="http://schemas.microsoft.com/office/drawing/2014/main" id="{10AB6E9D-08C9-CAE1-6576-E2B9EC1D3A03}"/>
              </a:ext>
            </a:extLst>
          </p:cNvPr>
          <p:cNvSpPr/>
          <p:nvPr/>
        </p:nvSpPr>
        <p:spPr>
          <a:xfrm>
            <a:off x="8169434" y="5919101"/>
            <a:ext cx="3291840" cy="426720"/>
          </a:xfrm>
          <a:prstGeom prst="rect">
            <a:avLst/>
          </a:prstGeom>
          <a:noFill/>
          <a:ln/>
        </p:spPr>
        <p:txBody>
          <a:bodyPr wrap="square" lIns="0" tIns="0" rIns="0" bIns="0" rtlCol="0" anchor="ctr"/>
          <a:lstStyle/>
          <a:p>
            <a:r>
              <a:rPr lang="en-US" sz="1050">
                <a:solidFill>
                  <a:srgbClr val="555555"/>
                </a:solidFill>
                <a:latin typeface="Open Sans" panose="020B0606030504020204" pitchFamily="34" charset="0"/>
                <a:ea typeface="Open Sans" panose="020B0606030504020204" pitchFamily="34" charset="0"/>
                <a:cs typeface="Open Sans" panose="020B0606030504020204" pitchFamily="34" charset="0"/>
              </a:rPr>
              <a:t>Write it now. 'No EHR integration. No real PHI. No SSO.' Name it before you build it.</a:t>
            </a:r>
            <a:endParaRPr lang="en-US" sz="105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71525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2914D567-DDF7-00AB-2555-3BDCF5EC42BF}"/>
              </a:ext>
            </a:extLst>
          </p:cNvPr>
          <p:cNvSpPr/>
          <p:nvPr/>
        </p:nvSpPr>
        <p:spPr>
          <a:xfrm>
            <a:off x="9750464" y="207264"/>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483026" y="207264"/>
            <a:ext cx="2377440" cy="463296"/>
          </a:xfrm>
          <a:prstGeom prst="rect">
            <a:avLst/>
          </a:prstGeom>
          <a:noFill/>
          <a:ln/>
        </p:spPr>
        <p:txBody>
          <a:bodyPr wrap="square" lIns="0" tIns="0" rIns="0" bIns="0" rtlCol="0" anchor="ctr"/>
          <a:lstStyle/>
          <a:p>
            <a:pPr algn="ct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488474" y="268224"/>
            <a:ext cx="902208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Write Your PoC Brief and </a:t>
            </a:r>
            <a:r>
              <a:rPr lang="en-US" sz="3600" b="1" dirty="0" err="1">
                <a:latin typeface="Open Sans" panose="020B0606030504020204" pitchFamily="34" charset="0"/>
                <a:ea typeface="Open Sans" panose="020B0606030504020204" pitchFamily="34" charset="0"/>
                <a:cs typeface="Open Sans" panose="020B0606030504020204" pitchFamily="34" charset="0"/>
              </a:rPr>
              <a:t>CLAUDE.md</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95097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You already chose your problem statement. Now make it buildable.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616293" y="1686867"/>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16293" y="1686867"/>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201509" y="1524000"/>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Open your PoC brief template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201509" y="1938528"/>
            <a:ext cx="10607040" cy="36576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Use the four-element format: What · Who · Success · Out of scope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616293" y="2682240"/>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16293" y="2682240"/>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201509" y="2523744"/>
            <a:ext cx="10607040" cy="36576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Write your brief for [PROBLEM STATEMENT]</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201509" y="2938272"/>
            <a:ext cx="10607040" cy="365760"/>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One sentence per element. Pass the three scope questions before moving 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16293" y="3677613"/>
            <a:ext cx="438912" cy="438912"/>
          </a:xfrm>
          <a:prstGeom prst="ellipse">
            <a:avLst/>
          </a:prstGeom>
          <a:solidFill>
            <a:schemeClr val="accent1"/>
          </a:solidFill>
          <a:ln w="1270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16293" y="3677613"/>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201509" y="3523488"/>
            <a:ext cx="5486400" cy="36576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Run /init to generate a starter CLAUDE.md</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201509" y="3938016"/>
            <a:ext cx="5486400" cy="36576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Then edit it using your brief as the source of truth.</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616293" y="4672987"/>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616293" y="4672987"/>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201509" y="4523232"/>
            <a:ext cx="5486400" cy="365760"/>
          </a:xfrm>
          <a:prstGeom prst="rect">
            <a:avLst/>
          </a:prstGeom>
          <a:noFill/>
          <a:ln/>
        </p:spPr>
        <p:txBody>
          <a:bodyPr wrap="square" lIns="0" tIns="0" rIns="0" bIns="0" rtlCol="0" anchor="ctr"/>
          <a:lstStyle/>
          <a:p>
            <a:r>
              <a:rPr lang="en-US" sz="1800" b="1">
                <a:latin typeface="Open Sans" panose="020B0606030504020204" pitchFamily="34" charset="0"/>
                <a:ea typeface="Open Sans" panose="020B0606030504020204" pitchFamily="34" charset="0"/>
                <a:cs typeface="Open Sans" panose="020B0606030504020204" pitchFamily="34" charset="0"/>
              </a:rPr>
              <a:t>Verify Claude has read it</a:t>
            </a:r>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201509" y="4937760"/>
            <a:ext cx="9447621" cy="365760"/>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Ask Claude to name your project purpose and one constraint — without reading any file.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8"/>
          <p:cNvSpPr/>
          <p:nvPr/>
        </p:nvSpPr>
        <p:spPr>
          <a:xfrm>
            <a:off x="616293" y="5742432"/>
            <a:ext cx="10976736" cy="438912"/>
          </a:xfrm>
          <a:prstGeom prst="roundRect">
            <a:avLst>
              <a:gd name="adj" fmla="val 22727"/>
            </a:avLst>
          </a:prstGeom>
          <a:solidFill>
            <a:srgbClr val="E8F5E9"/>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671354" y="5827776"/>
            <a:ext cx="10972800" cy="268224"/>
          </a:xfrm>
          <a:prstGeom prst="rect">
            <a:avLst/>
          </a:prstGeom>
          <a:noFill/>
          <a:ln/>
        </p:spPr>
        <p:txBody>
          <a:bodyPr wrap="square" lIns="0" tIns="0" rIns="0" bIns="0" rtlCol="0" anchor="ctr"/>
          <a:lstStyle/>
          <a:p>
            <a:r>
              <a:rPr lang="en-US" sz="12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SUCCESS: Brief written · Scope test passed · </a:t>
            </a:r>
            <a:r>
              <a:rPr lang="en-US" sz="1200" b="1" dirty="0" err="1">
                <a:solidFill>
                  <a:srgbClr val="00B050"/>
                </a:solidFill>
                <a:latin typeface="Open Sans" panose="020B0606030504020204" pitchFamily="34" charset="0"/>
                <a:ea typeface="Open Sans" panose="020B0606030504020204" pitchFamily="34" charset="0"/>
                <a:cs typeface="Open Sans" panose="020B0606030504020204" pitchFamily="34" charset="0"/>
              </a:rPr>
              <a:t>CLAUDE.md</a:t>
            </a:r>
            <a:r>
              <a:rPr lang="en-US" sz="12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created · Claude correctly names your project and constraints</a:t>
            </a:r>
            <a:endPar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5D4DD05-1A11-5D1B-046C-444D02AAE9B0}"/>
              </a:ext>
            </a:extLst>
          </p:cNvPr>
          <p:cNvSpPr>
            <a:spLocks noGrp="1"/>
          </p:cNvSpPr>
          <p:nvPr>
            <p:ph type="title"/>
          </p:nvPr>
        </p:nvSpPr>
        <p:spPr>
          <a:xfrm>
            <a:off x="2399865" y="2875002"/>
            <a:ext cx="9064096" cy="1107996"/>
          </a:xfrm>
        </p:spPr>
        <p:txBody>
          <a:bodyPr/>
          <a:lstStyle/>
          <a:p>
            <a:r>
              <a:rPr lang="en-US" sz="6600" dirty="0">
                <a:solidFill>
                  <a:srgbClr val="2D2D2D"/>
                </a:solidFill>
                <a:latin typeface="Open Sans" panose="020B0606030504020204" pitchFamily="34" charset="0"/>
              </a:rPr>
              <a:t>THE BUILD LOOP</a:t>
            </a:r>
            <a:endParaRPr lang="en-US" sz="6600" dirty="0">
              <a:latin typeface="Open Sans" panose="020B0606030504020204" pitchFamily="34" charset="0"/>
            </a:endParaRPr>
          </a:p>
        </p:txBody>
      </p:sp>
      <p:sp>
        <p:nvSpPr>
          <p:cNvPr id="5" name="Text Placeholder 1">
            <a:extLst>
              <a:ext uri="{FF2B5EF4-FFF2-40B4-BE49-F238E27FC236}">
                <a16:creationId xmlns:a16="http://schemas.microsoft.com/office/drawing/2014/main" id="{8BE6916E-10CE-52FE-9251-B5D5D4B6C3C5}"/>
              </a:ext>
            </a:extLst>
          </p:cNvPr>
          <p:cNvSpPr txBox="1">
            <a:spLocks/>
          </p:cNvSpPr>
          <p:nvPr/>
        </p:nvSpPr>
        <p:spPr>
          <a:xfrm>
            <a:off x="483941" y="2562160"/>
            <a:ext cx="1915924" cy="1733680"/>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600" dirty="0">
                <a:latin typeface="Open Sans" panose="020B0606030504020204" pitchFamily="34" charset="0"/>
                <a:ea typeface="Open Sans" panose="020B0606030504020204" pitchFamily="34" charset="0"/>
                <a:cs typeface="Open Sans" panose="020B0606030504020204" pitchFamily="34" charset="0"/>
              </a:rPr>
              <a:t>02</a:t>
            </a:r>
          </a:p>
        </p:txBody>
      </p:sp>
    </p:spTree>
    <p:extLst>
      <p:ext uri="{BB962C8B-B14F-4D97-AF65-F5344CB8AC3E}">
        <p14:creationId xmlns:p14="http://schemas.microsoft.com/office/powerpoint/2010/main" val="1619768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E6CE9C6-91EF-FFDE-3407-7736EAFF96B2}"/>
              </a:ext>
            </a:extLst>
          </p:cNvPr>
          <p:cNvSpPr/>
          <p:nvPr/>
        </p:nvSpPr>
        <p:spPr>
          <a:xfrm>
            <a:off x="1219994" y="1341120"/>
            <a:ext cx="9753600" cy="1036320"/>
          </a:xfrm>
          <a:prstGeom prst="rect">
            <a:avLst/>
          </a:prstGeom>
          <a:noFill/>
          <a:ln/>
        </p:spPr>
        <p:txBody>
          <a:bodyPr wrap="square" lIns="0" tIns="0" rIns="0" bIns="0" rtlCol="0" anchor="ctr"/>
          <a:lstStyle/>
          <a:p>
            <a:pPr algn="ctr"/>
            <a:r>
              <a:rPr lang="en-US" sz="5800" b="1" dirty="0">
                <a:latin typeface="Open Sans" panose="020B0606030504020204" pitchFamily="34" charset="0"/>
                <a:ea typeface="Open Sans" panose="020B0606030504020204" pitchFamily="34" charset="0"/>
                <a:cs typeface="Open Sans" panose="020B0606030504020204" pitchFamily="34" charset="0"/>
              </a:rPr>
              <a:t>You have a brief.</a:t>
            </a:r>
            <a:endParaRPr lang="en-US" sz="5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a:extLst>
              <a:ext uri="{FF2B5EF4-FFF2-40B4-BE49-F238E27FC236}">
                <a16:creationId xmlns:a16="http://schemas.microsoft.com/office/drawing/2014/main" id="{71605A30-6B0F-FD90-2D7F-BAB206549114}"/>
              </a:ext>
            </a:extLst>
          </p:cNvPr>
          <p:cNvSpPr/>
          <p:nvPr/>
        </p:nvSpPr>
        <p:spPr>
          <a:xfrm>
            <a:off x="1219994" y="2438400"/>
            <a:ext cx="9753600" cy="1036320"/>
          </a:xfrm>
          <a:prstGeom prst="rect">
            <a:avLst/>
          </a:prstGeom>
          <a:noFill/>
          <a:ln/>
        </p:spPr>
        <p:txBody>
          <a:bodyPr wrap="square" lIns="0" tIns="0" rIns="0" bIns="0" rtlCol="0" anchor="ctr"/>
          <a:lstStyle/>
          <a:p>
            <a:pPr algn="ctr"/>
            <a:r>
              <a:rPr lang="en-US" sz="5800" b="1">
                <a:latin typeface="Open Sans" panose="020B0606030504020204" pitchFamily="34" charset="0"/>
                <a:ea typeface="Open Sans" panose="020B0606030504020204" pitchFamily="34" charset="0"/>
                <a:cs typeface="Open Sans" panose="020B0606030504020204" pitchFamily="34" charset="0"/>
              </a:rPr>
              <a:t>Claude Code is open.</a:t>
            </a:r>
            <a:endParaRPr lang="en-US" sz="58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a:extLst>
              <a:ext uri="{FF2B5EF4-FFF2-40B4-BE49-F238E27FC236}">
                <a16:creationId xmlns:a16="http://schemas.microsoft.com/office/drawing/2014/main" id="{23873EC0-30D9-13B3-2912-FDA267F029B5}"/>
              </a:ext>
            </a:extLst>
          </p:cNvPr>
          <p:cNvSpPr/>
          <p:nvPr/>
        </p:nvSpPr>
        <p:spPr>
          <a:xfrm>
            <a:off x="1219994" y="3535680"/>
            <a:ext cx="9753600" cy="1036320"/>
          </a:xfrm>
          <a:prstGeom prst="rect">
            <a:avLst/>
          </a:prstGeom>
          <a:noFill/>
          <a:ln/>
        </p:spPr>
        <p:txBody>
          <a:bodyPr wrap="square" lIns="0" tIns="0" rIns="0" bIns="0" rtlCol="0" anchor="ctr"/>
          <a:lstStyle/>
          <a:p>
            <a:pPr algn="ctr"/>
            <a:r>
              <a:rPr lang="en-US" sz="5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Now build.</a:t>
            </a:r>
            <a:endParaRPr lang="en-US" sz="5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a:extLst>
              <a:ext uri="{FF2B5EF4-FFF2-40B4-BE49-F238E27FC236}">
                <a16:creationId xmlns:a16="http://schemas.microsoft.com/office/drawing/2014/main" id="{C2BA829D-EB4E-06D9-CB73-5B1CD5364ACC}"/>
              </a:ext>
            </a:extLst>
          </p:cNvPr>
          <p:cNvSpPr/>
          <p:nvPr/>
        </p:nvSpPr>
        <p:spPr>
          <a:xfrm>
            <a:off x="1829594" y="4998720"/>
            <a:ext cx="8534400" cy="426720"/>
          </a:xfrm>
          <a:prstGeom prst="rect">
            <a:avLst/>
          </a:prstGeom>
          <a:noFill/>
          <a:ln/>
        </p:spPr>
        <p:txBody>
          <a:bodyPr wrap="square" lIns="0" tIns="0" rIns="0" bIns="0" rtlCol="0" anchor="ctr"/>
          <a:lstStyle/>
          <a:p>
            <a:pPr algn="ctr"/>
            <a:r>
              <a:rPr lang="en-US" sz="2000" i="1" dirty="0">
                <a:solidFill>
                  <a:srgbClr val="AAAAAA"/>
                </a:solidFill>
                <a:latin typeface="Open Sans" panose="020B0606030504020204" pitchFamily="34" charset="0"/>
                <a:ea typeface="Open Sans" panose="020B0606030504020204" pitchFamily="34" charset="0"/>
                <a:cs typeface="Open Sans" panose="020B0606030504020204" pitchFamily="34" charset="0"/>
              </a:rPr>
              <a:t>Everything from this point is the loop — prompt, run, fix, repeat.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93021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4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The Build Loop — Five Steps</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960649"/>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Each Claude response is one step — not a final answer. The loop is the method.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272471" y="1751026"/>
            <a:ext cx="2097024" cy="3493639"/>
          </a:xfrm>
          <a:prstGeom prst="roundRect">
            <a:avLst>
              <a:gd name="adj" fmla="val 5814"/>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1040567" y="1897329"/>
            <a:ext cx="560832" cy="56083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1040567"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370007" y="2628849"/>
            <a:ext cx="1901952" cy="609600"/>
          </a:xfrm>
          <a:prstGeom prst="rect">
            <a:avLst/>
          </a:prstGeom>
          <a:noFill/>
          <a:ln/>
        </p:spPr>
        <p:txBody>
          <a:bodyPr wrap="square" lIns="0" tIns="0" rIns="0" bIns="0" rtlCol="0" anchor="ctr"/>
          <a:lstStyle/>
          <a:p>
            <a:pPr algn="ctr"/>
            <a:r>
              <a:rPr lang="en-US" sz="14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PROMPT</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370007" y="3311602"/>
            <a:ext cx="1901952" cy="1628263"/>
          </a:xfrm>
          <a:prstGeom prst="rect">
            <a:avLst/>
          </a:prstGeom>
          <a:noFill/>
          <a:ln/>
        </p:spPr>
        <p:txBody>
          <a:bodyPr wrap="square" lIns="0" tIns="0" rIns="0" bIns="0" rtlCol="0" anchor="ctr"/>
          <a:lstStyle/>
          <a:p>
            <a:pPr algn="ct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Specific. Scoped. Name the file, function, and output format.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2393879" y="3195777"/>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2662103" y="1751026"/>
            <a:ext cx="2097024" cy="3493639"/>
          </a:xfrm>
          <a:prstGeom prst="roundRect">
            <a:avLst>
              <a:gd name="adj" fmla="val 5814"/>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3430199" y="1897329"/>
            <a:ext cx="560832" cy="56083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3430199"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2759639" y="2628849"/>
            <a:ext cx="1901952" cy="609600"/>
          </a:xfrm>
          <a:prstGeom prst="rect">
            <a:avLst/>
          </a:prstGeom>
          <a:noFill/>
          <a:ln/>
        </p:spPr>
        <p:txBody>
          <a:bodyPr wrap="square" lIns="0" tIns="0" rIns="0" bIns="0" rtlCol="0" anchor="ctr"/>
          <a:lstStyle/>
          <a:p>
            <a:pPr algn="ctr"/>
            <a:r>
              <a:rPr lang="en-US" sz="14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CLAUDE WRITES</a:t>
            </a:r>
            <a:endParaRPr lang="en-US" sz="14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2759639"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Claude generates diffs. Review before you accept anything.</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783511" y="3195777"/>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5051735" y="1751026"/>
            <a:ext cx="2097024" cy="3493639"/>
          </a:xfrm>
          <a:prstGeom prst="roundRect">
            <a:avLst>
              <a:gd name="adj" fmla="val 5814"/>
            </a:avLst>
          </a:prstGeom>
          <a:solidFill>
            <a:srgbClr val="F5F5F5"/>
          </a:solidFill>
          <a:ln w="1905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5819831" y="1897329"/>
            <a:ext cx="560832" cy="560832"/>
          </a:xfrm>
          <a:prstGeom prst="ellipse">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5819831"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5149271" y="2628849"/>
            <a:ext cx="1901952" cy="609600"/>
          </a:xfrm>
          <a:prstGeom prst="rect">
            <a:avLst/>
          </a:prstGeom>
          <a:noFill/>
          <a:ln/>
        </p:spPr>
        <p:txBody>
          <a:bodyPr wrap="square" lIns="0" tIns="0" rIns="0" bIns="0" rtlCol="0" anchor="ctr"/>
          <a:lstStyle/>
          <a:p>
            <a:pPr algn="ct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RUN &amp; TEST</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5149271"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Execute the code. Read the full error before going back.</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7156751" y="3203084"/>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7432967" y="1751026"/>
            <a:ext cx="2097024" cy="3493639"/>
          </a:xfrm>
          <a:prstGeom prst="roundRect">
            <a:avLst>
              <a:gd name="adj" fmla="val 5814"/>
            </a:avLst>
          </a:prstGeom>
          <a:solidFill>
            <a:srgbClr val="F5F5F5"/>
          </a:solidFill>
          <a:ln w="19050">
            <a:solidFill>
              <a:schemeClr val="accent3"/>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8201063" y="1897329"/>
            <a:ext cx="560832" cy="560832"/>
          </a:xfrm>
          <a:prstGeom prst="ellipse">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8201063"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7530503" y="2628849"/>
            <a:ext cx="1901952" cy="609600"/>
          </a:xfrm>
          <a:prstGeom prst="rect">
            <a:avLst/>
          </a:prstGeom>
          <a:noFill/>
          <a:ln/>
        </p:spPr>
        <p:txBody>
          <a:bodyPr wrap="square" lIns="0" tIns="0" rIns="0" bIns="0" rtlCol="0" anchor="ctr"/>
          <a:lstStyle/>
          <a:p>
            <a:pPr algn="ctr"/>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DESCRIBE WHAT'S WRONG</a:t>
            </a:r>
            <a:endPar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7530503"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Paste the full error with context — what you were trying to do.</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9541194" y="3195777"/>
            <a:ext cx="268224" cy="426720"/>
          </a:xfrm>
          <a:prstGeom prst="rect">
            <a:avLst/>
          </a:prstGeom>
          <a:noFill/>
          <a:ln/>
        </p:spPr>
        <p:txBody>
          <a:bodyPr wrap="square" lIns="0" tIns="0" rIns="0" bIns="0" rtlCol="0" anchor="ctr"/>
          <a:lstStyle/>
          <a:p>
            <a:pPr algn="ctr"/>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9814199" y="1751026"/>
            <a:ext cx="2097024" cy="3493639"/>
          </a:xfrm>
          <a:prstGeom prst="roundRect">
            <a:avLst>
              <a:gd name="adj" fmla="val 5814"/>
            </a:avLst>
          </a:prstGeom>
          <a:solidFill>
            <a:srgbClr val="F5F5F5"/>
          </a:solidFill>
          <a:ln w="19050">
            <a:solidFill>
              <a:schemeClr val="tx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10582295" y="1897329"/>
            <a:ext cx="560832" cy="560832"/>
          </a:xfrm>
          <a:prstGeom prst="ellipse">
            <a:avLst/>
          </a:prstGeom>
          <a:solidFill>
            <a:schemeClr val="tx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10582295" y="1897329"/>
            <a:ext cx="560832" cy="560832"/>
          </a:xfrm>
          <a:prstGeom prst="rect">
            <a:avLst/>
          </a:prstGeom>
          <a:noFill/>
          <a:ln/>
        </p:spPr>
        <p:txBody>
          <a:bodyPr wrap="square" lIns="0" tIns="0" rIns="0" bIns="0" rtlCol="0" anchor="ctr"/>
          <a:lstStyle/>
          <a:p>
            <a:pPr algn="ctr"/>
            <a:r>
              <a:rPr lang="en-US" sz="2133"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2133">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9911735" y="2628849"/>
            <a:ext cx="1901952" cy="609600"/>
          </a:xfrm>
          <a:prstGeom prst="rect">
            <a:avLst/>
          </a:prstGeom>
          <a:noFill/>
          <a:ln/>
        </p:spPr>
        <p:txBody>
          <a:bodyPr wrap="square" lIns="0" tIns="0" rIns="0" bIns="0" rtlCol="0" anchor="ctr"/>
          <a:lstStyle/>
          <a:p>
            <a:pPr algn="ctr"/>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CLAUDE FIXES</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ext 30"/>
          <p:cNvSpPr/>
          <p:nvPr/>
        </p:nvSpPr>
        <p:spPr>
          <a:xfrm>
            <a:off x="9911735" y="3311602"/>
            <a:ext cx="1901952" cy="1628263"/>
          </a:xfrm>
          <a:prstGeom prst="rect">
            <a:avLst/>
          </a:prstGeom>
          <a:noFill/>
          <a:ln/>
        </p:spPr>
        <p:txBody>
          <a:bodyPr wrap="square" lIns="0" tIns="0" rIns="0" bIns="0" rtlCol="0" anchor="ctr"/>
          <a:lstStyle/>
          <a:p>
            <a:pPr algn="ctr"/>
            <a:r>
              <a:rPr lang="en-US" sz="1400">
                <a:solidFill>
                  <a:srgbClr val="2D2D2D"/>
                </a:solidFill>
                <a:latin typeface="Open Sans" panose="020B0606030504020204" pitchFamily="34" charset="0"/>
                <a:ea typeface="Open Sans" panose="020B0606030504020204" pitchFamily="34" charset="0"/>
                <a:cs typeface="Open Sans" panose="020B0606030504020204" pitchFamily="34" charset="0"/>
              </a:rPr>
              <a:t>Claude addresses the issue. Review the fix. Run again.</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488474" y="5693664"/>
            <a:ext cx="11216640" cy="304800"/>
          </a:xfrm>
          <a:prstGeom prst="rect">
            <a:avLst/>
          </a:prstGeom>
          <a:noFill/>
          <a:ln/>
        </p:spPr>
        <p:txBody>
          <a:bodyPr wrap="square" lIns="0" tIns="0" rIns="0" bIns="0" rtlCol="0" anchor="ctr"/>
          <a:lstStyle/>
          <a:p>
            <a:pPr algn="ctr"/>
            <a:r>
              <a:rPr lang="en-US" sz="1600" b="1" i="1" dirty="0">
                <a:latin typeface="Open Sans" panose="020B0606030504020204" pitchFamily="34" charset="0"/>
                <a:ea typeface="Open Sans" panose="020B0606030504020204" pitchFamily="34" charset="0"/>
                <a:cs typeface="Open Sans" panose="020B0606030504020204" pitchFamily="34" charset="0"/>
              </a:rPr>
              <a:t>Repeat</a:t>
            </a:r>
            <a:r>
              <a:rPr lang="en-US" sz="1600" b="1" i="1" dirty="0">
                <a:solidFill>
                  <a:srgbClr val="757575"/>
                </a:solidFill>
                <a:latin typeface="Open Sans" panose="020B0606030504020204" pitchFamily="34" charset="0"/>
                <a:ea typeface="Open Sans" panose="020B0606030504020204" pitchFamily="34" charset="0"/>
                <a:cs typeface="Open Sans" panose="020B0606030504020204" pitchFamily="34" charset="0"/>
              </a:rPr>
              <a:t> </a:t>
            </a: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until the code passes your success criterion — not until it 'feels done'.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246805"/>
            <a:ext cx="10424160" cy="633984"/>
          </a:xfrm>
          <a:prstGeom prst="rect">
            <a:avLst/>
          </a:prstGeom>
          <a:noFill/>
          <a:ln/>
        </p:spPr>
        <p:txBody>
          <a:bodyPr wrap="square" lIns="0" tIns="0" rIns="0" bIns="0" rtlCol="0" anchor="ctr"/>
          <a:lstStyle/>
          <a:p>
            <a:r>
              <a:rPr lang="en-US" sz="34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Step 1: Prompt — Working With APIs</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953942"/>
            <a:ext cx="10424160" cy="522785"/>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Most AI features wrap an API call. Claude Code scaffolds the client, auth, parsing and error handling; you specify the contract and failure behaviour.</a:t>
            </a:r>
            <a:r>
              <a:rPr lang="en-US" sz="1600" dirty="0" err="1">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r>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r>
            <a:r>
              <a:rPr lang="en-US" sz="1600" dirty="0" err="1">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r>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
            </a:r>
          </a:p>
        </p:txBody>
      </p:sp>
      <p:sp>
        <p:nvSpPr>
          <p:cNvPr id="6" name="Shape 4"/>
          <p:cNvSpPr/>
          <p:nvPr/>
        </p:nvSpPr>
        <p:spPr>
          <a:xfrm>
            <a:off x="549434" y="1732741"/>
            <a:ext cx="11094720" cy="633984"/>
          </a:xfrm>
          <a:prstGeom prst="roundRect">
            <a:avLst>
              <a:gd name="adj" fmla="val 15385"/>
            </a:avLst>
          </a:prstGeom>
          <a:solidFill>
            <a:schemeClr val="accent5">
              <a:lumMod val="20000"/>
              <a:lumOff val="80000"/>
            </a:schemeClr>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732741"/>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Tell Claude the API name, what you want back, and how errors should be handled. It writes the connection code. You direct the shape — Claude handles the boilerplate.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4">
            <a:extLst>
              <a:ext uri="{FF2B5EF4-FFF2-40B4-BE49-F238E27FC236}">
                <a16:creationId xmlns:a16="http://schemas.microsoft.com/office/drawing/2014/main" id="{A8E22718-1125-7E31-D380-3D5FB019CEC1}"/>
              </a:ext>
            </a:extLst>
          </p:cNvPr>
          <p:cNvSpPr/>
          <p:nvPr/>
        </p:nvSpPr>
        <p:spPr>
          <a:xfrm>
            <a:off x="591477" y="2709789"/>
            <a:ext cx="3511296" cy="3133327"/>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810933" y="2892669"/>
            <a:ext cx="536448" cy="536448"/>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810933" y="2892669"/>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469301" y="2929245"/>
            <a:ext cx="2438400" cy="46329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Scaffold the call</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810933" y="3502269"/>
            <a:ext cx="3072384" cy="0"/>
          </a:xfrm>
          <a:prstGeom prst="line">
            <a:avLst/>
          </a:prstGeom>
          <a:noFill/>
          <a:ln w="6350">
            <a:solidFill>
              <a:schemeClr val="tx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810933" y="3715123"/>
            <a:ext cx="3072384" cy="829056"/>
          </a:xfrm>
          <a:prstGeom prst="rect">
            <a:avLst/>
          </a:prstGeom>
          <a:noFill/>
          <a:ln/>
        </p:spPr>
        <p:txBody>
          <a:bodyPr wrap="square" lIns="0" tIns="0" rIns="0" bIns="0" rtlCol="0" anchor="t"/>
          <a:lstStyle/>
          <a:p>
            <a:r>
              <a:rPr lang="en-US" sz="1400" dirty="0">
                <a:solidFill>
                  <a:srgbClr val="555555"/>
                </a:solidFill>
                <a:latin typeface="Open Sans" panose="020B0606030504020204" pitchFamily="34" charset="0"/>
                <a:ea typeface="Open Sans" panose="020B0606030504020204" pitchFamily="34" charset="0"/>
                <a:cs typeface="Open Sans" panose="020B0606030504020204" pitchFamily="34" charset="0"/>
              </a:rPr>
              <a:t>Name the API, the endpoint, and what you expect back. Claude writes the connection code.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810933" y="4653908"/>
            <a:ext cx="3072384" cy="877824"/>
          </a:xfrm>
          <a:prstGeom prst="roundRect">
            <a:avLst>
              <a:gd name="adj" fmla="val 8333"/>
            </a:avLst>
          </a:prstGeom>
          <a:solidFill>
            <a:srgbClr val="EAF4EC"/>
          </a:solidFill>
          <a:ln w="9525">
            <a:solidFill>
              <a:srgbClr val="3A8C4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932853" y="4653908"/>
            <a:ext cx="2828544" cy="877824"/>
          </a:xfrm>
          <a:prstGeom prst="rect">
            <a:avLst/>
          </a:prstGeom>
          <a:noFill/>
          <a:ln/>
        </p:spPr>
        <p:txBody>
          <a:bodyPr wrap="square" lIns="0" tIns="0" rIns="0" bIns="0" rtlCol="0" anchor="ctr"/>
          <a:lstStyle/>
          <a:p>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"Call the Anthropic Messages API with a system prompt and return the text block"</a:t>
            </a:r>
            <a:r>
              <a:rPr lang="en-US" sz="1200" dirty="0" err="1">
                <a:solidFill>
                  <a:srgbClr val="00B050"/>
                </a:solidFill>
                <a:latin typeface="Open Sans" panose="020B0606030504020204" pitchFamily="34" charset="0"/>
                <a:ea typeface="Open Sans" panose="020B0606030504020204" pitchFamily="34" charset="0"/>
                <a:cs typeface="Open Sans" panose="020B0606030504020204" pitchFamily="34" charset="0"/>
              </a:rPr>
              <a:t/>
            </a:r>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
            </a:r>
          </a:p>
        </p:txBody>
      </p:sp>
      <p:sp>
        <p:nvSpPr>
          <p:cNvPr id="3" name="Shape 4">
            <a:extLst>
              <a:ext uri="{FF2B5EF4-FFF2-40B4-BE49-F238E27FC236}">
                <a16:creationId xmlns:a16="http://schemas.microsoft.com/office/drawing/2014/main" id="{C32A74C5-1FC5-BCD3-BDEB-6C900DA92465}"/>
              </a:ext>
            </a:extLst>
          </p:cNvPr>
          <p:cNvSpPr/>
          <p:nvPr/>
        </p:nvSpPr>
        <p:spPr>
          <a:xfrm>
            <a:off x="4318089" y="2709789"/>
            <a:ext cx="3511296" cy="3133327"/>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4541685" y="2892669"/>
            <a:ext cx="536448" cy="536448"/>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4541685" y="2892669"/>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5200053" y="2929245"/>
            <a:ext cx="2438400" cy="463296"/>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Handle authentication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4541685" y="3502269"/>
            <a:ext cx="3072384" cy="0"/>
          </a:xfrm>
          <a:prstGeom prst="line">
            <a:avLst/>
          </a:prstGeom>
          <a:noFill/>
          <a:ln w="6350">
            <a:solidFill>
              <a:schemeClr val="tx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4541685" y="3715123"/>
            <a:ext cx="3072384" cy="829056"/>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Ask Claude to use an environment variable for the API key. Never hardcode credentials.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4541685" y="4653908"/>
            <a:ext cx="3072384" cy="877824"/>
          </a:xfrm>
          <a:prstGeom prst="roundRect">
            <a:avLst>
              <a:gd name="adj" fmla="val 8333"/>
            </a:avLst>
          </a:prstGeom>
          <a:solidFill>
            <a:srgbClr val="EAF4EC"/>
          </a:solidFill>
          <a:ln w="9525">
            <a:solidFill>
              <a:srgbClr val="3A8C4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4">
            <a:extLst>
              <a:ext uri="{FF2B5EF4-FFF2-40B4-BE49-F238E27FC236}">
                <a16:creationId xmlns:a16="http://schemas.microsoft.com/office/drawing/2014/main" id="{35FADD2D-163F-377E-FDFB-39FB31D793B6}"/>
              </a:ext>
            </a:extLst>
          </p:cNvPr>
          <p:cNvSpPr/>
          <p:nvPr/>
        </p:nvSpPr>
        <p:spPr>
          <a:xfrm>
            <a:off x="8056201" y="2709789"/>
            <a:ext cx="3511296" cy="3133327"/>
          </a:xfrm>
          <a:prstGeom prst="roundRect">
            <a:avLst>
              <a:gd name="adj" fmla="val 4068"/>
            </a:avLst>
          </a:prstGeom>
          <a:solidFill>
            <a:srgbClr val="F7F7F7"/>
          </a:solidFill>
          <a:ln w="6350">
            <a:solidFill>
              <a:srgbClr val="E0E0E0"/>
            </a:solidFill>
            <a:prstDash val="solid"/>
          </a:ln>
          <a:effectLst>
            <a:outerShdw blurRad="50800" dist="25400" dir="2700000" algn="bl" rotWithShape="0">
              <a:srgbClr val="000000">
                <a:alpha val="8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4663605" y="4653908"/>
            <a:ext cx="2828544" cy="877824"/>
          </a:xfrm>
          <a:prstGeom prst="rect">
            <a:avLst/>
          </a:prstGeom>
          <a:noFill/>
          <a:ln/>
        </p:spPr>
        <p:txBody>
          <a:bodyPr wrap="square" lIns="0" tIns="0" rIns="0" bIns="0" rtlCol="0" anchor="ctr"/>
          <a:lstStyle/>
          <a:p>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"Load ANTHROPIC_API_KEY with python-dotenv; never hardcode or log it"</a:t>
            </a:r>
          </a:p>
        </p:txBody>
      </p:sp>
      <p:sp>
        <p:nvSpPr>
          <p:cNvPr id="29" name="Shape 27"/>
          <p:cNvSpPr/>
          <p:nvPr/>
        </p:nvSpPr>
        <p:spPr>
          <a:xfrm>
            <a:off x="8272437" y="2892669"/>
            <a:ext cx="536448" cy="536448"/>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8272437" y="2892669"/>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8930805" y="2929245"/>
            <a:ext cx="2438400" cy="463296"/>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Parse the response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8272437" y="3502269"/>
            <a:ext cx="3072384" cy="0"/>
          </a:xfrm>
          <a:prstGeom prst="line">
            <a:avLst/>
          </a:prstGeom>
          <a:noFill/>
          <a:ln w="6350">
            <a:solidFill>
              <a:schemeClr val="tx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8272437" y="3715123"/>
            <a:ext cx="3072384" cy="829056"/>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Tell Claude which fields you need. It extracts and formats them without you reading the schema.</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32"/>
          <p:cNvSpPr/>
          <p:nvPr/>
        </p:nvSpPr>
        <p:spPr>
          <a:xfrm>
            <a:off x="8272437" y="4653908"/>
            <a:ext cx="3072384" cy="877824"/>
          </a:xfrm>
          <a:prstGeom prst="roundRect">
            <a:avLst>
              <a:gd name="adj" fmla="val 8333"/>
            </a:avLst>
          </a:prstGeom>
          <a:solidFill>
            <a:srgbClr val="EAF4EC"/>
          </a:solidFill>
          <a:ln w="9525">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5" name="Text 33"/>
          <p:cNvSpPr/>
          <p:nvPr/>
        </p:nvSpPr>
        <p:spPr>
          <a:xfrm>
            <a:off x="8394357" y="4653908"/>
            <a:ext cx="2828544" cy="877824"/>
          </a:xfrm>
          <a:prstGeom prst="rect">
            <a:avLst/>
          </a:prstGeom>
          <a:noFill/>
          <a:ln/>
        </p:spPr>
        <p:txBody>
          <a:bodyPr wrap="square" lIns="0" tIns="0" rIns="0" bIns="0" rtlCol="0" anchor="ctr"/>
          <a:lstStyle/>
          <a:p>
            <a:r>
              <a:rPr lang="en-US" sz="1200" dirty="0">
                <a:solidFill>
                  <a:srgbClr val="00B050"/>
                </a:solidFill>
                <a:latin typeface="Open Sans" panose="020B0606030504020204" pitchFamily="34" charset="0"/>
                <a:ea typeface="Open Sans" panose="020B0606030504020204" pitchFamily="34" charset="0"/>
                <a:cs typeface="Open Sans" panose="020B0606030504020204" pitchFamily="34" charset="0"/>
              </a:rPr>
              <a:t>"Parse the reply as JSON into a pydantic model; retry once on invalid output"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1" y="248520"/>
            <a:ext cx="11493833" cy="633984"/>
          </a:xfrm>
          <a:prstGeom prst="rect">
            <a:avLst/>
          </a:prstGeom>
          <a:noFill/>
          <a:ln/>
        </p:spPr>
        <p:txBody>
          <a:bodyPr wrap="square" lIns="0" tIns="0" rIns="0" bIns="0" rtlCol="0" anchor="ctr"/>
          <a:lstStyle/>
          <a:p>
            <a:r>
              <a:rPr lang="en-US" sz="34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Step 2: Claude Writes — Review Before You Accept</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5" y="1108577"/>
            <a:ext cx="11459329"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Claude does not save anything until you say yes. Your job at this step is to read what it proposes — not to approve it automatically.</a:t>
            </a:r>
          </a:p>
        </p:txBody>
      </p:sp>
      <p:sp>
        <p:nvSpPr>
          <p:cNvPr id="6" name="Shape 4"/>
          <p:cNvSpPr/>
          <p:nvPr/>
        </p:nvSpPr>
        <p:spPr>
          <a:xfrm>
            <a:off x="619831" y="1762155"/>
            <a:ext cx="10976928" cy="633984"/>
          </a:xfrm>
          <a:prstGeom prst="roundRect">
            <a:avLst>
              <a:gd name="adj" fmla="val 15385"/>
            </a:avLst>
          </a:prstGeom>
          <a:solidFill>
            <a:schemeClr val="accent6">
              <a:lumMod val="20000"/>
              <a:lumOff val="80000"/>
            </a:schemeClr>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762155"/>
            <a:ext cx="10607040" cy="633984"/>
          </a:xfrm>
          <a:prstGeom prst="rect">
            <a:avLst/>
          </a:prstGeom>
          <a:noFill/>
          <a:ln/>
        </p:spPr>
        <p:txBody>
          <a:bodyPr wrap="square" lIns="0" tIns="0" rIns="0" bIns="0" rtlCol="0" anchor="ctr"/>
          <a:lstStyle/>
          <a:p>
            <a:r>
              <a:rPr lang="en-US" sz="1400" dirty="0">
                <a:latin typeface="Open Sans" panose="020B0606030504020204" pitchFamily="34" charset="0"/>
                <a:ea typeface="Open Sans" panose="020B0606030504020204" pitchFamily="34" charset="0"/>
                <a:cs typeface="Open Sans" panose="020B0606030504020204" pitchFamily="34" charset="0"/>
              </a:rPr>
              <a:t>A diff is Claude's proposal — a side-by-side view showing exactly what it wants to add, change, or delete. Green means added. Red means removed. Nothing changes on your machine until you press Y to accept.</a:t>
            </a:r>
          </a:p>
        </p:txBody>
      </p:sp>
      <p:sp>
        <p:nvSpPr>
          <p:cNvPr id="8" name="Shape 6"/>
          <p:cNvSpPr/>
          <p:nvPr/>
        </p:nvSpPr>
        <p:spPr>
          <a:xfrm>
            <a:off x="619831" y="2518913"/>
            <a:ext cx="3454448" cy="3718329"/>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839287" y="2648894"/>
            <a:ext cx="3022640" cy="5037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Did Claude do what I asked?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flipV="1">
            <a:off x="839287" y="3290977"/>
            <a:ext cx="2833864" cy="1"/>
          </a:xfrm>
          <a:prstGeom prst="line">
            <a:avLst/>
          </a:prstGeom>
          <a:noFill/>
          <a:ln w="635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839287" y="3435695"/>
            <a:ext cx="3022643" cy="899596"/>
          </a:xfrm>
          <a:prstGeom prst="rect">
            <a:avLst/>
          </a:prstGeom>
          <a:noFill/>
          <a:ln/>
        </p:spPr>
        <p:txBody>
          <a:bodyPr wrap="square" lIns="0" tIns="0" rIns="0" bIns="0" rtlCol="0" anchor="t"/>
          <a:lstStyle/>
          <a:p>
            <a:r>
              <a:rPr lang="en-US" sz="1333"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The new function matches your prompt — correct file, correct output format</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839287" y="4434690"/>
            <a:ext cx="3022643" cy="899596"/>
          </a:xfrm>
          <a:prstGeom prst="rect">
            <a:avLst/>
          </a:prstGeom>
          <a:noFill/>
          <a:ln/>
        </p:spPr>
        <p:txBody>
          <a:bodyPr wrap="square" lIns="0" tIns="0" rIns="0" bIns="0" rtlCol="0" anchor="t"/>
          <a:lstStyle/>
          <a:p>
            <a:r>
              <a:rPr lang="en-US" sz="1333"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Claude added extra logic or features you did not ask for</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839288" y="5371901"/>
            <a:ext cx="3022641" cy="758603"/>
          </a:xfrm>
          <a:prstGeom prst="roundRect">
            <a:avLst>
              <a:gd name="adj" fmla="val 12727"/>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961207" y="5420536"/>
            <a:ext cx="2782752" cy="65970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Reject the extra parts. One thing at a time.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4344138" y="2518913"/>
            <a:ext cx="3454448" cy="3718329"/>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4563594" y="2648894"/>
            <a:ext cx="3022640" cy="503773"/>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Does anything look out of place?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flipV="1">
            <a:off x="4563594" y="3290977"/>
            <a:ext cx="2833864" cy="1"/>
          </a:xfrm>
          <a:prstGeom prst="line">
            <a:avLst/>
          </a:prstGeom>
          <a:noFill/>
          <a:ln w="63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4563594" y="3435695"/>
            <a:ext cx="3022643" cy="899596"/>
          </a:xfrm>
          <a:prstGeom prst="rect">
            <a:avLst/>
          </a:prstGeom>
          <a:noFill/>
          <a:ln/>
        </p:spPr>
        <p:txBody>
          <a:bodyPr wrap="square" lIns="0" tIns="0" rIns="0" bIns="0" rtlCol="0" anchor="t"/>
          <a:lstStyle/>
          <a:p>
            <a:r>
              <a:rPr lang="en-US" sz="1333"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The change is small and contained — only the lines you expected</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4563594" y="4434690"/>
            <a:ext cx="3022643" cy="899596"/>
          </a:xfrm>
          <a:prstGeom prst="rect">
            <a:avLst/>
          </a:prstGeom>
          <a:noFill/>
          <a:ln/>
        </p:spPr>
        <p:txBody>
          <a:bodyPr wrap="square" lIns="0" tIns="0" rIns="0" bIns="0" rtlCol="0" anchor="t"/>
          <a:lstStyle/>
          <a:p>
            <a:r>
              <a:rPr lang="en-US" sz="1333"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Claude touched files or sections you did not mention in your prompt</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63595" y="5371901"/>
            <a:ext cx="3022641" cy="758603"/>
          </a:xfrm>
          <a:prstGeom prst="roundRect">
            <a:avLst>
              <a:gd name="adj" fmla="val 12727"/>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685514" y="5420536"/>
            <a:ext cx="2782752" cy="659704"/>
          </a:xfrm>
          <a:prstGeom prst="rect">
            <a:avLst/>
          </a:prstGeom>
          <a:noFill/>
          <a:ln/>
        </p:spPr>
        <p:txBody>
          <a:bodyPr wrap="square" lIns="0" tIns="0" rIns="0" bIns="0" rtlCol="0" anchor="ctr"/>
          <a:lstStyle/>
          <a:p>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Ask Claude to explain why it touched those lines before accepting.</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8142311" y="2518913"/>
            <a:ext cx="3454448" cy="3718329"/>
          </a:xfrm>
          <a:prstGeom prst="roundRect">
            <a:avLst>
              <a:gd name="adj" fmla="val 3472"/>
            </a:avLst>
          </a:prstGeom>
          <a:solidFill>
            <a:srgbClr val="FEF2F2"/>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361767" y="2648894"/>
            <a:ext cx="3022640" cy="503773"/>
          </a:xfrm>
          <a:prstGeom prst="rect">
            <a:avLst/>
          </a:prstGeom>
          <a:noFill/>
          <a:ln/>
        </p:spPr>
        <p:txBody>
          <a:bodyPr wrap="square" lIns="0" tIns="0" rIns="0" bIns="0" rtlCol="0" anchor="ctr"/>
          <a:lstStyle/>
          <a:p>
            <a:r>
              <a:rPr lang="en-US" sz="1600" b="1">
                <a:latin typeface="Open Sans" panose="020B0606030504020204" pitchFamily="34" charset="0"/>
                <a:ea typeface="Open Sans" panose="020B0606030504020204" pitchFamily="34" charset="0"/>
                <a:cs typeface="Open Sans" panose="020B0606030504020204" pitchFamily="34" charset="0"/>
              </a:rPr>
              <a:t>Can I explain what changed?</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flipV="1">
            <a:off x="8361767" y="3290977"/>
            <a:ext cx="2833864" cy="1"/>
          </a:xfrm>
          <a:prstGeom prst="line">
            <a:avLst/>
          </a:prstGeom>
          <a:noFill/>
          <a:ln w="6350">
            <a:solidFill>
              <a:schemeClr val="accent3"/>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8361767" y="3435695"/>
            <a:ext cx="3022643" cy="899596"/>
          </a:xfrm>
          <a:prstGeom prst="rect">
            <a:avLst/>
          </a:prstGeom>
          <a:noFill/>
          <a:ln/>
        </p:spPr>
        <p:txBody>
          <a:bodyPr wrap="square" lIns="0" tIns="0" rIns="0" bIns="0" rtlCol="0" anchor="t"/>
          <a:lstStyle/>
          <a:p>
            <a:r>
              <a:rPr lang="en-US" sz="1333"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You can describe in one sentence what the diff does and why</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8361767" y="4434690"/>
            <a:ext cx="3022643" cy="899596"/>
          </a:xfrm>
          <a:prstGeom prst="rect">
            <a:avLst/>
          </a:prstGeom>
          <a:noFill/>
          <a:ln/>
        </p:spPr>
        <p:txBody>
          <a:bodyPr wrap="square" lIns="0" tIns="0" rIns="0" bIns="0" rtlCol="0" anchor="t"/>
          <a:lstStyle/>
          <a:p>
            <a:r>
              <a:rPr lang="en-US" sz="1333"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t>
            </a:r>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 You are not sure what changed or why — but it looks fine</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5"/>
          <p:cNvSpPr/>
          <p:nvPr/>
        </p:nvSpPr>
        <p:spPr>
          <a:xfrm>
            <a:off x="8361768" y="5371901"/>
            <a:ext cx="3022641" cy="758603"/>
          </a:xfrm>
          <a:prstGeom prst="roundRect">
            <a:avLst>
              <a:gd name="adj" fmla="val 12727"/>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8483687" y="5420536"/>
            <a:ext cx="2782752" cy="65970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If you cannot explain it, do not accept it yet.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243693"/>
            <a:ext cx="10424160" cy="633984"/>
          </a:xfrm>
          <a:prstGeom prst="rect">
            <a:avLst/>
          </a:prstGeom>
          <a:noFill/>
          <a:ln/>
        </p:spPr>
        <p:txBody>
          <a:bodyPr wrap="square" lIns="0" tIns="0" rIns="0" bIns="0" rtlCol="0" anchor="ctr"/>
          <a:lstStyle/>
          <a:p>
            <a:r>
              <a:rPr lang="en-US" sz="3400" b="1" dirty="0">
                <a:latin typeface="Open Sans" panose="020B0606030504020204" pitchFamily="34" charset="0"/>
                <a:ea typeface="Open Sans" panose="020B0606030504020204" pitchFamily="34" charset="0"/>
                <a:cs typeface="Open Sans" panose="020B0606030504020204" pitchFamily="34" charset="0"/>
              </a:rPr>
              <a:t>Step 3: Run &amp; Test — Reading the Result</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1107273"/>
            <a:ext cx="1042416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You accepted the diff. Now run it. The output tells you what to do next — whether it worked, broke, or produced the wrong result.</a:t>
            </a:r>
          </a:p>
        </p:txBody>
      </p:sp>
      <p:sp>
        <p:nvSpPr>
          <p:cNvPr id="6" name="Shape 4"/>
          <p:cNvSpPr/>
          <p:nvPr/>
        </p:nvSpPr>
        <p:spPr>
          <a:xfrm>
            <a:off x="549434" y="1812503"/>
            <a:ext cx="11094720" cy="633984"/>
          </a:xfrm>
          <a:prstGeom prst="roundRect">
            <a:avLst>
              <a:gd name="adj" fmla="val 15385"/>
            </a:avLst>
          </a:prstGeom>
          <a:solidFill>
            <a:srgbClr val="EAF4EC"/>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812503"/>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Running the code is not optional. Reading the output and deciding what to report back to Claude is the skill that separates fast builds from slow ones.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609013" y="2725639"/>
            <a:ext cx="3511296" cy="3346700"/>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2059861" y="2908519"/>
            <a:ext cx="609600" cy="609600"/>
          </a:xfrm>
          <a:prstGeom prst="ellipse">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2059861" y="2908519"/>
            <a:ext cx="609600" cy="609600"/>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791893" y="3615655"/>
            <a:ext cx="3145536" cy="426720"/>
          </a:xfrm>
          <a:prstGeom prst="rect">
            <a:avLst/>
          </a:prstGeom>
          <a:noFill/>
          <a:ln/>
        </p:spPr>
        <p:txBody>
          <a:bodyPr wrap="square" lIns="0" tIns="0" rIns="0" bIns="0" rtlCol="0" anchor="ctr"/>
          <a:lstStyle/>
          <a:p>
            <a:pPr algn="ctr"/>
            <a:r>
              <a:rPr lang="en-US" sz="1600" b="1" dirty="0">
                <a:latin typeface="Open Sans" panose="020B0606030504020204" pitchFamily="34" charset="0"/>
                <a:ea typeface="Open Sans" panose="020B0606030504020204" pitchFamily="34" charset="0"/>
                <a:cs typeface="Open Sans" panose="020B0606030504020204" pitchFamily="34" charset="0"/>
              </a:rPr>
              <a:t>It worked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828469" y="4091143"/>
            <a:ext cx="3072384" cy="0"/>
          </a:xfrm>
          <a:prstGeom prst="line">
            <a:avLst/>
          </a:prstGeom>
          <a:noFill/>
          <a:ln w="63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828469" y="4222841"/>
            <a:ext cx="3072384" cy="1219200"/>
          </a:xfrm>
          <a:prstGeom prst="rect">
            <a:avLst/>
          </a:prstGeom>
          <a:noFill/>
          <a:ln/>
        </p:spPr>
        <p:txBody>
          <a:bodyPr wrap="square" lIns="0" tIns="0" rIns="0" bIns="0" rtlCol="0" anchor="t"/>
          <a:lstStyle/>
          <a:p>
            <a:r>
              <a:rPr lang="en-US" sz="1333" dirty="0">
                <a:solidFill>
                  <a:srgbClr val="555555"/>
                </a:solidFill>
                <a:latin typeface="Open Sans" panose="020B0606030504020204" pitchFamily="34" charset="0"/>
                <a:ea typeface="Open Sans" panose="020B0606030504020204" pitchFamily="34" charset="0"/>
                <a:cs typeface="Open Sans" panose="020B0606030504020204" pitchFamily="34" charset="0"/>
              </a:rPr>
              <a:t>The output matches your success criterion. Check it carefully before moving on.</a:t>
            </a:r>
            <a:endParaRPr lang="en-US" sz="1333"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828469" y="5003637"/>
            <a:ext cx="3072384" cy="933955"/>
          </a:xfrm>
          <a:prstGeom prst="roundRect">
            <a:avLst>
              <a:gd name="adj" fmla="val 12727"/>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950389" y="5135335"/>
            <a:ext cx="2828544" cy="670560"/>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Read the output. If it is correct, move to the next feature. Do not add more before confirming this one works.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4328263" y="2725639"/>
            <a:ext cx="3511296" cy="3346700"/>
          </a:xfrm>
          <a:prstGeom prst="roundRect">
            <a:avLst>
              <a:gd name="adj" fmla="val 3472"/>
            </a:avLst>
          </a:prstGeom>
          <a:solidFill>
            <a:srgbClr val="FEF2F2"/>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5779111" y="2908519"/>
            <a:ext cx="609600" cy="609600"/>
          </a:xfrm>
          <a:prstGeom prst="ellipse">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5779111" y="2908519"/>
            <a:ext cx="609600" cy="609600"/>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4511143" y="3615655"/>
            <a:ext cx="3145536" cy="426720"/>
          </a:xfrm>
          <a:prstGeom prst="rect">
            <a:avLst/>
          </a:prstGeom>
          <a:noFill/>
          <a:ln/>
        </p:spPr>
        <p:txBody>
          <a:bodyPr wrap="square" lIns="0" tIns="0" rIns="0" bIns="0" rtlCol="0" anchor="ctr"/>
          <a:lstStyle/>
          <a:p>
            <a:pPr algn="ctr"/>
            <a:r>
              <a:rPr lang="en-US" sz="1600" b="1">
                <a:latin typeface="Open Sans" panose="020B0606030504020204" pitchFamily="34" charset="0"/>
                <a:ea typeface="Open Sans" panose="020B0606030504020204" pitchFamily="34" charset="0"/>
                <a:cs typeface="Open Sans" panose="020B0606030504020204" pitchFamily="34" charset="0"/>
              </a:rPr>
              <a:t>It broke with an error</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47719" y="4091143"/>
            <a:ext cx="3072384" cy="0"/>
          </a:xfrm>
          <a:prstGeom prst="line">
            <a:avLst/>
          </a:prstGeom>
          <a:noFill/>
          <a:ln w="6350">
            <a:solidFill>
              <a:schemeClr val="accent3"/>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547719" y="4222841"/>
            <a:ext cx="3072384" cy="1219200"/>
          </a:xfrm>
          <a:prstGeom prst="rect">
            <a:avLst/>
          </a:prstGeom>
          <a:noFill/>
          <a:ln/>
        </p:spPr>
        <p:txBody>
          <a:bodyPr wrap="square" lIns="0" tIns="0" rIns="0" bIns="0" rtlCol="0" anchor="t"/>
          <a:lstStyle/>
          <a:p>
            <a:r>
              <a:rPr lang="en-US" sz="1333">
                <a:solidFill>
                  <a:srgbClr val="555555"/>
                </a:solidFill>
                <a:latin typeface="Open Sans" panose="020B0606030504020204" pitchFamily="34" charset="0"/>
                <a:ea typeface="Open Sans" panose="020B0606030504020204" pitchFamily="34" charset="0"/>
                <a:cs typeface="Open Sans" panose="020B0606030504020204" pitchFamily="34" charset="0"/>
              </a:rPr>
              <a:t>An error message appeared. This is the most useful outcome — it tells you exactly where to look.</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4547719" y="5003637"/>
            <a:ext cx="3072384" cy="933955"/>
          </a:xfrm>
          <a:prstGeom prst="roundRect">
            <a:avLst>
              <a:gd name="adj" fmla="val 12727"/>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4669639" y="5135335"/>
            <a:ext cx="2828544" cy="670560"/>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Copy the complete error message. Do not trim it. Go to Step 4.</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8073279" y="2725639"/>
            <a:ext cx="3511296" cy="3346700"/>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Shape 23"/>
          <p:cNvSpPr/>
          <p:nvPr/>
        </p:nvSpPr>
        <p:spPr>
          <a:xfrm>
            <a:off x="9524127" y="2908519"/>
            <a:ext cx="609600" cy="609600"/>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9524127" y="2908519"/>
            <a:ext cx="609600" cy="609600"/>
          </a:xfrm>
          <a:prstGeom prst="rect">
            <a:avLst/>
          </a:prstGeom>
          <a:noFill/>
          <a:ln/>
        </p:spPr>
        <p:txBody>
          <a:bodyPr wrap="square" lIns="0" tIns="0" rIns="0" bIns="0" rtlCol="0" anchor="ctr"/>
          <a:lstStyle/>
          <a:p>
            <a:pPr algn="ctr"/>
            <a:r>
              <a:rPr lang="en-US" sz="1867"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867">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8256159" y="3615655"/>
            <a:ext cx="3145536" cy="426720"/>
          </a:xfrm>
          <a:prstGeom prst="rect">
            <a:avLst/>
          </a:prstGeom>
          <a:noFill/>
          <a:ln/>
        </p:spPr>
        <p:txBody>
          <a:bodyPr wrap="square" lIns="0" tIns="0" rIns="0" bIns="0" rtlCol="0" anchor="ctr"/>
          <a:lstStyle/>
          <a:p>
            <a:pPr algn="ctr"/>
            <a:r>
              <a:rPr lang="en-US" sz="1600" b="1">
                <a:latin typeface="Open Sans" panose="020B0606030504020204" pitchFamily="34" charset="0"/>
                <a:ea typeface="Open Sans" panose="020B0606030504020204" pitchFamily="34" charset="0"/>
                <a:cs typeface="Open Sans" panose="020B0606030504020204" pitchFamily="34" charset="0"/>
              </a:rPr>
              <a:t>It ran but the result is wrong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8292735" y="4091143"/>
            <a:ext cx="3072384" cy="0"/>
          </a:xfrm>
          <a:prstGeom prst="line">
            <a:avLst/>
          </a:prstGeom>
          <a:noFill/>
          <a:ln w="635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8292735" y="4222841"/>
            <a:ext cx="3072384" cy="1219200"/>
          </a:xfrm>
          <a:prstGeom prst="rect">
            <a:avLst/>
          </a:prstGeom>
          <a:noFill/>
          <a:ln/>
        </p:spPr>
        <p:txBody>
          <a:bodyPr wrap="square" lIns="0" tIns="0" rIns="0" bIns="0" rtlCol="0" anchor="t"/>
          <a:lstStyle/>
          <a:p>
            <a:r>
              <a:rPr lang="en-US" sz="1333">
                <a:solidFill>
                  <a:srgbClr val="555555"/>
                </a:solidFill>
                <a:latin typeface="Open Sans" panose="020B0606030504020204" pitchFamily="34" charset="0"/>
                <a:ea typeface="Open Sans" panose="020B0606030504020204" pitchFamily="34" charset="0"/>
                <a:cs typeface="Open Sans" panose="020B0606030504020204" pitchFamily="34" charset="0"/>
              </a:rPr>
              <a:t>No error, but the output does not match what you expected. This is the trickiest case.</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8"/>
          <p:cNvSpPr/>
          <p:nvPr/>
        </p:nvSpPr>
        <p:spPr>
          <a:xfrm>
            <a:off x="8292735" y="5003637"/>
            <a:ext cx="3072384" cy="933955"/>
          </a:xfrm>
          <a:prstGeom prst="roundRect">
            <a:avLst>
              <a:gd name="adj" fmla="val 12727"/>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1" name="Text 29"/>
          <p:cNvSpPr/>
          <p:nvPr/>
        </p:nvSpPr>
        <p:spPr>
          <a:xfrm>
            <a:off x="8414655" y="5135335"/>
            <a:ext cx="2828544" cy="670560"/>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Compare actual output to expected output. Write down the difference in plain English. Go to Step 4.</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508105"/>
            <a:ext cx="10424160" cy="633984"/>
          </a:xfrm>
          <a:prstGeom prst="rect">
            <a:avLst/>
          </a:prstGeom>
          <a:noFill/>
          <a:ln/>
        </p:spPr>
        <p:txBody>
          <a:bodyPr wrap="square" lIns="0" tIns="0" rIns="0" bIns="0" rtlCol="0" anchor="ctr"/>
          <a:lstStyle/>
          <a:p>
            <a:r>
              <a:rPr lang="en-US" sz="3400" b="1" dirty="0">
                <a:latin typeface="Open Sans" panose="020B0606030504020204" pitchFamily="34" charset="0"/>
                <a:ea typeface="Open Sans" panose="020B0606030504020204" pitchFamily="34" charset="0"/>
                <a:cs typeface="Open Sans" panose="020B0606030504020204" pitchFamily="34" charset="0"/>
              </a:rPr>
              <a:t>Step 4: Describe What's Wrong — Handle the Error Right</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1606799"/>
            <a:ext cx="1042416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When something breaks, paste the full error into Claude Code with context about what you were trying to do — not just the error message.</a:t>
            </a:r>
          </a:p>
        </p:txBody>
      </p:sp>
      <p:sp>
        <p:nvSpPr>
          <p:cNvPr id="6" name="Shape 4"/>
          <p:cNvSpPr/>
          <p:nvPr/>
        </p:nvSpPr>
        <p:spPr>
          <a:xfrm>
            <a:off x="549434" y="2213949"/>
            <a:ext cx="11094720" cy="633984"/>
          </a:xfrm>
          <a:prstGeom prst="roundRect">
            <a:avLst>
              <a:gd name="adj" fmla="val 15385"/>
            </a:avLst>
          </a:prstGeom>
          <a:solidFill>
            <a:srgbClr val="FEF2F2"/>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2213949"/>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Something will break. That is not a problem — it is the process. What you paste back to Claude determines whether the fix works first time or after five more rounds.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549434" y="2980993"/>
            <a:ext cx="5303520" cy="3357401"/>
          </a:xfrm>
          <a:prstGeom prst="roundRect">
            <a:avLst>
              <a:gd name="adj" fmla="val 3226"/>
            </a:avLst>
          </a:prstGeom>
          <a:solidFill>
            <a:srgbClr val="FEF2F2"/>
          </a:solidFill>
          <a:ln w="12700">
            <a:solidFill>
              <a:schemeClr val="accent3"/>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93274" y="3076899"/>
            <a:ext cx="4815840" cy="390144"/>
          </a:xfrm>
          <a:prstGeom prst="rect">
            <a:avLst/>
          </a:prstGeom>
          <a:noFill/>
          <a:ln/>
        </p:spPr>
        <p:txBody>
          <a:bodyPr wrap="square" lIns="0" tIns="0" rIns="0" bIns="0" rtlCol="0" anchor="ctr"/>
          <a:lstStyle/>
          <a:p>
            <a:pPr algn="ctr"/>
            <a:r>
              <a:rPr lang="en-US"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  What people paste</a:t>
            </a:r>
            <a:endParaRPr lang="en-US" sz="18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793274" y="5693271"/>
            <a:ext cx="4815840" cy="512064"/>
          </a:xfrm>
          <a:prstGeom prst="roundRect">
            <a:avLst>
              <a:gd name="adj" fmla="val 16667"/>
            </a:avLst>
          </a:prstGeom>
          <a:solidFill>
            <a:schemeClr val="accent3"/>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915194" y="5693271"/>
            <a:ext cx="4572000" cy="51206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Claude has no idea where to look or what to fix.</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5950490" y="4229179"/>
            <a:ext cx="365760" cy="487680"/>
          </a:xfrm>
          <a:prstGeom prst="rect">
            <a:avLst/>
          </a:prstGeom>
          <a:noFill/>
          <a:ln/>
        </p:spPr>
        <p:txBody>
          <a:bodyPr wrap="square" lIns="0" tIns="0" rIns="0" bIns="0" rtlCol="0" anchor="ctr"/>
          <a:lstStyle/>
          <a:p>
            <a:pPr algn="ctr"/>
            <a:r>
              <a:rPr lang="en-US">
                <a:solidFill>
                  <a:srgbClr val="555555"/>
                </a:solidFill>
                <a:latin typeface="Open Sans" panose="020B0606030504020204" pitchFamily="34" charset="0"/>
                <a:ea typeface="Open Sans" panose="020B0606030504020204" pitchFamily="34" charset="0"/>
                <a:cs typeface="Open Sans" panose="020B0606030504020204" pitchFamily="34" charset="0"/>
              </a:rPr>
              <a:t>→</a:t>
            </a:r>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6401594" y="2980993"/>
            <a:ext cx="5242560" cy="3357401"/>
          </a:xfrm>
          <a:prstGeom prst="roundRect">
            <a:avLst>
              <a:gd name="adj" fmla="val 3226"/>
            </a:avLst>
          </a:prstGeom>
          <a:solidFill>
            <a:srgbClr val="EAF4EC"/>
          </a:solidFill>
          <a:ln w="12700">
            <a:solidFill>
              <a:srgbClr val="3A8C4E"/>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645434" y="3076899"/>
            <a:ext cx="4754880" cy="390144"/>
          </a:xfrm>
          <a:prstGeom prst="rect">
            <a:avLst/>
          </a:prstGeom>
          <a:noFill/>
          <a:ln/>
        </p:spPr>
        <p:txBody>
          <a:bodyPr wrap="square" lIns="0" tIns="0" rIns="0" bIns="0" rtlCol="0" anchor="ctr"/>
          <a:lstStyle/>
          <a:p>
            <a:pPr algn="ctr"/>
            <a:r>
              <a:rPr lang="en-US" sz="1800" b="1">
                <a:solidFill>
                  <a:srgbClr val="00B050"/>
                </a:solidFill>
                <a:latin typeface="Open Sans" panose="020B0606030504020204" pitchFamily="34" charset="0"/>
                <a:ea typeface="Open Sans" panose="020B0606030504020204" pitchFamily="34" charset="0"/>
                <a:cs typeface="Open Sans" panose="020B0606030504020204" pitchFamily="34" charset="0"/>
              </a:rPr>
              <a:t>✓  What actually works</a:t>
            </a:r>
            <a:endParaRPr lang="en-US" sz="18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6645434" y="5693271"/>
            <a:ext cx="4754880" cy="512064"/>
          </a:xfrm>
          <a:prstGeom prst="roundRect">
            <a:avLst>
              <a:gd name="adj" fmla="val 16667"/>
            </a:avLst>
          </a:prstGeom>
          <a:solidFill>
            <a:srgbClr val="00B050"/>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6767354" y="5693271"/>
            <a:ext cx="4511040" cy="512064"/>
          </a:xfrm>
          <a:prstGeom prst="rect">
            <a:avLst/>
          </a:prstGeom>
          <a:noFill/>
          <a:ln/>
        </p:spPr>
        <p:txBody>
          <a:bodyPr wrap="square" lIns="0" tIns="0" rIns="0" bIns="0" rtlCol="0" anchor="ctr"/>
          <a:lstStyle/>
          <a:p>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Claude now knows exactly where to look and what to fix.</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34" name="Text 6">
            <a:extLst>
              <a:ext uri="{FF2B5EF4-FFF2-40B4-BE49-F238E27FC236}">
                <a16:creationId xmlns:a16="http://schemas.microsoft.com/office/drawing/2014/main" id="{FE7753BE-5A05-260E-C52B-54FFF1C31ECE}"/>
              </a:ext>
            </a:extLst>
          </p:cNvPr>
          <p:cNvSpPr/>
          <p:nvPr/>
        </p:nvSpPr>
        <p:spPr>
          <a:xfrm>
            <a:off x="793274" y="3509715"/>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Pasting only the error message — no context</a:t>
            </a:r>
          </a:p>
        </p:txBody>
      </p:sp>
      <p:sp>
        <p:nvSpPr>
          <p:cNvPr id="35" name="Text 7">
            <a:extLst>
              <a:ext uri="{FF2B5EF4-FFF2-40B4-BE49-F238E27FC236}">
                <a16:creationId xmlns:a16="http://schemas.microsoft.com/office/drawing/2014/main" id="{C1AB4362-DC0E-35BF-5064-DD3B5BCC7650}"/>
              </a:ext>
            </a:extLst>
          </p:cNvPr>
          <p:cNvSpPr/>
          <p:nvPr/>
        </p:nvSpPr>
        <p:spPr>
          <a:xfrm>
            <a:off x="793274" y="4038315"/>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Asking Claude to 'fix it' without saying what 'it' is</a:t>
            </a:r>
          </a:p>
        </p:txBody>
      </p:sp>
      <p:sp>
        <p:nvSpPr>
          <p:cNvPr id="36" name="Text 8">
            <a:extLst>
              <a:ext uri="{FF2B5EF4-FFF2-40B4-BE49-F238E27FC236}">
                <a16:creationId xmlns:a16="http://schemas.microsoft.com/office/drawing/2014/main" id="{7644EB75-E274-73C6-808A-089E9841B3DB}"/>
              </a:ext>
            </a:extLst>
          </p:cNvPr>
          <p:cNvSpPr/>
          <p:nvPr/>
        </p:nvSpPr>
        <p:spPr>
          <a:xfrm>
            <a:off x="793274" y="4546876"/>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Accepting the first fix without re-running the code</a:t>
            </a:r>
          </a:p>
        </p:txBody>
      </p:sp>
      <p:sp>
        <p:nvSpPr>
          <p:cNvPr id="37" name="Text 9">
            <a:extLst>
              <a:ext uri="{FF2B5EF4-FFF2-40B4-BE49-F238E27FC236}">
                <a16:creationId xmlns:a16="http://schemas.microsoft.com/office/drawing/2014/main" id="{056BEE26-5EDD-09F1-FDE2-1336A125C956}"/>
              </a:ext>
            </a:extLst>
          </p:cNvPr>
          <p:cNvSpPr/>
          <p:nvPr/>
        </p:nvSpPr>
        <p:spPr>
          <a:xfrm>
            <a:off x="793274" y="5095516"/>
            <a:ext cx="4815840" cy="548640"/>
          </a:xfrm>
          <a:prstGeom prst="rect">
            <a:avLst/>
          </a:prstGeom>
          <a:noFill/>
          <a:ln/>
        </p:spPr>
        <p:txBody>
          <a:bodyPr wrap="square" lIns="0" tIns="0" rIns="0" bIns="0" rtlCol="0" anchor="ctr"/>
          <a:lstStyle/>
          <a:p>
            <a:r>
              <a:rPr lang="en-US" sz="1400" dirty="0">
                <a:solidFill>
                  <a:schemeClr val="accent3"/>
                </a:solidFill>
                <a:latin typeface="Open Sans" panose="020B0606030504020204" pitchFamily="34" charset="0"/>
                <a:ea typeface="Open Sans" panose="020B0606030504020204" pitchFamily="34" charset="0"/>
                <a:cs typeface="Open Sans" panose="020B0606030504020204" pitchFamily="34" charset="0"/>
              </a:rPr>
              <a:t>✗  Starting a new conversation and losing all context</a:t>
            </a:r>
          </a:p>
        </p:txBody>
      </p:sp>
      <p:sp>
        <p:nvSpPr>
          <p:cNvPr id="38" name="Text 15">
            <a:extLst>
              <a:ext uri="{FF2B5EF4-FFF2-40B4-BE49-F238E27FC236}">
                <a16:creationId xmlns:a16="http://schemas.microsoft.com/office/drawing/2014/main" id="{ED90703D-B101-9D8F-2D4D-2FA8329AC739}"/>
              </a:ext>
            </a:extLst>
          </p:cNvPr>
          <p:cNvSpPr/>
          <p:nvPr/>
        </p:nvSpPr>
        <p:spPr>
          <a:xfrm>
            <a:off x="6645434" y="3509715"/>
            <a:ext cx="4754880" cy="548640"/>
          </a:xfrm>
          <a:prstGeom prst="rect">
            <a:avLst/>
          </a:prstGeom>
          <a:noFill/>
          <a:ln/>
        </p:spPr>
        <p:txBody>
          <a:bodyPr wrap="square" lIns="0" tIns="0" rIns="0" bIns="0" rtlCol="0" anchor="ctr"/>
          <a:lstStyle/>
          <a:p>
            <a:r>
              <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rPr>
              <a:t>✓  Paste the full error — never trim it</a:t>
            </a:r>
          </a:p>
        </p:txBody>
      </p:sp>
      <p:sp>
        <p:nvSpPr>
          <p:cNvPr id="39" name="Text 16">
            <a:extLst>
              <a:ext uri="{FF2B5EF4-FFF2-40B4-BE49-F238E27FC236}">
                <a16:creationId xmlns:a16="http://schemas.microsoft.com/office/drawing/2014/main" id="{23AF2B29-DD7F-E774-4114-C469603EF8DE}"/>
              </a:ext>
            </a:extLst>
          </p:cNvPr>
          <p:cNvSpPr/>
          <p:nvPr/>
        </p:nvSpPr>
        <p:spPr>
          <a:xfrm>
            <a:off x="6645434" y="4038315"/>
            <a:ext cx="4754880" cy="548640"/>
          </a:xfrm>
          <a:prstGeom prst="rect">
            <a:avLst/>
          </a:prstGeom>
          <a:noFill/>
          <a:ln/>
        </p:spPr>
        <p:txBody>
          <a:bodyPr wrap="square" lIns="0" tIns="0" rIns="0" bIns="0" rtlCol="0" anchor="ctr"/>
          <a:lstStyle/>
          <a:p>
            <a:r>
              <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rPr>
              <a:t>✓  Add one sentence: what you were trying to do</a:t>
            </a:r>
          </a:p>
        </p:txBody>
      </p:sp>
      <p:sp>
        <p:nvSpPr>
          <p:cNvPr id="40" name="Text 17">
            <a:extLst>
              <a:ext uri="{FF2B5EF4-FFF2-40B4-BE49-F238E27FC236}">
                <a16:creationId xmlns:a16="http://schemas.microsoft.com/office/drawing/2014/main" id="{15FCBBB2-3402-6EA2-D091-7B99E9424FAA}"/>
              </a:ext>
            </a:extLst>
          </p:cNvPr>
          <p:cNvSpPr/>
          <p:nvPr/>
        </p:nvSpPr>
        <p:spPr>
          <a:xfrm>
            <a:off x="6645434" y="4546876"/>
            <a:ext cx="4754880" cy="548640"/>
          </a:xfrm>
          <a:prstGeom prst="rect">
            <a:avLst/>
          </a:prstGeom>
          <a:noFill/>
          <a:ln/>
        </p:spPr>
        <p:txBody>
          <a:bodyPr wrap="square" lIns="0" tIns="0" rIns="0" bIns="0" rtlCol="0" anchor="ctr"/>
          <a:lstStyle/>
          <a:p>
            <a:r>
              <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rPr>
              <a:t>✓  Let Claude name the cause before fixing it</a:t>
            </a:r>
          </a:p>
        </p:txBody>
      </p:sp>
      <p:sp>
        <p:nvSpPr>
          <p:cNvPr id="41" name="Text 18">
            <a:extLst>
              <a:ext uri="{FF2B5EF4-FFF2-40B4-BE49-F238E27FC236}">
                <a16:creationId xmlns:a16="http://schemas.microsoft.com/office/drawing/2014/main" id="{5B7C7C98-0853-F169-9FB6-34BD227FCD4B}"/>
              </a:ext>
            </a:extLst>
          </p:cNvPr>
          <p:cNvSpPr/>
          <p:nvPr/>
        </p:nvSpPr>
        <p:spPr>
          <a:xfrm>
            <a:off x="6645434" y="5095516"/>
            <a:ext cx="4754880" cy="548640"/>
          </a:xfrm>
          <a:prstGeom prst="rect">
            <a:avLst/>
          </a:prstGeom>
          <a:noFill/>
          <a:ln/>
        </p:spPr>
        <p:txBody>
          <a:bodyPr wrap="square" lIns="0" tIns="0" rIns="0" bIns="0" rtlCol="0" anchor="ctr"/>
          <a:lstStyle/>
          <a:p>
            <a:r>
              <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rPr>
              <a:t>✓  Run the fix — if it fails again, repeat the loop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4930" y="243840"/>
            <a:ext cx="10424160" cy="633984"/>
          </a:xfrm>
          <a:prstGeom prst="rect">
            <a:avLst/>
          </a:prstGeom>
          <a:noFill/>
          <a:ln/>
        </p:spPr>
        <p:txBody>
          <a:bodyPr wrap="square" lIns="0" tIns="0" rIns="0" bIns="0" rtlCol="0" anchor="ctr"/>
          <a:lstStyle/>
          <a:p>
            <a:r>
              <a:rPr lang="en-US" sz="3400" b="1" dirty="0">
                <a:latin typeface="Open Sans" panose="020B0606030504020204" pitchFamily="34" charset="0"/>
                <a:ea typeface="Open Sans" panose="020B0606030504020204" pitchFamily="34" charset="0"/>
                <a:cs typeface="Open Sans" panose="020B0606030504020204" pitchFamily="34" charset="0"/>
              </a:rPr>
              <a:t>Step 5: Claude Fixes — This Is Not the End</a:t>
            </a:r>
            <a:endParaRPr lang="en-US" sz="3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549434" y="950976"/>
            <a:ext cx="1042416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Claude proposes a fix. Your job is the same as Step 2: review before you accept. Then run it again to confirm the fix actually worked.</a:t>
            </a:r>
          </a:p>
        </p:txBody>
      </p:sp>
      <p:sp>
        <p:nvSpPr>
          <p:cNvPr id="6" name="Shape 4"/>
          <p:cNvSpPr/>
          <p:nvPr/>
        </p:nvSpPr>
        <p:spPr>
          <a:xfrm>
            <a:off x="549434" y="1475232"/>
            <a:ext cx="11094720" cy="633984"/>
          </a:xfrm>
          <a:prstGeom prst="roundRect">
            <a:avLst>
              <a:gd name="adj" fmla="val 15385"/>
            </a:avLst>
          </a:prstGeom>
          <a:solidFill>
            <a:schemeClr val="accent6">
              <a:lumMod val="20000"/>
              <a:lumOff val="80000"/>
            </a:schemeClr>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93274" y="1475232"/>
            <a:ext cx="10607040" cy="633984"/>
          </a:xfrm>
          <a:prstGeom prst="rect">
            <a:avLst/>
          </a:prstGeom>
          <a:noFill/>
          <a:ln/>
        </p:spPr>
        <p:txBody>
          <a:bodyPr wrap="square" lIns="0" tIns="0" rIns="0" bIns="0" rtlCol="0" anchor="ctr"/>
          <a:lstStyle/>
          <a:p>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A fix that makes the error message disappear is not necessarily a fix. It is a hypothesis. Your job is to verify it before moving on.</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549434" y="2170176"/>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756698" y="2340864"/>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756698" y="2340864"/>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01</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488218" y="2267712"/>
            <a:ext cx="3048000" cy="341376"/>
          </a:xfrm>
          <a:prstGeom prst="rect">
            <a:avLst/>
          </a:prstGeom>
          <a:noFill/>
          <a:ln/>
        </p:spPr>
        <p:txBody>
          <a:bodyPr wrap="square" lIns="0" tIns="0" rIns="0" bIns="0" rtlCol="0" anchor="ctr"/>
          <a:lstStyle/>
          <a:p>
            <a:r>
              <a:rPr lang="en-US" sz="1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Review the fix first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488218" y="2633472"/>
            <a:ext cx="9875520" cy="341376"/>
          </a:xfrm>
          <a:prstGeom prst="rect">
            <a:avLst/>
          </a:prstGeom>
          <a:noFill/>
          <a:ln/>
        </p:spPr>
        <p:txBody>
          <a:bodyPr wrap="square" lIns="0" tIns="0" rIns="0" bIns="0" rtlCol="0" anchor="t"/>
          <a:lstStyle/>
          <a:p>
            <a:r>
              <a:rPr lang="en-US" sz="1200" dirty="0">
                <a:solidFill>
                  <a:srgbClr val="555555"/>
                </a:solidFill>
                <a:latin typeface="Open Sans" panose="020B0606030504020204" pitchFamily="34" charset="0"/>
                <a:ea typeface="Open Sans" panose="020B0606030504020204" pitchFamily="34" charset="0"/>
                <a:cs typeface="Open Sans" panose="020B0606030504020204" pitchFamily="34" charset="0"/>
              </a:rPr>
              <a:t>Before accepting, read what Claude changed. Does the fix address the root cause, or does it just suppress the error message? Ask yourself: could this break something else?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4658138" y="2267712"/>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549434" y="3129200"/>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756698" y="3299888"/>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756698" y="3299888"/>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02</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488218" y="3226736"/>
            <a:ext cx="3048000" cy="341376"/>
          </a:xfrm>
          <a:prstGeom prst="rect">
            <a:avLst/>
          </a:prstGeom>
          <a:noFill/>
          <a:ln/>
        </p:spPr>
        <p:txBody>
          <a:bodyPr wrap="square" lIns="0" tIns="0" rIns="0" bIns="0" rtlCol="0" anchor="ctr"/>
          <a:lstStyle/>
          <a:p>
            <a:r>
              <a:rPr lang="en-US" sz="1600" b="1">
                <a:solidFill>
                  <a:srgbClr val="2D2D2D"/>
                </a:solidFill>
                <a:latin typeface="Open Sans" panose="020B0606030504020204" pitchFamily="34" charset="0"/>
                <a:ea typeface="Open Sans" panose="020B0606030504020204" pitchFamily="34" charset="0"/>
                <a:cs typeface="Open Sans" panose="020B0606030504020204" pitchFamily="34" charset="0"/>
              </a:rPr>
              <a:t>Accept and run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1488218" y="3592496"/>
            <a:ext cx="9875520" cy="341376"/>
          </a:xfrm>
          <a:prstGeom prst="rect">
            <a:avLst/>
          </a:prstGeom>
          <a:noFill/>
          <a:ln/>
        </p:spPr>
        <p:txBody>
          <a:bodyPr wrap="square" lIns="0" tIns="0" rIns="0" bIns="0" rtlCol="0" anchor="t"/>
          <a:lstStyle/>
          <a:p>
            <a:r>
              <a:rPr lang="en-US" sz="1200">
                <a:solidFill>
                  <a:srgbClr val="555555"/>
                </a:solidFill>
                <a:latin typeface="Open Sans" panose="020B0606030504020204" pitchFamily="34" charset="0"/>
                <a:ea typeface="Open Sans" panose="020B0606030504020204" pitchFamily="34" charset="0"/>
                <a:cs typeface="Open Sans" panose="020B0606030504020204" pitchFamily="34" charset="0"/>
              </a:rPr>
              <a:t>Press Y to accept. Run the code immediately. Do not move on before running it. The fix is unverified until the code runs.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4658138" y="3226736"/>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549434" y="4074200"/>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756698" y="4244888"/>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756698" y="4244888"/>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03</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488218" y="4171736"/>
            <a:ext cx="3048000" cy="341376"/>
          </a:xfrm>
          <a:prstGeom prst="rect">
            <a:avLst/>
          </a:prstGeom>
          <a:noFill/>
          <a:ln/>
        </p:spPr>
        <p:txBody>
          <a:bodyPr wrap="square" lIns="0" tIns="0" rIns="0" bIns="0" rtlCol="0" anchor="ctr"/>
          <a:lstStyle/>
          <a:p>
            <a:r>
              <a:rPr lang="en-US" sz="1600" b="1">
                <a:solidFill>
                  <a:srgbClr val="2D2D2D"/>
                </a:solidFill>
                <a:latin typeface="Open Sans" panose="020B0606030504020204" pitchFamily="34" charset="0"/>
                <a:ea typeface="Open Sans" panose="020B0606030504020204" pitchFamily="34" charset="0"/>
                <a:cs typeface="Open Sans" panose="020B0606030504020204" pitchFamily="34" charset="0"/>
              </a:rPr>
              <a:t>Check the symptom is gone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1488218" y="4537496"/>
            <a:ext cx="9875520" cy="341376"/>
          </a:xfrm>
          <a:prstGeom prst="rect">
            <a:avLst/>
          </a:prstGeom>
          <a:noFill/>
          <a:ln/>
        </p:spPr>
        <p:txBody>
          <a:bodyPr wrap="square" lIns="0" tIns="0" rIns="0" bIns="0" rtlCol="0" anchor="t"/>
          <a:lstStyle/>
          <a:p>
            <a:r>
              <a:rPr lang="en-US" sz="1200">
                <a:solidFill>
                  <a:srgbClr val="555555"/>
                </a:solidFill>
                <a:latin typeface="Open Sans" panose="020B0606030504020204" pitchFamily="34" charset="0"/>
                <a:ea typeface="Open Sans" panose="020B0606030504020204" pitchFamily="34" charset="0"/>
                <a:cs typeface="Open Sans" panose="020B0606030504020204" pitchFamily="34" charset="0"/>
              </a:rPr>
              <a:t>The original error or wrong output should no longer appear. If it does, you are back at Step 4. Describe what is still wrong and repeat the loop.</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5" name="Shape 23"/>
          <p:cNvSpPr/>
          <p:nvPr/>
        </p:nvSpPr>
        <p:spPr>
          <a:xfrm>
            <a:off x="4658138" y="4171736"/>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p:cNvSpPr/>
          <p:nvPr/>
        </p:nvSpPr>
        <p:spPr>
          <a:xfrm>
            <a:off x="549434" y="5049560"/>
            <a:ext cx="11094720" cy="877824"/>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7" name="Shape 25"/>
          <p:cNvSpPr/>
          <p:nvPr/>
        </p:nvSpPr>
        <p:spPr>
          <a:xfrm>
            <a:off x="756698" y="5220248"/>
            <a:ext cx="536448" cy="536448"/>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756698" y="5220248"/>
            <a:ext cx="536448" cy="536448"/>
          </a:xfrm>
          <a:prstGeom prst="rect">
            <a:avLst/>
          </a:prstGeom>
          <a:noFill/>
          <a:ln/>
        </p:spPr>
        <p:txBody>
          <a:bodyPr wrap="square" lIns="0" tIns="0" rIns="0" bIns="0" rtlCol="0" anchor="ctr"/>
          <a:lstStyle/>
          <a:p>
            <a:pPr algn="ctr"/>
            <a:r>
              <a:rPr lang="en-US" sz="1333" b="1">
                <a:solidFill>
                  <a:srgbClr val="FFFFFF"/>
                </a:solidFill>
                <a:latin typeface="Open Sans" panose="020B0606030504020204" pitchFamily="34" charset="0"/>
                <a:ea typeface="Open Sans" panose="020B0606030504020204" pitchFamily="34" charset="0"/>
                <a:cs typeface="Open Sans" panose="020B0606030504020204" pitchFamily="34" charset="0"/>
              </a:rPr>
              <a:t>04</a:t>
            </a:r>
            <a:endParaRPr lang="en-US" sz="1333">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1488218" y="5147096"/>
            <a:ext cx="3048000" cy="341376"/>
          </a:xfrm>
          <a:prstGeom prst="rect">
            <a:avLst/>
          </a:prstGeom>
          <a:noFill/>
          <a:ln/>
        </p:spPr>
        <p:txBody>
          <a:bodyPr wrap="square" lIns="0" tIns="0" rIns="0" bIns="0" rtlCol="0" anchor="ctr"/>
          <a:lstStyle/>
          <a:p>
            <a:r>
              <a:rPr lang="en-US" sz="1600" b="1">
                <a:solidFill>
                  <a:srgbClr val="2D2D2D"/>
                </a:solidFill>
                <a:latin typeface="Open Sans" panose="020B0606030504020204" pitchFamily="34" charset="0"/>
                <a:ea typeface="Open Sans" panose="020B0606030504020204" pitchFamily="34" charset="0"/>
                <a:cs typeface="Open Sans" panose="020B0606030504020204" pitchFamily="34" charset="0"/>
              </a:rPr>
              <a:t>Check nothing else broke</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1488218" y="5512856"/>
            <a:ext cx="9875520" cy="341376"/>
          </a:xfrm>
          <a:prstGeom prst="rect">
            <a:avLst/>
          </a:prstGeom>
          <a:noFill/>
          <a:ln/>
        </p:spPr>
        <p:txBody>
          <a:bodyPr wrap="square" lIns="0" tIns="0" rIns="0" bIns="0" rtlCol="0" anchor="t"/>
          <a:lstStyle/>
          <a:p>
            <a:r>
              <a:rPr lang="en-US" sz="1200">
                <a:solidFill>
                  <a:srgbClr val="555555"/>
                </a:solidFill>
                <a:latin typeface="Open Sans" panose="020B0606030504020204" pitchFamily="34" charset="0"/>
                <a:ea typeface="Open Sans" panose="020B0606030504020204" pitchFamily="34" charset="0"/>
                <a:cs typeface="Open Sans" panose="020B0606030504020204" pitchFamily="34" charset="0"/>
              </a:rPr>
              <a:t>Run the full output, not just the fixed part. A fix that solves one thing and silently breaks another is not a fix. Module 4 covers how to write a test that locks this in permanently.</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29"/>
          <p:cNvSpPr/>
          <p:nvPr/>
        </p:nvSpPr>
        <p:spPr>
          <a:xfrm>
            <a:off x="4658138" y="5147096"/>
            <a:ext cx="0" cy="670560"/>
          </a:xfrm>
          <a:prstGeom prst="line">
            <a:avLst/>
          </a:prstGeom>
          <a:noFill/>
          <a:ln w="10160">
            <a:solidFill>
              <a:srgbClr val="E0E0E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2" name="Shape 30"/>
          <p:cNvSpPr/>
          <p:nvPr/>
        </p:nvSpPr>
        <p:spPr>
          <a:xfrm>
            <a:off x="549434" y="6079784"/>
            <a:ext cx="11094720" cy="426720"/>
          </a:xfrm>
          <a:prstGeom prst="roundRect">
            <a:avLst>
              <a:gd name="adj" fmla="val 20000"/>
            </a:avLst>
          </a:prstGeom>
          <a:solidFill>
            <a:schemeClr val="accent6">
              <a:lumMod val="20000"/>
              <a:lumOff val="80000"/>
            </a:schemeClr>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3" name="Text 31"/>
          <p:cNvSpPr/>
          <p:nvPr/>
        </p:nvSpPr>
        <p:spPr>
          <a:xfrm>
            <a:off x="549434" y="6079784"/>
            <a:ext cx="11094720" cy="426720"/>
          </a:xfrm>
          <a:prstGeom prst="rect">
            <a:avLst/>
          </a:prstGeom>
          <a:noFill/>
          <a:ln/>
        </p:spPr>
        <p:txBody>
          <a:bodyPr wrap="square" lIns="0" tIns="0" rIns="0" bIns="0" rtlCol="0" anchor="ctr"/>
          <a:lstStyle/>
          <a:p>
            <a:pPr algn="ct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Repeat the loop until the code passes your success criterion. Step 5 is not the end — it leads back to Step 3.</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96">
            <a:extLst>
              <a:ext uri="{FF2B5EF4-FFF2-40B4-BE49-F238E27FC236}">
                <a16:creationId xmlns:a16="http://schemas.microsoft.com/office/drawing/2014/main" id="{B97A3138-52B8-DF9E-C920-77A36E664F0C}"/>
              </a:ext>
            </a:extLst>
          </p:cNvPr>
          <p:cNvSpPr/>
          <p:nvPr/>
        </p:nvSpPr>
        <p:spPr>
          <a:xfrm>
            <a:off x="732314" y="1493521"/>
            <a:ext cx="10728960" cy="670560"/>
          </a:xfrm>
          <a:prstGeom prst="rect">
            <a:avLst/>
          </a:prstGeom>
          <a:noFill/>
          <a:ln/>
        </p:spPr>
        <p:txBody>
          <a:bodyPr wrap="square" lIns="0" tIns="0" rIns="0" bIns="0" rtlCol="0" anchor="ctr"/>
          <a:lstStyle/>
          <a:p>
            <a:pPr algn="ctr"/>
            <a:r>
              <a:rPr lang="en-US" sz="4200" b="1" dirty="0">
                <a:latin typeface="Open Sans" panose="020B0606030504020204" pitchFamily="34" charset="0"/>
                <a:ea typeface="Open Sans" panose="020B0606030504020204" pitchFamily="34" charset="0"/>
                <a:cs typeface="Open Sans" panose="020B0606030504020204" pitchFamily="34" charset="0"/>
              </a:rPr>
              <a:t>The loop is running.</a:t>
            </a:r>
            <a:endParaRPr lang="en-US" sz="42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97">
            <a:extLst>
              <a:ext uri="{FF2B5EF4-FFF2-40B4-BE49-F238E27FC236}">
                <a16:creationId xmlns:a16="http://schemas.microsoft.com/office/drawing/2014/main" id="{8F4DF490-AA83-0F14-2264-601213D0CC4C}"/>
              </a:ext>
            </a:extLst>
          </p:cNvPr>
          <p:cNvSpPr/>
          <p:nvPr/>
        </p:nvSpPr>
        <p:spPr>
          <a:xfrm>
            <a:off x="732314" y="2261617"/>
            <a:ext cx="10728960" cy="670560"/>
          </a:xfrm>
          <a:prstGeom prst="rect">
            <a:avLst/>
          </a:prstGeom>
          <a:noFill/>
          <a:ln/>
        </p:spPr>
        <p:txBody>
          <a:bodyPr wrap="square" lIns="0" tIns="0" rIns="0" bIns="0" rtlCol="0" anchor="ctr"/>
          <a:lstStyle/>
          <a:p>
            <a:pPr algn="ctr"/>
            <a:r>
              <a:rPr lang="en-US" sz="4200" b="1">
                <a:latin typeface="Open Sans" panose="020B0606030504020204" pitchFamily="34" charset="0"/>
                <a:ea typeface="Open Sans" panose="020B0606030504020204" pitchFamily="34" charset="0"/>
                <a:cs typeface="Open Sans" panose="020B0606030504020204" pitchFamily="34" charset="0"/>
              </a:rPr>
              <a:t>The session is stable.</a:t>
            </a:r>
            <a:endParaRPr lang="en-US" sz="4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98">
            <a:extLst>
              <a:ext uri="{FF2B5EF4-FFF2-40B4-BE49-F238E27FC236}">
                <a16:creationId xmlns:a16="http://schemas.microsoft.com/office/drawing/2014/main" id="{E387A9A4-236E-B4D7-F287-C1BE56C015F6}"/>
              </a:ext>
            </a:extLst>
          </p:cNvPr>
          <p:cNvSpPr/>
          <p:nvPr/>
        </p:nvSpPr>
        <p:spPr>
          <a:xfrm>
            <a:off x="732314" y="3017521"/>
            <a:ext cx="10728960" cy="670560"/>
          </a:xfrm>
          <a:prstGeom prst="rect">
            <a:avLst/>
          </a:prstGeom>
          <a:noFill/>
          <a:ln/>
        </p:spPr>
        <p:txBody>
          <a:bodyPr wrap="square" lIns="0" tIns="0" rIns="0" bIns="0" rtlCol="0" anchor="ctr"/>
          <a:lstStyle/>
          <a:p>
            <a:pPr algn="ctr"/>
            <a:r>
              <a:rPr lang="en-US" sz="42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Your core logic produces output.</a:t>
            </a:r>
            <a:endParaRPr lang="en-US" sz="42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 99">
            <a:extLst>
              <a:ext uri="{FF2B5EF4-FFF2-40B4-BE49-F238E27FC236}">
                <a16:creationId xmlns:a16="http://schemas.microsoft.com/office/drawing/2014/main" id="{69230839-D087-ED63-06BF-64F72C6856CA}"/>
              </a:ext>
            </a:extLst>
          </p:cNvPr>
          <p:cNvSpPr/>
          <p:nvPr/>
        </p:nvSpPr>
        <p:spPr>
          <a:xfrm>
            <a:off x="1219994" y="3749041"/>
            <a:ext cx="9753600" cy="463296"/>
          </a:xfrm>
          <a:prstGeom prst="rect">
            <a:avLst/>
          </a:prstGeom>
          <a:noFill/>
          <a:ln/>
        </p:spPr>
        <p:txBody>
          <a:bodyPr wrap="square" lIns="0" tIns="0" rIns="0" bIns="0" rtlCol="0" anchor="ctr"/>
          <a:lstStyle/>
          <a:p>
            <a:pPr algn="ctr"/>
            <a:r>
              <a:rPr lang="en-US" sz="1800" i="1" dirty="0">
                <a:solidFill>
                  <a:srgbClr val="AAAAAA"/>
                </a:solidFill>
                <a:latin typeface="Open Sans" panose="020B0606030504020204" pitchFamily="34" charset="0"/>
                <a:ea typeface="Open Sans" panose="020B0606030504020204" pitchFamily="34" charset="0"/>
                <a:cs typeface="Open Sans" panose="020B0606030504020204" pitchFamily="34" charset="0"/>
              </a:rPr>
              <a:t>There is one question left before the lab:</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100">
            <a:extLst>
              <a:ext uri="{FF2B5EF4-FFF2-40B4-BE49-F238E27FC236}">
                <a16:creationId xmlns:a16="http://schemas.microsoft.com/office/drawing/2014/main" id="{D53A27DF-CDC1-5C6E-928E-A6D79456878E}"/>
              </a:ext>
            </a:extLst>
          </p:cNvPr>
          <p:cNvSpPr/>
          <p:nvPr/>
        </p:nvSpPr>
        <p:spPr>
          <a:xfrm>
            <a:off x="1219994" y="4273297"/>
            <a:ext cx="9753600" cy="548640"/>
          </a:xfrm>
          <a:prstGeom prst="rect">
            <a:avLst/>
          </a:prstGeom>
          <a:noFill/>
          <a:ln/>
        </p:spPr>
        <p:txBody>
          <a:bodyPr wrap="square" lIns="0" tIns="0" rIns="0" bIns="0" rtlCol="0" anchor="ctr"/>
          <a:lstStyle/>
          <a:p>
            <a:pPr algn="ctr"/>
            <a:r>
              <a:rPr lang="en-US" sz="2000" b="1" dirty="0">
                <a:latin typeface="Open Sans" panose="020B0606030504020204" pitchFamily="34" charset="0"/>
                <a:ea typeface="Open Sans" panose="020B0606030504020204" pitchFamily="34" charset="0"/>
                <a:cs typeface="Open Sans" panose="020B0606030504020204" pitchFamily="34" charset="0"/>
              </a:rPr>
              <a:t>can someone else actually see what you built?</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101">
            <a:extLst>
              <a:ext uri="{FF2B5EF4-FFF2-40B4-BE49-F238E27FC236}">
                <a16:creationId xmlns:a16="http://schemas.microsoft.com/office/drawing/2014/main" id="{DBB0AE4B-4060-4481-CDAC-83C35A1558E1}"/>
              </a:ext>
            </a:extLst>
          </p:cNvPr>
          <p:cNvSpPr/>
          <p:nvPr/>
        </p:nvSpPr>
        <p:spPr>
          <a:xfrm>
            <a:off x="3414554" y="5175504"/>
            <a:ext cx="5364480" cy="512064"/>
          </a:xfrm>
          <a:prstGeom prst="roundRect">
            <a:avLst>
              <a:gd name="adj" fmla="val 47619"/>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102">
            <a:extLst>
              <a:ext uri="{FF2B5EF4-FFF2-40B4-BE49-F238E27FC236}">
                <a16:creationId xmlns:a16="http://schemas.microsoft.com/office/drawing/2014/main" id="{D52BC065-0AE0-5D54-E697-6E392F215098}"/>
              </a:ext>
            </a:extLst>
          </p:cNvPr>
          <p:cNvSpPr/>
          <p:nvPr/>
        </p:nvSpPr>
        <p:spPr>
          <a:xfrm>
            <a:off x="3414554" y="5175504"/>
            <a:ext cx="5364480" cy="512064"/>
          </a:xfrm>
          <a:prstGeom prst="rect">
            <a:avLst/>
          </a:prstGeom>
          <a:noFill/>
          <a:ln/>
        </p:spPr>
        <p:txBody>
          <a:bodyPr wrap="square" lIns="0" tIns="0" rIns="0" bIns="0" rtlCol="0" anchor="ctr"/>
          <a:lstStyle/>
          <a:p>
            <a:pPr algn="ctr"/>
            <a:r>
              <a:rPr lang="en-US" sz="1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Next: decide how to make your output showable.</a:t>
            </a:r>
            <a:endParaRPr lang="en-US" sz="16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86137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9434" y="269835"/>
            <a:ext cx="11094720" cy="585216"/>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Keeping Claude Code on Track</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549434" y="1114528"/>
            <a:ext cx="11094720" cy="341376"/>
          </a:xfrm>
          <a:prstGeom prst="rect">
            <a:avLst/>
          </a:prstGeom>
          <a:noFill/>
          <a:ln/>
        </p:spPr>
        <p:txBody>
          <a:bodyPr wrap="square" lIns="0" tIns="0" rIns="0" bIns="0" rtlCol="0" anchor="ctr"/>
          <a:lstStyle/>
          <a:p>
            <a:r>
              <a:rPr lang="en-US" sz="1600" dirty="0">
                <a:solidFill>
                  <a:schemeClr val="bg2">
                    <a:lumMod val="50000"/>
                  </a:schemeClr>
                </a:solidFill>
                <a:latin typeface="Open Sans" panose="020B0606030504020204" pitchFamily="34" charset="0"/>
                <a:ea typeface="Open Sans" panose="020B0606030504020204" pitchFamily="34" charset="0"/>
                <a:cs typeface="Open Sans" panose="020B0606030504020204" pitchFamily="34" charset="0"/>
              </a:rPr>
              <a:t>A single error is handled in one loop pass. A long build session is a different problem — context drifts, responses lose accuracy. These three habits prevent that.</a:t>
            </a:r>
          </a:p>
        </p:txBody>
      </p:sp>
      <p:sp>
        <p:nvSpPr>
          <p:cNvPr id="4" name="Shape 2"/>
          <p:cNvSpPr/>
          <p:nvPr/>
        </p:nvSpPr>
        <p:spPr>
          <a:xfrm>
            <a:off x="549434" y="2148319"/>
            <a:ext cx="3511296" cy="3600840"/>
          </a:xfrm>
          <a:prstGeom prst="roundRect">
            <a:avLst>
              <a:gd name="adj" fmla="val 3472"/>
            </a:avLst>
          </a:prstGeom>
          <a:solidFill>
            <a:schemeClr val="accent5">
              <a:lumMod val="20000"/>
              <a:lumOff val="80000"/>
            </a:schemeClr>
          </a:solidFill>
          <a:ln w="12700">
            <a:solidFill>
              <a:schemeClr val="accent2"/>
            </a:solidFill>
            <a:prstDash val="solid"/>
          </a:ln>
          <a:effectLst>
            <a:outerShdw blurRad="63500" dist="25400" dir="2700000" algn="bl" rotWithShape="0">
              <a:srgbClr val="000000">
                <a:alpha val="9000"/>
              </a:srgbClr>
            </a:outerShdw>
          </a:effectLst>
        </p:spPr>
        <p:txBody>
          <a:bodyPr/>
          <a:lstStyle/>
          <a:p>
            <a:endParaRPr lang="en-US" sz="3200"/>
          </a:p>
        </p:txBody>
      </p:sp>
      <p:sp>
        <p:nvSpPr>
          <p:cNvPr id="5" name="Text 3"/>
          <p:cNvSpPr/>
          <p:nvPr/>
        </p:nvSpPr>
        <p:spPr>
          <a:xfrm>
            <a:off x="768890" y="2367775"/>
            <a:ext cx="3072384" cy="426720"/>
          </a:xfrm>
          <a:prstGeom prst="rect">
            <a:avLst/>
          </a:prstGeom>
          <a:noFill/>
          <a:ln/>
        </p:spPr>
        <p:txBody>
          <a:bodyPr wrap="square" lIns="0" tIns="0" rIns="0" bIns="0" rtlCol="0" anchor="ctr"/>
          <a:lstStyle/>
          <a:p>
            <a:r>
              <a:rPr lang="en-US" sz="18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Use Plan Mode</a:t>
            </a:r>
            <a:endParaRPr lang="en-US" sz="18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768890" y="2879839"/>
            <a:ext cx="3072384" cy="0"/>
          </a:xfrm>
          <a:prstGeom prst="line">
            <a:avLst/>
          </a:prstGeom>
          <a:noFill/>
          <a:ln w="6350">
            <a:solidFill>
              <a:schemeClr val="accent2"/>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768890" y="2977375"/>
            <a:ext cx="3072384" cy="365760"/>
          </a:xfrm>
          <a:prstGeom prst="rect">
            <a:avLst/>
          </a:prstGeom>
          <a:noFill/>
          <a:ln/>
        </p:spPr>
        <p:txBody>
          <a:bodyPr wrap="square" lIns="0" tIns="0" rIns="0" bIns="0" rtlCol="0" anchor="ctr"/>
          <a:lstStyle/>
          <a:p>
            <a:r>
              <a:rPr lang="en-US" sz="1200" b="1" dirty="0">
                <a:latin typeface="Open Sans" panose="020B0606030504020204" pitchFamily="34" charset="0"/>
                <a:ea typeface="Open Sans" panose="020B0606030504020204" pitchFamily="34" charset="0"/>
                <a:cs typeface="Open Sans" panose="020B0606030504020204" pitchFamily="34" charset="0"/>
              </a:rPr>
              <a:t>WHEN: Task touches multiple files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768890" y="3486076"/>
            <a:ext cx="3072384" cy="1463040"/>
          </a:xfrm>
          <a:prstGeom prst="rect">
            <a:avLst/>
          </a:prstGeom>
          <a:noFill/>
          <a:ln/>
        </p:spPr>
        <p:txBody>
          <a:bodyPr wrap="square" lIns="0" tIns="0" rIns="0" bIns="0" rtlCol="0" anchor="t"/>
          <a:lstStyle/>
          <a:p>
            <a:r>
              <a:rPr lang="en-US" sz="1400" dirty="0">
                <a:solidFill>
                  <a:srgbClr val="555555"/>
                </a:solidFill>
                <a:latin typeface="Open Sans" panose="020B0606030504020204" pitchFamily="34" charset="0"/>
                <a:ea typeface="Open Sans" panose="020B0606030504020204" pitchFamily="34" charset="0"/>
                <a:cs typeface="Open Sans" panose="020B0606030504020204" pitchFamily="34" charset="0"/>
              </a:rPr>
              <a:t>Shows Claude's full intention — which files, what changes — before it writes a single line. Review and approve the plan first.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768890" y="4568635"/>
            <a:ext cx="3072384" cy="1072896"/>
          </a:xfrm>
          <a:prstGeom prst="roundRect">
            <a:avLst>
              <a:gd name="adj" fmla="val 7955"/>
            </a:avLst>
          </a:prstGeom>
          <a:solidFill>
            <a:schemeClr val="bg2">
              <a:lumMod val="25000"/>
            </a:schemeClr>
          </a:solidFill>
          <a:ln w="12700">
            <a:noFill/>
            <a:prstDash val="solid"/>
          </a:ln>
        </p:spPr>
        <p:txBody>
          <a:bodyPr/>
          <a:lstStyle/>
          <a:p>
            <a:endParaRPr lang="en-US" sz="3200"/>
          </a:p>
        </p:txBody>
      </p:sp>
      <p:sp>
        <p:nvSpPr>
          <p:cNvPr id="10" name="Text 8"/>
          <p:cNvSpPr/>
          <p:nvPr/>
        </p:nvSpPr>
        <p:spPr>
          <a:xfrm>
            <a:off x="890810" y="4711576"/>
            <a:ext cx="2828544" cy="829056"/>
          </a:xfrm>
          <a:prstGeom prst="rect">
            <a:avLst/>
          </a:prstGeom>
          <a:noFill/>
          <a:ln/>
        </p:spPr>
        <p:txBody>
          <a:bodyPr wrap="square" lIns="0" tIns="0" rIns="0" bIns="0" rtlCol="0" anchor="ctr"/>
          <a:lstStyle/>
          <a:p>
            <a:r>
              <a:rPr lang="en-US" sz="1267" dirty="0">
                <a:solidFill>
                  <a:srgbClr val="4ADE80"/>
                </a:solidFill>
                <a:latin typeface="Courier New" pitchFamily="34" charset="0"/>
                <a:ea typeface="Courier New" pitchFamily="34" charset="-122"/>
                <a:cs typeface="Courier New" pitchFamily="34" charset="-120"/>
              </a:rPr>
              <a:t>$ </a:t>
            </a:r>
            <a:r>
              <a:rPr lang="en-US" sz="1267" dirty="0" err="1">
                <a:solidFill>
                  <a:srgbClr val="4ADE80"/>
                </a:solidFill>
                <a:latin typeface="Courier New" pitchFamily="34" charset="0"/>
                <a:ea typeface="Courier New" pitchFamily="34" charset="-122"/>
                <a:cs typeface="Courier New" pitchFamily="34" charset="-120"/>
              </a:rPr>
              <a:t>claude</a:t>
            </a:r>
            <a:r>
              <a:rPr lang="en-US" sz="1267" dirty="0">
                <a:solidFill>
                  <a:srgbClr val="4ADE80"/>
                </a:solidFill>
                <a:latin typeface="Courier New" pitchFamily="34" charset="0"/>
                <a:ea typeface="Courier New" pitchFamily="34" charset="-122"/>
                <a:cs typeface="Courier New" pitchFamily="34" charset="-120"/>
              </a:rPr>
              <a:t> --plan "[your task]"</a:t>
            </a:r>
            <a:endParaRPr lang="en-US" sz="1267" dirty="0"/>
          </a:p>
        </p:txBody>
      </p:sp>
      <p:sp>
        <p:nvSpPr>
          <p:cNvPr id="11" name="Shape 9"/>
          <p:cNvSpPr/>
          <p:nvPr/>
        </p:nvSpPr>
        <p:spPr>
          <a:xfrm>
            <a:off x="4280186" y="2148319"/>
            <a:ext cx="3511296" cy="3600840"/>
          </a:xfrm>
          <a:prstGeom prst="roundRect">
            <a:avLst>
              <a:gd name="adj" fmla="val 3472"/>
            </a:avLst>
          </a:prstGeom>
          <a:solidFill>
            <a:schemeClr val="accent6">
              <a:lumMod val="20000"/>
              <a:lumOff val="80000"/>
            </a:schemeClr>
          </a:solidFill>
          <a:ln w="12700">
            <a:solidFill>
              <a:schemeClr val="accent1"/>
            </a:solidFill>
            <a:prstDash val="solid"/>
          </a:ln>
          <a:effectLst>
            <a:outerShdw blurRad="63500" dist="25400" dir="2700000" algn="bl" rotWithShape="0">
              <a:srgbClr val="000000">
                <a:alpha val="9000"/>
              </a:srgbClr>
            </a:outerShdw>
          </a:effectLst>
        </p:spPr>
        <p:txBody>
          <a:bodyPr/>
          <a:lstStyle/>
          <a:p>
            <a:endParaRPr lang="en-US" sz="3200"/>
          </a:p>
        </p:txBody>
      </p:sp>
      <p:sp>
        <p:nvSpPr>
          <p:cNvPr id="12" name="Text 10"/>
          <p:cNvSpPr/>
          <p:nvPr/>
        </p:nvSpPr>
        <p:spPr>
          <a:xfrm>
            <a:off x="4499642" y="2367775"/>
            <a:ext cx="3072384" cy="426720"/>
          </a:xfrm>
          <a:prstGeom prst="rect">
            <a:avLst/>
          </a:prstGeom>
          <a:noFill/>
          <a:ln/>
        </p:spPr>
        <p:txBody>
          <a:bodyPr wrap="square" lIns="0" tIns="0" rIns="0" bIns="0" rtlCol="0" anchor="ctr"/>
          <a:lstStyle/>
          <a:p>
            <a:r>
              <a:rPr lang="en-US" sz="18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Run /compact</a:t>
            </a:r>
            <a:endParaRPr lang="en-US" sz="18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4499642" y="2879839"/>
            <a:ext cx="3072384" cy="0"/>
          </a:xfrm>
          <a:prstGeom prst="line">
            <a:avLst/>
          </a:prstGeom>
          <a:noFill/>
          <a:ln w="6350">
            <a:solidFill>
              <a:schemeClr val="accent1"/>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99642" y="2977375"/>
            <a:ext cx="3072384" cy="365760"/>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WHEN: Responses feel less accurate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499642" y="3486076"/>
            <a:ext cx="3072384" cy="1463040"/>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Summarises the session and continues with a shorter context. Prevents Claude from forgetting earlier decisions.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4499642" y="4568635"/>
            <a:ext cx="3072384" cy="1072896"/>
          </a:xfrm>
          <a:prstGeom prst="roundRect">
            <a:avLst>
              <a:gd name="adj" fmla="val 7955"/>
            </a:avLst>
          </a:prstGeom>
          <a:solidFill>
            <a:schemeClr val="bg2">
              <a:lumMod val="25000"/>
            </a:schemeClr>
          </a:solidFill>
          <a:ln w="12700">
            <a:noFill/>
            <a:prstDash val="solid"/>
          </a:ln>
        </p:spPr>
        <p:txBody>
          <a:bodyPr/>
          <a:lstStyle/>
          <a:p>
            <a:endParaRPr lang="en-US" sz="3200"/>
          </a:p>
        </p:txBody>
      </p:sp>
      <p:sp>
        <p:nvSpPr>
          <p:cNvPr id="17" name="Text 15"/>
          <p:cNvSpPr/>
          <p:nvPr/>
        </p:nvSpPr>
        <p:spPr>
          <a:xfrm>
            <a:off x="4621562" y="4711576"/>
            <a:ext cx="2828544" cy="829056"/>
          </a:xfrm>
          <a:prstGeom prst="rect">
            <a:avLst/>
          </a:prstGeom>
          <a:noFill/>
          <a:ln/>
        </p:spPr>
        <p:txBody>
          <a:bodyPr wrap="square" lIns="0" tIns="0" rIns="0" bIns="0" rtlCol="0" anchor="ctr"/>
          <a:lstStyle/>
          <a:p>
            <a:r>
              <a:rPr lang="en-US" sz="1267">
                <a:solidFill>
                  <a:srgbClr val="4ADE80"/>
                </a:solidFill>
                <a:latin typeface="Courier New" pitchFamily="34" charset="0"/>
                <a:ea typeface="Courier New" pitchFamily="34" charset="-122"/>
                <a:cs typeface="Courier New" pitchFamily="34" charset="-120"/>
              </a:rPr>
              <a:t>$ /compact</a:t>
            </a:r>
            <a:endParaRPr lang="en-US" sz="1267"/>
          </a:p>
        </p:txBody>
      </p:sp>
      <p:sp>
        <p:nvSpPr>
          <p:cNvPr id="18" name="Shape 16"/>
          <p:cNvSpPr/>
          <p:nvPr/>
        </p:nvSpPr>
        <p:spPr>
          <a:xfrm>
            <a:off x="8010938" y="2148319"/>
            <a:ext cx="3511296" cy="3600840"/>
          </a:xfrm>
          <a:prstGeom prst="roundRect">
            <a:avLst>
              <a:gd name="adj" fmla="val 3472"/>
            </a:avLst>
          </a:prstGeom>
          <a:solidFill>
            <a:srgbClr val="EAF4EC"/>
          </a:solidFill>
          <a:ln w="12700">
            <a:solidFill>
              <a:srgbClr val="00B050"/>
            </a:solidFill>
            <a:prstDash val="solid"/>
          </a:ln>
          <a:effectLst>
            <a:outerShdw blurRad="63500" dist="25400" dir="2700000" algn="bl" rotWithShape="0">
              <a:srgbClr val="000000">
                <a:alpha val="9000"/>
              </a:srgbClr>
            </a:outerShdw>
          </a:effectLst>
        </p:spPr>
        <p:txBody>
          <a:bodyPr/>
          <a:lstStyle/>
          <a:p>
            <a:endParaRPr lang="en-US" sz="3200"/>
          </a:p>
        </p:txBody>
      </p:sp>
      <p:sp>
        <p:nvSpPr>
          <p:cNvPr id="19" name="Text 17"/>
          <p:cNvSpPr/>
          <p:nvPr/>
        </p:nvSpPr>
        <p:spPr>
          <a:xfrm>
            <a:off x="8230394" y="2367775"/>
            <a:ext cx="3072384" cy="426720"/>
          </a:xfrm>
          <a:prstGeom prst="rect">
            <a:avLst/>
          </a:prstGeom>
          <a:noFill/>
          <a:ln/>
        </p:spPr>
        <p:txBody>
          <a:bodyPr wrap="square" lIns="0" tIns="0" rIns="0" bIns="0" rtlCol="0" anchor="ctr"/>
          <a:lstStyle/>
          <a:p>
            <a:r>
              <a:rPr lang="en-US" sz="18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Start a New Conversation</a:t>
            </a:r>
            <a:endParaRPr lang="en-US" sz="18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8230394" y="2879839"/>
            <a:ext cx="3072384" cy="0"/>
          </a:xfrm>
          <a:prstGeom prst="line">
            <a:avLst/>
          </a:prstGeom>
          <a:noFill/>
          <a:ln w="63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8230394" y="2977375"/>
            <a:ext cx="3072384" cy="365760"/>
          </a:xfrm>
          <a:prstGeom prst="rect">
            <a:avLst/>
          </a:prstGeom>
          <a:noFill/>
          <a:ln/>
        </p:spPr>
        <p:txBody>
          <a:bodyPr wrap="square" lIns="0" tIns="0" rIns="0" bIns="0" rtlCol="0" anchor="ctr"/>
          <a:lstStyle/>
          <a:p>
            <a:r>
              <a:rPr lang="en-US" sz="1200" b="1">
                <a:latin typeface="Open Sans" panose="020B0606030504020204" pitchFamily="34" charset="0"/>
                <a:ea typeface="Open Sans" panose="020B0606030504020204" pitchFamily="34" charset="0"/>
                <a:cs typeface="Open Sans" panose="020B0606030504020204" pitchFamily="34" charset="0"/>
              </a:rPr>
              <a:t>WHEN: Session has drifted past recovery</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8230394" y="3486076"/>
            <a:ext cx="3072384" cy="1463040"/>
          </a:xfrm>
          <a:prstGeom prst="rect">
            <a:avLst/>
          </a:prstGeom>
          <a:noFill/>
          <a:ln/>
        </p:spPr>
        <p:txBody>
          <a:bodyPr wrap="square" lIns="0" tIns="0" rIns="0" bIns="0" rtlCol="0" anchor="t"/>
          <a:lstStyle/>
          <a:p>
            <a:r>
              <a:rPr lang="en-US" sz="1400">
                <a:solidFill>
                  <a:srgbClr val="555555"/>
                </a:solidFill>
                <a:latin typeface="Open Sans" panose="020B0606030504020204" pitchFamily="34" charset="0"/>
                <a:ea typeface="Open Sans" panose="020B0606030504020204" pitchFamily="34" charset="0"/>
                <a:cs typeface="Open Sans" panose="020B0606030504020204" pitchFamily="34" charset="0"/>
              </a:rPr>
              <a:t>Clear is faster than salvaging a confused context. Your CLAUDE.md restores project knowledge immediately.</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8230394" y="4568635"/>
            <a:ext cx="3072384" cy="1072896"/>
          </a:xfrm>
          <a:prstGeom prst="roundRect">
            <a:avLst>
              <a:gd name="adj" fmla="val 7955"/>
            </a:avLst>
          </a:prstGeom>
          <a:solidFill>
            <a:schemeClr val="bg2">
              <a:lumMod val="25000"/>
            </a:schemeClr>
          </a:solidFill>
          <a:ln w="12700">
            <a:noFill/>
            <a:prstDash val="solid"/>
          </a:ln>
        </p:spPr>
        <p:txBody>
          <a:bodyPr/>
          <a:lstStyle/>
          <a:p>
            <a:endParaRPr lang="en-US" sz="3200"/>
          </a:p>
        </p:txBody>
      </p:sp>
      <p:sp>
        <p:nvSpPr>
          <p:cNvPr id="24" name="Text 22"/>
          <p:cNvSpPr/>
          <p:nvPr/>
        </p:nvSpPr>
        <p:spPr>
          <a:xfrm>
            <a:off x="8352314" y="4711576"/>
            <a:ext cx="2828544" cy="829056"/>
          </a:xfrm>
          <a:prstGeom prst="rect">
            <a:avLst/>
          </a:prstGeom>
          <a:noFill/>
          <a:ln/>
        </p:spPr>
        <p:txBody>
          <a:bodyPr wrap="square" lIns="0" tIns="0" rIns="0" bIns="0" rtlCol="0" anchor="ctr"/>
          <a:lstStyle/>
          <a:p>
            <a:r>
              <a:rPr lang="en-US" sz="1267">
                <a:solidFill>
                  <a:srgbClr val="4ADE80"/>
                </a:solidFill>
                <a:latin typeface="Courier New" pitchFamily="34" charset="0"/>
                <a:ea typeface="Courier New" pitchFamily="34" charset="-122"/>
                <a:cs typeface="Courier New" pitchFamily="34" charset="-120"/>
              </a:rPr>
              <a:t>$ /clear</a:t>
            </a:r>
            <a:endParaRPr lang="en-US" sz="1267"/>
          </a:p>
        </p:txBody>
      </p:sp>
      <p:sp>
        <p:nvSpPr>
          <p:cNvPr id="31" name="Text 1">
            <a:extLst>
              <a:ext uri="{FF2B5EF4-FFF2-40B4-BE49-F238E27FC236}">
                <a16:creationId xmlns:a16="http://schemas.microsoft.com/office/drawing/2014/main" id="{D30A1665-1396-6237-1996-D92A227E39A1}"/>
              </a:ext>
            </a:extLst>
          </p:cNvPr>
          <p:cNvSpPr/>
          <p:nvPr/>
        </p:nvSpPr>
        <p:spPr>
          <a:xfrm>
            <a:off x="9571514" y="146304"/>
            <a:ext cx="2377440" cy="463296"/>
          </a:xfrm>
          <a:prstGeom prst="rect">
            <a:avLst/>
          </a:prstGeom>
          <a:noFill/>
          <a:ln/>
        </p:spPr>
        <p:txBody>
          <a:bodyPr wrap="square" lIns="0" tIns="0" rIns="0" bIns="0" rtlCol="0" anchor="ctr"/>
          <a:lstStyle/>
          <a:p>
            <a:pPr algn="ctr"/>
            <a:r>
              <a:rPr lang="en-US" sz="1200" b="1">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5981" y="243009"/>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Making It Demo-able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1048512"/>
            <a:ext cx="11216640" cy="341376"/>
          </a:xfrm>
          <a:prstGeom prst="rect">
            <a:avLst/>
          </a:prstGeom>
          <a:noFill/>
          <a:ln/>
        </p:spPr>
        <p:txBody>
          <a:bodyPr wrap="square" lIns="0" tIns="0" rIns="0" bIns="0" rtlCol="0" anchor="ctr"/>
          <a:lstStyle/>
          <a:p>
            <a:r>
              <a:rPr lang="en-US" sz="1867" dirty="0">
                <a:solidFill>
                  <a:srgbClr val="757575"/>
                </a:solidFill>
                <a:latin typeface="Open Sans" panose="020B0606030504020204" pitchFamily="34" charset="0"/>
                <a:ea typeface="Open Sans" panose="020B0606030504020204" pitchFamily="34" charset="0"/>
                <a:cs typeface="Open Sans" panose="020B0606030504020204" pitchFamily="34" charset="0"/>
              </a:rPr>
              <a:t>A working PoC that cannot be shown is a PoC that cannot move forward. Build the output layer early.</a:t>
            </a:r>
            <a:endParaRPr lang="en-US" sz="1867"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803579"/>
            <a:ext cx="3621024" cy="4096508"/>
          </a:xfrm>
          <a:prstGeom prst="roundRect">
            <a:avLst>
              <a:gd name="adj" fmla="val 3367"/>
            </a:avLst>
          </a:prstGeom>
          <a:solidFill>
            <a:srgbClr val="F5F5F5"/>
          </a:solidFill>
          <a:ln w="19050">
            <a:solidFill>
              <a:schemeClr val="accent2"/>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659162" y="1949883"/>
            <a:ext cx="3279648" cy="463296"/>
          </a:xfrm>
          <a:prstGeom prst="rect">
            <a:avLst/>
          </a:prstGeom>
          <a:noFill/>
          <a:ln/>
        </p:spPr>
        <p:txBody>
          <a:bodyPr wrap="square" lIns="0" tIns="0" rIns="0" bIns="0" rtlCol="0" anchor="ctr"/>
          <a:lstStyle/>
          <a:p>
            <a:r>
              <a:rPr lang="en-US" sz="20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CLI Output</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659162" y="2640105"/>
            <a:ext cx="3279648" cy="103632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Formatted print output that shows what ran and what it produced. Readable without explanation.</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59162" y="3842687"/>
            <a:ext cx="3279648" cy="341376"/>
          </a:xfrm>
          <a:prstGeom prst="rect">
            <a:avLst/>
          </a:prstGeom>
          <a:noFill/>
          <a:ln/>
        </p:spPr>
        <p:txBody>
          <a:bodyPr wrap="square" lIns="0" tIns="0" rIns="0" bIns="0" rtlCol="0" anchor="ctr"/>
          <a:lstStyle/>
          <a:p>
            <a:r>
              <a:rPr lang="en-US" sz="14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Best for: internal demos, technical stakeholders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659162" y="4358855"/>
            <a:ext cx="3279648" cy="0"/>
          </a:xfrm>
          <a:prstGeom prst="line">
            <a:avLst/>
          </a:prstGeom>
          <a:noFill/>
          <a:ln w="635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659162" y="4593028"/>
            <a:ext cx="3279648" cy="292608"/>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THE PROMPT: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4995364"/>
            <a:ext cx="3279648" cy="837672"/>
          </a:xfrm>
          <a:prstGeom prst="rect">
            <a:avLst/>
          </a:prstGeom>
          <a:noFill/>
          <a:ln/>
        </p:spPr>
        <p:txBody>
          <a:bodyPr wrap="square" lIns="0" tIns="0" rIns="0" bIns="0" rtlCol="0" anchor="t"/>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"Add formatted CLI output showing each result. Use clear labels. Make it readable without explanation."</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292378" y="1803579"/>
            <a:ext cx="3621024" cy="4096508"/>
          </a:xfrm>
          <a:prstGeom prst="roundRect">
            <a:avLst>
              <a:gd name="adj" fmla="val 3367"/>
            </a:avLst>
          </a:prstGeom>
          <a:solidFill>
            <a:srgbClr val="F5F5F5"/>
          </a:solidFill>
          <a:ln w="19050">
            <a:solidFill>
              <a:schemeClr val="accent1"/>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4463066" y="1949883"/>
            <a:ext cx="3279648" cy="463296"/>
          </a:xfrm>
          <a:prstGeom prst="rect">
            <a:avLst/>
          </a:prstGeom>
          <a:noFill/>
          <a:ln/>
        </p:spPr>
        <p:txBody>
          <a:bodyPr wrap="square" lIns="0" tIns="0" rIns="0" bIns="0" rtlCol="0" anchor="ctr"/>
          <a:lstStyle/>
          <a:p>
            <a:r>
              <a:rPr lang="en-US"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Simple Front-end</a:t>
            </a:r>
            <a:endParaRPr lang="en-US" sz="20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463066" y="2486331"/>
            <a:ext cx="3279648" cy="103632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A minimal </a:t>
            </a:r>
            <a:r>
              <a:rPr lang="en-US" sz="16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Streamlit</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 app or HTML page wrapping the core logic. It calls the API over httpx; no business logic in the UI.</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63066" y="3842687"/>
            <a:ext cx="3279648" cy="341376"/>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Best for: end-to-end demos and clinician-facing review</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4463066" y="4358855"/>
            <a:ext cx="3279648" cy="0"/>
          </a:xfrm>
          <a:prstGeom prst="line">
            <a:avLst/>
          </a:prstGeom>
          <a:noFill/>
          <a:ln w="635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4463066" y="4593028"/>
            <a:ext cx="3279648" cy="292608"/>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THE PROMPT:</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4463066" y="4995364"/>
            <a:ext cx="3279648" cy="837672"/>
          </a:xfrm>
          <a:prstGeom prst="rect">
            <a:avLst/>
          </a:prstGeom>
          <a:noFill/>
          <a:ln/>
        </p:spPr>
        <p:txBody>
          <a:bodyPr wrap="square" lIns="0" tIns="0" rIns="0" bIns="0" rtlCol="0" anchor="t"/>
          <a:lstStyle/>
          <a:p>
            <a:r>
              <a:rPr lang="en-US" sz="1400" i="1">
                <a:solidFill>
                  <a:schemeClr val="accent1"/>
                </a:solidFill>
                <a:latin typeface="Open Sans" panose="020B0606030504020204" pitchFamily="34" charset="0"/>
                <a:ea typeface="Open Sans" panose="020B0606030504020204" pitchFamily="34" charset="0"/>
                <a:cs typeface="Open Sans" panose="020B0606030504020204" pitchFamily="34" charset="0"/>
              </a:rPr>
              <a:t>"Add a minimal Streamlit front-end. Input field for the trigger. Results in a clean table."</a:t>
            </a:r>
            <a:endParaRPr lang="en-US" sz="140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6"/>
          <p:cNvSpPr/>
          <p:nvPr/>
        </p:nvSpPr>
        <p:spPr>
          <a:xfrm>
            <a:off x="8096282" y="1803579"/>
            <a:ext cx="3621024" cy="4096508"/>
          </a:xfrm>
          <a:prstGeom prst="roundRect">
            <a:avLst>
              <a:gd name="adj" fmla="val 3367"/>
            </a:avLst>
          </a:prstGeom>
          <a:solidFill>
            <a:srgbClr val="F5F5F5"/>
          </a:solidFill>
          <a:ln w="19050">
            <a:solidFill>
              <a:srgbClr val="00B050"/>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266970" y="1949883"/>
            <a:ext cx="3279648" cy="463296"/>
          </a:xfrm>
          <a:prstGeom prst="rect">
            <a:avLst/>
          </a:prstGeom>
          <a:noFill/>
          <a:ln/>
        </p:spPr>
        <p:txBody>
          <a:bodyPr wrap="square" lIns="0" tIns="0" rIns="0" bIns="0" rtlCol="0" anchor="ctr"/>
          <a:lstStyle/>
          <a:p>
            <a:r>
              <a:rPr lang="en-US" sz="20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Formatted Report</a:t>
            </a:r>
            <a:endParaRPr lang="en-US" sz="20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8266970" y="2486331"/>
            <a:ext cx="3279648" cy="1036320"/>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A structured markdown file saved to disk — readable without running anything.</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8266970" y="3842687"/>
            <a:ext cx="3279648" cy="341376"/>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Best for: async review, email attachments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2" name="Shape 20"/>
          <p:cNvSpPr/>
          <p:nvPr/>
        </p:nvSpPr>
        <p:spPr>
          <a:xfrm>
            <a:off x="8266970" y="4358855"/>
            <a:ext cx="3279648" cy="0"/>
          </a:xfrm>
          <a:prstGeom prst="line">
            <a:avLst/>
          </a:prstGeom>
          <a:noFill/>
          <a:ln w="6350">
            <a:solidFill>
              <a:srgbClr val="DEDEDE"/>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8266970" y="4593028"/>
            <a:ext cx="3279648" cy="292608"/>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THE PROMPT:</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8266970" y="4995364"/>
            <a:ext cx="3279648" cy="837672"/>
          </a:xfrm>
          <a:prstGeom prst="rect">
            <a:avLst/>
          </a:prstGeom>
          <a:noFill/>
          <a:ln/>
        </p:spPr>
        <p:txBody>
          <a:bodyPr wrap="square" lIns="0" tIns="0" rIns="0" bIns="0" rtlCol="0" anchor="t"/>
          <a:lstStyle/>
          <a:p>
            <a:r>
              <a:rPr lang="en-US" sz="1400" i="1">
                <a:solidFill>
                  <a:srgbClr val="00B050"/>
                </a:solidFill>
                <a:latin typeface="Open Sans" panose="020B0606030504020204" pitchFamily="34" charset="0"/>
                <a:ea typeface="Open Sans" panose="020B0606030504020204" pitchFamily="34" charset="0"/>
                <a:cs typeface="Open Sans" panose="020B0606030504020204" pitchFamily="34" charset="0"/>
              </a:rPr>
              <a:t>"Output results to report.md. Use headers, bullet points, and a summary section."</a:t>
            </a:r>
            <a:endParaRPr lang="en-US" sz="140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18" name="Shape 0">
            <a:extLst>
              <a:ext uri="{FF2B5EF4-FFF2-40B4-BE49-F238E27FC236}">
                <a16:creationId xmlns:a16="http://schemas.microsoft.com/office/drawing/2014/main" id="{886A98F1-27EA-8037-8C5B-FF4F55DC0D69}"/>
              </a:ext>
            </a:extLst>
          </p:cNvPr>
          <p:cNvSpPr/>
          <p:nvPr/>
        </p:nvSpPr>
        <p:spPr>
          <a:xfrm>
            <a:off x="9746940" y="22164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479502" y="221640"/>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558079" y="256723"/>
            <a:ext cx="10013543"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Live Build Part 1 — Get a Working Core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963168"/>
            <a:ext cx="11216640" cy="341376"/>
          </a:xfrm>
          <a:prstGeom prst="rect">
            <a:avLst/>
          </a:prstGeom>
          <a:noFill/>
          <a:ln/>
        </p:spPr>
        <p:txBody>
          <a:bodyPr wrap="square" lIns="0" tIns="0" rIns="0" bIns="0" rtlCol="0" anchor="ctr"/>
          <a:lstStyle/>
          <a:p>
            <a:r>
              <a:rPr lang="en-US" sz="1733" dirty="0">
                <a:solidFill>
                  <a:srgbClr val="757575"/>
                </a:solidFill>
                <a:latin typeface="Open Sans" panose="020B0606030504020204" pitchFamily="34" charset="0"/>
                <a:ea typeface="Open Sans" panose="020B0606030504020204" pitchFamily="34" charset="0"/>
                <a:cs typeface="Open Sans" panose="020B0606030504020204" pitchFamily="34" charset="0"/>
              </a:rPr>
              <a:t>Follow the same build loop the trainer just ran — applied to your chosen problem statement.</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6">
            <a:extLst>
              <a:ext uri="{FF2B5EF4-FFF2-40B4-BE49-F238E27FC236}">
                <a16:creationId xmlns:a16="http://schemas.microsoft.com/office/drawing/2014/main" id="{A19E338A-3F0B-3827-4670-47F1AB66892D}"/>
              </a:ext>
            </a:extLst>
          </p:cNvPr>
          <p:cNvSpPr/>
          <p:nvPr/>
        </p:nvSpPr>
        <p:spPr>
          <a:xfrm>
            <a:off x="488474" y="1487222"/>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610394" y="1636660"/>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10394" y="1636660"/>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249902" y="1511144"/>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Write your first scaffold prompt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249902" y="1859965"/>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Name the file, function, inputs, and outputs. Paste it into Claude Code.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5" name="Shape 6">
            <a:extLst>
              <a:ext uri="{FF2B5EF4-FFF2-40B4-BE49-F238E27FC236}">
                <a16:creationId xmlns:a16="http://schemas.microsoft.com/office/drawing/2014/main" id="{97611C00-7D65-3318-8759-57C427389235}"/>
              </a:ext>
            </a:extLst>
          </p:cNvPr>
          <p:cNvSpPr/>
          <p:nvPr/>
        </p:nvSpPr>
        <p:spPr>
          <a:xfrm>
            <a:off x="488474" y="2347449"/>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610394" y="2496887"/>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10394" y="2496887"/>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249902" y="2349913"/>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Review the diff before accepting</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249902" y="2681068"/>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Read every line proposed. Reject anything you did not ask for.</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6" name="Shape 6">
            <a:extLst>
              <a:ext uri="{FF2B5EF4-FFF2-40B4-BE49-F238E27FC236}">
                <a16:creationId xmlns:a16="http://schemas.microsoft.com/office/drawing/2014/main" id="{845B65F5-272D-DC53-8116-4A0475F2784F}"/>
              </a:ext>
            </a:extLst>
          </p:cNvPr>
          <p:cNvSpPr/>
          <p:nvPr/>
        </p:nvSpPr>
        <p:spPr>
          <a:xfrm>
            <a:off x="488474" y="3247011"/>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10394" y="3396449"/>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10394" y="3396449"/>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249902" y="3240684"/>
            <a:ext cx="548640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Run the code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249902" y="3623221"/>
            <a:ext cx="7277473"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If it fails — paste the full error back with one sentence of context.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7" name="Shape 6">
            <a:extLst>
              <a:ext uri="{FF2B5EF4-FFF2-40B4-BE49-F238E27FC236}">
                <a16:creationId xmlns:a16="http://schemas.microsoft.com/office/drawing/2014/main" id="{38A49F0D-4662-653C-DE8C-2602004C512F}"/>
              </a:ext>
            </a:extLst>
          </p:cNvPr>
          <p:cNvSpPr/>
          <p:nvPr/>
        </p:nvSpPr>
        <p:spPr>
          <a:xfrm>
            <a:off x="488474" y="4154363"/>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610394" y="4303801"/>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610394" y="4303801"/>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249902" y="4150945"/>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Fix and repeat the loop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249902" y="4549828"/>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Work through errors one at a time. Do not move to the next feature until this one runs.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8" name="Shape 6">
            <a:extLst>
              <a:ext uri="{FF2B5EF4-FFF2-40B4-BE49-F238E27FC236}">
                <a16:creationId xmlns:a16="http://schemas.microsoft.com/office/drawing/2014/main" id="{CB2A2C3D-3CA4-80E6-8DE8-A1B8B36C6F1B}"/>
              </a:ext>
            </a:extLst>
          </p:cNvPr>
          <p:cNvSpPr/>
          <p:nvPr/>
        </p:nvSpPr>
        <p:spPr>
          <a:xfrm>
            <a:off x="488474" y="5051511"/>
            <a:ext cx="11033760" cy="737791"/>
          </a:xfrm>
          <a:prstGeom prst="roundRect">
            <a:avLst>
              <a:gd name="adj" fmla="val 12500"/>
            </a:avLst>
          </a:prstGeom>
          <a:solidFill>
            <a:srgbClr val="F7F7F7"/>
          </a:solidFill>
          <a:ln w="6350">
            <a:solidFill>
              <a:srgbClr val="E0E0E0"/>
            </a:solidFill>
            <a:prstDash val="solid"/>
          </a:ln>
          <a:effectLst>
            <a:outerShdw blurRad="63500" dist="25400" dir="2700000" algn="bl" rotWithShape="0">
              <a:srgbClr val="000000">
                <a:alpha val="9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p:cNvSpPr/>
          <p:nvPr/>
        </p:nvSpPr>
        <p:spPr>
          <a:xfrm>
            <a:off x="610394" y="5207304"/>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610394" y="5207304"/>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p:cNvSpPr/>
          <p:nvPr/>
        </p:nvSpPr>
        <p:spPr>
          <a:xfrm>
            <a:off x="1249902" y="5054645"/>
            <a:ext cx="106070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Stop when the core works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1249902" y="5426760"/>
            <a:ext cx="10607040" cy="365760"/>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Main function produces the right output — even if rough. That is the goal for Part 1.</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Shape 26"/>
          <p:cNvSpPr/>
          <p:nvPr/>
        </p:nvSpPr>
        <p:spPr>
          <a:xfrm>
            <a:off x="488474" y="5972436"/>
            <a:ext cx="11216640" cy="438912"/>
          </a:xfrm>
          <a:prstGeom prst="roundRect">
            <a:avLst>
              <a:gd name="adj" fmla="val 22727"/>
            </a:avLst>
          </a:prstGeom>
          <a:solidFill>
            <a:srgbClr val="E8F5E9"/>
          </a:solidFill>
          <a:ln w="1016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610394" y="6057780"/>
            <a:ext cx="10972800" cy="26822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SUCCESS: Core logic runs · First diff reviewed and accepted · At least one error pasted back with context and fixed</a:t>
            </a:r>
            <a:endParaRPr lang="en-US" sz="14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25BC38D2-0280-847E-40B7-716EDEB65A28}"/>
              </a:ext>
            </a:extLst>
          </p:cNvPr>
          <p:cNvSpPr txBox="1">
            <a:spLocks/>
          </p:cNvSpPr>
          <p:nvPr/>
        </p:nvSpPr>
        <p:spPr>
          <a:xfrm>
            <a:off x="483941" y="2562160"/>
            <a:ext cx="1915924" cy="1733680"/>
          </a:xfrm>
          <a:prstGeom prst="rect">
            <a:avLst/>
          </a:prstGeom>
        </p:spPr>
        <p:txBody>
          <a:bodyPr anchor="b">
            <a:spAutoFit/>
          </a:bodyPr>
          <a:lstStyle>
            <a:lvl1pPr marL="0" indent="0" algn="l" defTabSz="685800" rtl="0" eaLnBrk="1" latinLnBrk="0" hangingPunct="1">
              <a:lnSpc>
                <a:spcPct val="100000"/>
              </a:lnSpc>
              <a:spcBef>
                <a:spcPts val="750"/>
              </a:spcBef>
              <a:buFont typeface="Arial" panose="020B0604020202020204" pitchFamily="34" charset="0"/>
              <a:buNone/>
              <a:defRPr sz="8250" b="1" i="0" kern="1200">
                <a:solidFill>
                  <a:schemeClr val="bg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0" b="1" i="0" kern="1200">
                <a:solidFill>
                  <a:schemeClr val="tx1"/>
                </a:solidFill>
                <a:latin typeface="Open Sans" panose="020B0606030504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600" dirty="0">
                <a:latin typeface="Open Sans" panose="020B0606030504020204" pitchFamily="34" charset="0"/>
                <a:ea typeface="Open Sans" panose="020B0606030504020204" pitchFamily="34" charset="0"/>
                <a:cs typeface="Open Sans" panose="020B0606030504020204" pitchFamily="34" charset="0"/>
              </a:rPr>
              <a:t>03</a:t>
            </a:r>
          </a:p>
        </p:txBody>
      </p:sp>
      <p:sp>
        <p:nvSpPr>
          <p:cNvPr id="9" name="Title 2">
            <a:extLst>
              <a:ext uri="{FF2B5EF4-FFF2-40B4-BE49-F238E27FC236}">
                <a16:creationId xmlns:a16="http://schemas.microsoft.com/office/drawing/2014/main" id="{BE99512D-C29A-438D-AB3A-5A53E5984F8F}"/>
              </a:ext>
            </a:extLst>
          </p:cNvPr>
          <p:cNvSpPr txBox="1">
            <a:spLocks/>
          </p:cNvSpPr>
          <p:nvPr/>
        </p:nvSpPr>
        <p:spPr>
          <a:xfrm>
            <a:off x="2399865" y="2382624"/>
            <a:ext cx="9064096" cy="2123658"/>
          </a:xfrm>
          <a:prstGeom prst="rect">
            <a:avLst/>
          </a:prstGeom>
        </p:spPr>
        <p:txBody>
          <a:bodyPr wrap="square" anchor="b">
            <a:spAutoFit/>
          </a:bodyPr>
          <a:lstStyle>
            <a:lvl1pPr algn="l" defTabSz="685800" rtl="0" eaLnBrk="1" latinLnBrk="0" hangingPunct="1">
              <a:lnSpc>
                <a:spcPct val="100000"/>
              </a:lnSpc>
              <a:spcBef>
                <a:spcPct val="0"/>
              </a:spcBef>
              <a:buNone/>
              <a:defRPr lang="en-IN" sz="3150" b="1" i="0" kern="1200">
                <a:solidFill>
                  <a:schemeClr val="tx1"/>
                </a:solidFill>
                <a:latin typeface="+mn-lt"/>
                <a:ea typeface="Open Sans" panose="020B0606030504020204" pitchFamily="34" charset="0"/>
                <a:cs typeface="Open Sans" panose="020B0606030504020204" pitchFamily="34" charset="0"/>
              </a:defRPr>
            </a:lvl1pPr>
          </a:lstStyle>
          <a:p>
            <a:r>
              <a:rPr lang="en-US" sz="6600" dirty="0">
                <a:solidFill>
                  <a:srgbClr val="2D2D2D"/>
                </a:solidFill>
                <a:latin typeface="Arial" pitchFamily="34" charset="0"/>
                <a:ea typeface="Arial" pitchFamily="34" charset="-122"/>
                <a:cs typeface="Arial" pitchFamily="34" charset="-120"/>
              </a:rPr>
              <a:t>FINISH, DOCUMENT,</a:t>
            </a:r>
            <a:endParaRPr lang="en-US" sz="6600" dirty="0"/>
          </a:p>
          <a:p>
            <a:r>
              <a:rPr lang="en-US" sz="6600" dirty="0">
                <a:solidFill>
                  <a:srgbClr val="2D2D2D"/>
                </a:solidFill>
                <a:latin typeface="Arial" pitchFamily="34" charset="0"/>
                <a:ea typeface="Arial" pitchFamily="34" charset="-122"/>
                <a:cs typeface="Arial" pitchFamily="34" charset="-120"/>
              </a:rPr>
              <a:t>STABILISE</a:t>
            </a:r>
            <a:endParaRPr lang="en-US" sz="6600" dirty="0"/>
          </a:p>
        </p:txBody>
      </p:sp>
    </p:spTree>
    <p:extLst>
      <p:ext uri="{BB962C8B-B14F-4D97-AF65-F5344CB8AC3E}">
        <p14:creationId xmlns:p14="http://schemas.microsoft.com/office/powerpoint/2010/main" val="606053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9975" y="256723"/>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Documentation-First Development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Prompt Claude Code to write the README as you build — not after. A PoC without a README is not handoff-ready.</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446937"/>
            <a:ext cx="5547360" cy="128016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5" name="Text 3"/>
          <p:cNvSpPr/>
          <p:nvPr/>
        </p:nvSpPr>
        <p:spPr>
          <a:xfrm>
            <a:off x="1159034" y="1599337"/>
            <a:ext cx="505968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Forces scope clarity</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732314" y="2084125"/>
            <a:ext cx="5059680" cy="58521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Writing what it does exposes ambiguity. If you cannot describe it clearly, it is not done.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Shape 5"/>
          <p:cNvSpPr/>
          <p:nvPr/>
        </p:nvSpPr>
        <p:spPr>
          <a:xfrm>
            <a:off x="488474" y="2885593"/>
            <a:ext cx="5547360" cy="128016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8" name="Text 6"/>
          <p:cNvSpPr/>
          <p:nvPr/>
        </p:nvSpPr>
        <p:spPr>
          <a:xfrm>
            <a:off x="1159034" y="3032164"/>
            <a:ext cx="505968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Makes handoff instant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732314" y="3446425"/>
            <a:ext cx="5059680" cy="58521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Anyone picking this up — engineering, a colleague, future you — can start without a briefing.</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488474" y="4324249"/>
            <a:ext cx="5547360" cy="1280160"/>
          </a:xfrm>
          <a:prstGeom prst="roundRect">
            <a:avLst>
              <a:gd name="adj" fmla="val 761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11" name="Text 9"/>
          <p:cNvSpPr/>
          <p:nvPr/>
        </p:nvSpPr>
        <p:spPr>
          <a:xfrm>
            <a:off x="1159034" y="4446169"/>
            <a:ext cx="505968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Confirms</a:t>
            </a:r>
            <a:r>
              <a:rPr lang="en-US" sz="18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 the build</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732314" y="4885081"/>
            <a:ext cx="5059680" cy="58521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Generating the README reveals gaps between what you intended and what Claude actually built.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6340634" y="1341120"/>
            <a:ext cx="5364480" cy="4450080"/>
          </a:xfrm>
          <a:prstGeom prst="roundRect">
            <a:avLst>
              <a:gd name="adj" fmla="val 2740"/>
            </a:avLst>
          </a:prstGeom>
          <a:solidFill>
            <a:srgbClr val="1E1E1E"/>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sz="3200"/>
          </a:p>
        </p:txBody>
      </p:sp>
      <p:sp>
        <p:nvSpPr>
          <p:cNvPr id="14" name="Text 12"/>
          <p:cNvSpPr/>
          <p:nvPr/>
        </p:nvSpPr>
        <p:spPr>
          <a:xfrm>
            <a:off x="6523514" y="2222148"/>
            <a:ext cx="4998720" cy="341376"/>
          </a:xfrm>
          <a:prstGeom prst="rect">
            <a:avLst/>
          </a:prstGeom>
          <a:noFill/>
          <a:ln/>
        </p:spPr>
        <p:txBody>
          <a:bodyPr wrap="square" lIns="0" tIns="0" rIns="0" bIns="0" rtlCol="0" anchor="ctr"/>
          <a:lstStyle/>
          <a:p>
            <a:r>
              <a:rPr lang="en-US" sz="1400" b="1" dirty="0">
                <a:solidFill>
                  <a:schemeClr val="bg1"/>
                </a:solidFill>
                <a:latin typeface="Calibri" pitchFamily="34" charset="0"/>
                <a:ea typeface="Calibri" pitchFamily="34" charset="-122"/>
                <a:cs typeface="Calibri" pitchFamily="34" charset="-120"/>
              </a:rPr>
              <a:t>THE README PROMPT</a:t>
            </a:r>
            <a:endParaRPr lang="en-US" sz="1400" dirty="0">
              <a:solidFill>
                <a:schemeClr val="bg1"/>
              </a:solidFill>
            </a:endParaRPr>
          </a:p>
        </p:txBody>
      </p:sp>
      <p:sp>
        <p:nvSpPr>
          <p:cNvPr id="15" name="Text 13"/>
          <p:cNvSpPr/>
          <p:nvPr/>
        </p:nvSpPr>
        <p:spPr>
          <a:xfrm>
            <a:off x="6523514" y="1889760"/>
            <a:ext cx="4998720" cy="3657600"/>
          </a:xfrm>
          <a:prstGeom prst="rect">
            <a:avLst/>
          </a:prstGeom>
          <a:noFill/>
          <a:ln/>
        </p:spPr>
        <p:txBody>
          <a:bodyPr wrap="square" lIns="0" tIns="0" rIns="0" bIns="0" rtlCol="0" anchor="ctr"/>
          <a:lstStyle/>
          <a:p>
            <a:r>
              <a:rPr lang="en-US" sz="1600" dirty="0">
                <a:solidFill>
                  <a:srgbClr val="00B050"/>
                </a:solidFill>
                <a:latin typeface="Courier New" pitchFamily="34" charset="0"/>
                <a:ea typeface="Courier New" pitchFamily="34" charset="-122"/>
                <a:cs typeface="Courier New" pitchFamily="34" charset="-120"/>
              </a:rPr>
              <a:t>"Write a </a:t>
            </a:r>
            <a:r>
              <a:rPr lang="en-US" sz="1600" dirty="0" err="1">
                <a:solidFill>
                  <a:srgbClr val="00B050"/>
                </a:solidFill>
                <a:latin typeface="Courier New" pitchFamily="34" charset="0"/>
                <a:ea typeface="Courier New" pitchFamily="34" charset="-122"/>
                <a:cs typeface="Courier New" pitchFamily="34" charset="-120"/>
              </a:rPr>
              <a:t>README.md</a:t>
            </a:r>
            <a:r>
              <a:rPr lang="en-US" sz="1600" dirty="0">
                <a:solidFill>
                  <a:srgbClr val="00B050"/>
                </a:solidFill>
                <a:latin typeface="Courier New" pitchFamily="34" charset="0"/>
                <a:ea typeface="Courier New" pitchFamily="34" charset="-122"/>
                <a:cs typeface="Courier New" pitchFamily="34" charset="-120"/>
              </a:rPr>
              <a:t> for this</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project. Include:</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What it does (1 paragraph)</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Who uses it and when</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How to install and run it</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What a successful run</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looks like</a:t>
            </a:r>
            <a:endParaRPr lang="en-US" sz="1600" dirty="0">
              <a:solidFill>
                <a:srgbClr val="00B050"/>
              </a:solidFill>
            </a:endParaRPr>
          </a:p>
          <a:p>
            <a:r>
              <a:rPr lang="en-US" sz="1600" dirty="0">
                <a:solidFill>
                  <a:srgbClr val="00B050"/>
                </a:solidFill>
                <a:latin typeface="Courier New" pitchFamily="34" charset="0"/>
                <a:ea typeface="Courier New" pitchFamily="34" charset="-122"/>
                <a:cs typeface="Courier New" pitchFamily="34" charset="-120"/>
              </a:rPr>
              <a:t>- What is out of scope"</a:t>
            </a:r>
            <a:endParaRPr lang="en-US" sz="1600" dirty="0">
              <a:solidFill>
                <a:srgbClr val="00B050"/>
              </a:solidFill>
            </a:endParaRPr>
          </a:p>
        </p:txBody>
      </p:sp>
      <p:sp>
        <p:nvSpPr>
          <p:cNvPr id="16" name="Text 14"/>
          <p:cNvSpPr/>
          <p:nvPr/>
        </p:nvSpPr>
        <p:spPr>
          <a:xfrm>
            <a:off x="488474" y="5949696"/>
            <a:ext cx="11216640" cy="341376"/>
          </a:xfrm>
          <a:prstGeom prst="rect">
            <a:avLst/>
          </a:prstGeom>
          <a:noFill/>
          <a:ln/>
        </p:spPr>
        <p:txBody>
          <a:bodyPr wrap="square" lIns="0" tIns="0" rIns="0" bIns="0" rtlCol="0" anchor="ctr"/>
          <a:lstStyle/>
          <a:p>
            <a:r>
              <a:rPr lang="en-US" sz="18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Run this now — before you finish building. Edit what is wrong. Keep it current.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pic>
        <p:nvPicPr>
          <p:cNvPr id="22" name="Graphic 21">
            <a:extLst>
              <a:ext uri="{FF2B5EF4-FFF2-40B4-BE49-F238E27FC236}">
                <a16:creationId xmlns:a16="http://schemas.microsoft.com/office/drawing/2014/main" id="{09B94636-63C0-1AB2-09D8-AB149E86F8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1355" y="1605665"/>
            <a:ext cx="353108" cy="353108"/>
          </a:xfrm>
          <a:prstGeom prst="rect">
            <a:avLst/>
          </a:prstGeom>
        </p:spPr>
      </p:pic>
      <p:pic>
        <p:nvPicPr>
          <p:cNvPr id="24" name="Graphic 23">
            <a:extLst>
              <a:ext uri="{FF2B5EF4-FFF2-40B4-BE49-F238E27FC236}">
                <a16:creationId xmlns:a16="http://schemas.microsoft.com/office/drawing/2014/main" id="{060F82BF-62D7-E6AC-EF27-F477B0EC45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9278" y="3014547"/>
            <a:ext cx="400995" cy="400995"/>
          </a:xfrm>
          <a:prstGeom prst="rect">
            <a:avLst/>
          </a:prstGeom>
        </p:spPr>
      </p:pic>
      <p:pic>
        <p:nvPicPr>
          <p:cNvPr id="27" name="Graphic 26">
            <a:extLst>
              <a:ext uri="{FF2B5EF4-FFF2-40B4-BE49-F238E27FC236}">
                <a16:creationId xmlns:a16="http://schemas.microsoft.com/office/drawing/2014/main" id="{DB1B3051-C06E-503C-80D6-B4E49AB369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3204" y="4428764"/>
            <a:ext cx="377069" cy="37706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Error Handling Basics</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The difference between a demo that breaks under questions and one that holds up.</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398627"/>
            <a:ext cx="11216640" cy="1438656"/>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610394" y="1483971"/>
            <a:ext cx="10972800" cy="34137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Invalid or missing input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610394" y="1872275"/>
            <a:ext cx="10972800" cy="341376"/>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Without: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Script crashes with an unreadable stack trace   </a:t>
            </a: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With: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Clear message: what was expected, what was received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10394" y="2298995"/>
            <a:ext cx="10972800" cy="341376"/>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"Add input validation. If [INPUT] is missing or invalid, print a clear error and exit gracefully."</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2">
            <a:extLst>
              <a:ext uri="{FF2B5EF4-FFF2-40B4-BE49-F238E27FC236}">
                <a16:creationId xmlns:a16="http://schemas.microsoft.com/office/drawing/2014/main" id="{3F1C25E0-27B4-9133-4D2C-589E7AAA717D}"/>
              </a:ext>
            </a:extLst>
          </p:cNvPr>
          <p:cNvSpPr/>
          <p:nvPr/>
        </p:nvSpPr>
        <p:spPr>
          <a:xfrm>
            <a:off x="488474" y="3054899"/>
            <a:ext cx="11216640" cy="1438656"/>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610394" y="3118619"/>
            <a:ext cx="10972800" cy="34137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API or service unavailable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10394" y="3568803"/>
            <a:ext cx="10972800" cy="341376"/>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Without: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Connection timeout with no explanation to the user   </a:t>
            </a: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With: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Informative failure: what was tried, that it failed, what to check next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10394" y="4031179"/>
            <a:ext cx="10972800" cy="341376"/>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"Handle API connection errors. If the request fails, name the endpoint and suggest checking the API key."</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488474" y="4690467"/>
            <a:ext cx="11216640" cy="1438656"/>
          </a:xfrm>
          <a:prstGeom prst="roundRect">
            <a:avLst>
              <a:gd name="adj" fmla="val 6780"/>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610394" y="4731644"/>
            <a:ext cx="10972800" cy="341376"/>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Empty or unexpected response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10394" y="5214723"/>
            <a:ext cx="10972800" cy="341376"/>
          </a:xfrm>
          <a:prstGeom prst="rect">
            <a:avLst/>
          </a:prstGeom>
          <a:noFill/>
          <a:ln/>
        </p:spPr>
        <p:txBody>
          <a:bodyPr wrap="square" lIns="0" tIns="0" rIns="0" bIns="0" rtlCol="0" anchor="ctr"/>
          <a:lstStyle/>
          <a:p>
            <a:r>
              <a:rPr lang="en-US" sz="14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Without: </a:t>
            </a:r>
            <a:r>
              <a:rPr lang="en-US" sz="14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KeyError</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 or </a:t>
            </a:r>
            <a:r>
              <a:rPr lang="en-US" sz="14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AttributeError</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 mid-execution   </a:t>
            </a:r>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With: </a:t>
            </a:r>
            <a:r>
              <a:rPr lang="en-US" sz="1400" dirty="0">
                <a:solidFill>
                  <a:srgbClr val="2D2D2D"/>
                </a:solidFill>
                <a:latin typeface="Open Sans" panose="020B0606030504020204" pitchFamily="34" charset="0"/>
                <a:ea typeface="Open Sans" panose="020B0606030504020204" pitchFamily="34" charset="0"/>
                <a:cs typeface="Open Sans" panose="020B0606030504020204" pitchFamily="34" charset="0"/>
              </a:rPr>
              <a:t>Handled: logs the empty response, continues or exits cleanly — no crash</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10394" y="5697801"/>
            <a:ext cx="10972800" cy="341376"/>
          </a:xfrm>
          <a:prstGeom prst="rect">
            <a:avLst/>
          </a:prstGeom>
          <a:noFill/>
          <a:ln/>
        </p:spPr>
        <p:txBody>
          <a:bodyPr wrap="square" lIns="0" tIns="0" rIns="0" bIns="0" rtlCol="0" anchor="ctr"/>
          <a:lstStyle/>
          <a:p>
            <a:r>
              <a:rPr lang="en-US" sz="1400" i="1" dirty="0">
                <a:solidFill>
                  <a:schemeClr val="accent2"/>
                </a:solidFill>
                <a:latin typeface="Open Sans" panose="020B0606030504020204" pitchFamily="34" charset="0"/>
                <a:ea typeface="Open Sans" panose="020B0606030504020204" pitchFamily="34" charset="0"/>
                <a:cs typeface="Open Sans" panose="020B0606030504020204" pitchFamily="34" charset="0"/>
              </a:rPr>
              <a:t>"Handle empty responses from [API]. If no results, print a message and exit — do not crash."</a:t>
            </a:r>
            <a:endParaRPr lang="en-US" sz="14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16D2450-1618-60A5-0396-03A3921047D9}"/>
              </a:ext>
            </a:extLst>
          </p:cNvPr>
          <p:cNvSpPr/>
          <p:nvPr/>
        </p:nvSpPr>
        <p:spPr>
          <a:xfrm>
            <a:off x="976154" y="903884"/>
            <a:ext cx="10241280" cy="950976"/>
          </a:xfrm>
          <a:prstGeom prst="rect">
            <a:avLst/>
          </a:prstGeom>
          <a:noFill/>
          <a:ln/>
        </p:spPr>
        <p:txBody>
          <a:bodyPr wrap="square" lIns="0" tIns="0" rIns="0" bIns="0" rtlCol="0" anchor="ctr"/>
          <a:lstStyle/>
          <a:p>
            <a:pPr algn="ctr"/>
            <a:r>
              <a:rPr lang="en-US" sz="4400" b="1" dirty="0">
                <a:solidFill>
                  <a:schemeClr val="accent2"/>
                </a:solidFill>
                <a:latin typeface="Arial" pitchFamily="34" charset="0"/>
                <a:ea typeface="Arial" pitchFamily="34" charset="-122"/>
                <a:cs typeface="Arial" pitchFamily="34" charset="-120"/>
              </a:rPr>
              <a:t>Your PoC </a:t>
            </a:r>
            <a:r>
              <a:rPr lang="en-US" sz="4400" b="1" dirty="0">
                <a:latin typeface="Arial" pitchFamily="34" charset="0"/>
                <a:ea typeface="Arial" pitchFamily="34" charset="-122"/>
                <a:cs typeface="Arial" pitchFamily="34" charset="-120"/>
              </a:rPr>
              <a:t>is done when it answers</a:t>
            </a:r>
            <a:endParaRPr lang="en-US" sz="4400" dirty="0"/>
          </a:p>
        </p:txBody>
      </p:sp>
      <p:sp>
        <p:nvSpPr>
          <p:cNvPr id="3" name="Text 1">
            <a:extLst>
              <a:ext uri="{FF2B5EF4-FFF2-40B4-BE49-F238E27FC236}">
                <a16:creationId xmlns:a16="http://schemas.microsoft.com/office/drawing/2014/main" id="{E434C579-A060-71E8-4886-BDF91E7E07D7}"/>
              </a:ext>
            </a:extLst>
          </p:cNvPr>
          <p:cNvSpPr/>
          <p:nvPr/>
        </p:nvSpPr>
        <p:spPr>
          <a:xfrm>
            <a:off x="976154" y="1818076"/>
            <a:ext cx="10241280" cy="950976"/>
          </a:xfrm>
          <a:prstGeom prst="rect">
            <a:avLst/>
          </a:prstGeom>
          <a:noFill/>
          <a:ln/>
        </p:spPr>
        <p:txBody>
          <a:bodyPr wrap="square" lIns="0" tIns="0" rIns="0" bIns="0" rtlCol="0" anchor="ctr"/>
          <a:lstStyle/>
          <a:p>
            <a:pPr algn="ctr"/>
            <a:r>
              <a:rPr lang="en-US" sz="4400" b="1" dirty="0">
                <a:latin typeface="Arial" pitchFamily="34" charset="0"/>
                <a:ea typeface="Arial" pitchFamily="34" charset="-122"/>
                <a:cs typeface="Arial" pitchFamily="34" charset="-120"/>
              </a:rPr>
              <a:t>the question it was built to answer.</a:t>
            </a:r>
            <a:endParaRPr lang="en-US" sz="4400" dirty="0"/>
          </a:p>
        </p:txBody>
      </p:sp>
      <p:sp>
        <p:nvSpPr>
          <p:cNvPr id="4" name="Shape 2">
            <a:extLst>
              <a:ext uri="{FF2B5EF4-FFF2-40B4-BE49-F238E27FC236}">
                <a16:creationId xmlns:a16="http://schemas.microsoft.com/office/drawing/2014/main" id="{90850882-4227-3F98-56FA-FDBAC2D4F859}"/>
              </a:ext>
            </a:extLst>
          </p:cNvPr>
          <p:cNvSpPr/>
          <p:nvPr/>
        </p:nvSpPr>
        <p:spPr>
          <a:xfrm>
            <a:off x="1530545" y="2908685"/>
            <a:ext cx="9074989" cy="0"/>
          </a:xfrm>
          <a:prstGeom prst="line">
            <a:avLst/>
          </a:prstGeom>
          <a:noFill/>
          <a:ln w="12700">
            <a:solidFill>
              <a:schemeClr val="tx2">
                <a:lumMod val="40000"/>
                <a:lumOff val="60000"/>
              </a:schemeClr>
            </a:solidFill>
            <a:prstDash val="solid"/>
          </a:ln>
        </p:spPr>
        <p:txBody>
          <a:bodyPr/>
          <a:lstStyle/>
          <a:p>
            <a:endParaRPr lang="en-US" sz="3200"/>
          </a:p>
        </p:txBody>
      </p:sp>
      <p:sp>
        <p:nvSpPr>
          <p:cNvPr id="5" name="Text 3">
            <a:extLst>
              <a:ext uri="{FF2B5EF4-FFF2-40B4-BE49-F238E27FC236}">
                <a16:creationId xmlns:a16="http://schemas.microsoft.com/office/drawing/2014/main" id="{539F2C5B-87B8-1E72-F9F7-030425D445D5}"/>
              </a:ext>
            </a:extLst>
          </p:cNvPr>
          <p:cNvSpPr/>
          <p:nvPr/>
        </p:nvSpPr>
        <p:spPr>
          <a:xfrm>
            <a:off x="2439194" y="3173068"/>
            <a:ext cx="7315200" cy="585216"/>
          </a:xfrm>
          <a:prstGeom prst="rect">
            <a:avLst/>
          </a:prstGeom>
          <a:noFill/>
          <a:ln/>
        </p:spPr>
        <p:txBody>
          <a:bodyPr wrap="square" lIns="0" tIns="0" rIns="0" bIns="0" rtlCol="0" anchor="ctr"/>
          <a:lstStyle/>
          <a:p>
            <a:pPr algn="ctr"/>
            <a:r>
              <a:rPr lang="en-US" sz="2000" b="1" dirty="0">
                <a:solidFill>
                  <a:schemeClr val="accent3"/>
                </a:solidFill>
                <a:latin typeface="Calibri" pitchFamily="34" charset="0"/>
                <a:ea typeface="Calibri" pitchFamily="34" charset="-122"/>
                <a:cs typeface="Calibri" pitchFamily="34" charset="-120"/>
              </a:rPr>
              <a:t>✗ </a:t>
            </a:r>
            <a:r>
              <a:rPr lang="en-US" sz="2000" b="1" dirty="0">
                <a:solidFill>
                  <a:schemeClr val="tx2"/>
                </a:solidFill>
                <a:latin typeface="Calibri" pitchFamily="34" charset="0"/>
                <a:ea typeface="Calibri" pitchFamily="34" charset="-122"/>
                <a:cs typeface="Calibri" pitchFamily="34" charset="-120"/>
              </a:rPr>
              <a:t> </a:t>
            </a:r>
            <a:r>
              <a:rPr lang="en-US" sz="2000" dirty="0">
                <a:solidFill>
                  <a:schemeClr val="tx2"/>
                </a:solidFill>
                <a:latin typeface="Calibri" pitchFamily="34" charset="0"/>
                <a:ea typeface="Calibri" pitchFamily="34" charset="-122"/>
                <a:cs typeface="Calibri" pitchFamily="34" charset="-120"/>
              </a:rPr>
              <a:t>Not when it handles every edge case</a:t>
            </a:r>
            <a:endParaRPr lang="en-US" sz="2000" dirty="0">
              <a:solidFill>
                <a:schemeClr val="tx2"/>
              </a:solidFill>
            </a:endParaRPr>
          </a:p>
        </p:txBody>
      </p:sp>
      <p:sp>
        <p:nvSpPr>
          <p:cNvPr id="6" name="Text 4">
            <a:extLst>
              <a:ext uri="{FF2B5EF4-FFF2-40B4-BE49-F238E27FC236}">
                <a16:creationId xmlns:a16="http://schemas.microsoft.com/office/drawing/2014/main" id="{9AA97A9E-324A-C913-3FD7-D48FD0528689}"/>
              </a:ext>
            </a:extLst>
          </p:cNvPr>
          <p:cNvSpPr/>
          <p:nvPr/>
        </p:nvSpPr>
        <p:spPr>
          <a:xfrm>
            <a:off x="2439194" y="3880204"/>
            <a:ext cx="7315200" cy="585216"/>
          </a:xfrm>
          <a:prstGeom prst="rect">
            <a:avLst/>
          </a:prstGeom>
          <a:noFill/>
          <a:ln/>
        </p:spPr>
        <p:txBody>
          <a:bodyPr wrap="square" lIns="0" tIns="0" rIns="0" bIns="0" rtlCol="0" anchor="ctr"/>
          <a:lstStyle/>
          <a:p>
            <a:pPr algn="ctr"/>
            <a:r>
              <a:rPr lang="en-US" sz="2000" b="1" dirty="0">
                <a:solidFill>
                  <a:schemeClr val="accent3"/>
                </a:solidFill>
                <a:latin typeface="Calibri" pitchFamily="34" charset="0"/>
                <a:ea typeface="Calibri" pitchFamily="34" charset="-122"/>
                <a:cs typeface="Calibri" pitchFamily="34" charset="-120"/>
              </a:rPr>
              <a:t>✗ </a:t>
            </a:r>
            <a:r>
              <a:rPr lang="en-US" sz="2000" b="1" dirty="0">
                <a:solidFill>
                  <a:schemeClr val="tx2"/>
                </a:solidFill>
                <a:latin typeface="Calibri" pitchFamily="34" charset="0"/>
                <a:ea typeface="Calibri" pitchFamily="34" charset="-122"/>
                <a:cs typeface="Calibri" pitchFamily="34" charset="-120"/>
              </a:rPr>
              <a:t> </a:t>
            </a:r>
            <a:r>
              <a:rPr lang="en-US" sz="2000" dirty="0">
                <a:solidFill>
                  <a:schemeClr val="tx2"/>
                </a:solidFill>
                <a:latin typeface="Calibri" pitchFamily="34" charset="0"/>
                <a:ea typeface="Calibri" pitchFamily="34" charset="-122"/>
                <a:cs typeface="Calibri" pitchFamily="34" charset="-120"/>
              </a:rPr>
              <a:t>Not when it is polished or production-ready</a:t>
            </a:r>
            <a:endParaRPr lang="en-US" sz="2000" dirty="0">
              <a:solidFill>
                <a:schemeClr val="tx2"/>
              </a:solidFill>
            </a:endParaRPr>
          </a:p>
        </p:txBody>
      </p:sp>
      <p:sp>
        <p:nvSpPr>
          <p:cNvPr id="7" name="Text 5">
            <a:extLst>
              <a:ext uri="{FF2B5EF4-FFF2-40B4-BE49-F238E27FC236}">
                <a16:creationId xmlns:a16="http://schemas.microsoft.com/office/drawing/2014/main" id="{FBE5E4B1-FAA0-5928-714B-1705FA7111B5}"/>
              </a:ext>
            </a:extLst>
          </p:cNvPr>
          <p:cNvSpPr/>
          <p:nvPr/>
        </p:nvSpPr>
        <p:spPr>
          <a:xfrm>
            <a:off x="2439194" y="4587340"/>
            <a:ext cx="7315200" cy="585216"/>
          </a:xfrm>
          <a:prstGeom prst="rect">
            <a:avLst/>
          </a:prstGeom>
          <a:noFill/>
          <a:ln/>
        </p:spPr>
        <p:txBody>
          <a:bodyPr wrap="square" lIns="0" tIns="0" rIns="0" bIns="0" rtlCol="0" anchor="ctr"/>
          <a:lstStyle/>
          <a:p>
            <a:pPr algn="ctr"/>
            <a:r>
              <a:rPr lang="en-US" sz="2000" b="1" dirty="0">
                <a:solidFill>
                  <a:schemeClr val="accent3"/>
                </a:solidFill>
                <a:latin typeface="Calibri" pitchFamily="34" charset="0"/>
                <a:ea typeface="Calibri" pitchFamily="34" charset="-122"/>
                <a:cs typeface="Calibri" pitchFamily="34" charset="-120"/>
              </a:rPr>
              <a:t>✗</a:t>
            </a:r>
            <a:r>
              <a:rPr lang="en-US" sz="2000" b="1" dirty="0">
                <a:solidFill>
                  <a:schemeClr val="tx2"/>
                </a:solidFill>
                <a:latin typeface="Calibri" pitchFamily="34" charset="0"/>
                <a:ea typeface="Calibri" pitchFamily="34" charset="-122"/>
                <a:cs typeface="Calibri" pitchFamily="34" charset="-120"/>
              </a:rPr>
              <a:t>  </a:t>
            </a:r>
            <a:r>
              <a:rPr lang="en-US" sz="2000" dirty="0">
                <a:solidFill>
                  <a:schemeClr val="tx2"/>
                </a:solidFill>
                <a:latin typeface="Calibri" pitchFamily="34" charset="0"/>
                <a:ea typeface="Calibri" pitchFamily="34" charset="-122"/>
                <a:cs typeface="Calibri" pitchFamily="34" charset="-120"/>
              </a:rPr>
              <a:t>Not when you have simply run out of time</a:t>
            </a:r>
            <a:endParaRPr lang="en-US" sz="2000" dirty="0">
              <a:solidFill>
                <a:schemeClr val="tx2"/>
              </a:solidFill>
            </a:endParaRPr>
          </a:p>
        </p:txBody>
      </p:sp>
      <p:sp>
        <p:nvSpPr>
          <p:cNvPr id="8" name="Text 6">
            <a:extLst>
              <a:ext uri="{FF2B5EF4-FFF2-40B4-BE49-F238E27FC236}">
                <a16:creationId xmlns:a16="http://schemas.microsoft.com/office/drawing/2014/main" id="{59FD605F-065C-2916-5A68-980BE452F732}"/>
              </a:ext>
            </a:extLst>
          </p:cNvPr>
          <p:cNvSpPr/>
          <p:nvPr/>
        </p:nvSpPr>
        <p:spPr>
          <a:xfrm>
            <a:off x="1829594" y="5404204"/>
            <a:ext cx="8534400" cy="390144"/>
          </a:xfrm>
          <a:prstGeom prst="rect">
            <a:avLst/>
          </a:prstGeom>
          <a:noFill/>
          <a:ln/>
        </p:spPr>
        <p:txBody>
          <a:bodyPr wrap="square" lIns="0" tIns="0" rIns="0" bIns="0" rtlCol="0" anchor="ctr"/>
          <a:lstStyle/>
          <a:p>
            <a:pPr algn="ctr"/>
            <a:r>
              <a:rPr lang="en-US" sz="1800" i="1" dirty="0">
                <a:solidFill>
                  <a:srgbClr val="888888"/>
                </a:solidFill>
                <a:latin typeface="Calibri" pitchFamily="34" charset="0"/>
                <a:ea typeface="Calibri" pitchFamily="34" charset="-122"/>
                <a:cs typeface="Calibri" pitchFamily="34" charset="-120"/>
              </a:rPr>
              <a:t>Go back to your success criterion. If it passes — you are done.</a:t>
            </a:r>
            <a:endParaRPr lang="en-US" sz="1800" dirty="0"/>
          </a:p>
        </p:txBody>
      </p:sp>
    </p:spTree>
    <p:extLst>
      <p:ext uri="{BB962C8B-B14F-4D97-AF65-F5344CB8AC3E}">
        <p14:creationId xmlns:p14="http://schemas.microsoft.com/office/powerpoint/2010/main" val="2235516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The Self-Review Prompt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Before you call it done — ask Claude to stress-test it. 30 seconds. Saves your demo.</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393511"/>
            <a:ext cx="11216640" cy="1731264"/>
          </a:xfrm>
          <a:prstGeom prst="roundRect">
            <a:avLst>
              <a:gd name="adj" fmla="val 7042"/>
            </a:avLst>
          </a:prstGeom>
          <a:solidFill>
            <a:srgbClr val="1E1E1E"/>
          </a:solidFill>
          <a:ln w="12700">
            <a:solidFill>
              <a:srgbClr val="1E1E1E"/>
            </a:solidFill>
            <a:prstDash val="solid"/>
          </a:ln>
          <a:effectLst>
            <a:outerShdw blurRad="63500" dist="25400" dir="2700000" algn="bl" rotWithShape="0">
              <a:srgbClr val="000000">
                <a:alpha val="11000"/>
              </a:srgbClr>
            </a:outerShdw>
          </a:effectLst>
        </p:spPr>
        <p:txBody>
          <a:bodyPr/>
          <a:lstStyle/>
          <a:p>
            <a:endParaRPr lang="en-US" sz="3200"/>
          </a:p>
        </p:txBody>
      </p:sp>
      <p:sp>
        <p:nvSpPr>
          <p:cNvPr id="5" name="Text 3"/>
          <p:cNvSpPr/>
          <p:nvPr/>
        </p:nvSpPr>
        <p:spPr>
          <a:xfrm>
            <a:off x="732314" y="1515431"/>
            <a:ext cx="10972800" cy="316992"/>
          </a:xfrm>
          <a:prstGeom prst="rect">
            <a:avLst/>
          </a:prstGeom>
          <a:noFill/>
          <a:ln/>
        </p:spPr>
        <p:txBody>
          <a:bodyPr wrap="square" lIns="0" tIns="0" rIns="0" bIns="0" rtlCol="0" anchor="ctr"/>
          <a:lstStyle/>
          <a:p>
            <a:r>
              <a:rPr lang="en-US" sz="1333" b="1" dirty="0">
                <a:solidFill>
                  <a:schemeClr val="bg1"/>
                </a:solidFill>
                <a:latin typeface="Open Sans" panose="020B0606030504020204" pitchFamily="34" charset="0"/>
                <a:ea typeface="Open Sans" panose="020B0606030504020204" pitchFamily="34" charset="0"/>
                <a:cs typeface="Open Sans" panose="020B0606030504020204" pitchFamily="34" charset="0"/>
              </a:rPr>
              <a:t>THE </a:t>
            </a:r>
            <a:r>
              <a:rPr lang="en-US" sz="1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PROMPT</a:t>
            </a:r>
            <a:endParaRPr lang="en-US" sz="14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 4"/>
          <p:cNvSpPr/>
          <p:nvPr/>
        </p:nvSpPr>
        <p:spPr>
          <a:xfrm>
            <a:off x="732314" y="1881191"/>
            <a:ext cx="10728960" cy="950976"/>
          </a:xfrm>
          <a:prstGeom prst="rect">
            <a:avLst/>
          </a:prstGeom>
          <a:noFill/>
          <a:ln/>
        </p:spPr>
        <p:txBody>
          <a:bodyPr wrap="square" lIns="0" tIns="0" rIns="0" bIns="0" rtlCol="0" anchor="ctr"/>
          <a:lstStyle/>
          <a:p>
            <a:r>
              <a:rPr lang="en-US" sz="2000" dirty="0">
                <a:solidFill>
                  <a:srgbClr val="00B050"/>
                </a:solidFill>
                <a:latin typeface="Courier New" pitchFamily="34" charset="0"/>
                <a:ea typeface="Courier New" pitchFamily="34" charset="-122"/>
                <a:cs typeface="Courier New" pitchFamily="34" charset="-120"/>
              </a:rPr>
              <a:t>"What are the top 3 things most likely to break or fail in a live demo of this PoC? Be specific."</a:t>
            </a:r>
            <a:endParaRPr lang="en-US" sz="2000" dirty="0">
              <a:solidFill>
                <a:srgbClr val="00B050"/>
              </a:solidFill>
            </a:endParaRPr>
          </a:p>
        </p:txBody>
      </p:sp>
      <p:sp>
        <p:nvSpPr>
          <p:cNvPr id="7" name="Text 5"/>
          <p:cNvSpPr/>
          <p:nvPr/>
        </p:nvSpPr>
        <p:spPr>
          <a:xfrm>
            <a:off x="488474" y="3352800"/>
            <a:ext cx="11216640" cy="365760"/>
          </a:xfrm>
          <a:prstGeom prst="rect">
            <a:avLst/>
          </a:prstGeom>
          <a:noFill/>
          <a:ln/>
        </p:spPr>
        <p:txBody>
          <a:bodyPr wrap="square" lIns="0" tIns="0" rIns="0" bIns="0" rtlCol="0" anchor="ctr"/>
          <a:lstStyle/>
          <a:p>
            <a:r>
              <a:rPr lang="en-US" sz="1800" b="1" dirty="0">
                <a:latin typeface="Open Sans" panose="020B0606030504020204" pitchFamily="34" charset="0"/>
                <a:ea typeface="Open Sans" panose="020B0606030504020204" pitchFamily="34" charset="0"/>
                <a:cs typeface="Open Sans" panose="020B0606030504020204" pitchFamily="34" charset="0"/>
              </a:rPr>
              <a:t>Classify each risk Claude identifies: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88474" y="3919729"/>
            <a:ext cx="3621024" cy="2316480"/>
          </a:xfrm>
          <a:prstGeom prst="roundRect">
            <a:avLst>
              <a:gd name="adj" fmla="val 4211"/>
            </a:avLst>
          </a:prstGeom>
          <a:solidFill>
            <a:srgbClr val="FFEBEE"/>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sz="3200"/>
          </a:p>
        </p:txBody>
      </p:sp>
      <p:sp>
        <p:nvSpPr>
          <p:cNvPr id="9" name="Text 7"/>
          <p:cNvSpPr/>
          <p:nvPr/>
        </p:nvSpPr>
        <p:spPr>
          <a:xfrm>
            <a:off x="659162" y="4066033"/>
            <a:ext cx="3279648" cy="414528"/>
          </a:xfrm>
          <a:prstGeom prst="rect">
            <a:avLst/>
          </a:prstGeom>
          <a:noFill/>
          <a:ln/>
        </p:spPr>
        <p:txBody>
          <a:bodyPr wrap="square" lIns="0" tIns="0" rIns="0" bIns="0" rtlCol="0" anchor="ctr"/>
          <a:lstStyle/>
          <a:p>
            <a:r>
              <a:rPr lang="en-US"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Blocking</a:t>
            </a:r>
            <a:endParaRPr lang="en-US" sz="18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4586953"/>
            <a:ext cx="3279648" cy="414528"/>
          </a:xfrm>
          <a:prstGeom prst="rect">
            <a:avLst/>
          </a:prstGeom>
          <a:noFill/>
          <a:ln/>
        </p:spPr>
        <p:txBody>
          <a:bodyPr wrap="square" lIns="0" tIns="0" rIns="0" bIns="0" rtlCol="0" anchor="ctr"/>
          <a:lstStyle/>
          <a:p>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Breaks the demo entirely</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659162" y="5130360"/>
            <a:ext cx="3279648" cy="877824"/>
          </a:xfrm>
          <a:prstGeom prst="rect">
            <a:avLst/>
          </a:prstGeom>
          <a:noFill/>
          <a:ln/>
        </p:spPr>
        <p:txBody>
          <a:bodyPr wrap="square" lIns="0" tIns="0" rIns="0" bIns="0" rtlCol="0" anchor="ctr"/>
          <a:lstStyle/>
          <a:p>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 Fix it now — before the commit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p:cNvSpPr/>
          <p:nvPr/>
        </p:nvSpPr>
        <p:spPr>
          <a:xfrm>
            <a:off x="4292378" y="3919729"/>
            <a:ext cx="3621024" cy="2316480"/>
          </a:xfrm>
          <a:prstGeom prst="roundRect">
            <a:avLst>
              <a:gd name="adj" fmla="val 4211"/>
            </a:avLst>
          </a:prstGeom>
          <a:solidFill>
            <a:schemeClr val="accent6">
              <a:lumMod val="20000"/>
              <a:lumOff val="80000"/>
            </a:schemeClr>
          </a:solidFill>
          <a:ln w="15240">
            <a:solidFill>
              <a:schemeClr val="accent1"/>
            </a:solidFill>
            <a:prstDash val="solid"/>
          </a:ln>
          <a:effectLst>
            <a:outerShdw blurRad="63500" dist="25400" dir="2700000" algn="bl" rotWithShape="0">
              <a:srgbClr val="000000">
                <a:alpha val="11000"/>
              </a:srgbClr>
            </a:outerShdw>
          </a:effectLst>
        </p:spPr>
        <p:txBody>
          <a:bodyPr/>
          <a:lstStyle/>
          <a:p>
            <a:endParaRPr lang="en-US" sz="3200"/>
          </a:p>
        </p:txBody>
      </p:sp>
      <p:sp>
        <p:nvSpPr>
          <p:cNvPr id="13" name="Text 11"/>
          <p:cNvSpPr/>
          <p:nvPr/>
        </p:nvSpPr>
        <p:spPr>
          <a:xfrm>
            <a:off x="4463066" y="4066033"/>
            <a:ext cx="3279648" cy="414528"/>
          </a:xfrm>
          <a:prstGeom prst="rect">
            <a:avLst/>
          </a:prstGeom>
          <a:noFill/>
          <a:ln/>
        </p:spPr>
        <p:txBody>
          <a:bodyPr wrap="square" lIns="0" tIns="0" rIns="0" bIns="0" rtlCol="0" anchor="ctr"/>
          <a:lstStyle/>
          <a:p>
            <a:r>
              <a:rPr lang="en-US" sz="1800" b="1" dirty="0">
                <a:solidFill>
                  <a:srgbClr val="E8972A"/>
                </a:solidFill>
                <a:latin typeface="Open Sans" panose="020B0606030504020204" pitchFamily="34" charset="0"/>
                <a:ea typeface="Open Sans" panose="020B0606030504020204" pitchFamily="34" charset="0"/>
                <a:cs typeface="Open Sans" panose="020B0606030504020204" pitchFamily="34" charset="0"/>
              </a:rPr>
              <a:t>Deferrable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63066" y="4586953"/>
            <a:ext cx="3279648" cy="414528"/>
          </a:xfrm>
          <a:prstGeom prst="rect">
            <a:avLst/>
          </a:prstGeom>
          <a:noFill/>
          <a:ln/>
        </p:spPr>
        <p:txBody>
          <a:bodyPr wrap="square" lIns="0" tIns="0" rIns="0" bIns="0" rtlCol="0" anchor="ctr"/>
          <a:lstStyle/>
          <a:p>
            <a:r>
              <a:rPr lang="en-US" sz="1600" i="1">
                <a:solidFill>
                  <a:srgbClr val="757575"/>
                </a:solidFill>
                <a:latin typeface="Open Sans" panose="020B0606030504020204" pitchFamily="34" charset="0"/>
                <a:ea typeface="Open Sans" panose="020B0606030504020204" pitchFamily="34" charset="0"/>
                <a:cs typeface="Open Sans" panose="020B0606030504020204" pitchFamily="34" charset="0"/>
              </a:rPr>
              <a:t>Edge case unlikely in a controlled demo</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463066" y="5130360"/>
            <a:ext cx="3279648" cy="877824"/>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 Note it in the README. Move 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8096282" y="3919729"/>
            <a:ext cx="3621024" cy="2316480"/>
          </a:xfrm>
          <a:prstGeom prst="roundRect">
            <a:avLst>
              <a:gd name="adj" fmla="val 4211"/>
            </a:avLst>
          </a:prstGeom>
          <a:solidFill>
            <a:srgbClr val="E8F5E9"/>
          </a:solidFill>
          <a:ln w="15240">
            <a:solidFill>
              <a:srgbClr val="00B050"/>
            </a:solidFill>
            <a:prstDash val="solid"/>
          </a:ln>
          <a:effectLst>
            <a:outerShdw blurRad="63500" dist="25400" dir="2700000" algn="bl" rotWithShape="0">
              <a:srgbClr val="000000">
                <a:alpha val="11000"/>
              </a:srgbClr>
            </a:outerShdw>
          </a:effectLst>
        </p:spPr>
        <p:txBody>
          <a:bodyPr/>
          <a:lstStyle/>
          <a:p>
            <a:endParaRPr lang="en-US" sz="3200"/>
          </a:p>
        </p:txBody>
      </p:sp>
      <p:sp>
        <p:nvSpPr>
          <p:cNvPr id="17" name="Text 15"/>
          <p:cNvSpPr/>
          <p:nvPr/>
        </p:nvSpPr>
        <p:spPr>
          <a:xfrm>
            <a:off x="8266970" y="4066033"/>
            <a:ext cx="3279648" cy="414528"/>
          </a:xfrm>
          <a:prstGeom prst="rect">
            <a:avLst/>
          </a:prstGeom>
          <a:noFill/>
          <a:ln/>
        </p:spPr>
        <p:txBody>
          <a:bodyPr wrap="square" lIns="0" tIns="0" rIns="0" bIns="0" rtlCol="0" anchor="ctr"/>
          <a:lstStyle/>
          <a:p>
            <a:r>
              <a:rPr lang="en-US" sz="18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Known Limitation</a:t>
            </a:r>
            <a:endParaRPr lang="en-US" sz="1800" dirty="0">
              <a:solidFill>
                <a:srgbClr val="00B05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8266970" y="4586953"/>
            <a:ext cx="3279648" cy="414528"/>
          </a:xfrm>
          <a:prstGeom prst="rect">
            <a:avLst/>
          </a:prstGeom>
          <a:noFill/>
          <a:ln/>
        </p:spPr>
        <p:txBody>
          <a:bodyPr wrap="square" lIns="0" tIns="0" rIns="0" bIns="0" rtlCol="0" anchor="ctr"/>
          <a:lstStyle/>
          <a:p>
            <a:r>
              <a:rPr lang="en-US" sz="1600" i="1">
                <a:solidFill>
                  <a:srgbClr val="757575"/>
                </a:solidFill>
                <a:latin typeface="Open Sans" panose="020B0606030504020204" pitchFamily="34" charset="0"/>
                <a:ea typeface="Open Sans" panose="020B0606030504020204" pitchFamily="34" charset="0"/>
                <a:cs typeface="Open Sans" panose="020B0606030504020204" pitchFamily="34" charset="0"/>
              </a:rPr>
              <a:t>Out of scope by design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266970" y="5130360"/>
            <a:ext cx="3279648" cy="877824"/>
          </a:xfrm>
          <a:prstGeom prst="rect">
            <a:avLst/>
          </a:prstGeom>
          <a:noFill/>
          <a:ln/>
        </p:spPr>
        <p:txBody>
          <a:bodyPr wrap="square" lIns="0" tIns="0" rIns="0" bIns="0" rtlCol="0" anchor="ctr"/>
          <a:lstStyle/>
          <a:p>
            <a:r>
              <a:rPr lang="en-US" sz="1600">
                <a:solidFill>
                  <a:srgbClr val="2D2D2D"/>
                </a:solidFill>
                <a:latin typeface="Open Sans" panose="020B0606030504020204" pitchFamily="34" charset="0"/>
                <a:ea typeface="Open Sans" panose="020B0606030504020204" pitchFamily="34" charset="0"/>
                <a:cs typeface="Open Sans" panose="020B0606030504020204" pitchFamily="34" charset="0"/>
              </a:rPr>
              <a:t>→ Confirm it is in your 'out of scope' list.</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88474" y="256723"/>
            <a:ext cx="1121664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Saving Your Work — Git Commit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1027435"/>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Commit before Module 3. Claude generates the message. You review and push.</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507050" y="1842645"/>
            <a:ext cx="617536" cy="617536"/>
          </a:xfrm>
          <a:prstGeom prst="ellipse">
            <a:avLst/>
          </a:prstGeom>
          <a:solidFill>
            <a:srgbClr val="00B050"/>
          </a:solidFill>
          <a:ln w="12700">
            <a:noFill/>
            <a:prstDash val="solid"/>
          </a:ln>
        </p:spPr>
        <p:txBody>
          <a:bodyPr/>
          <a:lstStyle/>
          <a:p>
            <a:endParaRPr lang="en-US" sz="3200"/>
          </a:p>
        </p:txBody>
      </p:sp>
      <p:sp>
        <p:nvSpPr>
          <p:cNvPr id="5" name="Text 3"/>
          <p:cNvSpPr/>
          <p:nvPr/>
        </p:nvSpPr>
        <p:spPr>
          <a:xfrm>
            <a:off x="507050" y="1842645"/>
            <a:ext cx="617536" cy="617536"/>
          </a:xfrm>
          <a:prstGeom prst="rect">
            <a:avLst/>
          </a:prstGeom>
          <a:noFill/>
          <a:ln/>
        </p:spPr>
        <p:txBody>
          <a:bodyPr wrap="square" lIns="0" tIns="0" rIns="0" bIns="0" rtlCol="0" anchor="ctr"/>
          <a:lstStyle/>
          <a:p>
            <a:pPr algn="ctr"/>
            <a:r>
              <a:rPr lang="en-US" sz="1733" b="1">
                <a:solidFill>
                  <a:srgbClr val="FFFFFF"/>
                </a:solidFill>
                <a:latin typeface="Arial" pitchFamily="34" charset="0"/>
                <a:ea typeface="Arial" pitchFamily="34" charset="-122"/>
                <a:cs typeface="Arial" pitchFamily="34" charset="-120"/>
              </a:rPr>
              <a:t>1</a:t>
            </a:r>
            <a:endParaRPr lang="en-US" sz="1733"/>
          </a:p>
        </p:txBody>
      </p:sp>
      <p:sp>
        <p:nvSpPr>
          <p:cNvPr id="6" name="Text 4"/>
          <p:cNvSpPr/>
          <p:nvPr/>
        </p:nvSpPr>
        <p:spPr>
          <a:xfrm>
            <a:off x="1341914" y="1552165"/>
            <a:ext cx="10607040" cy="365760"/>
          </a:xfrm>
          <a:prstGeom prst="rect">
            <a:avLst/>
          </a:prstGeom>
          <a:noFill/>
          <a:ln/>
        </p:spPr>
        <p:txBody>
          <a:bodyPr wrap="square" lIns="0" tIns="0" rIns="0" bIns="0" rtlCol="0" anchor="ctr"/>
          <a:lstStyle/>
          <a:p>
            <a:r>
              <a:rPr lang="en-US" sz="1800" b="1" dirty="0">
                <a:solidFill>
                  <a:srgbClr val="2D2D2D"/>
                </a:solidFill>
                <a:latin typeface="Calibri" pitchFamily="34" charset="0"/>
                <a:ea typeface="Calibri" pitchFamily="34" charset="-122"/>
                <a:cs typeface="Calibri" pitchFamily="34" charset="-120"/>
              </a:rPr>
              <a:t>Generate the commit message</a:t>
            </a:r>
            <a:endParaRPr lang="en-US" sz="1800" dirty="0"/>
          </a:p>
        </p:txBody>
      </p:sp>
      <p:sp>
        <p:nvSpPr>
          <p:cNvPr id="7" name="Shape 5"/>
          <p:cNvSpPr/>
          <p:nvPr/>
        </p:nvSpPr>
        <p:spPr>
          <a:xfrm>
            <a:off x="1341914" y="1991077"/>
            <a:ext cx="7559040" cy="633984"/>
          </a:xfrm>
          <a:prstGeom prst="roundRect">
            <a:avLst>
              <a:gd name="adj" fmla="val 11538"/>
            </a:avLst>
          </a:prstGeom>
          <a:solidFill>
            <a:srgbClr val="1E1E1E"/>
          </a:solidFill>
          <a:ln w="12700">
            <a:solidFill>
              <a:srgbClr val="1E1E1E"/>
            </a:solidFill>
            <a:prstDash val="solid"/>
          </a:ln>
        </p:spPr>
        <p:txBody>
          <a:bodyPr/>
          <a:lstStyle/>
          <a:p>
            <a:endParaRPr lang="en-US" sz="3200"/>
          </a:p>
        </p:txBody>
      </p:sp>
      <p:sp>
        <p:nvSpPr>
          <p:cNvPr id="8" name="Text 6"/>
          <p:cNvSpPr/>
          <p:nvPr/>
        </p:nvSpPr>
        <p:spPr>
          <a:xfrm>
            <a:off x="1524794" y="1991077"/>
            <a:ext cx="7315200" cy="633984"/>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a:t>
            </a:r>
            <a:r>
              <a:rPr lang="en-US" sz="1333" dirty="0" err="1">
                <a:solidFill>
                  <a:srgbClr val="00B050"/>
                </a:solidFill>
                <a:latin typeface="Courier New" pitchFamily="34" charset="0"/>
                <a:ea typeface="Courier New" pitchFamily="34" charset="-122"/>
                <a:cs typeface="Courier New" pitchFamily="34" charset="-120"/>
              </a:rPr>
              <a:t>claude</a:t>
            </a:r>
            <a:r>
              <a:rPr lang="en-US" sz="1333" dirty="0">
                <a:solidFill>
                  <a:srgbClr val="00B050"/>
                </a:solidFill>
                <a:latin typeface="Courier New" pitchFamily="34" charset="0"/>
                <a:ea typeface="Courier New" pitchFamily="34" charset="-122"/>
                <a:cs typeface="Courier New" pitchFamily="34" charset="-120"/>
              </a:rPr>
              <a:t> "Write a Git commit message for this session. Include what it does, what it does not do, and any known limitations."</a:t>
            </a:r>
            <a:endParaRPr lang="en-US" sz="1333" dirty="0">
              <a:solidFill>
                <a:srgbClr val="00B050"/>
              </a:solidFill>
            </a:endParaRPr>
          </a:p>
        </p:txBody>
      </p:sp>
      <p:sp>
        <p:nvSpPr>
          <p:cNvPr id="9" name="Text 7"/>
          <p:cNvSpPr/>
          <p:nvPr/>
        </p:nvSpPr>
        <p:spPr>
          <a:xfrm>
            <a:off x="9144794" y="2064229"/>
            <a:ext cx="2804160" cy="487680"/>
          </a:xfrm>
          <a:prstGeom prst="rect">
            <a:avLst/>
          </a:prstGeom>
          <a:noFill/>
          <a:ln/>
        </p:spPr>
        <p:txBody>
          <a:bodyPr wrap="square" lIns="0" tIns="0" rIns="0" bIns="0" rtlCol="0" anchor="ctr"/>
          <a:lstStyle/>
          <a:p>
            <a:r>
              <a:rPr lang="en-US" sz="14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Review it. Edit if vague.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Shape 8"/>
          <p:cNvSpPr/>
          <p:nvPr/>
        </p:nvSpPr>
        <p:spPr>
          <a:xfrm>
            <a:off x="507050" y="3292573"/>
            <a:ext cx="617536" cy="617536"/>
          </a:xfrm>
          <a:prstGeom prst="ellipse">
            <a:avLst/>
          </a:prstGeom>
          <a:solidFill>
            <a:srgbClr val="00B050"/>
          </a:solidFill>
          <a:ln w="12700">
            <a:noFill/>
            <a:prstDash val="solid"/>
          </a:ln>
        </p:spPr>
        <p:txBody>
          <a:bodyPr/>
          <a:lstStyle/>
          <a:p>
            <a:endParaRPr lang="en-US" sz="3200"/>
          </a:p>
        </p:txBody>
      </p:sp>
      <p:sp>
        <p:nvSpPr>
          <p:cNvPr id="11" name="Text 9"/>
          <p:cNvSpPr/>
          <p:nvPr/>
        </p:nvSpPr>
        <p:spPr>
          <a:xfrm>
            <a:off x="507050" y="3292573"/>
            <a:ext cx="617536" cy="617536"/>
          </a:xfrm>
          <a:prstGeom prst="rect">
            <a:avLst/>
          </a:prstGeom>
          <a:noFill/>
          <a:ln/>
        </p:spPr>
        <p:txBody>
          <a:bodyPr wrap="square" lIns="0" tIns="0" rIns="0" bIns="0" rtlCol="0" anchor="ctr"/>
          <a:lstStyle/>
          <a:p>
            <a:pPr algn="ctr"/>
            <a:r>
              <a:rPr lang="en-US" sz="1733" b="1">
                <a:solidFill>
                  <a:srgbClr val="FFFFFF"/>
                </a:solidFill>
                <a:latin typeface="Arial" pitchFamily="34" charset="0"/>
                <a:ea typeface="Arial" pitchFamily="34" charset="-122"/>
                <a:cs typeface="Arial" pitchFamily="34" charset="-120"/>
              </a:rPr>
              <a:t>2</a:t>
            </a:r>
            <a:endParaRPr lang="en-US" sz="1733"/>
          </a:p>
        </p:txBody>
      </p:sp>
      <p:sp>
        <p:nvSpPr>
          <p:cNvPr id="12" name="Text 10"/>
          <p:cNvSpPr/>
          <p:nvPr/>
        </p:nvSpPr>
        <p:spPr>
          <a:xfrm>
            <a:off x="1341914" y="2984725"/>
            <a:ext cx="10607040" cy="365760"/>
          </a:xfrm>
          <a:prstGeom prst="rect">
            <a:avLst/>
          </a:prstGeom>
          <a:noFill/>
          <a:ln/>
        </p:spPr>
        <p:txBody>
          <a:bodyPr wrap="square" lIns="0" tIns="0" rIns="0" bIns="0" rtlCol="0" anchor="ctr"/>
          <a:lstStyle/>
          <a:p>
            <a:r>
              <a:rPr lang="en-US" sz="1800" b="1">
                <a:solidFill>
                  <a:srgbClr val="2D2D2D"/>
                </a:solidFill>
                <a:latin typeface="Calibri" pitchFamily="34" charset="0"/>
                <a:ea typeface="Calibri" pitchFamily="34" charset="-122"/>
                <a:cs typeface="Calibri" pitchFamily="34" charset="-120"/>
              </a:rPr>
              <a:t>Stage your files</a:t>
            </a:r>
            <a:endParaRPr lang="en-US" sz="1800"/>
          </a:p>
        </p:txBody>
      </p:sp>
      <p:sp>
        <p:nvSpPr>
          <p:cNvPr id="13" name="Shape 11"/>
          <p:cNvSpPr/>
          <p:nvPr/>
        </p:nvSpPr>
        <p:spPr>
          <a:xfrm>
            <a:off x="1341914" y="3423637"/>
            <a:ext cx="7559040" cy="633984"/>
          </a:xfrm>
          <a:prstGeom prst="roundRect">
            <a:avLst>
              <a:gd name="adj" fmla="val 11538"/>
            </a:avLst>
          </a:prstGeom>
          <a:solidFill>
            <a:srgbClr val="1E1E1E"/>
          </a:solidFill>
          <a:ln w="12700">
            <a:solidFill>
              <a:srgbClr val="1E1E1E"/>
            </a:solidFill>
            <a:prstDash val="solid"/>
          </a:ln>
        </p:spPr>
        <p:txBody>
          <a:bodyPr/>
          <a:lstStyle/>
          <a:p>
            <a:endParaRPr lang="en-US" sz="3200"/>
          </a:p>
        </p:txBody>
      </p:sp>
      <p:sp>
        <p:nvSpPr>
          <p:cNvPr id="14" name="Text 12"/>
          <p:cNvSpPr/>
          <p:nvPr/>
        </p:nvSpPr>
        <p:spPr>
          <a:xfrm>
            <a:off x="1524794" y="3423637"/>
            <a:ext cx="7315200" cy="633984"/>
          </a:xfrm>
          <a:prstGeom prst="rect">
            <a:avLst/>
          </a:prstGeom>
          <a:noFill/>
          <a:ln/>
        </p:spPr>
        <p:txBody>
          <a:bodyPr wrap="square" lIns="0" tIns="0" rIns="0" bIns="0" rtlCol="0" anchor="ctr"/>
          <a:lstStyle/>
          <a:p>
            <a:r>
              <a:rPr lang="en-US" sz="1333">
                <a:solidFill>
                  <a:srgbClr val="00B050"/>
                </a:solidFill>
                <a:latin typeface="Courier New" pitchFamily="34" charset="0"/>
                <a:ea typeface="Courier New" pitchFamily="34" charset="-122"/>
                <a:cs typeface="Courier New" pitchFamily="34" charset="-120"/>
              </a:rPr>
              <a:t>$ git add .</a:t>
            </a:r>
            <a:endParaRPr lang="en-US" sz="1333">
              <a:solidFill>
                <a:srgbClr val="00B050"/>
              </a:solidFill>
            </a:endParaRPr>
          </a:p>
        </p:txBody>
      </p:sp>
      <p:sp>
        <p:nvSpPr>
          <p:cNvPr id="15" name="Text 13"/>
          <p:cNvSpPr/>
          <p:nvPr/>
        </p:nvSpPr>
        <p:spPr>
          <a:xfrm>
            <a:off x="9144794" y="3496789"/>
            <a:ext cx="2804160" cy="487680"/>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Check git status first. Only stage files you intended to change.</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p:cNvSpPr/>
          <p:nvPr/>
        </p:nvSpPr>
        <p:spPr>
          <a:xfrm>
            <a:off x="507050" y="4744341"/>
            <a:ext cx="617536" cy="617536"/>
          </a:xfrm>
          <a:prstGeom prst="ellipse">
            <a:avLst/>
          </a:prstGeom>
          <a:solidFill>
            <a:srgbClr val="00B050"/>
          </a:solidFill>
          <a:ln w="12700">
            <a:noFill/>
            <a:prstDash val="solid"/>
          </a:ln>
        </p:spPr>
        <p:txBody>
          <a:bodyPr/>
          <a:lstStyle/>
          <a:p>
            <a:endParaRPr lang="en-US" sz="3200"/>
          </a:p>
        </p:txBody>
      </p:sp>
      <p:sp>
        <p:nvSpPr>
          <p:cNvPr id="17" name="Text 15"/>
          <p:cNvSpPr/>
          <p:nvPr/>
        </p:nvSpPr>
        <p:spPr>
          <a:xfrm>
            <a:off x="507050" y="4744341"/>
            <a:ext cx="617536" cy="617536"/>
          </a:xfrm>
          <a:prstGeom prst="rect">
            <a:avLst/>
          </a:prstGeom>
          <a:noFill/>
          <a:ln>
            <a:noFill/>
          </a:ln>
        </p:spPr>
        <p:txBody>
          <a:bodyPr wrap="square" lIns="0" tIns="0" rIns="0" bIns="0" rtlCol="0" anchor="ctr"/>
          <a:lstStyle/>
          <a:p>
            <a:pPr algn="ctr"/>
            <a:r>
              <a:rPr lang="en-US" sz="1733" b="1">
                <a:solidFill>
                  <a:srgbClr val="FFFFFF"/>
                </a:solidFill>
                <a:latin typeface="Arial" pitchFamily="34" charset="0"/>
                <a:ea typeface="Arial" pitchFamily="34" charset="-122"/>
                <a:cs typeface="Arial" pitchFamily="34" charset="-120"/>
              </a:rPr>
              <a:t>3</a:t>
            </a:r>
            <a:endParaRPr lang="en-US" sz="1733"/>
          </a:p>
        </p:txBody>
      </p:sp>
      <p:sp>
        <p:nvSpPr>
          <p:cNvPr id="18" name="Text 16"/>
          <p:cNvSpPr/>
          <p:nvPr/>
        </p:nvSpPr>
        <p:spPr>
          <a:xfrm>
            <a:off x="1341914" y="4498373"/>
            <a:ext cx="10607040" cy="365760"/>
          </a:xfrm>
          <a:prstGeom prst="rect">
            <a:avLst/>
          </a:prstGeom>
          <a:noFill/>
          <a:ln/>
        </p:spPr>
        <p:txBody>
          <a:bodyPr wrap="square" lIns="0" tIns="0" rIns="0" bIns="0" rtlCol="0" anchor="ctr"/>
          <a:lstStyle/>
          <a:p>
            <a:r>
              <a:rPr lang="en-US" sz="1800" b="1">
                <a:solidFill>
                  <a:srgbClr val="2D2D2D"/>
                </a:solidFill>
                <a:latin typeface="Calibri" pitchFamily="34" charset="0"/>
                <a:ea typeface="Calibri" pitchFamily="34" charset="-122"/>
                <a:cs typeface="Calibri" pitchFamily="34" charset="-120"/>
              </a:rPr>
              <a:t>Commit with the generated message</a:t>
            </a:r>
            <a:endParaRPr lang="en-US" sz="1800"/>
          </a:p>
        </p:txBody>
      </p:sp>
      <p:sp>
        <p:nvSpPr>
          <p:cNvPr id="19" name="Shape 17"/>
          <p:cNvSpPr/>
          <p:nvPr/>
        </p:nvSpPr>
        <p:spPr>
          <a:xfrm>
            <a:off x="1341914" y="4937285"/>
            <a:ext cx="7559040" cy="633984"/>
          </a:xfrm>
          <a:prstGeom prst="roundRect">
            <a:avLst>
              <a:gd name="adj" fmla="val 11538"/>
            </a:avLst>
          </a:prstGeom>
          <a:solidFill>
            <a:srgbClr val="1E1E1E"/>
          </a:solidFill>
          <a:ln w="12700">
            <a:solidFill>
              <a:srgbClr val="1E1E1E"/>
            </a:solidFill>
            <a:prstDash val="solid"/>
          </a:ln>
        </p:spPr>
        <p:txBody>
          <a:bodyPr/>
          <a:lstStyle/>
          <a:p>
            <a:endParaRPr lang="en-US" sz="3200"/>
          </a:p>
        </p:txBody>
      </p:sp>
      <p:sp>
        <p:nvSpPr>
          <p:cNvPr id="20" name="Text 18"/>
          <p:cNvSpPr/>
          <p:nvPr/>
        </p:nvSpPr>
        <p:spPr>
          <a:xfrm>
            <a:off x="1524794" y="4937285"/>
            <a:ext cx="7315200" cy="633984"/>
          </a:xfrm>
          <a:prstGeom prst="rect">
            <a:avLst/>
          </a:prstGeom>
          <a:noFill/>
          <a:ln/>
        </p:spPr>
        <p:txBody>
          <a:bodyPr wrap="square" lIns="0" tIns="0" rIns="0" bIns="0" rtlCol="0" anchor="ctr"/>
          <a:lstStyle/>
          <a:p>
            <a:r>
              <a:rPr lang="en-US" sz="1333">
                <a:solidFill>
                  <a:srgbClr val="00B050"/>
                </a:solidFill>
                <a:latin typeface="Courier New" pitchFamily="34" charset="0"/>
                <a:ea typeface="Courier New" pitchFamily="34" charset="-122"/>
                <a:cs typeface="Courier New" pitchFamily="34" charset="-120"/>
              </a:rPr>
              <a:t>$ git commit -m "[CLAUDE-GENERATED MESSAGE]"</a:t>
            </a:r>
            <a:endParaRPr lang="en-US" sz="1333">
              <a:solidFill>
                <a:srgbClr val="00B050"/>
              </a:solidFill>
            </a:endParaRPr>
          </a:p>
        </p:txBody>
      </p:sp>
      <p:sp>
        <p:nvSpPr>
          <p:cNvPr id="21" name="Text 19"/>
          <p:cNvSpPr/>
          <p:nvPr/>
        </p:nvSpPr>
        <p:spPr>
          <a:xfrm>
            <a:off x="9144794" y="5010437"/>
            <a:ext cx="2804160" cy="487680"/>
          </a:xfrm>
          <a:prstGeom prst="rect">
            <a:avLst/>
          </a:prstGeom>
          <a:noFill/>
          <a:ln/>
        </p:spPr>
        <p:txBody>
          <a:bodyPr wrap="square" lIns="0" tIns="0" rIns="0" bIns="0" rtlCol="0" anchor="ctr"/>
          <a:lstStyle/>
          <a:p>
            <a:r>
              <a:rPr lang="en-US" sz="1400" i="1">
                <a:solidFill>
                  <a:srgbClr val="757575"/>
                </a:solidFill>
                <a:latin typeface="Open Sans" panose="020B0606030504020204" pitchFamily="34" charset="0"/>
                <a:ea typeface="Open Sans" panose="020B0606030504020204" pitchFamily="34" charset="0"/>
                <a:cs typeface="Open Sans" panose="020B0606030504020204" pitchFamily="34" charset="0"/>
              </a:rPr>
              <a:t>This PoC runs through Modules 3 to 5. A clear message matters.</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4" name="Text 2"/>
          <p:cNvSpPr/>
          <p:nvPr/>
        </p:nvSpPr>
        <p:spPr>
          <a:xfrm>
            <a:off x="488474" y="511091"/>
            <a:ext cx="10588637"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Live Build Part 2 — Complete, Document, Commit</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1444477"/>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Finish the PoC. Make it explainable. Make it committable.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488474" y="1523503"/>
            <a:ext cx="438912" cy="381808"/>
          </a:xfrm>
          <a:prstGeom prst="rect">
            <a:avLst/>
          </a:prstGeom>
          <a:noFill/>
          <a:ln/>
        </p:spPr>
        <p:txBody>
          <a:bodyPr wrap="square" lIns="0" tIns="0" rIns="0" bIns="0" rtlCol="0" anchor="ctr"/>
          <a:lstStyle/>
          <a:p>
            <a:pPr algn="ctr"/>
            <a:endParaRPr lang="en-US" sz="1733" dirty="0"/>
          </a:p>
        </p:txBody>
      </p:sp>
      <p:sp>
        <p:nvSpPr>
          <p:cNvPr id="8" name="Text 6"/>
          <p:cNvSpPr/>
          <p:nvPr/>
        </p:nvSpPr>
        <p:spPr>
          <a:xfrm>
            <a:off x="1073690" y="1864879"/>
            <a:ext cx="1060704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Complete the working core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1073690" y="2191790"/>
            <a:ext cx="1060704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If Part 1 left anything unfinished — finish it. One function, one clean output.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073690" y="2733280"/>
            <a:ext cx="548640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Run the self-review prompt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073690" y="3034958"/>
            <a:ext cx="548640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Fix anything blocking. Note what is deferrable in the README.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706394" y="2678335"/>
            <a:ext cx="4998720" cy="689377"/>
          </a:xfrm>
          <a:prstGeom prst="roundRect">
            <a:avLst>
              <a:gd name="adj" fmla="val 9231"/>
            </a:avLst>
          </a:prstGeom>
          <a:solidFill>
            <a:srgbClr val="1E1E1E"/>
          </a:solidFill>
          <a:ln w="12700">
            <a:solidFill>
              <a:srgbClr val="1E1E1E"/>
            </a:solidFill>
            <a:prstDash val="solid"/>
          </a:ln>
        </p:spPr>
        <p:txBody>
          <a:bodyPr/>
          <a:lstStyle/>
          <a:p>
            <a:endParaRPr lang="en-US" sz="3200"/>
          </a:p>
        </p:txBody>
      </p:sp>
      <p:sp>
        <p:nvSpPr>
          <p:cNvPr id="15" name="Text 13"/>
          <p:cNvSpPr/>
          <p:nvPr/>
        </p:nvSpPr>
        <p:spPr>
          <a:xfrm>
            <a:off x="6889274" y="2678335"/>
            <a:ext cx="4754880" cy="689377"/>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a:t>
            </a:r>
            <a:r>
              <a:rPr lang="en-US" sz="1333" dirty="0" err="1">
                <a:solidFill>
                  <a:srgbClr val="00B050"/>
                </a:solidFill>
                <a:latin typeface="Courier New" pitchFamily="34" charset="0"/>
                <a:ea typeface="Courier New" pitchFamily="34" charset="-122"/>
                <a:cs typeface="Courier New" pitchFamily="34" charset="-120"/>
              </a:rPr>
              <a:t>claude</a:t>
            </a:r>
            <a:r>
              <a:rPr lang="en-US" sz="1333" dirty="0">
                <a:solidFill>
                  <a:srgbClr val="00B050"/>
                </a:solidFill>
                <a:latin typeface="Courier New" pitchFamily="34" charset="0"/>
                <a:ea typeface="Courier New" pitchFamily="34" charset="-122"/>
                <a:cs typeface="Courier New" pitchFamily="34" charset="-120"/>
              </a:rPr>
              <a:t> "Top 3 things most likely to fail in a live demo?"</a:t>
            </a:r>
            <a:endParaRPr lang="en-US" sz="1333" dirty="0">
              <a:solidFill>
                <a:srgbClr val="00B050"/>
              </a:solidFill>
            </a:endParaRPr>
          </a:p>
        </p:txBody>
      </p:sp>
      <p:sp>
        <p:nvSpPr>
          <p:cNvPr id="18" name="Text 16"/>
          <p:cNvSpPr/>
          <p:nvPr/>
        </p:nvSpPr>
        <p:spPr>
          <a:xfrm>
            <a:off x="1073690" y="3543268"/>
            <a:ext cx="548640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Generate and review your README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73690" y="3939935"/>
            <a:ext cx="548640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Run the README prompt. Fix any inaccuracies before saving the file.</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6687987" y="3557772"/>
            <a:ext cx="4998720" cy="689377"/>
          </a:xfrm>
          <a:prstGeom prst="roundRect">
            <a:avLst>
              <a:gd name="adj" fmla="val 9231"/>
            </a:avLst>
          </a:prstGeom>
          <a:solidFill>
            <a:srgbClr val="1E1E1E"/>
          </a:solidFill>
          <a:ln w="12700">
            <a:solidFill>
              <a:srgbClr val="1E1E1E"/>
            </a:solidFill>
            <a:prstDash val="solid"/>
          </a:ln>
        </p:spPr>
        <p:txBody>
          <a:bodyPr/>
          <a:lstStyle/>
          <a:p>
            <a:endParaRPr lang="en-US" sz="3200"/>
          </a:p>
        </p:txBody>
      </p:sp>
      <p:sp>
        <p:nvSpPr>
          <p:cNvPr id="21" name="Text 19"/>
          <p:cNvSpPr/>
          <p:nvPr/>
        </p:nvSpPr>
        <p:spPr>
          <a:xfrm>
            <a:off x="6870867" y="3557772"/>
            <a:ext cx="4754880" cy="689377"/>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a:t>
            </a:r>
            <a:r>
              <a:rPr lang="en-US" sz="1333" dirty="0" err="1">
                <a:solidFill>
                  <a:srgbClr val="00B050"/>
                </a:solidFill>
                <a:latin typeface="Courier New" pitchFamily="34" charset="0"/>
                <a:ea typeface="Courier New" pitchFamily="34" charset="-122"/>
                <a:cs typeface="Courier New" pitchFamily="34" charset="-120"/>
              </a:rPr>
              <a:t>claude</a:t>
            </a:r>
            <a:r>
              <a:rPr lang="en-US" sz="1333" dirty="0">
                <a:solidFill>
                  <a:srgbClr val="00B050"/>
                </a:solidFill>
                <a:latin typeface="Courier New" pitchFamily="34" charset="0"/>
                <a:ea typeface="Courier New" pitchFamily="34" charset="-122"/>
                <a:cs typeface="Courier New" pitchFamily="34" charset="-120"/>
              </a:rPr>
              <a:t> "Write a </a:t>
            </a:r>
            <a:r>
              <a:rPr lang="en-US" sz="1333" dirty="0" err="1">
                <a:solidFill>
                  <a:srgbClr val="00B050"/>
                </a:solidFill>
                <a:latin typeface="Courier New" pitchFamily="34" charset="0"/>
                <a:ea typeface="Courier New" pitchFamily="34" charset="-122"/>
                <a:cs typeface="Courier New" pitchFamily="34" charset="-120"/>
              </a:rPr>
              <a:t>README.md</a:t>
            </a:r>
            <a:r>
              <a:rPr lang="en-US" sz="1333" dirty="0">
                <a:solidFill>
                  <a:srgbClr val="00B050"/>
                </a:solidFill>
                <a:latin typeface="Courier New" pitchFamily="34" charset="0"/>
                <a:ea typeface="Courier New" pitchFamily="34" charset="-122"/>
                <a:cs typeface="Courier New" pitchFamily="34" charset="-120"/>
              </a:rPr>
              <a:t> for this project..."</a:t>
            </a:r>
            <a:endParaRPr lang="en-US" sz="1333" dirty="0">
              <a:solidFill>
                <a:srgbClr val="00B050"/>
              </a:solidFill>
            </a:endParaRPr>
          </a:p>
        </p:txBody>
      </p:sp>
      <p:sp>
        <p:nvSpPr>
          <p:cNvPr id="24" name="Text 22"/>
          <p:cNvSpPr/>
          <p:nvPr/>
        </p:nvSpPr>
        <p:spPr>
          <a:xfrm>
            <a:off x="1073690" y="4468854"/>
            <a:ext cx="1060704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Add basic error handling</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073690" y="4795764"/>
            <a:ext cx="1060704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Apply the three error handling prompts to your most likely failure points.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073690" y="5326930"/>
            <a:ext cx="5486400" cy="318173"/>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Commit to Git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9" name="Text 27"/>
          <p:cNvSpPr/>
          <p:nvPr/>
        </p:nvSpPr>
        <p:spPr>
          <a:xfrm>
            <a:off x="1073690" y="5713731"/>
            <a:ext cx="5486400" cy="318173"/>
          </a:xfrm>
          <a:prstGeom prst="rect">
            <a:avLst/>
          </a:prstGeom>
          <a:noFill/>
          <a:ln/>
        </p:spPr>
        <p:txBody>
          <a:bodyPr wrap="square" lIns="0" tIns="0" rIns="0" bIns="0" rtlCol="0" anchor="ctr"/>
          <a:lstStyle/>
          <a:p>
            <a:r>
              <a:rPr lang="en-US" sz="1400" dirty="0">
                <a:solidFill>
                  <a:srgbClr val="757575"/>
                </a:solidFill>
                <a:latin typeface="Open Sans" panose="020B0606030504020204" pitchFamily="34" charset="0"/>
                <a:ea typeface="Open Sans" panose="020B0606030504020204" pitchFamily="34" charset="0"/>
                <a:cs typeface="Open Sans" panose="020B0606030504020204" pitchFamily="34" charset="0"/>
              </a:rPr>
              <a:t>Generate commit message · Stage files · Commit · You are done for Module 2.</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30" name="Shape 28"/>
          <p:cNvSpPr/>
          <p:nvPr/>
        </p:nvSpPr>
        <p:spPr>
          <a:xfrm>
            <a:off x="6706394" y="5350485"/>
            <a:ext cx="4998720" cy="689377"/>
          </a:xfrm>
          <a:prstGeom prst="roundRect">
            <a:avLst>
              <a:gd name="adj" fmla="val 9231"/>
            </a:avLst>
          </a:prstGeom>
          <a:solidFill>
            <a:srgbClr val="1E1E1E"/>
          </a:solidFill>
          <a:ln w="12700">
            <a:solidFill>
              <a:srgbClr val="1E1E1E"/>
            </a:solidFill>
            <a:prstDash val="solid"/>
          </a:ln>
        </p:spPr>
        <p:txBody>
          <a:bodyPr/>
          <a:lstStyle/>
          <a:p>
            <a:endParaRPr lang="en-US" sz="3200"/>
          </a:p>
        </p:txBody>
      </p:sp>
      <p:sp>
        <p:nvSpPr>
          <p:cNvPr id="31" name="Text 29"/>
          <p:cNvSpPr/>
          <p:nvPr/>
        </p:nvSpPr>
        <p:spPr>
          <a:xfrm>
            <a:off x="6889274" y="5350485"/>
            <a:ext cx="4754880" cy="689377"/>
          </a:xfrm>
          <a:prstGeom prst="rect">
            <a:avLst/>
          </a:prstGeom>
          <a:noFill/>
          <a:ln/>
        </p:spPr>
        <p:txBody>
          <a:bodyPr wrap="square" lIns="0" tIns="0" rIns="0" bIns="0" rtlCol="0" anchor="ctr"/>
          <a:lstStyle/>
          <a:p>
            <a:r>
              <a:rPr lang="en-US" sz="1333" dirty="0">
                <a:solidFill>
                  <a:srgbClr val="00B050"/>
                </a:solidFill>
                <a:latin typeface="Courier New" pitchFamily="34" charset="0"/>
                <a:ea typeface="Courier New" pitchFamily="34" charset="-122"/>
                <a:cs typeface="Courier New" pitchFamily="34" charset="-120"/>
              </a:rPr>
              <a:t>$ git add . &amp;&amp; git commit -m "[message]"</a:t>
            </a:r>
            <a:endParaRPr lang="en-US" sz="1333" dirty="0">
              <a:solidFill>
                <a:srgbClr val="00B050"/>
              </a:solidFill>
            </a:endParaRPr>
          </a:p>
        </p:txBody>
      </p:sp>
      <p:sp>
        <p:nvSpPr>
          <p:cNvPr id="32" name="Shape 30"/>
          <p:cNvSpPr/>
          <p:nvPr/>
        </p:nvSpPr>
        <p:spPr>
          <a:xfrm>
            <a:off x="488474" y="6244792"/>
            <a:ext cx="11216640" cy="268224"/>
          </a:xfrm>
          <a:prstGeom prst="roundRect">
            <a:avLst>
              <a:gd name="adj" fmla="val 22727"/>
            </a:avLst>
          </a:prstGeom>
          <a:solidFill>
            <a:srgbClr val="E8F5E9"/>
          </a:solidFill>
          <a:ln w="10160">
            <a:noFill/>
            <a:prstDash val="solid"/>
          </a:ln>
        </p:spPr>
        <p:txBody>
          <a:bodyPr/>
          <a:lstStyle/>
          <a:p>
            <a:endParaRPr lang="en-US" sz="3200"/>
          </a:p>
        </p:txBody>
      </p:sp>
      <p:sp>
        <p:nvSpPr>
          <p:cNvPr id="33" name="Text 31"/>
          <p:cNvSpPr/>
          <p:nvPr/>
        </p:nvSpPr>
        <p:spPr>
          <a:xfrm>
            <a:off x="671354" y="6244792"/>
            <a:ext cx="10972800" cy="268224"/>
          </a:xfrm>
          <a:prstGeom prst="rect">
            <a:avLst/>
          </a:prstGeom>
          <a:noFill/>
          <a:ln/>
        </p:spPr>
        <p:txBody>
          <a:bodyPr wrap="square" lIns="0" tIns="0" rIns="0" bIns="0" rtlCol="0" anchor="ctr"/>
          <a:lstStyle/>
          <a:p>
            <a:r>
              <a:rPr lang="en-US" sz="1333" b="1" dirty="0">
                <a:solidFill>
                  <a:srgbClr val="00B050"/>
                </a:solidFill>
                <a:latin typeface="Calibri" pitchFamily="34" charset="0"/>
                <a:ea typeface="Calibri" pitchFamily="34" charset="-122"/>
                <a:cs typeface="Calibri" pitchFamily="34" charset="-120"/>
              </a:rPr>
              <a:t>✓  SUCCESS: PoC runs · Self-review done · README saved · Error handling added · Committed to Git</a:t>
            </a:r>
            <a:endParaRPr lang="en-US" sz="1333" dirty="0">
              <a:solidFill>
                <a:srgbClr val="00B050"/>
              </a:solidFill>
            </a:endParaRPr>
          </a:p>
        </p:txBody>
      </p:sp>
      <p:sp>
        <p:nvSpPr>
          <p:cNvPr id="41" name="Shape 0">
            <a:extLst>
              <a:ext uri="{FF2B5EF4-FFF2-40B4-BE49-F238E27FC236}">
                <a16:creationId xmlns:a16="http://schemas.microsoft.com/office/drawing/2014/main" id="{DC5F54EB-B14B-CAC9-C4A4-73FA77A86659}"/>
              </a:ext>
            </a:extLst>
          </p:cNvPr>
          <p:cNvSpPr/>
          <p:nvPr/>
        </p:nvSpPr>
        <p:spPr>
          <a:xfrm>
            <a:off x="9746940" y="1128488"/>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2" name="Text 1">
            <a:extLst>
              <a:ext uri="{FF2B5EF4-FFF2-40B4-BE49-F238E27FC236}">
                <a16:creationId xmlns:a16="http://schemas.microsoft.com/office/drawing/2014/main" id="{6FAF151A-B2C3-B4FB-949D-0C9E8AD2EF0C}"/>
              </a:ext>
            </a:extLst>
          </p:cNvPr>
          <p:cNvSpPr/>
          <p:nvPr/>
        </p:nvSpPr>
        <p:spPr>
          <a:xfrm>
            <a:off x="9479502" y="1128488"/>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HANDS-ON LAB</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3" name="Shape 4">
            <a:extLst>
              <a:ext uri="{FF2B5EF4-FFF2-40B4-BE49-F238E27FC236}">
                <a16:creationId xmlns:a16="http://schemas.microsoft.com/office/drawing/2014/main" id="{E46AD535-70E1-0DAF-3A12-524715D9B48C}"/>
              </a:ext>
            </a:extLst>
          </p:cNvPr>
          <p:cNvSpPr/>
          <p:nvPr/>
        </p:nvSpPr>
        <p:spPr>
          <a:xfrm>
            <a:off x="506881" y="1959159"/>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4" name="Text 5">
            <a:extLst>
              <a:ext uri="{FF2B5EF4-FFF2-40B4-BE49-F238E27FC236}">
                <a16:creationId xmlns:a16="http://schemas.microsoft.com/office/drawing/2014/main" id="{3612D1BF-AC61-14E4-9B07-F65AC8261C1F}"/>
              </a:ext>
            </a:extLst>
          </p:cNvPr>
          <p:cNvSpPr/>
          <p:nvPr/>
        </p:nvSpPr>
        <p:spPr>
          <a:xfrm>
            <a:off x="506881" y="1959159"/>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5" name="Shape 8">
            <a:extLst>
              <a:ext uri="{FF2B5EF4-FFF2-40B4-BE49-F238E27FC236}">
                <a16:creationId xmlns:a16="http://schemas.microsoft.com/office/drawing/2014/main" id="{DC1F7523-FEAB-4C10-B1EA-D4F852A4C89A}"/>
              </a:ext>
            </a:extLst>
          </p:cNvPr>
          <p:cNvSpPr/>
          <p:nvPr/>
        </p:nvSpPr>
        <p:spPr>
          <a:xfrm>
            <a:off x="506881" y="2806840"/>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6" name="Text 9">
            <a:extLst>
              <a:ext uri="{FF2B5EF4-FFF2-40B4-BE49-F238E27FC236}">
                <a16:creationId xmlns:a16="http://schemas.microsoft.com/office/drawing/2014/main" id="{5391180D-B86C-337E-EFA0-1B67B0893399}"/>
              </a:ext>
            </a:extLst>
          </p:cNvPr>
          <p:cNvSpPr/>
          <p:nvPr/>
        </p:nvSpPr>
        <p:spPr>
          <a:xfrm>
            <a:off x="506881" y="2806840"/>
            <a:ext cx="438912" cy="438912"/>
          </a:xfrm>
          <a:prstGeom prst="rect">
            <a:avLst/>
          </a:prstGeom>
          <a:noFill/>
          <a:ln>
            <a:noFill/>
          </a:ln>
        </p:spPr>
        <p:txBody>
          <a:bodyPr wrap="square" lIns="0" tIns="0" rIns="0" bIns="0" rtlCol="0" anchor="ctr"/>
          <a:lstStyle/>
          <a:p>
            <a:pPr algn="ctr"/>
            <a:r>
              <a:rPr lang="en-US" sz="1733" b="1" dirty="0">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dirty="0">
              <a:latin typeface="Open Sans" panose="020B0606030504020204" pitchFamily="34" charset="0"/>
              <a:ea typeface="Open Sans" panose="020B0606030504020204" pitchFamily="34" charset="0"/>
              <a:cs typeface="Open Sans" panose="020B0606030504020204" pitchFamily="34" charset="0"/>
            </a:endParaRPr>
          </a:p>
        </p:txBody>
      </p:sp>
      <p:sp>
        <p:nvSpPr>
          <p:cNvPr id="47" name="Shape 12">
            <a:extLst>
              <a:ext uri="{FF2B5EF4-FFF2-40B4-BE49-F238E27FC236}">
                <a16:creationId xmlns:a16="http://schemas.microsoft.com/office/drawing/2014/main" id="{32D865F3-3BB2-E3A9-91DC-777BC9D5227B}"/>
              </a:ext>
            </a:extLst>
          </p:cNvPr>
          <p:cNvSpPr/>
          <p:nvPr/>
        </p:nvSpPr>
        <p:spPr>
          <a:xfrm>
            <a:off x="506881" y="3671377"/>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8" name="Text 13">
            <a:extLst>
              <a:ext uri="{FF2B5EF4-FFF2-40B4-BE49-F238E27FC236}">
                <a16:creationId xmlns:a16="http://schemas.microsoft.com/office/drawing/2014/main" id="{C618204F-B734-133E-B768-01FEC3C2024D}"/>
              </a:ext>
            </a:extLst>
          </p:cNvPr>
          <p:cNvSpPr/>
          <p:nvPr/>
        </p:nvSpPr>
        <p:spPr>
          <a:xfrm>
            <a:off x="506881" y="3671377"/>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49" name="Shape 18">
            <a:extLst>
              <a:ext uri="{FF2B5EF4-FFF2-40B4-BE49-F238E27FC236}">
                <a16:creationId xmlns:a16="http://schemas.microsoft.com/office/drawing/2014/main" id="{4A3E279F-CDCF-9700-5C4A-BA9D014B86DA}"/>
              </a:ext>
            </a:extLst>
          </p:cNvPr>
          <p:cNvSpPr/>
          <p:nvPr/>
        </p:nvSpPr>
        <p:spPr>
          <a:xfrm>
            <a:off x="506881" y="4553612"/>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0" name="Text 19">
            <a:extLst>
              <a:ext uri="{FF2B5EF4-FFF2-40B4-BE49-F238E27FC236}">
                <a16:creationId xmlns:a16="http://schemas.microsoft.com/office/drawing/2014/main" id="{3B988878-A984-0AB7-115D-FB514F3534F8}"/>
              </a:ext>
            </a:extLst>
          </p:cNvPr>
          <p:cNvSpPr/>
          <p:nvPr/>
        </p:nvSpPr>
        <p:spPr>
          <a:xfrm>
            <a:off x="506881" y="4553612"/>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4</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51" name="Shape 22">
            <a:extLst>
              <a:ext uri="{FF2B5EF4-FFF2-40B4-BE49-F238E27FC236}">
                <a16:creationId xmlns:a16="http://schemas.microsoft.com/office/drawing/2014/main" id="{95EA8165-1366-CC0E-7953-BEA2C18AE6EC}"/>
              </a:ext>
            </a:extLst>
          </p:cNvPr>
          <p:cNvSpPr/>
          <p:nvPr/>
        </p:nvSpPr>
        <p:spPr>
          <a:xfrm>
            <a:off x="506881" y="5356444"/>
            <a:ext cx="438912" cy="438912"/>
          </a:xfrm>
          <a:prstGeom prst="ellipse">
            <a:avLst/>
          </a:prstGeom>
          <a:solidFill>
            <a:schemeClr val="accent1"/>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52" name="Text 23">
            <a:extLst>
              <a:ext uri="{FF2B5EF4-FFF2-40B4-BE49-F238E27FC236}">
                <a16:creationId xmlns:a16="http://schemas.microsoft.com/office/drawing/2014/main" id="{CBB74206-19BE-E380-32F5-E5BDC08DE4F3}"/>
              </a:ext>
            </a:extLst>
          </p:cNvPr>
          <p:cNvSpPr/>
          <p:nvPr/>
        </p:nvSpPr>
        <p:spPr>
          <a:xfrm>
            <a:off x="506881" y="5356444"/>
            <a:ext cx="438912" cy="438912"/>
          </a:xfrm>
          <a:prstGeom prst="rect">
            <a:avLst/>
          </a:prstGeom>
          <a:noFill/>
          <a:ln>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5</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0" name="Shape 0">
            <a:extLst>
              <a:ext uri="{FF2B5EF4-FFF2-40B4-BE49-F238E27FC236}">
                <a16:creationId xmlns:a16="http://schemas.microsoft.com/office/drawing/2014/main" id="{BB5077B4-0799-82DD-74A3-BC0A63FC9D97}"/>
              </a:ext>
            </a:extLst>
          </p:cNvPr>
          <p:cNvSpPr/>
          <p:nvPr/>
        </p:nvSpPr>
        <p:spPr>
          <a:xfrm>
            <a:off x="9754989" y="223480"/>
            <a:ext cx="1842565" cy="463296"/>
          </a:xfrm>
          <a:prstGeom prst="roundRect">
            <a:avLst>
              <a:gd name="adj" fmla="val 13158"/>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9487551" y="223480"/>
            <a:ext cx="2377440" cy="463296"/>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SHARE-OUT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2"/>
          <p:cNvSpPr/>
          <p:nvPr/>
        </p:nvSpPr>
        <p:spPr>
          <a:xfrm>
            <a:off x="488474" y="268224"/>
            <a:ext cx="9022080" cy="633984"/>
          </a:xfrm>
          <a:prstGeom prst="rect">
            <a:avLst/>
          </a:prstGeom>
          <a:noFill/>
          <a:ln/>
        </p:spPr>
        <p:txBody>
          <a:bodyPr wrap="square" lIns="0" tIns="0" rIns="0" bIns="0" rtlCol="0" anchor="ctr"/>
          <a:lstStyle/>
          <a:p>
            <a:r>
              <a:rPr lang="en-US" sz="3600" b="1" dirty="0">
                <a:solidFill>
                  <a:srgbClr val="2D2D2D"/>
                </a:solidFill>
                <a:latin typeface="Open Sans" panose="020B0606030504020204" pitchFamily="34" charset="0"/>
                <a:ea typeface="Open Sans" panose="020B0606030504020204" pitchFamily="34" charset="0"/>
                <a:cs typeface="Open Sans" panose="020B0606030504020204" pitchFamily="34" charset="0"/>
              </a:rPr>
              <a:t>60-Second Demo</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3"/>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One or two volunteers. 60 seconds each. Show it running — not on slides.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4"/>
          <p:cNvSpPr/>
          <p:nvPr/>
        </p:nvSpPr>
        <p:spPr>
          <a:xfrm>
            <a:off x="488474" y="1341120"/>
            <a:ext cx="11216640" cy="487680"/>
          </a:xfrm>
          <a:prstGeom prst="roundRect">
            <a:avLst>
              <a:gd name="adj" fmla="val 15000"/>
            </a:avLst>
          </a:prstGeom>
          <a:solidFill>
            <a:schemeClr val="accent5">
              <a:lumMod val="20000"/>
              <a:lumOff val="80000"/>
            </a:schemeClr>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71354" y="1341120"/>
            <a:ext cx="10972800" cy="487680"/>
          </a:xfrm>
          <a:prstGeom prst="rect">
            <a:avLst/>
          </a:prstGeom>
          <a:noFill/>
          <a:ln/>
        </p:spPr>
        <p:txBody>
          <a:bodyPr wrap="square" lIns="0" tIns="0" rIns="0" bIns="0" rtlCol="0" anchor="ctr"/>
          <a:lstStyle/>
          <a:p>
            <a:r>
              <a:rPr lang="en-US" sz="1600" b="1" dirty="0">
                <a:latin typeface="Open Sans" panose="020B0606030504020204" pitchFamily="34" charset="0"/>
                <a:ea typeface="Open Sans" panose="020B0606030504020204" pitchFamily="34" charset="0"/>
                <a:cs typeface="Open Sans" panose="020B0606030504020204" pitchFamily="34" charset="0"/>
              </a:rPr>
              <a:t>COVER THREE THINGS IN 60 SECONDS</a:t>
            </a:r>
          </a:p>
        </p:txBody>
      </p:sp>
      <p:sp>
        <p:nvSpPr>
          <p:cNvPr id="8" name="Shape 6"/>
          <p:cNvSpPr/>
          <p:nvPr/>
        </p:nvSpPr>
        <p:spPr>
          <a:xfrm>
            <a:off x="488474" y="2011680"/>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71354" y="2328672"/>
            <a:ext cx="438912" cy="43891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71354" y="2328672"/>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1</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280954" y="2133600"/>
            <a:ext cx="9997440" cy="438912"/>
          </a:xfrm>
          <a:prstGeom prst="rect">
            <a:avLst/>
          </a:prstGeom>
          <a:noFill/>
          <a:ln/>
        </p:spPr>
        <p:txBody>
          <a:bodyPr wrap="square" lIns="0" tIns="0" rIns="0" bIns="0" rtlCol="0" anchor="ctr"/>
          <a:lstStyle/>
          <a:p>
            <a:r>
              <a:rPr lang="en-US" sz="2000" b="1" dirty="0">
                <a:latin typeface="Open Sans" panose="020B0606030504020204" pitchFamily="34" charset="0"/>
                <a:ea typeface="Open Sans" panose="020B0606030504020204" pitchFamily="34" charset="0"/>
                <a:cs typeface="Open Sans" panose="020B0606030504020204" pitchFamily="34" charset="0"/>
              </a:rPr>
              <a:t>What question does your PoC answer?</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1280954" y="2621280"/>
            <a:ext cx="99974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One sentence. The problem it was built to solve.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488474" y="3328416"/>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671354" y="3645408"/>
            <a:ext cx="438912" cy="43891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671354" y="3645408"/>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2</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280954" y="3450336"/>
            <a:ext cx="9997440" cy="438912"/>
          </a:xfrm>
          <a:prstGeom prst="rect">
            <a:avLst/>
          </a:prstGeom>
          <a:noFill/>
          <a:ln/>
        </p:spPr>
        <p:txBody>
          <a:bodyPr wrap="square" lIns="0" tIns="0" rIns="0" bIns="0" rtlCol="0" anchor="ctr"/>
          <a:lstStyle/>
          <a:p>
            <a:r>
              <a:rPr lang="en-US" sz="2000" b="1">
                <a:latin typeface="Open Sans" panose="020B0606030504020204" pitchFamily="34" charset="0"/>
                <a:ea typeface="Open Sans" panose="020B0606030504020204" pitchFamily="34" charset="0"/>
                <a:cs typeface="Open Sans" panose="020B0606030504020204" pitchFamily="34" charset="0"/>
              </a:rPr>
              <a:t>Show it running.</a:t>
            </a:r>
            <a:endParaRPr lang="en-US" sz="2000">
              <a:latin typeface="Open Sans" panose="020B0606030504020204" pitchFamily="34" charset="0"/>
              <a:ea typeface="Open Sans" panose="020B0606030504020204" pitchFamily="34" charset="0"/>
              <a:cs typeface="Open Sans" panose="020B0606030504020204" pitchFamily="34" charset="0"/>
            </a:endParaRPr>
          </a:p>
        </p:txBody>
      </p:sp>
      <p:sp>
        <p:nvSpPr>
          <p:cNvPr id="17" name="Text 15"/>
          <p:cNvSpPr/>
          <p:nvPr/>
        </p:nvSpPr>
        <p:spPr>
          <a:xfrm>
            <a:off x="1280954" y="3938016"/>
            <a:ext cx="9997440" cy="341376"/>
          </a:xfrm>
          <a:prstGeom prst="rect">
            <a:avLst/>
          </a:prstGeom>
          <a:noFill/>
          <a:ln/>
        </p:spPr>
        <p:txBody>
          <a:bodyPr wrap="square" lIns="0" tIns="0" rIns="0" bIns="0" rtlCol="0" anchor="ctr"/>
          <a:lstStyle/>
          <a:p>
            <a:r>
              <a:rPr lang="en-US" sz="1600">
                <a:solidFill>
                  <a:srgbClr val="757575"/>
                </a:solidFill>
                <a:latin typeface="Open Sans" panose="020B0606030504020204" pitchFamily="34" charset="0"/>
                <a:ea typeface="Open Sans" panose="020B0606030504020204" pitchFamily="34" charset="0"/>
                <a:cs typeface="Open Sans" panose="020B0606030504020204" pitchFamily="34" charset="0"/>
              </a:rPr>
              <a:t>Execute it live. Real output. Not a screenshot or a description.</a:t>
            </a:r>
            <a:endParaRPr lang="en-US" sz="1600">
              <a:latin typeface="Open Sans" panose="020B0606030504020204" pitchFamily="34" charset="0"/>
              <a:ea typeface="Open Sans" panose="020B0606030504020204" pitchFamily="34" charset="0"/>
              <a:cs typeface="Open Sans" panose="020B0606030504020204" pitchFamily="34" charset="0"/>
            </a:endParaRPr>
          </a:p>
        </p:txBody>
      </p:sp>
      <p:sp>
        <p:nvSpPr>
          <p:cNvPr id="18" name="Shape 16"/>
          <p:cNvSpPr/>
          <p:nvPr/>
        </p:nvSpPr>
        <p:spPr>
          <a:xfrm>
            <a:off x="488474" y="4645152"/>
            <a:ext cx="11216640" cy="1121664"/>
          </a:xfrm>
          <a:prstGeom prst="roundRect">
            <a:avLst>
              <a:gd name="adj" fmla="val 7609"/>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9" name="Shape 17"/>
          <p:cNvSpPr/>
          <p:nvPr/>
        </p:nvSpPr>
        <p:spPr>
          <a:xfrm>
            <a:off x="671354" y="4962144"/>
            <a:ext cx="438912" cy="438912"/>
          </a:xfrm>
          <a:prstGeom prst="ellipse">
            <a:avLst/>
          </a:prstGeom>
          <a:solidFill>
            <a:schemeClr val="accent2"/>
          </a:solidFill>
          <a:ln w="1270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671354" y="4962144"/>
            <a:ext cx="438912" cy="438912"/>
          </a:xfrm>
          <a:prstGeom prst="rect">
            <a:avLst/>
          </a:prstGeom>
          <a:noFill/>
          <a:ln/>
        </p:spPr>
        <p:txBody>
          <a:bodyPr wrap="square" lIns="0" tIns="0" rIns="0" bIns="0" rtlCol="0" anchor="ctr"/>
          <a:lstStyle/>
          <a:p>
            <a:pPr algn="ctr"/>
            <a:r>
              <a:rPr lang="en-US" sz="1733" b="1">
                <a:solidFill>
                  <a:srgbClr val="FFFFFF"/>
                </a:solidFill>
                <a:latin typeface="Open Sans" panose="020B0606030504020204" pitchFamily="34" charset="0"/>
                <a:ea typeface="Open Sans" panose="020B0606030504020204" pitchFamily="34" charset="0"/>
                <a:cs typeface="Open Sans" panose="020B0606030504020204" pitchFamily="34" charset="0"/>
              </a:rPr>
              <a:t>3</a:t>
            </a:r>
            <a:endParaRPr lang="en-US" sz="1733">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1280954" y="4767072"/>
            <a:ext cx="9997440" cy="438912"/>
          </a:xfrm>
          <a:prstGeom prst="rect">
            <a:avLst/>
          </a:prstGeom>
          <a:noFill/>
          <a:ln/>
        </p:spPr>
        <p:txBody>
          <a:bodyPr wrap="square" lIns="0" tIns="0" rIns="0" bIns="0" rtlCol="0" anchor="ctr"/>
          <a:lstStyle/>
          <a:p>
            <a:r>
              <a:rPr lang="en-US" sz="2000" b="1">
                <a:latin typeface="Open Sans" panose="020B0606030504020204" pitchFamily="34" charset="0"/>
                <a:ea typeface="Open Sans" panose="020B0606030504020204" pitchFamily="34" charset="0"/>
                <a:cs typeface="Open Sans" panose="020B0606030504020204" pitchFamily="34" charset="0"/>
              </a:rPr>
              <a:t>What would you change with another 30 minutes?</a:t>
            </a:r>
            <a:endParaRPr lang="en-US" sz="2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280954" y="5254752"/>
            <a:ext cx="99974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The most important gap you are aware of.</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488474" y="5961888"/>
            <a:ext cx="11216640" cy="304800"/>
          </a:xfrm>
          <a:prstGeom prst="rect">
            <a:avLst/>
          </a:prstGeom>
          <a:noFill/>
          <a:ln/>
        </p:spPr>
        <p:txBody>
          <a:bodyPr wrap="square" lIns="0" tIns="0" rIns="0" bIns="0" rtlCol="0" anchor="ctr"/>
          <a:lstStyle/>
          <a:p>
            <a:pPr algn="ct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Everyone else: note one thing you would borrow from what you just saw.</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 You Now Have</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
          <p:cNvSpPr/>
          <p:nvPr/>
        </p:nvSpPr>
        <p:spPr>
          <a:xfrm>
            <a:off x="488474" y="1158240"/>
            <a:ext cx="3621024" cy="512064"/>
          </a:xfrm>
          <a:prstGeom prst="roundRect">
            <a:avLst>
              <a:gd name="adj" fmla="val 14286"/>
            </a:avLst>
          </a:prstGeom>
          <a:solidFill>
            <a:schemeClr val="accent2"/>
          </a:solidFill>
          <a:ln w="12700">
            <a:noFill/>
            <a:prstDash val="solid"/>
          </a:ln>
        </p:spPr>
        <p:txBody>
          <a:bodyPr/>
          <a:lstStyle/>
          <a:p>
            <a:endParaRPr lang="en-US" sz="3200"/>
          </a:p>
        </p:txBody>
      </p:sp>
      <p:sp>
        <p:nvSpPr>
          <p:cNvPr id="4" name="Text 2"/>
          <p:cNvSpPr/>
          <p:nvPr/>
        </p:nvSpPr>
        <p:spPr>
          <a:xfrm>
            <a:off x="488474" y="1158240"/>
            <a:ext cx="3621024" cy="512064"/>
          </a:xfrm>
          <a:prstGeom prst="rect">
            <a:avLst/>
          </a:prstGeom>
          <a:noFill/>
          <a:ln/>
        </p:spPr>
        <p:txBody>
          <a:bodyPr wrap="square" lIns="0" tIns="0" rIns="0" bIns="0" rtlCol="0" anchor="ctr"/>
          <a:lstStyle/>
          <a:p>
            <a:pPr algn="ctr"/>
            <a:r>
              <a:rPr lang="en-US" sz="14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SCOPED &amp; BRIEFED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3"/>
          <p:cNvSpPr/>
          <p:nvPr/>
        </p:nvSpPr>
        <p:spPr>
          <a:xfrm>
            <a:off x="488474" y="1670305"/>
            <a:ext cx="3621024" cy="3538671"/>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6" name="Text 4"/>
          <p:cNvSpPr/>
          <p:nvPr/>
        </p:nvSpPr>
        <p:spPr>
          <a:xfrm>
            <a:off x="634778" y="1828800"/>
            <a:ext cx="3328416" cy="950976"/>
          </a:xfrm>
          <a:prstGeom prst="rect">
            <a:avLst/>
          </a:prstGeom>
          <a:noFill/>
          <a:ln/>
        </p:spPr>
        <p:txBody>
          <a:bodyPr wrap="square" lIns="0" tIns="0" rIns="0" bIns="0" rtlCol="0" anchor="t"/>
          <a:lstStyle/>
          <a:p>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PoC brief: one journey, one integration, one testable outcome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7" name="Text 5"/>
          <p:cNvSpPr/>
          <p:nvPr/>
        </p:nvSpPr>
        <p:spPr>
          <a:xfrm>
            <a:off x="634778" y="2950464"/>
            <a:ext cx="3328416" cy="950976"/>
          </a:xfrm>
          <a:prstGeom prst="rect">
            <a:avLst/>
          </a:prstGeom>
          <a:noFill/>
          <a:ln/>
        </p:spPr>
        <p:txBody>
          <a:bodyPr wrap="square" lIns="0" tIns="0" rIns="0" bIns="0" rtlCol="0" anchor="t"/>
          <a:lstStyle/>
          <a:p>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Scope test passed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634778" y="4072128"/>
            <a:ext cx="3328416" cy="950976"/>
          </a:xfrm>
          <a:prstGeom prst="rect">
            <a:avLst/>
          </a:prstGeom>
          <a:noFill/>
          <a:ln/>
        </p:spPr>
        <p:txBody>
          <a:bodyPr wrap="square" lIns="0" tIns="0" rIns="0" bIns="0" rtlCol="0" anchor="t"/>
          <a:lstStyle/>
          <a:p>
            <a:r>
              <a:rPr lang="en-US" sz="16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US" sz="160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CLAUDE.md</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 created and verified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4292378" y="1158240"/>
            <a:ext cx="3621024" cy="512064"/>
          </a:xfrm>
          <a:prstGeom prst="roundRect">
            <a:avLst>
              <a:gd name="adj" fmla="val 14286"/>
            </a:avLst>
          </a:prstGeom>
          <a:solidFill>
            <a:schemeClr val="accent1"/>
          </a:solidFill>
          <a:ln w="12700">
            <a:noFill/>
            <a:prstDash val="solid"/>
          </a:ln>
        </p:spPr>
        <p:txBody>
          <a:bodyPr/>
          <a:lstStyle/>
          <a:p>
            <a:endParaRPr lang="en-US" sz="3200"/>
          </a:p>
        </p:txBody>
      </p:sp>
      <p:sp>
        <p:nvSpPr>
          <p:cNvPr id="10" name="Text 8"/>
          <p:cNvSpPr/>
          <p:nvPr/>
        </p:nvSpPr>
        <p:spPr>
          <a:xfrm>
            <a:off x="4292378" y="1158240"/>
            <a:ext cx="3621024" cy="512064"/>
          </a:xfrm>
          <a:prstGeom prst="rect">
            <a:avLst/>
          </a:prstGeom>
          <a:noFill/>
          <a:ln/>
        </p:spPr>
        <p:txBody>
          <a:bodyPr wrap="square" lIns="0" tIns="0" rIns="0" bIns="0" rtlCol="0" anchor="ctr"/>
          <a:lstStyle/>
          <a:p>
            <a:pPr algn="ctr"/>
            <a:r>
              <a:rPr lang="en-US" sz="14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BUILT &amp; RUNNING</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292378" y="1670305"/>
            <a:ext cx="3621024" cy="3538671"/>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12" name="Text 10"/>
          <p:cNvSpPr/>
          <p:nvPr/>
        </p:nvSpPr>
        <p:spPr>
          <a:xfrm>
            <a:off x="4438682" y="1828800"/>
            <a:ext cx="3328416" cy="950976"/>
          </a:xfrm>
          <a:prstGeom prst="rect">
            <a:avLst/>
          </a:prstGeom>
          <a:noFill/>
          <a:ln/>
        </p:spPr>
        <p:txBody>
          <a:bodyPr wrap="square" lIns="0" tIns="0" rIns="0" bIns="0" rtlCol="0" anchor="t"/>
          <a:lstStyle/>
          <a:p>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1600" b="1" dirty="0">
                <a:solidFill>
                  <a:srgbClr val="E8972A"/>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Working PoC — core logic runs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4438682" y="2950464"/>
            <a:ext cx="3328416" cy="950976"/>
          </a:xfrm>
          <a:prstGeom prst="rect">
            <a:avLst/>
          </a:prstGeom>
          <a:noFill/>
          <a:ln/>
        </p:spPr>
        <p:txBody>
          <a:bodyPr wrap="square" lIns="0" tIns="0" rIns="0" bIns="0" rtlCol="0" anchor="t"/>
          <a:lstStyle/>
          <a:p>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Build loop applied: prompt → run → fix → repeat</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4438682" y="4072128"/>
            <a:ext cx="3328416" cy="950976"/>
          </a:xfrm>
          <a:prstGeom prst="rect">
            <a:avLst/>
          </a:prstGeom>
          <a:noFill/>
          <a:ln/>
        </p:spPr>
        <p:txBody>
          <a:bodyPr wrap="square" lIns="0" tIns="0" rIns="0" bIns="0" rtlCol="0" anchor="t"/>
          <a:lstStyle/>
          <a:p>
            <a:r>
              <a:rPr lang="en-US" sz="16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Self-review prompt run — blocking risks addressed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Shape 13"/>
          <p:cNvSpPr/>
          <p:nvPr/>
        </p:nvSpPr>
        <p:spPr>
          <a:xfrm>
            <a:off x="8096282" y="1158240"/>
            <a:ext cx="3621024" cy="512064"/>
          </a:xfrm>
          <a:prstGeom prst="roundRect">
            <a:avLst>
              <a:gd name="adj" fmla="val 14286"/>
            </a:avLst>
          </a:prstGeom>
          <a:solidFill>
            <a:srgbClr val="00B050"/>
          </a:solidFill>
          <a:ln w="12700">
            <a:noFill/>
            <a:prstDash val="solid"/>
          </a:ln>
        </p:spPr>
        <p:txBody>
          <a:bodyPr/>
          <a:lstStyle/>
          <a:p>
            <a:endParaRPr lang="en-US" sz="3200"/>
          </a:p>
        </p:txBody>
      </p:sp>
      <p:sp>
        <p:nvSpPr>
          <p:cNvPr id="16" name="Text 14"/>
          <p:cNvSpPr/>
          <p:nvPr/>
        </p:nvSpPr>
        <p:spPr>
          <a:xfrm>
            <a:off x="8096282" y="1158240"/>
            <a:ext cx="3621024" cy="512064"/>
          </a:xfrm>
          <a:prstGeom prst="rect">
            <a:avLst/>
          </a:prstGeom>
          <a:noFill/>
          <a:ln/>
        </p:spPr>
        <p:txBody>
          <a:bodyPr wrap="square" lIns="0" tIns="0" rIns="0" bIns="0" rtlCol="0" anchor="ctr"/>
          <a:lstStyle/>
          <a:p>
            <a:pPr algn="ctr"/>
            <a:r>
              <a:rPr lang="en-US" sz="1400" b="1">
                <a:solidFill>
                  <a:srgbClr val="FFFFFF"/>
                </a:solidFill>
                <a:latin typeface="Open Sans" panose="020B0606030504020204" pitchFamily="34" charset="0"/>
                <a:ea typeface="Open Sans" panose="020B0606030504020204" pitchFamily="34" charset="0"/>
                <a:cs typeface="Open Sans" panose="020B0606030504020204" pitchFamily="34" charset="0"/>
              </a:rPr>
              <a:t>DOCUMENTED &amp; COMMITTED</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8096282" y="1670305"/>
            <a:ext cx="3621024" cy="3538671"/>
          </a:xfrm>
          <a:prstGeom prst="roundRect">
            <a:avLst>
              <a:gd name="adj" fmla="val 2694"/>
            </a:avLst>
          </a:prstGeom>
          <a:solidFill>
            <a:srgbClr val="F5F5F5"/>
          </a:solidFill>
          <a:ln w="6350">
            <a:solidFill>
              <a:srgbClr val="DEDEDE"/>
            </a:solidFill>
            <a:prstDash val="solid"/>
          </a:ln>
          <a:effectLst>
            <a:outerShdw blurRad="63500" dist="25400" dir="2700000" algn="bl" rotWithShape="0">
              <a:srgbClr val="000000">
                <a:alpha val="11000"/>
              </a:srgbClr>
            </a:outerShdw>
          </a:effectLst>
        </p:spPr>
        <p:txBody>
          <a:bodyPr/>
          <a:lstStyle/>
          <a:p>
            <a:endParaRPr lang="en-US" sz="3200"/>
          </a:p>
        </p:txBody>
      </p:sp>
      <p:sp>
        <p:nvSpPr>
          <p:cNvPr id="18" name="Text 16"/>
          <p:cNvSpPr/>
          <p:nvPr/>
        </p:nvSpPr>
        <p:spPr>
          <a:xfrm>
            <a:off x="8242586" y="1828800"/>
            <a:ext cx="3328416" cy="950976"/>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README generated and reviewed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8242586" y="2950464"/>
            <a:ext cx="3328416" cy="950976"/>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Basic error handling added</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Text 18"/>
          <p:cNvSpPr/>
          <p:nvPr/>
        </p:nvSpPr>
        <p:spPr>
          <a:xfrm>
            <a:off x="8242586" y="4072128"/>
            <a:ext cx="3328416" cy="950976"/>
          </a:xfrm>
          <a:prstGeom prst="rect">
            <a:avLst/>
          </a:prstGeom>
          <a:noFill/>
          <a:ln/>
        </p:spPr>
        <p:txBody>
          <a:bodyPr wrap="square" lIns="0" tIns="0" rIns="0" bIns="0" rtlCol="0" anchor="t"/>
          <a:lstStyle/>
          <a:p>
            <a:r>
              <a:rPr lang="en-US" sz="16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  </a:t>
            </a:r>
            <a:r>
              <a:rPr lang="en-US" sz="1600" dirty="0">
                <a:solidFill>
                  <a:srgbClr val="2D2D2D"/>
                </a:solidFill>
                <a:latin typeface="Open Sans" panose="020B0606030504020204" pitchFamily="34" charset="0"/>
                <a:ea typeface="Open Sans" panose="020B0606030504020204" pitchFamily="34" charset="0"/>
                <a:cs typeface="Open Sans" panose="020B0606030504020204" pitchFamily="34" charset="0"/>
              </a:rPr>
              <a:t>Committed to Git with a descriptive message</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488474" y="5486400"/>
            <a:ext cx="11216640" cy="792480"/>
          </a:xfrm>
          <a:prstGeom prst="roundRect">
            <a:avLst>
              <a:gd name="adj" fmla="val 12308"/>
            </a:avLst>
          </a:prstGeom>
          <a:solidFill>
            <a:schemeClr val="accent6">
              <a:lumMod val="20000"/>
              <a:lumOff val="80000"/>
            </a:schemeClr>
          </a:solidFill>
          <a:ln w="12700">
            <a:noFill/>
            <a:prstDash val="solid"/>
          </a:ln>
        </p:spPr>
        <p:txBody>
          <a:bodyPr/>
          <a:lstStyle/>
          <a:p>
            <a:endParaRPr lang="en-US" sz="3200"/>
          </a:p>
        </p:txBody>
      </p:sp>
      <p:sp>
        <p:nvSpPr>
          <p:cNvPr id="22" name="Text 20"/>
          <p:cNvSpPr/>
          <p:nvPr/>
        </p:nvSpPr>
        <p:spPr>
          <a:xfrm>
            <a:off x="671354" y="5486400"/>
            <a:ext cx="10972800" cy="792480"/>
          </a:xfrm>
          <a:prstGeom prst="rect">
            <a:avLst/>
          </a:prstGeom>
          <a:noFill/>
          <a:ln/>
        </p:spPr>
        <p:txBody>
          <a:bodyPr wrap="square" lIns="0" tIns="0" rIns="0" bIns="0" rtlCol="0" anchor="ctr"/>
          <a:lstStyle/>
          <a:p>
            <a:pPr algn="ctr"/>
            <a:r>
              <a:rPr lang="en-US" sz="1800" dirty="0">
                <a:solidFill>
                  <a:srgbClr val="2D2D2D"/>
                </a:solidFill>
                <a:latin typeface="Open Sans" panose="020B0606030504020204" pitchFamily="34" charset="0"/>
                <a:ea typeface="Open Sans" panose="020B0606030504020204" pitchFamily="34" charset="0"/>
                <a:cs typeface="Open Sans" panose="020B0606030504020204" pitchFamily="34" charset="0"/>
              </a:rPr>
              <a:t>This PoC continues in Modules 3 to 5. Keep it open — you will build on it.</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88474" y="268224"/>
            <a:ext cx="11216640" cy="633984"/>
          </a:xfrm>
          <a:prstGeom prst="rect">
            <a:avLst/>
          </a:prstGeom>
          <a:noFill/>
          <a:ln/>
        </p:spPr>
        <p:txBody>
          <a:bodyPr wrap="square" lIns="0" tIns="0" rIns="0" bIns="0" rtlCol="0" anchor="ctr"/>
          <a:lstStyle/>
          <a:p>
            <a:r>
              <a:rPr lang="en-US" sz="3600" b="1" dirty="0">
                <a:latin typeface="Open Sans" panose="020B0606030504020204" pitchFamily="34" charset="0"/>
                <a:ea typeface="Open Sans" panose="020B0606030504020204" pitchFamily="34" charset="0"/>
                <a:cs typeface="Open Sans" panose="020B0606030504020204" pitchFamily="34" charset="0"/>
              </a:rPr>
              <a:t>What’s Next — Modules 3 &amp; 4</a:t>
            </a: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Text 1"/>
          <p:cNvSpPr/>
          <p:nvPr/>
        </p:nvSpPr>
        <p:spPr>
          <a:xfrm>
            <a:off x="488474" y="890016"/>
            <a:ext cx="11216640" cy="341376"/>
          </a:xfrm>
          <a:prstGeom prst="rect">
            <a:avLst/>
          </a:prstGeom>
          <a:noFill/>
          <a:ln/>
        </p:spPr>
        <p:txBody>
          <a:bodyPr wrap="square" lIns="0" tIns="0" rIns="0" bIns="0" rtlCol="0" anchor="ctr"/>
          <a:lstStyle/>
          <a:p>
            <a:r>
              <a:rPr lang="en-US" sz="1600" dirty="0">
                <a:solidFill>
                  <a:srgbClr val="757575"/>
                </a:solidFill>
                <a:latin typeface="Open Sans" panose="020B0606030504020204" pitchFamily="34" charset="0"/>
                <a:ea typeface="Open Sans" panose="020B0606030504020204" pitchFamily="34" charset="0"/>
                <a:cs typeface="Open Sans" panose="020B0606030504020204" pitchFamily="34" charset="0"/>
              </a:rPr>
              <a:t>AI Features, Security, Debug &amp; Assure  ·  Same PoC. New layers.</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2"/>
          <p:cNvSpPr/>
          <p:nvPr/>
        </p:nvSpPr>
        <p:spPr>
          <a:xfrm>
            <a:off x="488474" y="1408176"/>
            <a:ext cx="11216640" cy="1365504"/>
          </a:xfrm>
          <a:prstGeom prst="roundRect">
            <a:avLst>
              <a:gd name="adj" fmla="val 7143"/>
            </a:avLst>
          </a:prstGeom>
          <a:solidFill>
            <a:srgbClr val="FFEBEE"/>
          </a:solidFill>
          <a:ln w="15240">
            <a:solidFill>
              <a:schemeClr val="accent3"/>
            </a:solidFill>
            <a:prstDash val="solid"/>
          </a:ln>
          <a:effectLst>
            <a:outerShdw blurRad="63500" dist="25400" dir="2700000" algn="bl" rotWithShape="0">
              <a:srgbClr val="000000">
                <a:alpha val="11000"/>
              </a:srgbClr>
            </a:outerShdw>
          </a:effectLst>
        </p:spPr>
        <p:txBody>
          <a:bodyPr/>
          <a:lstStyle/>
          <a:p>
            <a:endParaRPr lang="en-US" sz="3200"/>
          </a:p>
        </p:txBody>
      </p:sp>
      <p:sp>
        <p:nvSpPr>
          <p:cNvPr id="5" name="Shape 3"/>
          <p:cNvSpPr/>
          <p:nvPr/>
        </p:nvSpPr>
        <p:spPr>
          <a:xfrm>
            <a:off x="671354" y="1822704"/>
            <a:ext cx="633984" cy="487680"/>
          </a:xfrm>
          <a:prstGeom prst="roundRect">
            <a:avLst>
              <a:gd name="adj" fmla="val 12500"/>
            </a:avLst>
          </a:prstGeom>
          <a:solidFill>
            <a:schemeClr val="accent3"/>
          </a:solidFill>
          <a:ln w="12700">
            <a:noFill/>
            <a:prstDash val="solid"/>
          </a:ln>
        </p:spPr>
        <p:txBody>
          <a:bodyPr/>
          <a:lstStyle/>
          <a:p>
            <a:endParaRPr lang="en-US" sz="3200"/>
          </a:p>
        </p:txBody>
      </p:sp>
      <p:sp>
        <p:nvSpPr>
          <p:cNvPr id="6" name="Text 4"/>
          <p:cNvSpPr/>
          <p:nvPr/>
        </p:nvSpPr>
        <p:spPr>
          <a:xfrm>
            <a:off x="671354" y="1822704"/>
            <a:ext cx="633984" cy="487680"/>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01</a:t>
            </a:r>
            <a:endParaRPr lang="en-US" sz="1600"/>
          </a:p>
        </p:txBody>
      </p:sp>
      <p:sp>
        <p:nvSpPr>
          <p:cNvPr id="7" name="Text 5"/>
          <p:cNvSpPr/>
          <p:nvPr/>
        </p:nvSpPr>
        <p:spPr>
          <a:xfrm>
            <a:off x="1488218" y="1530096"/>
            <a:ext cx="9875520" cy="463296"/>
          </a:xfrm>
          <a:prstGeom prst="rect">
            <a:avLst/>
          </a:prstGeom>
          <a:noFill/>
          <a:ln/>
        </p:spPr>
        <p:txBody>
          <a:bodyPr wrap="square" lIns="0" tIns="0" rIns="0" bIns="0" rtlCol="0" anchor="ctr"/>
          <a:lstStyle/>
          <a:p>
            <a:r>
              <a:rPr lang="en-US" sz="20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Draft with Claude, Grounded by RAG</a:t>
            </a:r>
            <a:endParaRPr lang="en-US" sz="2000" dirty="0">
              <a:solidFill>
                <a:schemeClr val="accent3"/>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6"/>
          <p:cNvSpPr/>
          <p:nvPr/>
        </p:nvSpPr>
        <p:spPr>
          <a:xfrm>
            <a:off x="1488218" y="2078736"/>
            <a:ext cx="9875520" cy="536448"/>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Wire the Claude API into DischargeFlow. Ground drafts in uploaded reference summaries. Validate strict JSON and fail safely.</a:t>
            </a:r>
          </a:p>
        </p:txBody>
      </p:sp>
      <p:sp>
        <p:nvSpPr>
          <p:cNvPr id="9" name="Shape 7"/>
          <p:cNvSpPr/>
          <p:nvPr/>
        </p:nvSpPr>
        <p:spPr>
          <a:xfrm>
            <a:off x="488474" y="2968752"/>
            <a:ext cx="11216640" cy="1365504"/>
          </a:xfrm>
          <a:prstGeom prst="roundRect">
            <a:avLst>
              <a:gd name="adj" fmla="val 7143"/>
            </a:avLst>
          </a:prstGeom>
          <a:solidFill>
            <a:srgbClr val="E3F2FD"/>
          </a:solidFill>
          <a:ln w="15240">
            <a:solidFill>
              <a:schemeClr val="accent2"/>
            </a:solidFill>
            <a:prstDash val="solid"/>
          </a:ln>
          <a:effectLst>
            <a:outerShdw blurRad="63500" dist="25400" dir="2700000" algn="bl" rotWithShape="0">
              <a:srgbClr val="000000">
                <a:alpha val="11000"/>
              </a:srgbClr>
            </a:outerShdw>
          </a:effectLst>
        </p:spPr>
        <p:txBody>
          <a:bodyPr/>
          <a:lstStyle/>
          <a:p>
            <a:endParaRPr lang="en-US" sz="3200"/>
          </a:p>
        </p:txBody>
      </p:sp>
      <p:sp>
        <p:nvSpPr>
          <p:cNvPr id="10" name="Shape 8"/>
          <p:cNvSpPr/>
          <p:nvPr/>
        </p:nvSpPr>
        <p:spPr>
          <a:xfrm>
            <a:off x="671354" y="3383280"/>
            <a:ext cx="633984" cy="487680"/>
          </a:xfrm>
          <a:prstGeom prst="roundRect">
            <a:avLst>
              <a:gd name="adj" fmla="val 12500"/>
            </a:avLst>
          </a:prstGeom>
          <a:solidFill>
            <a:schemeClr val="accent2"/>
          </a:solidFill>
          <a:ln w="12700">
            <a:noFill/>
            <a:prstDash val="solid"/>
          </a:ln>
        </p:spPr>
        <p:txBody>
          <a:bodyPr/>
          <a:lstStyle/>
          <a:p>
            <a:endParaRPr lang="en-US" sz="3200"/>
          </a:p>
        </p:txBody>
      </p:sp>
      <p:sp>
        <p:nvSpPr>
          <p:cNvPr id="11" name="Text 9"/>
          <p:cNvSpPr/>
          <p:nvPr/>
        </p:nvSpPr>
        <p:spPr>
          <a:xfrm>
            <a:off x="671354" y="3383280"/>
            <a:ext cx="633984" cy="487680"/>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02</a:t>
            </a:r>
            <a:endParaRPr lang="en-US" sz="1600"/>
          </a:p>
        </p:txBody>
      </p:sp>
      <p:sp>
        <p:nvSpPr>
          <p:cNvPr id="12" name="Text 10"/>
          <p:cNvSpPr/>
          <p:nvPr/>
        </p:nvSpPr>
        <p:spPr>
          <a:xfrm>
            <a:off x="1488218" y="3090672"/>
            <a:ext cx="9875520" cy="463296"/>
          </a:xfrm>
          <a:prstGeom prst="rect">
            <a:avLst/>
          </a:prstGeom>
          <a:noFill/>
          <a:ln/>
        </p:spPr>
        <p:txBody>
          <a:bodyPr wrap="square" lIns="0" tIns="0" rIns="0" bIns="0" rtlCol="0" anchor="ctr"/>
          <a:lstStyle/>
          <a:p>
            <a:r>
              <a:rPr lang="en-US" sz="2000" b="1" dirty="0">
                <a:solidFill>
                  <a:schemeClr val="accent2"/>
                </a:solidFill>
                <a:latin typeface="Open Sans" panose="020B0606030504020204" pitchFamily="34" charset="0"/>
                <a:ea typeface="Open Sans" panose="020B0606030504020204" pitchFamily="34" charset="0"/>
                <a:cs typeface="Open Sans" panose="020B0606030504020204" pitchFamily="34" charset="0"/>
              </a:rPr>
              <a:t>Harden the AI Call</a:t>
            </a:r>
            <a:endParaRPr lang="en-US" sz="2000" dirty="0">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488218" y="3639312"/>
            <a:ext cx="9875520" cy="536448"/>
          </a:xfrm>
          <a:prstGeom prst="rect">
            <a:avLst/>
          </a:prstGeom>
          <a:noFill/>
          <a:ln/>
        </p:spPr>
        <p:txBody>
          <a:bodyPr wrap="square" lIns="0" tIns="0" rIns="0" bIns="0" rtlCol="0" anchor="ctr"/>
          <a:lstStyle/>
          <a:p>
            <a:r>
              <a:rPr lang="en-US" sz="1600">
                <a:latin typeface="Open Sans" panose="020B0606030504020204" pitchFamily="34" charset="0"/>
                <a:ea typeface="Open Sans" panose="020B0606030504020204" pitchFamily="34" charset="0"/>
                <a:cs typeface="Open Sans" panose="020B0606030504020204" pitchFamily="34" charset="0"/>
              </a:rPr>
              <a:t>Demonstrate direct and RAG prompt injection, then fence untrusted data and mask PHI before anything leaves your process.</a:t>
            </a:r>
          </a:p>
        </p:txBody>
      </p:sp>
      <p:sp>
        <p:nvSpPr>
          <p:cNvPr id="14" name="Shape 12"/>
          <p:cNvSpPr/>
          <p:nvPr/>
        </p:nvSpPr>
        <p:spPr>
          <a:xfrm>
            <a:off x="488474" y="4529328"/>
            <a:ext cx="11216640" cy="1365504"/>
          </a:xfrm>
          <a:prstGeom prst="roundRect">
            <a:avLst>
              <a:gd name="adj" fmla="val 7143"/>
            </a:avLst>
          </a:prstGeom>
          <a:solidFill>
            <a:schemeClr val="accent6">
              <a:lumMod val="20000"/>
              <a:lumOff val="80000"/>
            </a:schemeClr>
          </a:solidFill>
          <a:ln w="15240">
            <a:solidFill>
              <a:schemeClr val="accent1"/>
            </a:solidFill>
            <a:prstDash val="solid"/>
          </a:ln>
          <a:effectLst>
            <a:outerShdw blurRad="63500" dist="25400" dir="2700000" algn="bl" rotWithShape="0">
              <a:srgbClr val="000000">
                <a:alpha val="11000"/>
              </a:srgbClr>
            </a:outerShdw>
          </a:effectLst>
        </p:spPr>
        <p:txBody>
          <a:bodyPr/>
          <a:lstStyle/>
          <a:p>
            <a:endParaRPr lang="en-US" sz="3200"/>
          </a:p>
        </p:txBody>
      </p:sp>
      <p:sp>
        <p:nvSpPr>
          <p:cNvPr id="15" name="Shape 13"/>
          <p:cNvSpPr/>
          <p:nvPr/>
        </p:nvSpPr>
        <p:spPr>
          <a:xfrm>
            <a:off x="671354" y="4943856"/>
            <a:ext cx="633984" cy="487680"/>
          </a:xfrm>
          <a:prstGeom prst="roundRect">
            <a:avLst>
              <a:gd name="adj" fmla="val 12500"/>
            </a:avLst>
          </a:prstGeom>
          <a:solidFill>
            <a:schemeClr val="accent1"/>
          </a:solidFill>
          <a:ln w="12700">
            <a:noFill/>
            <a:prstDash val="solid"/>
          </a:ln>
        </p:spPr>
        <p:txBody>
          <a:bodyPr/>
          <a:lstStyle/>
          <a:p>
            <a:endParaRPr lang="en-US" sz="3200"/>
          </a:p>
        </p:txBody>
      </p:sp>
      <p:sp>
        <p:nvSpPr>
          <p:cNvPr id="16" name="Text 14"/>
          <p:cNvSpPr/>
          <p:nvPr/>
        </p:nvSpPr>
        <p:spPr>
          <a:xfrm>
            <a:off x="671354" y="4943856"/>
            <a:ext cx="633984" cy="487680"/>
          </a:xfrm>
          <a:prstGeom prst="rect">
            <a:avLst/>
          </a:prstGeom>
          <a:noFill/>
          <a:ln/>
        </p:spPr>
        <p:txBody>
          <a:bodyPr wrap="square" lIns="0" tIns="0" rIns="0" bIns="0" rtlCol="0" anchor="ctr"/>
          <a:lstStyle/>
          <a:p>
            <a:pPr algn="ctr"/>
            <a:r>
              <a:rPr lang="en-US" sz="1600" b="1">
                <a:solidFill>
                  <a:srgbClr val="FFFFFF"/>
                </a:solidFill>
                <a:latin typeface="Calibri" pitchFamily="34" charset="0"/>
                <a:ea typeface="Calibri" pitchFamily="34" charset="-122"/>
                <a:cs typeface="Calibri" pitchFamily="34" charset="-120"/>
              </a:rPr>
              <a:t>03</a:t>
            </a:r>
            <a:endParaRPr lang="en-US" sz="1600"/>
          </a:p>
        </p:txBody>
      </p:sp>
      <p:sp>
        <p:nvSpPr>
          <p:cNvPr id="17" name="Text 15"/>
          <p:cNvSpPr/>
          <p:nvPr/>
        </p:nvSpPr>
        <p:spPr>
          <a:xfrm>
            <a:off x="1488218" y="4651248"/>
            <a:ext cx="9875520" cy="463296"/>
          </a:xfrm>
          <a:prstGeom prst="rect">
            <a:avLst/>
          </a:prstGeom>
          <a:noFill/>
          <a:ln/>
        </p:spPr>
        <p:txBody>
          <a:bodyPr wrap="square" lIns="0" tIns="0" rIns="0" bIns="0" rtlCol="0" anchor="ctr"/>
          <a:lstStyle/>
          <a:p>
            <a:r>
              <a:rPr lang="en-US" sz="2000" b="1" dirty="0">
                <a:solidFill>
                  <a:schemeClr val="accent1"/>
                </a:solidFill>
                <a:latin typeface="Open Sans" panose="020B0606030504020204" pitchFamily="34" charset="0"/>
                <a:ea typeface="Open Sans" panose="020B0606030504020204" pitchFamily="34" charset="0"/>
                <a:cs typeface="Open Sans" panose="020B0606030504020204" pitchFamily="34" charset="0"/>
              </a:rPr>
              <a:t>Debug &amp; Assure</a:t>
            </a:r>
            <a:endParaRPr lang="en-US" sz="20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1488218" y="5199888"/>
            <a:ext cx="9875520" cy="536448"/>
          </a:xfrm>
          <a:prstGeom prst="rect">
            <a:avLst/>
          </a:prstGeom>
          <a:noFill/>
          <a:ln/>
        </p:spPr>
        <p:txBody>
          <a:bodyPr wrap="square" lIns="0" tIns="0" rIns="0" bIns="0" rtlCol="0" anchor="ctr"/>
          <a:lstStyle/>
          <a:p>
            <a:r>
              <a:rPr lang="en-US" sz="1600" dirty="0">
                <a:latin typeface="Open Sans" panose="020B0606030504020204" pitchFamily="34" charset="0"/>
                <a:ea typeface="Open Sans" panose="020B0606030504020204" pitchFamily="34" charset="0"/>
                <a:cs typeface="Open Sans" panose="020B0606030504020204" pitchFamily="34" charset="0"/>
              </a:rPr>
              <a:t>Run the debugging loop with full context, use checkpoints and rewind, and generate one test per spec requirement with hooks that keep it green.</a:t>
            </a:r>
          </a:p>
        </p:txBody>
      </p:sp>
      <p:sp>
        <p:nvSpPr>
          <p:cNvPr id="19" name="Text 17"/>
          <p:cNvSpPr/>
          <p:nvPr/>
        </p:nvSpPr>
        <p:spPr>
          <a:xfrm>
            <a:off x="488474" y="6071616"/>
            <a:ext cx="11216640" cy="304800"/>
          </a:xfrm>
          <a:prstGeom prst="rect">
            <a:avLst/>
          </a:prstGeom>
          <a:noFill/>
          <a:ln/>
        </p:spPr>
        <p:txBody>
          <a:bodyPr wrap="square" lIns="0" tIns="0" rIns="0" bIns="0" rtlCol="0" anchor="ctr"/>
          <a:lstStyle/>
          <a:p>
            <a:pPr algn="ctr"/>
            <a:r>
              <a:rPr lang="en-US" sz="1600" i="1" dirty="0">
                <a:solidFill>
                  <a:srgbClr val="757575"/>
                </a:solidFill>
                <a:latin typeface="Open Sans" panose="020B0606030504020204" pitchFamily="34" charset="0"/>
                <a:ea typeface="Open Sans" panose="020B0606030504020204" pitchFamily="34" charset="0"/>
                <a:cs typeface="Open Sans" panose="020B0606030504020204" pitchFamily="34" charset="0"/>
              </a:rPr>
              <a:t>Bring: your running API · your SPEC.md tick-list · a working key in .env.</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3">
            <a:extLst>
              <a:ext uri="{FF2B5EF4-FFF2-40B4-BE49-F238E27FC236}">
                <a16:creationId xmlns:a16="http://schemas.microsoft.com/office/drawing/2014/main" id="{D54F620F-314B-1916-7B44-8496EA0EDDF1}"/>
              </a:ext>
            </a:extLst>
          </p:cNvPr>
          <p:cNvSpPr/>
          <p:nvPr/>
        </p:nvSpPr>
        <p:spPr>
          <a:xfrm>
            <a:off x="4216236" y="1905000"/>
            <a:ext cx="3761117" cy="3048000"/>
          </a:xfrm>
          <a:prstGeom prst="rect">
            <a:avLst/>
          </a:prstGeom>
          <a:noFill/>
          <a:ln/>
        </p:spPr>
        <p:txBody>
          <a:bodyPr wrap="square" lIns="0" tIns="0" rIns="0" bIns="0" rtlCol="0" anchor="ctr"/>
          <a:lstStyle/>
          <a:p>
            <a:pPr algn="ctr"/>
            <a:r>
              <a:rPr lang="en-US" sz="10600" b="1" dirty="0">
                <a:solidFill>
                  <a:srgbClr val="383838"/>
                </a:solidFill>
                <a:latin typeface="Open Sans" pitchFamily="34" charset="0"/>
                <a:ea typeface="Open Sans" pitchFamily="34" charset="-122"/>
                <a:cs typeface="Open Sans" pitchFamily="34" charset="-120"/>
              </a:rPr>
              <a:t>Q&amp;A</a:t>
            </a:r>
            <a:endParaRPr lang="en-US" sz="10600" dirty="0"/>
          </a:p>
        </p:txBody>
      </p:sp>
      <p:sp>
        <p:nvSpPr>
          <p:cNvPr id="2" name="Shape 4">
            <a:extLst>
              <a:ext uri="{FF2B5EF4-FFF2-40B4-BE49-F238E27FC236}">
                <a16:creationId xmlns:a16="http://schemas.microsoft.com/office/drawing/2014/main" id="{D055150B-8319-C9EE-5D81-71FFF8C7A9AA}"/>
              </a:ext>
            </a:extLst>
          </p:cNvPr>
          <p:cNvSpPr/>
          <p:nvPr/>
        </p:nvSpPr>
        <p:spPr>
          <a:xfrm>
            <a:off x="5609114" y="4333325"/>
            <a:ext cx="975360" cy="97536"/>
          </a:xfrm>
          <a:prstGeom prst="rect">
            <a:avLst/>
          </a:prstGeom>
          <a:solidFill>
            <a:srgbClr val="FDB71A"/>
          </a:solidFill>
          <a:ln/>
        </p:spPr>
        <p:txBody>
          <a:bodyPr/>
          <a:lstStyle/>
          <a:p>
            <a:endParaRPr lang="en-US" sz="3200"/>
          </a:p>
        </p:txBody>
      </p:sp>
    </p:spTree>
    <p:extLst>
      <p:ext uri="{BB962C8B-B14F-4D97-AF65-F5344CB8AC3E}">
        <p14:creationId xmlns:p14="http://schemas.microsoft.com/office/powerpoint/2010/main" val="146924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706591"/>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What is the correct ORDER for adding a feature to an existing telecom billing service?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6114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59162" y="17440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40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98074" y="16114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/plan → implement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/diff</a:t>
            </a:r>
          </a:p>
        </p:txBody>
      </p:sp>
      <p:sp>
        <p:nvSpPr>
          <p:cNvPr id="12" name="Shape 10"/>
          <p:cNvSpPr/>
          <p:nvPr/>
        </p:nvSpPr>
        <p:spPr>
          <a:xfrm>
            <a:off x="457994" y="2297216"/>
            <a:ext cx="11274552" cy="557784"/>
          </a:xfrm>
          <a:prstGeom prst="roundRect">
            <a:avLst>
              <a:gd name="adj" fmla="val 9836"/>
            </a:avLst>
          </a:prstGeom>
          <a:solidFill>
            <a:srgbClr val="F5F5F5"/>
          </a:solidFill>
          <a:ln w="19050">
            <a:no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659162" y="2429804"/>
            <a:ext cx="292608" cy="292608"/>
          </a:xfrm>
          <a:prstGeom prst="ellipse">
            <a:avLst/>
          </a:prstGeom>
          <a:solidFill>
            <a:srgbClr val="C3C4C3"/>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9162" y="2429804"/>
            <a:ext cx="292608" cy="292608"/>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1098074" y="22972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/memory → /plan → implement → /diff → /code-review</a:t>
            </a:r>
          </a:p>
        </p:txBody>
      </p:sp>
      <p:sp>
        <p:nvSpPr>
          <p:cNvPr id="16" name="Shape 14"/>
          <p:cNvSpPr/>
          <p:nvPr/>
        </p:nvSpPr>
        <p:spPr>
          <a:xfrm>
            <a:off x="457994" y="29830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659162" y="31156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59162" y="31156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98074" y="2983016"/>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implement → /code-review → /init → /plan</a:t>
            </a:r>
          </a:p>
        </p:txBody>
      </p:sp>
      <p:sp>
        <p:nvSpPr>
          <p:cNvPr id="20" name="Shape 18"/>
          <p:cNvSpPr/>
          <p:nvPr/>
        </p:nvSpPr>
        <p:spPr>
          <a:xfrm>
            <a:off x="457994" y="36688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59162" y="38014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8014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98074" y="36688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/clear → implement → /security-review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85681-7B0C-2177-902A-EC298D5FCE96}"/>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91AC759F-E973-AEDC-4010-9E7F9430F0DF}"/>
              </a:ext>
            </a:extLst>
          </p:cNvPr>
          <p:cNvSpPr/>
          <p:nvPr/>
        </p:nvSpPr>
        <p:spPr>
          <a:xfrm>
            <a:off x="457994" y="706591"/>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What is the correct ORDER for adding a feature to an existing telecom billing service?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522D6354-903D-1ACA-8B1D-6A05EA23232C}"/>
              </a:ext>
            </a:extLst>
          </p:cNvPr>
          <p:cNvSpPr/>
          <p:nvPr/>
        </p:nvSpPr>
        <p:spPr>
          <a:xfrm>
            <a:off x="457994" y="16114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a:extLst>
              <a:ext uri="{FF2B5EF4-FFF2-40B4-BE49-F238E27FC236}">
                <a16:creationId xmlns:a16="http://schemas.microsoft.com/office/drawing/2014/main" id="{3D412AD6-E582-3783-A675-26D2793581FE}"/>
              </a:ext>
            </a:extLst>
          </p:cNvPr>
          <p:cNvSpPr/>
          <p:nvPr/>
        </p:nvSpPr>
        <p:spPr>
          <a:xfrm>
            <a:off x="659162" y="17440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98D9CD30-C481-91EB-E5E4-6BD196FF85CB}"/>
              </a:ext>
            </a:extLst>
          </p:cNvPr>
          <p:cNvSpPr/>
          <p:nvPr/>
        </p:nvSpPr>
        <p:spPr>
          <a:xfrm>
            <a:off x="659162" y="17440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74836C1A-66B1-DEBC-0693-16EC2DE0D6C6}"/>
              </a:ext>
            </a:extLst>
          </p:cNvPr>
          <p:cNvSpPr/>
          <p:nvPr/>
        </p:nvSpPr>
        <p:spPr>
          <a:xfrm>
            <a:off x="1098074" y="16114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/plan → implement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 /diff</a:t>
            </a:r>
          </a:p>
        </p:txBody>
      </p:sp>
      <p:sp>
        <p:nvSpPr>
          <p:cNvPr id="12" name="Shape 10">
            <a:extLst>
              <a:ext uri="{FF2B5EF4-FFF2-40B4-BE49-F238E27FC236}">
                <a16:creationId xmlns:a16="http://schemas.microsoft.com/office/drawing/2014/main" id="{3DCCCDD2-63B1-C3C9-9AF9-A48BE2196013}"/>
              </a:ext>
            </a:extLst>
          </p:cNvPr>
          <p:cNvSpPr/>
          <p:nvPr/>
        </p:nvSpPr>
        <p:spPr>
          <a:xfrm>
            <a:off x="457994" y="2297216"/>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85FAA99C-EB03-B9C6-5517-2B220C55F1DF}"/>
              </a:ext>
            </a:extLst>
          </p:cNvPr>
          <p:cNvSpPr/>
          <p:nvPr/>
        </p:nvSpPr>
        <p:spPr>
          <a:xfrm>
            <a:off x="659162" y="2429804"/>
            <a:ext cx="292608" cy="292608"/>
          </a:xfrm>
          <a:prstGeom prst="ellipse">
            <a:avLst/>
          </a:prstGeom>
          <a:solidFill>
            <a:srgbClr val="00B050"/>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D661EA37-E3A6-8761-D05B-579D1BF11FF8}"/>
              </a:ext>
            </a:extLst>
          </p:cNvPr>
          <p:cNvSpPr/>
          <p:nvPr/>
        </p:nvSpPr>
        <p:spPr>
          <a:xfrm>
            <a:off x="659162" y="24298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7AE5D17C-9EFD-2DE5-CAA9-D672323BC737}"/>
              </a:ext>
            </a:extLst>
          </p:cNvPr>
          <p:cNvSpPr/>
          <p:nvPr/>
        </p:nvSpPr>
        <p:spPr>
          <a:xfrm>
            <a:off x="1098074" y="2297216"/>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a:t>
            </a:r>
            <a:r>
              <a:rPr lang="en-US" sz="1400" b="1" dirty="0" err="1">
                <a:solidFill>
                  <a:srgbClr val="27303F"/>
                </a:solidFill>
                <a:latin typeface="Open Sans" panose="020B0606030504020204" pitchFamily="34" charset="0"/>
                <a:ea typeface="Open Sans" panose="020B0606030504020204" pitchFamily="34" charset="0"/>
                <a:cs typeface="Open Sans" panose="020B0606030504020204" pitchFamily="34" charset="0"/>
              </a:rPr>
              <a:t>init</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 + /memory → /plan → implement → /diff → /code-review</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a:extLst>
              <a:ext uri="{FF2B5EF4-FFF2-40B4-BE49-F238E27FC236}">
                <a16:creationId xmlns:a16="http://schemas.microsoft.com/office/drawing/2014/main" id="{2A159BDA-6913-64AF-A6C3-E42CEEABA08D}"/>
              </a:ext>
            </a:extLst>
          </p:cNvPr>
          <p:cNvSpPr/>
          <p:nvPr/>
        </p:nvSpPr>
        <p:spPr>
          <a:xfrm>
            <a:off x="457994" y="29830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93C87E28-47F2-F876-BAE9-E16E93841406}"/>
              </a:ext>
            </a:extLst>
          </p:cNvPr>
          <p:cNvSpPr/>
          <p:nvPr/>
        </p:nvSpPr>
        <p:spPr>
          <a:xfrm>
            <a:off x="659162" y="31156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05D2C521-8F2B-3785-651D-D8B48CC99C3F}"/>
              </a:ext>
            </a:extLst>
          </p:cNvPr>
          <p:cNvSpPr/>
          <p:nvPr/>
        </p:nvSpPr>
        <p:spPr>
          <a:xfrm>
            <a:off x="659162" y="31156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09CF77C7-40C6-ABE0-4EED-5F5623E1060F}"/>
              </a:ext>
            </a:extLst>
          </p:cNvPr>
          <p:cNvSpPr/>
          <p:nvPr/>
        </p:nvSpPr>
        <p:spPr>
          <a:xfrm>
            <a:off x="1098074" y="2983016"/>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implement → /code-review → /init → /plan</a:t>
            </a:r>
          </a:p>
        </p:txBody>
      </p:sp>
      <p:sp>
        <p:nvSpPr>
          <p:cNvPr id="20" name="Shape 18">
            <a:extLst>
              <a:ext uri="{FF2B5EF4-FFF2-40B4-BE49-F238E27FC236}">
                <a16:creationId xmlns:a16="http://schemas.microsoft.com/office/drawing/2014/main" id="{0ADCA4B8-25CF-5D74-D41A-54C752BB2D28}"/>
              </a:ext>
            </a:extLst>
          </p:cNvPr>
          <p:cNvSpPr/>
          <p:nvPr/>
        </p:nvSpPr>
        <p:spPr>
          <a:xfrm>
            <a:off x="457994" y="3668816"/>
            <a:ext cx="11274552" cy="557784"/>
          </a:xfrm>
          <a:prstGeom prst="roundRect">
            <a:avLst>
              <a:gd name="adj" fmla="val 9836"/>
            </a:avLst>
          </a:prstGeom>
          <a:solidFill>
            <a:srgbClr val="F5F5F5"/>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a:extLst>
              <a:ext uri="{FF2B5EF4-FFF2-40B4-BE49-F238E27FC236}">
                <a16:creationId xmlns:a16="http://schemas.microsoft.com/office/drawing/2014/main" id="{D50BD079-0805-48E3-F60E-0423D86909EE}"/>
              </a:ext>
            </a:extLst>
          </p:cNvPr>
          <p:cNvSpPr/>
          <p:nvPr/>
        </p:nvSpPr>
        <p:spPr>
          <a:xfrm>
            <a:off x="659162" y="3801404"/>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601C1A32-5863-E318-D850-E9E4E283E8B4}"/>
              </a:ext>
            </a:extLst>
          </p:cNvPr>
          <p:cNvSpPr/>
          <p:nvPr/>
        </p:nvSpPr>
        <p:spPr>
          <a:xfrm>
            <a:off x="659162" y="3801404"/>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FBBFF8ED-D3A8-3A51-99DE-163C999C01D1}"/>
              </a:ext>
            </a:extLst>
          </p:cNvPr>
          <p:cNvSpPr/>
          <p:nvPr/>
        </p:nvSpPr>
        <p:spPr>
          <a:xfrm>
            <a:off x="1098074" y="3668816"/>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/clear → implement → /security-review →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endPar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a:extLst>
              <a:ext uri="{FF2B5EF4-FFF2-40B4-BE49-F238E27FC236}">
                <a16:creationId xmlns:a16="http://schemas.microsoft.com/office/drawing/2014/main" id="{468FB797-32A3-927B-BF67-C9DACC681832}"/>
              </a:ext>
            </a:extLst>
          </p:cNvPr>
          <p:cNvSpPr/>
          <p:nvPr/>
        </p:nvSpPr>
        <p:spPr>
          <a:xfrm>
            <a:off x="457994" y="4570219"/>
            <a:ext cx="11274552" cy="1143000"/>
          </a:xfrm>
          <a:prstGeom prst="roundRect">
            <a:avLst>
              <a:gd name="adj" fmla="val 5600"/>
            </a:avLst>
          </a:prstGeom>
          <a:solidFill>
            <a:srgbClr val="F5F5F5"/>
          </a:solidFill>
          <a:ln>
            <a:noFill/>
          </a:ln>
          <a:effectLst>
            <a:outerShdw blurRad="76200" dist="38100" dir="5400000" algn="bl" rotWithShape="0">
              <a:srgbClr val="9AA3B0">
                <a:alpha val="32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0CA46504-B999-5AA8-4D09-ACEC8547314A}"/>
              </a:ext>
            </a:extLst>
          </p:cNvPr>
          <p:cNvSpPr/>
          <p:nvPr/>
        </p:nvSpPr>
        <p:spPr>
          <a:xfrm>
            <a:off x="686594" y="4689091"/>
            <a:ext cx="1828800" cy="274320"/>
          </a:xfrm>
          <a:prstGeom prst="rect">
            <a:avLst/>
          </a:prstGeom>
          <a:noFill/>
          <a:ln/>
        </p:spPr>
        <p:txBody>
          <a:bodyPr wrap="square" lIns="0" tIns="0" rIns="0" bIns="0" rtlCol="0" anchor="ctr"/>
          <a:lstStyle/>
          <a:p>
            <a:r>
              <a:rPr lang="en-US" sz="1200" b="1" kern="0" spc="15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ANSWER</a:t>
            </a:r>
            <a:endParaRPr lang="en-US"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1D0A6A2D-8B7D-0946-8B1E-BFD05CB95843}"/>
              </a:ext>
            </a:extLst>
          </p:cNvPr>
          <p:cNvSpPr/>
          <p:nvPr/>
        </p:nvSpPr>
        <p:spPr>
          <a:xfrm>
            <a:off x="686594" y="5082283"/>
            <a:ext cx="10817352" cy="658368"/>
          </a:xfrm>
          <a:prstGeom prst="rect">
            <a:avLst/>
          </a:prstGeom>
          <a:noFill/>
          <a:ln/>
        </p:spPr>
        <p:txBody>
          <a:bodyPr wrap="square" lIns="0" tIns="0" rIns="0" bIns="0" rtlCol="0" anchor="t"/>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solidFill>
                  <a:srgbClr val="1E8E6E"/>
                </a:solidFill>
                <a:latin typeface="Open Sans" panose="020B0606030504020204" pitchFamily="34" charset="0"/>
                <a:ea typeface="Open Sans" panose="020B0606030504020204" pitchFamily="34" charset="0"/>
                <a:cs typeface="Open Sans" panose="020B0606030504020204" pitchFamily="34" charset="0"/>
              </a:rPr>
              <a:t>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Load context first, plan, implement, then inspect and review. Understanding precedes editing.</a:t>
            </a:r>
          </a:p>
        </p:txBody>
      </p:sp>
    </p:spTree>
    <p:extLst>
      <p:ext uri="{BB962C8B-B14F-4D97-AF65-F5344CB8AC3E}">
        <p14:creationId xmlns:p14="http://schemas.microsoft.com/office/powerpoint/2010/main" val="4167705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272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You must estimate effort on an unfamiliar EHR-integration repo in two days. Which approach gives the best-grounded estimate?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6077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p:cNvSpPr/>
          <p:nvPr/>
        </p:nvSpPr>
        <p:spPr>
          <a:xfrm>
            <a:off x="659162" y="17402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02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98074" y="16077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Ask Claude to guess story points from the README alone</a:t>
            </a:r>
          </a:p>
        </p:txBody>
      </p:sp>
      <p:sp>
        <p:nvSpPr>
          <p:cNvPr id="12" name="Shape 10"/>
          <p:cNvSpPr/>
          <p:nvPr/>
        </p:nvSpPr>
        <p:spPr>
          <a:xfrm>
            <a:off x="457994" y="22935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p:cNvSpPr/>
          <p:nvPr/>
        </p:nvSpPr>
        <p:spPr>
          <a:xfrm>
            <a:off x="659162" y="24260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p:cNvSpPr/>
          <p:nvPr/>
        </p:nvSpPr>
        <p:spPr>
          <a:xfrm>
            <a:off x="659162" y="24260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1098074" y="22935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Run /code-review --fix on everything and count the fixes</a:t>
            </a:r>
          </a:p>
        </p:txBody>
      </p:sp>
      <p:sp>
        <p:nvSpPr>
          <p:cNvPr id="20" name="Shape 18"/>
          <p:cNvSpPr/>
          <p:nvPr/>
        </p:nvSpPr>
        <p:spPr>
          <a:xfrm>
            <a:off x="457994" y="36651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p:cNvSpPr/>
          <p:nvPr/>
        </p:nvSpPr>
        <p:spPr>
          <a:xfrm>
            <a:off x="659162" y="37976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7976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98074" y="3665101"/>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Immediately /plan the new feature and use the plan length as the estimate</a:t>
            </a:r>
          </a:p>
        </p:txBody>
      </p:sp>
      <p:sp>
        <p:nvSpPr>
          <p:cNvPr id="2" name="Shape 10">
            <a:extLst>
              <a:ext uri="{FF2B5EF4-FFF2-40B4-BE49-F238E27FC236}">
                <a16:creationId xmlns:a16="http://schemas.microsoft.com/office/drawing/2014/main" id="{00F1AA07-AB88-382D-6CC3-9C503DE05B11}"/>
              </a:ext>
            </a:extLst>
          </p:cNvPr>
          <p:cNvSpPr/>
          <p:nvPr/>
        </p:nvSpPr>
        <p:spPr>
          <a:xfrm>
            <a:off x="457994" y="2974729"/>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1">
            <a:extLst>
              <a:ext uri="{FF2B5EF4-FFF2-40B4-BE49-F238E27FC236}">
                <a16:creationId xmlns:a16="http://schemas.microsoft.com/office/drawing/2014/main" id="{BDAA37D3-AF3C-7157-260B-A29A6FA87FBF}"/>
              </a:ext>
            </a:extLst>
          </p:cNvPr>
          <p:cNvSpPr/>
          <p:nvPr/>
        </p:nvSpPr>
        <p:spPr>
          <a:xfrm>
            <a:off x="659162" y="3107317"/>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4" name="Text 12">
            <a:extLst>
              <a:ext uri="{FF2B5EF4-FFF2-40B4-BE49-F238E27FC236}">
                <a16:creationId xmlns:a16="http://schemas.microsoft.com/office/drawing/2014/main" id="{8955C7CE-48A3-49D0-5837-A179D656BA49}"/>
              </a:ext>
            </a:extLst>
          </p:cNvPr>
          <p:cNvSpPr/>
          <p:nvPr/>
        </p:nvSpPr>
        <p:spPr>
          <a:xfrm>
            <a:off x="659162" y="3107317"/>
            <a:ext cx="292608" cy="292608"/>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 13">
            <a:extLst>
              <a:ext uri="{FF2B5EF4-FFF2-40B4-BE49-F238E27FC236}">
                <a16:creationId xmlns:a16="http://schemas.microsoft.com/office/drawing/2014/main" id="{AE2B4E35-8368-4766-FFAD-B48DC00CFE00}"/>
              </a:ext>
            </a:extLst>
          </p:cNvPr>
          <p:cNvSpPr/>
          <p:nvPr/>
        </p:nvSpPr>
        <p:spPr>
          <a:xfrm>
            <a:off x="1098074" y="2974729"/>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init</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ask architecture questions, map modules and complexity, list unknowns, then size by component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DB0CA-A73C-AB25-1FCE-44FF96119D92}"/>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5594A8C0-0E54-934C-9B95-6EB3A33CA211}"/>
              </a:ext>
            </a:extLst>
          </p:cNvPr>
          <p:cNvSpPr/>
          <p:nvPr/>
        </p:nvSpPr>
        <p:spPr>
          <a:xfrm>
            <a:off x="457994" y="69272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You must estimate effort on an unfamiliar EHR-integration repo in two days. Which approach gives the best-grounded estimate?</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F0492E0A-F4EF-F5B4-6161-A1FFD6C30379}"/>
              </a:ext>
            </a:extLst>
          </p:cNvPr>
          <p:cNvSpPr/>
          <p:nvPr/>
        </p:nvSpPr>
        <p:spPr>
          <a:xfrm>
            <a:off x="457994" y="16077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9" name="Shape 7">
            <a:extLst>
              <a:ext uri="{FF2B5EF4-FFF2-40B4-BE49-F238E27FC236}">
                <a16:creationId xmlns:a16="http://schemas.microsoft.com/office/drawing/2014/main" id="{769C096C-3316-4189-3632-97727B692B9E}"/>
              </a:ext>
            </a:extLst>
          </p:cNvPr>
          <p:cNvSpPr/>
          <p:nvPr/>
        </p:nvSpPr>
        <p:spPr>
          <a:xfrm>
            <a:off x="659162" y="17402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E0D5B7B0-CA9F-A742-CCC4-2FA8D62A82E8}"/>
              </a:ext>
            </a:extLst>
          </p:cNvPr>
          <p:cNvSpPr/>
          <p:nvPr/>
        </p:nvSpPr>
        <p:spPr>
          <a:xfrm>
            <a:off x="659162" y="17402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DAC08E52-F139-8A5B-8498-E36CEDE80EA3}"/>
              </a:ext>
            </a:extLst>
          </p:cNvPr>
          <p:cNvSpPr/>
          <p:nvPr/>
        </p:nvSpPr>
        <p:spPr>
          <a:xfrm>
            <a:off x="1098074" y="16077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Ask Claude to guess story points from the README alone</a:t>
            </a:r>
          </a:p>
        </p:txBody>
      </p:sp>
      <p:sp>
        <p:nvSpPr>
          <p:cNvPr id="12" name="Shape 10">
            <a:extLst>
              <a:ext uri="{FF2B5EF4-FFF2-40B4-BE49-F238E27FC236}">
                <a16:creationId xmlns:a16="http://schemas.microsoft.com/office/drawing/2014/main" id="{780C9B6B-5B62-3660-14E5-1D1442FDC1C0}"/>
              </a:ext>
            </a:extLst>
          </p:cNvPr>
          <p:cNvSpPr/>
          <p:nvPr/>
        </p:nvSpPr>
        <p:spPr>
          <a:xfrm>
            <a:off x="457994" y="22935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3" name="Shape 11">
            <a:extLst>
              <a:ext uri="{FF2B5EF4-FFF2-40B4-BE49-F238E27FC236}">
                <a16:creationId xmlns:a16="http://schemas.microsoft.com/office/drawing/2014/main" id="{7596CF5D-AE46-3785-F735-B50EE99EDD90}"/>
              </a:ext>
            </a:extLst>
          </p:cNvPr>
          <p:cNvSpPr/>
          <p:nvPr/>
        </p:nvSpPr>
        <p:spPr>
          <a:xfrm>
            <a:off x="659162" y="24260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EECFC2C7-1824-D54C-4E8A-8A435A593780}"/>
              </a:ext>
            </a:extLst>
          </p:cNvPr>
          <p:cNvSpPr/>
          <p:nvPr/>
        </p:nvSpPr>
        <p:spPr>
          <a:xfrm>
            <a:off x="659162" y="24260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FCC7866F-2A8B-49F6-F098-38A5DA95418C}"/>
              </a:ext>
            </a:extLst>
          </p:cNvPr>
          <p:cNvSpPr/>
          <p:nvPr/>
        </p:nvSpPr>
        <p:spPr>
          <a:xfrm>
            <a:off x="1098074" y="2293501"/>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Run /code-review --fix on everything and count the fixes</a:t>
            </a:r>
          </a:p>
        </p:txBody>
      </p:sp>
      <p:sp>
        <p:nvSpPr>
          <p:cNvPr id="16" name="Shape 14">
            <a:extLst>
              <a:ext uri="{FF2B5EF4-FFF2-40B4-BE49-F238E27FC236}">
                <a16:creationId xmlns:a16="http://schemas.microsoft.com/office/drawing/2014/main" id="{CE9E7F10-CB72-08B5-52F3-684DE5136002}"/>
              </a:ext>
            </a:extLst>
          </p:cNvPr>
          <p:cNvSpPr/>
          <p:nvPr/>
        </p:nvSpPr>
        <p:spPr>
          <a:xfrm>
            <a:off x="457994" y="2979301"/>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0A4FC3A8-7F35-6146-9EA8-240A36A1796F}"/>
              </a:ext>
            </a:extLst>
          </p:cNvPr>
          <p:cNvSpPr/>
          <p:nvPr/>
        </p:nvSpPr>
        <p:spPr>
          <a:xfrm>
            <a:off x="659162" y="3111889"/>
            <a:ext cx="292608" cy="292608"/>
          </a:xfrm>
          <a:prstGeom prst="ellipse">
            <a:avLst/>
          </a:prstGeom>
          <a:solidFill>
            <a:srgbClr val="00B050"/>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333C2874-4A2A-BB33-8276-DFBDC446FCE8}"/>
              </a:ext>
            </a:extLst>
          </p:cNvPr>
          <p:cNvSpPr/>
          <p:nvPr/>
        </p:nvSpPr>
        <p:spPr>
          <a:xfrm>
            <a:off x="659162" y="3111889"/>
            <a:ext cx="292608" cy="292608"/>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E180DCF4-4DAF-E427-9A2B-1280A349011D}"/>
              </a:ext>
            </a:extLst>
          </p:cNvPr>
          <p:cNvSpPr/>
          <p:nvPr/>
        </p:nvSpPr>
        <p:spPr>
          <a:xfrm>
            <a:off x="1098074" y="2979301"/>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C</a:t>
            </a:r>
            <a:r>
              <a:rPr lang="en-US" sz="1400" b="1" dirty="0">
                <a:solidFill>
                  <a:srgbClr val="1E8E6E"/>
                </a:solidFill>
                <a:latin typeface="Open Sans" panose="020B0606030504020204" pitchFamily="34" charset="0"/>
                <a:ea typeface="Open Sans" panose="020B0606030504020204" pitchFamily="34" charset="0"/>
                <a:cs typeface="Open Sans" panose="020B0606030504020204" pitchFamily="34" charset="0"/>
              </a:rPr>
              <a:t>.  </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a:t>
            </a:r>
            <a:r>
              <a:rPr lang="en-US" sz="1400" b="1" dirty="0" err="1">
                <a:solidFill>
                  <a:srgbClr val="27303F"/>
                </a:solidFill>
                <a:latin typeface="Open Sans" panose="020B0606030504020204" pitchFamily="34" charset="0"/>
                <a:ea typeface="Open Sans" panose="020B0606030504020204" pitchFamily="34" charset="0"/>
                <a:cs typeface="Open Sans" panose="020B0606030504020204" pitchFamily="34" charset="0"/>
              </a:rPr>
              <a:t>init</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 ask architecture questions, map modules and complexity, list unknowns, then size by component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FEE207CA-D70D-E26B-84E5-CB14A7AA514F}"/>
              </a:ext>
            </a:extLst>
          </p:cNvPr>
          <p:cNvSpPr/>
          <p:nvPr/>
        </p:nvSpPr>
        <p:spPr>
          <a:xfrm>
            <a:off x="457994" y="3665101"/>
            <a:ext cx="11274552" cy="557784"/>
          </a:xfrm>
          <a:prstGeom prst="roundRect">
            <a:avLst>
              <a:gd name="adj" fmla="val 9836"/>
            </a:avLst>
          </a:prstGeom>
          <a:solidFill>
            <a:srgbClr val="F5F5F5"/>
          </a:solid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1" name="Shape 19">
            <a:extLst>
              <a:ext uri="{FF2B5EF4-FFF2-40B4-BE49-F238E27FC236}">
                <a16:creationId xmlns:a16="http://schemas.microsoft.com/office/drawing/2014/main" id="{F3413846-87DE-9005-7887-93F774AB23C4}"/>
              </a:ext>
            </a:extLst>
          </p:cNvPr>
          <p:cNvSpPr/>
          <p:nvPr/>
        </p:nvSpPr>
        <p:spPr>
          <a:xfrm>
            <a:off x="659162" y="3797689"/>
            <a:ext cx="292608" cy="292608"/>
          </a:xfrm>
          <a:prstGeom prst="ellipse">
            <a:avLst/>
          </a:prstGeom>
          <a:solidFill>
            <a:schemeClr val="tx2">
              <a:lumMod val="40000"/>
              <a:lumOff val="60000"/>
            </a:schemeClr>
          </a:solidFill>
          <a:ln>
            <a:noFill/>
          </a:ln>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40E49BB9-0382-7F7B-770F-43463456A522}"/>
              </a:ext>
            </a:extLst>
          </p:cNvPr>
          <p:cNvSpPr/>
          <p:nvPr/>
        </p:nvSpPr>
        <p:spPr>
          <a:xfrm>
            <a:off x="659162" y="3797689"/>
            <a:ext cx="292608" cy="292608"/>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87A6F2AD-7083-8E94-F47F-424E4B7C6546}"/>
              </a:ext>
            </a:extLst>
          </p:cNvPr>
          <p:cNvSpPr/>
          <p:nvPr/>
        </p:nvSpPr>
        <p:spPr>
          <a:xfrm>
            <a:off x="1098074" y="3665101"/>
            <a:ext cx="10515600" cy="557784"/>
          </a:xfrm>
          <a:prstGeom prst="rect">
            <a:avLst/>
          </a:prstGeom>
          <a:noFill/>
          <a:ln/>
        </p:spPr>
        <p:txBody>
          <a:bodyPr wrap="square" lIns="0" tIns="0" rIns="0" bIns="0" rtlCol="0" anchor="ctr"/>
          <a:lstStyle/>
          <a:p>
            <a:r>
              <a:rPr lang="en-US" sz="1400" b="1">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chemeClr val="tx2"/>
                </a:solidFill>
                <a:latin typeface="Open Sans" panose="020B0606030504020204" pitchFamily="34" charset="0"/>
                <a:ea typeface="Open Sans" panose="020B0606030504020204" pitchFamily="34" charset="0"/>
                <a:cs typeface="Open Sans" panose="020B0606030504020204" pitchFamily="34" charset="0"/>
              </a:rPr>
              <a:t>Immediately /plan the new feature and use the plan length as the estimate</a:t>
            </a:r>
          </a:p>
        </p:txBody>
      </p:sp>
      <p:sp>
        <p:nvSpPr>
          <p:cNvPr id="24" name="Shape 22">
            <a:extLst>
              <a:ext uri="{FF2B5EF4-FFF2-40B4-BE49-F238E27FC236}">
                <a16:creationId xmlns:a16="http://schemas.microsoft.com/office/drawing/2014/main" id="{4D443D38-D5B8-7822-9D79-C1A74F21E1E3}"/>
              </a:ext>
            </a:extLst>
          </p:cNvPr>
          <p:cNvSpPr/>
          <p:nvPr/>
        </p:nvSpPr>
        <p:spPr>
          <a:xfrm>
            <a:off x="457994" y="4575071"/>
            <a:ext cx="11274552" cy="1143000"/>
          </a:xfrm>
          <a:prstGeom prst="roundRect">
            <a:avLst>
              <a:gd name="adj" fmla="val 5600"/>
            </a:avLst>
          </a:prstGeom>
          <a:solidFill>
            <a:srgbClr val="F5F5F5"/>
          </a:solidFill>
          <a:ln/>
          <a:effectLst>
            <a:outerShdw blurRad="76200" dist="38100" dir="5400000" algn="bl" rotWithShape="0">
              <a:srgbClr val="9AA3B0">
                <a:alpha val="32000"/>
              </a:srgbClr>
            </a:outerShdw>
          </a:effectLst>
        </p:spPr>
        <p:txBody>
          <a:bodyPr/>
          <a:lstStyle/>
          <a:p>
            <a:endParaRPr lang="en-US" sz="3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1C6AE027-E5F1-8E69-F430-EA172561893E}"/>
              </a:ext>
            </a:extLst>
          </p:cNvPr>
          <p:cNvSpPr/>
          <p:nvPr/>
        </p:nvSpPr>
        <p:spPr>
          <a:xfrm>
            <a:off x="686594" y="4693943"/>
            <a:ext cx="1828800" cy="274320"/>
          </a:xfrm>
          <a:prstGeom prst="rect">
            <a:avLst/>
          </a:prstGeom>
          <a:noFill/>
          <a:ln/>
        </p:spPr>
        <p:txBody>
          <a:bodyPr wrap="square" lIns="0" tIns="0" rIns="0" bIns="0" rtlCol="0" anchor="ctr"/>
          <a:lstStyle/>
          <a:p>
            <a:r>
              <a:rPr lang="en-US" sz="1200" b="1" kern="0" spc="15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ANSWER</a:t>
            </a:r>
            <a:endParaRPr lang="en-US"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0957D7CA-BB53-2C5C-A368-AD7F2E1F7B06}"/>
              </a:ext>
            </a:extLst>
          </p:cNvPr>
          <p:cNvSpPr/>
          <p:nvPr/>
        </p:nvSpPr>
        <p:spPr>
          <a:xfrm>
            <a:off x="686594" y="5082651"/>
            <a:ext cx="10817352" cy="658368"/>
          </a:xfrm>
          <a:prstGeom prst="rect">
            <a:avLst/>
          </a:prstGeom>
          <a:noFill/>
          <a:ln/>
        </p:spPr>
        <p:txBody>
          <a:bodyPr wrap="square" lIns="0" tIns="0" rIns="0" bIns="0" rtlCol="0" anchor="t"/>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C  </a:t>
            </a:r>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Understanding before sizing. Estimate by component with explicit unknowns; the PM owns the final number.</a:t>
            </a:r>
          </a:p>
        </p:txBody>
      </p:sp>
    </p:spTree>
    <p:extLst>
      <p:ext uri="{BB962C8B-B14F-4D97-AF65-F5344CB8AC3E}">
        <p14:creationId xmlns:p14="http://schemas.microsoft.com/office/powerpoint/2010/main" val="42357033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715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Before relying on an external tool (database, Jira) inside a session, which steps are appropriate? Select all that apply.</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610593"/>
            <a:ext cx="11274552" cy="557784"/>
          </a:xfrm>
          <a:prstGeom prst="roundRect">
            <a:avLst>
              <a:gd name="adj" fmla="val 9836"/>
            </a:avLst>
          </a:prstGeom>
          <a:solidFill>
            <a:srgbClr val="F5F5F5"/>
          </a:solidFill>
          <a:ln w="19050">
            <a:noFill/>
            <a:prstDash val="solid"/>
          </a:ln>
        </p:spPr>
        <p:txBody>
          <a:bodyPr/>
          <a:lstStyle/>
          <a:p>
            <a:endParaRPr lang="en-US" sz="3200"/>
          </a:p>
        </p:txBody>
      </p:sp>
      <p:sp>
        <p:nvSpPr>
          <p:cNvPr id="9" name="Shape 7"/>
          <p:cNvSpPr/>
          <p:nvPr/>
        </p:nvSpPr>
        <p:spPr>
          <a:xfrm>
            <a:off x="659162" y="1743181"/>
            <a:ext cx="292608" cy="292608"/>
          </a:xfrm>
          <a:prstGeom prst="ellipse">
            <a:avLst/>
          </a:prstGeom>
          <a:solidFill>
            <a:srgbClr val="C3C4C3"/>
          </a:solidFill>
          <a:ln/>
        </p:spPr>
        <p:txBody>
          <a:bodyPr/>
          <a:lstStyle/>
          <a:p>
            <a:endParaRPr lang="en-US" sz="3200"/>
          </a:p>
        </p:txBody>
      </p:sp>
      <p:sp>
        <p:nvSpPr>
          <p:cNvPr id="10" name="Text 8"/>
          <p:cNvSpPr/>
          <p:nvPr/>
        </p:nvSpPr>
        <p:spPr>
          <a:xfrm>
            <a:off x="659162" y="17431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cs typeface="Calibri" pitchFamily="34" charset="-120"/>
              </a:rPr>
              <a:t>A</a:t>
            </a:r>
            <a:endParaRPr lang="en-US" sz="1300" dirty="0"/>
          </a:p>
        </p:txBody>
      </p:sp>
      <p:sp>
        <p:nvSpPr>
          <p:cNvPr id="11" name="Text 9"/>
          <p:cNvSpPr/>
          <p:nvPr/>
        </p:nvSpPr>
        <p:spPr>
          <a:xfrm>
            <a:off x="1098074" y="16105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A.</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a:t>
            </a:r>
            <a:r>
              <a:rPr lang="en-US" sz="1400" dirty="0" err="1">
                <a:solidFill>
                  <a:schemeClr val="tx2"/>
                </a:solidFill>
                <a:latin typeface="Open Sans" panose="020B0606030504020204" pitchFamily="34" charset="0"/>
                <a:ea typeface="Open Sans" panose="020B0606030504020204" pitchFamily="34" charset="0"/>
                <a:cs typeface="Open Sans" panose="020B0606030504020204" pitchFamily="34" charset="0"/>
              </a:rPr>
              <a:t>mcp</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to set up or verify the server connection</a:t>
            </a:r>
          </a:p>
        </p:txBody>
      </p:sp>
      <p:sp>
        <p:nvSpPr>
          <p:cNvPr id="12" name="Shape 10"/>
          <p:cNvSpPr/>
          <p:nvPr/>
        </p:nvSpPr>
        <p:spPr>
          <a:xfrm>
            <a:off x="457994" y="2296393"/>
            <a:ext cx="11274552" cy="557784"/>
          </a:xfrm>
          <a:prstGeom prst="roundRect">
            <a:avLst>
              <a:gd name="adj" fmla="val 9836"/>
            </a:avLst>
          </a:prstGeom>
          <a:solidFill>
            <a:srgbClr val="F5F5F5"/>
          </a:solidFill>
          <a:ln w="19050">
            <a:noFill/>
            <a:prstDash val="solid"/>
          </a:ln>
        </p:spPr>
        <p:txBody>
          <a:bodyPr/>
          <a:lstStyle/>
          <a:p>
            <a:endParaRPr lang="en-US" sz="3200"/>
          </a:p>
        </p:txBody>
      </p:sp>
      <p:sp>
        <p:nvSpPr>
          <p:cNvPr id="13" name="Shape 11"/>
          <p:cNvSpPr/>
          <p:nvPr/>
        </p:nvSpPr>
        <p:spPr>
          <a:xfrm>
            <a:off x="659162" y="2428981"/>
            <a:ext cx="292608" cy="292608"/>
          </a:xfrm>
          <a:prstGeom prst="ellipse">
            <a:avLst/>
          </a:prstGeom>
          <a:solidFill>
            <a:srgbClr val="C3C4C3"/>
          </a:solidFill>
          <a:ln/>
        </p:spPr>
        <p:txBody>
          <a:bodyPr/>
          <a:lstStyle/>
          <a:p>
            <a:endParaRPr lang="en-US" sz="3200"/>
          </a:p>
        </p:txBody>
      </p:sp>
      <p:sp>
        <p:nvSpPr>
          <p:cNvPr id="14" name="Text 12"/>
          <p:cNvSpPr/>
          <p:nvPr/>
        </p:nvSpPr>
        <p:spPr>
          <a:xfrm>
            <a:off x="659162" y="24289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cs typeface="Calibri" pitchFamily="34" charset="-120"/>
              </a:rPr>
              <a:t>B</a:t>
            </a:r>
            <a:endParaRPr lang="en-US" sz="1300" dirty="0"/>
          </a:p>
        </p:txBody>
      </p:sp>
      <p:sp>
        <p:nvSpPr>
          <p:cNvPr id="15" name="Text 13"/>
          <p:cNvSpPr/>
          <p:nvPr/>
        </p:nvSpPr>
        <p:spPr>
          <a:xfrm>
            <a:off x="1098074" y="22963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B.</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/permissions to set the approval rules you want</a:t>
            </a:r>
          </a:p>
        </p:txBody>
      </p:sp>
      <p:sp>
        <p:nvSpPr>
          <p:cNvPr id="16" name="Shape 14"/>
          <p:cNvSpPr/>
          <p:nvPr/>
        </p:nvSpPr>
        <p:spPr>
          <a:xfrm>
            <a:off x="457994" y="2982193"/>
            <a:ext cx="11274552" cy="557784"/>
          </a:xfrm>
          <a:prstGeom prst="roundRect">
            <a:avLst>
              <a:gd name="adj" fmla="val 9836"/>
            </a:avLst>
          </a:prstGeom>
          <a:solidFill>
            <a:srgbClr val="F5F5F5"/>
          </a:solidFill>
          <a:ln/>
        </p:spPr>
        <p:txBody>
          <a:bodyPr/>
          <a:lstStyle/>
          <a:p>
            <a:endParaRPr lang="en-US" sz="3200"/>
          </a:p>
        </p:txBody>
      </p:sp>
      <p:sp>
        <p:nvSpPr>
          <p:cNvPr id="17" name="Shape 15"/>
          <p:cNvSpPr/>
          <p:nvPr/>
        </p:nvSpPr>
        <p:spPr>
          <a:xfrm>
            <a:off x="659162" y="3114781"/>
            <a:ext cx="292608" cy="292608"/>
          </a:xfrm>
          <a:prstGeom prst="ellipse">
            <a:avLst/>
          </a:prstGeom>
          <a:solidFill>
            <a:schemeClr val="tx2">
              <a:lumMod val="40000"/>
              <a:lumOff val="60000"/>
            </a:schemeClr>
          </a:solidFill>
          <a:ln>
            <a:noFill/>
          </a:ln>
        </p:spPr>
        <p:txBody>
          <a:bodyPr/>
          <a:lstStyle/>
          <a:p>
            <a:endParaRPr lang="en-US" sz="3200"/>
          </a:p>
        </p:txBody>
      </p:sp>
      <p:sp>
        <p:nvSpPr>
          <p:cNvPr id="18" name="Text 16"/>
          <p:cNvSpPr/>
          <p:nvPr/>
        </p:nvSpPr>
        <p:spPr>
          <a:xfrm>
            <a:off x="659162" y="31147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C</a:t>
            </a:r>
            <a:endParaRPr lang="en-US" sz="1300"/>
          </a:p>
        </p:txBody>
      </p:sp>
      <p:sp>
        <p:nvSpPr>
          <p:cNvPr id="19" name="Text 17"/>
          <p:cNvSpPr/>
          <p:nvPr/>
        </p:nvSpPr>
        <p:spPr>
          <a:xfrm>
            <a:off x="1098074" y="29821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C.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/usage to check token spend</a:t>
            </a:r>
          </a:p>
        </p:txBody>
      </p:sp>
      <p:sp>
        <p:nvSpPr>
          <p:cNvPr id="20" name="Shape 18"/>
          <p:cNvSpPr/>
          <p:nvPr/>
        </p:nvSpPr>
        <p:spPr>
          <a:xfrm>
            <a:off x="457994" y="3667993"/>
            <a:ext cx="11274552" cy="557784"/>
          </a:xfrm>
          <a:prstGeom prst="roundRect">
            <a:avLst>
              <a:gd name="adj" fmla="val 9836"/>
            </a:avLst>
          </a:prstGeom>
          <a:solidFill>
            <a:srgbClr val="F5F5F5"/>
          </a:solidFill>
          <a:ln w="19050">
            <a:noFill/>
            <a:prstDash val="solid"/>
          </a:ln>
        </p:spPr>
        <p:txBody>
          <a:bodyPr/>
          <a:lstStyle/>
          <a:p>
            <a:endParaRPr lang="en-US" sz="3200"/>
          </a:p>
        </p:txBody>
      </p:sp>
      <p:sp>
        <p:nvSpPr>
          <p:cNvPr id="21" name="Shape 19"/>
          <p:cNvSpPr/>
          <p:nvPr/>
        </p:nvSpPr>
        <p:spPr>
          <a:xfrm>
            <a:off x="659162" y="3800581"/>
            <a:ext cx="292608" cy="292608"/>
          </a:xfrm>
          <a:prstGeom prst="ellipse">
            <a:avLst/>
          </a:prstGeom>
          <a:solidFill>
            <a:srgbClr val="C3C4C3"/>
          </a:solidFill>
          <a:ln/>
        </p:spPr>
        <p:txBody>
          <a:bodyPr/>
          <a:lstStyle/>
          <a:p>
            <a:endParaRPr lang="en-US" sz="3200"/>
          </a:p>
        </p:txBody>
      </p:sp>
      <p:sp>
        <p:nvSpPr>
          <p:cNvPr id="22" name="Text 20"/>
          <p:cNvSpPr/>
          <p:nvPr/>
        </p:nvSpPr>
        <p:spPr>
          <a:xfrm>
            <a:off x="659162" y="38005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cs typeface="Calibri" pitchFamily="34" charset="-120"/>
              </a:rPr>
              <a:t>D</a:t>
            </a:r>
            <a:endParaRPr lang="en-US" sz="1300" dirty="0"/>
          </a:p>
        </p:txBody>
      </p:sp>
      <p:sp>
        <p:nvSpPr>
          <p:cNvPr id="23" name="Text 21"/>
          <p:cNvSpPr/>
          <p:nvPr/>
        </p:nvSpPr>
        <p:spPr>
          <a:xfrm>
            <a:off x="1098074" y="3667993"/>
            <a:ext cx="10515600" cy="557784"/>
          </a:xfrm>
          <a:prstGeom prst="rect">
            <a:avLst/>
          </a:prstGeom>
          <a:noFill/>
          <a:ln/>
        </p:spPr>
        <p:txBody>
          <a:bodyPr wrap="square" lIns="0" tIns="0" rIns="0" bIns="0" rtlCol="0" anchor="ctr"/>
          <a:lstStyle/>
          <a:p>
            <a:r>
              <a:rPr lang="en-US" sz="1400" b="1" dirty="0">
                <a:solidFill>
                  <a:schemeClr val="tx2"/>
                </a:solidFill>
                <a:latin typeface="Open Sans" panose="020B0606030504020204" pitchFamily="34" charset="0"/>
                <a:ea typeface="Open Sans" panose="020B0606030504020204" pitchFamily="34" charset="0"/>
                <a:cs typeface="Open Sans" panose="020B0606030504020204" pitchFamily="34" charset="0"/>
              </a:rPr>
              <a:t>D. </a:t>
            </a:r>
            <a:r>
              <a:rPr lang="en-US" sz="1400" dirty="0">
                <a:solidFill>
                  <a:schemeClr val="tx2"/>
                </a:solidFill>
                <a:latin typeface="Open Sans" panose="020B0606030504020204" pitchFamily="34" charset="0"/>
                <a:ea typeface="Open Sans" panose="020B0606030504020204" pitchFamily="34" charset="0"/>
                <a:cs typeface="Open Sans" panose="020B0606030504020204" pitchFamily="34" charset="0"/>
              </a:rPr>
              <a:t> Confirm the connector resolves to the right project or board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DAAF1-4543-DBDF-C0F9-C03E23F31FE8}"/>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57A24563-F463-98C8-D326-52B875E60615}"/>
              </a:ext>
            </a:extLst>
          </p:cNvPr>
          <p:cNvSpPr/>
          <p:nvPr/>
        </p:nvSpPr>
        <p:spPr>
          <a:xfrm>
            <a:off x="457994" y="697159"/>
            <a:ext cx="11274552" cy="109728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Before relying on an external tool (database, Jira) inside a session, which steps are appropriate? Select all that apply.</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089CABB5-F199-3C2F-1724-21B567AA7F0C}"/>
              </a:ext>
            </a:extLst>
          </p:cNvPr>
          <p:cNvSpPr/>
          <p:nvPr/>
        </p:nvSpPr>
        <p:spPr>
          <a:xfrm>
            <a:off x="457994" y="1610593"/>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9" name="Shape 7">
            <a:extLst>
              <a:ext uri="{FF2B5EF4-FFF2-40B4-BE49-F238E27FC236}">
                <a16:creationId xmlns:a16="http://schemas.microsoft.com/office/drawing/2014/main" id="{81A0375E-6400-0A7F-0807-E375211F99A6}"/>
              </a:ext>
            </a:extLst>
          </p:cNvPr>
          <p:cNvSpPr/>
          <p:nvPr/>
        </p:nvSpPr>
        <p:spPr>
          <a:xfrm>
            <a:off x="659162" y="1743181"/>
            <a:ext cx="292608" cy="292608"/>
          </a:xfrm>
          <a:prstGeom prst="ellipse">
            <a:avLst/>
          </a:prstGeom>
          <a:solidFill>
            <a:srgbClr val="00B050"/>
          </a:solidFill>
          <a:ln/>
        </p:spPr>
        <p:txBody>
          <a:bodyPr/>
          <a:lstStyle/>
          <a:p>
            <a:endParaRPr lang="en-US" sz="3200"/>
          </a:p>
        </p:txBody>
      </p:sp>
      <p:sp>
        <p:nvSpPr>
          <p:cNvPr id="10" name="Text 8">
            <a:extLst>
              <a:ext uri="{FF2B5EF4-FFF2-40B4-BE49-F238E27FC236}">
                <a16:creationId xmlns:a16="http://schemas.microsoft.com/office/drawing/2014/main" id="{E59D1E7F-6E43-BD35-C160-E5165043E3AE}"/>
              </a:ext>
            </a:extLst>
          </p:cNvPr>
          <p:cNvSpPr/>
          <p:nvPr/>
        </p:nvSpPr>
        <p:spPr>
          <a:xfrm>
            <a:off x="659162" y="1743181"/>
            <a:ext cx="292608" cy="292608"/>
          </a:xfrm>
          <a:prstGeom prst="rect">
            <a:avLst/>
          </a:prstGeom>
          <a:noFill/>
          <a:ln/>
        </p:spPr>
        <p:txBody>
          <a:bodyPr wrap="square" lIns="0" tIns="0" rIns="0" bIns="0" rtlCol="0" anchor="ctr"/>
          <a:lstStyle/>
          <a:p>
            <a:pPr algn="ct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1" name="Text 9">
            <a:extLst>
              <a:ext uri="{FF2B5EF4-FFF2-40B4-BE49-F238E27FC236}">
                <a16:creationId xmlns:a16="http://schemas.microsoft.com/office/drawing/2014/main" id="{9983391C-3976-08C0-1A3A-93CA496326B5}"/>
              </a:ext>
            </a:extLst>
          </p:cNvPr>
          <p:cNvSpPr/>
          <p:nvPr/>
        </p:nvSpPr>
        <p:spPr>
          <a:xfrm>
            <a:off x="1098074" y="1610593"/>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a:t>
            </a:r>
            <a:r>
              <a:rPr lang="en-US" sz="1400" b="1" dirty="0">
                <a:latin typeface="Open Sans" panose="020B0606030504020204" pitchFamily="34" charset="0"/>
                <a:ea typeface="Open Sans" panose="020B0606030504020204" pitchFamily="34" charset="0"/>
                <a:cs typeface="Open Sans" panose="020B0606030504020204" pitchFamily="34" charset="0"/>
              </a:rPr>
              <a:t>/</a:t>
            </a:r>
            <a:r>
              <a:rPr lang="en-US" sz="1400" b="1" dirty="0" err="1">
                <a:latin typeface="Open Sans" panose="020B0606030504020204" pitchFamily="34" charset="0"/>
                <a:ea typeface="Open Sans" panose="020B0606030504020204" pitchFamily="34" charset="0"/>
                <a:cs typeface="Open Sans" panose="020B0606030504020204" pitchFamily="34" charset="0"/>
              </a:rPr>
              <a:t>mcp</a:t>
            </a:r>
            <a:r>
              <a:rPr lang="en-US" sz="1400" b="1" dirty="0">
                <a:latin typeface="Open Sans" panose="020B0606030504020204" pitchFamily="34" charset="0"/>
                <a:ea typeface="Open Sans" panose="020B0606030504020204" pitchFamily="34" charset="0"/>
                <a:cs typeface="Open Sans" panose="020B0606030504020204" pitchFamily="34" charset="0"/>
              </a:rPr>
              <a:t> to set up or verify the server connection</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2" name="Shape 10">
            <a:extLst>
              <a:ext uri="{FF2B5EF4-FFF2-40B4-BE49-F238E27FC236}">
                <a16:creationId xmlns:a16="http://schemas.microsoft.com/office/drawing/2014/main" id="{85422262-18D0-5D75-AA82-E6918D7C827A}"/>
              </a:ext>
            </a:extLst>
          </p:cNvPr>
          <p:cNvSpPr/>
          <p:nvPr/>
        </p:nvSpPr>
        <p:spPr>
          <a:xfrm>
            <a:off x="457994" y="2296393"/>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13" name="Shape 11">
            <a:extLst>
              <a:ext uri="{FF2B5EF4-FFF2-40B4-BE49-F238E27FC236}">
                <a16:creationId xmlns:a16="http://schemas.microsoft.com/office/drawing/2014/main" id="{8EA4B911-34D5-594D-0872-0BED1DE82B92}"/>
              </a:ext>
            </a:extLst>
          </p:cNvPr>
          <p:cNvSpPr/>
          <p:nvPr/>
        </p:nvSpPr>
        <p:spPr>
          <a:xfrm>
            <a:off x="659162" y="2428981"/>
            <a:ext cx="292608" cy="292608"/>
          </a:xfrm>
          <a:prstGeom prst="ellipse">
            <a:avLst/>
          </a:prstGeom>
          <a:solidFill>
            <a:srgbClr val="00B050"/>
          </a:solidFill>
          <a:ln/>
        </p:spPr>
        <p:txBody>
          <a:bodyPr/>
          <a:lstStyle/>
          <a:p>
            <a:endParaRPr lang="en-US" sz="3200"/>
          </a:p>
        </p:txBody>
      </p:sp>
      <p:sp>
        <p:nvSpPr>
          <p:cNvPr id="14" name="Text 12">
            <a:extLst>
              <a:ext uri="{FF2B5EF4-FFF2-40B4-BE49-F238E27FC236}">
                <a16:creationId xmlns:a16="http://schemas.microsoft.com/office/drawing/2014/main" id="{0A7B632D-FE33-353B-5CE9-E33B7D463481}"/>
              </a:ext>
            </a:extLst>
          </p:cNvPr>
          <p:cNvSpPr/>
          <p:nvPr/>
        </p:nvSpPr>
        <p:spPr>
          <a:xfrm>
            <a:off x="659162" y="24289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15" name="Text 13">
            <a:extLst>
              <a:ext uri="{FF2B5EF4-FFF2-40B4-BE49-F238E27FC236}">
                <a16:creationId xmlns:a16="http://schemas.microsoft.com/office/drawing/2014/main" id="{7EBEE975-4335-3D0A-4EB4-0155FAA1F6CD}"/>
              </a:ext>
            </a:extLst>
          </p:cNvPr>
          <p:cNvSpPr/>
          <p:nvPr/>
        </p:nvSpPr>
        <p:spPr>
          <a:xfrm>
            <a:off x="1098074" y="2296393"/>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latin typeface="Open Sans" panose="020B0606030504020204" pitchFamily="34" charset="0"/>
                <a:ea typeface="Open Sans" panose="020B0606030504020204" pitchFamily="34" charset="0"/>
                <a:cs typeface="Open Sans" panose="020B0606030504020204" pitchFamily="34" charset="0"/>
              </a:rPr>
              <a:t>/permissions to set the approval rules you want</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Shape 14">
            <a:extLst>
              <a:ext uri="{FF2B5EF4-FFF2-40B4-BE49-F238E27FC236}">
                <a16:creationId xmlns:a16="http://schemas.microsoft.com/office/drawing/2014/main" id="{8DD1ECD3-0AE5-AC45-5ADF-331BA56073C3}"/>
              </a:ext>
            </a:extLst>
          </p:cNvPr>
          <p:cNvSpPr/>
          <p:nvPr/>
        </p:nvSpPr>
        <p:spPr>
          <a:xfrm>
            <a:off x="457994" y="2982193"/>
            <a:ext cx="11274552" cy="557784"/>
          </a:xfrm>
          <a:prstGeom prst="roundRect">
            <a:avLst>
              <a:gd name="adj" fmla="val 9836"/>
            </a:avLst>
          </a:prstGeom>
          <a:solidFill>
            <a:srgbClr val="F5F5F5"/>
          </a:solidFill>
          <a:ln/>
        </p:spPr>
        <p:txBody>
          <a:bodyPr/>
          <a:lstStyle/>
          <a:p>
            <a:endParaRPr lang="en-US" sz="3200"/>
          </a:p>
        </p:txBody>
      </p:sp>
      <p:sp>
        <p:nvSpPr>
          <p:cNvPr id="17" name="Shape 15">
            <a:extLst>
              <a:ext uri="{FF2B5EF4-FFF2-40B4-BE49-F238E27FC236}">
                <a16:creationId xmlns:a16="http://schemas.microsoft.com/office/drawing/2014/main" id="{6EB2ED88-94DA-DF73-622D-D4EF53FA24FC}"/>
              </a:ext>
            </a:extLst>
          </p:cNvPr>
          <p:cNvSpPr/>
          <p:nvPr/>
        </p:nvSpPr>
        <p:spPr>
          <a:xfrm>
            <a:off x="659162" y="3114781"/>
            <a:ext cx="292608" cy="292608"/>
          </a:xfrm>
          <a:prstGeom prst="ellipse">
            <a:avLst/>
          </a:prstGeom>
          <a:solidFill>
            <a:schemeClr val="tx2">
              <a:lumMod val="40000"/>
              <a:lumOff val="60000"/>
            </a:schemeClr>
          </a:solidFill>
          <a:ln>
            <a:noFill/>
          </a:ln>
        </p:spPr>
        <p:txBody>
          <a:bodyPr/>
          <a:lstStyle/>
          <a:p>
            <a:endParaRPr lang="en-US" sz="3200"/>
          </a:p>
        </p:txBody>
      </p:sp>
      <p:sp>
        <p:nvSpPr>
          <p:cNvPr id="18" name="Text 16">
            <a:extLst>
              <a:ext uri="{FF2B5EF4-FFF2-40B4-BE49-F238E27FC236}">
                <a16:creationId xmlns:a16="http://schemas.microsoft.com/office/drawing/2014/main" id="{50D1912B-B923-A2AB-BC68-EB2BBD388E47}"/>
              </a:ext>
            </a:extLst>
          </p:cNvPr>
          <p:cNvSpPr/>
          <p:nvPr/>
        </p:nvSpPr>
        <p:spPr>
          <a:xfrm>
            <a:off x="659162" y="31147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C</a:t>
            </a:r>
            <a:endParaRPr lang="en-US" sz="1300"/>
          </a:p>
        </p:txBody>
      </p:sp>
      <p:sp>
        <p:nvSpPr>
          <p:cNvPr id="19" name="Text 17">
            <a:extLst>
              <a:ext uri="{FF2B5EF4-FFF2-40B4-BE49-F238E27FC236}">
                <a16:creationId xmlns:a16="http://schemas.microsoft.com/office/drawing/2014/main" id="{38E20ECF-9B73-D5A5-4182-CF94774E52E6}"/>
              </a:ext>
            </a:extLst>
          </p:cNvPr>
          <p:cNvSpPr/>
          <p:nvPr/>
        </p:nvSpPr>
        <p:spPr>
          <a:xfrm>
            <a:off x="1098074" y="2982193"/>
            <a:ext cx="10515600" cy="557784"/>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C.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/usage to check token spend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06354B6C-F07D-7170-CBAA-7E28AC3FB8CE}"/>
              </a:ext>
            </a:extLst>
          </p:cNvPr>
          <p:cNvSpPr/>
          <p:nvPr/>
        </p:nvSpPr>
        <p:spPr>
          <a:xfrm>
            <a:off x="457994" y="3667993"/>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21" name="Shape 19">
            <a:extLst>
              <a:ext uri="{FF2B5EF4-FFF2-40B4-BE49-F238E27FC236}">
                <a16:creationId xmlns:a16="http://schemas.microsoft.com/office/drawing/2014/main" id="{6030AE76-C30C-B169-54FE-501E2CF99CDB}"/>
              </a:ext>
            </a:extLst>
          </p:cNvPr>
          <p:cNvSpPr/>
          <p:nvPr/>
        </p:nvSpPr>
        <p:spPr>
          <a:xfrm>
            <a:off x="659162" y="3800581"/>
            <a:ext cx="292608" cy="292608"/>
          </a:xfrm>
          <a:prstGeom prst="ellipse">
            <a:avLst/>
          </a:prstGeom>
          <a:solidFill>
            <a:srgbClr val="00B050"/>
          </a:solidFill>
          <a:ln/>
        </p:spPr>
        <p:txBody>
          <a:bodyPr/>
          <a:lstStyle/>
          <a:p>
            <a:endParaRPr lang="en-US" sz="3200"/>
          </a:p>
        </p:txBody>
      </p:sp>
      <p:sp>
        <p:nvSpPr>
          <p:cNvPr id="22" name="Text 20">
            <a:extLst>
              <a:ext uri="{FF2B5EF4-FFF2-40B4-BE49-F238E27FC236}">
                <a16:creationId xmlns:a16="http://schemas.microsoft.com/office/drawing/2014/main" id="{7B07BB62-F737-566F-EF94-56A25CD5D15C}"/>
              </a:ext>
            </a:extLst>
          </p:cNvPr>
          <p:cNvSpPr/>
          <p:nvPr/>
        </p:nvSpPr>
        <p:spPr>
          <a:xfrm>
            <a:off x="659162" y="3800581"/>
            <a:ext cx="292608" cy="292608"/>
          </a:xfrm>
          <a:prstGeom prst="rect">
            <a:avLst/>
          </a:prstGeom>
          <a:noFill/>
          <a:ln/>
        </p:spPr>
        <p:txBody>
          <a:bodyPr wrap="square" lIns="0" tIns="0" rIns="0" bIns="0" rtlCol="0" anchor="ctr"/>
          <a:lstStyle/>
          <a:p>
            <a:pPr algn="ctr"/>
            <a:r>
              <a:rPr lang="en-US" sz="1300" b="1">
                <a:solidFill>
                  <a:srgbClr val="FFFFFF"/>
                </a:solidFill>
                <a:latin typeface="Calibri" pitchFamily="34" charset="0"/>
                <a:ea typeface="Calibri" pitchFamily="34" charset="-122"/>
                <a:cs typeface="Calibri" pitchFamily="34" charset="-120"/>
              </a:rPr>
              <a:t>✓</a:t>
            </a:r>
            <a:endParaRPr lang="en-US" sz="1300"/>
          </a:p>
        </p:txBody>
      </p:sp>
      <p:sp>
        <p:nvSpPr>
          <p:cNvPr id="23" name="Text 21">
            <a:extLst>
              <a:ext uri="{FF2B5EF4-FFF2-40B4-BE49-F238E27FC236}">
                <a16:creationId xmlns:a16="http://schemas.microsoft.com/office/drawing/2014/main" id="{8448223A-268A-AFFF-82B0-364533655052}"/>
              </a:ext>
            </a:extLst>
          </p:cNvPr>
          <p:cNvSpPr/>
          <p:nvPr/>
        </p:nvSpPr>
        <p:spPr>
          <a:xfrm>
            <a:off x="1098074" y="3667993"/>
            <a:ext cx="10515600" cy="557784"/>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D.  </a:t>
            </a:r>
            <a:r>
              <a:rPr lang="en-US" sz="1400" b="1" dirty="0">
                <a:latin typeface="Open Sans" panose="020B0606030504020204" pitchFamily="34" charset="0"/>
                <a:ea typeface="Open Sans" panose="020B0606030504020204" pitchFamily="34" charset="0"/>
                <a:cs typeface="Open Sans" panose="020B0606030504020204" pitchFamily="34" charset="0"/>
              </a:rPr>
              <a:t>Confirm the connector resolves to the right project or board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a:extLst>
              <a:ext uri="{FF2B5EF4-FFF2-40B4-BE49-F238E27FC236}">
                <a16:creationId xmlns:a16="http://schemas.microsoft.com/office/drawing/2014/main" id="{C49D4BF6-C641-3699-75D4-485008E13D43}"/>
              </a:ext>
            </a:extLst>
          </p:cNvPr>
          <p:cNvSpPr/>
          <p:nvPr/>
        </p:nvSpPr>
        <p:spPr>
          <a:xfrm>
            <a:off x="457994" y="4628687"/>
            <a:ext cx="11274552" cy="1143000"/>
          </a:xfrm>
          <a:prstGeom prst="roundRect">
            <a:avLst>
              <a:gd name="adj" fmla="val 5600"/>
            </a:avLst>
          </a:prstGeom>
          <a:solidFill>
            <a:srgbClr val="F5F5F5"/>
          </a:solidFill>
          <a:ln/>
          <a:effectLst>
            <a:outerShdw blurRad="76200" dist="38100" dir="5400000" algn="bl" rotWithShape="0">
              <a:srgbClr val="9AA3B0">
                <a:alpha val="32000"/>
              </a:srgbClr>
            </a:outerShdw>
          </a:effectLst>
        </p:spPr>
        <p:txBody>
          <a:bodyPr/>
          <a:lstStyle/>
          <a:p>
            <a:endParaRPr lang="en-US" sz="3200"/>
          </a:p>
        </p:txBody>
      </p:sp>
      <p:sp>
        <p:nvSpPr>
          <p:cNvPr id="25" name="Text 23">
            <a:extLst>
              <a:ext uri="{FF2B5EF4-FFF2-40B4-BE49-F238E27FC236}">
                <a16:creationId xmlns:a16="http://schemas.microsoft.com/office/drawing/2014/main" id="{0AB60A4E-9F98-8E87-9C4F-5E55F508F354}"/>
              </a:ext>
            </a:extLst>
          </p:cNvPr>
          <p:cNvSpPr/>
          <p:nvPr/>
        </p:nvSpPr>
        <p:spPr>
          <a:xfrm>
            <a:off x="686594" y="4747559"/>
            <a:ext cx="1828800" cy="274320"/>
          </a:xfrm>
          <a:prstGeom prst="rect">
            <a:avLst/>
          </a:prstGeom>
          <a:noFill/>
          <a:ln/>
        </p:spPr>
        <p:txBody>
          <a:bodyPr wrap="square" lIns="0" tIns="0" rIns="0" bIns="0" rtlCol="0" anchor="ctr"/>
          <a:lstStyle/>
          <a:p>
            <a:r>
              <a:rPr lang="en-US" sz="1200" b="1" kern="0" spc="151" dirty="0">
                <a:solidFill>
                  <a:schemeClr val="accent1"/>
                </a:solidFill>
                <a:latin typeface="Open Sans" panose="020B0606030504020204" pitchFamily="34" charset="0"/>
                <a:ea typeface="Open Sans" panose="020B0606030504020204" pitchFamily="34" charset="0"/>
                <a:cs typeface="Open Sans" panose="020B0606030504020204" pitchFamily="34" charset="0"/>
              </a:rPr>
              <a:t>ANSWER</a:t>
            </a:r>
            <a:endParaRPr lang="en-US" sz="1200" dirty="0">
              <a:solidFill>
                <a:schemeClr val="accent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ext 24">
            <a:extLst>
              <a:ext uri="{FF2B5EF4-FFF2-40B4-BE49-F238E27FC236}">
                <a16:creationId xmlns:a16="http://schemas.microsoft.com/office/drawing/2014/main" id="{3CAED462-3F8B-75E3-ADBA-E0D70D3E4B79}"/>
              </a:ext>
            </a:extLst>
          </p:cNvPr>
          <p:cNvSpPr/>
          <p:nvPr/>
        </p:nvSpPr>
        <p:spPr>
          <a:xfrm>
            <a:off x="686594" y="5074656"/>
            <a:ext cx="10817352" cy="658368"/>
          </a:xfrm>
          <a:prstGeom prst="rect">
            <a:avLst/>
          </a:prstGeom>
          <a:noFill/>
          <a:ln/>
        </p:spPr>
        <p:txBody>
          <a:bodyPr wrap="square" lIns="0" tIns="0" rIns="0" bIns="0" rtlCol="0" anchor="t"/>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A, B, D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a:t>
            </a:r>
            <a:r>
              <a:rPr lang="en-US" sz="1400" dirty="0" err="1">
                <a:solidFill>
                  <a:srgbClr val="27303F"/>
                </a:solidFill>
                <a:latin typeface="Open Sans" panose="020B0606030504020204" pitchFamily="34" charset="0"/>
                <a:ea typeface="Open Sans" panose="020B0606030504020204" pitchFamily="34" charset="0"/>
                <a:cs typeface="Open Sans" panose="020B0606030504020204" pitchFamily="34" charset="0"/>
              </a:rPr>
              <a:t>mcp</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 registers and verifies servers, /permissions sets trust boundaries, and you confirm it points to the right data. /usage is about spend, not tool setup.</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736354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704344"/>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The key difference when using Claude on front-end versus back-end work is: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A41A6D85-2465-2B67-4CE7-626F4B3BC554}"/>
              </a:ext>
            </a:extLst>
          </p:cNvPr>
          <p:cNvSpPr/>
          <p:nvPr/>
        </p:nvSpPr>
        <p:spPr>
          <a:xfrm>
            <a:off x="457994" y="1601641"/>
            <a:ext cx="11274552" cy="557784"/>
          </a:xfrm>
          <a:prstGeom prst="roundRect">
            <a:avLst>
              <a:gd name="adj" fmla="val 9836"/>
            </a:avLst>
          </a:prstGeom>
          <a:solidFill>
            <a:srgbClr val="F5F5F5"/>
          </a:solidFill>
          <a:ln/>
        </p:spPr>
        <p:txBody>
          <a:bodyPr/>
          <a:lstStyle/>
          <a:p>
            <a:endParaRPr lang="en-US" sz="3200"/>
          </a:p>
        </p:txBody>
      </p:sp>
      <p:sp>
        <p:nvSpPr>
          <p:cNvPr id="9" name="Shape 7"/>
          <p:cNvSpPr/>
          <p:nvPr/>
        </p:nvSpPr>
        <p:spPr>
          <a:xfrm>
            <a:off x="659162" y="174337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337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79786" y="1655363"/>
            <a:ext cx="10515600" cy="450343"/>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Claude can only do back-end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14">
            <a:extLst>
              <a:ext uri="{FF2B5EF4-FFF2-40B4-BE49-F238E27FC236}">
                <a16:creationId xmlns:a16="http://schemas.microsoft.com/office/drawing/2014/main" id="{715B0589-93DD-37B0-6B7B-35A86A22C886}"/>
              </a:ext>
            </a:extLst>
          </p:cNvPr>
          <p:cNvSpPr/>
          <p:nvPr/>
        </p:nvSpPr>
        <p:spPr>
          <a:xfrm>
            <a:off x="457994" y="3031735"/>
            <a:ext cx="11274552" cy="557784"/>
          </a:xfrm>
          <a:prstGeom prst="roundRect">
            <a:avLst>
              <a:gd name="adj" fmla="val 9836"/>
            </a:avLst>
          </a:prstGeom>
          <a:solidFill>
            <a:srgbClr val="F5F5F5"/>
          </a:solidFill>
          <a:ln/>
        </p:spPr>
        <p:txBody>
          <a:bodyPr/>
          <a:lstStyle/>
          <a:p>
            <a:endParaRPr lang="en-US" sz="3200"/>
          </a:p>
        </p:txBody>
      </p:sp>
      <p:sp>
        <p:nvSpPr>
          <p:cNvPr id="17" name="Shape 15"/>
          <p:cNvSpPr/>
          <p:nvPr/>
        </p:nvSpPr>
        <p:spPr>
          <a:xfrm>
            <a:off x="659162" y="3173467"/>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59162" y="31734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79786" y="3085457"/>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Front-end needs no verification at all</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4">
            <a:extLst>
              <a:ext uri="{FF2B5EF4-FFF2-40B4-BE49-F238E27FC236}">
                <a16:creationId xmlns:a16="http://schemas.microsoft.com/office/drawing/2014/main" id="{23B4AD8F-4558-194B-4A9B-0D7E4B59B813}"/>
              </a:ext>
            </a:extLst>
          </p:cNvPr>
          <p:cNvSpPr/>
          <p:nvPr/>
        </p:nvSpPr>
        <p:spPr>
          <a:xfrm>
            <a:off x="457994" y="3731251"/>
            <a:ext cx="11274552" cy="557784"/>
          </a:xfrm>
          <a:prstGeom prst="roundRect">
            <a:avLst>
              <a:gd name="adj" fmla="val 9836"/>
            </a:avLst>
          </a:prstGeom>
          <a:solidFill>
            <a:srgbClr val="F5F5F5"/>
          </a:solidFill>
          <a:ln/>
        </p:spPr>
        <p:txBody>
          <a:bodyPr/>
          <a:lstStyle/>
          <a:p>
            <a:endParaRPr lang="en-US" sz="3200"/>
          </a:p>
        </p:txBody>
      </p:sp>
      <p:sp>
        <p:nvSpPr>
          <p:cNvPr id="21" name="Shape 19"/>
          <p:cNvSpPr/>
          <p:nvPr/>
        </p:nvSpPr>
        <p:spPr>
          <a:xfrm>
            <a:off x="659162" y="387298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87298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79786" y="3784973"/>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There is no practical difference</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6" name="Shape 14">
            <a:extLst>
              <a:ext uri="{FF2B5EF4-FFF2-40B4-BE49-F238E27FC236}">
                <a16:creationId xmlns:a16="http://schemas.microsoft.com/office/drawing/2014/main" id="{D1A2CC2B-561E-EA92-90AB-48BB68A272EC}"/>
              </a:ext>
            </a:extLst>
          </p:cNvPr>
          <p:cNvSpPr/>
          <p:nvPr/>
        </p:nvSpPr>
        <p:spPr>
          <a:xfrm>
            <a:off x="457994" y="2301157"/>
            <a:ext cx="11274552" cy="557784"/>
          </a:xfrm>
          <a:prstGeom prst="roundRect">
            <a:avLst>
              <a:gd name="adj" fmla="val 9836"/>
            </a:avLst>
          </a:prstGeom>
          <a:solidFill>
            <a:srgbClr val="F5F5F5"/>
          </a:solidFill>
          <a:ln/>
        </p:spPr>
        <p:txBody>
          <a:bodyPr/>
          <a:lstStyle/>
          <a:p>
            <a:endParaRPr lang="en-US" sz="3200"/>
          </a:p>
        </p:txBody>
      </p:sp>
      <p:sp>
        <p:nvSpPr>
          <p:cNvPr id="8" name="Shape 7">
            <a:extLst>
              <a:ext uri="{FF2B5EF4-FFF2-40B4-BE49-F238E27FC236}">
                <a16:creationId xmlns:a16="http://schemas.microsoft.com/office/drawing/2014/main" id="{12E65910-C8CE-AF38-1F67-BDCE5E7939D9}"/>
              </a:ext>
            </a:extLst>
          </p:cNvPr>
          <p:cNvSpPr/>
          <p:nvPr/>
        </p:nvSpPr>
        <p:spPr>
          <a:xfrm>
            <a:off x="659162" y="2442889"/>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8">
            <a:extLst>
              <a:ext uri="{FF2B5EF4-FFF2-40B4-BE49-F238E27FC236}">
                <a16:creationId xmlns:a16="http://schemas.microsoft.com/office/drawing/2014/main" id="{FC718458-7D21-E51D-CEB4-66AA8ED5CB3D}"/>
              </a:ext>
            </a:extLst>
          </p:cNvPr>
          <p:cNvSpPr/>
          <p:nvPr/>
        </p:nvSpPr>
        <p:spPr>
          <a:xfrm>
            <a:off x="659162" y="2442889"/>
            <a:ext cx="274320" cy="274320"/>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a:extLst>
              <a:ext uri="{FF2B5EF4-FFF2-40B4-BE49-F238E27FC236}">
                <a16:creationId xmlns:a16="http://schemas.microsoft.com/office/drawing/2014/main" id="{EE63D46A-6DAF-3140-2AA4-3C3878153C44}"/>
              </a:ext>
            </a:extLst>
          </p:cNvPr>
          <p:cNvSpPr/>
          <p:nvPr/>
        </p:nvSpPr>
        <p:spPr>
          <a:xfrm>
            <a:off x="1079786" y="2354879"/>
            <a:ext cx="10515600" cy="450343"/>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B. </a:t>
            </a:r>
            <a:r>
              <a:rPr lang="en-US" sz="1400" dirty="0">
                <a:solidFill>
                  <a:srgbClr val="4A5A78"/>
                </a:solidFill>
                <a:latin typeface="Open Sans" panose="020B0606030504020204" pitchFamily="34" charset="0"/>
                <a:ea typeface="Open Sans" panose="020B0606030504020204" pitchFamily="34" charset="0"/>
                <a:cs typeface="Open Sans" panose="020B0606030504020204" pitchFamily="34" charset="0"/>
              </a:rPr>
              <a:t>Back-end is verified by running tests; front-end usually needs you to check the rendered UI, because Claude cannot see pixels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1294-8A87-B182-94D3-CC85DE7C5A88}"/>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B49BCF2A-2AE0-042D-3204-994446B76F92}"/>
              </a:ext>
            </a:extLst>
          </p:cNvPr>
          <p:cNvSpPr/>
          <p:nvPr/>
        </p:nvSpPr>
        <p:spPr>
          <a:xfrm>
            <a:off x="457994" y="704344"/>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The key difference when using Claude on front-end versus back-end work is:</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DD28EDFA-C3D9-3D47-2947-40D7BE0E42BA}"/>
              </a:ext>
            </a:extLst>
          </p:cNvPr>
          <p:cNvSpPr/>
          <p:nvPr/>
        </p:nvSpPr>
        <p:spPr>
          <a:xfrm>
            <a:off x="457994" y="1601641"/>
            <a:ext cx="11274552" cy="557784"/>
          </a:xfrm>
          <a:prstGeom prst="roundRect">
            <a:avLst>
              <a:gd name="adj" fmla="val 9836"/>
            </a:avLst>
          </a:prstGeom>
          <a:solidFill>
            <a:srgbClr val="F5F5F5"/>
          </a:solidFill>
          <a:ln/>
        </p:spPr>
        <p:txBody>
          <a:bodyPr/>
          <a:lstStyle/>
          <a:p>
            <a:endParaRPr lang="en-US" sz="3200"/>
          </a:p>
        </p:txBody>
      </p:sp>
      <p:sp>
        <p:nvSpPr>
          <p:cNvPr id="9" name="Shape 7">
            <a:extLst>
              <a:ext uri="{FF2B5EF4-FFF2-40B4-BE49-F238E27FC236}">
                <a16:creationId xmlns:a16="http://schemas.microsoft.com/office/drawing/2014/main" id="{F9014317-CC7E-058B-A0D6-93B78C03FEA8}"/>
              </a:ext>
            </a:extLst>
          </p:cNvPr>
          <p:cNvSpPr/>
          <p:nvPr/>
        </p:nvSpPr>
        <p:spPr>
          <a:xfrm>
            <a:off x="659162" y="174337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B7EB0044-C98B-6278-ADBC-60191D89D7C3}"/>
              </a:ext>
            </a:extLst>
          </p:cNvPr>
          <p:cNvSpPr/>
          <p:nvPr/>
        </p:nvSpPr>
        <p:spPr>
          <a:xfrm>
            <a:off x="659162" y="174337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922C5E94-2BA6-6711-7947-1BC4C6827E48}"/>
              </a:ext>
            </a:extLst>
          </p:cNvPr>
          <p:cNvSpPr/>
          <p:nvPr/>
        </p:nvSpPr>
        <p:spPr>
          <a:xfrm>
            <a:off x="1079786" y="1655363"/>
            <a:ext cx="10515600" cy="450343"/>
          </a:xfrm>
          <a:prstGeom prst="rect">
            <a:avLst/>
          </a:prstGeom>
          <a:noFill/>
          <a:ln/>
        </p:spPr>
        <p:txBody>
          <a:bodyPr wrap="square" lIns="0" tIns="0" rIns="0" bIns="0" rtlCol="0" anchor="ctr"/>
          <a:lstStyle/>
          <a:p>
            <a:r>
              <a:rPr lang="en-US" sz="1400" b="1" dirty="0">
                <a:solidFill>
                  <a:srgbClr val="4A5A78"/>
                </a:solidFill>
                <a:latin typeface="Open Sans" panose="020B0606030504020204" pitchFamily="34" charset="0"/>
                <a:ea typeface="Open Sans" panose="020B0606030504020204" pitchFamily="34" charset="0"/>
                <a:cs typeface="Open Sans" panose="020B0606030504020204" pitchFamily="34" charset="0"/>
              </a:rPr>
              <a:t>A.  </a:t>
            </a:r>
            <a:r>
              <a:rPr lang="en-US" sz="1400" dirty="0">
                <a:solidFill>
                  <a:srgbClr val="27303F"/>
                </a:solidFill>
                <a:latin typeface="Open Sans" panose="020B0606030504020204" pitchFamily="34" charset="0"/>
                <a:ea typeface="Open Sans" panose="020B0606030504020204" pitchFamily="34" charset="0"/>
                <a:cs typeface="Open Sans" panose="020B0606030504020204" pitchFamily="34" charset="0"/>
              </a:rPr>
              <a:t>Claude can only do back-end</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2" name="Shape 10">
            <a:extLst>
              <a:ext uri="{FF2B5EF4-FFF2-40B4-BE49-F238E27FC236}">
                <a16:creationId xmlns:a16="http://schemas.microsoft.com/office/drawing/2014/main" id="{B9BE48F0-5E99-1B5E-330F-B26645C224B2}"/>
              </a:ext>
            </a:extLst>
          </p:cNvPr>
          <p:cNvSpPr/>
          <p:nvPr/>
        </p:nvSpPr>
        <p:spPr>
          <a:xfrm>
            <a:off x="457994" y="2296859"/>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13" name="Shape 11">
            <a:extLst>
              <a:ext uri="{FF2B5EF4-FFF2-40B4-BE49-F238E27FC236}">
                <a16:creationId xmlns:a16="http://schemas.microsoft.com/office/drawing/2014/main" id="{17AC93DB-8580-E2D7-A18E-A637C7A92D8B}"/>
              </a:ext>
            </a:extLst>
          </p:cNvPr>
          <p:cNvSpPr/>
          <p:nvPr/>
        </p:nvSpPr>
        <p:spPr>
          <a:xfrm>
            <a:off x="659162" y="2438591"/>
            <a:ext cx="274320" cy="274320"/>
          </a:xfrm>
          <a:prstGeom prst="ellipse">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E832242E-CCED-E905-4B12-88902B81B96B}"/>
              </a:ext>
            </a:extLst>
          </p:cNvPr>
          <p:cNvSpPr/>
          <p:nvPr/>
        </p:nvSpPr>
        <p:spPr>
          <a:xfrm>
            <a:off x="659162" y="2438591"/>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BA758001-7B78-5D3C-2685-B39A7153A6AA}"/>
              </a:ext>
            </a:extLst>
          </p:cNvPr>
          <p:cNvSpPr/>
          <p:nvPr/>
        </p:nvSpPr>
        <p:spPr>
          <a:xfrm>
            <a:off x="1079786" y="2350581"/>
            <a:ext cx="10515600" cy="450343"/>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a:t>
            </a:r>
            <a:r>
              <a:rPr lang="en-US" sz="1400" b="1" dirty="0">
                <a:solidFill>
                  <a:srgbClr val="27303F"/>
                </a:solidFill>
                <a:latin typeface="Open Sans" panose="020B0606030504020204" pitchFamily="34" charset="0"/>
                <a:ea typeface="Open Sans" panose="020B0606030504020204" pitchFamily="34" charset="0"/>
                <a:cs typeface="Open Sans" panose="020B0606030504020204" pitchFamily="34" charset="0"/>
              </a:rPr>
              <a:t>Back-end is verified by running tests; front-end usually needs you to check the rendered UI, because Claude cannot see pixels</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Shape 14">
            <a:extLst>
              <a:ext uri="{FF2B5EF4-FFF2-40B4-BE49-F238E27FC236}">
                <a16:creationId xmlns:a16="http://schemas.microsoft.com/office/drawing/2014/main" id="{852C7625-DDE2-B069-CC3F-C46E6AC2354A}"/>
              </a:ext>
            </a:extLst>
          </p:cNvPr>
          <p:cNvSpPr/>
          <p:nvPr/>
        </p:nvSpPr>
        <p:spPr>
          <a:xfrm>
            <a:off x="457994" y="3031735"/>
            <a:ext cx="11274552" cy="557784"/>
          </a:xfrm>
          <a:prstGeom prst="roundRect">
            <a:avLst>
              <a:gd name="adj" fmla="val 9836"/>
            </a:avLst>
          </a:prstGeom>
          <a:solidFill>
            <a:srgbClr val="F5F5F5"/>
          </a:solidFill>
          <a:ln/>
        </p:spPr>
        <p:txBody>
          <a:bodyPr/>
          <a:lstStyle/>
          <a:p>
            <a:endParaRPr lang="en-US" sz="3200"/>
          </a:p>
        </p:txBody>
      </p:sp>
      <p:sp>
        <p:nvSpPr>
          <p:cNvPr id="17" name="Shape 15">
            <a:extLst>
              <a:ext uri="{FF2B5EF4-FFF2-40B4-BE49-F238E27FC236}">
                <a16:creationId xmlns:a16="http://schemas.microsoft.com/office/drawing/2014/main" id="{0D39A8B6-3C46-6C52-2A2D-766C0118B406}"/>
              </a:ext>
            </a:extLst>
          </p:cNvPr>
          <p:cNvSpPr/>
          <p:nvPr/>
        </p:nvSpPr>
        <p:spPr>
          <a:xfrm>
            <a:off x="659162" y="3173467"/>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D282ED19-A4B8-0972-0D2F-9947C032F91F}"/>
              </a:ext>
            </a:extLst>
          </p:cNvPr>
          <p:cNvSpPr/>
          <p:nvPr/>
        </p:nvSpPr>
        <p:spPr>
          <a:xfrm>
            <a:off x="659162" y="31734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DDF69842-93B0-CAA5-0191-A9A79E8678DF}"/>
              </a:ext>
            </a:extLst>
          </p:cNvPr>
          <p:cNvSpPr/>
          <p:nvPr/>
        </p:nvSpPr>
        <p:spPr>
          <a:xfrm>
            <a:off x="1079786" y="3085457"/>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C.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Front-end needs no verification at all</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4">
            <a:extLst>
              <a:ext uri="{FF2B5EF4-FFF2-40B4-BE49-F238E27FC236}">
                <a16:creationId xmlns:a16="http://schemas.microsoft.com/office/drawing/2014/main" id="{6753D5B7-8EF3-51DF-9626-606E38DB7BF2}"/>
              </a:ext>
            </a:extLst>
          </p:cNvPr>
          <p:cNvSpPr/>
          <p:nvPr/>
        </p:nvSpPr>
        <p:spPr>
          <a:xfrm>
            <a:off x="457994" y="3731251"/>
            <a:ext cx="11274552" cy="557784"/>
          </a:xfrm>
          <a:prstGeom prst="roundRect">
            <a:avLst>
              <a:gd name="adj" fmla="val 9836"/>
            </a:avLst>
          </a:prstGeom>
          <a:solidFill>
            <a:srgbClr val="F5F5F5"/>
          </a:solidFill>
          <a:ln/>
        </p:spPr>
        <p:txBody>
          <a:bodyPr/>
          <a:lstStyle/>
          <a:p>
            <a:endParaRPr lang="en-US" sz="3200"/>
          </a:p>
        </p:txBody>
      </p:sp>
      <p:sp>
        <p:nvSpPr>
          <p:cNvPr id="21" name="Shape 19">
            <a:extLst>
              <a:ext uri="{FF2B5EF4-FFF2-40B4-BE49-F238E27FC236}">
                <a16:creationId xmlns:a16="http://schemas.microsoft.com/office/drawing/2014/main" id="{3701DF5F-4ECE-3989-9B8A-31F1C11F6934}"/>
              </a:ext>
            </a:extLst>
          </p:cNvPr>
          <p:cNvSpPr/>
          <p:nvPr/>
        </p:nvSpPr>
        <p:spPr>
          <a:xfrm>
            <a:off x="659162" y="3872983"/>
            <a:ext cx="274320" cy="274320"/>
          </a:xfrm>
          <a:prstGeom prst="ellipse">
            <a:avLst/>
          </a:prstGeom>
          <a:solidFill>
            <a:srgbClr val="C4CBD6"/>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DA1EF149-3721-DCFB-DE62-A2B68272485D}"/>
              </a:ext>
            </a:extLst>
          </p:cNvPr>
          <p:cNvSpPr/>
          <p:nvPr/>
        </p:nvSpPr>
        <p:spPr>
          <a:xfrm>
            <a:off x="659162" y="387298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9C652F32-D909-3C86-EB1F-7AF2135F587B}"/>
              </a:ext>
            </a:extLst>
          </p:cNvPr>
          <p:cNvSpPr/>
          <p:nvPr/>
        </p:nvSpPr>
        <p:spPr>
          <a:xfrm>
            <a:off x="1079786" y="3784973"/>
            <a:ext cx="10515600" cy="450343"/>
          </a:xfrm>
          <a:prstGeom prst="rect">
            <a:avLst/>
          </a:prstGeom>
          <a:noFill/>
          <a:ln/>
        </p:spPr>
        <p:txBody>
          <a:bodyPr wrap="square" lIns="0" tIns="0" rIns="0" bIns="0" rtlCol="0" anchor="ctr"/>
          <a:lstStyle/>
          <a:p>
            <a:r>
              <a:rPr lang="en-US" sz="1400" b="1">
                <a:solidFill>
                  <a:srgbClr val="4A5A78"/>
                </a:solidFill>
                <a:latin typeface="Open Sans" panose="020B0606030504020204" pitchFamily="34" charset="0"/>
                <a:ea typeface="Open Sans" panose="020B0606030504020204" pitchFamily="34" charset="0"/>
                <a:cs typeface="Open Sans" panose="020B0606030504020204" pitchFamily="34" charset="0"/>
              </a:rPr>
              <a:t>D.  </a:t>
            </a:r>
            <a:r>
              <a:rPr lang="en-US" sz="1400">
                <a:solidFill>
                  <a:srgbClr val="27303F"/>
                </a:solidFill>
                <a:latin typeface="Open Sans" panose="020B0606030504020204" pitchFamily="34" charset="0"/>
                <a:ea typeface="Open Sans" panose="020B0606030504020204" pitchFamily="34" charset="0"/>
                <a:cs typeface="Open Sans" panose="020B0606030504020204" pitchFamily="34" charset="0"/>
              </a:rPr>
              <a:t>There is no practical difference</a:t>
            </a:r>
            <a:endParaRPr lang="en-US" sz="1400">
              <a:latin typeface="Open Sans" panose="020B0606030504020204" pitchFamily="34" charset="0"/>
              <a:ea typeface="Open Sans" panose="020B0606030504020204" pitchFamily="34" charset="0"/>
              <a:cs typeface="Open Sans" panose="020B0606030504020204" pitchFamily="34" charset="0"/>
            </a:endParaRPr>
          </a:p>
        </p:txBody>
      </p:sp>
      <p:sp>
        <p:nvSpPr>
          <p:cNvPr id="24" name="Shape 22">
            <a:extLst>
              <a:ext uri="{FF2B5EF4-FFF2-40B4-BE49-F238E27FC236}">
                <a16:creationId xmlns:a16="http://schemas.microsoft.com/office/drawing/2014/main" id="{BF93BBA4-740C-8485-BC6B-B762C0F01F3B}"/>
              </a:ext>
            </a:extLst>
          </p:cNvPr>
          <p:cNvSpPr/>
          <p:nvPr/>
        </p:nvSpPr>
        <p:spPr>
          <a:xfrm>
            <a:off x="457994" y="4684859"/>
            <a:ext cx="11274552" cy="1143000"/>
          </a:xfrm>
          <a:prstGeom prst="roundRect">
            <a:avLst>
              <a:gd name="adj" fmla="val 5600"/>
            </a:avLst>
          </a:prstGeom>
          <a:solidFill>
            <a:srgbClr val="F5F5F5"/>
          </a:solidFill>
          <a:ln/>
          <a:effectLst>
            <a:outerShdw blurRad="76200" dist="38100" dir="5400000" algn="bl" rotWithShape="0">
              <a:srgbClr val="9AA3B0">
                <a:alpha val="32000"/>
              </a:srgbClr>
            </a:outerShdw>
          </a:effectLst>
        </p:spPr>
        <p:txBody>
          <a:bodyPr/>
          <a:lstStyle/>
          <a:p>
            <a:endParaRPr lang="en-US" sz="3200"/>
          </a:p>
        </p:txBody>
      </p:sp>
      <p:sp>
        <p:nvSpPr>
          <p:cNvPr id="26" name="Shape 24">
            <a:extLst>
              <a:ext uri="{FF2B5EF4-FFF2-40B4-BE49-F238E27FC236}">
                <a16:creationId xmlns:a16="http://schemas.microsoft.com/office/drawing/2014/main" id="{0C0D7E5E-6FD0-C815-DDE4-ECC60C40E428}"/>
              </a:ext>
            </a:extLst>
          </p:cNvPr>
          <p:cNvSpPr/>
          <p:nvPr/>
        </p:nvSpPr>
        <p:spPr>
          <a:xfrm>
            <a:off x="745591" y="5047488"/>
            <a:ext cx="758952" cy="365760"/>
          </a:xfrm>
          <a:prstGeom prst="roundRect">
            <a:avLst>
              <a:gd name="adj" fmla="val 15000"/>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CFEDA0B7-60E1-9C6E-A0EE-F954CEC86A9E}"/>
              </a:ext>
            </a:extLst>
          </p:cNvPr>
          <p:cNvSpPr/>
          <p:nvPr/>
        </p:nvSpPr>
        <p:spPr>
          <a:xfrm>
            <a:off x="714026" y="5047488"/>
            <a:ext cx="758952" cy="365760"/>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ANS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29FE0C54-AE18-2F5A-788A-3424F0061BE1}"/>
              </a:ext>
            </a:extLst>
          </p:cNvPr>
          <p:cNvSpPr/>
          <p:nvPr/>
        </p:nvSpPr>
        <p:spPr>
          <a:xfrm>
            <a:off x="1701578" y="5029200"/>
            <a:ext cx="10030968" cy="384048"/>
          </a:xfrm>
          <a:prstGeom prst="rect">
            <a:avLst/>
          </a:prstGeom>
          <a:noFill/>
          <a:ln/>
        </p:spPr>
        <p:txBody>
          <a:bodyPr wrap="square" lIns="0" tIns="0" rIns="0" bIns="0" rtlCol="0" anchor="ctr"/>
          <a:lstStyle/>
          <a:p>
            <a:r>
              <a:rPr lang="en-US" sz="1400" dirty="0">
                <a:solidFill>
                  <a:srgbClr val="1B2A4A"/>
                </a:solidFill>
                <a:latin typeface="Open Sans" panose="020B0606030504020204" pitchFamily="34" charset="0"/>
                <a:ea typeface="Open Sans" panose="020B0606030504020204" pitchFamily="34" charset="0"/>
                <a:cs typeface="Open Sans" panose="020B0606030504020204" pitchFamily="34" charset="0"/>
              </a:rPr>
              <a:t>Two different verification loops. Claude reasons over code, not over pixels, so you close the loop on anything visual in a real browser.</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197596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0016"/>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An intern must add a feature to an unfamiliar FastAPI service with Claude Code. Best approach?</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5445DAB9-3E3D-2949-70E2-F84F38236A25}"/>
              </a:ext>
            </a:extLst>
          </p:cNvPr>
          <p:cNvSpPr/>
          <p:nvPr/>
        </p:nvSpPr>
        <p:spPr>
          <a:xfrm>
            <a:off x="457994" y="1608059"/>
            <a:ext cx="11274552" cy="557784"/>
          </a:xfrm>
          <a:prstGeom prst="roundRect">
            <a:avLst>
              <a:gd name="adj" fmla="val 9836"/>
            </a:avLst>
          </a:prstGeom>
          <a:solidFill>
            <a:srgbClr val="F5F5F5"/>
          </a:solidFill>
          <a:ln/>
        </p:spPr>
        <p:txBody>
          <a:bodyPr/>
          <a:lstStyle/>
          <a:p>
            <a:endParaRPr lang="en-US" sz="3200"/>
          </a:p>
        </p:txBody>
      </p:sp>
      <p:sp>
        <p:nvSpPr>
          <p:cNvPr id="9" name="Shape 7"/>
          <p:cNvSpPr/>
          <p:nvPr/>
        </p:nvSpPr>
        <p:spPr>
          <a:xfrm>
            <a:off x="659162" y="1749791"/>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659162" y="1749791"/>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p:cNvSpPr/>
          <p:nvPr/>
        </p:nvSpPr>
        <p:spPr>
          <a:xfrm>
            <a:off x="1079786" y="1661781"/>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A.  Ask Claude to implement it straight away in auto-accept mode</a:t>
            </a:r>
            <a:r>
              <a:rPr lang="en-US" sz="1400" dirty="0">
                <a:latin typeface="Open Sans" panose="020B0606030504020204" pitchFamily="34" charset="0"/>
                <a:ea typeface="Open Sans" panose="020B0606030504020204" pitchFamily="34" charset="0"/>
                <a:cs typeface="Open Sans" panose="020B0606030504020204" pitchFamily="34" charset="0"/>
              </a:rPr>
              <a:t/>
            </a:r>
          </a:p>
        </p:txBody>
      </p:sp>
      <p:sp>
        <p:nvSpPr>
          <p:cNvPr id="5" name="Shape 14">
            <a:extLst>
              <a:ext uri="{FF2B5EF4-FFF2-40B4-BE49-F238E27FC236}">
                <a16:creationId xmlns:a16="http://schemas.microsoft.com/office/drawing/2014/main" id="{3A11C3BB-2B04-F0AB-0444-79FF44E1F59A}"/>
              </a:ext>
            </a:extLst>
          </p:cNvPr>
          <p:cNvSpPr/>
          <p:nvPr/>
        </p:nvSpPr>
        <p:spPr>
          <a:xfrm>
            <a:off x="457994" y="2948191"/>
            <a:ext cx="11274552" cy="557784"/>
          </a:xfrm>
          <a:prstGeom prst="roundRect">
            <a:avLst>
              <a:gd name="adj" fmla="val 9836"/>
            </a:avLst>
          </a:prstGeom>
          <a:solidFill>
            <a:srgbClr val="F5F5F5"/>
          </a:solidFill>
          <a:ln/>
        </p:spPr>
        <p:txBody>
          <a:bodyPr/>
          <a:lstStyle/>
          <a:p>
            <a:endParaRPr lang="en-US" sz="3200"/>
          </a:p>
        </p:txBody>
      </p:sp>
      <p:sp>
        <p:nvSpPr>
          <p:cNvPr id="17" name="Shape 15"/>
          <p:cNvSpPr/>
          <p:nvPr/>
        </p:nvSpPr>
        <p:spPr>
          <a:xfrm>
            <a:off x="659162" y="3089923"/>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659162" y="308992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079786" y="3001913"/>
            <a:ext cx="10515600" cy="450343"/>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C.  Rewrite the service in a framework they already know</a:t>
            </a:r>
            <a:r>
              <a:rPr lang="en-US" sz="1400">
                <a:latin typeface="Open Sans" panose="020B0606030504020204" pitchFamily="34" charset="0"/>
                <a:ea typeface="Open Sans" panose="020B0606030504020204" pitchFamily="34" charset="0"/>
                <a:cs typeface="Open Sans" panose="020B0606030504020204" pitchFamily="34" charset="0"/>
              </a:rPr>
              <a:t/>
            </a:r>
          </a:p>
        </p:txBody>
      </p:sp>
      <p:sp>
        <p:nvSpPr>
          <p:cNvPr id="2" name="Shape 14">
            <a:extLst>
              <a:ext uri="{FF2B5EF4-FFF2-40B4-BE49-F238E27FC236}">
                <a16:creationId xmlns:a16="http://schemas.microsoft.com/office/drawing/2014/main" id="{51EB5FF5-E9AB-140B-7CE6-6EF140450080}"/>
              </a:ext>
            </a:extLst>
          </p:cNvPr>
          <p:cNvSpPr/>
          <p:nvPr/>
        </p:nvSpPr>
        <p:spPr>
          <a:xfrm>
            <a:off x="457994" y="3639835"/>
            <a:ext cx="11274552" cy="557784"/>
          </a:xfrm>
          <a:prstGeom prst="roundRect">
            <a:avLst>
              <a:gd name="adj" fmla="val 9836"/>
            </a:avLst>
          </a:prstGeom>
          <a:solidFill>
            <a:srgbClr val="F5F5F5"/>
          </a:solidFill>
          <a:ln/>
        </p:spPr>
        <p:txBody>
          <a:bodyPr/>
          <a:lstStyle/>
          <a:p>
            <a:endParaRPr lang="en-US" sz="3200"/>
          </a:p>
        </p:txBody>
      </p:sp>
      <p:sp>
        <p:nvSpPr>
          <p:cNvPr id="21" name="Shape 19"/>
          <p:cNvSpPr/>
          <p:nvPr/>
        </p:nvSpPr>
        <p:spPr>
          <a:xfrm>
            <a:off x="659162" y="3781567"/>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659162" y="37815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p:cNvSpPr/>
          <p:nvPr/>
        </p:nvSpPr>
        <p:spPr>
          <a:xfrm>
            <a:off x="1079786" y="3693557"/>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D.  Paste a snippet from a blog post and adapt it until it runs</a:t>
            </a:r>
            <a:r>
              <a:rPr lang="en-US" sz="1400" dirty="0">
                <a:latin typeface="Open Sans" panose="020B0606030504020204" pitchFamily="34" charset="0"/>
                <a:ea typeface="Open Sans" panose="020B0606030504020204" pitchFamily="34" charset="0"/>
                <a:cs typeface="Open Sans" panose="020B0606030504020204" pitchFamily="34" charset="0"/>
              </a:rPr>
              <a:t/>
            </a:r>
          </a:p>
        </p:txBody>
      </p:sp>
      <p:sp>
        <p:nvSpPr>
          <p:cNvPr id="6" name="Shape 14">
            <a:extLst>
              <a:ext uri="{FF2B5EF4-FFF2-40B4-BE49-F238E27FC236}">
                <a16:creationId xmlns:a16="http://schemas.microsoft.com/office/drawing/2014/main" id="{06A046A7-86C5-EB1F-C8A5-65A1CA00326C}"/>
              </a:ext>
            </a:extLst>
          </p:cNvPr>
          <p:cNvSpPr/>
          <p:nvPr/>
        </p:nvSpPr>
        <p:spPr>
          <a:xfrm>
            <a:off x="457994" y="2278125"/>
            <a:ext cx="11274552" cy="557784"/>
          </a:xfrm>
          <a:prstGeom prst="roundRect">
            <a:avLst>
              <a:gd name="adj" fmla="val 9836"/>
            </a:avLst>
          </a:prstGeom>
          <a:solidFill>
            <a:srgbClr val="F5F5F5"/>
          </a:solidFill>
          <a:ln/>
        </p:spPr>
        <p:txBody>
          <a:bodyPr/>
          <a:lstStyle/>
          <a:p>
            <a:endParaRPr lang="en-US" sz="3200"/>
          </a:p>
        </p:txBody>
      </p:sp>
      <p:sp>
        <p:nvSpPr>
          <p:cNvPr id="8" name="Shape 7">
            <a:extLst>
              <a:ext uri="{FF2B5EF4-FFF2-40B4-BE49-F238E27FC236}">
                <a16:creationId xmlns:a16="http://schemas.microsoft.com/office/drawing/2014/main" id="{97511AFA-6B21-15A2-93FC-16F3FF89BFC3}"/>
              </a:ext>
            </a:extLst>
          </p:cNvPr>
          <p:cNvSpPr/>
          <p:nvPr/>
        </p:nvSpPr>
        <p:spPr>
          <a:xfrm>
            <a:off x="659162" y="2419857"/>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8">
            <a:extLst>
              <a:ext uri="{FF2B5EF4-FFF2-40B4-BE49-F238E27FC236}">
                <a16:creationId xmlns:a16="http://schemas.microsoft.com/office/drawing/2014/main" id="{A82AD1D2-956B-3981-760B-BAE182C7EF1D}"/>
              </a:ext>
            </a:extLst>
          </p:cNvPr>
          <p:cNvSpPr/>
          <p:nvPr/>
        </p:nvSpPr>
        <p:spPr>
          <a:xfrm>
            <a:off x="659162" y="2419857"/>
            <a:ext cx="274320" cy="274320"/>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B</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9">
            <a:extLst>
              <a:ext uri="{FF2B5EF4-FFF2-40B4-BE49-F238E27FC236}">
                <a16:creationId xmlns:a16="http://schemas.microsoft.com/office/drawing/2014/main" id="{D0075A0A-8513-1863-E8EF-035B0CC25779}"/>
              </a:ext>
            </a:extLst>
          </p:cNvPr>
          <p:cNvSpPr/>
          <p:nvPr/>
        </p:nvSpPr>
        <p:spPr>
          <a:xfrm>
            <a:off x="1079786" y="2331847"/>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B. Plan mode first: map the code with @file references, agree a plan against the spec, then run the build loop with tests</a:t>
            </a:r>
            <a:r>
              <a:rPr lang="en-US" sz="1400" dirty="0">
                <a:latin typeface="Open Sans" panose="020B0606030504020204" pitchFamily="34" charset="0"/>
                <a:ea typeface="Open Sans" panose="020B0606030504020204" pitchFamily="34" charset="0"/>
                <a:cs typeface="Open Sans" panose="020B0606030504020204" pitchFamily="34" charset="0"/>
              </a:rPr>
              <a:t/>
            </a:r>
            <a:r>
              <a:rPr lang="en-US" sz="1400" dirty="0" err="1">
                <a:latin typeface="Open Sans" panose="020B0606030504020204" pitchFamily="34" charset="0"/>
                <a:ea typeface="Open Sans" panose="020B0606030504020204" pitchFamily="34" charset="0"/>
                <a:cs typeface="Open Sans" panose="020B0606030504020204" pitchFamily="34" charset="0"/>
              </a:rPr>
              <a:t/>
            </a:r>
            <a:r>
              <a:rPr lang="en-US" sz="1400" dirty="0">
                <a:latin typeface="Open Sans" panose="020B0606030504020204" pitchFamily="34" charset="0"/>
                <a:ea typeface="Open Sans" panose="020B0606030504020204" pitchFamily="34" charset="0"/>
                <a:cs typeface="Open Sans" panose="020B0606030504020204" pitchFamily="34" charset="0"/>
              </a:rPr>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FBFA7-D5BB-D0CC-7CEC-398420A8085C}"/>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A657C1BF-D43B-427E-8D5D-A9BF3BE8C4FB}"/>
              </a:ext>
            </a:extLst>
          </p:cNvPr>
          <p:cNvSpPr/>
          <p:nvPr/>
        </p:nvSpPr>
        <p:spPr>
          <a:xfrm>
            <a:off x="457994" y="690016"/>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An intern must add a feature to an unfamiliar FastAPI service with Claude Code. Best approach?</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3" name="Shape 14">
            <a:extLst>
              <a:ext uri="{FF2B5EF4-FFF2-40B4-BE49-F238E27FC236}">
                <a16:creationId xmlns:a16="http://schemas.microsoft.com/office/drawing/2014/main" id="{7AFE64A2-23C3-1291-728D-2C63CE7E5156}"/>
              </a:ext>
            </a:extLst>
          </p:cNvPr>
          <p:cNvSpPr/>
          <p:nvPr/>
        </p:nvSpPr>
        <p:spPr>
          <a:xfrm>
            <a:off x="457994" y="1608059"/>
            <a:ext cx="11274552" cy="557784"/>
          </a:xfrm>
          <a:prstGeom prst="roundRect">
            <a:avLst>
              <a:gd name="adj" fmla="val 9836"/>
            </a:avLst>
          </a:prstGeom>
          <a:solidFill>
            <a:srgbClr val="F5F5F5"/>
          </a:solidFill>
          <a:ln/>
        </p:spPr>
        <p:txBody>
          <a:bodyPr/>
          <a:lstStyle/>
          <a:p>
            <a:endParaRPr lang="en-US" sz="3200"/>
          </a:p>
        </p:txBody>
      </p:sp>
      <p:sp>
        <p:nvSpPr>
          <p:cNvPr id="9" name="Shape 7">
            <a:extLst>
              <a:ext uri="{FF2B5EF4-FFF2-40B4-BE49-F238E27FC236}">
                <a16:creationId xmlns:a16="http://schemas.microsoft.com/office/drawing/2014/main" id="{6D9AD6F0-D9EE-CB79-29E1-112A4DD54DCA}"/>
              </a:ext>
            </a:extLst>
          </p:cNvPr>
          <p:cNvSpPr/>
          <p:nvPr/>
        </p:nvSpPr>
        <p:spPr>
          <a:xfrm>
            <a:off x="659162" y="1749791"/>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8D608298-186E-B393-C563-7E7C860DEDD1}"/>
              </a:ext>
            </a:extLst>
          </p:cNvPr>
          <p:cNvSpPr/>
          <p:nvPr/>
        </p:nvSpPr>
        <p:spPr>
          <a:xfrm>
            <a:off x="659162" y="1749791"/>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A</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1" name="Text 9">
            <a:extLst>
              <a:ext uri="{FF2B5EF4-FFF2-40B4-BE49-F238E27FC236}">
                <a16:creationId xmlns:a16="http://schemas.microsoft.com/office/drawing/2014/main" id="{BFACAF18-3CC8-05E7-BE83-7CC7D7B491A2}"/>
              </a:ext>
            </a:extLst>
          </p:cNvPr>
          <p:cNvSpPr/>
          <p:nvPr/>
        </p:nvSpPr>
        <p:spPr>
          <a:xfrm>
            <a:off x="1079786" y="1661781"/>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A.  Ask Claude to implement it straight away in auto-accept mode</a:t>
            </a:r>
            <a:r>
              <a:rPr lang="en-US" sz="1400" dirty="0">
                <a:latin typeface="Open Sans" panose="020B0606030504020204" pitchFamily="34" charset="0"/>
                <a:ea typeface="Open Sans" panose="020B0606030504020204" pitchFamily="34" charset="0"/>
                <a:cs typeface="Open Sans" panose="020B0606030504020204" pitchFamily="34" charset="0"/>
              </a:rPr>
              <a:t/>
            </a:r>
          </a:p>
        </p:txBody>
      </p:sp>
      <p:sp>
        <p:nvSpPr>
          <p:cNvPr id="4" name="Shape 10">
            <a:extLst>
              <a:ext uri="{FF2B5EF4-FFF2-40B4-BE49-F238E27FC236}">
                <a16:creationId xmlns:a16="http://schemas.microsoft.com/office/drawing/2014/main" id="{6B1312CB-0600-B423-7194-AD4D38B07FD7}"/>
              </a:ext>
            </a:extLst>
          </p:cNvPr>
          <p:cNvSpPr/>
          <p:nvPr/>
        </p:nvSpPr>
        <p:spPr>
          <a:xfrm>
            <a:off x="457994" y="2296859"/>
            <a:ext cx="11274552" cy="557784"/>
          </a:xfrm>
          <a:prstGeom prst="roundRect">
            <a:avLst>
              <a:gd name="adj" fmla="val 9836"/>
            </a:avLst>
          </a:prstGeom>
          <a:solidFill>
            <a:srgbClr val="ECFEF6"/>
          </a:solidFill>
          <a:ln w="19050">
            <a:solidFill>
              <a:srgbClr val="00B050"/>
            </a:solidFill>
            <a:prstDash val="solid"/>
          </a:ln>
        </p:spPr>
        <p:txBody>
          <a:bodyPr/>
          <a:lstStyle/>
          <a:p>
            <a:endParaRPr lang="en-US" sz="3200"/>
          </a:p>
        </p:txBody>
      </p:sp>
      <p:sp>
        <p:nvSpPr>
          <p:cNvPr id="13" name="Shape 11">
            <a:extLst>
              <a:ext uri="{FF2B5EF4-FFF2-40B4-BE49-F238E27FC236}">
                <a16:creationId xmlns:a16="http://schemas.microsoft.com/office/drawing/2014/main" id="{B5A8A3C2-96D9-2330-021B-3E292FB5E700}"/>
              </a:ext>
            </a:extLst>
          </p:cNvPr>
          <p:cNvSpPr/>
          <p:nvPr/>
        </p:nvSpPr>
        <p:spPr>
          <a:xfrm>
            <a:off x="659162" y="2438591"/>
            <a:ext cx="274320" cy="274320"/>
          </a:xfrm>
          <a:prstGeom prst="ellipse">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4" name="Text 12">
            <a:extLst>
              <a:ext uri="{FF2B5EF4-FFF2-40B4-BE49-F238E27FC236}">
                <a16:creationId xmlns:a16="http://schemas.microsoft.com/office/drawing/2014/main" id="{DE6EED79-7B46-9E26-F5DB-F8EE4BF35DB7}"/>
              </a:ext>
            </a:extLst>
          </p:cNvPr>
          <p:cNvSpPr/>
          <p:nvPr/>
        </p:nvSpPr>
        <p:spPr>
          <a:xfrm>
            <a:off x="659162" y="2438591"/>
            <a:ext cx="274320" cy="274320"/>
          </a:xfrm>
          <a:prstGeom prst="rect">
            <a:avLst/>
          </a:prstGeom>
          <a:noFill/>
          <a:ln/>
        </p:spPr>
        <p:txBody>
          <a:bodyPr wrap="square" lIns="0" tIns="0" rIns="0" bIns="0" rtlCol="0" anchor="ctr"/>
          <a:lstStyle/>
          <a:p>
            <a:pPr algn="ctr"/>
            <a:r>
              <a:rPr lang="en-US" sz="13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t>
            </a:r>
            <a:endParaRPr lang="en-US" sz="1300" dirty="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57244541-AF54-ABE9-ED21-8E39AD35C121}"/>
              </a:ext>
            </a:extLst>
          </p:cNvPr>
          <p:cNvSpPr/>
          <p:nvPr/>
        </p:nvSpPr>
        <p:spPr>
          <a:xfrm>
            <a:off x="1079786" y="2350581"/>
            <a:ext cx="10515600" cy="450343"/>
          </a:xfrm>
          <a:prstGeom prst="rect">
            <a:avLst/>
          </a:prstGeom>
          <a:noFill/>
          <a:ln/>
        </p:spPr>
        <p:txBody>
          <a:bodyPr wrap="square" lIns="0" tIns="0" rIns="0" bIns="0" rtlCol="0" anchor="ctr"/>
          <a:lstStyle/>
          <a:p>
            <a:r>
              <a:rPr lang="en-US" sz="1400" b="1" dirty="0">
                <a:solidFill>
                  <a:srgbClr val="00B050"/>
                </a:solidFill>
                <a:latin typeface="Open Sans" panose="020B0606030504020204" pitchFamily="34" charset="0"/>
                <a:ea typeface="Open Sans" panose="020B0606030504020204" pitchFamily="34" charset="0"/>
                <a:cs typeface="Open Sans" panose="020B0606030504020204" pitchFamily="34" charset="0"/>
              </a:rPr>
              <a:t>B.  Plan mode first: map the code with @file references, agree a plan against the spec, then run the build loop with tests</a:t>
            </a:r>
            <a:r>
              <a:rPr lang="en-US" sz="1400" b="1" dirty="0">
                <a:latin typeface="Open Sans" panose="020B0606030504020204" pitchFamily="34" charset="0"/>
                <a:ea typeface="Open Sans" panose="020B0606030504020204" pitchFamily="34" charset="0"/>
                <a:cs typeface="Open Sans" panose="020B0606030504020204" pitchFamily="34" charset="0"/>
              </a:rPr>
              <a:t/>
            </a:r>
            <a:r>
              <a:rPr lang="en-US" sz="1400" b="1" dirty="0" err="1">
                <a:latin typeface="Open Sans" panose="020B0606030504020204" pitchFamily="34" charset="0"/>
                <a:ea typeface="Open Sans" panose="020B0606030504020204" pitchFamily="34" charset="0"/>
                <a:cs typeface="Open Sans" panose="020B0606030504020204" pitchFamily="34" charset="0"/>
              </a:rPr>
              <a:t/>
            </a:r>
            <a:r>
              <a:rPr lang="en-US" sz="1400" b="1" dirty="0">
                <a:latin typeface="Open Sans" panose="020B0606030504020204" pitchFamily="34" charset="0"/>
                <a:ea typeface="Open Sans" panose="020B0606030504020204" pitchFamily="34" charset="0"/>
                <a:cs typeface="Open Sans" panose="020B0606030504020204" pitchFamily="34" charset="0"/>
              </a:rPr>
              <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Shape 14">
            <a:extLst>
              <a:ext uri="{FF2B5EF4-FFF2-40B4-BE49-F238E27FC236}">
                <a16:creationId xmlns:a16="http://schemas.microsoft.com/office/drawing/2014/main" id="{BB9E7485-D879-1BCA-77C1-2A66FD683636}"/>
              </a:ext>
            </a:extLst>
          </p:cNvPr>
          <p:cNvSpPr/>
          <p:nvPr/>
        </p:nvSpPr>
        <p:spPr>
          <a:xfrm>
            <a:off x="457994" y="2948191"/>
            <a:ext cx="11274552" cy="557784"/>
          </a:xfrm>
          <a:prstGeom prst="roundRect">
            <a:avLst>
              <a:gd name="adj" fmla="val 9836"/>
            </a:avLst>
          </a:prstGeom>
          <a:solidFill>
            <a:srgbClr val="F5F5F5"/>
          </a:solidFill>
          <a:ln/>
        </p:spPr>
        <p:txBody>
          <a:bodyPr/>
          <a:lstStyle/>
          <a:p>
            <a:endParaRPr lang="en-US" sz="3200"/>
          </a:p>
        </p:txBody>
      </p:sp>
      <p:sp>
        <p:nvSpPr>
          <p:cNvPr id="17" name="Shape 15">
            <a:extLst>
              <a:ext uri="{FF2B5EF4-FFF2-40B4-BE49-F238E27FC236}">
                <a16:creationId xmlns:a16="http://schemas.microsoft.com/office/drawing/2014/main" id="{AE4D9A14-F078-B1E8-2E49-13C57DC3B045}"/>
              </a:ext>
            </a:extLst>
          </p:cNvPr>
          <p:cNvSpPr/>
          <p:nvPr/>
        </p:nvSpPr>
        <p:spPr>
          <a:xfrm>
            <a:off x="659162" y="3089923"/>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3CD8DC74-1DE1-1F67-2ADF-F7989417405D}"/>
              </a:ext>
            </a:extLst>
          </p:cNvPr>
          <p:cNvSpPr/>
          <p:nvPr/>
        </p:nvSpPr>
        <p:spPr>
          <a:xfrm>
            <a:off x="659162" y="3089923"/>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C</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E1A0B9E5-9798-ED2C-B03F-9E6A7506938B}"/>
              </a:ext>
            </a:extLst>
          </p:cNvPr>
          <p:cNvSpPr/>
          <p:nvPr/>
        </p:nvSpPr>
        <p:spPr>
          <a:xfrm>
            <a:off x="1079786" y="3001913"/>
            <a:ext cx="10515600" cy="450343"/>
          </a:xfrm>
          <a:prstGeom prst="rect">
            <a:avLst/>
          </a:prstGeom>
          <a:noFill/>
          <a:ln/>
        </p:spPr>
        <p:txBody>
          <a:bodyPr wrap="square" lIns="0" tIns="0" rIns="0" bIns="0" rtlCol="0" anchor="ctr"/>
          <a:lstStyle/>
          <a:p>
            <a:r>
              <a:rPr lang="en-US" sz="1400" b="1">
                <a:latin typeface="Open Sans" panose="020B0606030504020204" pitchFamily="34" charset="0"/>
                <a:ea typeface="Open Sans" panose="020B0606030504020204" pitchFamily="34" charset="0"/>
                <a:cs typeface="Open Sans" panose="020B0606030504020204" pitchFamily="34" charset="0"/>
              </a:rPr>
              <a:t>C.  Rewrite the service in a framework they already know</a:t>
            </a:r>
            <a:r>
              <a:rPr lang="en-US" sz="1400">
                <a:latin typeface="Open Sans" panose="020B0606030504020204" pitchFamily="34" charset="0"/>
                <a:ea typeface="Open Sans" panose="020B0606030504020204" pitchFamily="34" charset="0"/>
                <a:cs typeface="Open Sans" panose="020B0606030504020204" pitchFamily="34" charset="0"/>
              </a:rPr>
              <a:t/>
            </a:r>
          </a:p>
        </p:txBody>
      </p:sp>
      <p:sp>
        <p:nvSpPr>
          <p:cNvPr id="2" name="Shape 14">
            <a:extLst>
              <a:ext uri="{FF2B5EF4-FFF2-40B4-BE49-F238E27FC236}">
                <a16:creationId xmlns:a16="http://schemas.microsoft.com/office/drawing/2014/main" id="{43181127-F543-0877-6C42-4921141BA2ED}"/>
              </a:ext>
            </a:extLst>
          </p:cNvPr>
          <p:cNvSpPr/>
          <p:nvPr/>
        </p:nvSpPr>
        <p:spPr>
          <a:xfrm>
            <a:off x="457994" y="3639835"/>
            <a:ext cx="11274552" cy="557784"/>
          </a:xfrm>
          <a:prstGeom prst="roundRect">
            <a:avLst>
              <a:gd name="adj" fmla="val 9836"/>
            </a:avLst>
          </a:prstGeom>
          <a:solidFill>
            <a:srgbClr val="F5F5F5"/>
          </a:solidFill>
          <a:ln/>
        </p:spPr>
        <p:txBody>
          <a:bodyPr/>
          <a:lstStyle/>
          <a:p>
            <a:endParaRPr lang="en-US" sz="3200"/>
          </a:p>
        </p:txBody>
      </p:sp>
      <p:sp>
        <p:nvSpPr>
          <p:cNvPr id="21" name="Shape 19">
            <a:extLst>
              <a:ext uri="{FF2B5EF4-FFF2-40B4-BE49-F238E27FC236}">
                <a16:creationId xmlns:a16="http://schemas.microsoft.com/office/drawing/2014/main" id="{C9058E18-4370-4F63-605D-D6508F71F2A7}"/>
              </a:ext>
            </a:extLst>
          </p:cNvPr>
          <p:cNvSpPr/>
          <p:nvPr/>
        </p:nvSpPr>
        <p:spPr>
          <a:xfrm>
            <a:off x="659162" y="3781567"/>
            <a:ext cx="274320" cy="274320"/>
          </a:xfrm>
          <a:prstGeom prst="ellipse">
            <a:avLst/>
          </a:prstGeom>
          <a:solidFill>
            <a:schemeClr val="tx2">
              <a:lumMod val="40000"/>
              <a:lumOff val="60000"/>
            </a:schemeClr>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13DEF2D5-DDF0-A12C-0CF9-1B35C99BF22C}"/>
              </a:ext>
            </a:extLst>
          </p:cNvPr>
          <p:cNvSpPr/>
          <p:nvPr/>
        </p:nvSpPr>
        <p:spPr>
          <a:xfrm>
            <a:off x="659162" y="3781567"/>
            <a:ext cx="274320" cy="274320"/>
          </a:xfrm>
          <a:prstGeom prst="rect">
            <a:avLst/>
          </a:prstGeom>
          <a:noFill/>
          <a:ln/>
        </p:spPr>
        <p:txBody>
          <a:bodyPr wrap="square" lIns="0" tIns="0" rIns="0" bIns="0" rtlCol="0" anchor="ctr"/>
          <a:lstStyle/>
          <a:p>
            <a:pPr algn="ctr"/>
            <a:r>
              <a:rPr lang="en-US" sz="1300" b="1">
                <a:solidFill>
                  <a:srgbClr val="FFFFFF"/>
                </a:solidFill>
                <a:latin typeface="Open Sans" panose="020B0606030504020204" pitchFamily="34" charset="0"/>
                <a:ea typeface="Open Sans" panose="020B0606030504020204" pitchFamily="34" charset="0"/>
                <a:cs typeface="Open Sans" panose="020B0606030504020204" pitchFamily="34" charset="0"/>
              </a:rPr>
              <a:t>D</a:t>
            </a:r>
            <a:endParaRPr lang="en-US" sz="1300">
              <a:latin typeface="Open Sans" panose="020B0606030504020204" pitchFamily="34" charset="0"/>
              <a:ea typeface="Open Sans" panose="020B0606030504020204" pitchFamily="34" charset="0"/>
              <a:cs typeface="Open Sans" panose="020B0606030504020204" pitchFamily="34" charset="0"/>
            </a:endParaRPr>
          </a:p>
        </p:txBody>
      </p:sp>
      <p:sp>
        <p:nvSpPr>
          <p:cNvPr id="23" name="Text 21">
            <a:extLst>
              <a:ext uri="{FF2B5EF4-FFF2-40B4-BE49-F238E27FC236}">
                <a16:creationId xmlns:a16="http://schemas.microsoft.com/office/drawing/2014/main" id="{F4A0C65F-218C-FEE9-BCDD-AF0AA1B98D22}"/>
              </a:ext>
            </a:extLst>
          </p:cNvPr>
          <p:cNvSpPr/>
          <p:nvPr/>
        </p:nvSpPr>
        <p:spPr>
          <a:xfrm>
            <a:off x="1079786" y="3693557"/>
            <a:ext cx="10515600" cy="450343"/>
          </a:xfrm>
          <a:prstGeom prst="rect">
            <a:avLst/>
          </a:prstGeom>
          <a:noFill/>
          <a:ln/>
        </p:spPr>
        <p:txBody>
          <a:bodyPr wrap="square" lIns="0" tIns="0" rIns="0" bIns="0" rtlCol="0" anchor="ctr"/>
          <a:lstStyle/>
          <a:p>
            <a:r>
              <a:rPr lang="en-US" sz="1400" b="1" dirty="0">
                <a:latin typeface="Open Sans" panose="020B0606030504020204" pitchFamily="34" charset="0"/>
                <a:ea typeface="Open Sans" panose="020B0606030504020204" pitchFamily="34" charset="0"/>
                <a:cs typeface="Open Sans" panose="020B0606030504020204" pitchFamily="34" charset="0"/>
              </a:rPr>
              <a:t>D.  Paste a snippet from a blog post and adapt it until it runs</a:t>
            </a:r>
            <a:r>
              <a:rPr lang="en-US" sz="1400" dirty="0">
                <a:latin typeface="Open Sans" panose="020B0606030504020204" pitchFamily="34" charset="0"/>
                <a:ea typeface="Open Sans" panose="020B0606030504020204" pitchFamily="34" charset="0"/>
                <a:cs typeface="Open Sans" panose="020B0606030504020204" pitchFamily="34" charset="0"/>
              </a:rPr>
              <a:t/>
            </a:r>
          </a:p>
        </p:txBody>
      </p:sp>
      <p:sp>
        <p:nvSpPr>
          <p:cNvPr id="24" name="Shape 22">
            <a:extLst>
              <a:ext uri="{FF2B5EF4-FFF2-40B4-BE49-F238E27FC236}">
                <a16:creationId xmlns:a16="http://schemas.microsoft.com/office/drawing/2014/main" id="{A6A65B5E-6211-1D17-710E-3A218C480037}"/>
              </a:ext>
            </a:extLst>
          </p:cNvPr>
          <p:cNvSpPr/>
          <p:nvPr/>
        </p:nvSpPr>
        <p:spPr>
          <a:xfrm>
            <a:off x="426429" y="4453341"/>
            <a:ext cx="11274552" cy="1417320"/>
          </a:xfrm>
          <a:prstGeom prst="roundRect">
            <a:avLst>
              <a:gd name="adj" fmla="val 5161"/>
            </a:avLst>
          </a:prstGeom>
          <a:solidFill>
            <a:srgbClr val="F5F5F5"/>
          </a:solidFill>
          <a:ln/>
          <a:effectLst>
            <a:outerShdw blurRad="76200" dist="38100" dir="5400000" algn="bl" rotWithShape="0">
              <a:srgbClr val="9AA3B0">
                <a:alpha val="30000"/>
              </a:srgbClr>
            </a:outerShdw>
          </a:effectLst>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E85305AD-8A5B-E939-69DE-00DDB12E9221}"/>
              </a:ext>
            </a:extLst>
          </p:cNvPr>
          <p:cNvSpPr/>
          <p:nvPr/>
        </p:nvSpPr>
        <p:spPr>
          <a:xfrm>
            <a:off x="714026" y="4979121"/>
            <a:ext cx="2971800" cy="365760"/>
          </a:xfrm>
          <a:prstGeom prst="roundRect">
            <a:avLst>
              <a:gd name="adj" fmla="val 15000"/>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a:extLst>
              <a:ext uri="{FF2B5EF4-FFF2-40B4-BE49-F238E27FC236}">
                <a16:creationId xmlns:a16="http://schemas.microsoft.com/office/drawing/2014/main" id="{4DF4A51A-D84D-E9D0-F525-22CDA868F649}"/>
              </a:ext>
            </a:extLst>
          </p:cNvPr>
          <p:cNvSpPr/>
          <p:nvPr/>
        </p:nvSpPr>
        <p:spPr>
          <a:xfrm>
            <a:off x="714026" y="4979121"/>
            <a:ext cx="2971800" cy="365760"/>
          </a:xfrm>
          <a:prstGeom prst="rect">
            <a:avLst/>
          </a:prstGeom>
          <a:noFill/>
          <a:ln/>
        </p:spPr>
        <p:txBody>
          <a:bodyPr wrap="square" lIns="0" tIns="0" rIns="0" bIns="0" rtlCol="0" anchor="ctr"/>
          <a:lstStyle/>
          <a:p>
            <a:pPr algn="ctr"/>
            <a:r>
              <a:rPr lang="en-US" sz="12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Automation · Augmentation</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A4FBF99F-8361-DB73-D35C-381797913016}"/>
              </a:ext>
            </a:extLst>
          </p:cNvPr>
          <p:cNvSpPr/>
          <p:nvPr/>
        </p:nvSpPr>
        <p:spPr>
          <a:xfrm>
            <a:off x="3882861" y="4727661"/>
            <a:ext cx="7818120" cy="868680"/>
          </a:xfrm>
          <a:prstGeom prst="rect">
            <a:avLst/>
          </a:prstGeom>
          <a:noFill/>
          <a:ln/>
        </p:spPr>
        <p:txBody>
          <a:bodyPr wrap="square" lIns="0" tIns="0" rIns="0" bIns="0" rtlCol="0" anchor="ctr"/>
          <a:lstStyle/>
          <a:p>
            <a:r>
              <a:rPr lang="en-US" sz="1400" dirty="0">
                <a:solidFill>
                  <a:srgbClr val="1B2A4A"/>
                </a:solidFill>
                <a:latin typeface="Open Sans" panose="020B0606030504020204" pitchFamily="34" charset="0"/>
                <a:ea typeface="Open Sans" panose="020B0606030504020204" pitchFamily="34" charset="0"/>
                <a:cs typeface="Open Sans" panose="020B0606030504020204" pitchFamily="34" charset="0"/>
              </a:rPr>
              <a:t>Claude augments the non-coder. They own the problem and the verification; Claude owns the syntax. Outcome over implementation.</a:t>
            </a:r>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96635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E3B3-9604-B130-9684-BF61C011062D}"/>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BDEFE1E9-927C-2B85-EC95-1C60396CB031}"/>
              </a:ext>
            </a:extLst>
          </p:cNvPr>
          <p:cNvSpPr/>
          <p:nvPr/>
        </p:nvSpPr>
        <p:spPr>
          <a:xfrm>
            <a:off x="457994" y="700933"/>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Project estimation. You are a senior AI engineer with two days to estimate enhancements to a hospital </a:t>
            </a:r>
            <a:r>
              <a:rPr lang="en-US" sz="1800" b="1" dirty="0" err="1">
                <a:latin typeface="Open Sans" panose="020B0606030504020204" pitchFamily="34" charset="0"/>
                <a:ea typeface="Open Sans" panose="020B0606030504020204" pitchFamily="34" charset="0"/>
                <a:cs typeface="Open Sans" panose="020B0606030504020204" pitchFamily="34" charset="0"/>
              </a:rPr>
              <a:t>DischargeFlow</a:t>
            </a:r>
            <a:r>
              <a:rPr lang="en-US" sz="1800" b="1" dirty="0">
                <a:latin typeface="Open Sans" panose="020B0606030504020204" pitchFamily="34" charset="0"/>
                <a:ea typeface="Open Sans" panose="020B0606030504020204" pitchFamily="34" charset="0"/>
                <a:cs typeface="Open Sans" panose="020B0606030504020204" pitchFamily="34" charset="0"/>
              </a:rPr>
              <a:t> service. You have read access to the repo and Claude Code. Mark each correct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759C409D-E925-31C4-87FF-246923A3B69D}"/>
              </a:ext>
            </a:extLst>
          </p:cNvPr>
          <p:cNvSpPr/>
          <p:nvPr/>
        </p:nvSpPr>
        <p:spPr>
          <a:xfrm>
            <a:off x="452769" y="1886097"/>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a:extLst>
              <a:ext uri="{FF2B5EF4-FFF2-40B4-BE49-F238E27FC236}">
                <a16:creationId xmlns:a16="http://schemas.microsoft.com/office/drawing/2014/main" id="{A907346F-8B4D-8B2B-D045-33784A248958}"/>
              </a:ext>
            </a:extLst>
          </p:cNvPr>
          <p:cNvSpPr/>
          <p:nvPr/>
        </p:nvSpPr>
        <p:spPr>
          <a:xfrm>
            <a:off x="452769" y="1886097"/>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31835466-772F-2A18-D91B-0D2388AA9716}"/>
              </a:ext>
            </a:extLst>
          </p:cNvPr>
          <p:cNvSpPr/>
          <p:nvPr/>
        </p:nvSpPr>
        <p:spPr>
          <a:xfrm>
            <a:off x="1470833" y="1738487"/>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Run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generate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and get a map of the stack, modules, and data stores.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a:extLst>
              <a:ext uri="{FF2B5EF4-FFF2-40B4-BE49-F238E27FC236}">
                <a16:creationId xmlns:a16="http://schemas.microsoft.com/office/drawing/2014/main" id="{2C42EEB9-E1E2-310D-CF14-A732DF019440}"/>
              </a:ext>
            </a:extLst>
          </p:cNvPr>
          <p:cNvSpPr/>
          <p:nvPr/>
        </p:nvSpPr>
        <p:spPr>
          <a:xfrm>
            <a:off x="452769" y="2473927"/>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181B60F7-4029-C22C-4FE5-2BF0991A07E0}"/>
              </a:ext>
            </a:extLst>
          </p:cNvPr>
          <p:cNvSpPr/>
          <p:nvPr/>
        </p:nvSpPr>
        <p:spPr>
          <a:xfrm>
            <a:off x="452769" y="2473927"/>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508F55CE-2D87-2AF8-1EE4-DA9ADB25DBD2}"/>
              </a:ext>
            </a:extLst>
          </p:cNvPr>
          <p:cNvSpPr/>
          <p:nvPr/>
        </p:nvSpPr>
        <p:spPr>
          <a:xfrm>
            <a:off x="1470833" y="2326316"/>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Ask Claude architecture questions (@</a:t>
            </a:r>
            <a:r>
              <a:rPr lang="en-US" sz="1200" b="1" dirty="0" err="1">
                <a:latin typeface="Open Sans" panose="020B0606030504020204" pitchFamily="34" charset="0"/>
                <a:ea typeface="Open Sans" panose="020B0606030504020204" pitchFamily="34" charset="0"/>
                <a:cs typeface="Open Sans" panose="020B0606030504020204" pitchFamily="34" charset="0"/>
              </a:rPr>
              <a:t>src</a:t>
            </a:r>
            <a:r>
              <a:rPr lang="en-US" sz="1200" b="1" dirty="0">
                <a:latin typeface="Open Sans" panose="020B0606030504020204" pitchFamily="34" charset="0"/>
                <a:ea typeface="Open Sans" panose="020B0606030504020204" pitchFamily="34" charset="0"/>
                <a:cs typeface="Open Sans" panose="020B0606030504020204" pitchFamily="34" charset="0"/>
              </a:rPr>
              <a:t>) about request flow, dependencies, and where discharge logic lives.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A2B71E5E-DAAC-BB91-760B-1647EB641CBF}"/>
              </a:ext>
            </a:extLst>
          </p:cNvPr>
          <p:cNvSpPr/>
          <p:nvPr/>
        </p:nvSpPr>
        <p:spPr>
          <a:xfrm>
            <a:off x="1470833" y="2914144"/>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Run /code-review --fix across the whole repo and base the estimate on the number of auto-fixes.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E0490FEA-E351-2048-9BB6-267B6729BF05}"/>
              </a:ext>
            </a:extLst>
          </p:cNvPr>
          <p:cNvSpPr/>
          <p:nvPr/>
        </p:nvSpPr>
        <p:spPr>
          <a:xfrm>
            <a:off x="452769" y="3649584"/>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8779C595-15B2-D3B6-057F-FFF9D7ED3173}"/>
              </a:ext>
            </a:extLst>
          </p:cNvPr>
          <p:cNvSpPr/>
          <p:nvPr/>
        </p:nvSpPr>
        <p:spPr>
          <a:xfrm>
            <a:off x="452769" y="3649584"/>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73689EE4-5F10-554C-F33B-5BA906F68789}"/>
              </a:ext>
            </a:extLst>
          </p:cNvPr>
          <p:cNvSpPr/>
          <p:nvPr/>
        </p:nvSpPr>
        <p:spPr>
          <a:xfrm>
            <a:off x="1470833" y="3501974"/>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Have Claude flag unknowns and external integrations (HL7, FHIR) that widen the estimate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97986473-B751-813E-AFE4-BDEF40EEDF05}"/>
              </a:ext>
            </a:extLst>
          </p:cNvPr>
          <p:cNvSpPr/>
          <p:nvPr/>
        </p:nvSpPr>
        <p:spPr>
          <a:xfrm>
            <a:off x="452769" y="4237412"/>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a:extLst>
              <a:ext uri="{FF2B5EF4-FFF2-40B4-BE49-F238E27FC236}">
                <a16:creationId xmlns:a16="http://schemas.microsoft.com/office/drawing/2014/main" id="{2DC1CC01-00E3-055F-23DA-17842B20C433}"/>
              </a:ext>
            </a:extLst>
          </p:cNvPr>
          <p:cNvSpPr/>
          <p:nvPr/>
        </p:nvSpPr>
        <p:spPr>
          <a:xfrm>
            <a:off x="452769" y="4237412"/>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C1C15ABA-ECE8-6E66-1917-DCE55D73A974}"/>
              </a:ext>
            </a:extLst>
          </p:cNvPr>
          <p:cNvSpPr/>
          <p:nvPr/>
        </p:nvSpPr>
        <p:spPr>
          <a:xfrm>
            <a:off x="1470833" y="4089802"/>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Size the work by component with optimistic, likely, and pessimistic ranges, and list assumptions.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210FC606-1C42-14F1-846A-7B8196DD420C}"/>
              </a:ext>
            </a:extLst>
          </p:cNvPr>
          <p:cNvSpPr/>
          <p:nvPr/>
        </p:nvSpPr>
        <p:spPr>
          <a:xfrm>
            <a:off x="1470833" y="4677631"/>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Skip understanding and ask Claude to 'just give a number in story points' from the README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53F06FEE-D0E7-036A-BA76-49BB4D962E29}"/>
              </a:ext>
            </a:extLst>
          </p:cNvPr>
          <p:cNvSpPr/>
          <p:nvPr/>
        </p:nvSpPr>
        <p:spPr>
          <a:xfrm>
            <a:off x="1470833" y="5265459"/>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Treat Claude's number as final and commit the date to the release plan without human review.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15">
            <a:extLst>
              <a:ext uri="{FF2B5EF4-FFF2-40B4-BE49-F238E27FC236}">
                <a16:creationId xmlns:a16="http://schemas.microsoft.com/office/drawing/2014/main" id="{9A62CF0B-DA66-6168-F60E-AF5BD8B8707F}"/>
              </a:ext>
            </a:extLst>
          </p:cNvPr>
          <p:cNvSpPr/>
          <p:nvPr/>
        </p:nvSpPr>
        <p:spPr>
          <a:xfrm>
            <a:off x="452769" y="306175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4" name="Shape 15">
            <a:extLst>
              <a:ext uri="{FF2B5EF4-FFF2-40B4-BE49-F238E27FC236}">
                <a16:creationId xmlns:a16="http://schemas.microsoft.com/office/drawing/2014/main" id="{6B54BCDA-4190-79AE-8AC6-C05211D7A526}"/>
              </a:ext>
            </a:extLst>
          </p:cNvPr>
          <p:cNvSpPr/>
          <p:nvPr/>
        </p:nvSpPr>
        <p:spPr>
          <a:xfrm>
            <a:off x="452769" y="4825241"/>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5" name="Shape 15">
            <a:extLst>
              <a:ext uri="{FF2B5EF4-FFF2-40B4-BE49-F238E27FC236}">
                <a16:creationId xmlns:a16="http://schemas.microsoft.com/office/drawing/2014/main" id="{6E4B7928-DDFA-8265-7EE3-C58F15290989}"/>
              </a:ext>
            </a:extLst>
          </p:cNvPr>
          <p:cNvSpPr/>
          <p:nvPr/>
        </p:nvSpPr>
        <p:spPr>
          <a:xfrm>
            <a:off x="452769" y="5413069"/>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098854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6075"/>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Project estimation. You are a senior AI engineer with two days to estimate enhancements to a hospital </a:t>
            </a:r>
            <a:r>
              <a:rPr lang="en-US" sz="1800" b="1" dirty="0" err="1">
                <a:latin typeface="Open Sans" panose="020B0606030504020204" pitchFamily="34" charset="0"/>
                <a:ea typeface="Open Sans" panose="020B0606030504020204" pitchFamily="34" charset="0"/>
                <a:cs typeface="Open Sans" panose="020B0606030504020204" pitchFamily="34" charset="0"/>
              </a:rPr>
              <a:t>DischargeFlow</a:t>
            </a:r>
            <a:r>
              <a:rPr lang="en-US" sz="1800" b="1" dirty="0">
                <a:latin typeface="Open Sans" panose="020B0606030504020204" pitchFamily="34" charset="0"/>
                <a:ea typeface="Open Sans" panose="020B0606030504020204" pitchFamily="34" charset="0"/>
                <a:cs typeface="Open Sans" panose="020B0606030504020204" pitchFamily="34" charset="0"/>
              </a:rPr>
              <a:t> service. You have read access to the repo and Claude Code. Mark each correct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892411"/>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57994" y="1892411"/>
            <a:ext cx="868680" cy="292608"/>
          </a:xfrm>
          <a:prstGeom prst="rect">
            <a:avLst/>
          </a:prstGeom>
          <a:noFill/>
          <a:ln/>
        </p:spPr>
        <p:txBody>
          <a:bodyPr wrap="square" lIns="0" tIns="0" rIns="0" bIns="0" rtlCol="0" anchor="ctr"/>
          <a:lstStyle/>
          <a:p>
            <a:pPr algn="ctr"/>
            <a:r>
              <a:rPr lang="en-US" sz="1000" b="1" dirty="0">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482122" y="1744800"/>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Run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generate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and get a map of the stack, modules, and data stores.  </a:t>
            </a:r>
            <a:r>
              <a:rPr lang="en-US" sz="1200" i="1" dirty="0">
                <a:latin typeface="Open Sans" panose="020B0606030504020204" pitchFamily="34" charset="0"/>
                <a:ea typeface="Open Sans" panose="020B0606030504020204" pitchFamily="34" charset="0"/>
                <a:cs typeface="Open Sans" panose="020B0606030504020204" pitchFamily="34" charset="0"/>
              </a:rPr>
              <a:t>A grounded map is the right starting point.</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57994" y="2481545"/>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457994" y="2481545"/>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482122" y="2333935"/>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Ask Claude architecture questions (@</a:t>
            </a:r>
            <a:r>
              <a:rPr lang="en-US" sz="1200" b="1" dirty="0" err="1">
                <a:latin typeface="Open Sans" panose="020B0606030504020204" pitchFamily="34" charset="0"/>
                <a:ea typeface="Open Sans" panose="020B0606030504020204" pitchFamily="34" charset="0"/>
                <a:cs typeface="Open Sans" panose="020B0606030504020204" pitchFamily="34" charset="0"/>
              </a:rPr>
              <a:t>src</a:t>
            </a:r>
            <a:r>
              <a:rPr lang="en-US" sz="1200" b="1" dirty="0">
                <a:latin typeface="Open Sans" panose="020B0606030504020204" pitchFamily="34" charset="0"/>
                <a:ea typeface="Open Sans" panose="020B0606030504020204" pitchFamily="34" charset="0"/>
                <a:cs typeface="Open Sans" panose="020B0606030504020204" pitchFamily="34" charset="0"/>
              </a:rPr>
              <a:t>) about request flow, dependencies, and where discharge logic lives.  </a:t>
            </a:r>
            <a:r>
              <a:rPr lang="en-US" sz="1200" i="1" dirty="0">
                <a:latin typeface="Open Sans" panose="020B0606030504020204" pitchFamily="34" charset="0"/>
                <a:ea typeface="Open Sans" panose="020B0606030504020204" pitchFamily="34" charset="0"/>
                <a:cs typeface="Open Sans" panose="020B0606030504020204" pitchFamily="34" charset="0"/>
              </a:rPr>
              <a:t>Understanding drives a defensible estimate.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457994" y="3137301"/>
            <a:ext cx="868680" cy="292608"/>
          </a:xfrm>
          <a:prstGeom prst="roundRect">
            <a:avLst>
              <a:gd name="adj" fmla="val 15625"/>
            </a:avLst>
          </a:prstGeom>
          <a:solidFill>
            <a:schemeClr val="accent3"/>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57994" y="3137301"/>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482122" y="2989691"/>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Run /code-review --fix across the whole repo and base the estimate on the number of auto-fixes.  </a:t>
            </a:r>
            <a:r>
              <a:rPr lang="en-US" sz="1200" i="1">
                <a:latin typeface="Open Sans" panose="020B0606030504020204" pitchFamily="34" charset="0"/>
                <a:ea typeface="Open Sans" panose="020B0606030504020204" pitchFamily="34" charset="0"/>
                <a:cs typeface="Open Sans" panose="020B0606030504020204" pitchFamily="34" charset="0"/>
              </a:rPr>
              <a:t>Review is not sizing, and --fix mutates code you only have read access to assess.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457994" y="3725131"/>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457994" y="3725131"/>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482122" y="3577520"/>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Have Claude flag unknowns and external integrations (HL7, FHIR) that widen the estimate.  </a:t>
            </a:r>
            <a:r>
              <a:rPr lang="en-US" sz="1200" i="1">
                <a:latin typeface="Open Sans" panose="020B0606030504020204" pitchFamily="34" charset="0"/>
                <a:ea typeface="Open Sans" panose="020B0606030504020204" pitchFamily="34" charset="0"/>
                <a:cs typeface="Open Sans" panose="020B0606030504020204" pitchFamily="34" charset="0"/>
              </a:rPr>
              <a:t>Surfacing unknowns is exactly what a two-day estimate needs.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7994" y="4312959"/>
            <a:ext cx="868680" cy="292608"/>
          </a:xfrm>
          <a:prstGeom prst="roundRect">
            <a:avLst>
              <a:gd name="adj" fmla="val 15625"/>
            </a:avLst>
          </a:prstGeom>
          <a:solidFill>
            <a:srgbClr val="00B050"/>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57994" y="4312959"/>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482122" y="4165348"/>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Size the work by component with optimistic, likely, and pessimistic ranges, and list assumptions.  </a:t>
            </a:r>
            <a:r>
              <a:rPr lang="en-US" sz="1200" i="1">
                <a:latin typeface="Open Sans" panose="020B0606030504020204" pitchFamily="34" charset="0"/>
                <a:ea typeface="Open Sans" panose="020B0606030504020204" pitchFamily="34" charset="0"/>
                <a:cs typeface="Open Sans" panose="020B0606030504020204" pitchFamily="34" charset="0"/>
              </a:rPr>
              <a:t>Ranged, assumption-based sizing is sound estimation practice.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457994" y="4900788"/>
            <a:ext cx="868680" cy="292608"/>
          </a:xfrm>
          <a:prstGeom prst="roundRect">
            <a:avLst>
              <a:gd name="adj" fmla="val 15625"/>
            </a:avLst>
          </a:prstGeom>
          <a:solidFill>
            <a:schemeClr val="accent3"/>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457994" y="4900788"/>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482122" y="4753178"/>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Skip understanding and ask Claude to 'just give a number in story points' from the README.  </a:t>
            </a:r>
            <a:r>
              <a:rPr lang="en-US" sz="1200" i="1">
                <a:latin typeface="Open Sans" panose="020B0606030504020204" pitchFamily="34" charset="0"/>
                <a:ea typeface="Open Sans" panose="020B0606030504020204" pitchFamily="34" charset="0"/>
                <a:cs typeface="Open Sans" panose="020B0606030504020204" pitchFamily="34" charset="0"/>
              </a:rPr>
              <a:t>An ungrounded number is a guess, not an estimate.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p:cNvSpPr/>
          <p:nvPr/>
        </p:nvSpPr>
        <p:spPr>
          <a:xfrm>
            <a:off x="457994" y="5488616"/>
            <a:ext cx="868680" cy="292608"/>
          </a:xfrm>
          <a:prstGeom prst="roundRect">
            <a:avLst>
              <a:gd name="adj" fmla="val 15625"/>
            </a:avLst>
          </a:prstGeom>
          <a:solidFill>
            <a:schemeClr val="accent3"/>
          </a:solidFill>
          <a:ln>
            <a:no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457994" y="5488616"/>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482122" y="5341006"/>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Treat Claude's number as final and commit the date to the release plan without human review.  </a:t>
            </a:r>
            <a:r>
              <a:rPr lang="en-US" sz="1200" i="1">
                <a:latin typeface="Open Sans" panose="020B0606030504020204" pitchFamily="34" charset="0"/>
                <a:ea typeface="Open Sans" panose="020B0606030504020204" pitchFamily="34" charset="0"/>
                <a:cs typeface="Open Sans" panose="020B0606030504020204" pitchFamily="34" charset="0"/>
              </a:rPr>
              <a:t>The PM owns the estimate. Always verify before committing to a client.</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457994" y="5995455"/>
            <a:ext cx="11274552" cy="457200"/>
          </a:xfrm>
          <a:prstGeom prst="roundRect">
            <a:avLst>
              <a:gd name="adj" fmla="val 12000"/>
            </a:avLst>
          </a:prstGeom>
          <a:solidFill>
            <a:srgbClr val="E1F4EC"/>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686594" y="5995455"/>
            <a:ext cx="10817352" cy="457200"/>
          </a:xfrm>
          <a:prstGeom prst="rect">
            <a:avLst/>
          </a:prstGeom>
          <a:noFill/>
          <a:ln/>
        </p:spPr>
        <p:txBody>
          <a:bodyPr wrap="square" lIns="0" tIns="0" rIns="0" bIns="0" rtlCol="0" anchor="ctr"/>
          <a:lstStyle/>
          <a:p>
            <a:r>
              <a:rPr lang="en-US" sz="1400" b="1" kern="0" spc="151" dirty="0">
                <a:latin typeface="Open Sans" panose="020B0606030504020204" pitchFamily="34" charset="0"/>
                <a:ea typeface="Open Sans" panose="020B0606030504020204" pitchFamily="34" charset="0"/>
                <a:cs typeface="Open Sans" panose="020B0606030504020204" pitchFamily="34" charset="0"/>
              </a:rPr>
              <a:t>LESSON   </a:t>
            </a:r>
            <a:r>
              <a:rPr lang="en-US" sz="1400" dirty="0">
                <a:latin typeface="Open Sans" panose="020B0606030504020204" pitchFamily="34" charset="0"/>
                <a:ea typeface="Open Sans" panose="020B0606030504020204" pitchFamily="34" charset="0"/>
                <a:cs typeface="Open Sans" panose="020B0606030504020204" pitchFamily="34" charset="0"/>
              </a:rPr>
              <a:t>Understand and bound the work first; the PM owns the final number.</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C485A-0D05-99F0-834A-572672A8DB1F}"/>
            </a:ext>
          </a:extLst>
        </p:cNvPr>
        <p:cNvGrpSpPr/>
        <p:nvPr/>
      </p:nvGrpSpPr>
      <p:grpSpPr>
        <a:xfrm>
          <a:off x="0" y="0"/>
          <a:ext cx="0" cy="0"/>
          <a:chOff x="0" y="0"/>
          <a:chExt cx="0" cy="0"/>
        </a:xfrm>
      </p:grpSpPr>
      <p:sp>
        <p:nvSpPr>
          <p:cNvPr id="7" name="Text 5">
            <a:extLst>
              <a:ext uri="{FF2B5EF4-FFF2-40B4-BE49-F238E27FC236}">
                <a16:creationId xmlns:a16="http://schemas.microsoft.com/office/drawing/2014/main" id="{402EA439-FC53-C4A4-AA3B-8AA4B808937D}"/>
              </a:ext>
            </a:extLst>
          </p:cNvPr>
          <p:cNvSpPr/>
          <p:nvPr/>
        </p:nvSpPr>
        <p:spPr>
          <a:xfrm>
            <a:off x="457994" y="699629"/>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Testing a new feature. You are the AI engineer who owns quality for this service. Engineering shipped a 'partial refund' feature in the </a:t>
            </a:r>
            <a:r>
              <a:rPr lang="en-US" sz="1800" b="1" dirty="0" err="1">
                <a:latin typeface="Open Sans" panose="020B0606030504020204" pitchFamily="34" charset="0"/>
                <a:ea typeface="Open Sans" panose="020B0606030504020204" pitchFamily="34" charset="0"/>
                <a:cs typeface="Open Sans" panose="020B0606030504020204" pitchFamily="34" charset="0"/>
              </a:rPr>
              <a:t>ReturnFlow</a:t>
            </a:r>
            <a:r>
              <a:rPr lang="en-US" sz="1800" b="1" dirty="0">
                <a:latin typeface="Open Sans" panose="020B0606030504020204" pitchFamily="34" charset="0"/>
                <a:ea typeface="Open Sans" panose="020B0606030504020204" pitchFamily="34" charset="0"/>
                <a:cs typeface="Open Sans" panose="020B0606030504020204" pitchFamily="34" charset="0"/>
              </a:rPr>
              <a:t> checkout service. You have Claude Code. Mark each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a:extLst>
              <a:ext uri="{FF2B5EF4-FFF2-40B4-BE49-F238E27FC236}">
                <a16:creationId xmlns:a16="http://schemas.microsoft.com/office/drawing/2014/main" id="{F01A3E3C-2990-8B60-A333-C8E0468ADE75}"/>
              </a:ext>
            </a:extLst>
          </p:cNvPr>
          <p:cNvSpPr/>
          <p:nvPr/>
        </p:nvSpPr>
        <p:spPr>
          <a:xfrm>
            <a:off x="465777" y="1761639"/>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a:extLst>
              <a:ext uri="{FF2B5EF4-FFF2-40B4-BE49-F238E27FC236}">
                <a16:creationId xmlns:a16="http://schemas.microsoft.com/office/drawing/2014/main" id="{8900FEB0-1948-1E98-B766-2A003F8BDEBF}"/>
              </a:ext>
            </a:extLst>
          </p:cNvPr>
          <p:cNvSpPr/>
          <p:nvPr/>
        </p:nvSpPr>
        <p:spPr>
          <a:xfrm>
            <a:off x="465777" y="1761639"/>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a:extLst>
              <a:ext uri="{FF2B5EF4-FFF2-40B4-BE49-F238E27FC236}">
                <a16:creationId xmlns:a16="http://schemas.microsoft.com/office/drawing/2014/main" id="{7578B235-92F4-F9F7-DC47-DCC4EC5DEA53}"/>
              </a:ext>
            </a:extLst>
          </p:cNvPr>
          <p:cNvSpPr/>
          <p:nvPr/>
        </p:nvSpPr>
        <p:spPr>
          <a:xfrm>
            <a:off x="1504701" y="1614029"/>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Read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(or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understand the service, then @ the new feature files to see what changed.  </a:t>
            </a:r>
            <a:r>
              <a:rPr lang="en-US" sz="1200" i="1" dirty="0">
                <a:latin typeface="Open Sans" panose="020B0606030504020204" pitchFamily="34" charset="0"/>
                <a:ea typeface="Open Sans" panose="020B0606030504020204" pitchFamily="34" charset="0"/>
                <a:cs typeface="Open Sans" panose="020B0606030504020204" pitchFamily="34" charset="0"/>
              </a:rPr>
              <a:t> </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a:extLst>
              <a:ext uri="{FF2B5EF4-FFF2-40B4-BE49-F238E27FC236}">
                <a16:creationId xmlns:a16="http://schemas.microsoft.com/office/drawing/2014/main" id="{BAB10001-7020-3461-2D59-72D7D6D0F957}"/>
              </a:ext>
            </a:extLst>
          </p:cNvPr>
          <p:cNvSpPr/>
          <p:nvPr/>
        </p:nvSpPr>
        <p:spPr>
          <a:xfrm>
            <a:off x="465777" y="2349467"/>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a:extLst>
              <a:ext uri="{FF2B5EF4-FFF2-40B4-BE49-F238E27FC236}">
                <a16:creationId xmlns:a16="http://schemas.microsoft.com/office/drawing/2014/main" id="{8A932B6F-75D1-D75B-DBC2-DED0CAD5D52D}"/>
              </a:ext>
            </a:extLst>
          </p:cNvPr>
          <p:cNvSpPr/>
          <p:nvPr/>
        </p:nvSpPr>
        <p:spPr>
          <a:xfrm>
            <a:off x="465777" y="2349467"/>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a:extLst>
              <a:ext uri="{FF2B5EF4-FFF2-40B4-BE49-F238E27FC236}">
                <a16:creationId xmlns:a16="http://schemas.microsoft.com/office/drawing/2014/main" id="{9806E985-8AA4-17F5-B60B-6FC077C72ABC}"/>
              </a:ext>
            </a:extLst>
          </p:cNvPr>
          <p:cNvSpPr/>
          <p:nvPr/>
        </p:nvSpPr>
        <p:spPr>
          <a:xfrm>
            <a:off x="1504701" y="2201857"/>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derive test cases from the acceptance criteria, including edge cases (zero amount, over-refund, currency rounding).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a:extLst>
              <a:ext uri="{FF2B5EF4-FFF2-40B4-BE49-F238E27FC236}">
                <a16:creationId xmlns:a16="http://schemas.microsoft.com/office/drawing/2014/main" id="{D4D2F989-EED1-8D98-79EE-ED69312036B1}"/>
              </a:ext>
            </a:extLst>
          </p:cNvPr>
          <p:cNvSpPr/>
          <p:nvPr/>
        </p:nvSpPr>
        <p:spPr>
          <a:xfrm>
            <a:off x="465777" y="2917703"/>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a:extLst>
              <a:ext uri="{FF2B5EF4-FFF2-40B4-BE49-F238E27FC236}">
                <a16:creationId xmlns:a16="http://schemas.microsoft.com/office/drawing/2014/main" id="{98F4488F-53FC-18FA-EE2D-B32D395C1035}"/>
              </a:ext>
            </a:extLst>
          </p:cNvPr>
          <p:cNvSpPr/>
          <p:nvPr/>
        </p:nvSpPr>
        <p:spPr>
          <a:xfrm>
            <a:off x="1504701" y="2789685"/>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write code that breaks the live payment gateway to 'prove' it is fragile.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a:extLst>
              <a:ext uri="{FF2B5EF4-FFF2-40B4-BE49-F238E27FC236}">
                <a16:creationId xmlns:a16="http://schemas.microsoft.com/office/drawing/2014/main" id="{E0E34C65-ACE2-73E8-A8F6-78ECBD98FEF6}"/>
              </a:ext>
            </a:extLst>
          </p:cNvPr>
          <p:cNvSpPr/>
          <p:nvPr/>
        </p:nvSpPr>
        <p:spPr>
          <a:xfrm>
            <a:off x="465777" y="3559086"/>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a:extLst>
              <a:ext uri="{FF2B5EF4-FFF2-40B4-BE49-F238E27FC236}">
                <a16:creationId xmlns:a16="http://schemas.microsoft.com/office/drawing/2014/main" id="{9ED37DDA-9585-AFDA-E145-E766589C6902}"/>
              </a:ext>
            </a:extLst>
          </p:cNvPr>
          <p:cNvSpPr/>
          <p:nvPr/>
        </p:nvSpPr>
        <p:spPr>
          <a:xfrm>
            <a:off x="465777" y="3559086"/>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a:extLst>
              <a:ext uri="{FF2B5EF4-FFF2-40B4-BE49-F238E27FC236}">
                <a16:creationId xmlns:a16="http://schemas.microsoft.com/office/drawing/2014/main" id="{5AFD27FA-9E0E-225F-11EF-4EE036C8DFAE}"/>
              </a:ext>
            </a:extLst>
          </p:cNvPr>
          <p:cNvSpPr/>
          <p:nvPr/>
        </p:nvSpPr>
        <p:spPr>
          <a:xfrm>
            <a:off x="1504701" y="3411475"/>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Have Claude generate unit and integration tests, then you run them and review the failures.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a:extLst>
              <a:ext uri="{FF2B5EF4-FFF2-40B4-BE49-F238E27FC236}">
                <a16:creationId xmlns:a16="http://schemas.microsoft.com/office/drawing/2014/main" id="{8C1EA259-D2B4-DC1C-B01B-3C3B9BAD1F0E}"/>
              </a:ext>
            </a:extLst>
          </p:cNvPr>
          <p:cNvSpPr/>
          <p:nvPr/>
        </p:nvSpPr>
        <p:spPr>
          <a:xfrm>
            <a:off x="465777" y="4140371"/>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a:extLst>
              <a:ext uri="{FF2B5EF4-FFF2-40B4-BE49-F238E27FC236}">
                <a16:creationId xmlns:a16="http://schemas.microsoft.com/office/drawing/2014/main" id="{A27D7ED8-42DF-FD5E-3390-8672BB64FAB1}"/>
              </a:ext>
            </a:extLst>
          </p:cNvPr>
          <p:cNvSpPr/>
          <p:nvPr/>
        </p:nvSpPr>
        <p:spPr>
          <a:xfrm>
            <a:off x="465777" y="4140371"/>
            <a:ext cx="868680" cy="292608"/>
          </a:xfrm>
          <a:prstGeom prst="rect">
            <a:avLst/>
          </a:prstGeom>
          <a:noFill/>
          <a:ln/>
        </p:spPr>
        <p:txBody>
          <a:bodyPr wrap="square" lIns="0" tIns="0" rIns="0" bIns="0" rtlCol="0" anchor="ctr"/>
          <a:lstStyle/>
          <a:p>
            <a:pPr algn="ct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a:extLst>
              <a:ext uri="{FF2B5EF4-FFF2-40B4-BE49-F238E27FC236}">
                <a16:creationId xmlns:a16="http://schemas.microsoft.com/office/drawing/2014/main" id="{1B23C4D6-21C3-2741-2E4C-9D98DA8C0EB0}"/>
              </a:ext>
            </a:extLst>
          </p:cNvPr>
          <p:cNvSpPr/>
          <p:nvPr/>
        </p:nvSpPr>
        <p:spPr>
          <a:xfrm>
            <a:off x="1504701" y="3992761"/>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Use /security-review on the new payment path.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a:extLst>
              <a:ext uri="{FF2B5EF4-FFF2-40B4-BE49-F238E27FC236}">
                <a16:creationId xmlns:a16="http://schemas.microsoft.com/office/drawing/2014/main" id="{F39B0979-274C-4808-106D-54B0A3236250}"/>
              </a:ext>
            </a:extLst>
          </p:cNvPr>
          <p:cNvSpPr/>
          <p:nvPr/>
        </p:nvSpPr>
        <p:spPr>
          <a:xfrm>
            <a:off x="1504701" y="4575353"/>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Accept 'all tests pass' from Claude without running the suite yourself.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a:extLst>
              <a:ext uri="{FF2B5EF4-FFF2-40B4-BE49-F238E27FC236}">
                <a16:creationId xmlns:a16="http://schemas.microsoft.com/office/drawing/2014/main" id="{4BD94A5D-4862-12B0-F299-F3A9097B7516}"/>
              </a:ext>
            </a:extLst>
          </p:cNvPr>
          <p:cNvSpPr/>
          <p:nvPr/>
        </p:nvSpPr>
        <p:spPr>
          <a:xfrm>
            <a:off x="465777" y="5326160"/>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a:extLst>
              <a:ext uri="{FF2B5EF4-FFF2-40B4-BE49-F238E27FC236}">
                <a16:creationId xmlns:a16="http://schemas.microsoft.com/office/drawing/2014/main" id="{57BBB97A-13F8-3A30-0A91-0A73B1AE74D3}"/>
              </a:ext>
            </a:extLst>
          </p:cNvPr>
          <p:cNvSpPr/>
          <p:nvPr/>
        </p:nvSpPr>
        <p:spPr>
          <a:xfrm>
            <a:off x="1504701" y="5178550"/>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map the feature's regression surface on existing flows before sign-off.  </a:t>
            </a:r>
            <a:r>
              <a:rPr lang="en-US" sz="1200" i="1">
                <a:latin typeface="Open Sans" panose="020B0606030504020204" pitchFamily="34" charset="0"/>
                <a:ea typeface="Open Sans" panose="020B0606030504020204" pitchFamily="34" charset="0"/>
                <a:cs typeface="Open Sans" panose="020B0606030504020204" pitchFamily="34" charset="0"/>
              </a:rPr>
              <a:t> </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31" name="Shape 18">
            <a:extLst>
              <a:ext uri="{FF2B5EF4-FFF2-40B4-BE49-F238E27FC236}">
                <a16:creationId xmlns:a16="http://schemas.microsoft.com/office/drawing/2014/main" id="{EB683E16-EE2F-7658-E22E-7FE8B9C9603D}"/>
              </a:ext>
            </a:extLst>
          </p:cNvPr>
          <p:cNvSpPr/>
          <p:nvPr/>
        </p:nvSpPr>
        <p:spPr>
          <a:xfrm>
            <a:off x="465777" y="293729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3" name="Shape 18">
            <a:extLst>
              <a:ext uri="{FF2B5EF4-FFF2-40B4-BE49-F238E27FC236}">
                <a16:creationId xmlns:a16="http://schemas.microsoft.com/office/drawing/2014/main" id="{CE6013D2-C70B-BB07-0400-D629CD488508}"/>
              </a:ext>
            </a:extLst>
          </p:cNvPr>
          <p:cNvSpPr/>
          <p:nvPr/>
        </p:nvSpPr>
        <p:spPr>
          <a:xfrm>
            <a:off x="465777" y="4722963"/>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915007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5"/>
          <p:cNvSpPr/>
          <p:nvPr/>
        </p:nvSpPr>
        <p:spPr>
          <a:xfrm>
            <a:off x="457994" y="695705"/>
            <a:ext cx="11274552" cy="914400"/>
          </a:xfrm>
          <a:prstGeom prst="rect">
            <a:avLst/>
          </a:prstGeom>
          <a:noFill/>
          <a:ln/>
        </p:spPr>
        <p:txBody>
          <a:bodyPr wrap="square" lIns="0" tIns="0" rIns="0" bIns="0" rtlCol="0" anchor="t"/>
          <a:lstStyle/>
          <a:p>
            <a:r>
              <a:rPr lang="en-US" sz="1800" b="1" dirty="0">
                <a:latin typeface="Open Sans" panose="020B0606030504020204" pitchFamily="34" charset="0"/>
                <a:ea typeface="Open Sans" panose="020B0606030504020204" pitchFamily="34" charset="0"/>
                <a:cs typeface="Open Sans" panose="020B0606030504020204" pitchFamily="34" charset="0"/>
              </a:rPr>
              <a:t>Testing a new feature. You are the AI engineer who owns quality for this service. Engineering shipped a 'partial refund' feature in the </a:t>
            </a:r>
            <a:r>
              <a:rPr lang="en-US" sz="1800" b="1" dirty="0" err="1">
                <a:latin typeface="Open Sans" panose="020B0606030504020204" pitchFamily="34" charset="0"/>
                <a:ea typeface="Open Sans" panose="020B0606030504020204" pitchFamily="34" charset="0"/>
                <a:cs typeface="Open Sans" panose="020B0606030504020204" pitchFamily="34" charset="0"/>
              </a:rPr>
              <a:t>ReturnFlow</a:t>
            </a:r>
            <a:r>
              <a:rPr lang="en-US" sz="1800" b="1" dirty="0">
                <a:latin typeface="Open Sans" panose="020B0606030504020204" pitchFamily="34" charset="0"/>
                <a:ea typeface="Open Sans" panose="020B0606030504020204" pitchFamily="34" charset="0"/>
                <a:cs typeface="Open Sans" panose="020B0606030504020204" pitchFamily="34" charset="0"/>
              </a:rPr>
              <a:t> checkout service. You have Claude Code. Mark each step.</a:t>
            </a:r>
            <a:endParaRPr lang="en-US" sz="1800" dirty="0">
              <a:latin typeface="Open Sans" panose="020B0606030504020204" pitchFamily="34" charset="0"/>
              <a:ea typeface="Open Sans" panose="020B0606030504020204" pitchFamily="34" charset="0"/>
              <a:cs typeface="Open Sans" panose="020B0606030504020204" pitchFamily="34" charset="0"/>
            </a:endParaRPr>
          </a:p>
        </p:txBody>
      </p:sp>
      <p:sp>
        <p:nvSpPr>
          <p:cNvPr id="8" name="Shape 6"/>
          <p:cNvSpPr/>
          <p:nvPr/>
        </p:nvSpPr>
        <p:spPr>
          <a:xfrm>
            <a:off x="457994" y="1836382"/>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9" name="Text 7"/>
          <p:cNvSpPr/>
          <p:nvPr/>
        </p:nvSpPr>
        <p:spPr>
          <a:xfrm>
            <a:off x="457994" y="1836382"/>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0" name="Text 8"/>
          <p:cNvSpPr/>
          <p:nvPr/>
        </p:nvSpPr>
        <p:spPr>
          <a:xfrm>
            <a:off x="1482122" y="1688772"/>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Read </a:t>
            </a:r>
            <a:r>
              <a:rPr lang="en-US" sz="1200" b="1" dirty="0" err="1">
                <a:latin typeface="Open Sans" panose="020B0606030504020204" pitchFamily="34" charset="0"/>
                <a:ea typeface="Open Sans" panose="020B0606030504020204" pitchFamily="34" charset="0"/>
                <a:cs typeface="Open Sans" panose="020B0606030504020204" pitchFamily="34" charset="0"/>
              </a:rPr>
              <a:t>CLAUDE.md</a:t>
            </a:r>
            <a:r>
              <a:rPr lang="en-US" sz="1200" b="1" dirty="0">
                <a:latin typeface="Open Sans" panose="020B0606030504020204" pitchFamily="34" charset="0"/>
                <a:ea typeface="Open Sans" panose="020B0606030504020204" pitchFamily="34" charset="0"/>
                <a:cs typeface="Open Sans" panose="020B0606030504020204" pitchFamily="34" charset="0"/>
              </a:rPr>
              <a:t> (or /</a:t>
            </a:r>
            <a:r>
              <a:rPr lang="en-US" sz="1200" b="1" dirty="0" err="1">
                <a:latin typeface="Open Sans" panose="020B0606030504020204" pitchFamily="34" charset="0"/>
                <a:ea typeface="Open Sans" panose="020B0606030504020204" pitchFamily="34" charset="0"/>
                <a:cs typeface="Open Sans" panose="020B0606030504020204" pitchFamily="34" charset="0"/>
              </a:rPr>
              <a:t>init</a:t>
            </a:r>
            <a:r>
              <a:rPr lang="en-US" sz="1200" b="1" dirty="0">
                <a:latin typeface="Open Sans" panose="020B0606030504020204" pitchFamily="34" charset="0"/>
                <a:ea typeface="Open Sans" panose="020B0606030504020204" pitchFamily="34" charset="0"/>
                <a:cs typeface="Open Sans" panose="020B0606030504020204" pitchFamily="34" charset="0"/>
              </a:rPr>
              <a:t>) to understand the service, then @ the new feature files to see what changed.  </a:t>
            </a:r>
            <a:r>
              <a:rPr lang="en-US" sz="1200" i="1" dirty="0">
                <a:latin typeface="Open Sans" panose="020B0606030504020204" pitchFamily="34" charset="0"/>
                <a:ea typeface="Open Sans" panose="020B0606030504020204" pitchFamily="34" charset="0"/>
                <a:cs typeface="Open Sans" panose="020B0606030504020204" pitchFamily="34" charset="0"/>
              </a:rPr>
              <a:t>Know the change surface before writing tests.</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11" name="Shape 9"/>
          <p:cNvSpPr/>
          <p:nvPr/>
        </p:nvSpPr>
        <p:spPr>
          <a:xfrm>
            <a:off x="457994" y="244380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2" name="Text 10"/>
          <p:cNvSpPr/>
          <p:nvPr/>
        </p:nvSpPr>
        <p:spPr>
          <a:xfrm>
            <a:off x="457994" y="2443805"/>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3" name="Text 11"/>
          <p:cNvSpPr/>
          <p:nvPr/>
        </p:nvSpPr>
        <p:spPr>
          <a:xfrm>
            <a:off x="1482122" y="2296194"/>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derive test cases from the acceptance criteria, including edge cases (zero amount, over-refund, currency rounding).  </a:t>
            </a:r>
            <a:r>
              <a:rPr lang="en-US" sz="1200" i="1">
                <a:latin typeface="Open Sans" panose="020B0606030504020204" pitchFamily="34" charset="0"/>
                <a:ea typeface="Open Sans" panose="020B0606030504020204" pitchFamily="34" charset="0"/>
                <a:cs typeface="Open Sans" panose="020B0606030504020204" pitchFamily="34" charset="0"/>
              </a:rPr>
              <a:t>Edge-case coverage is the point of the exercise.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4" name="Shape 12"/>
          <p:cNvSpPr/>
          <p:nvPr/>
        </p:nvSpPr>
        <p:spPr>
          <a:xfrm>
            <a:off x="470186" y="3031633"/>
            <a:ext cx="868680" cy="292608"/>
          </a:xfrm>
          <a:prstGeom prst="roundRect">
            <a:avLst>
              <a:gd name="adj" fmla="val 15625"/>
            </a:avLst>
          </a:prstGeom>
          <a:solidFill>
            <a:schemeClr val="accent3"/>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5" name="Text 13"/>
          <p:cNvSpPr/>
          <p:nvPr/>
        </p:nvSpPr>
        <p:spPr>
          <a:xfrm>
            <a:off x="457994" y="3031633"/>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6" name="Text 14"/>
          <p:cNvSpPr/>
          <p:nvPr/>
        </p:nvSpPr>
        <p:spPr>
          <a:xfrm>
            <a:off x="1482122" y="2884022"/>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Ask Claude to write code that breaks the live payment gateway to 'prove' it is fragile.  </a:t>
            </a:r>
            <a:r>
              <a:rPr lang="en-US" sz="1200" i="1">
                <a:latin typeface="Open Sans" panose="020B0606030504020204" pitchFamily="34" charset="0"/>
                <a:ea typeface="Open Sans" panose="020B0606030504020204" pitchFamily="34" charset="0"/>
                <a:cs typeface="Open Sans" panose="020B0606030504020204" pitchFamily="34" charset="0"/>
              </a:rPr>
              <a:t>That is attacking a production system. Claude will not help, and it is not testing.</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17" name="Shape 15"/>
          <p:cNvSpPr/>
          <p:nvPr/>
        </p:nvSpPr>
        <p:spPr>
          <a:xfrm>
            <a:off x="457994" y="3656038"/>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18" name="Text 16"/>
          <p:cNvSpPr/>
          <p:nvPr/>
        </p:nvSpPr>
        <p:spPr>
          <a:xfrm>
            <a:off x="457994" y="3656038"/>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19" name="Text 17"/>
          <p:cNvSpPr/>
          <p:nvPr/>
        </p:nvSpPr>
        <p:spPr>
          <a:xfrm>
            <a:off x="1482122" y="3508428"/>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Have Claude generate unit and integration tests, then you run them and review the failures.  </a:t>
            </a:r>
            <a:r>
              <a:rPr lang="en-US" sz="1200" i="1">
                <a:latin typeface="Open Sans" panose="020B0606030504020204" pitchFamily="34" charset="0"/>
                <a:ea typeface="Open Sans" panose="020B0606030504020204" pitchFamily="34" charset="0"/>
                <a:cs typeface="Open Sans" panose="020B0606030504020204" pitchFamily="34" charset="0"/>
              </a:rPr>
              <a:t>Generate fast, but you run and judge the results.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0" name="Shape 18"/>
          <p:cNvSpPr/>
          <p:nvPr/>
        </p:nvSpPr>
        <p:spPr>
          <a:xfrm>
            <a:off x="457994" y="4253010"/>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1" name="Text 19"/>
          <p:cNvSpPr/>
          <p:nvPr/>
        </p:nvSpPr>
        <p:spPr>
          <a:xfrm>
            <a:off x="457994" y="4253010"/>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2" name="Text 20"/>
          <p:cNvSpPr/>
          <p:nvPr/>
        </p:nvSpPr>
        <p:spPr>
          <a:xfrm>
            <a:off x="1482122" y="4105400"/>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Use /security-review on the new payment path.  </a:t>
            </a:r>
            <a:r>
              <a:rPr lang="en-US" sz="1200" i="1">
                <a:latin typeface="Open Sans" panose="020B0606030504020204" pitchFamily="34" charset="0"/>
                <a:ea typeface="Open Sans" panose="020B0606030504020204" pitchFamily="34" charset="0"/>
                <a:cs typeface="Open Sans" panose="020B0606030504020204" pitchFamily="34" charset="0"/>
              </a:rPr>
              <a:t>Payment paths warrant a read-only security pass.</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3" name="Shape 21"/>
          <p:cNvSpPr/>
          <p:nvPr/>
        </p:nvSpPr>
        <p:spPr>
          <a:xfrm>
            <a:off x="457994" y="4840186"/>
            <a:ext cx="868680" cy="292608"/>
          </a:xfrm>
          <a:prstGeom prst="roundRect">
            <a:avLst>
              <a:gd name="adj" fmla="val 15625"/>
            </a:avLst>
          </a:prstGeom>
          <a:solidFill>
            <a:schemeClr val="accent3"/>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4" name="Text 22"/>
          <p:cNvSpPr/>
          <p:nvPr/>
        </p:nvSpPr>
        <p:spPr>
          <a:xfrm>
            <a:off x="457994" y="4840186"/>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WRONG</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5" name="Text 23"/>
          <p:cNvSpPr/>
          <p:nvPr/>
        </p:nvSpPr>
        <p:spPr>
          <a:xfrm>
            <a:off x="1482122" y="4692576"/>
            <a:ext cx="10241280" cy="587829"/>
          </a:xfrm>
          <a:prstGeom prst="rect">
            <a:avLst/>
          </a:prstGeom>
          <a:noFill/>
          <a:ln/>
        </p:spPr>
        <p:txBody>
          <a:bodyPr wrap="square" lIns="0" tIns="0" rIns="0" bIns="0" rtlCol="0" anchor="ctr"/>
          <a:lstStyle/>
          <a:p>
            <a:pPr>
              <a:lnSpc>
                <a:spcPct val="95000"/>
              </a:lnSpc>
            </a:pPr>
            <a:r>
              <a:rPr lang="en-US" sz="1200" b="1">
                <a:latin typeface="Open Sans" panose="020B0606030504020204" pitchFamily="34" charset="0"/>
                <a:ea typeface="Open Sans" panose="020B0606030504020204" pitchFamily="34" charset="0"/>
                <a:cs typeface="Open Sans" panose="020B0606030504020204" pitchFamily="34" charset="0"/>
              </a:rPr>
              <a:t>Accept 'all tests pass' from Claude without running the suite yourself.  </a:t>
            </a:r>
            <a:r>
              <a:rPr lang="en-US" sz="1200" i="1">
                <a:latin typeface="Open Sans" panose="020B0606030504020204" pitchFamily="34" charset="0"/>
                <a:ea typeface="Open Sans" panose="020B0606030504020204" pitchFamily="34" charset="0"/>
                <a:cs typeface="Open Sans" panose="020B0606030504020204" pitchFamily="34" charset="0"/>
              </a:rPr>
              <a:t>Never sign off on a claimed result you did not execute.</a:t>
            </a:r>
            <a:endParaRPr lang="en-US" sz="1200">
              <a:latin typeface="Open Sans" panose="020B0606030504020204" pitchFamily="34" charset="0"/>
              <a:ea typeface="Open Sans" panose="020B0606030504020204" pitchFamily="34" charset="0"/>
              <a:cs typeface="Open Sans" panose="020B0606030504020204" pitchFamily="34" charset="0"/>
            </a:endParaRPr>
          </a:p>
        </p:txBody>
      </p:sp>
      <p:sp>
        <p:nvSpPr>
          <p:cNvPr id="26" name="Shape 24"/>
          <p:cNvSpPr/>
          <p:nvPr/>
        </p:nvSpPr>
        <p:spPr>
          <a:xfrm>
            <a:off x="457994" y="5401235"/>
            <a:ext cx="868680" cy="292608"/>
          </a:xfrm>
          <a:prstGeom prst="roundRect">
            <a:avLst>
              <a:gd name="adj" fmla="val 15625"/>
            </a:avLst>
          </a:prstGeom>
          <a:solidFill>
            <a:srgbClr val="00B050"/>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27" name="Text 25"/>
          <p:cNvSpPr/>
          <p:nvPr/>
        </p:nvSpPr>
        <p:spPr>
          <a:xfrm>
            <a:off x="457994" y="5401235"/>
            <a:ext cx="868680" cy="292608"/>
          </a:xfrm>
          <a:prstGeom prst="rect">
            <a:avLst/>
          </a:prstGeom>
          <a:noFill/>
          <a:ln/>
        </p:spPr>
        <p:txBody>
          <a:bodyPr wrap="square" lIns="0" tIns="0" rIns="0" bIns="0" rtlCol="0" anchor="ctr"/>
          <a:lstStyle/>
          <a:p>
            <a:pPr algn="ctr"/>
            <a:r>
              <a:rPr lang="en-US" sz="1000" b="1">
                <a:solidFill>
                  <a:srgbClr val="FFFFFF"/>
                </a:solidFill>
                <a:latin typeface="Open Sans" panose="020B0606030504020204" pitchFamily="34" charset="0"/>
                <a:ea typeface="Open Sans" panose="020B0606030504020204" pitchFamily="34" charset="0"/>
                <a:cs typeface="Open Sans" panose="020B0606030504020204" pitchFamily="34" charset="0"/>
              </a:rPr>
              <a:t>RIGHT</a:t>
            </a:r>
            <a:endParaRPr lang="en-US" sz="1000">
              <a:latin typeface="Open Sans" panose="020B0606030504020204" pitchFamily="34" charset="0"/>
              <a:ea typeface="Open Sans" panose="020B0606030504020204" pitchFamily="34" charset="0"/>
              <a:cs typeface="Open Sans" panose="020B0606030504020204" pitchFamily="34" charset="0"/>
            </a:endParaRPr>
          </a:p>
        </p:txBody>
      </p:sp>
      <p:sp>
        <p:nvSpPr>
          <p:cNvPr id="28" name="Text 26"/>
          <p:cNvSpPr/>
          <p:nvPr/>
        </p:nvSpPr>
        <p:spPr>
          <a:xfrm>
            <a:off x="1482122" y="5253625"/>
            <a:ext cx="10241280" cy="587829"/>
          </a:xfrm>
          <a:prstGeom prst="rect">
            <a:avLst/>
          </a:prstGeom>
          <a:noFill/>
          <a:ln/>
        </p:spPr>
        <p:txBody>
          <a:bodyPr wrap="square" lIns="0" tIns="0" rIns="0" bIns="0" rtlCol="0" anchor="ctr"/>
          <a:lstStyle/>
          <a:p>
            <a:pPr>
              <a:lnSpc>
                <a:spcPct val="95000"/>
              </a:lnSpc>
            </a:pPr>
            <a:r>
              <a:rPr lang="en-US" sz="1200" b="1" dirty="0">
                <a:latin typeface="Open Sans" panose="020B0606030504020204" pitchFamily="34" charset="0"/>
                <a:ea typeface="Open Sans" panose="020B0606030504020204" pitchFamily="34" charset="0"/>
                <a:cs typeface="Open Sans" panose="020B0606030504020204" pitchFamily="34" charset="0"/>
              </a:rPr>
              <a:t>Ask Claude to map the feature's regression surface on existing flows before sign-off.  </a:t>
            </a:r>
            <a:r>
              <a:rPr lang="en-US" sz="1200" i="1" dirty="0">
                <a:latin typeface="Open Sans" panose="020B0606030504020204" pitchFamily="34" charset="0"/>
                <a:ea typeface="Open Sans" panose="020B0606030504020204" pitchFamily="34" charset="0"/>
                <a:cs typeface="Open Sans" panose="020B0606030504020204" pitchFamily="34" charset="0"/>
              </a:rPr>
              <a:t>Regression impact is core QA diligence.</a:t>
            </a:r>
            <a:endParaRPr lang="en-US" sz="1200" dirty="0">
              <a:latin typeface="Open Sans" panose="020B0606030504020204" pitchFamily="34" charset="0"/>
              <a:ea typeface="Open Sans" panose="020B0606030504020204" pitchFamily="34" charset="0"/>
              <a:cs typeface="Open Sans" panose="020B0606030504020204" pitchFamily="34" charset="0"/>
            </a:endParaRPr>
          </a:p>
        </p:txBody>
      </p:sp>
      <p:sp>
        <p:nvSpPr>
          <p:cNvPr id="29" name="Shape 27"/>
          <p:cNvSpPr/>
          <p:nvPr/>
        </p:nvSpPr>
        <p:spPr>
          <a:xfrm>
            <a:off x="457994" y="5910289"/>
            <a:ext cx="11274552" cy="457200"/>
          </a:xfrm>
          <a:prstGeom prst="roundRect">
            <a:avLst>
              <a:gd name="adj" fmla="val 12000"/>
            </a:avLst>
          </a:prstGeom>
          <a:solidFill>
            <a:srgbClr val="E1F4EC"/>
          </a:solidFill>
          <a:ln/>
        </p:spPr>
        <p:txBody>
          <a:bodyPr/>
          <a:lstStyle/>
          <a:p>
            <a:endParaRPr lang="en-US" sz="1800">
              <a:latin typeface="Open Sans" panose="020B0606030504020204" pitchFamily="34" charset="0"/>
              <a:ea typeface="Open Sans" panose="020B0606030504020204" pitchFamily="34" charset="0"/>
              <a:cs typeface="Open Sans" panose="020B0606030504020204" pitchFamily="34" charset="0"/>
            </a:endParaRPr>
          </a:p>
        </p:txBody>
      </p:sp>
      <p:sp>
        <p:nvSpPr>
          <p:cNvPr id="30" name="Text 28"/>
          <p:cNvSpPr/>
          <p:nvPr/>
        </p:nvSpPr>
        <p:spPr>
          <a:xfrm>
            <a:off x="686594" y="5910289"/>
            <a:ext cx="10817352" cy="457200"/>
          </a:xfrm>
          <a:prstGeom prst="rect">
            <a:avLst/>
          </a:prstGeom>
          <a:noFill/>
          <a:ln/>
        </p:spPr>
        <p:txBody>
          <a:bodyPr wrap="square" lIns="0" tIns="0" rIns="0" bIns="0" rtlCol="0" anchor="ctr"/>
          <a:lstStyle/>
          <a:p>
            <a:r>
              <a:rPr lang="en-US" sz="1100" b="1" kern="0" spc="151" dirty="0">
                <a:latin typeface="Open Sans" panose="020B0606030504020204" pitchFamily="34" charset="0"/>
                <a:ea typeface="Open Sans" panose="020B0606030504020204" pitchFamily="34" charset="0"/>
                <a:cs typeface="Open Sans" panose="020B0606030504020204" pitchFamily="34" charset="0"/>
              </a:rPr>
              <a:t>LESSON</a:t>
            </a:r>
            <a:r>
              <a:rPr lang="en-US" sz="1100" b="1" kern="0" spc="151" dirty="0">
                <a:solidFill>
                  <a:srgbClr val="F2A900"/>
                </a:solidFill>
                <a:latin typeface="Open Sans" panose="020B0606030504020204" pitchFamily="34" charset="0"/>
                <a:ea typeface="Open Sans" panose="020B0606030504020204" pitchFamily="34" charset="0"/>
                <a:cs typeface="Open Sans" panose="020B0606030504020204" pitchFamily="34" charset="0"/>
              </a:rPr>
              <a:t>   </a:t>
            </a:r>
            <a:r>
              <a:rPr lang="en-US" sz="1251" dirty="0">
                <a:latin typeface="Open Sans" panose="020B0606030504020204" pitchFamily="34" charset="0"/>
                <a:ea typeface="Open Sans" panose="020B0606030504020204" pitchFamily="34" charset="0"/>
                <a:cs typeface="Open Sans" panose="020B0606030504020204" pitchFamily="34" charset="0"/>
              </a:rPr>
              <a:t>Generate tests fast, but you run them and own the sign-off.</a:t>
            </a:r>
            <a:endParaRPr lang="en-US" sz="1100"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673998"/>
      </p:ext>
    </p:extLst>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525684" y="268258"/>
            <a:ext cx="11218100" cy="670647"/>
          </a:xfrm>
          <a:prstGeom prst="rect">
            <a:avLst/>
          </a:prstGeom>
          <a:noFill/>
          <a:ln/>
        </p:spPr>
        <p:txBody>
          <a:bodyPr wrap="square" lIns="0" tIns="0" rIns="0" bIns="0" rtlCol="0" anchor="ctr"/>
          <a:lstStyle/>
          <a:p>
            <a:pPr marL="0" indent="0">
              <a:buNone/>
            </a:pPr>
            <a:r>
              <a:rPr lang="en-US" sz="3750" b="1">
                <a:latin typeface="Open Sans" pitchFamily="2" charset="0"/>
                <a:ea typeface="Open Sans" pitchFamily="2" charset="0"/>
                <a:cs typeface="Open Sans" pitchFamily="2" charset="0"/>
              </a:rPr>
              <a:t>Calling Claude from Your Code</a:t>
            </a:r>
            <a:endParaRPr lang="en-US" sz="375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525684" y="902325"/>
            <a:ext cx="11218100" cy="560905"/>
          </a:xfrm>
          <a:prstGeom prst="rect">
            <a:avLst/>
          </a:prstGeom>
          <a:noFill/>
          <a:ln/>
        </p:spPr>
        <p:txBody>
          <a:bodyPr wrap="square" lIns="0" tIns="0" rIns="0" bIns="0" rtlCol="0" anchor="t">
            <a:noAutofit/>
          </a:bodyPr>
          <a:lstStyle/>
          <a:p>
            <a:pPr marL="0" indent="0" algn="l">
              <a:buNone/>
            </a:pPr>
            <a:r>
              <a:rPr lang="en-US" sz="1850">
                <a:solidFill>
                  <a:schemeClr val="tx2"/>
                </a:solidFill>
                <a:latin typeface="Open Sans" pitchFamily="2" charset="0"/>
                <a:ea typeface="Open Sans" pitchFamily="2" charset="0"/>
                <a:cs typeface="Open Sans" pitchFamily="2" charset="0"/>
              </a:rPr>
              <a:t>The Messages API as a typed, failure-aware dependency, not a magic function.</a:t>
            </a:r>
          </a:p>
        </p:txBody>
      </p:sp>
      <p:sp>
        <p:nvSpPr>
          <p:cNvPr id="5" name="Shape 2">
            <a:extLst>
              <a:ext uri="{FF2B5EF4-FFF2-40B4-BE49-F238E27FC236}">
                <a16:creationId xmlns:a16="http://schemas.microsoft.com/office/drawing/2014/main" id="{C70745E8-6A98-3B95-1B5F-97B9032C6271}"/>
              </a:ext>
            </a:extLst>
          </p:cNvPr>
          <p:cNvSpPr/>
          <p:nvPr/>
        </p:nvSpPr>
        <p:spPr>
          <a:xfrm>
            <a:off x="390194" y="1350179"/>
            <a:ext cx="5511501" cy="1868927"/>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658453" y="1457068"/>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THE CALL</a:t>
            </a:r>
            <a:endParaRPr lang="en-US" sz="185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658453" y="1891598"/>
            <a:ext cx="4974983" cy="906759"/>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client.messages.create(model=..., system=..., messages=[...], max_tokens=...)</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Model and key from env; set a request timeout; keep max_tokens tight</a:t>
            </a:r>
          </a:p>
        </p:txBody>
      </p:sp>
      <p:sp>
        <p:nvSpPr>
          <p:cNvPr id="8" name="Shape 5">
            <a:extLst>
              <a:ext uri="{FF2B5EF4-FFF2-40B4-BE49-F238E27FC236}">
                <a16:creationId xmlns:a16="http://schemas.microsoft.com/office/drawing/2014/main" id="{60CDCB1D-9E0E-2B44-BD1A-B10ECC61214F}"/>
              </a:ext>
            </a:extLst>
          </p:cNvPr>
          <p:cNvSpPr/>
          <p:nvPr/>
        </p:nvSpPr>
        <p:spPr>
          <a:xfrm>
            <a:off x="6291891" y="1350179"/>
            <a:ext cx="5511501" cy="1868927"/>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6560150" y="1457068"/>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STRUCTURED OUTPUT</a:t>
            </a:r>
            <a:endParaRPr lang="en-US" sz="185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6560150" y="1891598"/>
            <a:ext cx="5243242" cy="906759"/>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System prompt demands JSON only, against an explicit schema</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Validate with pydantic model_validate_json; retry once, then fail</a:t>
            </a:r>
          </a:p>
        </p:txBody>
      </p:sp>
      <p:sp>
        <p:nvSpPr>
          <p:cNvPr id="11" name="Shape 2">
            <a:extLst>
              <a:ext uri="{FF2B5EF4-FFF2-40B4-BE49-F238E27FC236}">
                <a16:creationId xmlns:a16="http://schemas.microsoft.com/office/drawing/2014/main" id="{5B38C73E-4DC7-5031-F4A2-C865B06C0B20}"/>
              </a:ext>
            </a:extLst>
          </p:cNvPr>
          <p:cNvSpPr/>
          <p:nvPr/>
        </p:nvSpPr>
        <p:spPr>
          <a:xfrm>
            <a:off x="390194" y="3436372"/>
            <a:ext cx="5511501" cy="2160484"/>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658453" y="3620034"/>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FAILURE MODES</a:t>
            </a:r>
            <a:endParaRPr lang="en-US" sz="185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658453" y="4054564"/>
            <a:ext cx="4974983" cy="117280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API errors, timeouts, rate limits, stop_reason == "max_tokens"</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Map each to a typed error and a safe status: 503, never 500</a:t>
            </a:r>
          </a:p>
        </p:txBody>
      </p:sp>
      <p:sp>
        <p:nvSpPr>
          <p:cNvPr id="14" name="Shape 5">
            <a:extLst>
              <a:ext uri="{FF2B5EF4-FFF2-40B4-BE49-F238E27FC236}">
                <a16:creationId xmlns:a16="http://schemas.microsoft.com/office/drawing/2014/main" id="{7DC3A9EF-923C-B111-E8D5-B07764CD447C}"/>
              </a:ext>
            </a:extLst>
          </p:cNvPr>
          <p:cNvSpPr/>
          <p:nvPr/>
        </p:nvSpPr>
        <p:spPr>
          <a:xfrm>
            <a:off x="6291891" y="3436372"/>
            <a:ext cx="5511501" cy="2160484"/>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6560150" y="3620034"/>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COST &amp; PROVENANCE</a:t>
            </a:r>
            <a:endParaRPr lang="en-US" sz="185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6560150" y="4054564"/>
            <a:ext cx="4974983" cy="117280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Persist usage.input_tokens and usage.output_tokens per call</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Store model and prompt_version so outputs are comparable</a:t>
            </a:r>
          </a:p>
        </p:txBody>
      </p:sp>
      <p:sp>
        <p:nvSpPr>
          <p:cNvPr id="17" name="Shape 8">
            <a:extLst>
              <a:ext uri="{FF2B5EF4-FFF2-40B4-BE49-F238E27FC236}">
                <a16:creationId xmlns:a16="http://schemas.microsoft.com/office/drawing/2014/main" id="{D19EDAE2-62A3-03D1-039F-53ED32B629F1}"/>
              </a:ext>
            </a:extLst>
          </p:cNvPr>
          <p:cNvSpPr/>
          <p:nvPr/>
        </p:nvSpPr>
        <p:spPr>
          <a:xfrm>
            <a:off x="390194" y="5840317"/>
            <a:ext cx="11413198" cy="560905"/>
          </a:xfrm>
          <a:prstGeom prst="roundRect">
            <a:avLst>
              <a:gd name="adj" fmla="val 11905"/>
            </a:avLst>
          </a:prstGeom>
          <a:solidFill>
            <a:schemeClr val="accent6">
              <a:lumMod val="20000"/>
              <a:lumOff val="80000"/>
            </a:schemeClr>
          </a:solidFill>
          <a:ln w="16935">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658453" y="5862899"/>
            <a:ext cx="10876680" cy="512130"/>
          </a:xfrm>
          <a:prstGeom prst="rect">
            <a:avLst/>
          </a:prstGeom>
          <a:noFill/>
          <a:ln/>
        </p:spPr>
        <p:txBody>
          <a:bodyPr wrap="square" lIns="0" tIns="0" rIns="0" bIns="0" rtlCol="0" anchor="ctr"/>
          <a:lstStyle/>
          <a:p>
            <a:pPr marL="0" indent="0" algn="ctr">
              <a:buNone/>
            </a:pPr>
            <a:r>
              <a:rPr lang="en-US" sz="1600" i="1">
                <a:solidFill>
                  <a:schemeClr val="tx2"/>
                </a:solidFill>
                <a:latin typeface="Open Sans" pitchFamily="2" charset="0"/>
                <a:ea typeface="Open Sans" pitchFamily="2" charset="0"/>
                <a:cs typeface="Open Sans" pitchFamily="2" charset="0"/>
              </a:rPr>
              <a:t>Treat the model like a flaky network dependency that returns untrusted text.</a:t>
            </a:r>
            <a:endParaRPr lang="en-US" sz="16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0">
            <a:extLst>
              <a:ext uri="{FF2B5EF4-FFF2-40B4-BE49-F238E27FC236}">
                <a16:creationId xmlns:a16="http://schemas.microsoft.com/office/drawing/2014/main" id="{A5C4F579-AA11-E146-3811-2DE38DA7DA6E}"/>
              </a:ext>
            </a:extLst>
          </p:cNvPr>
          <p:cNvSpPr/>
          <p:nvPr/>
        </p:nvSpPr>
        <p:spPr>
          <a:xfrm>
            <a:off x="525684" y="268258"/>
            <a:ext cx="11218100" cy="670647"/>
          </a:xfrm>
          <a:prstGeom prst="rect">
            <a:avLst/>
          </a:prstGeom>
          <a:noFill/>
          <a:ln/>
        </p:spPr>
        <p:txBody>
          <a:bodyPr wrap="square" lIns="0" tIns="0" rIns="0" bIns="0" rtlCol="0" anchor="ctr"/>
          <a:lstStyle/>
          <a:p>
            <a:pPr marL="0" indent="0">
              <a:buNone/>
            </a:pPr>
            <a:r>
              <a:rPr lang="en-US" sz="3750" b="1">
                <a:latin typeface="Open Sans" pitchFamily="2" charset="0"/>
                <a:ea typeface="Open Sans" pitchFamily="2" charset="0"/>
                <a:cs typeface="Open Sans" pitchFamily="2" charset="0"/>
              </a:rPr>
              <a:t>Defence in Depth for Invariants</a:t>
            </a:r>
            <a:endParaRPr lang="en-US" sz="3750">
              <a:latin typeface="Open Sans" pitchFamily="2" charset="0"/>
              <a:ea typeface="Open Sans" pitchFamily="2" charset="0"/>
              <a:cs typeface="Open Sans" pitchFamily="2" charset="0"/>
            </a:endParaRPr>
          </a:p>
        </p:txBody>
      </p:sp>
      <p:sp>
        <p:nvSpPr>
          <p:cNvPr id="4" name="Text 1">
            <a:extLst>
              <a:ext uri="{FF2B5EF4-FFF2-40B4-BE49-F238E27FC236}">
                <a16:creationId xmlns:a16="http://schemas.microsoft.com/office/drawing/2014/main" id="{4CB6F957-8F0A-815F-C3D8-376B4980501A}"/>
              </a:ext>
            </a:extLst>
          </p:cNvPr>
          <p:cNvSpPr/>
          <p:nvPr/>
        </p:nvSpPr>
        <p:spPr>
          <a:xfrm>
            <a:off x="525684" y="902325"/>
            <a:ext cx="11218100" cy="560905"/>
          </a:xfrm>
          <a:prstGeom prst="rect">
            <a:avLst/>
          </a:prstGeom>
          <a:noFill/>
          <a:ln/>
        </p:spPr>
        <p:txBody>
          <a:bodyPr wrap="square" lIns="0" tIns="0" rIns="0" bIns="0" rtlCol="0" anchor="t">
            <a:noAutofit/>
          </a:bodyPr>
          <a:lstStyle/>
          <a:p>
            <a:pPr marL="0" indent="0" algn="l">
              <a:buNone/>
            </a:pPr>
            <a:r>
              <a:rPr lang="en-US" sz="1850">
                <a:solidFill>
                  <a:schemeClr val="tx2"/>
                </a:solidFill>
                <a:latin typeface="Open Sans" pitchFamily="2" charset="0"/>
                <a:ea typeface="Open Sans" pitchFamily="2" charset="0"/>
                <a:cs typeface="Open Sans" pitchFamily="2" charset="0"/>
              </a:rPr>
              <a:t>Every invariant that matters is enforced at more than one layer.</a:t>
            </a:r>
          </a:p>
        </p:txBody>
      </p:sp>
      <p:sp>
        <p:nvSpPr>
          <p:cNvPr id="5" name="Shape 2">
            <a:extLst>
              <a:ext uri="{FF2B5EF4-FFF2-40B4-BE49-F238E27FC236}">
                <a16:creationId xmlns:a16="http://schemas.microsoft.com/office/drawing/2014/main" id="{C70745E8-6A98-3B95-1B5F-97B9032C6271}"/>
              </a:ext>
            </a:extLst>
          </p:cNvPr>
          <p:cNvSpPr/>
          <p:nvPr/>
        </p:nvSpPr>
        <p:spPr>
          <a:xfrm>
            <a:off x="390194" y="1350179"/>
            <a:ext cx="5511501" cy="1868927"/>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6" name="Text 3">
            <a:extLst>
              <a:ext uri="{FF2B5EF4-FFF2-40B4-BE49-F238E27FC236}">
                <a16:creationId xmlns:a16="http://schemas.microsoft.com/office/drawing/2014/main" id="{DB4C9CCD-F4CB-11B4-EC98-94238644C43E}"/>
              </a:ext>
            </a:extLst>
          </p:cNvPr>
          <p:cNvSpPr/>
          <p:nvPr/>
        </p:nvSpPr>
        <p:spPr>
          <a:xfrm>
            <a:off x="658453" y="1457068"/>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API LAYER · PYDANTIC</a:t>
            </a:r>
            <a:endParaRPr lang="en-US" sz="1850">
              <a:solidFill>
                <a:schemeClr val="accent2"/>
              </a:solidFill>
              <a:latin typeface="Open Sans" pitchFamily="2" charset="0"/>
              <a:ea typeface="Open Sans" pitchFamily="2" charset="0"/>
              <a:cs typeface="Open Sans" pitchFamily="2" charset="0"/>
            </a:endParaRPr>
          </a:p>
        </p:txBody>
      </p:sp>
      <p:sp>
        <p:nvSpPr>
          <p:cNvPr id="7" name="Text 4">
            <a:extLst>
              <a:ext uri="{FF2B5EF4-FFF2-40B4-BE49-F238E27FC236}">
                <a16:creationId xmlns:a16="http://schemas.microsoft.com/office/drawing/2014/main" id="{0359E624-96CC-1DCB-62CC-3CE87FC3AE07}"/>
              </a:ext>
            </a:extLst>
          </p:cNvPr>
          <p:cNvSpPr/>
          <p:nvPr/>
        </p:nvSpPr>
        <p:spPr>
          <a:xfrm>
            <a:off x="658453" y="1891598"/>
            <a:ext cx="4974983" cy="906759"/>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StrictInt rejects 2.5 and "500"; enums reject unknown units</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model_validator enforces cross-field rules: discharge &gt;= admission</a:t>
            </a:r>
          </a:p>
        </p:txBody>
      </p:sp>
      <p:sp>
        <p:nvSpPr>
          <p:cNvPr id="8" name="Shape 5">
            <a:extLst>
              <a:ext uri="{FF2B5EF4-FFF2-40B4-BE49-F238E27FC236}">
                <a16:creationId xmlns:a16="http://schemas.microsoft.com/office/drawing/2014/main" id="{60CDCB1D-9E0E-2B44-BD1A-B10ECC61214F}"/>
              </a:ext>
            </a:extLst>
          </p:cNvPr>
          <p:cNvSpPr/>
          <p:nvPr/>
        </p:nvSpPr>
        <p:spPr>
          <a:xfrm>
            <a:off x="6291891" y="1350179"/>
            <a:ext cx="5511501" cy="1868927"/>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9" name="Text 6">
            <a:extLst>
              <a:ext uri="{FF2B5EF4-FFF2-40B4-BE49-F238E27FC236}">
                <a16:creationId xmlns:a16="http://schemas.microsoft.com/office/drawing/2014/main" id="{372B4D4F-3B7D-F00C-F53F-289AD2E5CCC8}"/>
              </a:ext>
            </a:extLst>
          </p:cNvPr>
          <p:cNvSpPr/>
          <p:nvPr/>
        </p:nvSpPr>
        <p:spPr>
          <a:xfrm>
            <a:off x="6560150" y="1457068"/>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DATABASE LAYER · SQLITE</a:t>
            </a:r>
            <a:endParaRPr lang="en-US" sz="1850">
              <a:solidFill>
                <a:schemeClr val="accent2"/>
              </a:solidFill>
              <a:latin typeface="Open Sans" pitchFamily="2" charset="0"/>
              <a:ea typeface="Open Sans" pitchFamily="2" charset="0"/>
              <a:cs typeface="Open Sans" pitchFamily="2" charset="0"/>
            </a:endParaRPr>
          </a:p>
        </p:txBody>
      </p:sp>
      <p:sp>
        <p:nvSpPr>
          <p:cNvPr id="10" name="Text 7">
            <a:extLst>
              <a:ext uri="{FF2B5EF4-FFF2-40B4-BE49-F238E27FC236}">
                <a16:creationId xmlns:a16="http://schemas.microsoft.com/office/drawing/2014/main" id="{3075534D-A8B8-B24A-30AE-6A5E8F57B4B6}"/>
              </a:ext>
            </a:extLst>
          </p:cNvPr>
          <p:cNvSpPr/>
          <p:nvPr/>
        </p:nvSpPr>
        <p:spPr>
          <a:xfrm>
            <a:off x="6560150" y="1891598"/>
            <a:ext cx="5243242" cy="906759"/>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CHECK (typeof(dose_x1000) = 'integer' AND dose_x1000 &gt; 0)</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UNIQUE(reviews.draft_id); PRAGMA foreign_keys = ON per connection</a:t>
            </a:r>
          </a:p>
        </p:txBody>
      </p:sp>
      <p:sp>
        <p:nvSpPr>
          <p:cNvPr id="11" name="Shape 2">
            <a:extLst>
              <a:ext uri="{FF2B5EF4-FFF2-40B4-BE49-F238E27FC236}">
                <a16:creationId xmlns:a16="http://schemas.microsoft.com/office/drawing/2014/main" id="{5B38C73E-4DC7-5031-F4A2-C865B06C0B20}"/>
              </a:ext>
            </a:extLst>
          </p:cNvPr>
          <p:cNvSpPr/>
          <p:nvPr/>
        </p:nvSpPr>
        <p:spPr>
          <a:xfrm>
            <a:off x="390194" y="3436372"/>
            <a:ext cx="5511501" cy="2160484"/>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2" name="Text 3">
            <a:extLst>
              <a:ext uri="{FF2B5EF4-FFF2-40B4-BE49-F238E27FC236}">
                <a16:creationId xmlns:a16="http://schemas.microsoft.com/office/drawing/2014/main" id="{E5E070F2-EA40-BC2A-CE27-02F3BF7CF0E3}"/>
              </a:ext>
            </a:extLst>
          </p:cNvPr>
          <p:cNvSpPr/>
          <p:nvPr/>
        </p:nvSpPr>
        <p:spPr>
          <a:xfrm>
            <a:off x="658453" y="3620034"/>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DOMAIN LAYER · SERVICE</a:t>
            </a:r>
            <a:endParaRPr lang="en-US" sz="1850">
              <a:solidFill>
                <a:schemeClr val="accent2"/>
              </a:solidFill>
              <a:latin typeface="Open Sans" pitchFamily="2" charset="0"/>
              <a:ea typeface="Open Sans" pitchFamily="2" charset="0"/>
              <a:cs typeface="Open Sans" pitchFamily="2" charset="0"/>
            </a:endParaRPr>
          </a:p>
        </p:txBody>
      </p:sp>
      <p:sp>
        <p:nvSpPr>
          <p:cNvPr id="13" name="Text 4">
            <a:extLst>
              <a:ext uri="{FF2B5EF4-FFF2-40B4-BE49-F238E27FC236}">
                <a16:creationId xmlns:a16="http://schemas.microsoft.com/office/drawing/2014/main" id="{145029D4-4BC2-5111-3A00-1835A4DD0C3A}"/>
              </a:ext>
            </a:extLst>
          </p:cNvPr>
          <p:cNvSpPr/>
          <p:nvPr/>
        </p:nvSpPr>
        <p:spPr>
          <a:xfrm>
            <a:off x="658453" y="4054564"/>
            <a:ext cx="4974983" cy="117280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State guard: approve only from pending_review, else 409</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Four-eyes: reviewer_id != submitted_by, else 403</a:t>
            </a:r>
          </a:p>
        </p:txBody>
      </p:sp>
      <p:sp>
        <p:nvSpPr>
          <p:cNvPr id="14" name="Shape 5">
            <a:extLst>
              <a:ext uri="{FF2B5EF4-FFF2-40B4-BE49-F238E27FC236}">
                <a16:creationId xmlns:a16="http://schemas.microsoft.com/office/drawing/2014/main" id="{7DC3A9EF-923C-B111-E8D5-B07764CD447C}"/>
              </a:ext>
            </a:extLst>
          </p:cNvPr>
          <p:cNvSpPr/>
          <p:nvPr/>
        </p:nvSpPr>
        <p:spPr>
          <a:xfrm>
            <a:off x="6291891" y="3436372"/>
            <a:ext cx="5511501" cy="2160484"/>
          </a:xfrm>
          <a:prstGeom prst="roundRect">
            <a:avLst>
              <a:gd name="adj" fmla="val 2553"/>
            </a:avLst>
          </a:prstGeom>
          <a:solidFill>
            <a:srgbClr val="F5F5F5"/>
          </a:solidFill>
          <a:ln w="12701">
            <a:solidFill>
              <a:srgbClr val="DEDEDE"/>
            </a:solidFill>
            <a:prstDash val="solid"/>
          </a:ln>
          <a:effectLst>
            <a:outerShdw blurRad="76200" dist="25400" dir="2700000" algn="bl" rotWithShape="0">
              <a:srgbClr val="000000">
                <a:alpha val="11000"/>
              </a:srgbClr>
            </a:outerShdw>
          </a:effectLst>
        </p:spPr>
        <p:txBody>
          <a:bodyPr/>
          <a:lstStyle/>
          <a:p>
            <a:endParaRPr lang="en-US">
              <a:latin typeface="Open Sans" pitchFamily="2" charset="0"/>
              <a:ea typeface="Open Sans" pitchFamily="2" charset="0"/>
              <a:cs typeface="Open Sans" pitchFamily="2" charset="0"/>
            </a:endParaRPr>
          </a:p>
        </p:txBody>
      </p:sp>
      <p:sp>
        <p:nvSpPr>
          <p:cNvPr id="15" name="Text 6">
            <a:extLst>
              <a:ext uri="{FF2B5EF4-FFF2-40B4-BE49-F238E27FC236}">
                <a16:creationId xmlns:a16="http://schemas.microsoft.com/office/drawing/2014/main" id="{D8E1E067-7BC2-6859-681C-FF3BF10712B0}"/>
              </a:ext>
            </a:extLst>
          </p:cNvPr>
          <p:cNvSpPr/>
          <p:nvPr/>
        </p:nvSpPr>
        <p:spPr>
          <a:xfrm>
            <a:off x="6560150" y="3620034"/>
            <a:ext cx="4974983" cy="463356"/>
          </a:xfrm>
          <a:prstGeom prst="rect">
            <a:avLst/>
          </a:prstGeom>
          <a:noFill/>
          <a:ln/>
        </p:spPr>
        <p:txBody>
          <a:bodyPr wrap="square" lIns="0" tIns="0" rIns="0" bIns="0" rtlCol="0" anchor="ctr"/>
          <a:lstStyle/>
          <a:p>
            <a:pPr marL="0" indent="0">
              <a:buNone/>
            </a:pPr>
            <a:r>
              <a:rPr lang="en-US" sz="1850" b="1">
                <a:solidFill>
                  <a:schemeClr val="accent2"/>
                </a:solidFill>
                <a:latin typeface="Open Sans" pitchFamily="2" charset="0"/>
                <a:ea typeface="Open Sans" pitchFamily="2" charset="0"/>
                <a:cs typeface="Open Sans" pitchFamily="2" charset="0"/>
              </a:rPr>
              <a:t>RENDER LAYER · OUTPUT</a:t>
            </a:r>
            <a:endParaRPr lang="en-US" sz="1850">
              <a:solidFill>
                <a:schemeClr val="accent2"/>
              </a:solidFill>
              <a:latin typeface="Open Sans" pitchFamily="2" charset="0"/>
              <a:ea typeface="Open Sans" pitchFamily="2" charset="0"/>
              <a:cs typeface="Open Sans" pitchFamily="2" charset="0"/>
            </a:endParaRPr>
          </a:p>
        </p:txBody>
      </p:sp>
      <p:sp>
        <p:nvSpPr>
          <p:cNvPr id="16" name="Text 7">
            <a:extLst>
              <a:ext uri="{FF2B5EF4-FFF2-40B4-BE49-F238E27FC236}">
                <a16:creationId xmlns:a16="http://schemas.microsoft.com/office/drawing/2014/main" id="{BC8ED702-02AF-298C-9E39-A4AE88A6700D}"/>
              </a:ext>
            </a:extLst>
          </p:cNvPr>
          <p:cNvSpPr/>
          <p:nvPr/>
        </p:nvSpPr>
        <p:spPr>
          <a:xfrm>
            <a:off x="6560150" y="4054564"/>
            <a:ext cx="4974983" cy="1172802"/>
          </a:xfrm>
          <a:prstGeom prst="rect">
            <a:avLst/>
          </a:prstGeom>
          <a:noFill/>
          <a:ln/>
        </p:spPr>
        <p:txBody>
          <a:bodyPr wrap="square" lIns="0" tIns="0" rIns="0" bIns="0" rtlCol="0" anchor="t"/>
          <a:lstStyle/>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Fixed-point doses formatted for display at render time only</a:t>
            </a:r>
          </a:p>
          <a:p>
            <a:pPr marL="171450" indent="-171450">
              <a:lnSpc>
                <a:spcPct val="116000"/>
              </a:lnSpc>
              <a:buFont typeface="Arial" panose="020B0604020202020204" pitchFamily="34" charset="0"/>
              <a:buChar char="•"/>
            </a:pPr>
            <a:r>
              <a:rPr lang="en-US" sz="1600">
                <a:solidFill>
                  <a:schemeClr val="tx2"/>
                </a:solidFill>
                <a:latin typeface="Open Sans" pitchFamily="2" charset="0"/>
                <a:ea typeface="Open Sans" pitchFamily="2" charset="0"/>
                <a:cs typeface="Open Sans" pitchFamily="2" charset="0"/>
              </a:rPr>
              <a:t>The model never writes a number that reaches a patient</a:t>
            </a:r>
          </a:p>
        </p:txBody>
      </p:sp>
      <p:sp>
        <p:nvSpPr>
          <p:cNvPr id="17" name="Shape 8">
            <a:extLst>
              <a:ext uri="{FF2B5EF4-FFF2-40B4-BE49-F238E27FC236}">
                <a16:creationId xmlns:a16="http://schemas.microsoft.com/office/drawing/2014/main" id="{D19EDAE2-62A3-03D1-039F-53ED32B629F1}"/>
              </a:ext>
            </a:extLst>
          </p:cNvPr>
          <p:cNvSpPr/>
          <p:nvPr/>
        </p:nvSpPr>
        <p:spPr>
          <a:xfrm>
            <a:off x="390194" y="5840317"/>
            <a:ext cx="11413198" cy="560905"/>
          </a:xfrm>
          <a:prstGeom prst="roundRect">
            <a:avLst>
              <a:gd name="adj" fmla="val 11905"/>
            </a:avLst>
          </a:prstGeom>
          <a:solidFill>
            <a:schemeClr val="accent6">
              <a:lumMod val="20000"/>
              <a:lumOff val="80000"/>
            </a:schemeClr>
          </a:solidFill>
          <a:ln w="16935">
            <a:noFill/>
            <a:prstDash val="solid"/>
          </a:ln>
        </p:spPr>
        <p:txBody>
          <a:bodyPr/>
          <a:lstStyle/>
          <a:p>
            <a:endParaRPr lang="en-US">
              <a:latin typeface="Open Sans" pitchFamily="2" charset="0"/>
              <a:ea typeface="Open Sans" pitchFamily="2" charset="0"/>
              <a:cs typeface="Open Sans" pitchFamily="2" charset="0"/>
            </a:endParaRPr>
          </a:p>
        </p:txBody>
      </p:sp>
      <p:sp>
        <p:nvSpPr>
          <p:cNvPr id="18" name="Text 9">
            <a:extLst>
              <a:ext uri="{FF2B5EF4-FFF2-40B4-BE49-F238E27FC236}">
                <a16:creationId xmlns:a16="http://schemas.microsoft.com/office/drawing/2014/main" id="{DBE77A76-D591-4D95-B2FE-147538E522FE}"/>
              </a:ext>
            </a:extLst>
          </p:cNvPr>
          <p:cNvSpPr/>
          <p:nvPr/>
        </p:nvSpPr>
        <p:spPr>
          <a:xfrm>
            <a:off x="658453" y="5862899"/>
            <a:ext cx="10876680" cy="512130"/>
          </a:xfrm>
          <a:prstGeom prst="rect">
            <a:avLst/>
          </a:prstGeom>
          <a:noFill/>
          <a:ln/>
        </p:spPr>
        <p:txBody>
          <a:bodyPr wrap="square" lIns="0" tIns="0" rIns="0" bIns="0" rtlCol="0" anchor="ctr"/>
          <a:lstStyle/>
          <a:p>
            <a:pPr marL="0" indent="0" algn="ctr">
              <a:buNone/>
            </a:pPr>
            <a:r>
              <a:rPr lang="en-US" sz="1600" i="1">
                <a:solidFill>
                  <a:schemeClr val="tx2"/>
                </a:solidFill>
                <a:latin typeface="Open Sans" pitchFamily="2" charset="0"/>
                <a:ea typeface="Open Sans" pitchFamily="2" charset="0"/>
                <a:cs typeface="Open Sans" pitchFamily="2" charset="0"/>
              </a:rPr>
              <a:t>SQLite stores 2.5 in an INTEGER column unless a CHECK says otherwise. Never trust a single layer.</a:t>
            </a:r>
            <a:endParaRPr lang="en-US" sz="1600">
              <a:solidFill>
                <a:schemeClr val="tx2"/>
              </a:solidFill>
              <a:latin typeface="Open Sans" pitchFamily="2" charset="0"/>
              <a:ea typeface="Open Sans" pitchFamily="2" charset="0"/>
              <a:cs typeface="Open Sans" pitchFamily="2"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ellStrat CCA">
  <a:themeElements>
    <a:clrScheme name="Phi Design">
      <a:dk1>
        <a:srgbClr val="383838"/>
      </a:dk1>
      <a:lt1>
        <a:srgbClr val="FFFFFF"/>
      </a:lt1>
      <a:dk2>
        <a:srgbClr val="6A6B6A"/>
      </a:dk2>
      <a:lt2>
        <a:srgbClr val="DADCDB"/>
      </a:lt2>
      <a:accent1>
        <a:srgbClr val="FDB71A"/>
      </a:accent1>
      <a:accent2>
        <a:srgbClr val="008CCC"/>
      </a:accent2>
      <a:accent3>
        <a:srgbClr val="EE3124"/>
      </a:accent3>
      <a:accent4>
        <a:srgbClr val="C3C4C3"/>
      </a:accent4>
      <a:accent5>
        <a:srgbClr val="5EC5F7"/>
      </a:accent5>
      <a:accent6>
        <a:srgbClr val="FDD373"/>
      </a:accent6>
      <a:hlink>
        <a:srgbClr val="F38C86"/>
      </a:hlink>
      <a:folHlink>
        <a:srgbClr val="C4C2C4"/>
      </a:folHlink>
    </a:clrScheme>
    <a:fontScheme name="New Beta theme">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l">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bwMode="auto"/>
      <a:bodyPr/>
      <a:lstStyle>
        <a:defPPr algn="l">
          <a:defRPr dirty="0" smtClean="0"/>
        </a:defPPr>
      </a:lstStyle>
    </a:txDef>
  </a:objectDefaults>
  <a:extraClrSchemeLst/>
  <a:extLst>
    <a:ext uri="{05A4C25C-085E-4340-85A3-A5531E510DB2}">
      <thm15:themeFamily xmlns:thm15="http://schemas.microsoft.com/office/thememl/2012/main" name="Presentation1" id="{0210B50B-29D0-B849-B35D-819F9ED84FCA}" vid="{BE3D0D1F-83C9-2E46-AA81-4E9634B051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365</TotalTime>
  <Words>10245</Words>
  <Application>Microsoft Macintosh PowerPoint</Application>
  <PresentationFormat>Custom</PresentationFormat>
  <Paragraphs>906</Paragraphs>
  <Slides>55</Slides>
  <Notes>47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55</vt:i4>
      </vt:variant>
    </vt:vector>
  </HeadingPairs>
  <TitlesOfParts>
    <vt:vector size="64" baseType="lpstr">
      <vt:lpstr>Aptos</vt:lpstr>
      <vt:lpstr>Aptos Display</vt:lpstr>
      <vt:lpstr>Arial</vt:lpstr>
      <vt:lpstr>Calibri</vt:lpstr>
      <vt:lpstr>Courier New</vt:lpstr>
      <vt:lpstr>Open Sans</vt:lpstr>
      <vt:lpstr>Open Sans Semibold</vt:lpstr>
      <vt:lpstr>Custom Design</vt:lpstr>
      <vt:lpstr>CellStrat CCA</vt:lpstr>
      <vt:lpstr>Build Your  First PoC</vt:lpstr>
      <vt:lpstr>PowerPoint Presentation</vt:lpstr>
      <vt:lpstr>PowerPoint Presentation</vt:lpstr>
      <vt:lpstr>PowerPoint Presentation</vt:lpstr>
      <vt:lpstr>PowerPoint Presentation</vt:lpstr>
      <vt:lpstr>PowerPoint Presentation</vt:lpstr>
      <vt:lpstr>SCOPING AND BRIEFING YOUR PoC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BUILD LOOP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in AI-Assisted Development — Session 2: Build Your First PoC</dc:title>
  <dc:subject>PptxGenJS Presentation</dc:subject>
  <dc:creator>CellStrat</dc:creator>
  <cp:lastModifiedBy>CellStrat</cp:lastModifiedBy>
  <cp:revision>209</cp:revision>
  <dcterms:created xsi:type="dcterms:W3CDTF">2026-06-18T11:52:50Z</dcterms:created>
  <dcterms:modified xsi:type="dcterms:W3CDTF">2026-06-26T07:04:34Z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0x01010006F8A97F61E63A45AE2A7731D2CE03A6</vt:lpwstr>
  </property>
  <property fmtid="{D5CDD505-2E9C-101B-9397-08002B2CF9AE}" pid="3" name="MediaServiceImageTags">
    <vt:lpwstr/>
  </property>
</Properties>
</file>