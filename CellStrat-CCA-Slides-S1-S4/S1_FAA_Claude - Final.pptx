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4"/>
    <p:sldMasterId id="2147483700" r:id="rId5"/>
  </p:sldMasterIdLst>
  <p:notesMasterIdLst>
    <p:notesMasterId r:id="rId52"/>
  </p:notesMasterIdLst>
  <p:sldIdLst>
    <p:sldId id="2147483105" r:id="rId6"/>
    <p:sldId id="2147483088" r:id="rId7"/>
    <p:sldId id="256" r:id="rId8"/>
    <p:sldId id="2147483107" r:id="rId9"/>
    <p:sldId id="2147483052" r:id="rId10"/>
    <p:sldId id="2147483004" r:id="rId11"/>
    <p:sldId id="2147483043" r:id="rId12"/>
    <p:sldId id="2147483048" r:id="rId13"/>
    <p:sldId id="2147483042" r:id="rId14"/>
    <p:sldId id="2147483054" r:id="rId15"/>
    <p:sldId id="262" r:id="rId16"/>
    <p:sldId id="2147483060" r:id="rId17"/>
    <p:sldId id="263" r:id="rId18"/>
    <p:sldId id="2147483062" r:id="rId19"/>
    <p:sldId id="2147483063" r:id="rId20"/>
    <p:sldId id="2147483064" r:id="rId21"/>
    <p:sldId id="2147483065" r:id="rId22"/>
    <p:sldId id="2147483095" r:id="rId23"/>
    <p:sldId id="2147483109" r:id="rId3"/>
    <p:sldId id="2147483068" r:id="rId24"/>
    <p:sldId id="2147483073" r:id="rId25"/>
    <p:sldId id="2147483110" r:id="rId2"/>
    <p:sldId id="2147483092" r:id="rId26"/>
    <p:sldId id="3246" r:id="rId27"/>
    <p:sldId id="3249" r:id="rId28"/>
    <p:sldId id="296" r:id="rId29"/>
    <p:sldId id="2147483072" r:id="rId30"/>
    <p:sldId id="3253" r:id="rId31"/>
    <p:sldId id="2147483098" r:id="rId32"/>
    <p:sldId id="2147483096" r:id="rId33"/>
    <p:sldId id="297" r:id="rId34"/>
    <p:sldId id="2147483108" r:id="rId35"/>
    <p:sldId id="2147483074" r:id="rId36"/>
    <p:sldId id="2147483089" r:id="rId37"/>
    <p:sldId id="2147483076" r:id="rId38"/>
    <p:sldId id="2147483077" r:id="rId39"/>
    <p:sldId id="2147483111" r:id="rId1"/>
    <p:sldId id="2147483078" r:id="rId40"/>
    <p:sldId id="2147483079" r:id="rId41"/>
    <p:sldId id="2147483093" r:id="rId42"/>
    <p:sldId id="2147483080" r:id="rId43"/>
    <p:sldId id="2147483100" r:id="rId44"/>
    <p:sldId id="2147483081" r:id="rId45"/>
    <p:sldId id="2147483083" r:id="rId46"/>
    <p:sldId id="2147483084" r:id="rId47"/>
    <p:sldId id="2147483085" r:id="rId48"/>
    <p:sldId id="2147483087" r:id="rId49"/>
    <p:sldId id="2147483086" r:id="rId50"/>
    <p:sldId id="2147483039"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75265FC-B72A-4119-955D-D58388F22B48}">
          <p14:sldIdLst>
            <p14:sldId id="2147483105"/>
            <p14:sldId id="2147483088"/>
            <p14:sldId id="256"/>
            <p14:sldId id="2147483107"/>
            <p14:sldId id="2147483052"/>
            <p14:sldId id="2147483004"/>
            <p14:sldId id="2147483043"/>
            <p14:sldId id="2147483048"/>
            <p14:sldId id="2147483042"/>
            <p14:sldId id="2147483054"/>
            <p14:sldId id="262"/>
            <p14:sldId id="2147483060"/>
            <p14:sldId id="263"/>
            <p14:sldId id="2147483062"/>
            <p14:sldId id="2147483063"/>
            <p14:sldId id="2147483064"/>
            <p14:sldId id="2147483065"/>
            <p14:sldId id="2147483095"/>
            <p14:sldId id="2147483068"/>
            <p14:sldId id="2147483073"/>
            <p14:sldId id="2147483092"/>
            <p14:sldId id="3246"/>
            <p14:sldId id="3249"/>
            <p14:sldId id="296"/>
            <p14:sldId id="2147483072"/>
            <p14:sldId id="3253"/>
            <p14:sldId id="2147483098"/>
            <p14:sldId id="2147483096"/>
            <p14:sldId id="297"/>
            <p14:sldId id="2147483108"/>
            <p14:sldId id="2147483074"/>
            <p14:sldId id="2147483089"/>
            <p14:sldId id="2147483076"/>
            <p14:sldId id="2147483077"/>
            <p14:sldId id="2147483078"/>
            <p14:sldId id="2147483079"/>
            <p14:sldId id="2147483093"/>
            <p14:sldId id="2147483080"/>
            <p14:sldId id="2147483100"/>
            <p14:sldId id="2147483081"/>
            <p14:sldId id="2147483083"/>
            <p14:sldId id="2147483084"/>
            <p14:sldId id="2147483085"/>
            <p14:sldId id="2147483087"/>
            <p14:sldId id="2147483086"/>
            <p14:sldId id="21474830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383838"/>
    <a:srgbClr val="ECFE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78"/>
    <p:restoredTop sz="96671"/>
  </p:normalViewPr>
  <p:slideViewPr>
    <p:cSldViewPr snapToGrid="0">
      <p:cViewPr varScale="1">
        <p:scale>
          <a:sx n="80" d="100"/>
          <a:sy n="80" d="100"/>
        </p:scale>
        <p:origin x="1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slide" Target="slides/slide48.xml"/><Relationship Id="rId3" Type="http://schemas.openxmlformats.org/officeDocument/2006/relationships/slide" Target="slides/slide47.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A4FFEE-0404-BB48-AF1B-58EF96B05B52}"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12E9A3-E58E-6545-9B06-E8A975084646}" type="slidenum">
              <a:rPr lang="en-US" smtClean="0"/>
              <a:t>‹#›</a:t>
            </a:fld>
            <a:endParaRPr lang="en-US"/>
          </a:p>
        </p:txBody>
      </p:sp>
    </p:spTree>
    <p:extLst>
      <p:ext uri="{BB962C8B-B14F-4D97-AF65-F5344CB8AC3E}">
        <p14:creationId xmlns:p14="http://schemas.microsoft.com/office/powerpoint/2010/main" val="3850979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cs typeface="+mn-lt"/>
              </a:rPr>
            </a:br>
            <a:r>
              <a:rPr lang="en-IN"/>
              <a:t>Introduce the character with warmth and make the pain point feel personally recognisable to the room before revealing the transformation.</a:t>
            </a:r>
          </a:p>
          <a:p>
            <a:endParaRPr lang="en-IN"/>
          </a:p>
          <a:p>
            <a:r>
              <a:rPr lang="en-IN" b="1"/>
              <a:t>How to do</a:t>
            </a:r>
            <a:br>
              <a:rPr lang="en-IN"/>
            </a:br>
            <a:r>
              <a:rPr lang="en-IN"/>
              <a:t>Point to the character and say: "This is Arjun. He is a Saler Director. And until recently, his relationship with code looked exactly like most of yours." Read the pain point lines out loud, slowly: "Every good idea ends up in a document. Every prototype request goes into a queue. Someone else decides when it gets built, if it gets built." Then pause before the transformation. "By the end of Session 4, that is not Arjun's life anymore. He builds the prototype himself. He walks into the meeting with something working, not something proposed." Then land the closing line directly to the room: "His story is the arc of this programme. And it is designed to be your story too.”</a:t>
            </a:r>
          </a:p>
          <a:p>
            <a:endParaRPr lang="en-IN"/>
          </a:p>
          <a:p>
            <a:r>
              <a:rPr lang="en-IN" b="1"/>
              <a:t>What to ask</a:t>
            </a:r>
            <a:br>
              <a:rPr lang="en-IN"/>
            </a:br>
            <a:r>
              <a:rPr lang="en-IN"/>
              <a:t>"Before we move on, quick show of hands. How many of you have had an idea sit in a backlog for more than two weeks?" Let the hands go up. "That's exactly where Arjun was. Keep him in mind as we go.”</a:t>
            </a:r>
          </a:p>
          <a:p>
            <a:endParaRPr lang="en-IN"/>
          </a:p>
          <a:p>
            <a:r>
              <a:rPr lang="en-IN" b="1"/>
              <a:t>Transition</a:t>
            </a:r>
            <a:br>
              <a:rPr lang="en-IN"/>
            </a:br>
            <a:r>
              <a:rPr lang="en-IN"/>
              <a:t>"Here is the journey we are going to take together across four sessions."</a:t>
            </a:r>
          </a:p>
        </p:txBody>
      </p:sp>
      <p:sp>
        <p:nvSpPr>
          <p:cNvPr id="4" name="Slide Number Placeholder 3"/>
          <p:cNvSpPr>
            <a:spLocks noGrp="1"/>
          </p:cNvSpPr>
          <p:nvPr>
            <p:ph type="sldNum" sz="quarter" idx="5"/>
          </p:nvPr>
        </p:nvSpPr>
        <p:spPr/>
        <p:txBody>
          <a:bodyPr/>
          <a:lstStyle/>
          <a:p>
            <a:fld id="{2812E9A3-E58E-6545-9B06-E8A975084646}" type="slidenum">
              <a:rPr lang="en-US" smtClean="0"/>
              <a:t>2</a:t>
            </a:fld>
            <a:endParaRPr lang="en-US"/>
          </a:p>
        </p:txBody>
      </p:sp>
    </p:spTree>
    <p:extLst>
      <p:ext uri="{BB962C8B-B14F-4D97-AF65-F5344CB8AC3E}">
        <p14:creationId xmlns:p14="http://schemas.microsoft.com/office/powerpoint/2010/main" val="3117248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four sessions as a connected journey, not a list of topics. The single outcome per session is the anchor point for each one.</a:t>
            </a:r>
          </a:p>
          <a:p>
            <a:endParaRPr lang="en-IN"/>
          </a:p>
          <a:p>
            <a:r>
              <a:rPr lang="en-IN" b="1"/>
              <a:t>How to do</a:t>
            </a:r>
            <a:br>
              <a:rPr lang="en-IN"/>
            </a:br>
            <a:r>
              <a:rPr lang="en-IN"/>
              <a:t>Say: "Every session in this programme ends with something tangible. Not a slide deck. Not a quiz. Something you built or produced yourself." Walk each session: "Session 1, you leave with a scaffold prompt that gets useful code out of Claude on the first attempt. Session 2, you leave with a working PoC, documented and committed to Git. Session 3, you take that same PoC, debug it, review it, and make it handoff-ready. Session 4, you audit it for production reality, model its data domain, and assess its risks. Then you get your certificate.”</a:t>
            </a:r>
          </a:p>
          <a:p>
            <a:endParaRPr lang="en-IN"/>
          </a:p>
          <a:p>
            <a:r>
              <a:rPr lang="en-IN" b="1"/>
              <a:t>Transition</a:t>
            </a:r>
            <a:br>
              <a:rPr lang="en-IN"/>
            </a:br>
            <a:r>
              <a:rPr lang="en-IN"/>
              <a:t>"Let's zoom into today. Session 1 starts now."</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Walk through each part with the time. Part 1 is about understanding the landscape, roughly 30 minutes. Part 2 is hands-on with Claude Code, roughly 40 minutes. Part 3 is prompt engineering practice, roughly 45 minutes. Reinforce that the hands-on starts in Part 2, not at the end.</a:t>
            </a:r>
          </a:p>
          <a:p>
            <a:endParaRPr lang="en-IN"/>
          </a:p>
          <a:p>
            <a:r>
              <a:rPr lang="en-IN" b="1"/>
              <a:t>WHAT TO DO</a:t>
            </a:r>
            <a:br>
              <a:rPr lang="en-IN"/>
            </a:br>
            <a:r>
              <a:rPr lang="en-IN"/>
              <a:t>Point to each part as you name it. Tell the room there is one break after Part 2. Ask if anyone has questions about the structure before starting.</a:t>
            </a:r>
          </a:p>
          <a:p>
            <a:endParaRPr lang="en-IN"/>
          </a:p>
          <a:p>
            <a:r>
              <a:rPr lang="en-IN" b="1"/>
              <a:t>TIMING</a:t>
            </a:r>
            <a:br>
              <a:rPr lang="en-IN"/>
            </a:br>
            <a:r>
              <a:rPr lang="en-IN"/>
              <a:t>2 minutes</a:t>
            </a:r>
          </a:p>
          <a:p>
            <a:endParaRPr lang="en-IN"/>
          </a:p>
          <a:p>
            <a:r>
              <a:rPr lang="en-IN" b="1"/>
              <a:t>TRANSITION</a:t>
            </a:r>
            <a:br>
              <a:rPr lang="en-IN"/>
            </a:br>
            <a:r>
              <a:rPr lang="en-IN"/>
              <a:t>"Before we start Part 1, here are the four things you will be able to do by the end of today."</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5</a:t>
            </a:fld>
            <a:endParaRPr lang="en-US"/>
          </a:p>
        </p:txBody>
      </p:sp>
    </p:spTree>
    <p:extLst>
      <p:ext uri="{BB962C8B-B14F-4D97-AF65-F5344CB8AC3E}">
        <p14:creationId xmlns:p14="http://schemas.microsoft.com/office/powerpoint/2010/main" val="3001316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Read each outcome once. Do not elaborate yet, each one will be reinforced when it comes up in the session. The goal here is to give the room a map of what counts as success today.</a:t>
            </a:r>
          </a:p>
          <a:p>
            <a:endParaRPr lang="en-IN"/>
          </a:p>
          <a:p>
            <a:r>
              <a:rPr lang="en-IN" b="1"/>
              <a:t>WHAT TO DO</a:t>
            </a:r>
            <a:br>
              <a:rPr lang="en-IN"/>
            </a:br>
            <a:r>
              <a:rPr lang="en-IN"/>
              <a:t>Read outcomes 01 through 04 in order. After reading, say: "If you can do all four by the time we finish today, the session has done its job.”</a:t>
            </a:r>
          </a:p>
          <a:p>
            <a:endParaRPr lang="en-IN"/>
          </a:p>
          <a:p>
            <a:r>
              <a:rPr lang="en-IN" b="1"/>
              <a:t>TIMING</a:t>
            </a:r>
            <a:br>
              <a:rPr lang="en-IN"/>
            </a:br>
            <a:r>
              <a:rPr lang="en-IN"/>
              <a:t>2 minutes</a:t>
            </a:r>
          </a:p>
          <a:p>
            <a:endParaRPr lang="en-IN"/>
          </a:p>
          <a:p>
            <a:r>
              <a:rPr lang="en-IN" b="1"/>
              <a:t>TRANSITION</a:t>
            </a:r>
            <a:br>
              <a:rPr lang="en-IN"/>
            </a:br>
            <a:r>
              <a:rPr lang="en-IN"/>
              <a:t>"A few housekeeping notes before we go into Part 1."</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6</a:t>
            </a:fld>
            <a:endParaRPr lang="en-US"/>
          </a:p>
        </p:txBody>
      </p:sp>
    </p:spTree>
    <p:extLst>
      <p:ext uri="{BB962C8B-B14F-4D97-AF65-F5344CB8AC3E}">
        <p14:creationId xmlns:p14="http://schemas.microsoft.com/office/powerpoint/2010/main" val="3397157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Go through each point once. The most important ones to land: Claude Code is already installed so no time is lost on setup; errors are expected and are part of the learning, do not skip them; and keep a prompt log because it becomes raw material for Part 3.</a:t>
            </a:r>
          </a:p>
          <a:p>
            <a:endParaRPr lang="en-IN"/>
          </a:p>
          <a:p>
            <a:r>
              <a:rPr lang="en-IN" b="1"/>
              <a:t>WHAT TO DO</a:t>
            </a:r>
            <a:br>
              <a:rPr lang="en-IN"/>
            </a:br>
            <a:r>
              <a:rPr lang="en-IN"/>
              <a:t>Do not read the list verbatim. Speak naturally, one point at a time. Pause on "When something breaks, that is where learning happens" and make eye contact with the room. Ask if there are questions before moving to the instructor intro.</a:t>
            </a:r>
          </a:p>
          <a:p>
            <a:endParaRPr lang="en-IN"/>
          </a:p>
          <a:p>
            <a:r>
              <a:rPr lang="en-IN" b="1"/>
              <a:t>TIMING</a:t>
            </a:r>
            <a:br>
              <a:rPr lang="en-IN"/>
            </a:br>
            <a:r>
              <a:rPr lang="en-IN"/>
              <a:t>3 minutes</a:t>
            </a:r>
          </a:p>
          <a:p>
            <a:endParaRPr lang="en-IN"/>
          </a:p>
          <a:p>
            <a:r>
              <a:rPr lang="en-IN" b="1"/>
              <a:t>TRANSITION</a:t>
            </a:r>
            <a:br>
              <a:rPr lang="en-IN"/>
            </a:br>
            <a:r>
              <a:rPr lang="en-IN"/>
              <a:t>"Quickly, let me introduce myself, then we will go straight into the landscape."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7</a:t>
            </a:fld>
            <a:endParaRPr lang="en-US"/>
          </a:p>
        </p:txBody>
      </p:sp>
    </p:spTree>
    <p:extLst>
      <p:ext uri="{BB962C8B-B14F-4D97-AF65-F5344CB8AC3E}">
        <p14:creationId xmlns:p14="http://schemas.microsoft.com/office/powerpoint/2010/main" val="1215945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Instructor introduces themselves: name, background, and one sentence on why they are the right person to run this session. </a:t>
            </a:r>
          </a:p>
          <a:p>
            <a:endParaRPr lang="en-IN" b="1"/>
          </a:p>
          <a:p>
            <a:r>
              <a:rPr lang="en-IN" b="1"/>
              <a:t>WHAT TO DO</a:t>
            </a:r>
            <a:br>
              <a:rPr lang="en-IN"/>
            </a:br>
            <a:r>
              <a:rPr lang="en-IN"/>
              <a:t>Keep personal and relevant. If there is a photo or brief on the slide, use it as a reference rather than reading it. Open the floor briefly: "Any quick questions before we start?"</a:t>
            </a:r>
          </a:p>
          <a:p>
            <a:endParaRPr lang="en-IN" b="1"/>
          </a:p>
          <a:p>
            <a:r>
              <a:rPr lang="en-IN" b="1"/>
              <a:t>TIMING</a:t>
            </a:r>
            <a:br>
              <a:rPr lang="en-IN"/>
            </a:br>
            <a:r>
              <a:rPr lang="en-IN"/>
              <a:t>1 minutes</a:t>
            </a:r>
          </a:p>
          <a:p>
            <a:endParaRPr lang="en-IN"/>
          </a:p>
          <a:p>
            <a:r>
              <a:rPr lang="en-IN" b="1"/>
              <a:t>TRANSITION</a:t>
            </a:r>
            <a:br>
              <a:rPr lang="en-IN"/>
            </a:br>
            <a:r>
              <a:rPr lang="en-IN"/>
              <a:t>"Right, let us get into Part 1. The AI coding landscape."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8</a:t>
            </a:fld>
            <a:endParaRPr lang="en-US"/>
          </a:p>
        </p:txBody>
      </p:sp>
    </p:spTree>
    <p:extLst>
      <p:ext uri="{BB962C8B-B14F-4D97-AF65-F5344CB8AC3E}">
        <p14:creationId xmlns:p14="http://schemas.microsoft.com/office/powerpoint/2010/main" val="2077056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9</a:t>
            </a:fld>
            <a:endParaRPr lang="en-US"/>
          </a:p>
        </p:txBody>
      </p:sp>
    </p:spTree>
    <p:extLst>
      <p:ext uri="{BB962C8B-B14F-4D97-AF65-F5344CB8AC3E}">
        <p14:creationId xmlns:p14="http://schemas.microsoft.com/office/powerpoint/2010/main" val="1091548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Walk through the left column first: speed, accessibility, cost of a first draft, and navigating unfamiliar codebases, all genuinely changed. Then the right column: syntax still matters, architecture still requires human judgement, business logic still needs the human to define it, and knowing when to stop is still a skill. The punchline is: the AI changed what you can produce, not what you need to know to direct it.</a:t>
            </a:r>
          </a:p>
          <a:p>
            <a:endParaRPr lang="en-IN"/>
          </a:p>
          <a:p>
            <a:r>
              <a:rPr lang="en-IN" b="1"/>
              <a:t>WHAT TO DO</a:t>
            </a:r>
            <a:br>
              <a:rPr lang="en-IN"/>
            </a:br>
            <a:r>
              <a:rPr lang="en-IN"/>
              <a:t>Ask the room: "Which of these surprises you most?" Take one or two answers. This warms up the room for the tool landscape slide coming next.</a:t>
            </a:r>
          </a:p>
          <a:p>
            <a:endParaRPr lang="en-IN"/>
          </a:p>
          <a:p>
            <a:r>
              <a:rPr lang="en-IN" b="1"/>
              <a:t>TIMING</a:t>
            </a:r>
            <a:br>
              <a:rPr lang="en-IN"/>
            </a:br>
            <a:r>
              <a:rPr lang="en-IN"/>
              <a:t>3 minutes including brief discussion</a:t>
            </a:r>
          </a:p>
          <a:p>
            <a:endParaRPr lang="en-IN"/>
          </a:p>
          <a:p>
            <a:r>
              <a:rPr lang="en-IN" b="1"/>
              <a:t>TRANSITION</a:t>
            </a:r>
            <a:br>
              <a:rPr lang="en-IN"/>
            </a:br>
            <a:r>
              <a:rPr lang="en-IN"/>
              <a:t>"So now you know what changed. Let me show you the four types of tools that sit in this new landscape."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10</a:t>
            </a:fld>
            <a:endParaRPr lang="en-US"/>
          </a:p>
        </p:txBody>
      </p:sp>
    </p:spTree>
    <p:extLst>
      <p:ext uri="{BB962C8B-B14F-4D97-AF65-F5344CB8AC3E}">
        <p14:creationId xmlns:p14="http://schemas.microsoft.com/office/powerpoint/2010/main" val="576008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b="1">
                <a:latin typeface="Open Sans" panose="020B0606030504020204" pitchFamily="34" charset="0"/>
                <a:ea typeface="Open Sans" panose="020B0606030504020204" pitchFamily="34" charset="0"/>
                <a:cs typeface="Open Sans" panose="020B0606030504020204" pitchFamily="34" charset="0"/>
              </a:rPr>
              <a:t>If you have time and access, please show one tool from each tier.</a:t>
            </a:r>
            <a:br>
              <a:rPr lang="en-IN" sz="1800" b="1">
                <a:cs typeface="+mn-lt"/>
              </a:rPr>
            </a:br>
            <a:br>
              <a:rPr lang="en-IN" b="1">
                <a:cs typeface="+mn-lt"/>
              </a:rPr>
            </a:br>
            <a:r>
              <a:rPr lang="en-IN" b="1"/>
              <a:t>WHAT TO SAY</a:t>
            </a:r>
            <a:br>
              <a:rPr lang="en-IN">
                <a:cs typeface="+mn-lt"/>
              </a:rPr>
            </a:br>
            <a:r>
              <a:rPr lang="en-IN"/>
              <a:t>Walk through each tier once. T1 app builders: no code background needed, browser-based, fast to a demo. T2 AI IDEs: for developers, you own the code, multi-file awareness. T3 Terminal agents: highest capability, CLI-native, requires strong prompting discipline. T4 Spec-driven agents: enterprise-grade, spec-first, validation and audit trail. Tell the room where Claude Code sits, it is T3, and that is the tool for this programme. The others are context so they can have an informed conversation when these tools come up at work.</a:t>
            </a:r>
          </a:p>
          <a:p>
            <a:endParaRPr lang="en-IN"/>
          </a:p>
          <a:p>
            <a:r>
              <a:rPr lang="en-IN" b="1"/>
              <a:t>WHAT TO DO</a:t>
            </a:r>
            <a:br>
              <a:rPr lang="en-IN"/>
            </a:br>
            <a:r>
              <a:rPr lang="en-IN"/>
              <a:t>Do not read every tool name. Pick one representative tool per tier and name it. Ask: "Has anyone in the room used any of these? Which tier?" Take a show of hands to gauge the room's starting point.</a:t>
            </a:r>
          </a:p>
          <a:p>
            <a:endParaRPr lang="en-IN"/>
          </a:p>
          <a:p>
            <a:r>
              <a:rPr lang="en-IN" b="1"/>
              <a:t>TIMING</a:t>
            </a:r>
            <a:br>
              <a:rPr lang="en-IN"/>
            </a:br>
            <a:r>
              <a:rPr lang="en-IN"/>
              <a:t>6-7 minutes including brief interaction</a:t>
            </a:r>
          </a:p>
          <a:p>
            <a:endParaRPr lang="en-IN"/>
          </a:p>
          <a:p>
            <a:r>
              <a:rPr lang="en-IN" b="1"/>
              <a:t>TRANSITION</a:t>
            </a:r>
            <a:br>
              <a:rPr lang="en-IN"/>
            </a:br>
            <a:r>
              <a:rPr lang="en-IN"/>
              <a:t>"Before we go into Claude Code specifically, one mental model that changes how you work with all of these."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This is the most important reframe in Part 1. Read the three lines aloud: they write quickly, they hallucinate confidently, they need direction. Then say: "The model is a fast junior developer. Fast means you get a lot of output quickly. Junior means the output is not automatically trustworthy, and needs review. The judgement is yours, not the tool’s.”</a:t>
            </a:r>
          </a:p>
          <a:p>
            <a:endParaRPr lang="en-IN"/>
          </a:p>
          <a:p>
            <a:r>
              <a:rPr lang="en-IN" b="1"/>
              <a:t>WHAT TO DO</a:t>
            </a:r>
            <a:br>
              <a:rPr lang="en-IN"/>
            </a:br>
            <a:r>
              <a:rPr lang="en-IN"/>
              <a:t>Pause after reading the three lines. Ask: "What changes about how you work with a tool if you think of it this way rather than as an oracle?" Take one answer. This plants the accountability mindset before the hands-on work starts.</a:t>
            </a:r>
          </a:p>
          <a:p>
            <a:endParaRPr lang="en-IN"/>
          </a:p>
          <a:p>
            <a:r>
              <a:rPr lang="en-IN" b="1"/>
              <a:t>TIMING</a:t>
            </a:r>
            <a:br>
              <a:rPr lang="en-IN"/>
            </a:br>
            <a:r>
              <a:rPr lang="en-IN"/>
              <a:t>4 minutes</a:t>
            </a:r>
          </a:p>
          <a:p>
            <a:endParaRPr lang="en-IN"/>
          </a:p>
          <a:p>
            <a:r>
              <a:rPr lang="en-IN" b="1"/>
              <a:t>TRANSITION</a:t>
            </a:r>
            <a:br>
              <a:rPr lang="en-IN"/>
            </a:br>
            <a:r>
              <a:rPr lang="en-IN"/>
              <a:t>"So how do you choose which tool to use for a specific task? Here is the decision flow."</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12</a:t>
            </a:fld>
            <a:endParaRPr lang="en-US"/>
          </a:p>
        </p:txBody>
      </p:sp>
    </p:spTree>
    <p:extLst>
      <p:ext uri="{BB962C8B-B14F-4D97-AF65-F5344CB8AC3E}">
        <p14:creationId xmlns:p14="http://schemas.microsoft.com/office/powerpoint/2010/main" val="4005956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Tell the room this is a reference slide, not a slide to memorise. Walk through two or three rows that are most relevant to this audience: Claude Code (T3), Cursor (T2), and Lovable (T1) as representatives of each tier. For each, name one Best For and one Limitation. Do not read the entire table.</a:t>
            </a:r>
          </a:p>
          <a:p>
            <a:endParaRPr lang="en-IN"/>
          </a:p>
          <a:p>
            <a:r>
              <a:rPr lang="en-IN" b="1"/>
              <a:t>WHAT TO DO</a:t>
            </a:r>
            <a:br>
              <a:rPr lang="en-IN"/>
            </a:br>
            <a:r>
              <a:rPr lang="en-IN"/>
              <a:t>Point to Claude Code's row specifically: "This is the tool we are using. Best for agentic coding with the highest benchmark scores. The limitation: it is terminal-native and requires strong prompting discipline. That is what Part 3 is about." Then invite questions about any specific tool before moving on.</a:t>
            </a:r>
          </a:p>
          <a:p>
            <a:endParaRPr lang="en-IN"/>
          </a:p>
          <a:p>
            <a:r>
              <a:rPr lang="en-IN" b="1"/>
              <a:t>TIMING</a:t>
            </a:r>
            <a:br>
              <a:rPr lang="en-IN"/>
            </a:br>
            <a:r>
              <a:rPr lang="en-IN"/>
              <a:t>2 minutes</a:t>
            </a:r>
          </a:p>
          <a:p>
            <a:endParaRPr lang="en-IN"/>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800">
                <a:latin typeface="Open Sans" panose="020B0606030504020204" pitchFamily="34" charset="0"/>
                <a:ea typeface="Open Sans" panose="020B0606030504020204" pitchFamily="34" charset="0"/>
                <a:cs typeface="Open Sans" panose="020B0606030504020204" pitchFamily="34" charset="0"/>
              </a:rPr>
              <a:t>Ask the learners to understand the scenario and apply their previous slide learning and answer the following questions.</a:t>
            </a:r>
          </a:p>
          <a:p>
            <a:endParaRPr lang="en-IN" sz="800">
              <a:latin typeface="Open Sans" panose="020B0606030504020204" pitchFamily="34" charset="0"/>
              <a:ea typeface="Open Sans" panose="020B0606030504020204" pitchFamily="34" charset="0"/>
              <a:cs typeface="Open Sans" panose="020B0606030504020204" pitchFamily="34" charset="0"/>
            </a:endParaRPr>
          </a:p>
          <a:p>
            <a:r>
              <a:rPr lang="en-IN" sz="800">
                <a:latin typeface="Open Sans" panose="020B0606030504020204" pitchFamily="34" charset="0"/>
                <a:ea typeface="Open Sans" panose="020B0606030504020204" pitchFamily="34" charset="0"/>
                <a:cs typeface="Open Sans" panose="020B0606030504020204" pitchFamily="34" charset="0"/>
              </a:rPr>
              <a:t>REVEAL:</a:t>
            </a:r>
            <a:br>
              <a:rPr lang="en-IN" sz="800">
                <a:latin typeface="Open Sans" panose="020B0606030504020204" pitchFamily="34" charset="0"/>
                <a:ea typeface="Open Sans" panose="020B0606030504020204" pitchFamily="34" charset="0"/>
                <a:cs typeface="Open Sans" panose="020B0606030504020204" pitchFamily="34" charset="0"/>
              </a:rPr>
            </a:br>
            <a:r>
              <a:rPr lang="en-IN" sz="800">
                <a:latin typeface="Open Sans" panose="020B0606030504020204" pitchFamily="34" charset="0"/>
                <a:ea typeface="Open Sans" panose="020B0606030504020204" pitchFamily="34" charset="0"/>
                <a:cs typeface="Open Sans" panose="020B0606030504020204" pitchFamily="34" charset="0"/>
              </a:rPr>
              <a:t>A → Lovable / Bolt / Emergent — demo-ability over depth</a:t>
            </a:r>
            <a:br>
              <a:rPr lang="en-IN" sz="800">
                <a:latin typeface="Open Sans" panose="020B0606030504020204" pitchFamily="34" charset="0"/>
                <a:ea typeface="Open Sans" panose="020B0606030504020204" pitchFamily="34" charset="0"/>
                <a:cs typeface="Open Sans" panose="020B0606030504020204" pitchFamily="34" charset="0"/>
              </a:rPr>
            </a:br>
            <a:r>
              <a:rPr lang="en-IN" sz="800">
                <a:latin typeface="Open Sans" panose="020B0606030504020204" pitchFamily="34" charset="0"/>
                <a:ea typeface="Open Sans" panose="020B0606030504020204" pitchFamily="34" charset="0"/>
                <a:cs typeface="Open Sans" panose="020B0606030504020204" pitchFamily="34" charset="0"/>
              </a:rPr>
              <a:t>B → Claude Code — multi-file navigation, understand before you touch</a:t>
            </a:r>
            <a:br>
              <a:rPr lang="en-IN" sz="800">
                <a:latin typeface="Open Sans" panose="020B0606030504020204" pitchFamily="34" charset="0"/>
                <a:ea typeface="Open Sans" panose="020B0606030504020204" pitchFamily="34" charset="0"/>
                <a:cs typeface="Open Sans" panose="020B0606030504020204" pitchFamily="34" charset="0"/>
              </a:rPr>
            </a:br>
            <a:r>
              <a:rPr lang="en-IN" sz="800">
                <a:latin typeface="Open Sans" panose="020B0606030504020204" pitchFamily="34" charset="0"/>
                <a:ea typeface="Open Sans" panose="020B0606030504020204" pitchFamily="34" charset="0"/>
                <a:cs typeface="Open Sans" panose="020B0606030504020204" pitchFamily="34" charset="0"/>
              </a:rPr>
              <a:t>C → GitHub Copilot — line-by-line completion in-editor</a:t>
            </a:r>
          </a:p>
          <a:p>
            <a:endParaRPr lang="en-IN" sz="800">
              <a:latin typeface="Open Sans" panose="020B0606030504020204" pitchFamily="34" charset="0"/>
              <a:ea typeface="Open Sans" panose="020B0606030504020204" pitchFamily="34" charset="0"/>
              <a:cs typeface="Open Sans" panose="020B0606030504020204" pitchFamily="34" charset="0"/>
            </a:endParaRPr>
          </a:p>
          <a:p>
            <a:r>
              <a:rPr lang="en-IN" sz="800" i="1">
                <a:latin typeface="Open Sans" panose="020B0606030504020204" pitchFamily="34" charset="0"/>
                <a:ea typeface="Open Sans" panose="020B0606030504020204" pitchFamily="34" charset="0"/>
                <a:cs typeface="Open Sans" panose="020B0606030504020204" pitchFamily="34" charset="0"/>
              </a:rPr>
              <a:t>THE PRINCIPLE: Match the tool to the scope of the task — not to what you're most familiar with.</a:t>
            </a:r>
          </a:p>
          <a:p>
            <a:endParaRPr lang="en-IN" sz="800" i="1">
              <a:latin typeface="Open Sans" panose="020B0606030504020204" pitchFamily="34" charset="0"/>
              <a:ea typeface="Open Sans" panose="020B0606030504020204" pitchFamily="34" charset="0"/>
              <a:cs typeface="Open Sans" panose="020B0606030504020204" pitchFamily="34" charset="0"/>
            </a:endParaRPr>
          </a:p>
          <a:p>
            <a:endParaRPr lang="en-IN" sz="800" i="1">
              <a:latin typeface="Open Sans" panose="020B0606030504020204" pitchFamily="34" charset="0"/>
              <a:ea typeface="Open Sans" panose="020B0606030504020204" pitchFamily="34" charset="0"/>
              <a:cs typeface="Open Sans" panose="020B0606030504020204" pitchFamily="34" charset="0"/>
            </a:endParaRPr>
          </a:p>
          <a:p>
            <a:endParaRPr lang="en-IN" sz="800" i="1">
              <a:latin typeface="Open Sans" panose="020B0606030504020204" pitchFamily="34" charset="0"/>
              <a:ea typeface="Open Sans" panose="020B0606030504020204" pitchFamily="34" charset="0"/>
              <a:cs typeface="Open Sans" panose="020B0606030504020204" pitchFamily="34" charset="0"/>
            </a:endParaRPr>
          </a:p>
          <a:p>
            <a:r>
              <a:rPr lang="en-IN" sz="800" b="1"/>
              <a:t>What to do</a:t>
            </a:r>
            <a:br>
              <a:rPr lang="en-IN" sz="800"/>
            </a:br>
            <a:r>
              <a:rPr lang="en-IN" sz="800"/>
              <a:t>Run this as a live poll or a vote with hands. Give learners 60 to 90 seconds to read and decide before asking for votes.</a:t>
            </a:r>
          </a:p>
          <a:p>
            <a:r>
              <a:rPr lang="en-IN" sz="800" b="1"/>
              <a:t>What to ask</a:t>
            </a:r>
            <a:br>
              <a:rPr lang="en-IN" sz="800"/>
            </a:br>
            <a:r>
              <a:rPr lang="en-IN" sz="800"/>
              <a:t>"Read all three scenarios. Before you vote, pick one tool per scenario in your head. Scenario A, Friday demo, no engineering support. Scenario B, inherited 3,000-line Python service, live bug in the payment flow. Scenario C, writing a new function and want suggestions as you type, inside your existing editor." Then run the vote per scenario. After each vote, reveal and explain: A is Lovable or Bolt, demo speed wins. B is Claude Code, multi-file agentic navigation of an unfamiliar codebase. C is GitHub Copilot, inline completion is exactly the job.</a:t>
            </a:r>
          </a:p>
          <a:p>
            <a:r>
              <a:rPr lang="en-IN" sz="800" b="1"/>
              <a:t>How to do</a:t>
            </a:r>
            <a:br>
              <a:rPr lang="en-IN" sz="800"/>
            </a:br>
            <a:r>
              <a:rPr lang="en-IN" sz="800"/>
              <a:t>If the group splits on a scenario, that's ideal. Say: "The fact that we have different answers here is actually useful. Let's talk about why." Then walk through the decision framework from Slide 13 applied to that specific scenario.</a:t>
            </a:r>
          </a:p>
          <a:p>
            <a:r>
              <a:rPr lang="en-IN" sz="800" b="1"/>
              <a:t>Transition</a:t>
            </a:r>
            <a:br>
              <a:rPr lang="en-IN" sz="800"/>
            </a:br>
            <a:r>
              <a:rPr lang="en-IN" sz="800"/>
              <a:t>"Good. Let's close Part 1 with a quick recap before we move into Claude Code itself."</a:t>
            </a:r>
          </a:p>
          <a:p>
            <a:endParaRPr lang="en-IN" sz="800">
              <a:latin typeface="Open Sans" panose="020B0606030504020204" pitchFamily="34" charset="0"/>
              <a:ea typeface="Open Sans" panose="020B0606030504020204" pitchFamily="34" charset="0"/>
              <a:cs typeface="Open Sans" panose="020B0606030504020204" pitchFamily="34" charset="0"/>
            </a:endParaRPr>
          </a:p>
          <a:p>
            <a:endParaRPr lang="en-US" sz="800">
              <a:latin typeface="Open Sans" panose="020B0606030504020204" pitchFamily="34" charset="0"/>
              <a:ea typeface="Open Sans" panose="020B0606030504020204" pitchFamily="34" charset="0"/>
              <a:cs typeface="Open Sans" panose="020B0606030504020204" pitchFamily="34" charset="0"/>
            </a:endParaRPr>
          </a:p>
        </p:txBody>
      </p:sp>
      <p:sp>
        <p:nvSpPr>
          <p:cNvPr id="4" name="Slide Number Placeholder 3"/>
          <p:cNvSpPr>
            <a:spLocks noGrp="1"/>
          </p:cNvSpPr>
          <p:nvPr>
            <p:ph type="sldNum" sz="quarter" idx="5"/>
          </p:nvPr>
        </p:nvSpPr>
        <p:spPr/>
        <p:txBody>
          <a:bodyPr/>
          <a:lstStyle/>
          <a:p>
            <a:fld id="{2812E9A3-E58E-6545-9B06-E8A975084646}" type="slidenum">
              <a:rPr lang="en-US" smtClean="0"/>
              <a:t>14</a:t>
            </a:fld>
            <a:endParaRPr lang="en-US"/>
          </a:p>
        </p:txBody>
      </p:sp>
    </p:spTree>
    <p:extLst>
      <p:ext uri="{BB962C8B-B14F-4D97-AF65-F5344CB8AC3E}">
        <p14:creationId xmlns:p14="http://schemas.microsoft.com/office/powerpoint/2010/main" val="42618624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Reinforce the three take-aways from Part 1. Keep this brief, under 60 seconds.</a:t>
            </a:r>
          </a:p>
          <a:p>
            <a:r>
              <a:rPr lang="en-IN" b="1"/>
              <a:t>How to do</a:t>
            </a:r>
            <a:br>
              <a:rPr lang="en-IN"/>
            </a:br>
            <a:r>
              <a:rPr lang="en-IN"/>
              <a:t>Point to each checkmark and say it out loud. "You now have a map of the four categories. You have the mental model, fast junior developer, you supervise. And you have a three-question framework to choose the right tool." Do not add new content here.</a:t>
            </a:r>
          </a:p>
          <a:p>
            <a:r>
              <a:rPr lang="en-IN" b="1"/>
              <a:t>Transition</a:t>
            </a:r>
            <a:br>
              <a:rPr lang="en-IN"/>
            </a:br>
            <a:r>
              <a:rPr lang="en-IN"/>
              <a:t>"Part 2. We're going into Claude Code now. This is where you open the tool."</a:t>
            </a:r>
          </a:p>
        </p:txBody>
      </p:sp>
      <p:sp>
        <p:nvSpPr>
          <p:cNvPr id="4" name="Slide Number Placeholder 3"/>
          <p:cNvSpPr>
            <a:spLocks noGrp="1"/>
          </p:cNvSpPr>
          <p:nvPr>
            <p:ph type="sldNum" sz="quarter" idx="5"/>
          </p:nvPr>
        </p:nvSpPr>
        <p:spPr/>
        <p:txBody>
          <a:bodyPr/>
          <a:lstStyle/>
          <a:p>
            <a:fld id="{2812E9A3-E58E-6545-9B06-E8A975084646}" type="slidenum">
              <a:rPr lang="en-US" smtClean="0"/>
              <a:t>15</a:t>
            </a:fld>
            <a:endParaRPr lang="en-US"/>
          </a:p>
        </p:txBody>
      </p:sp>
    </p:spTree>
    <p:extLst>
      <p:ext uri="{BB962C8B-B14F-4D97-AF65-F5344CB8AC3E}">
        <p14:creationId xmlns:p14="http://schemas.microsoft.com/office/powerpoint/2010/main" val="1123526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The key distinction is that Claude Code is not a conversation window. It operates in the terminal, has access to the actual project files on the machine, can read, write, and execute code, and remembers context within a session through the </a:t>
            </a:r>
            <a:r>
              <a:rPr lang="en-IN" err="1"/>
              <a:t>CLAUDE.md</a:t>
            </a:r>
            <a:r>
              <a:rPr lang="en-IN"/>
              <a:t> file. A chat tool like </a:t>
            </a:r>
            <a:r>
              <a:rPr lang="en-IN" err="1"/>
              <a:t>claude.ai</a:t>
            </a:r>
            <a:r>
              <a:rPr lang="en-IN"/>
              <a:t> takes text in and returns text out. Claude Code takes a codebase in and returns changes to that codebase.</a:t>
            </a:r>
          </a:p>
          <a:p>
            <a:endParaRPr lang="en-IN"/>
          </a:p>
          <a:p>
            <a:r>
              <a:rPr lang="en-IN" b="1"/>
              <a:t>WHAT TO DO</a:t>
            </a:r>
            <a:br>
              <a:rPr lang="en-IN"/>
            </a:br>
            <a:r>
              <a:rPr lang="en-IN"/>
              <a:t>Ask: "How many of you have used Claude or ChatGPT in the browser for a coding question?" Wait for hands. "That is a chat tool. What we are doing today is different in a specific way: Claude Code can actually change the files on your machine. That changes what you need to check before accepting anything it does.”</a:t>
            </a:r>
          </a:p>
          <a:p>
            <a:endParaRPr lang="en-IN"/>
          </a:p>
          <a:p>
            <a:r>
              <a:rPr lang="en-IN" b="1"/>
              <a:t>TIMING</a:t>
            </a:r>
            <a:br>
              <a:rPr lang="en-IN"/>
            </a:br>
            <a:r>
              <a:rPr lang="en-IN"/>
              <a:t>4-5 minutes</a:t>
            </a:r>
          </a:p>
          <a:p>
            <a:endParaRPr lang="en-IN"/>
          </a:p>
          <a:p>
            <a:r>
              <a:rPr lang="en-IN" b="1"/>
              <a:t>TRANSITION</a:t>
            </a:r>
            <a:br>
              <a:rPr lang="en-IN"/>
            </a:br>
            <a:r>
              <a:rPr lang="en-IN"/>
              <a:t>"Let me show you how coding assistants works.”</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17</a:t>
            </a:fld>
            <a:endParaRPr lang="en-US"/>
          </a:p>
        </p:txBody>
      </p:sp>
    </p:spTree>
    <p:extLst>
      <p:ext uri="{BB962C8B-B14F-4D97-AF65-F5344CB8AC3E}">
        <p14:creationId xmlns:p14="http://schemas.microsoft.com/office/powerpoint/2010/main" val="1686253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Give a brief conceptual explanation of the underlying mechanism. Keep it accessible, not technical.</a:t>
            </a:r>
          </a:p>
          <a:p>
            <a:endParaRPr lang="en-IN"/>
          </a:p>
          <a:p>
            <a:r>
              <a:rPr lang="en-IN" b="1"/>
              <a:t>How to do</a:t>
            </a:r>
            <a:br>
              <a:rPr lang="en-IN"/>
            </a:br>
            <a:r>
              <a:rPr lang="en-IN"/>
              <a:t>Say: "At its core, a coding assistant is a language model that has been trained on enormous amounts of code. When you give it context, your files, your </a:t>
            </a:r>
            <a:r>
              <a:rPr lang="en-IN" err="1"/>
              <a:t>CLAUDE.md</a:t>
            </a:r>
            <a:r>
              <a:rPr lang="en-IN"/>
              <a:t>, your prompt, it uses all of that to generate the most likely correct next step. The reason context matters so much is that the model generates based on what it has been given. Better context, better output. That is not a metaphor. It is how the system works.”</a:t>
            </a:r>
          </a:p>
          <a:p>
            <a:endParaRPr lang="en-IN"/>
          </a:p>
          <a:p>
            <a:r>
              <a:rPr lang="en-IN" b="1"/>
              <a:t>Transition</a:t>
            </a:r>
            <a:br>
              <a:rPr lang="en-IN"/>
            </a:br>
            <a:r>
              <a:rPr lang="en-IN"/>
              <a:t>"Now, before anyone worries about what Claude can do on their machine, let's talk about the permission model."</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18</a:t>
            </a:fld>
            <a:endParaRPr lang="en-US"/>
          </a:p>
        </p:txBody>
      </p:sp>
    </p:spTree>
    <p:extLst>
      <p:ext uri="{BB962C8B-B14F-4D97-AF65-F5344CB8AC3E}">
        <p14:creationId xmlns:p14="http://schemas.microsoft.com/office/powerpoint/2010/main" val="1711332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action types: Read, Propose, Edit, Execute. Use the permission principle at the bottom as the closing anchor.</a:t>
            </a:r>
          </a:p>
          <a:p>
            <a:endParaRPr lang="en-IN"/>
          </a:p>
          <a:p>
            <a:r>
              <a:rPr lang="en-IN" b="1"/>
              <a:t>How to do</a:t>
            </a:r>
            <a:br>
              <a:rPr lang="en-IN"/>
            </a:br>
            <a:r>
              <a:rPr lang="en-IN"/>
              <a:t>For each action, say what Claude does and what the learner sees or controls. "Read: Claude scans your files. You see the file names as it scans. You don't approve this, it's how it understands context." "Propose: Claude generates a diff showing what it wants to change. Nothing is saved yet. You decide." "Edit: Only after you press Y. You control every write to disk." "Execute: Claude shows you the exact command it intends to run and waits for your go-ahead before running anything." Close with the principle: "Claude proposes. You decide. Nothing changes on your machine without your explicit approval. This is not a setting you toggle. It is the default behaviour." Ask: "Any questions on this before we go hands-on?”</a:t>
            </a:r>
          </a:p>
          <a:p>
            <a:endParaRPr lang="en-IN"/>
          </a:p>
          <a:p>
            <a:r>
              <a:rPr lang="en-IN" b="1"/>
              <a:t>Transition</a:t>
            </a:r>
            <a:br>
              <a:rPr lang="en-IN"/>
            </a:br>
            <a:r>
              <a:rPr lang="en-IN"/>
              <a:t>"Good. Now the most important concept before you write your first prompt."</a:t>
            </a:r>
          </a:p>
        </p:txBody>
      </p:sp>
      <p:sp>
        <p:nvSpPr>
          <p:cNvPr id="4" name="Slide Number Placeholder 3"/>
          <p:cNvSpPr>
            <a:spLocks noGrp="1"/>
          </p:cNvSpPr>
          <p:nvPr>
            <p:ph type="sldNum" sz="quarter" idx="5"/>
          </p:nvPr>
        </p:nvSpPr>
        <p:spPr/>
        <p:txBody>
          <a:bodyPr/>
          <a:lstStyle/>
          <a:p>
            <a:fld id="{2812E9A3-E58E-6545-9B06-E8A975084646}" type="slidenum">
              <a:rPr lang="en-US" smtClean="0"/>
              <a:t>19</a:t>
            </a:fld>
            <a:endParaRPr lang="en-US"/>
          </a:p>
        </p:txBody>
      </p:sp>
    </p:spTree>
    <p:extLst>
      <p:ext uri="{BB962C8B-B14F-4D97-AF65-F5344CB8AC3E}">
        <p14:creationId xmlns:p14="http://schemas.microsoft.com/office/powerpoint/2010/main" val="2498696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Land this as the single most important mindset shift in the session. Take your time.</a:t>
            </a:r>
          </a:p>
          <a:p>
            <a:endParaRPr lang="en-IN"/>
          </a:p>
          <a:p>
            <a:r>
              <a:rPr lang="en-IN" b="1"/>
              <a:t>How to do</a:t>
            </a:r>
            <a:br>
              <a:rPr lang="en-IN"/>
            </a:br>
            <a:r>
              <a:rPr lang="en-IN"/>
              <a:t>Say: "You can install Claude Code, learn all the commands, and still get mediocre output. Here's why. Every session starts cold. Claude has no memory of what you built yesterday. No knowledge of what not to touch. No understanding of how your team works." Then: "Give it a vague brief and it produces reasonable-looking code that solves the wrong problem. Give it a precise brief and it becomes the fastest developer you've ever worked with." Read the last line slowly: "The quality of what you get out is directly proportional to the quality of the context you put in." Then: "That is exactly what </a:t>
            </a:r>
            <a:r>
              <a:rPr lang="en-IN" err="1"/>
              <a:t>CLAUDE.md</a:t>
            </a:r>
            <a:r>
              <a:rPr lang="en-IN"/>
              <a:t> is built to solve.”</a:t>
            </a:r>
          </a:p>
          <a:p>
            <a:endParaRPr lang="en-IN"/>
          </a:p>
          <a:p>
            <a:r>
              <a:rPr lang="en-IN" b="1"/>
              <a:t>Transition</a:t>
            </a:r>
            <a:br>
              <a:rPr lang="en-IN"/>
            </a:br>
            <a:r>
              <a:rPr lang="en-IN"/>
              <a:t>"So what is </a:t>
            </a:r>
            <a:r>
              <a:rPr lang="en-IN" err="1"/>
              <a:t>CLAUDE.md</a:t>
            </a:r>
            <a:r>
              <a:rPr lang="en-IN"/>
              <a:t> and how do you write one?"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20</a:t>
            </a:fld>
            <a:endParaRPr lang="en-US"/>
          </a:p>
        </p:txBody>
      </p:sp>
    </p:spTree>
    <p:extLst>
      <p:ext uri="{BB962C8B-B14F-4D97-AF65-F5344CB8AC3E}">
        <p14:creationId xmlns:p14="http://schemas.microsoft.com/office/powerpoint/2010/main" val="637208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the scenario aloud and explain why this particular practice project was chosen.</a:t>
            </a:r>
          </a:p>
          <a:p>
            <a:endParaRPr lang="en-IN"/>
          </a:p>
          <a:p>
            <a:r>
              <a:rPr lang="en-IN" b="1"/>
              <a:t>How to do</a:t>
            </a:r>
            <a:br>
              <a:rPr lang="en-IN"/>
            </a:br>
            <a:r>
              <a:rPr lang="en-IN"/>
              <a:t>Read the scenario: "A Python script that reads a CSV of client accounts and flags any with no activity in the past 30 days. Terminal output showing account name, account owner, and days since last contact." Then explain the design logic: "We're using this because it is simple enough that you can understand it in 3 minutes, and generic enough that everyone in the room is building the same thing. That matters because we can compare notes." Point to the three columns: "Notice what it does not do. No emails, no writes, no UI. Scope is deliberately narrow. This is a pattern you will use in Session 2 when you design your own PoC.”</a:t>
            </a:r>
          </a:p>
          <a:p>
            <a:endParaRPr lang="en-IN"/>
          </a:p>
          <a:p>
            <a:r>
              <a:rPr lang="en-IN" b="1"/>
              <a:t>Transition</a:t>
            </a:r>
            <a:br>
              <a:rPr lang="en-IN"/>
            </a:br>
            <a:r>
              <a:rPr lang="en-IN"/>
              <a:t>"Here are the steps for the hands-on."</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21</a:t>
            </a:fld>
            <a:endParaRPr lang="en-US"/>
          </a:p>
        </p:txBody>
      </p:sp>
    </p:spTree>
    <p:extLst>
      <p:ext uri="{BB962C8B-B14F-4D97-AF65-F5344CB8AC3E}">
        <p14:creationId xmlns:p14="http://schemas.microsoft.com/office/powerpoint/2010/main" val="3611011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7B725-5DEA-E824-FAB0-11F45E721C14}"/>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7DD02076-AD19-D59B-EA70-4F6C11B5EE94}"/>
              </a:ext>
            </a:extLst>
          </p:cNvPr>
          <p:cNvSpPr>
            <a:spLocks noGrp="1"/>
          </p:cNvSpPr>
          <p:nvPr>
            <p:ph type="body" idx="4294967295"/>
          </p:nvPr>
        </p:nvSpPr>
        <p:spPr/>
        <p:txBody>
          <a:bodyPr/>
          <a:lstStyle/>
          <a:p>
            <a:r>
              <a:rPr lang="en-IN" sz="1400" b="1"/>
              <a:t>What to do</a:t>
            </a:r>
            <a:br>
              <a:rPr lang="en-IN" sz="1400"/>
            </a:br>
            <a:r>
              <a:rPr lang="en-IN" sz="1400"/>
              <a:t>Define </a:t>
            </a:r>
            <a:r>
              <a:rPr lang="en-IN" sz="1400" err="1"/>
              <a:t>CLAUDE.md</a:t>
            </a:r>
            <a:r>
              <a:rPr lang="en-IN" sz="1400"/>
              <a:t> clearly using the three analogies on the slide.</a:t>
            </a:r>
          </a:p>
          <a:p>
            <a:endParaRPr lang="en-IN" sz="1400"/>
          </a:p>
          <a:p>
            <a:r>
              <a:rPr lang="en-IN" sz="1400" b="1"/>
              <a:t>How to do</a:t>
            </a:r>
            <a:br>
              <a:rPr lang="en-IN" sz="1400"/>
            </a:br>
            <a:r>
              <a:rPr lang="en-IN" sz="1400"/>
              <a:t>Say: "</a:t>
            </a:r>
            <a:r>
              <a:rPr lang="en-IN" sz="1400" err="1"/>
              <a:t>CLAUDE.md</a:t>
            </a:r>
            <a:r>
              <a:rPr lang="en-IN" sz="1400"/>
              <a:t> is a plain text file at the root of your project. Claude reads it automatically at the start of every session, before you type a single word." Walk the three analogies: "Think of it as an onboarding document, the README you wish someone had written before you joined. Think of it as project memory, because Claude forgets between sessions, and </a:t>
            </a:r>
            <a:r>
              <a:rPr lang="en-IN" sz="1400" err="1"/>
              <a:t>CLAUDE.md</a:t>
            </a:r>
            <a:r>
              <a:rPr lang="en-IN" sz="1400"/>
              <a:t> restores that context instantly. And think of it as a team contract, your coding conventions, your naming rules, your no-go zones, enforced through context." Emphasise: "You do not paste </a:t>
            </a:r>
            <a:r>
              <a:rPr lang="en-IN" sz="1400" err="1"/>
              <a:t>CLAUDE.md</a:t>
            </a:r>
            <a:r>
              <a:rPr lang="en-IN" sz="1400"/>
              <a:t> into your prompts. You put it in the project root and Claude finds it. The prompt log you're keeping today will help you build one for your own project after this session.”</a:t>
            </a:r>
          </a:p>
          <a:p>
            <a:endParaRPr lang="en-IN" sz="1400"/>
          </a:p>
          <a:p>
            <a:r>
              <a:rPr lang="en-IN" sz="1400" b="1"/>
              <a:t>Transition</a:t>
            </a:r>
            <a:br>
              <a:rPr lang="en-IN" sz="1400"/>
            </a:br>
            <a:r>
              <a:rPr lang="en-IN" sz="1400"/>
              <a:t>"Here's exactly what goes into a well-written </a:t>
            </a:r>
            <a:r>
              <a:rPr lang="en-IN" sz="1400" err="1"/>
              <a:t>CLAUDE.md</a:t>
            </a:r>
            <a:r>
              <a:rPr lang="en-IN" sz="1400"/>
              <a:t>."</a:t>
            </a:r>
          </a:p>
        </p:txBody>
      </p:sp>
      <p:sp>
        <p:nvSpPr>
          <p:cNvPr id="4" name="Slide Number Placeholder 3">
            <a:extLst>
              <a:ext uri="{FF2B5EF4-FFF2-40B4-BE49-F238E27FC236}">
                <a16:creationId xmlns:a16="http://schemas.microsoft.com/office/drawing/2014/main" id="{13A8713D-3786-BEB8-03A7-DE7B5845B4E5}"/>
              </a:ext>
            </a:extLst>
          </p:cNvPr>
          <p:cNvSpPr>
            <a:spLocks noGrp="1"/>
          </p:cNvSpPr>
          <p:nvPr>
            <p:ph type="sldNum" sz="quarter" idx="4294967295"/>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969506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4C96-7785-50F6-F4BD-EC03EEF8FA0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1D886BC1-9694-156B-C336-C5B041A2E962}"/>
              </a:ext>
            </a:extLst>
          </p:cNvPr>
          <p:cNvSpPr>
            <a:spLocks noGrp="1"/>
          </p:cNvSpPr>
          <p:nvPr>
            <p:ph type="body" idx="4294967295"/>
          </p:nvPr>
        </p:nvSpPr>
        <p:spPr/>
        <p:txBody>
          <a:bodyPr/>
          <a:lstStyle/>
          <a:p>
            <a:r>
              <a:rPr lang="en-IN" sz="1400" b="1"/>
              <a:t>What to do</a:t>
            </a:r>
            <a:br>
              <a:rPr lang="en-IN" sz="1400"/>
            </a:br>
            <a:r>
              <a:rPr lang="en-IN" sz="1400"/>
              <a:t>Walk through each of the five sections using the examples on the slide. This is instructional content, not background.</a:t>
            </a:r>
          </a:p>
          <a:p>
            <a:endParaRPr lang="en-IN" sz="1400"/>
          </a:p>
          <a:p>
            <a:r>
              <a:rPr lang="en-IN" sz="1400" b="1"/>
              <a:t>How to do</a:t>
            </a:r>
            <a:br>
              <a:rPr lang="en-IN" sz="1400"/>
            </a:br>
            <a:r>
              <a:rPr lang="en-IN" sz="1400"/>
              <a:t>Go section by section. Section 1, Project Overview: "What does this project do and who uses it? One or two sentences. Be specific. If you write 'it's an internal tool,' Claude doesn't know what that means." Section 2, Tech Stack: "Language, framework, database, libraries, and versions. Versions matter because Claude's training data covers multiple versions and it needs to know which one you're on." Section 3, Coding Conventions: "Naming rules, response format, patterns you always follow. This is where you stop Claude from making decisions you've already made." Section 4, Do-Not-Touch Zones: "Explicit list of files or logic that must not be modified. This is your safeguard." Section 5, Useful Context: "Anything a new engineer would need to know on day one that isn't obvious from the code." After the walkthrough: "You are going to write one of these in the hands-on exercise. Keep this slide in view while you do.”</a:t>
            </a:r>
          </a:p>
          <a:p>
            <a:endParaRPr lang="en-IN" sz="1400"/>
          </a:p>
          <a:p>
            <a:r>
              <a:rPr lang="en-IN" sz="1400" b="1"/>
              <a:t>Transition</a:t>
            </a:r>
            <a:br>
              <a:rPr lang="en-IN" sz="1400"/>
            </a:br>
            <a:r>
              <a:rPr lang="en-IN" sz="1400"/>
              <a:t>"Before you write yours, here are the mistakes to avoid."</a:t>
            </a:r>
          </a:p>
        </p:txBody>
      </p:sp>
      <p:sp>
        <p:nvSpPr>
          <p:cNvPr id="4" name="Slide Number Placeholder 3">
            <a:extLst>
              <a:ext uri="{FF2B5EF4-FFF2-40B4-BE49-F238E27FC236}">
                <a16:creationId xmlns:a16="http://schemas.microsoft.com/office/drawing/2014/main" id="{0F1AEB75-5AE9-02EA-4C8F-877AE73C9B7F}"/>
              </a:ext>
            </a:extLst>
          </p:cNvPr>
          <p:cNvSpPr>
            <a:spLocks noGrp="1"/>
          </p:cNvSpPr>
          <p:nvPr>
            <p:ph type="sldNum" sz="quarter" idx="4294967295"/>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196566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4294967295"/>
          </p:nvPr>
        </p:nvSpPr>
        <p:spPr/>
        <p:txBody>
          <a:bodyPr/>
          <a:lstStyle/>
          <a:p>
            <a:r>
              <a:rPr lang="en-IN" sz="1400" b="1"/>
              <a:t>What to do</a:t>
            </a:r>
            <a:br>
              <a:rPr lang="en-IN" sz="1400"/>
            </a:br>
            <a:r>
              <a:rPr lang="en-IN" sz="1400"/>
              <a:t>Walk through the five wrong/right pairs. Make each one land before moving to the next.</a:t>
            </a:r>
          </a:p>
          <a:p>
            <a:endParaRPr lang="en-IN" sz="1400"/>
          </a:p>
          <a:p>
            <a:r>
              <a:rPr lang="en-IN" sz="1400" b="1"/>
              <a:t>How to do</a:t>
            </a:r>
            <a:br>
              <a:rPr lang="en-IN" sz="1400"/>
            </a:br>
            <a:r>
              <a:rPr lang="en-IN" sz="1400"/>
              <a:t>For each mistake, read the wrong version, pause, then read the correct version and explain briefly why it matters. Spend the most time on two of them. "Writing </a:t>
            </a:r>
            <a:r>
              <a:rPr lang="en-IN" sz="1400" err="1"/>
              <a:t>CLAUDE.md</a:t>
            </a:r>
            <a:r>
              <a:rPr lang="en-IN" sz="1400"/>
              <a:t> once and forgetting it. This is the most common mistake. Your </a:t>
            </a:r>
            <a:r>
              <a:rPr lang="en-IN" sz="1400" err="1"/>
              <a:t>CLAUDE.md</a:t>
            </a:r>
            <a:r>
              <a:rPr lang="en-IN" sz="1400"/>
              <a:t> should evolve as your project evolves. After each session, add one new rule or correct one that didn't hold." "Pasting </a:t>
            </a:r>
            <a:r>
              <a:rPr lang="en-IN" sz="1400" err="1"/>
              <a:t>CLAUDE.md</a:t>
            </a:r>
            <a:r>
              <a:rPr lang="en-IN" sz="1400"/>
              <a:t> content into the prompt. This is a waste of tokens and a sign the file isn't in the right place. Put it in the project root and Claude reads it automatically.”</a:t>
            </a:r>
          </a:p>
          <a:p>
            <a:endParaRPr lang="en-IN" sz="1400"/>
          </a:p>
          <a:p>
            <a:r>
              <a:rPr lang="en-IN" sz="1400" b="1"/>
              <a:t>Transition</a:t>
            </a:r>
            <a:br>
              <a:rPr lang="en-IN" sz="1400"/>
            </a:br>
            <a:r>
              <a:rPr lang="en-IN" sz="1400"/>
              <a:t>"Now let's look at the commands you need to know before we go hands-on."</a:t>
            </a:r>
          </a:p>
        </p:txBody>
      </p:sp>
      <p:sp>
        <p:nvSpPr>
          <p:cNvPr id="4" name="Slide Number Placeholder 3"/>
          <p:cNvSpPr>
            <a:spLocks noGrp="1"/>
          </p:cNvSpPr>
          <p:nvPr>
            <p:ph type="sldNum" sz="quarter" idx="4294967295"/>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four commands and when to use each one. Tell learners explicitly they will use these shortly.</a:t>
            </a:r>
          </a:p>
          <a:p>
            <a:endParaRPr lang="en-IN"/>
          </a:p>
          <a:p>
            <a:r>
              <a:rPr lang="en-IN" b="1"/>
              <a:t>How to do</a:t>
            </a:r>
            <a:br>
              <a:rPr lang="en-IN"/>
            </a:br>
            <a:r>
              <a:rPr lang="en-IN"/>
              <a:t>Go command by command. "/</a:t>
            </a:r>
            <a:r>
              <a:rPr lang="en-IN" err="1"/>
              <a:t>init</a:t>
            </a:r>
            <a:r>
              <a:rPr lang="en-IN"/>
              <a:t>: Run this on a new project. Claude scans your project structure and generates a starter </a:t>
            </a:r>
            <a:r>
              <a:rPr lang="en-IN" err="1"/>
              <a:t>CLAUDE.md</a:t>
            </a:r>
            <a:r>
              <a:rPr lang="en-IN"/>
              <a:t> for you. You then edit it." "/compact: Run this when you've been in a session for a while and responses start drifting or losing accuracy. It summarises the conversation and continues without losing the thread." "/cost: Run this if you want to track token usage or if you sense you're approaching a limit." "/clear: Full reset. Conversation is gone. Use this when responses have drifted badly and /compact hasn't helped." Close: "You do not need to memorise all four right now. You need to know they exist. You will use /</a:t>
            </a:r>
            <a:r>
              <a:rPr lang="en-IN" err="1"/>
              <a:t>init</a:t>
            </a:r>
            <a:r>
              <a:rPr lang="en-IN"/>
              <a:t> in the hands-on and /compact before the end of the session.”</a:t>
            </a:r>
          </a:p>
          <a:p>
            <a:endParaRPr lang="en-IN"/>
          </a:p>
          <a:p>
            <a:r>
              <a:rPr lang="en-IN" b="1"/>
              <a:t>Transition</a:t>
            </a:r>
            <a:br>
              <a:rPr lang="en-IN"/>
            </a:br>
            <a:r>
              <a:rPr lang="en-IN"/>
              <a:t>"Right. Let's put this into practice. Here's the exercise you're going to work through."</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25</a:t>
            </a:fld>
            <a:endParaRPr lang="en-US"/>
          </a:p>
        </p:txBody>
      </p:sp>
    </p:spTree>
    <p:extLst>
      <p:ext uri="{BB962C8B-B14F-4D97-AF65-F5344CB8AC3E}">
        <p14:creationId xmlns:p14="http://schemas.microsoft.com/office/powerpoint/2010/main" val="30892769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0A3A0-552E-09A1-69E7-69C0B8B695C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A2FBA3A0-662E-95F5-B537-64F4B7117159}"/>
              </a:ext>
            </a:extLst>
          </p:cNvPr>
          <p:cNvSpPr>
            <a:spLocks noGrp="1"/>
          </p:cNvSpPr>
          <p:nvPr>
            <p:ph type="body" idx="4294967295"/>
          </p:nvPr>
        </p:nvSpPr>
        <p:spPr/>
        <p:txBody>
          <a:bodyPr/>
          <a:lstStyle/>
          <a:p>
            <a:r>
              <a:rPr lang="en-IN" sz="1400" b="1"/>
              <a:t>What to do</a:t>
            </a:r>
            <a:br>
              <a:rPr lang="en-IN" sz="1400"/>
            </a:br>
            <a:r>
              <a:rPr lang="en-IN" sz="1400"/>
              <a:t>Run the hands-on exercise. Give clear time guidance. Circulate while learners work.</a:t>
            </a:r>
          </a:p>
          <a:p>
            <a:endParaRPr lang="en-IN" sz="1400"/>
          </a:p>
          <a:p>
            <a:r>
              <a:rPr lang="en-IN" sz="1400" b="1"/>
              <a:t>How to do</a:t>
            </a:r>
            <a:br>
              <a:rPr lang="en-IN" sz="1400"/>
            </a:br>
            <a:r>
              <a:rPr lang="en-IN" sz="1400"/>
              <a:t>Say: "Three steps. First, read the scenario again and make sure you understand what it does and what it doesn't do. Second, open Claude Code and run this prompt: 'What would this script need to do, and what should it never do?' Read what comes back and use it to inform your </a:t>
            </a:r>
            <a:r>
              <a:rPr lang="en-IN" sz="1400" err="1"/>
              <a:t>CLAUDE.md</a:t>
            </a:r>
            <a:r>
              <a:rPr lang="en-IN" sz="1400"/>
              <a:t>. Third, run /</a:t>
            </a:r>
            <a:r>
              <a:rPr lang="en-IN" sz="1400" err="1"/>
              <a:t>init</a:t>
            </a:r>
            <a:r>
              <a:rPr lang="en-IN" sz="1400"/>
              <a:t> and look at what Claude generates. Edit at least one section to make it more accurate or specific." Give 8 to 10 minutes. Circulate and check that learners are in the terminal, not in a browser chat. If someone is stuck, ask: "What does your project overview section say? Is it specific enough?" After time is up, bring the group back and ask one or two people to share their Do-Not-Touch section. Compare the specificity levels.</a:t>
            </a:r>
          </a:p>
          <a:p>
            <a:endParaRPr lang="en-IN" sz="1400"/>
          </a:p>
          <a:p>
            <a:r>
              <a:rPr lang="en-IN" sz="1400" b="1"/>
              <a:t>What to ask</a:t>
            </a:r>
            <a:br>
              <a:rPr lang="en-IN" sz="1400"/>
            </a:br>
            <a:r>
              <a:rPr lang="en-IN" sz="1400"/>
              <a:t>"What did /</a:t>
            </a:r>
            <a:r>
              <a:rPr lang="en-IN" sz="1400" err="1"/>
              <a:t>init</a:t>
            </a:r>
            <a:r>
              <a:rPr lang="en-IN" sz="1400"/>
              <a:t> miss that you had to add yourself?" Use answers to reinforce why human judgement in </a:t>
            </a:r>
            <a:r>
              <a:rPr lang="en-IN" sz="1400" err="1"/>
              <a:t>CLAUDE.md</a:t>
            </a:r>
            <a:r>
              <a:rPr lang="en-IN" sz="1400"/>
              <a:t> is irreplaceable.</a:t>
            </a:r>
          </a:p>
          <a:p>
            <a:endParaRPr lang="en-IN" sz="1400"/>
          </a:p>
          <a:p>
            <a:r>
              <a:rPr lang="en-IN" sz="1400" b="1"/>
              <a:t>Transition</a:t>
            </a:r>
            <a:br>
              <a:rPr lang="en-IN" sz="1400"/>
            </a:br>
            <a:r>
              <a:rPr lang="en-IN" sz="1400"/>
              <a:t>"Let's look at two examples of well-written </a:t>
            </a:r>
            <a:r>
              <a:rPr lang="en-IN" sz="1400" err="1"/>
              <a:t>CLAUDE.md</a:t>
            </a:r>
            <a:r>
              <a:rPr lang="en-IN" sz="1400"/>
              <a:t> files and then two that will teach you what not to do."</a:t>
            </a:r>
          </a:p>
        </p:txBody>
      </p:sp>
      <p:sp>
        <p:nvSpPr>
          <p:cNvPr id="4" name="Slide Number Placeholder 3">
            <a:extLst>
              <a:ext uri="{FF2B5EF4-FFF2-40B4-BE49-F238E27FC236}">
                <a16:creationId xmlns:a16="http://schemas.microsoft.com/office/drawing/2014/main" id="{E340CB1F-DB1F-20F2-2336-34CBE8F03960}"/>
              </a:ext>
            </a:extLst>
          </p:cNvPr>
          <p:cNvSpPr>
            <a:spLocks noGrp="1"/>
          </p:cNvSpPr>
          <p:nvPr>
            <p:ph type="sldNum" sz="quarter" idx="4294967295"/>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848875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both examples to illustrate what a production-quality </a:t>
            </a:r>
            <a:r>
              <a:rPr lang="en-IN" err="1"/>
              <a:t>CLAUDE.md</a:t>
            </a:r>
            <a:r>
              <a:rPr lang="en-IN"/>
              <a:t> looks like. Do not read them in full. Point to specific sections.</a:t>
            </a:r>
          </a:p>
          <a:p>
            <a:endParaRPr lang="en-IN"/>
          </a:p>
          <a:p>
            <a:r>
              <a:rPr lang="en-IN" b="1"/>
              <a:t>How to do</a:t>
            </a:r>
            <a:br>
              <a:rPr lang="en-IN"/>
            </a:br>
            <a:r>
              <a:rPr lang="en-IN"/>
              <a:t>For </a:t>
            </a:r>
            <a:r>
              <a:rPr lang="en-IN" err="1"/>
              <a:t>OrderDesk</a:t>
            </a:r>
            <a:r>
              <a:rPr lang="en-IN"/>
              <a:t> (Slide 28), highlight: "Notice the Conventions section. Money is stored as integer minor units, never float. That is a precise, verifiable rule. Claude cannot misinterpret it." Also highlight the Do-Not-Touch: "Do not invent endpoints, statuses, or order states that are not in the brief. That single line prevents scope creep." For </a:t>
            </a:r>
            <a:r>
              <a:rPr lang="en-IN" err="1"/>
              <a:t>IntakeCare</a:t>
            </a:r>
            <a:r>
              <a:rPr lang="en-IN"/>
              <a:t> (Slide 29), highlight the PHI conventions: "Never log PHI. Log the patient ID instead. This is a domain-specific rule that Claude would not apply unless you specified it." Close: "Both of these are tight, specific, and version-pinned. They leave almost nothing to Claude's interpretation. That is the goal.”</a:t>
            </a:r>
          </a:p>
          <a:p>
            <a:endParaRPr lang="en-IN"/>
          </a:p>
          <a:p>
            <a:r>
              <a:rPr lang="en-IN" b="1"/>
              <a:t>Transition</a:t>
            </a:r>
            <a:br>
              <a:rPr lang="en-IN"/>
            </a:br>
            <a:r>
              <a:rPr lang="en-IN"/>
              <a:t>"Now let's look at what the opposite of this looks like."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28</a:t>
            </a:fld>
            <a:endParaRPr lang="en-US"/>
          </a:p>
        </p:txBody>
      </p:sp>
    </p:spTree>
    <p:extLst>
      <p:ext uri="{BB962C8B-B14F-4D97-AF65-F5344CB8AC3E}">
        <p14:creationId xmlns:p14="http://schemas.microsoft.com/office/powerpoint/2010/main" val="8511902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4294967295"/>
          </p:nvPr>
        </p:nvSpPr>
        <p:spPr/>
        <p:txBody>
          <a:bodyPr/>
          <a:lstStyle/>
          <a:p>
            <a:r>
              <a:rPr lang="en-IN" sz="1400" b="1"/>
              <a:t>What to do</a:t>
            </a:r>
            <a:br>
              <a:rPr lang="en-IN" sz="1400"/>
            </a:br>
            <a:r>
              <a:rPr lang="en-IN" sz="1400"/>
              <a:t>Run this as a live Q&amp;A or a quick typed vote. Use it to check comprehension before the recap.</a:t>
            </a:r>
          </a:p>
          <a:p>
            <a:endParaRPr lang="en-IN" sz="1400"/>
          </a:p>
          <a:p>
            <a:r>
              <a:rPr lang="en-IN" sz="1400" b="1"/>
              <a:t>What to ask</a:t>
            </a:r>
            <a:br>
              <a:rPr lang="en-IN" sz="1400"/>
            </a:br>
            <a:r>
              <a:rPr lang="en-IN" sz="1400"/>
              <a:t>Q1: "Which section of </a:t>
            </a:r>
            <a:r>
              <a:rPr lang="en-IN" sz="1400" err="1"/>
              <a:t>CLAUDE.md</a:t>
            </a:r>
            <a:r>
              <a:rPr lang="en-IN" sz="1400"/>
              <a:t> lists files or logic that should never be modified?" Wait for answers. Correct answer is Do-Not-Touch Zones. Q2: "Which two actions can Claude perform autonomously without asking for approval?" Correct answer is Read and Propose. If anyone says Edit or Execute, use it to go back to Slide 20 briefly.</a:t>
            </a:r>
          </a:p>
          <a:p>
            <a:endParaRPr lang="en-IN" sz="1400"/>
          </a:p>
          <a:p>
            <a:r>
              <a:rPr lang="en-IN" sz="1400" b="1"/>
              <a:t>How to do</a:t>
            </a:r>
            <a:br>
              <a:rPr lang="en-IN" sz="1400"/>
            </a:br>
            <a:r>
              <a:rPr lang="en-IN" sz="1400"/>
              <a:t>Do not make this feel like a test. Say: "No pressure. These are just checkpoints to make sure the key ideas landed before we move on.”</a:t>
            </a:r>
          </a:p>
          <a:p>
            <a:endParaRPr lang="en-IN" sz="1400"/>
          </a:p>
          <a:p>
            <a:r>
              <a:rPr lang="en-IN" sz="1400" b="1"/>
              <a:t>Transition</a:t>
            </a:r>
            <a:br>
              <a:rPr lang="en-IN" sz="1400"/>
            </a:br>
            <a:r>
              <a:rPr lang="en-IN" sz="1400"/>
              <a:t>"Good. Let's close Part 2 and look at what you've built."</a:t>
            </a:r>
          </a:p>
        </p:txBody>
      </p:sp>
      <p:sp>
        <p:nvSpPr>
          <p:cNvPr id="4" name="Slide Number Placeholder 3"/>
          <p:cNvSpPr>
            <a:spLocks noGrp="1"/>
          </p:cNvSpPr>
          <p:nvPr>
            <p:ph type="sldNum" sz="quarter" idx="4294967295"/>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F9FF0-8313-621E-84FA-8B6E93AE9F10}"/>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2633E931-96EB-0C2A-40AA-29EDA70862B7}"/>
              </a:ext>
            </a:extLst>
          </p:cNvPr>
          <p:cNvSpPr>
            <a:spLocks noGrp="1"/>
          </p:cNvSpPr>
          <p:nvPr>
            <p:ph type="body" idx="4294967295"/>
          </p:nvPr>
        </p:nvSpPr>
        <p:spPr/>
        <p:txBody>
          <a:bodyPr/>
          <a:lstStyle/>
          <a:p>
            <a:r>
              <a:rPr lang="en-IN" sz="1400" b="1"/>
              <a:t>What to do</a:t>
            </a:r>
            <a:br>
              <a:rPr lang="en-IN" sz="1400"/>
            </a:br>
            <a:r>
              <a:rPr lang="en-IN" sz="1400"/>
              <a:t>Run this as a live Q&amp;A or a quick typed vote. Use it to check comprehension before the recap.</a:t>
            </a:r>
          </a:p>
          <a:p>
            <a:endParaRPr lang="en-IN" sz="1400"/>
          </a:p>
          <a:p>
            <a:r>
              <a:rPr lang="en-IN" sz="1400" b="1"/>
              <a:t>What to ask</a:t>
            </a:r>
            <a:br>
              <a:rPr lang="en-IN" sz="1400"/>
            </a:br>
            <a:r>
              <a:rPr lang="en-IN" sz="1400"/>
              <a:t>Q1: "Which section of </a:t>
            </a:r>
            <a:r>
              <a:rPr lang="en-IN" sz="1400" err="1"/>
              <a:t>CLAUDE.md</a:t>
            </a:r>
            <a:r>
              <a:rPr lang="en-IN" sz="1400"/>
              <a:t> lists files or logic that should never be modified?" Wait for answers. Correct answer is Do-Not-Touch Zones. Q2: "Which two actions can Claude perform autonomously without asking for approval?" Correct answer is Read and Propose. If anyone says Edit or Execute, use it to go back to Slide 20 briefly.</a:t>
            </a:r>
          </a:p>
          <a:p>
            <a:endParaRPr lang="en-IN" sz="1400"/>
          </a:p>
          <a:p>
            <a:r>
              <a:rPr lang="en-IN" sz="1400" b="1"/>
              <a:t>How to do</a:t>
            </a:r>
            <a:br>
              <a:rPr lang="en-IN" sz="1400"/>
            </a:br>
            <a:r>
              <a:rPr lang="en-IN" sz="1400"/>
              <a:t>Do not make this feel like a test. Say: "No pressure. These are just checkpoints to make sure the key ideas landed before we move on.”</a:t>
            </a:r>
          </a:p>
          <a:p>
            <a:endParaRPr lang="en-IN" sz="1400"/>
          </a:p>
          <a:p>
            <a:r>
              <a:rPr lang="en-IN" sz="1400" b="1"/>
              <a:t>Transition</a:t>
            </a:r>
            <a:br>
              <a:rPr lang="en-IN" sz="1400"/>
            </a:br>
            <a:r>
              <a:rPr lang="en-IN" sz="1400"/>
              <a:t>"Good. Let's close Part 2 and look at what you've built."</a:t>
            </a:r>
          </a:p>
        </p:txBody>
      </p:sp>
      <p:sp>
        <p:nvSpPr>
          <p:cNvPr id="4" name="Slide Number Placeholder 3">
            <a:extLst>
              <a:ext uri="{FF2B5EF4-FFF2-40B4-BE49-F238E27FC236}">
                <a16:creationId xmlns:a16="http://schemas.microsoft.com/office/drawing/2014/main" id="{48F2A5D9-E241-6294-1783-C0D499EFD621}"/>
              </a:ext>
            </a:extLst>
          </p:cNvPr>
          <p:cNvSpPr>
            <a:spLocks noGrp="1"/>
          </p:cNvSpPr>
          <p:nvPr>
            <p:ph type="sldNum" sz="quarter" idx="4294967295"/>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1495512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through the five checkmarks. Acknowledge the shift that just happened.</a:t>
            </a:r>
          </a:p>
          <a:p>
            <a:endParaRPr lang="en-IN"/>
          </a:p>
          <a:p>
            <a:r>
              <a:rPr lang="en-IN" b="1"/>
              <a:t>How to do</a:t>
            </a:r>
            <a:br>
              <a:rPr lang="en-IN"/>
            </a:br>
            <a:r>
              <a:rPr lang="en-IN"/>
              <a:t>Say: "You have now used Claude Code for the first time. You've written a </a:t>
            </a:r>
            <a:r>
              <a:rPr lang="en-IN" err="1"/>
              <a:t>CLAUDE.md</a:t>
            </a:r>
            <a:r>
              <a:rPr lang="en-IN"/>
              <a:t>. You understand the permission model. That is a lot of ground in 40 minutes." Then: "Part 3 is where we focus on what goes into the prompts themselves. Because having the tool ready is one thing. Knowing how to talk to it is another.”</a:t>
            </a:r>
          </a:p>
          <a:p>
            <a:endParaRPr lang="en-IN"/>
          </a:p>
          <a:p>
            <a:r>
              <a:rPr lang="en-IN" b="1"/>
              <a:t>Transition</a:t>
            </a:r>
            <a:br>
              <a:rPr lang="en-IN"/>
            </a:br>
            <a:r>
              <a:rPr lang="en-IN"/>
              <a:t>"Part 3. Prompt engineering for code generation."</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31</a:t>
            </a:fld>
            <a:endParaRPr lang="en-US"/>
          </a:p>
        </p:txBody>
      </p:sp>
    </p:spTree>
    <p:extLst>
      <p:ext uri="{BB962C8B-B14F-4D97-AF65-F5344CB8AC3E}">
        <p14:creationId xmlns:p14="http://schemas.microsoft.com/office/powerpoint/2010/main" val="5294987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a quick comparison using the two columns on the slide. Use the specific broken prompt example to make the risk concrete.</a:t>
            </a:r>
          </a:p>
          <a:p>
            <a:endParaRPr lang="en-IN"/>
          </a:p>
          <a:p>
            <a:r>
              <a:rPr lang="en-IN" b="1"/>
              <a:t>How to do</a:t>
            </a:r>
            <a:br>
              <a:rPr lang="en-IN"/>
            </a:br>
            <a:r>
              <a:rPr lang="en-IN"/>
              <a:t>Left column, General Prompts: "If you say 'summarise this report for a senior stakeholder,' Claude has enough general knowledge to produce something reasonable. Ambiguity is recoverable." Right column, Coding Prompts: "If you say 'fix the rescheduling bug,' Claude does not know which file, which function, or what fixed means. The ambiguity doesn't produce a weaker version of the right answer. It produces plausible code that solves the wrong problem." Pause. "And because the output is executable, every gap in your prompt becomes a potential bug. This is not a metaphor.”</a:t>
            </a:r>
          </a:p>
          <a:p>
            <a:endParaRPr lang="en-IN"/>
          </a:p>
          <a:p>
            <a:r>
              <a:rPr lang="en-IN" b="1"/>
              <a:t>Transition</a:t>
            </a:r>
            <a:br>
              <a:rPr lang="en-IN"/>
            </a:br>
            <a:r>
              <a:rPr lang="en-IN"/>
              <a:t>"So what does a good coding prompt look like? There's a template."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33</a:t>
            </a:fld>
            <a:endParaRPr lang="en-US"/>
          </a:p>
        </p:txBody>
      </p:sp>
    </p:spTree>
    <p:extLst>
      <p:ext uri="{BB962C8B-B14F-4D97-AF65-F5344CB8AC3E}">
        <p14:creationId xmlns:p14="http://schemas.microsoft.com/office/powerpoint/2010/main" val="15648548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a:t>
            </a:r>
            <a:r>
              <a:rPr lang="en-US" b="1"/>
              <a:t>scaffold</a:t>
            </a:r>
            <a:r>
              <a:rPr lang="en-US"/>
              <a:t> is a structured, step-by-step cognitive framework that guides an AI's reasoning process, rather than just asking it for a final answer.</a:t>
            </a:r>
          </a:p>
          <a:p>
            <a:endParaRPr lang="en-US"/>
          </a:p>
          <a:p>
            <a:r>
              <a:rPr lang="en-IN" b="1"/>
              <a:t>What to do</a:t>
            </a:r>
            <a:br>
              <a:rPr lang="en-IN"/>
            </a:br>
            <a:r>
              <a:rPr lang="en-IN"/>
              <a:t>Walk through the four components of the template one at a time. Use the assembled example at the bottom to show how they combine.</a:t>
            </a:r>
          </a:p>
          <a:p>
            <a:endParaRPr lang="en-IN"/>
          </a:p>
          <a:p>
            <a:r>
              <a:rPr lang="en-IN" b="1"/>
              <a:t>How to do</a:t>
            </a:r>
            <a:br>
              <a:rPr lang="en-IN"/>
            </a:br>
            <a:r>
              <a:rPr lang="en-IN"/>
              <a:t>Stack: "Name the language, framework, and libraries. Include version numbers." Architecture Intent: "What should this function do and where does it fit in the project? Not vague. Specific." Edge Cases: "What happens when things go wrong? Specify error codes, fallback behaviour, what to log." Output Format: "How should the result be structured? JSON? Plain text? What docstring format?" Then read the assembled example out loud. Ask: "Notice how every ambiguity has been resolved before Claude writes a single line. That is the point." Tell learners: "This template is what you will use in the hands-on right after the next few slides.”</a:t>
            </a:r>
          </a:p>
          <a:p>
            <a:endParaRPr lang="en-IN"/>
          </a:p>
          <a:p>
            <a:r>
              <a:rPr lang="en-IN" b="1"/>
              <a:t>Transition</a:t>
            </a:r>
            <a:br>
              <a:rPr lang="en-IN"/>
            </a:br>
            <a:r>
              <a:rPr lang="en-IN"/>
              <a:t>"Let's compare a weak prompt to a strong one side by side."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34</a:t>
            </a:fld>
            <a:endParaRPr lang="en-US"/>
          </a:p>
        </p:txBody>
      </p:sp>
    </p:spTree>
    <p:extLst>
      <p:ext uri="{BB962C8B-B14F-4D97-AF65-F5344CB8AC3E}">
        <p14:creationId xmlns:p14="http://schemas.microsoft.com/office/powerpoint/2010/main" val="6339086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both prompts aloud. Then walk through the two bullet columns.</a:t>
            </a:r>
          </a:p>
          <a:p>
            <a:endParaRPr lang="en-IN"/>
          </a:p>
          <a:p>
            <a:r>
              <a:rPr lang="en-IN" b="1"/>
              <a:t>How to do</a:t>
            </a:r>
            <a:br>
              <a:rPr lang="en-IN"/>
            </a:br>
            <a:r>
              <a:rPr lang="en-IN"/>
              <a:t>Read the weak prompt: "'Write a script that pulls our sales data and makes a report.'" Then ask: "What does Claude not know from this prompt?" Let someone list a few gaps. Walk the left column: Data source, language, what a report means, who reads it, what to do with errors. Then read the strong prompt in full. Walk the right column: "Language and version, check. Data source and location, check. Output format, check. Error handling, check. User control via a flag, check." Close: "These two prompts will produce completely different code. Not slightly different. Completely different. The second one has a real chance of working on the first attempt.”</a:t>
            </a:r>
          </a:p>
          <a:p>
            <a:endParaRPr lang="en-IN"/>
          </a:p>
          <a:p>
            <a:r>
              <a:rPr lang="en-IN" b="1"/>
              <a:t>Transition</a:t>
            </a:r>
            <a:br>
              <a:rPr lang="en-IN"/>
            </a:br>
            <a:r>
              <a:rPr lang="en-IN"/>
              <a:t>"But even with a good scaffold prompt, you rarely get to step 4 quality from a step 1 prompt. Here's why."</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35</a:t>
            </a:fld>
            <a:endParaRPr lang="en-US"/>
          </a:p>
        </p:txBody>
      </p:sp>
    </p:spTree>
    <p:extLst>
      <p:ext uri="{BB962C8B-B14F-4D97-AF65-F5344CB8AC3E}">
        <p14:creationId xmlns:p14="http://schemas.microsoft.com/office/powerpoint/2010/main" val="10750057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steps. Emphasise the habit note at the bottom.</a:t>
            </a:r>
          </a:p>
          <a:p>
            <a:endParaRPr lang="en-IN"/>
          </a:p>
          <a:p>
            <a:r>
              <a:rPr lang="en-IN" b="1"/>
              <a:t>How to do</a:t>
            </a:r>
            <a:br>
              <a:rPr lang="en-IN"/>
            </a:br>
            <a:r>
              <a:rPr lang="en-IN"/>
              <a:t>Step 1, Rough Scaffold: "Ask for structure first. Get the skeleton. Do not expect working code. This step is about shape, not correctness." Step 2, Working Function: "Add the logic. Run it. See what breaks. Paste errors back in with context." Step 3, Tested Module: "Ask Claude to write tests. Run them. Fix what fails. This is how you make Claude prove its own code works." Step 4, Documented Code: "Ask for docstrings and inline comments. Read them before you commit." Close with the habit note: "Never expect step 4 quality from a step 1 prompt. Each prompt is one move. The loop is the method." Ask: "Has anyone ever tried one prompt, got a mediocre answer, and given up?" Pause. "That's treating a step 1 prompt like it should produce step 4 output.”</a:t>
            </a:r>
          </a:p>
          <a:p>
            <a:endParaRPr lang="en-IN"/>
          </a:p>
          <a:p>
            <a:r>
              <a:rPr lang="en-IN" b="1"/>
              <a:t>Transition</a:t>
            </a:r>
            <a:br>
              <a:rPr lang="en-IN"/>
            </a:br>
            <a:r>
              <a:rPr lang="en-IN"/>
              <a:t>"There's one more prompting habit that matters especially if you're in a management role."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36</a:t>
            </a:fld>
            <a:endParaRPr lang="en-US"/>
          </a:p>
        </p:txBody>
      </p:sp>
    </p:spTree>
    <p:extLst>
      <p:ext uri="{BB962C8B-B14F-4D97-AF65-F5344CB8AC3E}">
        <p14:creationId xmlns:p14="http://schemas.microsoft.com/office/powerpoint/2010/main" val="18772697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Land this as a professional accountability point, not a technical nicety.</a:t>
            </a:r>
          </a:p>
          <a:p>
            <a:endParaRPr lang="en-IN"/>
          </a:p>
          <a:p>
            <a:r>
              <a:rPr lang="en-IN" b="1"/>
              <a:t>How to do</a:t>
            </a:r>
            <a:br>
              <a:rPr lang="en-IN"/>
            </a:br>
            <a:r>
              <a:rPr lang="en-IN"/>
              <a:t>Say: "This is the most important habit for anyone who has to review, sign off on, or stand behind AI-generated code." Read the prompt: "Explain what this does, line by line." Then read the Why It Matters text verbatim: "You cannot review what you do not understand. If you accept a diff you cannot explain, you own the consequences when it breaks." Pause after that. Let it land. Then: "This is not a slowdown. This is how you stay accountable for what you ship.”</a:t>
            </a:r>
          </a:p>
          <a:p>
            <a:endParaRPr lang="en-IN"/>
          </a:p>
          <a:p>
            <a:r>
              <a:rPr lang="en-IN" b="1"/>
              <a:t>Transition</a:t>
            </a:r>
            <a:br>
              <a:rPr lang="en-IN"/>
            </a:br>
            <a:r>
              <a:rPr lang="en-IN"/>
              <a:t>"There are three levels of understanding prompts. Let's look at all three."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37</a:t>
            </a:fld>
            <a:endParaRPr lang="en-US"/>
          </a:p>
        </p:txBody>
      </p:sp>
    </p:spTree>
    <p:extLst>
      <p:ext uri="{BB962C8B-B14F-4D97-AF65-F5344CB8AC3E}">
        <p14:creationId xmlns:p14="http://schemas.microsoft.com/office/powerpoint/2010/main" val="4762748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three prompt types with their use cases.</a:t>
            </a:r>
          </a:p>
          <a:p>
            <a:endParaRPr lang="en-IN"/>
          </a:p>
          <a:p>
            <a:r>
              <a:rPr lang="en-IN" b="1"/>
              <a:t>How to do</a:t>
            </a:r>
            <a:br>
              <a:rPr lang="en-IN"/>
            </a:br>
            <a:r>
              <a:rPr lang="en-IN"/>
              <a:t>Level 1, Line by Line: "For unfamiliar code or an unfamiliar library. Ask Claude to explain the function line by line, assuming you understand the basics but not that specific library." Level 2, Decision Rationale: "For architecture choices. Ask why Claude structured it a certain way and what would break if you changed the approach." Level 3, Risk Identification: "Before you commit anything. Ask for the three most likely ways this could break in production." Close with the rule at the bottom: "If you cannot explain what Claude wrote, you are not ready to commit it." Tell learners: "Pick up this habit today. Use it in the hands-on.”</a:t>
            </a:r>
          </a:p>
          <a:p>
            <a:endParaRPr lang="en-IN"/>
          </a:p>
          <a:p>
            <a:r>
              <a:rPr lang="en-IN" b="1"/>
              <a:t>Transition</a:t>
            </a:r>
            <a:br>
              <a:rPr lang="en-IN"/>
            </a:br>
            <a:r>
              <a:rPr lang="en-IN"/>
              <a:t>"Before the hands-on, five prompting techniques that cover the vast majority of coding scenarios."</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38</a:t>
            </a:fld>
            <a:endParaRPr lang="en-US"/>
          </a:p>
        </p:txBody>
      </p:sp>
    </p:spTree>
    <p:extLst>
      <p:ext uri="{BB962C8B-B14F-4D97-AF65-F5344CB8AC3E}">
        <p14:creationId xmlns:p14="http://schemas.microsoft.com/office/powerpoint/2010/main" val="40112607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five techniques. Do not go deep on each. This is a reference overview.</a:t>
            </a:r>
          </a:p>
          <a:p>
            <a:endParaRPr lang="en-IN"/>
          </a:p>
          <a:p>
            <a:r>
              <a:rPr lang="en-IN" b="1"/>
              <a:t>How to do</a:t>
            </a:r>
            <a:br>
              <a:rPr lang="en-IN"/>
            </a:br>
            <a:r>
              <a:rPr lang="en-IN"/>
              <a:t>One-shot: "Simple, bounded task. One well-written prompt with full context." Multi-shot: "When you want Claude to match a specific style or pattern, give it examples to imitate." Task Decomposition: "For large features, break them into 3 to 5 smaller prompts, each with its own done criteria." Chain-of-Thought: "For complex logic, ask Claude to reason through the approach before writing code. Catches design errors before they become code errors." </a:t>
            </a:r>
            <a:r>
              <a:rPr lang="en-IN" err="1"/>
              <a:t>Metaprompting</a:t>
            </a:r>
            <a:r>
              <a:rPr lang="en-IN"/>
              <a:t>: "Save your best prompts as reusable templates. Your team can apply them consistently." Highlight the footer: "Plan-first prompting: never let Claude write code without first seeing and approving a plan. This applies to every technique on this slide.”</a:t>
            </a:r>
          </a:p>
          <a:p>
            <a:endParaRPr lang="en-IN"/>
          </a:p>
          <a:p>
            <a:r>
              <a:rPr lang="en-IN" b="1"/>
              <a:t>Transition</a:t>
            </a:r>
            <a:br>
              <a:rPr lang="en-IN"/>
            </a:br>
            <a:r>
              <a:rPr lang="en-IN"/>
              <a:t>"And the five mistakes that undo all of this."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3307256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through all five mistakes. For each, make sure the consequence is clear, not just the mistake.</a:t>
            </a:r>
          </a:p>
          <a:p>
            <a:endParaRPr lang="en-IN"/>
          </a:p>
          <a:p>
            <a:r>
              <a:rPr lang="en-IN" b="1"/>
              <a:t>How to do</a:t>
            </a:r>
            <a:br>
              <a:rPr lang="en-IN"/>
            </a:br>
            <a:r>
              <a:rPr lang="en-IN"/>
              <a:t>Mistake 1: "Under-specifying context. 'Fix the bug' without naming the file or the correct behaviour. Claude fixes the wrong thing, confidently." Mistake 2: "Ignoring error handling. Code works in demos. Breaks in production. Every time." Mistake 3: "Accepting the first output without running it. Reading code and deciding it looks right is not the same as running it. They are different tests." Mistake 4: "Letting Claude choose the architecture. Claude will make reasonable decisions that conflict with decisions you already made somewhere else." Mistake 5: "Treating each prompt as a one-shot. Expecting complete, tested, documented, production-ready output from a single prompt." Ask: "Which of these have you already been guilty of in the last hour?" Keep it light. Let people laugh.</a:t>
            </a:r>
          </a:p>
          <a:p>
            <a:endParaRPr lang="en-IN"/>
          </a:p>
          <a:p>
            <a:r>
              <a:rPr lang="en-IN" b="1"/>
              <a:t>Transition</a:t>
            </a:r>
            <a:br>
              <a:rPr lang="en-IN"/>
            </a:br>
            <a:r>
              <a:rPr lang="en-IN"/>
              <a:t>"Right. Let's put all of this together in the Part 3 hands-on."</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40</a:t>
            </a:fld>
            <a:endParaRPr lang="en-US"/>
          </a:p>
        </p:txBody>
      </p:sp>
    </p:spTree>
    <p:extLst>
      <p:ext uri="{BB962C8B-B14F-4D97-AF65-F5344CB8AC3E}">
        <p14:creationId xmlns:p14="http://schemas.microsoft.com/office/powerpoint/2010/main" val="20741912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2C2B0-0827-D616-C7C4-DF98B072E9BA}"/>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5B114FC9-B20E-0DC2-3BDE-FC9708323517}"/>
              </a:ext>
            </a:extLst>
          </p:cNvPr>
          <p:cNvSpPr>
            <a:spLocks noGrp="1"/>
          </p:cNvSpPr>
          <p:nvPr>
            <p:ph type="body" idx="4294967295"/>
          </p:nvPr>
        </p:nvSpPr>
        <p:spPr/>
        <p:txBody>
          <a:bodyPr/>
          <a:lstStyle/>
          <a:p>
            <a:r>
              <a:rPr lang="en-IN" sz="1400" b="1"/>
              <a:t>What to do</a:t>
            </a:r>
            <a:br>
              <a:rPr lang="en-IN" sz="1400"/>
            </a:br>
            <a:r>
              <a:rPr lang="en-IN" sz="1400"/>
              <a:t>Run the three-step hands-on exercise. This is the most important exercise of the session.</a:t>
            </a:r>
          </a:p>
          <a:p>
            <a:endParaRPr lang="en-IN" sz="1400"/>
          </a:p>
          <a:p>
            <a:r>
              <a:rPr lang="en-IN" sz="1400" b="1"/>
              <a:t>How to do</a:t>
            </a:r>
            <a:br>
              <a:rPr lang="en-IN" sz="1400"/>
            </a:br>
            <a:r>
              <a:rPr lang="en-IN" sz="1400"/>
              <a:t>Say: "You are working on the same project from Part 2. Your </a:t>
            </a:r>
            <a:r>
              <a:rPr lang="en-IN" sz="1400" err="1"/>
              <a:t>CLAUDE.md</a:t>
            </a:r>
            <a:r>
              <a:rPr lang="en-IN" sz="1400"/>
              <a:t> is already written. Now you're writing the prompts that put it to work." </a:t>
            </a:r>
          </a:p>
          <a:p>
            <a:r>
              <a:rPr lang="en-IN" sz="1400"/>
              <a:t>Step 1: "Write your first prompt using whatever feels natural. Generate v1." </a:t>
            </a:r>
          </a:p>
          <a:p>
            <a:r>
              <a:rPr lang="en-IN" sz="1400"/>
              <a:t>Step 2: "Read v1. Diagnose what is missing, wrong, or vague. Do not fix it yet. Just diagnose." </a:t>
            </a:r>
          </a:p>
          <a:p>
            <a:r>
              <a:rPr lang="en-IN" sz="1400"/>
              <a:t>Step 3: "Apply the scaffold template. Stack, architecture intent, edge cases, output format. Generate v2." Give 12 to 15 minutes. Circulate. If someone is struggling with v1 diagnosis, ask: "What did Claude assume that you didn't tell it?" After time is up, bring the group back for the discussion slide.</a:t>
            </a:r>
          </a:p>
          <a:p>
            <a:endParaRPr lang="en-IN" sz="1400"/>
          </a:p>
          <a:p>
            <a:r>
              <a:rPr lang="en-IN" sz="1400" b="1"/>
              <a:t>Transition</a:t>
            </a:r>
            <a:br>
              <a:rPr lang="en-IN" sz="1400"/>
            </a:br>
            <a:r>
              <a:rPr lang="en-IN" sz="1400"/>
              <a:t>"Let's talk about what just happened."</a:t>
            </a:r>
          </a:p>
        </p:txBody>
      </p:sp>
      <p:sp>
        <p:nvSpPr>
          <p:cNvPr id="4" name="Slide Number Placeholder 3">
            <a:extLst>
              <a:ext uri="{FF2B5EF4-FFF2-40B4-BE49-F238E27FC236}">
                <a16:creationId xmlns:a16="http://schemas.microsoft.com/office/drawing/2014/main" id="{0827B9BB-0B20-AADD-0758-0AA297F388A7}"/>
              </a:ext>
            </a:extLst>
          </p:cNvPr>
          <p:cNvSpPr>
            <a:spLocks noGrp="1"/>
          </p:cNvSpPr>
          <p:nvPr>
            <p:ph type="sldNum" sz="quarter" idx="4294967295"/>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6486767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a short group discussion. Use both questions on the slide.</a:t>
            </a:r>
          </a:p>
          <a:p>
            <a:endParaRPr lang="en-IN"/>
          </a:p>
          <a:p>
            <a:r>
              <a:rPr lang="en-IN" b="1"/>
              <a:t>What to ask</a:t>
            </a:r>
            <a:br>
              <a:rPr lang="en-IN"/>
            </a:br>
            <a:r>
              <a:rPr lang="en-IN"/>
              <a:t>First question: "What was the single change between your v1 prompt and your v2 prompt that produced the biggest quality difference?" Let three to four people answer. Note the patterns. Second question: "Which scaffold component made the biggest difference for you: stack, architecture intent, edge cases, or output format?" Tally the answers loosely. Edge cases and architecture intent are usually the surprise winners.</a:t>
            </a:r>
          </a:p>
          <a:p>
            <a:endParaRPr lang="en-IN"/>
          </a:p>
          <a:p>
            <a:r>
              <a:rPr lang="en-IN" b="1"/>
              <a:t>How to do</a:t>
            </a:r>
            <a:br>
              <a:rPr lang="en-IN"/>
            </a:br>
            <a:r>
              <a:rPr lang="en-IN"/>
              <a:t>Do not correct answers unless someone has genuinely misunderstood the exercise. The goal is to surface the insight that specificity is the variable that controls quality. Close: "The scaffold template is not a constraint. It is a quality multiplier.”</a:t>
            </a:r>
          </a:p>
          <a:p>
            <a:endParaRPr lang="en-IN"/>
          </a:p>
          <a:p>
            <a:r>
              <a:rPr lang="en-IN" b="1"/>
              <a:t>Transition</a:t>
            </a:r>
            <a:br>
              <a:rPr lang="en-IN"/>
            </a:br>
            <a:r>
              <a:rPr lang="en-IN"/>
              <a:t>"Let's close with a full recap of everything you can now do."</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42</a:t>
            </a:fld>
            <a:endParaRPr lang="en-US"/>
          </a:p>
        </p:txBody>
      </p:sp>
    </p:spTree>
    <p:extLst>
      <p:ext uri="{BB962C8B-B14F-4D97-AF65-F5344CB8AC3E}">
        <p14:creationId xmlns:p14="http://schemas.microsoft.com/office/powerpoint/2010/main" val="3235635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through all three sections of the recap. Keep the tone celebratory but grounded.</a:t>
            </a:r>
          </a:p>
          <a:p>
            <a:endParaRPr lang="en-IN"/>
          </a:p>
          <a:p>
            <a:r>
              <a:rPr lang="en-IN" b="1"/>
              <a:t>How to do</a:t>
            </a:r>
            <a:br>
              <a:rPr lang="en-IN"/>
            </a:br>
            <a:r>
              <a:rPr lang="en-IN"/>
              <a:t>Go section by section. AI Coding Landscape: "You can map the four tool categories, apply the selection framework, and supervise AI output with the right mental model." Claude Code: "You can navigate the terminal, write a </a:t>
            </a:r>
            <a:r>
              <a:rPr lang="en-IN" err="1"/>
              <a:t>CLAUDE.md</a:t>
            </a:r>
            <a:r>
              <a:rPr lang="en-IN"/>
              <a:t>, use the key commands, and understand the permission model." Prompt Engineering: "You can write a scaffold prompt, apply the iterative loop, prompt for understanding, and diagnose the gap between a v1 and v2 prompt." Then say: "Three months ago, all of this was probably unknown to most of you. Today, it is your toolkit.”</a:t>
            </a:r>
          </a:p>
          <a:p>
            <a:endParaRPr lang="en-IN"/>
          </a:p>
          <a:p>
            <a:r>
              <a:rPr lang="en-IN" b="1"/>
              <a:t>Transition</a:t>
            </a:r>
            <a:br>
              <a:rPr lang="en-IN"/>
            </a:br>
            <a:r>
              <a:rPr lang="en-IN"/>
              <a:t>"Here's what to keep working on before Session 2."</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43</a:t>
            </a:fld>
            <a:endParaRPr lang="en-US"/>
          </a:p>
        </p:txBody>
      </p:sp>
    </p:spTree>
    <p:extLst>
      <p:ext uri="{BB962C8B-B14F-4D97-AF65-F5344CB8AC3E}">
        <p14:creationId xmlns:p14="http://schemas.microsoft.com/office/powerpoint/2010/main" val="11059887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practice tasks. Frame them as preparation for Session 2, not optional homework.</a:t>
            </a:r>
          </a:p>
          <a:p>
            <a:endParaRPr lang="en-IN"/>
          </a:p>
          <a:p>
            <a:r>
              <a:rPr lang="en-IN" b="1"/>
              <a:t>How to do</a:t>
            </a:r>
            <a:br>
              <a:rPr lang="en-IN"/>
            </a:br>
            <a:r>
              <a:rPr lang="en-IN"/>
              <a:t>Task 1: "Pick one utility you actually need. Write a scaffold prompt. Generate v1. Run it. This should take under 20 minutes." </a:t>
            </a:r>
          </a:p>
          <a:p>
            <a:r>
              <a:rPr lang="en-IN"/>
              <a:t>Task 2: "Review v1 with fresh eyes. Identify the gaps. Rewrite the prompt. Generate v2. Write down what changed and why." </a:t>
            </a:r>
          </a:p>
          <a:p>
            <a:r>
              <a:rPr lang="en-IN"/>
              <a:t>Task 3: "Write a one-paragraph brief for the PoC you want to build in Session 2. Use the scaffold template. Bring it with you. You will use it in the first exercise of Session 2." </a:t>
            </a:r>
          </a:p>
          <a:p>
            <a:r>
              <a:rPr lang="en-IN"/>
              <a:t>Task 4: "Open Claude Code on a project you already own. Run /init. Read what it generates. Edit at least one section to make it more accurate."</a:t>
            </a:r>
          </a:p>
          <a:p>
            <a:endParaRPr lang="en-IN"/>
          </a:p>
          <a:p>
            <a:r>
              <a:rPr lang="en-IN" b="1"/>
              <a:t>Transition</a:t>
            </a:r>
            <a:br>
              <a:rPr lang="en-IN"/>
            </a:br>
            <a:r>
              <a:rPr lang="en-IN"/>
              <a:t>"Here's what Session 2 covers."</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44</a:t>
            </a:fld>
            <a:endParaRPr lang="en-US"/>
          </a:p>
        </p:txBody>
      </p:sp>
    </p:spTree>
    <p:extLst>
      <p:ext uri="{BB962C8B-B14F-4D97-AF65-F5344CB8AC3E}">
        <p14:creationId xmlns:p14="http://schemas.microsoft.com/office/powerpoint/2010/main" val="26608095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Preview Session 2 briefly. End the session with forward momentum.</a:t>
            </a:r>
          </a:p>
          <a:p>
            <a:endParaRPr lang="en-IN"/>
          </a:p>
          <a:p>
            <a:r>
              <a:rPr lang="en-IN" b="1"/>
              <a:t>How to do</a:t>
            </a:r>
            <a:br>
              <a:rPr lang="en-IN"/>
            </a:br>
            <a:r>
              <a:rPr lang="en-IN"/>
              <a:t>Say: "Session 2 is where you build. You scope your PoC, write your brief, and run the build loop. By the end of Session 2, you will have a working prototype, committed to Git, with a README. Everything you learned today is the foundation for that." Thank the group. Invite any final questions. If time allows, ask: "What's the one thing from today you're most likely to use in the next 48 hours?" Take two or three answers. Close the session cleanly.</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45</a:t>
            </a:fld>
            <a:endParaRPr lang="en-US"/>
          </a:p>
        </p:txBody>
      </p:sp>
    </p:spTree>
    <p:extLst>
      <p:ext uri="{BB962C8B-B14F-4D97-AF65-F5344CB8AC3E}">
        <p14:creationId xmlns:p14="http://schemas.microsoft.com/office/powerpoint/2010/main" val="1308679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Close the session. No new content.</a:t>
            </a:r>
          </a:p>
          <a:p>
            <a:endParaRPr lang="en-US"/>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46</a:t>
            </a:fld>
            <a:endParaRPr lang="en-US"/>
          </a:p>
        </p:txBody>
      </p:sp>
    </p:spTree>
    <p:extLst>
      <p:ext uri="{BB962C8B-B14F-4D97-AF65-F5344CB8AC3E}">
        <p14:creationId xmlns:p14="http://schemas.microsoft.com/office/powerpoint/2010/main" val="3504133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Layouts/_rels/slideLayout8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05691" y="5503862"/>
            <a:ext cx="3836988" cy="338554"/>
          </a:xfrm>
          <a:prstGeom prst="rect">
            <a:avLst/>
          </a:prstGeom>
        </p:spPr>
        <p:txBody>
          <a:bodyPr anchor="t">
            <a:spAutoFit/>
          </a:bodyPr>
          <a:lstStyle>
            <a:lvl1pPr marL="0" indent="0" algn="l">
              <a:lnSpc>
                <a:spcPct val="100000"/>
              </a:lnSpc>
              <a:buNone/>
              <a:defRPr sz="16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965094" y="5494974"/>
            <a:ext cx="1592542"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sp>
        <p:nvSpPr>
          <p:cNvPr id="6" name="Title 1">
            <a:extLst>
              <a:ext uri="{FF2B5EF4-FFF2-40B4-BE49-F238E27FC236}">
                <a16:creationId xmlns:a16="http://schemas.microsoft.com/office/drawing/2014/main" id="{BD2936ED-F2A8-CC4C-B749-96E5E64CF237}"/>
              </a:ext>
            </a:extLst>
          </p:cNvPr>
          <p:cNvSpPr>
            <a:spLocks noGrp="1"/>
          </p:cNvSpPr>
          <p:nvPr>
            <p:ph type="ctrTitle" hasCustomPrompt="1"/>
          </p:nvPr>
        </p:nvSpPr>
        <p:spPr>
          <a:xfrm>
            <a:off x="580635" y="2272208"/>
            <a:ext cx="8967225" cy="3231654"/>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8" name="Text Placeholder 4">
            <a:extLst>
              <a:ext uri="{FF2B5EF4-FFF2-40B4-BE49-F238E27FC236}">
                <a16:creationId xmlns:a16="http://schemas.microsoft.com/office/drawing/2014/main" id="{1D8444A4-42E4-5A47-A1D2-76D6385ED0FE}"/>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152753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635" y="2641540"/>
            <a:ext cx="8967218" cy="2862322"/>
          </a:xfrm>
          <a:prstGeom prst="rect">
            <a:avLst/>
          </a:prstGeom>
        </p:spPr>
        <p:txBody>
          <a:bodyPr wrap="square" anchor="b">
            <a:spAutoFit/>
          </a:bodyPr>
          <a:lstStyle>
            <a:lvl1pPr algn="l">
              <a:lnSpc>
                <a:spcPct val="100000"/>
              </a:lnSpc>
              <a:defRPr sz="60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02" y="5503862"/>
            <a:ext cx="3836988" cy="338554"/>
          </a:xfrm>
          <a:prstGeom prst="rect">
            <a:avLst/>
          </a:prstGeom>
        </p:spPr>
        <p:txBody>
          <a:bodyPr anchor="t">
            <a:spAutoFit/>
          </a:bodyPr>
          <a:lstStyle>
            <a:lvl1pPr marL="0" indent="0" algn="l">
              <a:lnSpc>
                <a:spcPct val="100000"/>
              </a:lnSpc>
              <a:buNone/>
              <a:defRPr sz="16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692649" y="530518"/>
            <a:ext cx="0" cy="858252"/>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925152" y="777239"/>
            <a:ext cx="2083008" cy="512211"/>
          </a:xfrm>
          <a:prstGeom prst="rect">
            <a:avLst/>
          </a:prstGeom>
        </p:spPr>
        <p:txBody>
          <a:bodyPr anchor="b">
            <a:noAutofit/>
          </a:bodyPr>
          <a:lstStyle>
            <a:lvl1pPr marL="0" indent="0">
              <a:lnSpc>
                <a:spcPct val="100000"/>
              </a:lnSpc>
              <a:buNone/>
              <a:defRPr sz="1400">
                <a:solidFill>
                  <a:schemeClr val="bg1">
                    <a:lumMod val="65000"/>
                  </a:schemeClr>
                </a:solidFill>
              </a:defRPr>
            </a:lvl1pPr>
            <a:lvl5pPr marL="1828800" indent="0">
              <a:buNone/>
              <a:defRPr sz="1100"/>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cxnSp>
        <p:nvCxnSpPr>
          <p:cNvPr id="9" name="Straight Connector 8">
            <a:extLst>
              <a:ext uri="{FF2B5EF4-FFF2-40B4-BE49-F238E27FC236}">
                <a16:creationId xmlns:a16="http://schemas.microsoft.com/office/drawing/2014/main" id="{ADF58BF5-060E-41CE-B4F6-AD452B8CBEB1}"/>
              </a:ext>
            </a:extLst>
          </p:cNvPr>
          <p:cNvCxnSpPr>
            <a:cxnSpLocks/>
          </p:cNvCxnSpPr>
          <p:nvPr/>
        </p:nvCxnSpPr>
        <p:spPr>
          <a:xfrm>
            <a:off x="2692649" y="530518"/>
            <a:ext cx="0" cy="858252"/>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5049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solidFill>
                  <a:schemeClr val="tx1"/>
                </a:solidFill>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084269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650527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4" name="Rounded Rectangle 5">
            <a:extLst>
              <a:ext uri="{FF2B5EF4-FFF2-40B4-BE49-F238E27FC236}">
                <a16:creationId xmlns:a16="http://schemas.microsoft.com/office/drawing/2014/main" id="{29AD42BB-F603-4CF3-B02F-633CA4750C94}"/>
              </a:ext>
            </a:extLst>
          </p:cNvPr>
          <p:cNvSpPr/>
          <p:nvPr/>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7" name="Rounded Rectangle 5">
            <a:extLst>
              <a:ext uri="{FF2B5EF4-FFF2-40B4-BE49-F238E27FC236}">
                <a16:creationId xmlns:a16="http://schemas.microsoft.com/office/drawing/2014/main" id="{01E510D6-7806-4BF9-B764-E82AD8A226B0}"/>
              </a:ext>
            </a:extLst>
          </p:cNvPr>
          <p:cNvSpPr/>
          <p:nvPr/>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Title 1">
            <a:extLst>
              <a:ext uri="{FF2B5EF4-FFF2-40B4-BE49-F238E27FC236}">
                <a16:creationId xmlns:a16="http://schemas.microsoft.com/office/drawing/2014/main" id="{9D8480B1-FABD-4B84-A952-D39439686190}"/>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9" name="Rounded Rectangle 8">
            <a:extLst>
              <a:ext uri="{FF2B5EF4-FFF2-40B4-BE49-F238E27FC236}">
                <a16:creationId xmlns:a16="http://schemas.microsoft.com/office/drawing/2014/main" id="{FF64F3F1-8DBD-9E43-B0A3-EEB1C04C32F9}"/>
              </a:ext>
            </a:extLst>
          </p:cNvPr>
          <p:cNvSpPr/>
          <p:nvPr userDrawn="1"/>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518308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00" y="1465552"/>
            <a:ext cx="464697" cy="4335547"/>
          </a:xfrm>
          <a:prstGeom prst="rect">
            <a:avLst/>
          </a:prstGeom>
        </p:spPr>
        <p:txBody>
          <a:bodyPr vert="horz" lIns="0" tIns="0" rIns="0" bIns="93600" anchor="t" anchorCtr="0">
            <a:spAutoFit/>
          </a:bodyPr>
          <a:lstStyle>
            <a:lvl1pPr marL="0" indent="0">
              <a:lnSpc>
                <a:spcPts val="4800"/>
              </a:lnSpc>
              <a:spcBef>
                <a:spcPts val="0"/>
              </a:spcBef>
              <a:buNone/>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499869" y="1465552"/>
            <a:ext cx="9960293" cy="43355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6" name="Title 1">
            <a:extLst>
              <a:ext uri="{FF2B5EF4-FFF2-40B4-BE49-F238E27FC236}">
                <a16:creationId xmlns:a16="http://schemas.microsoft.com/office/drawing/2014/main" id="{9FE09E0A-4726-46B3-8784-5E39D04F9A8E}"/>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074222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
    <p:spTree>
      <p:nvGrpSpPr>
        <p:cNvPr id="1" name=""/>
        <p:cNvGrpSpPr/>
        <p:nvPr/>
      </p:nvGrpSpPr>
      <p:grpSpPr>
        <a:xfrm>
          <a:off x="0" y="0"/>
          <a:ext cx="0" cy="0"/>
          <a:chOff x="0" y="0"/>
          <a:chExt cx="0" cy="0"/>
        </a:xfrm>
      </p:grpSpPr>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604800" y="1465552"/>
            <a:ext cx="9463695" cy="4335547"/>
          </a:xfrm>
          <a:prstGeom prst="rect">
            <a:avLst/>
          </a:prstGeom>
        </p:spPr>
        <p:txBody>
          <a:bodyPr vert="horz" wrap="square" lIns="0" tIns="0" rIns="0" bIns="93600" anchor="t" anchorCtr="0">
            <a:spAutoFit/>
          </a:bodyPr>
          <a:lstStyle>
            <a:lvl1pPr marL="457200" marR="0" indent="-457200" algn="l" defTabSz="914400" rtl="0" eaLnBrk="1" fontAlgn="auto" latinLnBrk="0" hangingPunct="1">
              <a:lnSpc>
                <a:spcPts val="4800"/>
              </a:lnSpc>
              <a:spcBef>
                <a:spcPts val="0"/>
              </a:spcBef>
              <a:spcAft>
                <a:spcPts val="0"/>
              </a:spcAft>
              <a:buClrTx/>
              <a:buSzTx/>
              <a:buFont typeface="Arial" panose="020B0604020202020204" pitchFamily="34" charset="0"/>
              <a:buChar char="•"/>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p:txBody>
      </p:sp>
      <p:sp>
        <p:nvSpPr>
          <p:cNvPr id="4" name="Title 1">
            <a:extLst>
              <a:ext uri="{FF2B5EF4-FFF2-40B4-BE49-F238E27FC236}">
                <a16:creationId xmlns:a16="http://schemas.microsoft.com/office/drawing/2014/main" id="{875F7ADC-E340-4B7F-9B7D-69FB4C354227}"/>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783057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Divider Slide ">
    <p:bg>
      <p:bgPr>
        <a:solidFill>
          <a:schemeClr val="accent5">
            <a:lumMod val="60000"/>
            <a:lumOff val="4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F834B9B-74FE-4AF3-888B-F2F3A09DB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601133" y="4157815"/>
            <a:ext cx="10859030" cy="1569660"/>
          </a:xfrm>
          <a:prstGeom prst="rect">
            <a:avLst/>
          </a:prstGeom>
        </p:spPr>
        <p:txBody>
          <a:bodyPr wrap="square" anchor="b">
            <a:spAutoFit/>
          </a:bodyPr>
          <a:lstStyle>
            <a:lvl1pPr>
              <a:lnSpc>
                <a:spcPct val="100000"/>
              </a:lnSpc>
              <a:defRPr lang="en-IN" sz="48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34095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F834B9B-74FE-4AF3-888B-F2F3A09DB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601133" y="4161475"/>
            <a:ext cx="1794933" cy="1785104"/>
          </a:xfrm>
          <a:prstGeom prst="rect">
            <a:avLst/>
          </a:prstGeom>
        </p:spPr>
        <p:txBody>
          <a:bodyPr anchor="b">
            <a:spAutoFit/>
          </a:bodyPr>
          <a:lstStyle>
            <a:lvl1pPr marL="0" indent="0">
              <a:lnSpc>
                <a:spcPct val="100000"/>
              </a:lnSpc>
              <a:buNone/>
              <a:defRPr sz="11000" b="1">
                <a:solidFill>
                  <a:schemeClr val="bg1"/>
                </a:solidFill>
                <a:latin typeface="+mn-lt"/>
              </a:defRPr>
            </a:lvl1pPr>
            <a:lvl2pPr>
              <a:defRPr sz="11000" b="1"/>
            </a:lvl2pPr>
            <a:lvl3pPr>
              <a:defRPr sz="11000" b="1"/>
            </a:lvl3pPr>
            <a:lvl4pPr>
              <a:defRPr sz="11000" b="1"/>
            </a:lvl4pPr>
            <a:lvl5pPr>
              <a:defRPr sz="1100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2396067" y="4342480"/>
            <a:ext cx="9064096" cy="1384995"/>
          </a:xfrm>
          <a:prstGeom prst="rect">
            <a:avLst/>
          </a:prstGeom>
        </p:spPr>
        <p:txBody>
          <a:bodyPr wrap="square" anchor="b">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2006066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00" y="1633929"/>
            <a:ext cx="10737849" cy="3496872"/>
          </a:xfrm>
          <a:prstGeom prst="rect">
            <a:avLst/>
          </a:prstGeom>
        </p:spPr>
        <p:txBody>
          <a:bodyPr/>
          <a:lstStyle>
            <a:lvl1pPr>
              <a:lnSpc>
                <a:spcPct val="100000"/>
              </a:lnSpc>
              <a:spcBef>
                <a:spcPts val="600"/>
              </a:spcBef>
              <a:defRPr sz="1600"/>
            </a:lvl1pPr>
            <a:lvl2pPr marL="481013" indent="-228600">
              <a:lnSpc>
                <a:spcPct val="100000"/>
              </a:lnSpc>
              <a:spcBef>
                <a:spcPts val="600"/>
              </a:spcBef>
              <a:defRPr sz="1600"/>
            </a:lvl2pPr>
            <a:lvl3pPr marL="708025" indent="-228600">
              <a:lnSpc>
                <a:spcPct val="100000"/>
              </a:lnSpc>
              <a:spcBef>
                <a:spcPts val="600"/>
              </a:spcBef>
              <a:defRPr sz="1600"/>
            </a:lvl3pPr>
            <a:lvl4pPr marL="933450" indent="-228600">
              <a:lnSpc>
                <a:spcPct val="100000"/>
              </a:lnSpc>
              <a:spcBef>
                <a:spcPts val="600"/>
              </a:spcBef>
              <a:defRPr sz="1600"/>
            </a:lvl4pPr>
            <a:lvl5pPr marL="1130300" indent="-228600">
              <a:lnSpc>
                <a:spcPct val="100000"/>
              </a:lnSpc>
              <a:spcBef>
                <a:spcPts val="600"/>
              </a:spcBef>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615949" y="5527401"/>
            <a:ext cx="10088563" cy="338554"/>
          </a:xfrm>
          <a:prstGeom prst="rect">
            <a:avLst/>
          </a:prstGeom>
        </p:spPr>
        <p:txBody>
          <a:bodyPr anchor="b">
            <a:spAutoFit/>
          </a:bodyPr>
          <a:lstStyle>
            <a:lvl1pPr marL="0" indent="0" algn="l">
              <a:lnSpc>
                <a:spcPct val="100000"/>
              </a:lnSpc>
              <a:buNone/>
              <a:defRPr sz="160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643464" y="6212595"/>
            <a:ext cx="10855326" cy="246221"/>
          </a:xfrm>
          <a:prstGeom prst="rect">
            <a:avLst/>
          </a:prstGeom>
        </p:spPr>
        <p:txBody>
          <a:bodyPr anchor="b" anchorCtr="0">
            <a:spAutoFit/>
          </a:bodyPr>
          <a:lstStyle>
            <a:lvl1pPr marL="0" indent="0">
              <a:lnSpc>
                <a:spcPct val="100000"/>
              </a:lnSpc>
              <a:spcBef>
                <a:spcPts val="0"/>
              </a:spcBef>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643464" y="5966374"/>
            <a:ext cx="10855326" cy="246221"/>
          </a:xfrm>
          <a:prstGeom prst="rect">
            <a:avLst/>
          </a:prstGeom>
        </p:spPr>
        <p:txBody>
          <a:bodyPr anchor="b" anchorCtr="0">
            <a:spAutoFit/>
          </a:bodyPr>
          <a:lstStyle>
            <a:lvl1pPr marL="0" indent="0">
              <a:lnSpc>
                <a:spcPct val="100000"/>
              </a:lnSpc>
              <a:spcBef>
                <a:spcPts val="0"/>
              </a:spcBef>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Note/Footnote:</a:t>
            </a:r>
          </a:p>
        </p:txBody>
      </p:sp>
    </p:spTree>
    <p:extLst>
      <p:ext uri="{BB962C8B-B14F-4D97-AF65-F5344CB8AC3E}">
        <p14:creationId xmlns:p14="http://schemas.microsoft.com/office/powerpoint/2010/main" val="770555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0"/>
            <a:ext cx="12192000"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IMAGES</a:t>
            </a:r>
          </a:p>
        </p:txBody>
      </p:sp>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0" y="4165600"/>
            <a:ext cx="5303838" cy="2047875"/>
          </a:xfrm>
          <a:prstGeom prst="rect">
            <a:avLst/>
          </a:prstGeom>
          <a:solidFill>
            <a:schemeClr val="bg1">
              <a:lumMod val="85000"/>
              <a:alpha val="85000"/>
            </a:schemeClr>
          </a:solidFill>
        </p:spPr>
        <p:txBody>
          <a:bodyPr lIns="720000" anchor="ctr"/>
          <a:lstStyle>
            <a:lvl1pPr marL="0" indent="0">
              <a:lnSpc>
                <a:spcPct val="100000"/>
              </a:lnSpc>
              <a:buNone/>
              <a:defRPr sz="2700"/>
            </a:lvl1pPr>
          </a:lstStyle>
          <a:p>
            <a:pPr lvl="0"/>
            <a:r>
              <a:rPr lang="en-US"/>
              <a:t>Add this grey patch in 15% transparency over a full image for text to be visible </a:t>
            </a:r>
            <a:endParaRPr lang="en-IN"/>
          </a:p>
        </p:txBody>
      </p:sp>
    </p:spTree>
    <p:extLst>
      <p:ext uri="{BB962C8B-B14F-4D97-AF65-F5344CB8AC3E}">
        <p14:creationId xmlns:p14="http://schemas.microsoft.com/office/powerpoint/2010/main" val="261580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500"/>
            <a:ext cx="6075680" cy="63612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4645619"/>
            <a:ext cx="5120640" cy="1138773"/>
          </a:xfrm>
          <a:prstGeom prst="rect">
            <a:avLst/>
          </a:prstGeom>
          <a:solidFill>
            <a:schemeClr val="bg1">
              <a:lumMod val="85000"/>
              <a:alpha val="85000"/>
            </a:schemeClr>
          </a:solidFill>
        </p:spPr>
        <p:txBody>
          <a:bodyPr wrap="square" anchor="ctr">
            <a:spAutoFit/>
          </a:bodyPr>
          <a:lstStyle>
            <a:lvl1pPr marL="628650" indent="0" algn="l">
              <a:lnSpc>
                <a:spcPct val="100000"/>
              </a:lnSpc>
              <a:spcBef>
                <a:spcPts val="0"/>
              </a:spcBef>
              <a:buNone/>
              <a:defRPr sz="68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6117093" y="0"/>
            <a:ext cx="6074907"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823709" y="4676396"/>
            <a:ext cx="2296931" cy="1077218"/>
          </a:xfrm>
          <a:prstGeom prst="rect">
            <a:avLst/>
          </a:prstGeom>
          <a:noFill/>
        </p:spPr>
        <p:txBody>
          <a:bodyPr anchor="ctr">
            <a:spAutoFit/>
          </a:bodyPr>
          <a:lstStyle>
            <a:lvl1pPr marL="0" indent="0">
              <a:lnSpc>
                <a:spcPct val="100000"/>
              </a:lnSpc>
              <a:spcBef>
                <a:spcPts val="0"/>
              </a:spcBef>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a:t>Add this grey patch in 15% transparency over a full image for text to be visible </a:t>
            </a:r>
          </a:p>
        </p:txBody>
      </p:sp>
    </p:spTree>
    <p:extLst>
      <p:ext uri="{BB962C8B-B14F-4D97-AF65-F5344CB8AC3E}">
        <p14:creationId xmlns:p14="http://schemas.microsoft.com/office/powerpoint/2010/main" val="2720525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646" y="1163199"/>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608663" y="1204042"/>
            <a:ext cx="10862612" cy="492443"/>
          </a:xfrm>
          <a:prstGeom prst="rect">
            <a:avLst/>
          </a:prstGeom>
        </p:spPr>
        <p:txBody>
          <a:bodyPr>
            <a:spAutoFit/>
          </a:bodyPr>
          <a:lstStyle>
            <a:lvl1pPr marL="0" indent="0">
              <a:lnSpc>
                <a:spcPct val="100000"/>
              </a:lnSpc>
              <a:buNone/>
              <a:defRPr sz="2600" b="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734044" y="2744788"/>
            <a:ext cx="5350843"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6189118" y="2744788"/>
            <a:ext cx="5288310"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734044" y="1942706"/>
            <a:ext cx="10723912" cy="635890"/>
          </a:xfrm>
          <a:prstGeom prst="round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600" b="0">
                <a:solidFill>
                  <a:schemeClr val="accent2"/>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898933" y="2914425"/>
            <a:ext cx="5022000"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898933" y="3477929"/>
            <a:ext cx="5022000" cy="316113"/>
          </a:xfrm>
          <a:prstGeom prst="rect">
            <a:avLst/>
          </a:prstGeom>
        </p:spPr>
        <p:txBody>
          <a:bodyPr lIns="90000" tIns="46800" rIns="90000" bIns="46800" anchor="t">
            <a:spAutoFit/>
          </a:bodyPr>
          <a:lstStyle>
            <a:lvl1pPr marL="0" marR="0" indent="0" algn="l" defTabSz="914400" rtl="0" eaLnBrk="1" fontAlgn="auto" latinLnBrk="0" hangingPunct="1">
              <a:lnSpc>
                <a:spcPct val="100000"/>
              </a:lnSpc>
              <a:spcBef>
                <a:spcPts val="0"/>
              </a:spcBef>
              <a:spcAft>
                <a:spcPts val="0"/>
              </a:spcAft>
              <a:buClrTx/>
              <a:buSzTx/>
              <a:buFontTx/>
              <a:buNone/>
              <a:tabLst/>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6322273" y="3477929"/>
            <a:ext cx="5022000" cy="340735"/>
          </a:xfrm>
          <a:prstGeom prst="rect">
            <a:avLst/>
          </a:prstGeom>
        </p:spPr>
        <p:txBody>
          <a:bodyPr lIns="90000" tIns="46800" rIns="90000" bIns="46800"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6322273" y="2914425"/>
            <a:ext cx="5022000"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Supporting Teams &amp; Capabilities</a:t>
            </a:r>
            <a:endParaRPr lang="en-US"/>
          </a:p>
        </p:txBody>
      </p:sp>
      <p:cxnSp>
        <p:nvCxnSpPr>
          <p:cNvPr id="12" name="Straight Connector 11">
            <a:extLst>
              <a:ext uri="{FF2B5EF4-FFF2-40B4-BE49-F238E27FC236}">
                <a16:creationId xmlns:a16="http://schemas.microsoft.com/office/drawing/2014/main" id="{CB28166D-C7E7-47DD-B5A9-F6F50D7623E2}"/>
              </a:ext>
            </a:extLst>
          </p:cNvPr>
          <p:cNvCxnSpPr>
            <a:cxnSpLocks/>
          </p:cNvCxnSpPr>
          <p:nvPr/>
        </p:nvCxnSpPr>
        <p:spPr>
          <a:xfrm flipH="1" flipV="1">
            <a:off x="2185646" y="1163199"/>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3" name="Rounded Rectangle 22">
            <a:extLst>
              <a:ext uri="{FF2B5EF4-FFF2-40B4-BE49-F238E27FC236}">
                <a16:creationId xmlns:a16="http://schemas.microsoft.com/office/drawing/2014/main" id="{48180256-5F1D-4F70-B0E0-7ACE89FDA4EF}"/>
              </a:ext>
            </a:extLst>
          </p:cNvPr>
          <p:cNvSpPr/>
          <p:nvPr/>
        </p:nvSpPr>
        <p:spPr>
          <a:xfrm>
            <a:off x="734044" y="2744788"/>
            <a:ext cx="5350843"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14" name="Rounded Rectangle 23">
            <a:extLst>
              <a:ext uri="{FF2B5EF4-FFF2-40B4-BE49-F238E27FC236}">
                <a16:creationId xmlns:a16="http://schemas.microsoft.com/office/drawing/2014/main" id="{ED738861-7614-4722-92AF-B868EB9E5F3E}"/>
              </a:ext>
            </a:extLst>
          </p:cNvPr>
          <p:cNvSpPr/>
          <p:nvPr/>
        </p:nvSpPr>
        <p:spPr>
          <a:xfrm>
            <a:off x="6189118" y="2744788"/>
            <a:ext cx="5288310"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cxnSp>
        <p:nvCxnSpPr>
          <p:cNvPr id="15" name="Straight Connector 14">
            <a:extLst>
              <a:ext uri="{FF2B5EF4-FFF2-40B4-BE49-F238E27FC236}">
                <a16:creationId xmlns:a16="http://schemas.microsoft.com/office/drawing/2014/main" id="{06630095-89BA-4A93-8592-C91A754BDC0F}"/>
              </a:ext>
            </a:extLst>
          </p:cNvPr>
          <p:cNvCxnSpPr>
            <a:cxnSpLocks/>
          </p:cNvCxnSpPr>
          <p:nvPr/>
        </p:nvCxnSpPr>
        <p:spPr>
          <a:xfrm flipH="1" flipV="1">
            <a:off x="2185646" y="1163199"/>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6" name="Rounded Rectangle 22">
            <a:extLst>
              <a:ext uri="{FF2B5EF4-FFF2-40B4-BE49-F238E27FC236}">
                <a16:creationId xmlns:a16="http://schemas.microsoft.com/office/drawing/2014/main" id="{7B4E72F5-E66D-477D-932E-B2B42149079C}"/>
              </a:ext>
            </a:extLst>
          </p:cNvPr>
          <p:cNvSpPr/>
          <p:nvPr/>
        </p:nvSpPr>
        <p:spPr>
          <a:xfrm>
            <a:off x="734044" y="2744788"/>
            <a:ext cx="5350843"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17" name="Rounded Rectangle 23">
            <a:extLst>
              <a:ext uri="{FF2B5EF4-FFF2-40B4-BE49-F238E27FC236}">
                <a16:creationId xmlns:a16="http://schemas.microsoft.com/office/drawing/2014/main" id="{B229363C-E7B4-4ABE-80B3-ABECBDA753C3}"/>
              </a:ext>
            </a:extLst>
          </p:cNvPr>
          <p:cNvSpPr/>
          <p:nvPr/>
        </p:nvSpPr>
        <p:spPr>
          <a:xfrm>
            <a:off x="6189118" y="2744788"/>
            <a:ext cx="5288310"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08801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736940" y="3787661"/>
            <a:ext cx="10856450" cy="190211"/>
          </a:xfrm>
          <a:prstGeom prst="rightArrow">
            <a:avLst/>
          </a:prstGeom>
          <a:solidFill>
            <a:schemeClr val="bg1">
              <a:lumMod val="85000"/>
            </a:schemeClr>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91028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75396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59764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44132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8500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12868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9884430"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83212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67580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51948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36316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20684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5052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700050" y="1806043"/>
            <a:ext cx="1364400" cy="246221"/>
          </a:xfrm>
          <a:prstGeom prst="rect">
            <a:avLst/>
          </a:prstGeom>
        </p:spPr>
        <p:txBody>
          <a:bodyPr wrap="square"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22632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38264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53896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69528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85160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10079253"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4816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30448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46080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61712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77344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92976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6455886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604387" y="644525"/>
            <a:ext cx="5866888" cy="556895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621771" y="1971675"/>
            <a:ext cx="4815467" cy="2092881"/>
          </a:xfrm>
          <a:prstGeom prst="rect">
            <a:avLst/>
          </a:prstGeom>
        </p:spPr>
        <p:txBody>
          <a:bodyPr wrap="square">
            <a:spAutoFit/>
          </a:bodyPr>
          <a:lstStyle>
            <a:lvl1pPr marL="0" indent="0">
              <a:lnSpc>
                <a:spcPct val="100000"/>
              </a:lnSpc>
              <a:buNone/>
              <a:defRPr sz="2600" b="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615951" y="498665"/>
            <a:ext cx="4821288" cy="1200329"/>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6457753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734045"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6157383"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6282150" y="2190626"/>
            <a:ext cx="5015515"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58812" y="2190626"/>
            <a:ext cx="5015515"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58838" y="2819083"/>
            <a:ext cx="5014912" cy="1569660"/>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6282150" y="2819083"/>
            <a:ext cx="5014912" cy="1569660"/>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0" name="Rounded Rectangle 9">
            <a:extLst>
              <a:ext uri="{FF2B5EF4-FFF2-40B4-BE49-F238E27FC236}">
                <a16:creationId xmlns:a16="http://schemas.microsoft.com/office/drawing/2014/main" id="{CBCF0E34-519D-4547-8EF1-5C118DC13C1E}"/>
              </a:ext>
            </a:extLst>
          </p:cNvPr>
          <p:cNvSpPr/>
          <p:nvPr userDrawn="1"/>
        </p:nvSpPr>
        <p:spPr>
          <a:xfrm>
            <a:off x="734045"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1" name="Rounded Rectangle 10">
            <a:extLst>
              <a:ext uri="{FF2B5EF4-FFF2-40B4-BE49-F238E27FC236}">
                <a16:creationId xmlns:a16="http://schemas.microsoft.com/office/drawing/2014/main" id="{3AEE96CE-FCC6-834E-810C-C02DA27A72DD}"/>
              </a:ext>
            </a:extLst>
          </p:cNvPr>
          <p:cNvSpPr/>
          <p:nvPr userDrawn="1"/>
        </p:nvSpPr>
        <p:spPr>
          <a:xfrm>
            <a:off x="6157383"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3" name="Text Placeholder 2">
            <a:extLst>
              <a:ext uri="{FF2B5EF4-FFF2-40B4-BE49-F238E27FC236}">
                <a16:creationId xmlns:a16="http://schemas.microsoft.com/office/drawing/2014/main" id="{12CAF522-6D3A-344E-AD41-8381924FB3F3}"/>
              </a:ext>
            </a:extLst>
          </p:cNvPr>
          <p:cNvSpPr>
            <a:spLocks noGrp="1"/>
          </p:cNvSpPr>
          <p:nvPr>
            <p:ph type="body" sz="quarter" idx="14" hasCustomPrompt="1"/>
          </p:nvPr>
        </p:nvSpPr>
        <p:spPr>
          <a:xfrm>
            <a:off x="858812" y="2190626"/>
            <a:ext cx="5015515"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one line</a:t>
            </a:r>
            <a:endParaRPr lang="en-US"/>
          </a:p>
        </p:txBody>
      </p:sp>
    </p:spTree>
    <p:extLst>
      <p:ext uri="{BB962C8B-B14F-4D97-AF65-F5344CB8AC3E}">
        <p14:creationId xmlns:p14="http://schemas.microsoft.com/office/powerpoint/2010/main" val="4231151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4394962"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4514882" y="2134110"/>
            <a:ext cx="3059882" cy="892552"/>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4514882"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727075"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832005" y="2134110"/>
            <a:ext cx="3059882" cy="892552"/>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832005"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8062850"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8167780" y="2134110"/>
            <a:ext cx="3059882" cy="892552"/>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8167780"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4813586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712788"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3430049"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6135327"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8846136"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34941" y="2181061"/>
            <a:ext cx="2369721" cy="830997"/>
          </a:xfrm>
          <a:prstGeom prst="rect">
            <a:avLst/>
          </a:prstGeom>
        </p:spPr>
        <p:txBody>
          <a:bodyPr anchor="b">
            <a:spAutoFit/>
          </a:bodyPr>
          <a:lstStyle>
            <a:lvl1pPr marL="0" indent="0" algn="l">
              <a:lnSpc>
                <a:spcPct val="100000"/>
              </a:lnSpc>
              <a:buNone/>
              <a:defRPr sz="24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34956"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3552202" y="2181061"/>
            <a:ext cx="2369721" cy="830997"/>
          </a:xfrm>
          <a:prstGeom prst="rect">
            <a:avLst/>
          </a:prstGeom>
        </p:spPr>
        <p:txBody>
          <a:bodyPr anchor="b">
            <a:spAutoFit/>
          </a:bodyPr>
          <a:lstStyle>
            <a:lvl1pPr marL="0" indent="0" algn="l">
              <a:lnSpc>
                <a:spcPct val="100000"/>
              </a:lnSpc>
              <a:buNone/>
              <a:defRPr sz="24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3552217"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6257480" y="2181061"/>
            <a:ext cx="2369721" cy="830997"/>
          </a:xfrm>
          <a:prstGeom prst="rect">
            <a:avLst/>
          </a:prstGeom>
        </p:spPr>
        <p:txBody>
          <a:bodyPr anchor="b">
            <a:spAutoFit/>
          </a:bodyPr>
          <a:lstStyle>
            <a:lvl1pPr marL="0" indent="0" algn="l">
              <a:lnSpc>
                <a:spcPct val="100000"/>
              </a:lnSpc>
              <a:buNone/>
              <a:defRPr sz="24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6257495"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8968289" y="2181061"/>
            <a:ext cx="2369721" cy="830997"/>
          </a:xfrm>
          <a:prstGeom prst="rect">
            <a:avLst/>
          </a:prstGeom>
        </p:spPr>
        <p:txBody>
          <a:bodyPr anchor="b">
            <a:spAutoFit/>
          </a:bodyPr>
          <a:lstStyle>
            <a:lvl1pPr marL="0" indent="0" algn="l">
              <a:lnSpc>
                <a:spcPct val="100000"/>
              </a:lnSpc>
              <a:buNone/>
              <a:defRPr sz="24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8968304"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4076235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711200"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876717"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5042234"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7207751"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9373267"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818612"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18612" y="2138509"/>
            <a:ext cx="1872073"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984129"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984129" y="2138509"/>
            <a:ext cx="1872073"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5149646"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5149646" y="2138509"/>
            <a:ext cx="1872073"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7315163"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7315163" y="2138509"/>
            <a:ext cx="1872073"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9480679"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9480679" y="2138509"/>
            <a:ext cx="1872073"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767087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4384674"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8051700"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727074"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843742" y="4248873"/>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858838"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4384674"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4501342" y="4248873"/>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4516438"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8051700"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8168368" y="4248873"/>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8183464"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727074"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843742" y="2052427"/>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858838"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4501342" y="2052427"/>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4516438"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8168368" y="2052427"/>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8183464"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0750069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75275" y="644525"/>
            <a:ext cx="6096000" cy="556895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621772" y="1971675"/>
            <a:ext cx="3926416" cy="1692771"/>
          </a:xfrm>
          <a:prstGeom prst="rect">
            <a:avLst/>
          </a:prstGeom>
        </p:spPr>
        <p:txBody>
          <a:bodyPr>
            <a:spAutoFit/>
          </a:bodyPr>
          <a:lstStyle>
            <a:lvl1pPr marL="0" indent="0" algn="l">
              <a:lnSpc>
                <a:spcPct val="100000"/>
              </a:lnSpc>
              <a:buNone/>
              <a:defRPr sz="2600"/>
            </a:lvl1pPr>
            <a:lvl2pPr marL="457200" indent="0">
              <a:buNone/>
              <a:defRPr/>
            </a:lvl2pPr>
            <a:lvl3pPr marL="914400" indent="0">
              <a:buNone/>
              <a:defRPr/>
            </a:lvl3pPr>
            <a:lvl4pPr marL="1371600" indent="0">
              <a:buNone/>
              <a:defRPr/>
            </a:lvl4pPr>
            <a:lvl5pPr marL="1828800"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18932255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035300" y="1971675"/>
            <a:ext cx="8435975" cy="424180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621772" y="1971675"/>
            <a:ext cx="2273828" cy="1292662"/>
          </a:xfrm>
          <a:prstGeom prst="rect">
            <a:avLst/>
          </a:prstGeom>
        </p:spPr>
        <p:txBody>
          <a:bodyPr wrap="square">
            <a:spAutoFit/>
          </a:bodyPr>
          <a:lstStyle>
            <a:lvl1pPr marL="0" indent="0" algn="l">
              <a:lnSpc>
                <a:spcPct val="100000"/>
              </a:lnSpc>
              <a:buNone/>
              <a:defRPr sz="2600"/>
            </a:lvl1pPr>
            <a:lvl2pPr marL="457200" indent="0">
              <a:buNone/>
              <a:defRPr/>
            </a:lvl2pPr>
            <a:lvl3pPr marL="914400" indent="0">
              <a:buNone/>
              <a:defRPr/>
            </a:lvl3pPr>
            <a:lvl4pPr marL="1371600" indent="0">
              <a:buNone/>
              <a:defRPr/>
            </a:lvl4pPr>
            <a:lvl5pPr marL="1828800"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3579737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711200" y="2229957"/>
            <a:ext cx="10760075" cy="3983518"/>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621773" y="1619428"/>
            <a:ext cx="10849502" cy="492443"/>
          </a:xfrm>
          <a:prstGeom prst="rect">
            <a:avLst/>
          </a:prstGeom>
        </p:spPr>
        <p:txBody>
          <a:bodyPr wrap="square">
            <a:spAutoFit/>
          </a:bodyPr>
          <a:lstStyle>
            <a:lvl1pPr>
              <a:defRPr lang="en-IN" sz="2600" b="0" i="0" dirty="0">
                <a:latin typeface="+mn-lt"/>
                <a:ea typeface="+mn-ea"/>
                <a:cs typeface="+mn-cs"/>
              </a:defRPr>
            </a:lvl1pPr>
          </a:lstStyle>
          <a:p>
            <a:pPr marL="0" lvl="0" indent="0">
              <a:lnSpc>
                <a:spcPct val="100000"/>
              </a:lnSpc>
              <a:spcBef>
                <a:spcPts val="100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4739080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AB0FD3F0-CADA-2A43-A855-218DC961FA55}"/>
              </a:ext>
            </a:extLst>
          </p:cNvPr>
          <p:cNvSpPr/>
          <p:nvPr/>
        </p:nvSpPr>
        <p:spPr>
          <a:xfrm>
            <a:off x="717443" y="1645077"/>
            <a:ext cx="3780000" cy="457315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771230" y="1805000"/>
            <a:ext cx="3594184" cy="400110"/>
          </a:xfrm>
          <a:prstGeom prst="rect">
            <a:avLst/>
          </a:prstGeom>
        </p:spPr>
        <p:txBody>
          <a:bodyPr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Business challenge</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4610223" y="1645077"/>
            <a:ext cx="6897086" cy="457315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771230" y="2299759"/>
            <a:ext cx="359418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4664010" y="2299759"/>
            <a:ext cx="6623422" cy="523220"/>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595120" y="450748"/>
            <a:ext cx="9912189"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717443" y="415138"/>
            <a:ext cx="797186" cy="717551"/>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15" name="Group 14">
            <a:extLst>
              <a:ext uri="{FF2B5EF4-FFF2-40B4-BE49-F238E27FC236}">
                <a16:creationId xmlns:a16="http://schemas.microsoft.com/office/drawing/2014/main" id="{B91E0E1A-3A8D-4150-A2DF-6D52C4DFCC6A}"/>
              </a:ext>
            </a:extLst>
          </p:cNvPr>
          <p:cNvGrpSpPr/>
          <p:nvPr/>
        </p:nvGrpSpPr>
        <p:grpSpPr>
          <a:xfrm>
            <a:off x="717443" y="415138"/>
            <a:ext cx="797186" cy="717551"/>
            <a:chOff x="644873" y="545729"/>
            <a:chExt cx="797186" cy="717551"/>
          </a:xfrm>
        </p:grpSpPr>
        <p:sp>
          <p:nvSpPr>
            <p:cNvPr id="21" name="Rectangle: Rounded Corners 20">
              <a:extLst>
                <a:ext uri="{FF2B5EF4-FFF2-40B4-BE49-F238E27FC236}">
                  <a16:creationId xmlns:a16="http://schemas.microsoft.com/office/drawing/2014/main" id="{CA1F8EF1-9CA5-42AD-BA2E-2480B7919576}"/>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22" name="Graphic 24">
              <a:extLst>
                <a:ext uri="{FF2B5EF4-FFF2-40B4-BE49-F238E27FC236}">
                  <a16:creationId xmlns:a16="http://schemas.microsoft.com/office/drawing/2014/main" id="{64FBF442-F882-4921-B0C9-40FE1E558971}"/>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25" name="Group 24">
            <a:extLst>
              <a:ext uri="{FF2B5EF4-FFF2-40B4-BE49-F238E27FC236}">
                <a16:creationId xmlns:a16="http://schemas.microsoft.com/office/drawing/2014/main" id="{F8EF8278-D8DA-4A50-9DC5-65BA545F80BE}"/>
              </a:ext>
            </a:extLst>
          </p:cNvPr>
          <p:cNvGrpSpPr/>
          <p:nvPr/>
        </p:nvGrpSpPr>
        <p:grpSpPr>
          <a:xfrm>
            <a:off x="717443" y="415138"/>
            <a:ext cx="797186" cy="717551"/>
            <a:chOff x="644873" y="545729"/>
            <a:chExt cx="797186" cy="717551"/>
          </a:xfrm>
        </p:grpSpPr>
        <p:sp>
          <p:nvSpPr>
            <p:cNvPr id="27" name="Rectangle: Rounded Corners 26">
              <a:extLst>
                <a:ext uri="{FF2B5EF4-FFF2-40B4-BE49-F238E27FC236}">
                  <a16:creationId xmlns:a16="http://schemas.microsoft.com/office/drawing/2014/main" id="{EE870EAE-D6C5-48C4-88AE-6164CF86B02A}"/>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29" name="Graphic 24">
              <a:extLst>
                <a:ext uri="{FF2B5EF4-FFF2-40B4-BE49-F238E27FC236}">
                  <a16:creationId xmlns:a16="http://schemas.microsoft.com/office/drawing/2014/main" id="{59165A41-94C4-4BE3-8298-E0C5B43D2F9D}"/>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sp>
        <p:nvSpPr>
          <p:cNvPr id="23" name="Text Placeholder 3">
            <a:extLst>
              <a:ext uri="{FF2B5EF4-FFF2-40B4-BE49-F238E27FC236}">
                <a16:creationId xmlns:a16="http://schemas.microsoft.com/office/drawing/2014/main" id="{5E24A7ED-FCC3-493B-B6BC-CFCB62A8A084}"/>
              </a:ext>
            </a:extLst>
          </p:cNvPr>
          <p:cNvSpPr>
            <a:spLocks noGrp="1"/>
          </p:cNvSpPr>
          <p:nvPr>
            <p:ph type="body" sz="half" idx="20" hasCustomPrompt="1"/>
          </p:nvPr>
        </p:nvSpPr>
        <p:spPr>
          <a:xfrm>
            <a:off x="4664009" y="1805000"/>
            <a:ext cx="6696082"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Solution</a:t>
            </a:r>
          </a:p>
        </p:txBody>
      </p:sp>
    </p:spTree>
    <p:extLst>
      <p:ext uri="{BB962C8B-B14F-4D97-AF65-F5344CB8AC3E}">
        <p14:creationId xmlns:p14="http://schemas.microsoft.com/office/powerpoint/2010/main" val="5359799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715226" y="648969"/>
            <a:ext cx="5302250" cy="274351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6122055" y="649288"/>
            <a:ext cx="5302250"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715226" y="3468369"/>
            <a:ext cx="5302250"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840730" y="1334079"/>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6247559" y="1342281"/>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840730" y="4161362"/>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6122055" y="3468369"/>
            <a:ext cx="5302250" cy="2743200"/>
          </a:xfrm>
          <a:prstGeom prst="roundRect">
            <a:avLst>
              <a:gd name="adj" fmla="val 5333"/>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840730" y="808898"/>
            <a:ext cx="5064783" cy="400110"/>
          </a:xfrm>
          <a:prstGeom prst="rect">
            <a:avLst/>
          </a:prstGeom>
        </p:spPr>
        <p:txBody>
          <a:bodyPr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Insight</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6247559" y="821507"/>
            <a:ext cx="5064783" cy="400110"/>
          </a:xfrm>
          <a:prstGeom prst="rect">
            <a:avLst/>
          </a:prstGeom>
        </p:spPr>
        <p:txBody>
          <a:bodyPr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Impact</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840730" y="3640588"/>
            <a:ext cx="5064783" cy="400110"/>
          </a:xfrm>
          <a:prstGeom prst="rect">
            <a:avLst/>
          </a:prstGeom>
        </p:spPr>
        <p:txBody>
          <a:bodyPr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Innovation</a:t>
            </a:r>
          </a:p>
        </p:txBody>
      </p:sp>
    </p:spTree>
    <p:extLst>
      <p:ext uri="{BB962C8B-B14F-4D97-AF65-F5344CB8AC3E}">
        <p14:creationId xmlns:p14="http://schemas.microsoft.com/office/powerpoint/2010/main" val="23161922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120" y="450748"/>
            <a:ext cx="9912189"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443" y="415138"/>
            <a:ext cx="797186"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6" name="Group 5">
            <a:extLst>
              <a:ext uri="{FF2B5EF4-FFF2-40B4-BE49-F238E27FC236}">
                <a16:creationId xmlns:a16="http://schemas.microsoft.com/office/drawing/2014/main" id="{C48FB030-72DB-42ED-B79D-558E9191B110}"/>
              </a:ext>
            </a:extLst>
          </p:cNvPr>
          <p:cNvGrpSpPr/>
          <p:nvPr/>
        </p:nvGrpSpPr>
        <p:grpSpPr>
          <a:xfrm>
            <a:off x="717443" y="415138"/>
            <a:ext cx="797186" cy="717551"/>
            <a:chOff x="644873" y="545729"/>
            <a:chExt cx="797186" cy="717551"/>
          </a:xfrm>
        </p:grpSpPr>
        <p:sp>
          <p:nvSpPr>
            <p:cNvPr id="10" name="Rectangle: Rounded Corners 9">
              <a:extLst>
                <a:ext uri="{FF2B5EF4-FFF2-40B4-BE49-F238E27FC236}">
                  <a16:creationId xmlns:a16="http://schemas.microsoft.com/office/drawing/2014/main" id="{59B9F003-0551-4588-A93C-17086D0786C0}"/>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1" name="Graphic 24">
              <a:extLst>
                <a:ext uri="{FF2B5EF4-FFF2-40B4-BE49-F238E27FC236}">
                  <a16:creationId xmlns:a16="http://schemas.microsoft.com/office/drawing/2014/main" id="{14D54EA2-B8A9-4331-9C40-56402C191171}"/>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12" name="Group 11">
            <a:extLst>
              <a:ext uri="{FF2B5EF4-FFF2-40B4-BE49-F238E27FC236}">
                <a16:creationId xmlns:a16="http://schemas.microsoft.com/office/drawing/2014/main" id="{8F7A18ED-837D-486A-A56F-A650E29EA0EC}"/>
              </a:ext>
            </a:extLst>
          </p:cNvPr>
          <p:cNvGrpSpPr/>
          <p:nvPr/>
        </p:nvGrpSpPr>
        <p:grpSpPr>
          <a:xfrm>
            <a:off x="717443" y="415138"/>
            <a:ext cx="797186" cy="717551"/>
            <a:chOff x="644873" y="545729"/>
            <a:chExt cx="797186" cy="717551"/>
          </a:xfrm>
        </p:grpSpPr>
        <p:sp>
          <p:nvSpPr>
            <p:cNvPr id="14" name="Rectangle: Rounded Corners 13">
              <a:extLst>
                <a:ext uri="{FF2B5EF4-FFF2-40B4-BE49-F238E27FC236}">
                  <a16:creationId xmlns:a16="http://schemas.microsoft.com/office/drawing/2014/main" id="{E7046CE8-F865-4F61-AF6F-EF186AFE99E6}"/>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5" name="Graphic 24">
              <a:extLst>
                <a:ext uri="{FF2B5EF4-FFF2-40B4-BE49-F238E27FC236}">
                  <a16:creationId xmlns:a16="http://schemas.microsoft.com/office/drawing/2014/main" id="{1239F92C-00EE-4B73-BAC9-31155BEA0760}"/>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5464533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Case study blank">
    <p:bg>
      <p:bgPr>
        <a:solidFill>
          <a:schemeClr val="bg1">
            <a:lumMod val="95000"/>
          </a:schemeClr>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120" y="450748"/>
            <a:ext cx="9912189"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443" y="415138"/>
            <a:ext cx="797186"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6" name="Group 5">
            <a:extLst>
              <a:ext uri="{FF2B5EF4-FFF2-40B4-BE49-F238E27FC236}">
                <a16:creationId xmlns:a16="http://schemas.microsoft.com/office/drawing/2014/main" id="{C48FB030-72DB-42ED-B79D-558E9191B110}"/>
              </a:ext>
            </a:extLst>
          </p:cNvPr>
          <p:cNvGrpSpPr/>
          <p:nvPr/>
        </p:nvGrpSpPr>
        <p:grpSpPr>
          <a:xfrm>
            <a:off x="717443" y="415138"/>
            <a:ext cx="797186" cy="717551"/>
            <a:chOff x="644873" y="545729"/>
            <a:chExt cx="797186" cy="717551"/>
          </a:xfrm>
        </p:grpSpPr>
        <p:sp>
          <p:nvSpPr>
            <p:cNvPr id="10" name="Rectangle: Rounded Corners 9">
              <a:extLst>
                <a:ext uri="{FF2B5EF4-FFF2-40B4-BE49-F238E27FC236}">
                  <a16:creationId xmlns:a16="http://schemas.microsoft.com/office/drawing/2014/main" id="{59B9F003-0551-4588-A93C-17086D0786C0}"/>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1" name="Graphic 24">
              <a:extLst>
                <a:ext uri="{FF2B5EF4-FFF2-40B4-BE49-F238E27FC236}">
                  <a16:creationId xmlns:a16="http://schemas.microsoft.com/office/drawing/2014/main" id="{14D54EA2-B8A9-4331-9C40-56402C191171}"/>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12" name="Group 11">
            <a:extLst>
              <a:ext uri="{FF2B5EF4-FFF2-40B4-BE49-F238E27FC236}">
                <a16:creationId xmlns:a16="http://schemas.microsoft.com/office/drawing/2014/main" id="{32008AB8-4A78-4D5C-B916-864CE1E7EE2A}"/>
              </a:ext>
            </a:extLst>
          </p:cNvPr>
          <p:cNvGrpSpPr/>
          <p:nvPr/>
        </p:nvGrpSpPr>
        <p:grpSpPr>
          <a:xfrm>
            <a:off x="717443" y="415138"/>
            <a:ext cx="797186" cy="717551"/>
            <a:chOff x="644873" y="545729"/>
            <a:chExt cx="797186" cy="717551"/>
          </a:xfrm>
        </p:grpSpPr>
        <p:sp>
          <p:nvSpPr>
            <p:cNvPr id="14" name="Rectangle: Rounded Corners 13">
              <a:extLst>
                <a:ext uri="{FF2B5EF4-FFF2-40B4-BE49-F238E27FC236}">
                  <a16:creationId xmlns:a16="http://schemas.microsoft.com/office/drawing/2014/main" id="{F964AF41-16C8-45D3-9A70-5F79EC35FCFD}"/>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5" name="Graphic 24">
              <a:extLst>
                <a:ext uri="{FF2B5EF4-FFF2-40B4-BE49-F238E27FC236}">
                  <a16:creationId xmlns:a16="http://schemas.microsoft.com/office/drawing/2014/main" id="{E6BA23CC-408A-429B-9488-FC0A0AA8CF0F}"/>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23197400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Case study old 3i">
    <p:bg>
      <p:bgPr>
        <a:solidFill>
          <a:schemeClr val="bg1">
            <a:lumMod val="95000"/>
          </a:schemeClr>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120" y="450748"/>
            <a:ext cx="9912189"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443" y="415138"/>
            <a:ext cx="797186"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6" name="Group 5">
            <a:extLst>
              <a:ext uri="{FF2B5EF4-FFF2-40B4-BE49-F238E27FC236}">
                <a16:creationId xmlns:a16="http://schemas.microsoft.com/office/drawing/2014/main" id="{C48FB030-72DB-42ED-B79D-558E9191B110}"/>
              </a:ext>
            </a:extLst>
          </p:cNvPr>
          <p:cNvGrpSpPr/>
          <p:nvPr/>
        </p:nvGrpSpPr>
        <p:grpSpPr>
          <a:xfrm>
            <a:off x="717443" y="415138"/>
            <a:ext cx="797186" cy="717551"/>
            <a:chOff x="644873" y="545729"/>
            <a:chExt cx="797186" cy="717551"/>
          </a:xfrm>
        </p:grpSpPr>
        <p:sp>
          <p:nvSpPr>
            <p:cNvPr id="10" name="Rectangle: Rounded Corners 9">
              <a:extLst>
                <a:ext uri="{FF2B5EF4-FFF2-40B4-BE49-F238E27FC236}">
                  <a16:creationId xmlns:a16="http://schemas.microsoft.com/office/drawing/2014/main" id="{59B9F003-0551-4588-A93C-17086D0786C0}"/>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1" name="Graphic 24">
              <a:extLst>
                <a:ext uri="{FF2B5EF4-FFF2-40B4-BE49-F238E27FC236}">
                  <a16:creationId xmlns:a16="http://schemas.microsoft.com/office/drawing/2014/main" id="{14D54EA2-B8A9-4331-9C40-56402C191171}"/>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12" name="Group 11">
            <a:extLst>
              <a:ext uri="{FF2B5EF4-FFF2-40B4-BE49-F238E27FC236}">
                <a16:creationId xmlns:a16="http://schemas.microsoft.com/office/drawing/2014/main" id="{32008AB8-4A78-4D5C-B916-864CE1E7EE2A}"/>
              </a:ext>
            </a:extLst>
          </p:cNvPr>
          <p:cNvGrpSpPr/>
          <p:nvPr/>
        </p:nvGrpSpPr>
        <p:grpSpPr>
          <a:xfrm>
            <a:off x="717443" y="415138"/>
            <a:ext cx="797186" cy="717551"/>
            <a:chOff x="644873" y="545729"/>
            <a:chExt cx="797186" cy="717551"/>
          </a:xfrm>
        </p:grpSpPr>
        <p:sp>
          <p:nvSpPr>
            <p:cNvPr id="14" name="Rectangle: Rounded Corners 13">
              <a:extLst>
                <a:ext uri="{FF2B5EF4-FFF2-40B4-BE49-F238E27FC236}">
                  <a16:creationId xmlns:a16="http://schemas.microsoft.com/office/drawing/2014/main" id="{F964AF41-16C8-45D3-9A70-5F79EC35FCFD}"/>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5" name="Graphic 24">
              <a:extLst>
                <a:ext uri="{FF2B5EF4-FFF2-40B4-BE49-F238E27FC236}">
                  <a16:creationId xmlns:a16="http://schemas.microsoft.com/office/drawing/2014/main" id="{E6BA23CC-408A-429B-9488-FC0A0AA8CF0F}"/>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sp>
        <p:nvSpPr>
          <p:cNvPr id="16" name="Rounded Rectangle 15">
            <a:extLst>
              <a:ext uri="{FF2B5EF4-FFF2-40B4-BE49-F238E27FC236}">
                <a16:creationId xmlns:a16="http://schemas.microsoft.com/office/drawing/2014/main" id="{07B9104E-9B28-4ABE-B863-156577732F85}"/>
              </a:ext>
            </a:extLst>
          </p:cNvPr>
          <p:cNvSpPr/>
          <p:nvPr/>
        </p:nvSpPr>
        <p:spPr>
          <a:xfrm>
            <a:off x="717442" y="1253192"/>
            <a:ext cx="3501791" cy="2488384"/>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17" name="Text Placeholder 3">
            <a:extLst>
              <a:ext uri="{FF2B5EF4-FFF2-40B4-BE49-F238E27FC236}">
                <a16:creationId xmlns:a16="http://schemas.microsoft.com/office/drawing/2014/main" id="{8510A30F-21AF-42C7-BD74-0FBFF69D507C}"/>
              </a:ext>
            </a:extLst>
          </p:cNvPr>
          <p:cNvSpPr>
            <a:spLocks noGrp="1"/>
          </p:cNvSpPr>
          <p:nvPr>
            <p:ph type="body" sz="half" idx="13" hasCustomPrompt="1"/>
          </p:nvPr>
        </p:nvSpPr>
        <p:spPr>
          <a:xfrm>
            <a:off x="827214" y="1413114"/>
            <a:ext cx="3249804"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Business challenge</a:t>
            </a:r>
          </a:p>
        </p:txBody>
      </p:sp>
      <p:sp>
        <p:nvSpPr>
          <p:cNvPr id="18" name="Rounded Rectangle 27">
            <a:extLst>
              <a:ext uri="{FF2B5EF4-FFF2-40B4-BE49-F238E27FC236}">
                <a16:creationId xmlns:a16="http://schemas.microsoft.com/office/drawing/2014/main" id="{1A309A70-CF0E-42E5-9CD2-88EC85ECD016}"/>
              </a:ext>
            </a:extLst>
          </p:cNvPr>
          <p:cNvSpPr/>
          <p:nvPr/>
        </p:nvSpPr>
        <p:spPr>
          <a:xfrm>
            <a:off x="4329004" y="1253192"/>
            <a:ext cx="7155181" cy="2488384"/>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19" name="Text Placeholder 13">
            <a:extLst>
              <a:ext uri="{FF2B5EF4-FFF2-40B4-BE49-F238E27FC236}">
                <a16:creationId xmlns:a16="http://schemas.microsoft.com/office/drawing/2014/main" id="{CAB6CA51-D6BD-410B-920A-C6D379A82B7B}"/>
              </a:ext>
            </a:extLst>
          </p:cNvPr>
          <p:cNvSpPr>
            <a:spLocks noGrp="1"/>
          </p:cNvSpPr>
          <p:nvPr>
            <p:ph type="body" sz="quarter" idx="18" hasCustomPrompt="1"/>
          </p:nvPr>
        </p:nvSpPr>
        <p:spPr>
          <a:xfrm>
            <a:off x="827213" y="1907873"/>
            <a:ext cx="324980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0" name="Text Placeholder 13">
            <a:extLst>
              <a:ext uri="{FF2B5EF4-FFF2-40B4-BE49-F238E27FC236}">
                <a16:creationId xmlns:a16="http://schemas.microsoft.com/office/drawing/2014/main" id="{2ED65498-36DB-4DB9-AF26-EF094707B32E}"/>
              </a:ext>
            </a:extLst>
          </p:cNvPr>
          <p:cNvSpPr>
            <a:spLocks noGrp="1"/>
          </p:cNvSpPr>
          <p:nvPr>
            <p:ph type="body" sz="quarter" idx="19" hasCustomPrompt="1"/>
          </p:nvPr>
        </p:nvSpPr>
        <p:spPr>
          <a:xfrm>
            <a:off x="4471098" y="1907873"/>
            <a:ext cx="6881999" cy="523220"/>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1" name="Text Placeholder 3">
            <a:extLst>
              <a:ext uri="{FF2B5EF4-FFF2-40B4-BE49-F238E27FC236}">
                <a16:creationId xmlns:a16="http://schemas.microsoft.com/office/drawing/2014/main" id="{522BDA3A-862B-471C-A0C5-917D01CE5691}"/>
              </a:ext>
            </a:extLst>
          </p:cNvPr>
          <p:cNvSpPr>
            <a:spLocks noGrp="1"/>
          </p:cNvSpPr>
          <p:nvPr>
            <p:ph type="body" sz="half" idx="20" hasCustomPrompt="1"/>
          </p:nvPr>
        </p:nvSpPr>
        <p:spPr>
          <a:xfrm>
            <a:off x="4471098" y="1413114"/>
            <a:ext cx="6881999"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Solution</a:t>
            </a:r>
          </a:p>
        </p:txBody>
      </p:sp>
      <p:sp>
        <p:nvSpPr>
          <p:cNvPr id="24" name="Rounded Rectangle 15">
            <a:extLst>
              <a:ext uri="{FF2B5EF4-FFF2-40B4-BE49-F238E27FC236}">
                <a16:creationId xmlns:a16="http://schemas.microsoft.com/office/drawing/2014/main" id="{8F34606D-8C27-4D9F-AEBF-C9B8B5C03307}"/>
              </a:ext>
            </a:extLst>
          </p:cNvPr>
          <p:cNvSpPr/>
          <p:nvPr/>
        </p:nvSpPr>
        <p:spPr>
          <a:xfrm>
            <a:off x="717442" y="3856432"/>
            <a:ext cx="3501791" cy="2488384"/>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5" name="Text Placeholder 3">
            <a:extLst>
              <a:ext uri="{FF2B5EF4-FFF2-40B4-BE49-F238E27FC236}">
                <a16:creationId xmlns:a16="http://schemas.microsoft.com/office/drawing/2014/main" id="{7D4E4EC4-C299-40B0-BC19-D44A2BF96994}"/>
              </a:ext>
            </a:extLst>
          </p:cNvPr>
          <p:cNvSpPr>
            <a:spLocks noGrp="1"/>
          </p:cNvSpPr>
          <p:nvPr>
            <p:ph type="body" sz="half" idx="21" hasCustomPrompt="1"/>
          </p:nvPr>
        </p:nvSpPr>
        <p:spPr>
          <a:xfrm>
            <a:off x="827213" y="4016354"/>
            <a:ext cx="3249804"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Insight</a:t>
            </a:r>
          </a:p>
        </p:txBody>
      </p:sp>
      <p:sp>
        <p:nvSpPr>
          <p:cNvPr id="26" name="Rounded Rectangle 27">
            <a:extLst>
              <a:ext uri="{FF2B5EF4-FFF2-40B4-BE49-F238E27FC236}">
                <a16:creationId xmlns:a16="http://schemas.microsoft.com/office/drawing/2014/main" id="{5F8443C8-0902-4AE1-A24E-522298049980}"/>
              </a:ext>
            </a:extLst>
          </p:cNvPr>
          <p:cNvSpPr/>
          <p:nvPr/>
        </p:nvSpPr>
        <p:spPr>
          <a:xfrm>
            <a:off x="4349918" y="3856432"/>
            <a:ext cx="3501791" cy="2488384"/>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7" name="Text Placeholder 13">
            <a:extLst>
              <a:ext uri="{FF2B5EF4-FFF2-40B4-BE49-F238E27FC236}">
                <a16:creationId xmlns:a16="http://schemas.microsoft.com/office/drawing/2014/main" id="{6C0EBB09-94A2-4A8B-8FDE-A15E2D4BF3FB}"/>
              </a:ext>
            </a:extLst>
          </p:cNvPr>
          <p:cNvSpPr>
            <a:spLocks noGrp="1"/>
          </p:cNvSpPr>
          <p:nvPr>
            <p:ph type="body" sz="quarter" idx="22" hasCustomPrompt="1"/>
          </p:nvPr>
        </p:nvSpPr>
        <p:spPr>
          <a:xfrm>
            <a:off x="827213" y="4511113"/>
            <a:ext cx="324980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8" name="Text Placeholder 13">
            <a:extLst>
              <a:ext uri="{FF2B5EF4-FFF2-40B4-BE49-F238E27FC236}">
                <a16:creationId xmlns:a16="http://schemas.microsoft.com/office/drawing/2014/main" id="{98C01D2A-BAC0-4429-98EA-3E05B6085019}"/>
              </a:ext>
            </a:extLst>
          </p:cNvPr>
          <p:cNvSpPr>
            <a:spLocks noGrp="1"/>
          </p:cNvSpPr>
          <p:nvPr>
            <p:ph type="body" sz="quarter" idx="23" hasCustomPrompt="1"/>
          </p:nvPr>
        </p:nvSpPr>
        <p:spPr>
          <a:xfrm>
            <a:off x="4471098" y="4511113"/>
            <a:ext cx="324980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9" name="Text Placeholder 3">
            <a:extLst>
              <a:ext uri="{FF2B5EF4-FFF2-40B4-BE49-F238E27FC236}">
                <a16:creationId xmlns:a16="http://schemas.microsoft.com/office/drawing/2014/main" id="{157CF07C-F812-424F-8859-C74DECAA909E}"/>
              </a:ext>
            </a:extLst>
          </p:cNvPr>
          <p:cNvSpPr>
            <a:spLocks noGrp="1"/>
          </p:cNvSpPr>
          <p:nvPr>
            <p:ph type="body" sz="half" idx="24" hasCustomPrompt="1"/>
          </p:nvPr>
        </p:nvSpPr>
        <p:spPr>
          <a:xfrm>
            <a:off x="4471098" y="4016354"/>
            <a:ext cx="3249804"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Impact</a:t>
            </a:r>
          </a:p>
        </p:txBody>
      </p:sp>
      <p:sp>
        <p:nvSpPr>
          <p:cNvPr id="30" name="Rounded Rectangle 27">
            <a:extLst>
              <a:ext uri="{FF2B5EF4-FFF2-40B4-BE49-F238E27FC236}">
                <a16:creationId xmlns:a16="http://schemas.microsoft.com/office/drawing/2014/main" id="{3718C422-F266-4C79-88C3-4054179DE90D}"/>
              </a:ext>
            </a:extLst>
          </p:cNvPr>
          <p:cNvSpPr/>
          <p:nvPr/>
        </p:nvSpPr>
        <p:spPr>
          <a:xfrm>
            <a:off x="7982394" y="3856432"/>
            <a:ext cx="3501791" cy="2488384"/>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31" name="Text Placeholder 13">
            <a:extLst>
              <a:ext uri="{FF2B5EF4-FFF2-40B4-BE49-F238E27FC236}">
                <a16:creationId xmlns:a16="http://schemas.microsoft.com/office/drawing/2014/main" id="{B24A9E0F-DF6F-43EB-B0E7-D4DAE53E558C}"/>
              </a:ext>
            </a:extLst>
          </p:cNvPr>
          <p:cNvSpPr>
            <a:spLocks noGrp="1"/>
          </p:cNvSpPr>
          <p:nvPr>
            <p:ph type="body" sz="quarter" idx="25" hasCustomPrompt="1"/>
          </p:nvPr>
        </p:nvSpPr>
        <p:spPr>
          <a:xfrm>
            <a:off x="8103294" y="4511113"/>
            <a:ext cx="324980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2" name="Text Placeholder 3">
            <a:extLst>
              <a:ext uri="{FF2B5EF4-FFF2-40B4-BE49-F238E27FC236}">
                <a16:creationId xmlns:a16="http://schemas.microsoft.com/office/drawing/2014/main" id="{16EF2821-1CD1-4200-ABDC-0E42A42D34DE}"/>
              </a:ext>
            </a:extLst>
          </p:cNvPr>
          <p:cNvSpPr>
            <a:spLocks noGrp="1"/>
          </p:cNvSpPr>
          <p:nvPr>
            <p:ph type="body" sz="half" idx="26" hasCustomPrompt="1"/>
          </p:nvPr>
        </p:nvSpPr>
        <p:spPr>
          <a:xfrm>
            <a:off x="8103294" y="4016354"/>
            <a:ext cx="3249804"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Innovation</a:t>
            </a:r>
          </a:p>
        </p:txBody>
      </p:sp>
    </p:spTree>
    <p:extLst>
      <p:ext uri="{BB962C8B-B14F-4D97-AF65-F5344CB8AC3E}">
        <p14:creationId xmlns:p14="http://schemas.microsoft.com/office/powerpoint/2010/main" val="40340427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8" name="Rounded Rectangle 8">
            <a:extLst>
              <a:ext uri="{FF2B5EF4-FFF2-40B4-BE49-F238E27FC236}">
                <a16:creationId xmlns:a16="http://schemas.microsoft.com/office/drawing/2014/main" id="{E220A324-1BB7-439E-A516-F5DC4E99A659}"/>
              </a:ext>
            </a:extLst>
          </p:cNvPr>
          <p:cNvSpPr/>
          <p:nvPr/>
        </p:nvSpPr>
        <p:spPr>
          <a:xfrm>
            <a:off x="734045" y="1341438"/>
            <a:ext cx="10726118" cy="487203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6" name="Rounded Rectangle 8">
            <a:extLst>
              <a:ext uri="{FF2B5EF4-FFF2-40B4-BE49-F238E27FC236}">
                <a16:creationId xmlns:a16="http://schemas.microsoft.com/office/drawing/2014/main" id="{FAF27359-B05D-4355-8F09-EC1B22D472EA}"/>
              </a:ext>
            </a:extLst>
          </p:cNvPr>
          <p:cNvSpPr/>
          <p:nvPr/>
        </p:nvSpPr>
        <p:spPr>
          <a:xfrm>
            <a:off x="734045" y="1341438"/>
            <a:ext cx="10726118" cy="487203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605" y="1594461"/>
            <a:ext cx="1225287"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6569351" y="1594461"/>
            <a:ext cx="1417182" cy="369332"/>
          </a:xfrm>
          <a:prstGeom prst="rect">
            <a:avLst/>
          </a:prstGeom>
        </p:spPr>
        <p:txBody>
          <a:bodyPr wrap="square">
            <a:spAutoFit/>
          </a:bodyPr>
          <a:lstStyle>
            <a:lvl1pPr marL="0" indent="0">
              <a:lnSpc>
                <a:spcPct val="100000"/>
              </a:lnSpc>
              <a:buNone/>
              <a:defRPr sz="1800"/>
            </a:lvl1pPr>
            <a:lvl5pPr marL="1828800" indent="0">
              <a:buNone/>
              <a:defRPr sz="1100"/>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pic>
        <p:nvPicPr>
          <p:cNvPr id="11" name="Picture 8" descr="pasted-image.pdf">
            <a:extLst>
              <a:ext uri="{FF2B5EF4-FFF2-40B4-BE49-F238E27FC236}">
                <a16:creationId xmlns:a16="http://schemas.microsoft.com/office/drawing/2014/main" id="{48F13729-96F5-46E2-BB81-2F1F159522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605" y="1594461"/>
            <a:ext cx="1225287"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8" descr="pasted-image.pdf">
            <a:extLst>
              <a:ext uri="{FF2B5EF4-FFF2-40B4-BE49-F238E27FC236}">
                <a16:creationId xmlns:a16="http://schemas.microsoft.com/office/drawing/2014/main" id="{79A11ABE-1AE8-4BA2-A1A5-49D9A73E636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605" y="1594461"/>
            <a:ext cx="1225287"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0720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604800" y="4351338"/>
            <a:ext cx="2138400" cy="338554"/>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6048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3506400" y="4351338"/>
            <a:ext cx="2138400" cy="338554"/>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35064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6408000" y="4351338"/>
            <a:ext cx="2138400" cy="338554"/>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64080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9309600" y="4351338"/>
            <a:ext cx="2138400" cy="338554"/>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93096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900888"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38016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67032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96048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3866883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608663" y="1239123"/>
            <a:ext cx="10862612" cy="492443"/>
          </a:xfrm>
          <a:prstGeom prst="rect">
            <a:avLst/>
          </a:prstGeom>
        </p:spPr>
        <p:txBody>
          <a:bodyPr anchor="t">
            <a:spAutoFit/>
          </a:bodyPr>
          <a:lstStyle>
            <a:lvl1pPr marL="0" indent="0">
              <a:lnSpc>
                <a:spcPct val="100000"/>
              </a:lnSpc>
              <a:buNone/>
              <a:defRPr sz="26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3047075"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3166994" y="2164637"/>
            <a:ext cx="2376000" cy="338554"/>
          </a:xfrm>
          <a:prstGeom prst="rect">
            <a:avLst/>
          </a:prstGeom>
        </p:spPr>
        <p:txBody>
          <a:bodyPr anchor="b">
            <a:spAutoFit/>
          </a:bodyPr>
          <a:lstStyle>
            <a:lvl1pPr marL="0" indent="0" algn="l">
              <a:lnSpc>
                <a:spcPct val="100000"/>
              </a:lnSpc>
              <a:buNone/>
              <a:defRPr sz="1600" b="1">
                <a:solidFill>
                  <a:schemeClr val="accent2"/>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3166995" y="2636633"/>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8850163"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8970082" y="2164637"/>
            <a:ext cx="2376000" cy="338554"/>
          </a:xfrm>
          <a:prstGeom prst="rect">
            <a:avLst/>
          </a:prstGeom>
        </p:spPr>
        <p:txBody>
          <a:bodyPr anchor="b">
            <a:spAutoFit/>
          </a:bodyPr>
          <a:lstStyle>
            <a:lvl1pPr marL="0" indent="0" algn="l">
              <a:lnSpc>
                <a:spcPct val="100000"/>
              </a:lnSpc>
              <a:buNone/>
              <a:defRPr sz="1600" b="1">
                <a:solidFill>
                  <a:schemeClr val="accent2"/>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8970083" y="2636633"/>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5948619"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6068538" y="2164637"/>
            <a:ext cx="2376000" cy="338554"/>
          </a:xfrm>
          <a:prstGeom prst="rect">
            <a:avLst/>
          </a:prstGeom>
        </p:spPr>
        <p:txBody>
          <a:bodyPr anchor="b">
            <a:spAutoFit/>
          </a:bodyPr>
          <a:lstStyle>
            <a:lvl1pPr marL="0" indent="0" algn="l">
              <a:lnSpc>
                <a:spcPct val="100000"/>
              </a:lnSpc>
              <a:buNone/>
              <a:defRPr sz="1600" b="1">
                <a:solidFill>
                  <a:schemeClr val="accent2"/>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6068539" y="2636633"/>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900888"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38729042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198" y="6358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445" y="140436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197" y="2039811"/>
            <a:ext cx="10748965"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463" y="635870"/>
            <a:ext cx="7640633" cy="1332630"/>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441" y="1463283"/>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441" y="1650097"/>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Tree>
    <p:extLst>
      <p:ext uri="{BB962C8B-B14F-4D97-AF65-F5344CB8AC3E}">
        <p14:creationId xmlns:p14="http://schemas.microsoft.com/office/powerpoint/2010/main" val="77398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731837" y="1507584"/>
            <a:ext cx="1455288" cy="845823"/>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1035788" y="870633"/>
            <a:ext cx="10417175" cy="510417"/>
          </a:xfrm>
          <a:prstGeom prst="rect">
            <a:avLst/>
          </a:prstGeom>
        </p:spPr>
        <p:txBody>
          <a:bodyPr anchor="t">
            <a:spAutoFit/>
          </a:bodyPr>
          <a:lstStyle>
            <a:lvl1pPr marL="0" indent="0" algn="l">
              <a:lnSpc>
                <a:spcPct val="100000"/>
              </a:lnSpc>
              <a:spcBef>
                <a:spcPts val="0"/>
              </a:spcBef>
              <a:buNone/>
              <a:defRPr sz="260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1042988" y="1712422"/>
            <a:ext cx="10417175" cy="4276519"/>
          </a:xfrm>
          <a:prstGeom prst="rect">
            <a:avLst/>
          </a:prstGeom>
        </p:spPr>
        <p:txBody>
          <a:bodyPr tIns="288000" anchor="t" anchorCtr="0">
            <a:spAutoFit/>
          </a:bodyPr>
          <a:lstStyle>
            <a:lvl1pPr marL="0" indent="0">
              <a:lnSpc>
                <a:spcPct val="100000"/>
              </a:lnSpc>
              <a:spcBef>
                <a:spcPts val="0"/>
              </a:spcBef>
              <a:buNone/>
              <a:defRPr sz="64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grpSp>
        <p:nvGrpSpPr>
          <p:cNvPr id="9" name="Group 8">
            <a:extLst>
              <a:ext uri="{FF2B5EF4-FFF2-40B4-BE49-F238E27FC236}">
                <a16:creationId xmlns:a16="http://schemas.microsoft.com/office/drawing/2014/main" id="{F0DDFEB8-92C9-4A1B-807A-4EFCBCBA8658}"/>
              </a:ext>
            </a:extLst>
          </p:cNvPr>
          <p:cNvGrpSpPr/>
          <p:nvPr/>
        </p:nvGrpSpPr>
        <p:grpSpPr>
          <a:xfrm>
            <a:off x="731837" y="1507584"/>
            <a:ext cx="1455288" cy="845823"/>
            <a:chOff x="7946718" y="2965722"/>
            <a:chExt cx="1455288" cy="845823"/>
          </a:xfrm>
          <a:solidFill>
            <a:schemeClr val="accent4"/>
          </a:solidFill>
        </p:grpSpPr>
        <p:sp>
          <p:nvSpPr>
            <p:cNvPr id="11" name="TextBox 10">
              <a:extLst>
                <a:ext uri="{FF2B5EF4-FFF2-40B4-BE49-F238E27FC236}">
                  <a16:creationId xmlns:a16="http://schemas.microsoft.com/office/drawing/2014/main" id="{F1B58BDC-0BDA-427D-BB7B-866EE7BC2E11}"/>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sp>
          <p:nvSpPr>
            <p:cNvPr id="12" name="TextBox 11">
              <a:extLst>
                <a:ext uri="{FF2B5EF4-FFF2-40B4-BE49-F238E27FC236}">
                  <a16:creationId xmlns:a16="http://schemas.microsoft.com/office/drawing/2014/main" id="{277740BD-CC22-4824-8684-0AAAE06AE431}"/>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grpSp>
      <p:grpSp>
        <p:nvGrpSpPr>
          <p:cNvPr id="13" name="Group 12">
            <a:extLst>
              <a:ext uri="{FF2B5EF4-FFF2-40B4-BE49-F238E27FC236}">
                <a16:creationId xmlns:a16="http://schemas.microsoft.com/office/drawing/2014/main" id="{B856B4BD-A60F-4F6A-9019-CB4D3B59E85C}"/>
              </a:ext>
            </a:extLst>
          </p:cNvPr>
          <p:cNvGrpSpPr/>
          <p:nvPr/>
        </p:nvGrpSpPr>
        <p:grpSpPr>
          <a:xfrm>
            <a:off x="731837" y="1507584"/>
            <a:ext cx="1455288" cy="845823"/>
            <a:chOff x="7946718" y="2965722"/>
            <a:chExt cx="1455288" cy="845823"/>
          </a:xfrm>
          <a:solidFill>
            <a:schemeClr val="accent4"/>
          </a:solidFill>
        </p:grpSpPr>
        <p:sp>
          <p:nvSpPr>
            <p:cNvPr id="16" name="TextBox 15">
              <a:extLst>
                <a:ext uri="{FF2B5EF4-FFF2-40B4-BE49-F238E27FC236}">
                  <a16:creationId xmlns:a16="http://schemas.microsoft.com/office/drawing/2014/main" id="{AF6C4B00-8AAA-45F6-B082-16AAE3425226}"/>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sp>
          <p:nvSpPr>
            <p:cNvPr id="17" name="TextBox 16">
              <a:extLst>
                <a:ext uri="{FF2B5EF4-FFF2-40B4-BE49-F238E27FC236}">
                  <a16:creationId xmlns:a16="http://schemas.microsoft.com/office/drawing/2014/main" id="{8256213F-4BD4-4A83-ABC0-3FCF4ED1535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grpSp>
    </p:spTree>
    <p:extLst>
      <p:ext uri="{BB962C8B-B14F-4D97-AF65-F5344CB8AC3E}">
        <p14:creationId xmlns:p14="http://schemas.microsoft.com/office/powerpoint/2010/main" val="38649645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C3CE16B9-E92E-4D2A-BEAD-4562D2D35E70}"/>
              </a:ext>
            </a:extLst>
          </p:cNvPr>
          <p:cNvGrpSpPr/>
          <p:nvPr/>
        </p:nvGrpSpPr>
        <p:grpSpPr>
          <a:xfrm>
            <a:off x="359508" y="594727"/>
            <a:ext cx="1455288" cy="845823"/>
            <a:chOff x="7946718" y="2965722"/>
            <a:chExt cx="1455288" cy="845823"/>
          </a:xfrm>
          <a:solidFill>
            <a:srgbClr val="D6D6D6"/>
          </a:solidFill>
        </p:grpSpPr>
        <p:sp>
          <p:nvSpPr>
            <p:cNvPr id="17" name="TextBox 16">
              <a:extLst>
                <a:ext uri="{FF2B5EF4-FFF2-40B4-BE49-F238E27FC236}">
                  <a16:creationId xmlns:a16="http://schemas.microsoft.com/office/drawing/2014/main" id="{96B19A0F-3294-4D73-AEFD-FE47EA9B9535}"/>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sp>
          <p:nvSpPr>
            <p:cNvPr id="19" name="TextBox 18">
              <a:extLst>
                <a:ext uri="{FF2B5EF4-FFF2-40B4-BE49-F238E27FC236}">
                  <a16:creationId xmlns:a16="http://schemas.microsoft.com/office/drawing/2014/main" id="{6B573C1D-D08A-4459-A18F-ACC3CC0557D7}"/>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6886358" y="0"/>
            <a:ext cx="5305642" cy="6213475"/>
          </a:xfrm>
          <a:prstGeom prst="rect">
            <a:avLst/>
          </a:prstGeom>
        </p:spPr>
        <p:txBody>
          <a:bodyPr/>
          <a:lstStyle>
            <a:lvl1pPr marL="0" indent="0">
              <a:lnSpc>
                <a:spcPct val="100000"/>
              </a:lnSpc>
              <a:buNone/>
              <a:defRPr sz="16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431925" y="1127877"/>
            <a:ext cx="5426075" cy="4616648"/>
          </a:xfrm>
          <a:prstGeom prst="rect">
            <a:avLst/>
          </a:prstGeom>
        </p:spPr>
        <p:txBody>
          <a:bodyPr anchor="t">
            <a:spAutoFit/>
          </a:bodyPr>
          <a:lstStyle>
            <a:lvl1pPr marL="0" indent="0">
              <a:lnSpc>
                <a:spcPct val="100000"/>
              </a:lnSpc>
              <a:spcBef>
                <a:spcPts val="0"/>
              </a:spcBef>
              <a:buNone/>
              <a:defRPr sz="420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431925" y="5730123"/>
            <a:ext cx="5426075" cy="492443"/>
          </a:xfrm>
          <a:prstGeom prst="rect">
            <a:avLst/>
          </a:prstGeom>
        </p:spPr>
        <p:txBody>
          <a:bodyPr anchor="t">
            <a:spAutoFit/>
          </a:bodyPr>
          <a:lstStyle>
            <a:lvl1pPr marL="0" indent="0" algn="r">
              <a:lnSpc>
                <a:spcPct val="100000"/>
              </a:lnSpc>
              <a:spcBef>
                <a:spcPts val="0"/>
              </a:spcBef>
              <a:buNone/>
              <a:defRPr sz="2600" b="0" i="0">
                <a:solidFill>
                  <a:schemeClr val="tx1">
                    <a:lumMod val="60000"/>
                    <a:lumOff val="40000"/>
                  </a:schemeClr>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24166235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580635" y="2595484"/>
            <a:ext cx="5003301" cy="104644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GB"/>
              <a:t>Thank You.</a:t>
            </a:r>
            <a:endParaRPr lang="en-US"/>
          </a:p>
        </p:txBody>
      </p:sp>
      <p:sp>
        <p:nvSpPr>
          <p:cNvPr id="19" name="TextBox 18">
            <a:extLst>
              <a:ext uri="{FF2B5EF4-FFF2-40B4-BE49-F238E27FC236}">
                <a16:creationId xmlns:a16="http://schemas.microsoft.com/office/drawing/2014/main" id="{436E1585-D766-4B04-A7D7-9B27FF597730}"/>
              </a:ext>
            </a:extLst>
          </p:cNvPr>
          <p:cNvSpPr txBox="1"/>
          <p:nvPr/>
        </p:nvSpPr>
        <p:spPr>
          <a:xfrm>
            <a:off x="10351096" y="5959988"/>
            <a:ext cx="1199702" cy="276999"/>
          </a:xfrm>
          <a:prstGeom prst="rect">
            <a:avLst/>
          </a:prstGeom>
          <a:noFill/>
        </p:spPr>
        <p:txBody>
          <a:bodyPr wrap="square" rtlCol="0">
            <a:spAutoFit/>
          </a:bodyPr>
          <a:lstStyle/>
          <a:p>
            <a:r>
              <a:rPr lang="en-US" sz="1200" err="1">
                <a:solidFill>
                  <a:srgbClr val="6B6B6B"/>
                </a:solidFill>
                <a:latin typeface="Open Sans" panose="020B0606030504020204" pitchFamily="34" charset="0"/>
                <a:ea typeface="Open Sans" panose="020B0606030504020204" pitchFamily="34" charset="0"/>
                <a:cs typeface="Open Sans" panose="020B0606030504020204" pitchFamily="34" charset="0"/>
              </a:rPr>
              <a:t>CellStrat</a:t>
            </a:r>
            <a:endParaRPr lang="en-US" sz="12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extLst>
              <a:ext uri="{FF2B5EF4-FFF2-40B4-BE49-F238E27FC236}">
                <a16:creationId xmlns:a16="http://schemas.microsoft.com/office/drawing/2014/main" id="{B6C1155E-5832-4871-A7A9-F568C266B18F}"/>
              </a:ext>
            </a:extLst>
          </p:cNvPr>
          <p:cNvSpPr>
            <a:spLocks noEditPoints="1"/>
          </p:cNvSpPr>
          <p:nvPr/>
        </p:nvSpPr>
        <p:spPr bwMode="auto">
          <a:xfrm>
            <a:off x="9001063" y="5930740"/>
            <a:ext cx="309599" cy="335495"/>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extLst>
              <a:ext uri="{FF2B5EF4-FFF2-40B4-BE49-F238E27FC236}">
                <a16:creationId xmlns:a16="http://schemas.microsoft.com/office/drawing/2014/main" id="{123AD49C-4EAA-4A9F-8D0C-E2B97FC4CB79}"/>
              </a:ext>
            </a:extLst>
          </p:cNvPr>
          <p:cNvSpPr>
            <a:spLocks noEditPoints="1"/>
          </p:cNvSpPr>
          <p:nvPr/>
        </p:nvSpPr>
        <p:spPr bwMode="auto">
          <a:xfrm>
            <a:off x="9386925" y="5966638"/>
            <a:ext cx="269148" cy="263698"/>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762834" y="4795112"/>
            <a:ext cx="1804127" cy="462596"/>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10040493" y="5979687"/>
            <a:ext cx="237600" cy="2376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9726630" y="5979687"/>
            <a:ext cx="237600" cy="237600"/>
          </a:xfrm>
          <a:prstGeom prst="rect">
            <a:avLst/>
          </a:prstGeom>
        </p:spPr>
      </p:pic>
      <p:sp>
        <p:nvSpPr>
          <p:cNvPr id="11" name="TextBox 10">
            <a:extLst>
              <a:ext uri="{FF2B5EF4-FFF2-40B4-BE49-F238E27FC236}">
                <a16:creationId xmlns:a16="http://schemas.microsoft.com/office/drawing/2014/main" id="{2FDE0802-75AF-4CC4-B5B1-A23131F231F3}"/>
              </a:ext>
            </a:extLst>
          </p:cNvPr>
          <p:cNvSpPr txBox="1"/>
          <p:nvPr/>
        </p:nvSpPr>
        <p:spPr>
          <a:xfrm>
            <a:off x="729624" y="5382478"/>
            <a:ext cx="4854312" cy="646331"/>
          </a:xfrm>
          <a:prstGeom prst="rect">
            <a:avLst/>
          </a:prstGeom>
          <a:noFill/>
        </p:spPr>
        <p:txBody>
          <a:bodyPr wrap="square" rtlCol="0">
            <a:spAutoFit/>
          </a:bodyPr>
          <a:lstStyle/>
          <a:p>
            <a:r>
              <a:rPr lang="en-US" sz="1200">
                <a:solidFill>
                  <a:schemeClr val="tx2"/>
                </a:solidFill>
                <a:latin typeface="Open Sans" panose="020B0606030504020204" pitchFamily="34" charset="0"/>
                <a:ea typeface="Open Sans" panose="020B0606030504020204" pitchFamily="34" charset="0"/>
                <a:cs typeface="Open Sans" panose="020B0606030504020204" pitchFamily="34" charset="0"/>
              </a:rPr>
              <a:t>Claude Code Certified Architect (CCA) · a hands-on CellStrat intensive. Build, break, secure, test and ship.</a:t>
            </a:r>
          </a:p>
        </p:txBody>
      </p:sp>
    </p:spTree>
    <p:extLst>
      <p:ext uri="{BB962C8B-B14F-4D97-AF65-F5344CB8AC3E}">
        <p14:creationId xmlns:p14="http://schemas.microsoft.com/office/powerpoint/2010/main" val="313675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userDrawn="1">
            <p:ph type="ctrTitle" hasCustomPrompt="1"/>
          </p:nvPr>
        </p:nvSpPr>
        <p:spPr>
          <a:xfrm>
            <a:off x="580635" y="2272208"/>
            <a:ext cx="8967225" cy="3231654"/>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userDrawn="1">
            <p:ph type="subTitle" idx="1" hasCustomPrompt="1"/>
          </p:nvPr>
        </p:nvSpPr>
        <p:spPr>
          <a:xfrm>
            <a:off x="641202" y="5503862"/>
            <a:ext cx="3836988" cy="338554"/>
          </a:xfrm>
          <a:prstGeom prst="rect">
            <a:avLst/>
          </a:prstGeom>
        </p:spPr>
        <p:txBody>
          <a:bodyPr anchor="t">
            <a:spAutoFit/>
          </a:bodyPr>
          <a:lstStyle>
            <a:lvl1pPr marL="0" indent="0" algn="l">
              <a:lnSpc>
                <a:spcPct val="100000"/>
              </a:lnSpc>
              <a:buNone/>
              <a:defRPr sz="16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userDrawn="1">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0411429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3708935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2_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637" y="2272209"/>
            <a:ext cx="8967225"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03" y="5503862"/>
            <a:ext cx="38369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977983528"/>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635" y="2272208"/>
            <a:ext cx="8967225" cy="3231654"/>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02" y="5503862"/>
            <a:ext cx="3836988" cy="338554"/>
          </a:xfrm>
          <a:prstGeom prst="rect">
            <a:avLst/>
          </a:prstGeom>
        </p:spPr>
        <p:txBody>
          <a:bodyPr anchor="t">
            <a:spAutoFit/>
          </a:bodyPr>
          <a:lstStyle>
            <a:lvl1pPr marL="0" indent="0" algn="l">
              <a:lnSpc>
                <a:spcPct val="100000"/>
              </a:lnSpc>
              <a:buNone/>
              <a:defRPr sz="16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8266280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635" y="2272208"/>
            <a:ext cx="8967218" cy="3231654"/>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02" y="5503862"/>
            <a:ext cx="3836988" cy="338554"/>
          </a:xfrm>
          <a:prstGeom prst="rect">
            <a:avLst/>
          </a:prstGeom>
        </p:spPr>
        <p:txBody>
          <a:bodyPr anchor="t">
            <a:spAutoFit/>
          </a:bodyPr>
          <a:lstStyle>
            <a:lvl1pPr marL="0" indent="0" algn="l">
              <a:lnSpc>
                <a:spcPct val="100000"/>
              </a:lnSpc>
              <a:buNone/>
              <a:defRPr sz="16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692649" y="530518"/>
            <a:ext cx="0" cy="858252"/>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925152" y="777239"/>
            <a:ext cx="2083008" cy="512211"/>
          </a:xfrm>
          <a:prstGeom prst="rect">
            <a:avLst/>
          </a:prstGeom>
        </p:spPr>
        <p:txBody>
          <a:bodyPr anchor="b">
            <a:noAutofit/>
          </a:bodyPr>
          <a:lstStyle>
            <a:lvl1pPr marL="0" indent="0">
              <a:lnSpc>
                <a:spcPct val="100000"/>
              </a:lnSpc>
              <a:buNone/>
              <a:defRPr sz="1400">
                <a:solidFill>
                  <a:schemeClr val="bg1">
                    <a:lumMod val="65000"/>
                  </a:schemeClr>
                </a:solidFill>
              </a:defRPr>
            </a:lvl1pPr>
            <a:lvl5pPr marL="1828800" indent="0">
              <a:buNone/>
              <a:defRPr sz="1100"/>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5701986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solidFill>
                  <a:schemeClr val="tx1"/>
                </a:solidFill>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dirty="0"/>
          </a:p>
        </p:txBody>
      </p:sp>
    </p:spTree>
    <p:extLst>
      <p:ext uri="{BB962C8B-B14F-4D97-AF65-F5344CB8AC3E}">
        <p14:creationId xmlns:p14="http://schemas.microsoft.com/office/powerpoint/2010/main" val="35495170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22534005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604800" y="500400"/>
            <a:ext cx="10854000" cy="738664"/>
          </a:xfrm>
          <a:prstGeom prst="rect">
            <a:avLst/>
          </a:prstGeom>
        </p:spPr>
        <p:txBody>
          <a:bodyPr>
            <a:spAutoFit/>
          </a:bodyPr>
          <a:lstStyle>
            <a:lvl1pPr>
              <a:lnSpc>
                <a:spcPct val="100000"/>
              </a:lnSpc>
              <a:defRPr sz="4200" b="1">
                <a:latin typeface="+mj-lt"/>
              </a:defRPr>
            </a:lvl1pPr>
          </a:lstStyle>
          <a:p>
            <a:r>
              <a:rPr lang="en-US"/>
              <a:t>Click to edit Master title style</a:t>
            </a:r>
            <a:endParaRPr lang="en-IN"/>
          </a:p>
        </p:txBody>
      </p:sp>
      <p:sp>
        <p:nvSpPr>
          <p:cNvPr id="2" name="Rounded Rectangle 1">
            <a:extLst>
              <a:ext uri="{FF2B5EF4-FFF2-40B4-BE49-F238E27FC236}">
                <a16:creationId xmlns:a16="http://schemas.microsoft.com/office/drawing/2014/main" id="{78CCC4C5-AF58-65A1-5913-360E4296897C}"/>
              </a:ext>
            </a:extLst>
          </p:cNvPr>
          <p:cNvSpPr/>
          <p:nvPr userDrawn="1"/>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36039082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Title + Grey bkgd.+grid">
    <p:bg>
      <p:bgPr>
        <a:solidFill>
          <a:schemeClr val="bg2">
            <a:alpha val="4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604800" y="500400"/>
            <a:ext cx="10854000" cy="738664"/>
          </a:xfrm>
          <a:prstGeom prst="rect">
            <a:avLst/>
          </a:prstGeom>
        </p:spPr>
        <p:txBody>
          <a:bodyPr>
            <a:spAutoFit/>
          </a:bodyPr>
          <a:lstStyle>
            <a:lvl1pPr>
              <a:lnSpc>
                <a:spcPct val="100000"/>
              </a:lnSpc>
              <a:defRPr sz="4200" b="1">
                <a:latin typeface="+mj-lt"/>
              </a:defRPr>
            </a:lvl1pPr>
          </a:lstStyle>
          <a:p>
            <a:r>
              <a:rPr lang="en-US"/>
              <a:t>Click to edit Master title style</a:t>
            </a:r>
            <a:endParaRPr lang="en-IN"/>
          </a:p>
        </p:txBody>
      </p:sp>
      <p:pic>
        <p:nvPicPr>
          <p:cNvPr id="4" name="Graphic 3">
            <a:extLst>
              <a:ext uri="{FF2B5EF4-FFF2-40B4-BE49-F238E27FC236}">
                <a16:creationId xmlns:a16="http://schemas.microsoft.com/office/drawing/2014/main" id="{150FC115-50C9-314C-A766-9B8B69B08C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44812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00" y="1465552"/>
            <a:ext cx="464697" cy="4335547"/>
          </a:xfrm>
          <a:prstGeom prst="rect">
            <a:avLst/>
          </a:prstGeom>
        </p:spPr>
        <p:txBody>
          <a:bodyPr vert="horz" lIns="0" tIns="0" rIns="0" bIns="93600" anchor="t" anchorCtr="0">
            <a:spAutoFit/>
          </a:bodyPr>
          <a:lstStyle>
            <a:lvl1pPr marL="0" indent="0">
              <a:lnSpc>
                <a:spcPts val="4800"/>
              </a:lnSpc>
              <a:spcBef>
                <a:spcPts val="0"/>
              </a:spcBef>
              <a:buNone/>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499869" y="1465552"/>
            <a:ext cx="9960293" cy="43355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4" name="Title 3">
            <a:extLst>
              <a:ext uri="{FF2B5EF4-FFF2-40B4-BE49-F238E27FC236}">
                <a16:creationId xmlns:a16="http://schemas.microsoft.com/office/drawing/2014/main" id="{2E0149FA-9A01-4DA3-AC47-C5D005EB841B}"/>
              </a:ext>
            </a:extLst>
          </p:cNvPr>
          <p:cNvSpPr>
            <a:spLocks noGrp="1"/>
          </p:cNvSpPr>
          <p:nvPr>
            <p:ph type="title"/>
          </p:nvPr>
        </p:nvSpPr>
        <p:spPr>
          <a:xfrm>
            <a:off x="604800" y="500400"/>
            <a:ext cx="10854000" cy="738664"/>
          </a:xfrm>
          <a:prstGeom prst="rect">
            <a:avLst/>
          </a:prstGeom>
          <a:noFill/>
        </p:spPr>
        <p:txBody>
          <a:bodyPr>
            <a:spAutoFit/>
          </a:bodyPr>
          <a:lstStyle>
            <a:lvl1pPr>
              <a:lnSpc>
                <a:spcPct val="100000"/>
              </a:lnSpc>
              <a:defRPr sz="4200" b="1">
                <a:latin typeface="+mn-lt"/>
              </a:defRPr>
            </a:lvl1pPr>
          </a:lstStyle>
          <a:p>
            <a:r>
              <a:rPr lang="en-US"/>
              <a:t>Click to edit Master title style</a:t>
            </a:r>
            <a:endParaRPr lang="en-IN"/>
          </a:p>
        </p:txBody>
      </p:sp>
    </p:spTree>
    <p:extLst>
      <p:ext uri="{BB962C8B-B14F-4D97-AF65-F5344CB8AC3E}">
        <p14:creationId xmlns:p14="http://schemas.microsoft.com/office/powerpoint/2010/main" val="263444778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Agenda with Time">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00" y="1465552"/>
            <a:ext cx="1076036" cy="43355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00.00</a:t>
            </a:r>
          </a:p>
          <a:p>
            <a:pPr lvl="0"/>
            <a:r>
              <a:rPr lang="en-US"/>
              <a:t>00.00</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p:txBody>
      </p:sp>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2017105" y="1465552"/>
            <a:ext cx="9463695" cy="4335547"/>
          </a:xfrm>
          <a:prstGeom prst="rect">
            <a:avLst/>
          </a:prstGeom>
        </p:spPr>
        <p:txBody>
          <a:bodyPr vert="horz" wrap="square"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2" name="Title 1">
            <a:extLst>
              <a:ext uri="{FF2B5EF4-FFF2-40B4-BE49-F238E27FC236}">
                <a16:creationId xmlns:a16="http://schemas.microsoft.com/office/drawing/2014/main" id="{3C00D4FC-75AD-41AC-9F2F-072B1ABBFC8E}"/>
              </a:ext>
            </a:extLst>
          </p:cNvPr>
          <p:cNvSpPr>
            <a:spLocks noGrp="1"/>
          </p:cNvSpPr>
          <p:nvPr>
            <p:ph type="title"/>
          </p:nvPr>
        </p:nvSpPr>
        <p:spPr>
          <a:xfrm>
            <a:off x="604800" y="500400"/>
            <a:ext cx="10876000" cy="738664"/>
          </a:xfrm>
          <a:prstGeom prst="rect">
            <a:avLst/>
          </a:prstGeom>
        </p:spPr>
        <p:txBody>
          <a:bodyPr wrap="square">
            <a:spAutoFit/>
          </a:bodyPr>
          <a:lstStyle>
            <a:lvl1pPr>
              <a:lnSpc>
                <a:spcPct val="100000"/>
              </a:lnSpc>
              <a:defRPr sz="4200" b="1">
                <a:latin typeface="+mn-lt"/>
              </a:defRPr>
            </a:lvl1pPr>
          </a:lstStyle>
          <a:p>
            <a:r>
              <a:rPr lang="en-US"/>
              <a:t>Click to edit Master title style</a:t>
            </a:r>
            <a:endParaRPr lang="en-IN"/>
          </a:p>
        </p:txBody>
      </p:sp>
    </p:spTree>
    <p:extLst>
      <p:ext uri="{BB962C8B-B14F-4D97-AF65-F5344CB8AC3E}">
        <p14:creationId xmlns:p14="http://schemas.microsoft.com/office/powerpoint/2010/main" val="9525867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hort content + title + body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730385" y="4370387"/>
            <a:ext cx="10088563" cy="246221"/>
          </a:xfrm>
          <a:prstGeom prst="rect">
            <a:avLst/>
          </a:prstGeom>
        </p:spPr>
        <p:txBody>
          <a:bodyPr lIns="0" tIns="0" rIns="0" bIns="0" anchor="t" anchorCtr="0">
            <a:spAutoFit/>
          </a:bodyPr>
          <a:lstStyle>
            <a:lvl1pPr marL="0" indent="0">
              <a:buNone/>
              <a:defRPr lang="en-US" sz="1600" b="0" spc="0" baseline="0" dirty="0">
                <a:latin typeface="+mn-lt"/>
                <a:ea typeface="Open Sans" panose="020B0606030504020204" pitchFamily="34" charset="0"/>
                <a:cs typeface="Open Sans" panose="020B0606030504020204" pitchFamily="34" charset="0"/>
              </a:defRPr>
            </a:lvl1pPr>
          </a:lstStyle>
          <a:p>
            <a:pPr marL="228600" lvl="0" indent="-228600">
              <a:lnSpc>
                <a:spcPct val="100000"/>
              </a:lnSpc>
              <a:spcBef>
                <a:spcPct val="0"/>
              </a:spcBef>
            </a:pPr>
            <a:r>
              <a:rPr lang="en-GB"/>
              <a:t>Short description in three of four lines maximum. Any highlighting to be done in bold or blue</a:t>
            </a:r>
            <a:endParaRPr lang="en-US"/>
          </a:p>
        </p:txBody>
      </p:sp>
      <p:sp>
        <p:nvSpPr>
          <p:cNvPr id="11" name="Text Placeholder 14">
            <a:extLst>
              <a:ext uri="{FF2B5EF4-FFF2-40B4-BE49-F238E27FC236}">
                <a16:creationId xmlns:a16="http://schemas.microsoft.com/office/drawing/2014/main" id="{FC81E2E5-E3CC-D749-8B2B-49ABC850A674}"/>
              </a:ext>
            </a:extLst>
          </p:cNvPr>
          <p:cNvSpPr>
            <a:spLocks noGrp="1"/>
          </p:cNvSpPr>
          <p:nvPr>
            <p:ph type="body" sz="quarter" idx="15" hasCustomPrompt="1"/>
          </p:nvPr>
        </p:nvSpPr>
        <p:spPr>
          <a:xfrm>
            <a:off x="730385" y="644691"/>
            <a:ext cx="9974128" cy="494624"/>
          </a:xfrm>
          <a:prstGeom prst="rect">
            <a:avLst/>
          </a:prstGeom>
        </p:spPr>
        <p:txBody>
          <a:bodyPr vert="horz" lIns="0" tIns="0" rIns="0" bIns="93600" anchor="t" anchorCtr="0">
            <a:spAutoFit/>
          </a:bodyPr>
          <a:lstStyle>
            <a:lvl1pPr marL="0" marR="0" indent="0" algn="l" defTabSz="609585" rtl="0" eaLnBrk="1" fontAlgn="auto" latinLnBrk="0" hangingPunct="1">
              <a:lnSpc>
                <a:spcPct val="100000"/>
              </a:lnSpc>
              <a:spcBef>
                <a:spcPts val="0"/>
              </a:spcBef>
              <a:spcAft>
                <a:spcPts val="0"/>
              </a:spcAft>
              <a:buClrTx/>
              <a:buSzTx/>
              <a:buFont typeface="Arial"/>
              <a:buNone/>
              <a:tabLst/>
              <a:defRPr sz="2600" b="0" i="0" baseline="0">
                <a:solidFill>
                  <a:schemeClr val="tx1"/>
                </a:solidFill>
                <a:latin typeface="+mn-lt"/>
                <a:ea typeface="Open Sans" panose="020B0606030504020204" pitchFamily="34" charset="0"/>
                <a:cs typeface="Open Sans" panose="020B0606030504020204" pitchFamily="34" charset="0"/>
              </a:defRPr>
            </a:lvl1pPr>
          </a:lstStyle>
          <a:p>
            <a:pPr lvl="0"/>
            <a:r>
              <a:rPr lang="en-US"/>
              <a:t>01 | Short content description</a:t>
            </a:r>
          </a:p>
        </p:txBody>
      </p:sp>
      <p:sp>
        <p:nvSpPr>
          <p:cNvPr id="15" name="Titel 7">
            <a:extLst>
              <a:ext uri="{FF2B5EF4-FFF2-40B4-BE49-F238E27FC236}">
                <a16:creationId xmlns:a16="http://schemas.microsoft.com/office/drawing/2014/main" id="{33509BAD-7366-6C49-9E01-5F193794089A}"/>
              </a:ext>
            </a:extLst>
          </p:cNvPr>
          <p:cNvSpPr>
            <a:spLocks noGrp="1"/>
          </p:cNvSpPr>
          <p:nvPr>
            <p:ph type="title" hasCustomPrompt="1"/>
          </p:nvPr>
        </p:nvSpPr>
        <p:spPr>
          <a:xfrm>
            <a:off x="730385" y="2236147"/>
            <a:ext cx="9974128" cy="1938992"/>
          </a:xfrm>
          <a:prstGeom prst="rect">
            <a:avLst/>
          </a:prstGeom>
        </p:spPr>
        <p:txBody>
          <a:bodyPr lIns="0" tIns="0" rIns="0" bIns="0" anchor="t" anchorCtr="0">
            <a:spAutoFit/>
          </a:bodyPr>
          <a:lstStyle>
            <a:lvl1pPr algn="l">
              <a:lnSpc>
                <a:spcPct val="100000"/>
              </a:lnSpc>
              <a:defRPr sz="4200" b="1" i="0" spc="0" baseline="0">
                <a:solidFill>
                  <a:schemeClr val="tx1"/>
                </a:solidFill>
                <a:latin typeface="+mn-lt"/>
                <a:ea typeface="Open Sans" panose="020B0606030504020204" pitchFamily="34" charset="0"/>
                <a:cs typeface="Open Sans" panose="020B0606030504020204" pitchFamily="34" charset="0"/>
              </a:defRPr>
            </a:lvl1pPr>
          </a:lstStyle>
          <a:p>
            <a:pPr lvl="0"/>
            <a:r>
              <a:rPr lang="en-GB"/>
              <a:t>A Long Title that fits in maximum three lines. This can have insights or call-outs </a:t>
            </a:r>
          </a:p>
        </p:txBody>
      </p:sp>
    </p:spTree>
    <p:extLst>
      <p:ext uri="{BB962C8B-B14F-4D97-AF65-F5344CB8AC3E}">
        <p14:creationId xmlns:p14="http://schemas.microsoft.com/office/powerpoint/2010/main" val="9053384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13300-E9A2-F949-9B8E-8CA529315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601133" y="4161475"/>
            <a:ext cx="1794933" cy="1785104"/>
          </a:xfrm>
          <a:prstGeom prst="rect">
            <a:avLst/>
          </a:prstGeom>
        </p:spPr>
        <p:txBody>
          <a:bodyPr anchor="b">
            <a:spAutoFit/>
          </a:bodyPr>
          <a:lstStyle>
            <a:lvl1pPr marL="0" indent="0">
              <a:lnSpc>
                <a:spcPct val="100000"/>
              </a:lnSpc>
              <a:buNone/>
              <a:defRPr sz="11000" b="1">
                <a:solidFill>
                  <a:schemeClr val="bg1"/>
                </a:solidFill>
                <a:latin typeface="+mn-lt"/>
              </a:defRPr>
            </a:lvl1pPr>
            <a:lvl2pPr>
              <a:defRPr sz="11000" b="1"/>
            </a:lvl2pPr>
            <a:lvl3pPr>
              <a:defRPr sz="11000" b="1"/>
            </a:lvl3pPr>
            <a:lvl4pPr>
              <a:defRPr sz="11000" b="1"/>
            </a:lvl4pPr>
            <a:lvl5pPr>
              <a:defRPr sz="1100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2396067" y="4342480"/>
            <a:ext cx="9064096" cy="1384995"/>
          </a:xfrm>
          <a:prstGeom prst="rect">
            <a:avLst/>
          </a:prstGeom>
        </p:spPr>
        <p:txBody>
          <a:bodyPr wrap="square" anchor="b">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29043453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00" y="1633929"/>
            <a:ext cx="10737849" cy="3496872"/>
          </a:xfrm>
          <a:prstGeom prst="rect">
            <a:avLst/>
          </a:prstGeom>
        </p:spPr>
        <p:txBody>
          <a:bodyPr/>
          <a:lstStyle>
            <a:lvl1pPr>
              <a:lnSpc>
                <a:spcPct val="100000"/>
              </a:lnSpc>
              <a:spcBef>
                <a:spcPts val="600"/>
              </a:spcBef>
              <a:defRPr sz="1600"/>
            </a:lvl1pPr>
            <a:lvl2pPr marL="481013" indent="-228600">
              <a:lnSpc>
                <a:spcPct val="100000"/>
              </a:lnSpc>
              <a:spcBef>
                <a:spcPts val="600"/>
              </a:spcBef>
              <a:defRPr sz="1600"/>
            </a:lvl2pPr>
            <a:lvl3pPr marL="708025" indent="-228600">
              <a:lnSpc>
                <a:spcPct val="100000"/>
              </a:lnSpc>
              <a:spcBef>
                <a:spcPts val="600"/>
              </a:spcBef>
              <a:defRPr sz="1600"/>
            </a:lvl3pPr>
            <a:lvl4pPr marL="933450" indent="-228600">
              <a:lnSpc>
                <a:spcPct val="100000"/>
              </a:lnSpc>
              <a:spcBef>
                <a:spcPts val="600"/>
              </a:spcBef>
              <a:defRPr sz="1600"/>
            </a:lvl4pPr>
            <a:lvl5pPr marL="1130300" indent="-228600">
              <a:lnSpc>
                <a:spcPct val="100000"/>
              </a:lnSpc>
              <a:spcBef>
                <a:spcPts val="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615949" y="5527401"/>
            <a:ext cx="10088563" cy="338554"/>
          </a:xfrm>
          <a:prstGeom prst="rect">
            <a:avLst/>
          </a:prstGeom>
        </p:spPr>
        <p:txBody>
          <a:bodyPr anchor="b">
            <a:spAutoFit/>
          </a:bodyPr>
          <a:lstStyle>
            <a:lvl1pPr marL="0" indent="0" algn="l">
              <a:lnSpc>
                <a:spcPct val="100000"/>
              </a:lnSpc>
              <a:buNone/>
              <a:defRPr sz="160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643464" y="6212595"/>
            <a:ext cx="10855326" cy="246221"/>
          </a:xfrm>
          <a:prstGeom prst="rect">
            <a:avLst/>
          </a:prstGeom>
        </p:spPr>
        <p:txBody>
          <a:bodyPr anchor="b" anchorCtr="0">
            <a:spAutoFit/>
          </a:bodyPr>
          <a:lstStyle>
            <a:lvl1pPr marL="0" indent="0">
              <a:lnSpc>
                <a:spcPct val="100000"/>
              </a:lnSpc>
              <a:spcBef>
                <a:spcPts val="0"/>
              </a:spcBef>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643464" y="5966374"/>
            <a:ext cx="10855326" cy="246221"/>
          </a:xfrm>
          <a:prstGeom prst="rect">
            <a:avLst/>
          </a:prstGeom>
        </p:spPr>
        <p:txBody>
          <a:bodyPr anchor="b" anchorCtr="0">
            <a:spAutoFit/>
          </a:bodyPr>
          <a:lstStyle>
            <a:lvl1pPr marL="0" indent="0">
              <a:lnSpc>
                <a:spcPct val="100000"/>
              </a:lnSpc>
              <a:spcBef>
                <a:spcPts val="0"/>
              </a:spcBef>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Note/Footnote:</a:t>
            </a:r>
          </a:p>
        </p:txBody>
      </p:sp>
    </p:spTree>
    <p:extLst>
      <p:ext uri="{BB962C8B-B14F-4D97-AF65-F5344CB8AC3E}">
        <p14:creationId xmlns:p14="http://schemas.microsoft.com/office/powerpoint/2010/main" val="38849268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 Sub title +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00" y="2526889"/>
            <a:ext cx="10737849" cy="3559279"/>
          </a:xfrm>
          <a:prstGeom prst="rect">
            <a:avLst/>
          </a:prstGeom>
        </p:spPr>
        <p:txBody>
          <a:bodyPr/>
          <a:lstStyle>
            <a:lvl1pPr>
              <a:lnSpc>
                <a:spcPct val="100000"/>
              </a:lnSpc>
              <a:spcBef>
                <a:spcPts val="600"/>
              </a:spcBef>
              <a:defRPr sz="1600"/>
            </a:lvl1pPr>
            <a:lvl2pPr marL="481013" indent="-228600">
              <a:lnSpc>
                <a:spcPct val="100000"/>
              </a:lnSpc>
              <a:spcBef>
                <a:spcPts val="600"/>
              </a:spcBef>
              <a:defRPr sz="1600"/>
            </a:lvl2pPr>
            <a:lvl3pPr marL="708025" indent="-228600">
              <a:lnSpc>
                <a:spcPct val="100000"/>
              </a:lnSpc>
              <a:spcBef>
                <a:spcPts val="600"/>
              </a:spcBef>
              <a:defRPr sz="1600"/>
            </a:lvl3pPr>
            <a:lvl4pPr marL="933450" indent="-228600">
              <a:lnSpc>
                <a:spcPct val="100000"/>
              </a:lnSpc>
              <a:spcBef>
                <a:spcPts val="600"/>
              </a:spcBef>
              <a:defRPr sz="1600"/>
            </a:lvl4pPr>
            <a:lvl5pPr marL="1130300" indent="-228600">
              <a:lnSpc>
                <a:spcPct val="100000"/>
              </a:lnSpc>
              <a:spcBef>
                <a:spcPts val="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9" name="Content Placeholder 2">
            <a:extLst>
              <a:ext uri="{FF2B5EF4-FFF2-40B4-BE49-F238E27FC236}">
                <a16:creationId xmlns:a16="http://schemas.microsoft.com/office/drawing/2014/main" id="{F910E947-851C-48B4-83FD-A225938FFF21}"/>
              </a:ext>
            </a:extLst>
          </p:cNvPr>
          <p:cNvSpPr>
            <a:spLocks noGrp="1"/>
          </p:cNvSpPr>
          <p:nvPr>
            <p:ph sz="quarter" idx="19" hasCustomPrompt="1"/>
          </p:nvPr>
        </p:nvSpPr>
        <p:spPr>
          <a:xfrm>
            <a:off x="605364" y="1483550"/>
            <a:ext cx="10737849" cy="892552"/>
          </a:xfrm>
          <a:prstGeom prst="rect">
            <a:avLst/>
          </a:prstGeom>
        </p:spPr>
        <p:txBody>
          <a:bodyPr>
            <a:spAutoFit/>
          </a:bodyPr>
          <a:lstStyle>
            <a:lvl1pPr marL="0" indent="0">
              <a:lnSpc>
                <a:spcPct val="100000"/>
              </a:lnSpc>
              <a:spcBef>
                <a:spcPts val="600"/>
              </a:spcBef>
              <a:buNone/>
              <a:defRPr sz="2600"/>
            </a:lvl1pPr>
            <a:lvl2pPr marL="481013" indent="-228600">
              <a:lnSpc>
                <a:spcPct val="100000"/>
              </a:lnSpc>
              <a:spcBef>
                <a:spcPts val="600"/>
              </a:spcBef>
              <a:defRPr sz="1600"/>
            </a:lvl2pPr>
            <a:lvl3pPr marL="708025" indent="-228600">
              <a:lnSpc>
                <a:spcPct val="100000"/>
              </a:lnSpc>
              <a:spcBef>
                <a:spcPts val="600"/>
              </a:spcBef>
              <a:defRPr sz="1600"/>
            </a:lvl3pPr>
            <a:lvl4pPr marL="933450" indent="-228600">
              <a:lnSpc>
                <a:spcPct val="100000"/>
              </a:lnSpc>
              <a:spcBef>
                <a:spcPts val="600"/>
              </a:spcBef>
              <a:defRPr sz="1600"/>
            </a:lvl4pPr>
            <a:lvl5pPr marL="1130300" indent="-228600">
              <a:lnSpc>
                <a:spcPct val="100000"/>
              </a:lnSpc>
              <a:spcBef>
                <a:spcPts val="600"/>
              </a:spcBef>
              <a:defRPr sz="1600"/>
            </a:lvl5pPr>
          </a:lstStyle>
          <a:p>
            <a:pPr lvl="0"/>
            <a:r>
              <a:rPr lang="en-US"/>
              <a:t>Subtitle text to be added here in two lines. The second line is optional in this case.</a:t>
            </a:r>
            <a:endParaRPr lang="en-IN"/>
          </a:p>
        </p:txBody>
      </p:sp>
    </p:spTree>
    <p:extLst>
      <p:ext uri="{BB962C8B-B14F-4D97-AF65-F5344CB8AC3E}">
        <p14:creationId xmlns:p14="http://schemas.microsoft.com/office/powerpoint/2010/main" val="13139109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0" y="4165600"/>
            <a:ext cx="5303838" cy="2047875"/>
          </a:xfrm>
          <a:prstGeom prst="rect">
            <a:avLst/>
          </a:prstGeom>
          <a:solidFill>
            <a:schemeClr val="bg1">
              <a:lumMod val="85000"/>
              <a:alpha val="85000"/>
            </a:schemeClr>
          </a:solidFill>
        </p:spPr>
        <p:txBody>
          <a:bodyPr lIns="720000" anchor="ctr"/>
          <a:lstStyle>
            <a:lvl1pPr marL="0" indent="0">
              <a:lnSpc>
                <a:spcPct val="100000"/>
              </a:lnSpc>
              <a:buNone/>
              <a:defRPr sz="2700"/>
            </a:lvl1pPr>
          </a:lstStyle>
          <a:p>
            <a:pPr lvl="0"/>
            <a:r>
              <a:rPr lang="en-US"/>
              <a:t>Add this grey patch in 15% transparency over a full image for text to be visible </a:t>
            </a:r>
            <a:endParaRPr lang="en-IN"/>
          </a:p>
        </p:txBody>
      </p:sp>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0"/>
            <a:ext cx="12192000"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IMAGES</a:t>
            </a:r>
          </a:p>
        </p:txBody>
      </p:sp>
    </p:spTree>
    <p:extLst>
      <p:ext uri="{BB962C8B-B14F-4D97-AF65-F5344CB8AC3E}">
        <p14:creationId xmlns:p14="http://schemas.microsoft.com/office/powerpoint/2010/main" val="40989492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500"/>
            <a:ext cx="6075680" cy="63612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4645619"/>
            <a:ext cx="5120640" cy="1138773"/>
          </a:xfrm>
          <a:prstGeom prst="rect">
            <a:avLst/>
          </a:prstGeom>
          <a:solidFill>
            <a:schemeClr val="bg1">
              <a:lumMod val="85000"/>
              <a:alpha val="85000"/>
            </a:schemeClr>
          </a:solidFill>
        </p:spPr>
        <p:txBody>
          <a:bodyPr wrap="square" anchor="ctr">
            <a:spAutoFit/>
          </a:bodyPr>
          <a:lstStyle>
            <a:lvl1pPr marL="628650" indent="0" algn="l">
              <a:lnSpc>
                <a:spcPct val="100000"/>
              </a:lnSpc>
              <a:spcBef>
                <a:spcPts val="0"/>
              </a:spcBef>
              <a:buNone/>
              <a:defRPr sz="68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6117093" y="0"/>
            <a:ext cx="6074907"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823709" y="4676396"/>
            <a:ext cx="2296931" cy="1077218"/>
          </a:xfrm>
          <a:prstGeom prst="rect">
            <a:avLst/>
          </a:prstGeom>
          <a:noFill/>
        </p:spPr>
        <p:txBody>
          <a:bodyPr anchor="ctr">
            <a:spAutoFit/>
          </a:bodyPr>
          <a:lstStyle>
            <a:lvl1pPr marL="0" indent="0">
              <a:lnSpc>
                <a:spcPct val="100000"/>
              </a:lnSpc>
              <a:spcBef>
                <a:spcPts val="0"/>
              </a:spcBef>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a:t>Add this grey patch in 15% transparency over a full image for text to be visible </a:t>
            </a:r>
          </a:p>
        </p:txBody>
      </p:sp>
    </p:spTree>
    <p:extLst>
      <p:ext uri="{BB962C8B-B14F-4D97-AF65-F5344CB8AC3E}">
        <p14:creationId xmlns:p14="http://schemas.microsoft.com/office/powerpoint/2010/main" val="30511720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646" y="1163199"/>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608663" y="1204042"/>
            <a:ext cx="10862612" cy="492443"/>
          </a:xfrm>
          <a:prstGeom prst="rect">
            <a:avLst/>
          </a:prstGeom>
        </p:spPr>
        <p:txBody>
          <a:bodyPr>
            <a:spAutoFit/>
          </a:bodyPr>
          <a:lstStyle>
            <a:lvl1pPr marL="0" indent="0">
              <a:lnSpc>
                <a:spcPct val="100000"/>
              </a:lnSpc>
              <a:buNone/>
              <a:defRPr sz="2600" b="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734044" y="2744788"/>
            <a:ext cx="5350843"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6189118" y="2744788"/>
            <a:ext cx="5288310"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734044" y="1942706"/>
            <a:ext cx="10723912" cy="635890"/>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898933" y="2914425"/>
            <a:ext cx="5022000"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898933" y="3477929"/>
            <a:ext cx="5022000" cy="316113"/>
          </a:xfrm>
          <a:prstGeom prst="rect">
            <a:avLst/>
          </a:prstGeom>
        </p:spPr>
        <p:txBody>
          <a:bodyPr lIns="90000" tIns="46800" rIns="90000" bIns="46800" anchor="t">
            <a:spAutoFit/>
          </a:bodyPr>
          <a:lstStyle>
            <a:lvl1pPr marL="0" marR="0" indent="0" algn="l" defTabSz="914400" rtl="0" eaLnBrk="1" fontAlgn="auto" latinLnBrk="0" hangingPunct="1">
              <a:lnSpc>
                <a:spcPct val="100000"/>
              </a:lnSpc>
              <a:spcBef>
                <a:spcPts val="0"/>
              </a:spcBef>
              <a:spcAft>
                <a:spcPts val="0"/>
              </a:spcAft>
              <a:buClrTx/>
              <a:buSzTx/>
              <a:buFontTx/>
              <a:buNone/>
              <a:tabLst/>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6322273" y="3477929"/>
            <a:ext cx="5022000" cy="340735"/>
          </a:xfrm>
          <a:prstGeom prst="rect">
            <a:avLst/>
          </a:prstGeom>
        </p:spPr>
        <p:txBody>
          <a:bodyPr lIns="90000" tIns="46800" rIns="90000" bIns="46800"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6322273" y="2914425"/>
            <a:ext cx="5022000"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Supporting Teams &amp; Capabilities</a:t>
            </a:r>
            <a:endParaRPr lang="en-US"/>
          </a:p>
        </p:txBody>
      </p:sp>
    </p:spTree>
    <p:extLst>
      <p:ext uri="{BB962C8B-B14F-4D97-AF65-F5344CB8AC3E}">
        <p14:creationId xmlns:p14="http://schemas.microsoft.com/office/powerpoint/2010/main" val="16673651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736940" y="3787661"/>
            <a:ext cx="10856450" cy="190211"/>
          </a:xfrm>
          <a:prstGeom prst="rightArrow">
            <a:avLst/>
          </a:prstGeom>
          <a:solidFill>
            <a:schemeClr val="accent1"/>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91028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75396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59764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44132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8500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12868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9884430"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83212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67580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51948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36316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20684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5052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700050" y="1806043"/>
            <a:ext cx="1364400" cy="246221"/>
          </a:xfrm>
          <a:prstGeom prst="rect">
            <a:avLst/>
          </a:prstGeom>
        </p:spPr>
        <p:txBody>
          <a:bodyPr wrap="square"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22632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38264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53896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69528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85160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10079253"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4816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30448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46080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61712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77344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92976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2920604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4639812" y="644525"/>
            <a:ext cx="6831463" cy="556895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621772" y="1971675"/>
            <a:ext cx="3926416" cy="2492990"/>
          </a:xfrm>
          <a:prstGeom prst="rect">
            <a:avLst/>
          </a:prstGeom>
        </p:spPr>
        <p:txBody>
          <a:bodyPr>
            <a:spAutoFit/>
          </a:bodyPr>
          <a:lstStyle>
            <a:lvl1pPr marL="0" indent="0">
              <a:lnSpc>
                <a:spcPct val="100000"/>
              </a:lnSpc>
              <a:buNone/>
              <a:defRPr sz="2600" b="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615951" y="527693"/>
            <a:ext cx="3926416" cy="892552"/>
          </a:xfrm>
          <a:prstGeom prst="rect">
            <a:avLst/>
          </a:prstGeom>
        </p:spPr>
        <p:txBody>
          <a:bodyPr>
            <a:spAutoFit/>
          </a:bodyPr>
          <a:lstStyle>
            <a:lvl1pPr>
              <a:defRPr lang="en-IN" sz="2600" b="1" i="0" dirty="0">
                <a:latin typeface="+mn-lt"/>
                <a:ea typeface="+mn-ea"/>
                <a:cs typeface="+mn-cs"/>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44296723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 Bullet + Visual">
    <p:spTree>
      <p:nvGrpSpPr>
        <p:cNvPr id="1" name=""/>
        <p:cNvGrpSpPr/>
        <p:nvPr/>
      </p:nvGrpSpPr>
      <p:grpSpPr>
        <a:xfrm>
          <a:off x="0" y="0"/>
          <a:ext cx="0" cy="0"/>
          <a:chOff x="0" y="0"/>
          <a:chExt cx="0" cy="0"/>
        </a:xfrm>
      </p:grpSpPr>
      <p:sp>
        <p:nvSpPr>
          <p:cNvPr id="5" name="Text Placeholder 14">
            <a:extLst>
              <a:ext uri="{FF2B5EF4-FFF2-40B4-BE49-F238E27FC236}">
                <a16:creationId xmlns:a16="http://schemas.microsoft.com/office/drawing/2014/main" id="{DABD7FFA-69E5-41E8-B82E-34B75DFB7888}"/>
              </a:ext>
            </a:extLst>
          </p:cNvPr>
          <p:cNvSpPr>
            <a:spLocks noGrp="1"/>
          </p:cNvSpPr>
          <p:nvPr>
            <p:ph type="body" sz="quarter" idx="15" hasCustomPrompt="1"/>
          </p:nvPr>
        </p:nvSpPr>
        <p:spPr>
          <a:xfrm>
            <a:off x="604838" y="2744788"/>
            <a:ext cx="4538662" cy="2175980"/>
          </a:xfrm>
          <a:prstGeom prst="rect">
            <a:avLst/>
          </a:prstGeom>
        </p:spPr>
        <p:txBody>
          <a:bodyPr wrap="square">
            <a:spAutoFit/>
          </a:bodyPr>
          <a:lstStyle>
            <a:lvl1pPr marL="0" marR="0" indent="0" algn="l" defTabSz="914400" rtl="0" eaLnBrk="1" fontAlgn="auto" latinLnBrk="0" hangingPunct="1">
              <a:lnSpc>
                <a:spcPct val="100000"/>
              </a:lnSpc>
              <a:spcBef>
                <a:spcPts val="1000"/>
              </a:spcBef>
              <a:spcAft>
                <a:spcPts val="0"/>
              </a:spcAft>
              <a:buClr>
                <a:schemeClr val="accent4"/>
              </a:buClr>
              <a:buSzTx/>
              <a:buFont typeface="Arial" panose="020B0604020202020204" pitchFamily="34" charset="0"/>
              <a:buNone/>
              <a:tabLst/>
              <a:defRPr sz="1600">
                <a:solidFill>
                  <a:schemeClr val="tx1"/>
                </a:solidFill>
                <a:latin typeface="+mn-lt"/>
              </a:defRPr>
            </a:lvl1pPr>
            <a:lvl2pPr marL="212725" indent="-212725">
              <a:lnSpc>
                <a:spcPct val="100000"/>
              </a:lnSpc>
              <a:buClr>
                <a:schemeClr val="tx1"/>
              </a:buClr>
              <a:defRPr sz="1600">
                <a:solidFill>
                  <a:schemeClr val="tx1"/>
                </a:solidFill>
              </a:defRPr>
            </a:lvl2pPr>
            <a:lvl3pPr marL="477838" indent="-247650">
              <a:lnSpc>
                <a:spcPct val="100000"/>
              </a:lnSpc>
              <a:spcAft>
                <a:spcPts val="0"/>
              </a:spcAft>
              <a:buClr>
                <a:schemeClr val="tx1"/>
              </a:buClr>
              <a:buFont typeface="Arial" panose="020B0604020202020204" pitchFamily="34" charset="0"/>
              <a:buChar char="•"/>
              <a:defRPr sz="1600">
                <a:solidFill>
                  <a:schemeClr val="tx1"/>
                </a:solidFill>
              </a:defRPr>
            </a:lvl3pPr>
            <a:lvl4pPr marL="255600" marR="0" indent="0" algn="l" defTabSz="914400" rtl="0" eaLnBrk="1" fontAlgn="auto" latinLnBrk="0" hangingPunct="1">
              <a:lnSpc>
                <a:spcPct val="100000"/>
              </a:lnSpc>
              <a:spcBef>
                <a:spcPts val="500"/>
              </a:spcBef>
              <a:spcAft>
                <a:spcPts val="0"/>
              </a:spcAft>
              <a:buClr>
                <a:schemeClr val="tx1"/>
              </a:buClr>
              <a:buSzTx/>
              <a:buFont typeface="Arial" panose="020B0604020202020204" pitchFamily="34" charset="0"/>
              <a:buNone/>
              <a:tabLst/>
              <a:defRPr sz="1600">
                <a:solidFill>
                  <a:schemeClr val="tx1"/>
                </a:solidFill>
              </a:defRPr>
            </a:lvl4pPr>
            <a:lvl5pPr marL="464400" indent="-284400">
              <a:lnSpc>
                <a:spcPct val="100000"/>
              </a:lnSpc>
              <a:defRPr sz="1600"/>
            </a:lvl5pPr>
          </a:lstStyle>
          <a:p>
            <a:pPr lvl="0"/>
            <a:r>
              <a:rPr lang="en-GB"/>
              <a:t>Text that needs to go in bullet points need to follow this template</a:t>
            </a:r>
          </a:p>
          <a:p>
            <a:pPr marL="285750" marR="0" lvl="0" indent="-285750" algn="l" defTabSz="914400" rtl="0" eaLnBrk="1" fontAlgn="auto" latinLnBrk="0" hangingPunct="1">
              <a:lnSpc>
                <a:spcPct val="90000"/>
              </a:lnSpc>
              <a:spcBef>
                <a:spcPts val="1000"/>
              </a:spcBef>
              <a:spcAft>
                <a:spcPts val="0"/>
              </a:spcAft>
              <a:buClrTx/>
              <a:buSzTx/>
              <a:tabLst/>
              <a:defRPr/>
            </a:pPr>
            <a:r>
              <a:rPr lang="en-GB"/>
              <a:t>First level - Sub text in preferably in one line</a:t>
            </a:r>
          </a:p>
          <a:p>
            <a:pPr lvl="1"/>
            <a:r>
              <a:rPr lang="en-GB"/>
              <a:t>Second level</a:t>
            </a:r>
          </a:p>
          <a:p>
            <a:pPr lvl="2"/>
            <a:r>
              <a:rPr lang="en-GB"/>
              <a:t>Sub- Second level</a:t>
            </a:r>
          </a:p>
          <a:p>
            <a:pPr lvl="1"/>
            <a:r>
              <a:rPr lang="en-GB"/>
              <a:t>Third level</a:t>
            </a:r>
          </a:p>
          <a:p>
            <a:pPr lvl="2"/>
            <a:r>
              <a:rPr lang="en-GB"/>
              <a:t>Sub- Third level</a:t>
            </a:r>
          </a:p>
        </p:txBody>
      </p:sp>
      <p:sp>
        <p:nvSpPr>
          <p:cNvPr id="6" name="Content Placeholder 2">
            <a:extLst>
              <a:ext uri="{FF2B5EF4-FFF2-40B4-BE49-F238E27FC236}">
                <a16:creationId xmlns:a16="http://schemas.microsoft.com/office/drawing/2014/main" id="{B60FAA21-A344-43D4-BDA4-FD3275200231}"/>
              </a:ext>
            </a:extLst>
          </p:cNvPr>
          <p:cNvSpPr>
            <a:spLocks noGrp="1"/>
          </p:cNvSpPr>
          <p:nvPr>
            <p:ph idx="1" hasCustomPrompt="1"/>
          </p:nvPr>
        </p:nvSpPr>
        <p:spPr>
          <a:xfrm>
            <a:off x="5291138" y="644525"/>
            <a:ext cx="6180137" cy="556895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7" name="Title 1">
            <a:extLst>
              <a:ext uri="{FF2B5EF4-FFF2-40B4-BE49-F238E27FC236}">
                <a16:creationId xmlns:a16="http://schemas.microsoft.com/office/drawing/2014/main" id="{55630796-9AED-4972-A5CF-D6D6E73B6F62}"/>
              </a:ext>
            </a:extLst>
          </p:cNvPr>
          <p:cNvSpPr>
            <a:spLocks noGrp="1"/>
          </p:cNvSpPr>
          <p:nvPr>
            <p:ph type="title" hasCustomPrompt="1"/>
          </p:nvPr>
        </p:nvSpPr>
        <p:spPr>
          <a:xfrm>
            <a:off x="604800" y="471371"/>
            <a:ext cx="4538700" cy="2123658"/>
          </a:xfrm>
          <a:prstGeom prst="rect">
            <a:avLst/>
          </a:prstGeom>
        </p:spPr>
        <p:txBody>
          <a:bodyPr>
            <a:spAutoFit/>
          </a:bodyPr>
          <a:lstStyle>
            <a:lvl1pPr>
              <a:lnSpc>
                <a:spcPct val="100000"/>
              </a:lnSpc>
              <a:defRPr b="1">
                <a:latin typeface="+mn-lt"/>
              </a:defRPr>
            </a:lvl1pPr>
          </a:lstStyle>
          <a:p>
            <a:r>
              <a:rPr lang="en-GB"/>
              <a:t>Title in maximum </a:t>
            </a:r>
            <a:br>
              <a:rPr lang="en-GB"/>
            </a:br>
            <a:r>
              <a:rPr lang="en-GB"/>
              <a:t>three lines</a:t>
            </a:r>
            <a:endParaRPr lang="en-IN"/>
          </a:p>
        </p:txBody>
      </p:sp>
    </p:spTree>
    <p:extLst>
      <p:ext uri="{BB962C8B-B14F-4D97-AF65-F5344CB8AC3E}">
        <p14:creationId xmlns:p14="http://schemas.microsoft.com/office/powerpoint/2010/main" val="30415343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 content + 2 Visual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615950" y="4100513"/>
            <a:ext cx="4687888" cy="1692771"/>
          </a:xfrm>
          <a:prstGeom prst="rect">
            <a:avLst/>
          </a:prstGeom>
        </p:spPr>
        <p:txBody>
          <a:bodyPr anchor="t">
            <a:spAutoFit/>
          </a:bodyPr>
          <a:lstStyle>
            <a:lvl1pPr marL="0" indent="0" algn="l">
              <a:lnSpc>
                <a:spcPct val="100000"/>
              </a:lnSpc>
              <a:buNone/>
              <a:defRPr sz="260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in three of four lines maximum. Any highlighting to be done in bold or blue</a:t>
            </a:r>
            <a:endParaRPr lang="en-US"/>
          </a:p>
        </p:txBody>
      </p:sp>
      <p:sp>
        <p:nvSpPr>
          <p:cNvPr id="13" name="Content Placeholder 2">
            <a:extLst>
              <a:ext uri="{FF2B5EF4-FFF2-40B4-BE49-F238E27FC236}">
                <a16:creationId xmlns:a16="http://schemas.microsoft.com/office/drawing/2014/main" id="{17CE1F37-C7DA-0242-B2C0-160371F28412}"/>
              </a:ext>
            </a:extLst>
          </p:cNvPr>
          <p:cNvSpPr>
            <a:spLocks noGrp="1"/>
          </p:cNvSpPr>
          <p:nvPr>
            <p:ph idx="12" hasCustomPrompt="1"/>
          </p:nvPr>
        </p:nvSpPr>
        <p:spPr>
          <a:xfrm>
            <a:off x="6924675" y="3477372"/>
            <a:ext cx="4546600" cy="2747963"/>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6924675" y="644525"/>
            <a:ext cx="4546600" cy="2747963"/>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itle 1">
            <a:extLst>
              <a:ext uri="{FF2B5EF4-FFF2-40B4-BE49-F238E27FC236}">
                <a16:creationId xmlns:a16="http://schemas.microsoft.com/office/drawing/2014/main" id="{2301CBD1-44C8-42DF-AEB1-BC9CB069B9B2}"/>
              </a:ext>
            </a:extLst>
          </p:cNvPr>
          <p:cNvSpPr>
            <a:spLocks noGrp="1"/>
          </p:cNvSpPr>
          <p:nvPr>
            <p:ph type="title"/>
          </p:nvPr>
        </p:nvSpPr>
        <p:spPr>
          <a:xfrm>
            <a:off x="605364" y="498665"/>
            <a:ext cx="5760000" cy="1386000"/>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388299303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 graphs + Highligh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FC5EC474-5D54-473F-9E3A-41A08DB05227}"/>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3" name="Text Placeholder 6">
            <a:extLst>
              <a:ext uri="{FF2B5EF4-FFF2-40B4-BE49-F238E27FC236}">
                <a16:creationId xmlns:a16="http://schemas.microsoft.com/office/drawing/2014/main" id="{6EC92998-E102-43FB-9F0D-FE0513A0B097}"/>
              </a:ext>
            </a:extLst>
          </p:cNvPr>
          <p:cNvSpPr>
            <a:spLocks noGrp="1"/>
          </p:cNvSpPr>
          <p:nvPr>
            <p:ph type="body" sz="quarter" idx="18" hasCustomPrompt="1"/>
          </p:nvPr>
        </p:nvSpPr>
        <p:spPr>
          <a:xfrm>
            <a:off x="640975" y="6143891"/>
            <a:ext cx="10717153" cy="215444"/>
          </a:xfrm>
          <a:prstGeom prst="rect">
            <a:avLst/>
          </a:prstGeom>
        </p:spPr>
        <p:txBody>
          <a:bodyPr wrap="square" anchor="b">
            <a:spAutoFit/>
          </a:bodyPr>
          <a:lstStyle>
            <a:lvl1pPr marL="0" indent="0" algn="l">
              <a:lnSpc>
                <a:spcPct val="100000"/>
              </a:lnSpc>
              <a:spcBef>
                <a:spcPts val="0"/>
              </a:spcBef>
              <a:buNone/>
              <a:defRPr sz="800">
                <a:solidFill>
                  <a:schemeClr val="bg1">
                    <a:lumMod val="50000"/>
                  </a:schemeClr>
                </a:solidFill>
                <a:latin typeface="+mn-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Enter annotations or hyperlinks or websites here</a:t>
            </a:r>
          </a:p>
        </p:txBody>
      </p:sp>
      <p:sp>
        <p:nvSpPr>
          <p:cNvPr id="14" name="Content Placeholder 2">
            <a:extLst>
              <a:ext uri="{FF2B5EF4-FFF2-40B4-BE49-F238E27FC236}">
                <a16:creationId xmlns:a16="http://schemas.microsoft.com/office/drawing/2014/main" id="{0799E852-07DB-4C48-BE1E-6E5A5264B339}"/>
              </a:ext>
            </a:extLst>
          </p:cNvPr>
          <p:cNvSpPr>
            <a:spLocks noGrp="1"/>
          </p:cNvSpPr>
          <p:nvPr>
            <p:ph idx="1" hasCustomPrompt="1"/>
          </p:nvPr>
        </p:nvSpPr>
        <p:spPr>
          <a:xfrm>
            <a:off x="651600" y="1846072"/>
            <a:ext cx="4946560" cy="2521806"/>
          </a:xfrm>
          <a:prstGeom prst="rect">
            <a:avLst/>
          </a:prstGeom>
        </p:spPr>
        <p:txBody>
          <a:bodyPr/>
          <a:lstStyle>
            <a:lvl1pPr marL="0" indent="0">
              <a:lnSpc>
                <a:spcPct val="100000"/>
              </a:lnSpc>
              <a:buNone/>
              <a:defRPr sz="1600">
                <a:solidFill>
                  <a:srgbClr val="6B6B6B"/>
                </a:solidFill>
                <a:latin typeface="+mn-lt"/>
              </a:defRPr>
            </a:lvl1pPr>
          </a:lstStyle>
          <a:p>
            <a:r>
              <a:rPr lang="en-US"/>
              <a:t>INSERT CHART</a:t>
            </a:r>
          </a:p>
        </p:txBody>
      </p:sp>
      <p:sp>
        <p:nvSpPr>
          <p:cNvPr id="16" name="Content Placeholder 2">
            <a:extLst>
              <a:ext uri="{FF2B5EF4-FFF2-40B4-BE49-F238E27FC236}">
                <a16:creationId xmlns:a16="http://schemas.microsoft.com/office/drawing/2014/main" id="{62BA6F40-D5C2-4C17-B2BB-13A1683A1A7B}"/>
              </a:ext>
            </a:extLst>
          </p:cNvPr>
          <p:cNvSpPr>
            <a:spLocks noGrp="1"/>
          </p:cNvSpPr>
          <p:nvPr>
            <p:ph idx="14" hasCustomPrompt="1"/>
          </p:nvPr>
        </p:nvSpPr>
        <p:spPr>
          <a:xfrm>
            <a:off x="6411569" y="1846072"/>
            <a:ext cx="4946560" cy="2521806"/>
          </a:xfrm>
          <a:prstGeom prst="rect">
            <a:avLst/>
          </a:prstGeom>
        </p:spPr>
        <p:txBody>
          <a:bodyPr/>
          <a:lstStyle>
            <a:lvl1pPr marL="0" indent="0">
              <a:lnSpc>
                <a:spcPct val="100000"/>
              </a:lnSpc>
              <a:buNone/>
              <a:defRPr sz="1600">
                <a:solidFill>
                  <a:srgbClr val="6B6B6B"/>
                </a:solidFill>
                <a:latin typeface="+mn-lt"/>
              </a:defRPr>
            </a:lvl1pPr>
          </a:lstStyle>
          <a:p>
            <a:r>
              <a:rPr lang="en-US"/>
              <a:t>INSERT CHART</a:t>
            </a:r>
          </a:p>
        </p:txBody>
      </p:sp>
      <p:sp>
        <p:nvSpPr>
          <p:cNvPr id="22" name="Text Placeholder 2">
            <a:extLst>
              <a:ext uri="{FF2B5EF4-FFF2-40B4-BE49-F238E27FC236}">
                <a16:creationId xmlns:a16="http://schemas.microsoft.com/office/drawing/2014/main" id="{E6F2106F-239F-421B-9DAB-8226991E879A}"/>
              </a:ext>
            </a:extLst>
          </p:cNvPr>
          <p:cNvSpPr>
            <a:spLocks noGrp="1"/>
          </p:cNvSpPr>
          <p:nvPr>
            <p:ph type="body" sz="quarter" idx="15" hasCustomPrompt="1"/>
          </p:nvPr>
        </p:nvSpPr>
        <p:spPr>
          <a:xfrm>
            <a:off x="6407832" y="4712626"/>
            <a:ext cx="4953600" cy="492443"/>
          </a:xfrm>
          <a:prstGeom prst="rect">
            <a:avLst/>
          </a:prstGeom>
        </p:spPr>
        <p:txBody>
          <a:bodyPr anchor="b">
            <a:spAutoFit/>
          </a:bodyPr>
          <a:lstStyle>
            <a:lvl1pPr marL="0" indent="0" algn="l">
              <a:lnSpc>
                <a:spcPct val="100000"/>
              </a:lnSpc>
              <a:buNone/>
              <a:defRPr sz="2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Insight highlight</a:t>
            </a:r>
            <a:endParaRPr lang="en-US"/>
          </a:p>
        </p:txBody>
      </p:sp>
      <p:sp>
        <p:nvSpPr>
          <p:cNvPr id="23" name="Text Placeholder 2">
            <a:extLst>
              <a:ext uri="{FF2B5EF4-FFF2-40B4-BE49-F238E27FC236}">
                <a16:creationId xmlns:a16="http://schemas.microsoft.com/office/drawing/2014/main" id="{0B6A52CA-AF91-4DF6-8C12-8A93EEFACDA9}"/>
              </a:ext>
            </a:extLst>
          </p:cNvPr>
          <p:cNvSpPr>
            <a:spLocks noGrp="1"/>
          </p:cNvSpPr>
          <p:nvPr>
            <p:ph type="body" sz="quarter" idx="13" hasCustomPrompt="1"/>
          </p:nvPr>
        </p:nvSpPr>
        <p:spPr>
          <a:xfrm>
            <a:off x="647863" y="4712626"/>
            <a:ext cx="4953600" cy="492443"/>
          </a:xfrm>
          <a:prstGeom prst="rect">
            <a:avLst/>
          </a:prstGeom>
        </p:spPr>
        <p:txBody>
          <a:bodyPr anchor="b">
            <a:spAutoFit/>
          </a:bodyPr>
          <a:lstStyle>
            <a:lvl1pPr marL="0" indent="0" algn="l">
              <a:lnSpc>
                <a:spcPct val="100000"/>
              </a:lnSpc>
              <a:buNone/>
              <a:defRPr sz="2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Insight highlight</a:t>
            </a:r>
            <a:endParaRPr lang="en-US"/>
          </a:p>
        </p:txBody>
      </p:sp>
      <p:sp>
        <p:nvSpPr>
          <p:cNvPr id="24" name="Text Placeholder 6">
            <a:extLst>
              <a:ext uri="{FF2B5EF4-FFF2-40B4-BE49-F238E27FC236}">
                <a16:creationId xmlns:a16="http://schemas.microsoft.com/office/drawing/2014/main" id="{F8C68E73-4694-4068-A989-F6E6EAB35B26}"/>
              </a:ext>
            </a:extLst>
          </p:cNvPr>
          <p:cNvSpPr>
            <a:spLocks noGrp="1"/>
          </p:cNvSpPr>
          <p:nvPr>
            <p:ph type="body" sz="quarter" idx="16" hasCustomPrompt="1"/>
          </p:nvPr>
        </p:nvSpPr>
        <p:spPr>
          <a:xfrm>
            <a:off x="647863" y="5287717"/>
            <a:ext cx="4953600" cy="338554"/>
          </a:xfrm>
          <a:prstGeom prst="rect">
            <a:avLst/>
          </a:prstGeom>
        </p:spPr>
        <p:txBody>
          <a:bodyPr anchor="t">
            <a:spAutoFit/>
          </a:bodyPr>
          <a:lstStyle>
            <a:lvl1pPr marL="0" indent="0" algn="l">
              <a:lnSpc>
                <a:spcPct val="100000"/>
              </a:lnSpc>
              <a:spcBef>
                <a:spcPts val="0"/>
              </a:spcBef>
              <a:buNone/>
              <a:defRPr sz="1600">
                <a:latin typeface="+mn-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Enter body text here</a:t>
            </a:r>
          </a:p>
        </p:txBody>
      </p:sp>
      <p:sp>
        <p:nvSpPr>
          <p:cNvPr id="25" name="Text Placeholder 6">
            <a:extLst>
              <a:ext uri="{FF2B5EF4-FFF2-40B4-BE49-F238E27FC236}">
                <a16:creationId xmlns:a16="http://schemas.microsoft.com/office/drawing/2014/main" id="{D97D5BBB-3C42-4532-BBD4-50DFB00BA9D0}"/>
              </a:ext>
            </a:extLst>
          </p:cNvPr>
          <p:cNvSpPr>
            <a:spLocks noGrp="1"/>
          </p:cNvSpPr>
          <p:nvPr>
            <p:ph type="body" sz="quarter" idx="17" hasCustomPrompt="1"/>
          </p:nvPr>
        </p:nvSpPr>
        <p:spPr>
          <a:xfrm>
            <a:off x="6407832" y="5287717"/>
            <a:ext cx="4953600" cy="338554"/>
          </a:xfrm>
          <a:prstGeom prst="rect">
            <a:avLst/>
          </a:prstGeom>
        </p:spPr>
        <p:txBody>
          <a:bodyPr anchor="t">
            <a:spAutoFit/>
          </a:bodyPr>
          <a:lstStyle>
            <a:lvl1pPr marL="0" indent="0" algn="l">
              <a:lnSpc>
                <a:spcPct val="100000"/>
              </a:lnSpc>
              <a:spcBef>
                <a:spcPts val="0"/>
              </a:spcBef>
              <a:buNone/>
              <a:defRPr sz="1600">
                <a:latin typeface="+mn-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Enter body text here</a:t>
            </a:r>
          </a:p>
        </p:txBody>
      </p:sp>
    </p:spTree>
    <p:extLst>
      <p:ext uri="{BB962C8B-B14F-4D97-AF65-F5344CB8AC3E}">
        <p14:creationId xmlns:p14="http://schemas.microsoft.com/office/powerpoint/2010/main" val="38522716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3 card horizontal layout">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646" y="1163199"/>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3AC1F3C0-0D2C-42BA-AE4B-0D8BAA8BAAA1}"/>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25" name="Text Placeholder 2">
            <a:extLst>
              <a:ext uri="{FF2B5EF4-FFF2-40B4-BE49-F238E27FC236}">
                <a16:creationId xmlns:a16="http://schemas.microsoft.com/office/drawing/2014/main" id="{DDCB3788-B640-4E0C-8D72-5AE250E17347}"/>
              </a:ext>
            </a:extLst>
          </p:cNvPr>
          <p:cNvSpPr>
            <a:spLocks noGrp="1"/>
          </p:cNvSpPr>
          <p:nvPr>
            <p:ph type="body" sz="quarter" idx="26" hasCustomPrompt="1"/>
          </p:nvPr>
        </p:nvSpPr>
        <p:spPr>
          <a:xfrm>
            <a:off x="712788" y="1494972"/>
            <a:ext cx="2700000" cy="1512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1</a:t>
            </a:r>
            <a:endParaRPr lang="en-US"/>
          </a:p>
        </p:txBody>
      </p:sp>
      <p:sp>
        <p:nvSpPr>
          <p:cNvPr id="27" name="Text Placeholder 2">
            <a:extLst>
              <a:ext uri="{FF2B5EF4-FFF2-40B4-BE49-F238E27FC236}">
                <a16:creationId xmlns:a16="http://schemas.microsoft.com/office/drawing/2014/main" id="{103C16C2-B4D8-41F9-81B8-E71F2940694C}"/>
              </a:ext>
            </a:extLst>
          </p:cNvPr>
          <p:cNvSpPr>
            <a:spLocks noGrp="1"/>
          </p:cNvSpPr>
          <p:nvPr>
            <p:ph type="body" sz="quarter" idx="37" hasCustomPrompt="1"/>
          </p:nvPr>
        </p:nvSpPr>
        <p:spPr>
          <a:xfrm>
            <a:off x="712788" y="3095305"/>
            <a:ext cx="2700000" cy="1512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2</a:t>
            </a:r>
            <a:endParaRPr lang="en-US"/>
          </a:p>
        </p:txBody>
      </p:sp>
      <p:sp>
        <p:nvSpPr>
          <p:cNvPr id="30" name="Text Placeholder 2">
            <a:extLst>
              <a:ext uri="{FF2B5EF4-FFF2-40B4-BE49-F238E27FC236}">
                <a16:creationId xmlns:a16="http://schemas.microsoft.com/office/drawing/2014/main" id="{AF91E91A-6668-489F-B084-A6DE167813D9}"/>
              </a:ext>
            </a:extLst>
          </p:cNvPr>
          <p:cNvSpPr>
            <a:spLocks noGrp="1"/>
          </p:cNvSpPr>
          <p:nvPr>
            <p:ph type="body" sz="quarter" idx="39" hasCustomPrompt="1"/>
          </p:nvPr>
        </p:nvSpPr>
        <p:spPr>
          <a:xfrm>
            <a:off x="712788" y="4695639"/>
            <a:ext cx="2700000" cy="1512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3</a:t>
            </a:r>
            <a:endParaRPr lang="en-US"/>
          </a:p>
        </p:txBody>
      </p:sp>
      <p:sp>
        <p:nvSpPr>
          <p:cNvPr id="35" name="Text Placeholder 2">
            <a:extLst>
              <a:ext uri="{FF2B5EF4-FFF2-40B4-BE49-F238E27FC236}">
                <a16:creationId xmlns:a16="http://schemas.microsoft.com/office/drawing/2014/main" id="{8089179D-B2A0-4A15-A6DF-CF99DC9C5D99}"/>
              </a:ext>
            </a:extLst>
          </p:cNvPr>
          <p:cNvSpPr>
            <a:spLocks noGrp="1"/>
          </p:cNvSpPr>
          <p:nvPr>
            <p:ph type="body" sz="quarter" idx="41" hasCustomPrompt="1"/>
          </p:nvPr>
        </p:nvSpPr>
        <p:spPr>
          <a:xfrm>
            <a:off x="3534709" y="1494972"/>
            <a:ext cx="7912320" cy="1512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Text in maximum 3 lines</a:t>
            </a:r>
          </a:p>
        </p:txBody>
      </p:sp>
      <p:sp>
        <p:nvSpPr>
          <p:cNvPr id="36" name="Text Placeholder 2">
            <a:extLst>
              <a:ext uri="{FF2B5EF4-FFF2-40B4-BE49-F238E27FC236}">
                <a16:creationId xmlns:a16="http://schemas.microsoft.com/office/drawing/2014/main" id="{B7EAB319-3FDE-498E-AA33-CDBFDCDB7E66}"/>
              </a:ext>
            </a:extLst>
          </p:cNvPr>
          <p:cNvSpPr>
            <a:spLocks noGrp="1"/>
          </p:cNvSpPr>
          <p:nvPr>
            <p:ph type="body" sz="quarter" idx="42" hasCustomPrompt="1"/>
          </p:nvPr>
        </p:nvSpPr>
        <p:spPr>
          <a:xfrm>
            <a:off x="3534709" y="3095305"/>
            <a:ext cx="7912320" cy="1512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Text in maximum 3 lines</a:t>
            </a:r>
          </a:p>
        </p:txBody>
      </p:sp>
      <p:sp>
        <p:nvSpPr>
          <p:cNvPr id="37" name="Text Placeholder 2">
            <a:extLst>
              <a:ext uri="{FF2B5EF4-FFF2-40B4-BE49-F238E27FC236}">
                <a16:creationId xmlns:a16="http://schemas.microsoft.com/office/drawing/2014/main" id="{743B7E32-F244-4B56-AC4B-5E0E39764812}"/>
              </a:ext>
            </a:extLst>
          </p:cNvPr>
          <p:cNvSpPr>
            <a:spLocks noGrp="1"/>
          </p:cNvSpPr>
          <p:nvPr>
            <p:ph type="body" sz="quarter" idx="43" hasCustomPrompt="1"/>
          </p:nvPr>
        </p:nvSpPr>
        <p:spPr>
          <a:xfrm>
            <a:off x="3534709" y="4695639"/>
            <a:ext cx="7912320" cy="1512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Text in maximum 3 lines</a:t>
            </a:r>
          </a:p>
        </p:txBody>
      </p:sp>
    </p:spTree>
    <p:extLst>
      <p:ext uri="{BB962C8B-B14F-4D97-AF65-F5344CB8AC3E}">
        <p14:creationId xmlns:p14="http://schemas.microsoft.com/office/powerpoint/2010/main" val="17596986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734045"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6157383"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6282150" y="2190626"/>
            <a:ext cx="5015515"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58812" y="2190626"/>
            <a:ext cx="5015515"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58838" y="2819083"/>
            <a:ext cx="5014912" cy="1569660"/>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6282150" y="2819083"/>
            <a:ext cx="5014912" cy="1569660"/>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Tree>
    <p:extLst>
      <p:ext uri="{BB962C8B-B14F-4D97-AF65-F5344CB8AC3E}">
        <p14:creationId xmlns:p14="http://schemas.microsoft.com/office/powerpoint/2010/main" val="6545005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4394962"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4514882" y="2134110"/>
            <a:ext cx="3059882" cy="892552"/>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4514882"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727075"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832005" y="2134110"/>
            <a:ext cx="3059882" cy="892552"/>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832005"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8062850"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8167780" y="2134110"/>
            <a:ext cx="3059882" cy="892552"/>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8167780"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19498685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712788"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3430049"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6135327"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8846136"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34941" y="2181061"/>
            <a:ext cx="2369721" cy="830997"/>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34956"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3552202" y="2181061"/>
            <a:ext cx="2369721" cy="830997"/>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3552217"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6257480" y="2181061"/>
            <a:ext cx="2369721" cy="830997"/>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6257495"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8968289" y="2181061"/>
            <a:ext cx="2369721" cy="830997"/>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8968304"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5852496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711200"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876717"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5042234"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7207751"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9373267"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818612"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18612" y="2138509"/>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984129"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984129" y="2138509"/>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5149646"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5149646" y="2138509"/>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7315163"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7315163" y="2138509"/>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9480679"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9480679" y="2138509"/>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605364" y="498665"/>
            <a:ext cx="10854797" cy="738664"/>
          </a:xfrm>
          <a:prstGeom prst="rect">
            <a:avLst/>
          </a:prstGeom>
        </p:spPr>
        <p:txBody>
          <a:bodyPr wrap="square" anchor="t">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400200355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4384674"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8051700"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727074"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843742" y="4248873"/>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858838"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4384674"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4501342" y="4248873"/>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4516438"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8051700"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8168368" y="4248873"/>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8183464"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727074"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843742" y="2052427"/>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858838"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4501342" y="2052427"/>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4516438"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8168368" y="2052427"/>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8183464"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291761698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75275" y="644525"/>
            <a:ext cx="6096000" cy="556895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621772" y="1971675"/>
            <a:ext cx="3926416" cy="1692771"/>
          </a:xfrm>
          <a:prstGeom prst="rect">
            <a:avLst/>
          </a:prstGeom>
        </p:spPr>
        <p:txBody>
          <a:bodyPr>
            <a:spAutoFit/>
          </a:bodyPr>
          <a:lstStyle>
            <a:lvl1pPr marL="0" indent="0" algn="l">
              <a:lnSpc>
                <a:spcPct val="100000"/>
              </a:lnSpc>
              <a:buNone/>
              <a:defRPr sz="2600"/>
            </a:lvl1pPr>
            <a:lvl2pPr marL="457200" indent="0">
              <a:buNone/>
              <a:defRPr/>
            </a:lvl2pPr>
            <a:lvl3pPr marL="914400" indent="0">
              <a:buNone/>
              <a:defRPr/>
            </a:lvl3pPr>
            <a:lvl4pPr marL="1371600" indent="0">
              <a:buNone/>
              <a:defRPr/>
            </a:lvl4pPr>
            <a:lvl5pPr marL="1828800"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37164402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035300" y="1971675"/>
            <a:ext cx="8435975" cy="424180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621772" y="1971675"/>
            <a:ext cx="2273828" cy="1292662"/>
          </a:xfrm>
          <a:prstGeom prst="rect">
            <a:avLst/>
          </a:prstGeom>
        </p:spPr>
        <p:txBody>
          <a:bodyPr wrap="square">
            <a:spAutoFit/>
          </a:bodyPr>
          <a:lstStyle>
            <a:lvl1pPr marL="0" indent="0" algn="l">
              <a:lnSpc>
                <a:spcPct val="100000"/>
              </a:lnSpc>
              <a:buNone/>
              <a:defRPr sz="2600"/>
            </a:lvl1pPr>
            <a:lvl2pPr marL="457200" indent="0">
              <a:buNone/>
              <a:defRPr/>
            </a:lvl2pPr>
            <a:lvl3pPr marL="914400" indent="0">
              <a:buNone/>
              <a:defRPr/>
            </a:lvl3pPr>
            <a:lvl4pPr marL="1371600" indent="0">
              <a:buNone/>
              <a:defRPr/>
            </a:lvl4pPr>
            <a:lvl5pPr marL="1828800"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287084599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711200" y="2229957"/>
            <a:ext cx="10760075" cy="3983518"/>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621773" y="1619428"/>
            <a:ext cx="10849502" cy="492443"/>
          </a:xfrm>
          <a:prstGeom prst="rect">
            <a:avLst/>
          </a:prstGeom>
        </p:spPr>
        <p:txBody>
          <a:bodyPr wrap="square">
            <a:spAutoFit/>
          </a:bodyPr>
          <a:lstStyle>
            <a:lvl1pPr>
              <a:defRPr lang="en-IN" sz="2600" b="0" i="0" dirty="0">
                <a:latin typeface="+mn-lt"/>
                <a:ea typeface="+mn-ea"/>
                <a:cs typeface="+mn-cs"/>
              </a:defRPr>
            </a:lvl1pPr>
          </a:lstStyle>
          <a:p>
            <a:pPr marL="0" lvl="0" indent="0">
              <a:lnSpc>
                <a:spcPct val="100000"/>
              </a:lnSpc>
              <a:spcBef>
                <a:spcPts val="100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41427535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711200" y="1645077"/>
            <a:ext cx="3044825" cy="4573159"/>
          </a:xfrm>
          <a:prstGeom prst="roundRect">
            <a:avLst>
              <a:gd name="adj" fmla="val 4672"/>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Graphic</a:t>
            </a:r>
          </a:p>
        </p:txBody>
      </p:sp>
      <p:sp>
        <p:nvSpPr>
          <p:cNvPr id="16" name="Rounded Rectangle 15">
            <a:extLst>
              <a:ext uri="{FF2B5EF4-FFF2-40B4-BE49-F238E27FC236}">
                <a16:creationId xmlns:a16="http://schemas.microsoft.com/office/drawing/2014/main" id="{AB0FD3F0-CADA-2A43-A855-218DC961FA55}"/>
              </a:ext>
            </a:extLst>
          </p:cNvPr>
          <p:cNvSpPr/>
          <p:nvPr/>
        </p:nvSpPr>
        <p:spPr>
          <a:xfrm>
            <a:off x="3846431" y="1645077"/>
            <a:ext cx="3780000" cy="457315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3900218" y="1771659"/>
            <a:ext cx="3594184"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Heading 1</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7716837" y="1645077"/>
            <a:ext cx="3780000" cy="457315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30" name="Text Placeholder 3">
            <a:extLst>
              <a:ext uri="{FF2B5EF4-FFF2-40B4-BE49-F238E27FC236}">
                <a16:creationId xmlns:a16="http://schemas.microsoft.com/office/drawing/2014/main" id="{7B936880-5BF6-594A-8BAD-B4D73AACDF8D}"/>
              </a:ext>
            </a:extLst>
          </p:cNvPr>
          <p:cNvSpPr>
            <a:spLocks noGrp="1"/>
          </p:cNvSpPr>
          <p:nvPr>
            <p:ph type="body" sz="half" idx="16" hasCustomPrompt="1"/>
          </p:nvPr>
        </p:nvSpPr>
        <p:spPr>
          <a:xfrm>
            <a:off x="7770624" y="1771659"/>
            <a:ext cx="35551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Heading 2</a:t>
            </a: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3900218" y="2388249"/>
            <a:ext cx="359418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7770624" y="2388249"/>
            <a:ext cx="355518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595120" y="527692"/>
            <a:ext cx="9912189" cy="492443"/>
          </a:xfrm>
          <a:prstGeom prst="rect">
            <a:avLst/>
          </a:prstGeom>
        </p:spPr>
        <p:txBody>
          <a:bodyPr wrap="square" anchor="ctr">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717443" y="415138"/>
            <a:ext cx="797186" cy="717551"/>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35946266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715226" y="648969"/>
            <a:ext cx="5302250" cy="274351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715226" y="3468369"/>
            <a:ext cx="5302250"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6122055" y="3468369"/>
            <a:ext cx="5302250"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840730" y="1481563"/>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840730" y="4308846"/>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6247559" y="4308846"/>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6122055" y="649288"/>
            <a:ext cx="5302250" cy="2743200"/>
          </a:xfrm>
          <a:prstGeom prst="roundRect">
            <a:avLst>
              <a:gd name="adj" fmla="val 3541"/>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840730" y="795223"/>
            <a:ext cx="50647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Heading 1</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840730" y="3626913"/>
            <a:ext cx="50647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Heading 2</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6247559" y="3626913"/>
            <a:ext cx="50647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Heading 3</a:t>
            </a:r>
          </a:p>
        </p:txBody>
      </p:sp>
    </p:spTree>
    <p:extLst>
      <p:ext uri="{BB962C8B-B14F-4D97-AF65-F5344CB8AC3E}">
        <p14:creationId xmlns:p14="http://schemas.microsoft.com/office/powerpoint/2010/main" val="305959951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120" y="527692"/>
            <a:ext cx="9912189" cy="492443"/>
          </a:xfrm>
          <a:prstGeom prst="rect">
            <a:avLst/>
          </a:prstGeom>
        </p:spPr>
        <p:txBody>
          <a:bodyPr wrap="square" anchor="ctr">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443" y="415138"/>
            <a:ext cx="797186"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343881824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8">
            <a:extLst>
              <a:ext uri="{FF2B5EF4-FFF2-40B4-BE49-F238E27FC236}">
                <a16:creationId xmlns:a16="http://schemas.microsoft.com/office/drawing/2014/main" id="{FAF27359-B05D-4355-8F09-EC1B22D472EA}"/>
              </a:ext>
            </a:extLst>
          </p:cNvPr>
          <p:cNvSpPr/>
          <p:nvPr/>
        </p:nvSpPr>
        <p:spPr>
          <a:xfrm>
            <a:off x="734045" y="1341438"/>
            <a:ext cx="10726118" cy="487203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605" y="1594461"/>
            <a:ext cx="1225287"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6569351" y="1594461"/>
            <a:ext cx="1417182" cy="369332"/>
          </a:xfrm>
          <a:prstGeom prst="rect">
            <a:avLst/>
          </a:prstGeom>
        </p:spPr>
        <p:txBody>
          <a:bodyPr wrap="square">
            <a:spAutoFit/>
          </a:bodyPr>
          <a:lstStyle>
            <a:lvl1pPr marL="0" indent="0">
              <a:lnSpc>
                <a:spcPct val="100000"/>
              </a:lnSpc>
              <a:buNone/>
              <a:defRPr sz="1800"/>
            </a:lvl1pPr>
            <a:lvl5pPr marL="1828800" indent="0">
              <a:buNone/>
              <a:defRPr sz="1100"/>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137073669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604800" y="4351338"/>
            <a:ext cx="2138400" cy="338554"/>
          </a:xfrm>
          <a:prstGeom prst="rect">
            <a:avLst/>
          </a:prstGeom>
        </p:spPr>
        <p:txBody>
          <a:bodyPr anchor="b">
            <a:spAutoFit/>
          </a:bodyPr>
          <a:lstStyle>
            <a:lvl1pPr marL="0" indent="0" algn="l">
              <a:lnSpc>
                <a:spcPct val="100000"/>
              </a:lnSpc>
              <a:buNone/>
              <a:defRPr sz="1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6048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3506400" y="4351338"/>
            <a:ext cx="2138400" cy="338554"/>
          </a:xfrm>
          <a:prstGeom prst="rect">
            <a:avLst/>
          </a:prstGeom>
        </p:spPr>
        <p:txBody>
          <a:bodyPr anchor="b">
            <a:spAutoFit/>
          </a:bodyPr>
          <a:lstStyle>
            <a:lvl1pPr marL="0" indent="0" algn="l">
              <a:lnSpc>
                <a:spcPct val="100000"/>
              </a:lnSpc>
              <a:buNone/>
              <a:defRPr sz="1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35064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6408000" y="4351338"/>
            <a:ext cx="2138400" cy="338554"/>
          </a:xfrm>
          <a:prstGeom prst="rect">
            <a:avLst/>
          </a:prstGeom>
        </p:spPr>
        <p:txBody>
          <a:bodyPr anchor="b">
            <a:spAutoFit/>
          </a:bodyPr>
          <a:lstStyle>
            <a:lvl1pPr marL="0" indent="0" algn="l">
              <a:lnSpc>
                <a:spcPct val="100000"/>
              </a:lnSpc>
              <a:buNone/>
              <a:defRPr sz="1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64080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9309600" y="4351338"/>
            <a:ext cx="2138400" cy="338554"/>
          </a:xfrm>
          <a:prstGeom prst="rect">
            <a:avLst/>
          </a:prstGeom>
        </p:spPr>
        <p:txBody>
          <a:bodyPr anchor="b">
            <a:spAutoFit/>
          </a:bodyPr>
          <a:lstStyle>
            <a:lvl1pPr marL="0" indent="0" algn="l">
              <a:lnSpc>
                <a:spcPct val="100000"/>
              </a:lnSpc>
              <a:buNone/>
              <a:defRPr sz="1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93096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900888"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38016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67032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96048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34731528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608663" y="1239123"/>
            <a:ext cx="10862612" cy="492443"/>
          </a:xfrm>
          <a:prstGeom prst="rect">
            <a:avLst/>
          </a:prstGeom>
        </p:spPr>
        <p:txBody>
          <a:bodyPr anchor="t">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605364" y="498665"/>
            <a:ext cx="10854797" cy="738664"/>
          </a:xfrm>
          <a:prstGeom prst="rect">
            <a:avLst/>
          </a:prstGeom>
        </p:spPr>
        <p:txBody>
          <a:bodyPr wrap="square" anchor="t">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3047075"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3166994" y="2164637"/>
            <a:ext cx="2376000"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3166995" y="2744788"/>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8850163"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8970082" y="2164637"/>
            <a:ext cx="2376000"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8970083" y="2744788"/>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5948619"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6068538" y="2164637"/>
            <a:ext cx="2376000"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6068539" y="2744788"/>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900888"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262271826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198" y="6358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445" y="140436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197" y="2039811"/>
            <a:ext cx="10748965"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463" y="635870"/>
            <a:ext cx="7640633" cy="1332630"/>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441" y="1463283"/>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441" y="1650097"/>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Tree>
    <p:extLst>
      <p:ext uri="{BB962C8B-B14F-4D97-AF65-F5344CB8AC3E}">
        <p14:creationId xmlns:p14="http://schemas.microsoft.com/office/powerpoint/2010/main" val="129839191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 KPI + Chart + Table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198" y="6358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KPI Title in maximum two lines (Delete unused arrow)</a:t>
            </a:r>
          </a:p>
          <a:p>
            <a:pPr lvl="0"/>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445" y="140436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198" y="2039811"/>
            <a:ext cx="5335200"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19" name="Text Placeholder 2">
            <a:extLst>
              <a:ext uri="{FF2B5EF4-FFF2-40B4-BE49-F238E27FC236}">
                <a16:creationId xmlns:a16="http://schemas.microsoft.com/office/drawing/2014/main" id="{5B436396-7387-4332-BF8F-0A614F03B93A}"/>
              </a:ext>
            </a:extLst>
          </p:cNvPr>
          <p:cNvSpPr>
            <a:spLocks noGrp="1"/>
          </p:cNvSpPr>
          <p:nvPr>
            <p:ph type="body" sz="quarter" idx="33" hasCustomPrompt="1"/>
          </p:nvPr>
        </p:nvSpPr>
        <p:spPr>
          <a:xfrm>
            <a:off x="6132896" y="2039811"/>
            <a:ext cx="5335200" cy="4173664"/>
          </a:xfrm>
          <a:prstGeom prst="roundRect">
            <a:avLst>
              <a:gd name="adj" fmla="val 317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Insert Table</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463" y="635870"/>
            <a:ext cx="7640633" cy="1332630"/>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three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441" y="1463283"/>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441" y="1650097"/>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Tree>
    <p:extLst>
      <p:ext uri="{BB962C8B-B14F-4D97-AF65-F5344CB8AC3E}">
        <p14:creationId xmlns:p14="http://schemas.microsoft.com/office/powerpoint/2010/main" val="278631065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2KPIs + Insight + chart">
    <p:bg>
      <p:bgPr>
        <a:solidFill>
          <a:schemeClr val="bg2">
            <a:alpha val="40000"/>
          </a:schemeClr>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9AC613AD-8235-4A79-9642-52D062C164AA}"/>
              </a:ext>
            </a:extLst>
          </p:cNvPr>
          <p:cNvSpPr>
            <a:spLocks noGrp="1"/>
          </p:cNvSpPr>
          <p:nvPr>
            <p:ph type="body" sz="quarter" idx="14" hasCustomPrompt="1"/>
          </p:nvPr>
        </p:nvSpPr>
        <p:spPr>
          <a:xfrm>
            <a:off x="711198" y="6358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KPI Title in maximum two lines (Delete unused arrow)</a:t>
            </a:r>
          </a:p>
        </p:txBody>
      </p:sp>
      <p:sp>
        <p:nvSpPr>
          <p:cNvPr id="30" name="Text Placeholder 2">
            <a:extLst>
              <a:ext uri="{FF2B5EF4-FFF2-40B4-BE49-F238E27FC236}">
                <a16:creationId xmlns:a16="http://schemas.microsoft.com/office/drawing/2014/main" id="{C0563764-0DA7-4CFF-8301-A953289685C4}"/>
              </a:ext>
            </a:extLst>
          </p:cNvPr>
          <p:cNvSpPr>
            <a:spLocks noGrp="1"/>
          </p:cNvSpPr>
          <p:nvPr>
            <p:ph type="body" sz="quarter" idx="21" hasCustomPrompt="1"/>
          </p:nvPr>
        </p:nvSpPr>
        <p:spPr>
          <a:xfrm>
            <a:off x="3831455" y="635870"/>
            <a:ext cx="3038476" cy="1332630"/>
          </a:xfrm>
          <a:prstGeom prst="roundRect">
            <a:avLst>
              <a:gd name="adj" fmla="val 8090"/>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KPI Title in maximum two lines (Delete unused arrow)</a:t>
            </a:r>
          </a:p>
        </p:txBody>
      </p:sp>
      <p:sp>
        <p:nvSpPr>
          <p:cNvPr id="24" name="Text Placeholder 2">
            <a:extLst>
              <a:ext uri="{FF2B5EF4-FFF2-40B4-BE49-F238E27FC236}">
                <a16:creationId xmlns:a16="http://schemas.microsoft.com/office/drawing/2014/main" id="{B7CDD66C-B2F6-4749-AE42-AEC20A5F48F8}"/>
              </a:ext>
            </a:extLst>
          </p:cNvPr>
          <p:cNvSpPr>
            <a:spLocks noGrp="1"/>
          </p:cNvSpPr>
          <p:nvPr>
            <p:ph type="body" sz="quarter" idx="19" hasCustomPrompt="1"/>
          </p:nvPr>
        </p:nvSpPr>
        <p:spPr>
          <a:xfrm>
            <a:off x="1191445" y="140436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32" name="Text Placeholder 2">
            <a:extLst>
              <a:ext uri="{FF2B5EF4-FFF2-40B4-BE49-F238E27FC236}">
                <a16:creationId xmlns:a16="http://schemas.microsoft.com/office/drawing/2014/main" id="{41DBA1B1-CCCD-47AC-9977-51C5A1090B02}"/>
              </a:ext>
            </a:extLst>
          </p:cNvPr>
          <p:cNvSpPr>
            <a:spLocks noGrp="1"/>
          </p:cNvSpPr>
          <p:nvPr>
            <p:ph type="body" sz="quarter" idx="30" hasCustomPrompt="1"/>
          </p:nvPr>
        </p:nvSpPr>
        <p:spPr>
          <a:xfrm>
            <a:off x="4311702" y="140436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33" name="Text Placeholder 2">
            <a:extLst>
              <a:ext uri="{FF2B5EF4-FFF2-40B4-BE49-F238E27FC236}">
                <a16:creationId xmlns:a16="http://schemas.microsoft.com/office/drawing/2014/main" id="{081ABFB0-EF3F-4F37-8A1C-C2879001CF11}"/>
              </a:ext>
            </a:extLst>
          </p:cNvPr>
          <p:cNvSpPr>
            <a:spLocks noGrp="1"/>
          </p:cNvSpPr>
          <p:nvPr>
            <p:ph type="body" sz="quarter" idx="31" hasCustomPrompt="1"/>
          </p:nvPr>
        </p:nvSpPr>
        <p:spPr>
          <a:xfrm>
            <a:off x="938441" y="1473116"/>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34" name="Text Placeholder 2">
            <a:extLst>
              <a:ext uri="{FF2B5EF4-FFF2-40B4-BE49-F238E27FC236}">
                <a16:creationId xmlns:a16="http://schemas.microsoft.com/office/drawing/2014/main" id="{4487B58C-9A6E-4D70-858F-B041D458DF29}"/>
              </a:ext>
            </a:extLst>
          </p:cNvPr>
          <p:cNvSpPr>
            <a:spLocks noGrp="1"/>
          </p:cNvSpPr>
          <p:nvPr>
            <p:ph type="body" sz="quarter" idx="32" hasCustomPrompt="1"/>
          </p:nvPr>
        </p:nvSpPr>
        <p:spPr>
          <a:xfrm flipV="1">
            <a:off x="4010063" y="1659930"/>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5" name="Text Placeholder 2">
            <a:extLst>
              <a:ext uri="{FF2B5EF4-FFF2-40B4-BE49-F238E27FC236}">
                <a16:creationId xmlns:a16="http://schemas.microsoft.com/office/drawing/2014/main" id="{A1F59B7B-92F7-4E94-A5F5-8BF72D3C9249}"/>
              </a:ext>
            </a:extLst>
          </p:cNvPr>
          <p:cNvSpPr>
            <a:spLocks noGrp="1"/>
          </p:cNvSpPr>
          <p:nvPr>
            <p:ph type="body" sz="quarter" idx="22" hasCustomPrompt="1"/>
          </p:nvPr>
        </p:nvSpPr>
        <p:spPr>
          <a:xfrm>
            <a:off x="6951712" y="635870"/>
            <a:ext cx="4516385" cy="1332630"/>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four lines</a:t>
            </a:r>
            <a:endParaRPr lang="en-US"/>
          </a:p>
        </p:txBody>
      </p:sp>
      <p:sp>
        <p:nvSpPr>
          <p:cNvPr id="19" name="Text Placeholder 2">
            <a:extLst>
              <a:ext uri="{FF2B5EF4-FFF2-40B4-BE49-F238E27FC236}">
                <a16:creationId xmlns:a16="http://schemas.microsoft.com/office/drawing/2014/main" id="{001620DB-988A-43D0-9AFF-640BE1F8A9D7}"/>
              </a:ext>
            </a:extLst>
          </p:cNvPr>
          <p:cNvSpPr>
            <a:spLocks noGrp="1"/>
          </p:cNvSpPr>
          <p:nvPr>
            <p:ph type="body" sz="quarter" idx="29" hasCustomPrompt="1"/>
          </p:nvPr>
        </p:nvSpPr>
        <p:spPr>
          <a:xfrm>
            <a:off x="711199" y="2039812"/>
            <a:ext cx="10756897" cy="4173663"/>
          </a:xfrm>
          <a:prstGeom prst="roundRect">
            <a:avLst>
              <a:gd name="adj" fmla="val 3430"/>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10" name="Text Placeholder 2">
            <a:extLst>
              <a:ext uri="{FF2B5EF4-FFF2-40B4-BE49-F238E27FC236}">
                <a16:creationId xmlns:a16="http://schemas.microsoft.com/office/drawing/2014/main" id="{1D9909DD-F223-4431-8E15-DC413D95670E}"/>
              </a:ext>
            </a:extLst>
          </p:cNvPr>
          <p:cNvSpPr>
            <a:spLocks noGrp="1"/>
          </p:cNvSpPr>
          <p:nvPr>
            <p:ph type="body" sz="quarter" idx="33" hasCustomPrompt="1"/>
          </p:nvPr>
        </p:nvSpPr>
        <p:spPr>
          <a:xfrm>
            <a:off x="4010063" y="1473116"/>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1" name="Text Placeholder 2">
            <a:extLst>
              <a:ext uri="{FF2B5EF4-FFF2-40B4-BE49-F238E27FC236}">
                <a16:creationId xmlns:a16="http://schemas.microsoft.com/office/drawing/2014/main" id="{39764314-F0BB-4810-BAD9-EE48461D49C7}"/>
              </a:ext>
            </a:extLst>
          </p:cNvPr>
          <p:cNvSpPr>
            <a:spLocks noGrp="1"/>
          </p:cNvSpPr>
          <p:nvPr>
            <p:ph type="body" sz="quarter" idx="34" hasCustomPrompt="1"/>
          </p:nvPr>
        </p:nvSpPr>
        <p:spPr>
          <a:xfrm flipV="1">
            <a:off x="938441" y="1659930"/>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Tree>
    <p:extLst>
      <p:ext uri="{BB962C8B-B14F-4D97-AF65-F5344CB8AC3E}">
        <p14:creationId xmlns:p14="http://schemas.microsoft.com/office/powerpoint/2010/main" val="193016071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2 KPI + Chart + Table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0227ED67-A913-4C02-A8B1-C4D8A92EF4F4}"/>
              </a:ext>
            </a:extLst>
          </p:cNvPr>
          <p:cNvSpPr>
            <a:spLocks noGrp="1"/>
          </p:cNvSpPr>
          <p:nvPr>
            <p:ph type="body" sz="quarter" idx="37" hasCustomPrompt="1"/>
          </p:nvPr>
        </p:nvSpPr>
        <p:spPr>
          <a:xfrm>
            <a:off x="3831455" y="1305970"/>
            <a:ext cx="3038476" cy="1332630"/>
          </a:xfrm>
          <a:prstGeom prst="roundRect">
            <a:avLst>
              <a:gd name="adj" fmla="val 7137"/>
            </a:avLst>
          </a:prstGeom>
          <a:solidFill>
            <a:schemeClr val="bg1"/>
          </a:solidFill>
        </p:spPr>
        <p:txBody>
          <a:bodyPr anchor="t">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0" name="Text Placeholder 2">
            <a:extLst>
              <a:ext uri="{FF2B5EF4-FFF2-40B4-BE49-F238E27FC236}">
                <a16:creationId xmlns:a16="http://schemas.microsoft.com/office/drawing/2014/main" id="{95680F84-7CA0-4A76-A066-EE3509ABFAA5}"/>
              </a:ext>
            </a:extLst>
          </p:cNvPr>
          <p:cNvSpPr>
            <a:spLocks noGrp="1"/>
          </p:cNvSpPr>
          <p:nvPr>
            <p:ph type="body" sz="quarter" idx="35" hasCustomPrompt="1"/>
          </p:nvPr>
        </p:nvSpPr>
        <p:spPr>
          <a:xfrm>
            <a:off x="711198" y="1305970"/>
            <a:ext cx="3038476" cy="1332630"/>
          </a:xfrm>
          <a:prstGeom prst="roundRect">
            <a:avLst>
              <a:gd name="adj" fmla="val 7137"/>
            </a:avLst>
          </a:prstGeom>
          <a:solidFill>
            <a:schemeClr val="bg1"/>
          </a:solidFill>
        </p:spPr>
        <p:txBody>
          <a:bodyPr anchor="t">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2" name="Text Placeholder 2">
            <a:extLst>
              <a:ext uri="{FF2B5EF4-FFF2-40B4-BE49-F238E27FC236}">
                <a16:creationId xmlns:a16="http://schemas.microsoft.com/office/drawing/2014/main" id="{2B5ACE8A-00AB-4751-B44E-BC98A2C47FDF}"/>
              </a:ext>
            </a:extLst>
          </p:cNvPr>
          <p:cNvSpPr>
            <a:spLocks noGrp="1"/>
          </p:cNvSpPr>
          <p:nvPr>
            <p:ph type="body" sz="quarter" idx="36" hasCustomPrompt="1"/>
          </p:nvPr>
        </p:nvSpPr>
        <p:spPr>
          <a:xfrm>
            <a:off x="6951712" y="1305970"/>
            <a:ext cx="4516385" cy="1332630"/>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four lines</a:t>
            </a:r>
            <a:endParaRPr lang="en-US"/>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605364" y="527693"/>
            <a:ext cx="10854797" cy="492443"/>
          </a:xfrm>
          <a:prstGeom prst="rect">
            <a:avLst/>
          </a:prstGeom>
        </p:spPr>
        <p:txBody>
          <a:bodyPr wrap="square" anchor="t">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1191445" y="209110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4311702" y="209110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13" name="Text Placeholder 2">
            <a:extLst>
              <a:ext uri="{FF2B5EF4-FFF2-40B4-BE49-F238E27FC236}">
                <a16:creationId xmlns:a16="http://schemas.microsoft.com/office/drawing/2014/main" id="{E6134188-DB8A-4DF9-87F8-34A8BEDCA7FC}"/>
              </a:ext>
            </a:extLst>
          </p:cNvPr>
          <p:cNvSpPr>
            <a:spLocks noGrp="1"/>
          </p:cNvSpPr>
          <p:nvPr>
            <p:ph type="body" sz="quarter" idx="41" hasCustomPrompt="1"/>
          </p:nvPr>
        </p:nvSpPr>
        <p:spPr>
          <a:xfrm>
            <a:off x="3998633" y="2166078"/>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4" name="Text Placeholder 2">
            <a:extLst>
              <a:ext uri="{FF2B5EF4-FFF2-40B4-BE49-F238E27FC236}">
                <a16:creationId xmlns:a16="http://schemas.microsoft.com/office/drawing/2014/main" id="{D5941F27-B6F5-4E44-8310-0328CB9A3F91}"/>
              </a:ext>
            </a:extLst>
          </p:cNvPr>
          <p:cNvSpPr>
            <a:spLocks noGrp="1"/>
          </p:cNvSpPr>
          <p:nvPr>
            <p:ph type="body" sz="quarter" idx="42" hasCustomPrompt="1"/>
          </p:nvPr>
        </p:nvSpPr>
        <p:spPr>
          <a:xfrm flipV="1">
            <a:off x="3998633" y="2352892"/>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6" name="Text Placeholder 2">
            <a:extLst>
              <a:ext uri="{FF2B5EF4-FFF2-40B4-BE49-F238E27FC236}">
                <a16:creationId xmlns:a16="http://schemas.microsoft.com/office/drawing/2014/main" id="{015AA8D5-E7C5-48A7-860E-F1C92F07CF88}"/>
              </a:ext>
            </a:extLst>
          </p:cNvPr>
          <p:cNvSpPr>
            <a:spLocks noGrp="1"/>
          </p:cNvSpPr>
          <p:nvPr>
            <p:ph type="body" sz="quarter" idx="31" hasCustomPrompt="1"/>
          </p:nvPr>
        </p:nvSpPr>
        <p:spPr>
          <a:xfrm>
            <a:off x="904014" y="2164184"/>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8" name="Text Placeholder 2">
            <a:extLst>
              <a:ext uri="{FF2B5EF4-FFF2-40B4-BE49-F238E27FC236}">
                <a16:creationId xmlns:a16="http://schemas.microsoft.com/office/drawing/2014/main" id="{A31D3082-BA96-40FA-85B8-3D8F90E67B79}"/>
              </a:ext>
            </a:extLst>
          </p:cNvPr>
          <p:cNvSpPr>
            <a:spLocks noGrp="1"/>
          </p:cNvSpPr>
          <p:nvPr>
            <p:ph type="body" sz="quarter" idx="43" hasCustomPrompt="1"/>
          </p:nvPr>
        </p:nvSpPr>
        <p:spPr>
          <a:xfrm flipV="1">
            <a:off x="904014" y="2350998"/>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5" name="Text Placeholder 2">
            <a:extLst>
              <a:ext uri="{FF2B5EF4-FFF2-40B4-BE49-F238E27FC236}">
                <a16:creationId xmlns:a16="http://schemas.microsoft.com/office/drawing/2014/main" id="{1CB3C3F8-03F6-41D1-BC35-CE9BDCFD64DE}"/>
              </a:ext>
            </a:extLst>
          </p:cNvPr>
          <p:cNvSpPr>
            <a:spLocks noGrp="1"/>
          </p:cNvSpPr>
          <p:nvPr>
            <p:ph type="body" sz="quarter" idx="32" hasCustomPrompt="1"/>
          </p:nvPr>
        </p:nvSpPr>
        <p:spPr>
          <a:xfrm>
            <a:off x="711198" y="2720493"/>
            <a:ext cx="5335200" cy="3492981"/>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2C63D07C-8DA6-4872-BED2-04DD278713B4}"/>
              </a:ext>
            </a:extLst>
          </p:cNvPr>
          <p:cNvSpPr>
            <a:spLocks noGrp="1"/>
          </p:cNvSpPr>
          <p:nvPr>
            <p:ph type="body" sz="quarter" idx="44" hasCustomPrompt="1"/>
          </p:nvPr>
        </p:nvSpPr>
        <p:spPr>
          <a:xfrm>
            <a:off x="6132896" y="2720493"/>
            <a:ext cx="5335200" cy="3492981"/>
          </a:xfrm>
          <a:prstGeom prst="roundRect">
            <a:avLst>
              <a:gd name="adj" fmla="val 317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Insert Table</a:t>
            </a:r>
          </a:p>
        </p:txBody>
      </p:sp>
    </p:spTree>
    <p:extLst>
      <p:ext uri="{BB962C8B-B14F-4D97-AF65-F5344CB8AC3E}">
        <p14:creationId xmlns:p14="http://schemas.microsoft.com/office/powerpoint/2010/main" val="39599416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2 KPI + Chart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1CF79DE6-489F-4295-A9F8-2AC173EAE383}"/>
              </a:ext>
            </a:extLst>
          </p:cNvPr>
          <p:cNvSpPr>
            <a:spLocks noGrp="1"/>
          </p:cNvSpPr>
          <p:nvPr>
            <p:ph type="body" sz="quarter" idx="38" hasCustomPrompt="1"/>
          </p:nvPr>
        </p:nvSpPr>
        <p:spPr>
          <a:xfrm>
            <a:off x="3831455" y="13059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KPI Title in maximum two lines (Delete unused arrow)</a:t>
            </a:r>
            <a:endParaRPr lang="en-US"/>
          </a:p>
        </p:txBody>
      </p:sp>
      <p:sp>
        <p:nvSpPr>
          <p:cNvPr id="16" name="Text Placeholder 2">
            <a:extLst>
              <a:ext uri="{FF2B5EF4-FFF2-40B4-BE49-F238E27FC236}">
                <a16:creationId xmlns:a16="http://schemas.microsoft.com/office/drawing/2014/main" id="{C7071110-F302-4469-BCA4-6E70028B0AA7}"/>
              </a:ext>
            </a:extLst>
          </p:cNvPr>
          <p:cNvSpPr>
            <a:spLocks noGrp="1"/>
          </p:cNvSpPr>
          <p:nvPr>
            <p:ph type="body" sz="quarter" idx="35" hasCustomPrompt="1"/>
          </p:nvPr>
        </p:nvSpPr>
        <p:spPr>
          <a:xfrm>
            <a:off x="711198" y="13059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KPI Title in maximum two lines (Delete unused arrow)</a:t>
            </a:r>
            <a:endParaRPr lang="en-US"/>
          </a:p>
        </p:txBody>
      </p:sp>
      <p:sp>
        <p:nvSpPr>
          <p:cNvPr id="19" name="Text Placeholder 2">
            <a:extLst>
              <a:ext uri="{FF2B5EF4-FFF2-40B4-BE49-F238E27FC236}">
                <a16:creationId xmlns:a16="http://schemas.microsoft.com/office/drawing/2014/main" id="{FD9FF712-8955-4640-BEE9-B35894011E84}"/>
              </a:ext>
            </a:extLst>
          </p:cNvPr>
          <p:cNvSpPr>
            <a:spLocks noGrp="1"/>
          </p:cNvSpPr>
          <p:nvPr>
            <p:ph type="body" sz="quarter" idx="36" hasCustomPrompt="1"/>
          </p:nvPr>
        </p:nvSpPr>
        <p:spPr>
          <a:xfrm>
            <a:off x="6951712" y="1305970"/>
            <a:ext cx="4516385" cy="1332630"/>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four lines</a:t>
            </a:r>
            <a:endParaRPr lang="en-US"/>
          </a:p>
        </p:txBody>
      </p:sp>
      <p:sp>
        <p:nvSpPr>
          <p:cNvPr id="15" name="Text Placeholder 2">
            <a:extLst>
              <a:ext uri="{FF2B5EF4-FFF2-40B4-BE49-F238E27FC236}">
                <a16:creationId xmlns:a16="http://schemas.microsoft.com/office/drawing/2014/main" id="{9E5A48BC-DC4F-4ACA-8BFB-82DF79BF4A9E}"/>
              </a:ext>
            </a:extLst>
          </p:cNvPr>
          <p:cNvSpPr>
            <a:spLocks noGrp="1"/>
          </p:cNvSpPr>
          <p:nvPr>
            <p:ph type="body" sz="quarter" idx="33" hasCustomPrompt="1"/>
          </p:nvPr>
        </p:nvSpPr>
        <p:spPr>
          <a:xfrm>
            <a:off x="711198" y="2720495"/>
            <a:ext cx="10748963" cy="3492980"/>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605364" y="527693"/>
            <a:ext cx="10854797" cy="492443"/>
          </a:xfrm>
          <a:prstGeom prst="rect">
            <a:avLst/>
          </a:prstGeom>
        </p:spPr>
        <p:txBody>
          <a:bodyPr wrap="square" anchor="t">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1191445" y="209110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4311702" y="209110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11" name="Text Placeholder 2">
            <a:extLst>
              <a:ext uri="{FF2B5EF4-FFF2-40B4-BE49-F238E27FC236}">
                <a16:creationId xmlns:a16="http://schemas.microsoft.com/office/drawing/2014/main" id="{34B3935D-25DE-4CF1-9411-C911A59E6897}"/>
              </a:ext>
            </a:extLst>
          </p:cNvPr>
          <p:cNvSpPr>
            <a:spLocks noGrp="1"/>
          </p:cNvSpPr>
          <p:nvPr>
            <p:ph type="body" sz="quarter" idx="31" hasCustomPrompt="1"/>
          </p:nvPr>
        </p:nvSpPr>
        <p:spPr>
          <a:xfrm>
            <a:off x="904014" y="2164184"/>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2" name="Text Placeholder 2">
            <a:extLst>
              <a:ext uri="{FF2B5EF4-FFF2-40B4-BE49-F238E27FC236}">
                <a16:creationId xmlns:a16="http://schemas.microsoft.com/office/drawing/2014/main" id="{ACE0E8C8-A862-4F77-BD30-287974C85C87}"/>
              </a:ext>
            </a:extLst>
          </p:cNvPr>
          <p:cNvSpPr>
            <a:spLocks noGrp="1"/>
          </p:cNvSpPr>
          <p:nvPr>
            <p:ph type="body" sz="quarter" idx="32" hasCustomPrompt="1"/>
          </p:nvPr>
        </p:nvSpPr>
        <p:spPr>
          <a:xfrm flipV="1">
            <a:off x="4010063" y="2350998"/>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3" name="Text Placeholder 2">
            <a:extLst>
              <a:ext uri="{FF2B5EF4-FFF2-40B4-BE49-F238E27FC236}">
                <a16:creationId xmlns:a16="http://schemas.microsoft.com/office/drawing/2014/main" id="{480E203D-96C0-4E30-8CCA-4B1C46536594}"/>
              </a:ext>
            </a:extLst>
          </p:cNvPr>
          <p:cNvSpPr>
            <a:spLocks noGrp="1"/>
          </p:cNvSpPr>
          <p:nvPr>
            <p:ph type="body" sz="quarter" idx="37" hasCustomPrompt="1"/>
          </p:nvPr>
        </p:nvSpPr>
        <p:spPr>
          <a:xfrm>
            <a:off x="4010063" y="2164184"/>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4" name="Text Placeholder 2">
            <a:extLst>
              <a:ext uri="{FF2B5EF4-FFF2-40B4-BE49-F238E27FC236}">
                <a16:creationId xmlns:a16="http://schemas.microsoft.com/office/drawing/2014/main" id="{E9060D44-04A5-496A-8472-D89D3962E2FD}"/>
              </a:ext>
            </a:extLst>
          </p:cNvPr>
          <p:cNvSpPr>
            <a:spLocks noGrp="1"/>
          </p:cNvSpPr>
          <p:nvPr>
            <p:ph type="body" sz="quarter" idx="34" hasCustomPrompt="1"/>
          </p:nvPr>
        </p:nvSpPr>
        <p:spPr>
          <a:xfrm flipV="1">
            <a:off x="904014" y="2350998"/>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Tree>
    <p:extLst>
      <p:ext uri="{BB962C8B-B14F-4D97-AF65-F5344CB8AC3E}">
        <p14:creationId xmlns:p14="http://schemas.microsoft.com/office/powerpoint/2010/main" val="344185014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731837" y="1507584"/>
            <a:ext cx="1455288" cy="845823"/>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1035788" y="870633"/>
            <a:ext cx="10417175" cy="510417"/>
          </a:xfrm>
          <a:prstGeom prst="rect">
            <a:avLst/>
          </a:prstGeom>
        </p:spPr>
        <p:txBody>
          <a:bodyPr anchor="t">
            <a:spAutoFit/>
          </a:bodyPr>
          <a:lstStyle>
            <a:lvl1pPr marL="0" indent="0" algn="l">
              <a:lnSpc>
                <a:spcPct val="100000"/>
              </a:lnSpc>
              <a:spcBef>
                <a:spcPts val="0"/>
              </a:spcBef>
              <a:buNone/>
              <a:defRPr sz="260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1042988" y="1712422"/>
            <a:ext cx="10417175" cy="4276519"/>
          </a:xfrm>
          <a:prstGeom prst="rect">
            <a:avLst/>
          </a:prstGeom>
        </p:spPr>
        <p:txBody>
          <a:bodyPr tIns="288000" anchor="t" anchorCtr="0">
            <a:spAutoFit/>
          </a:bodyPr>
          <a:lstStyle>
            <a:lvl1pPr marL="0" indent="0">
              <a:lnSpc>
                <a:spcPct val="100000"/>
              </a:lnSpc>
              <a:spcBef>
                <a:spcPts val="0"/>
              </a:spcBef>
              <a:buNone/>
              <a:defRPr sz="64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Tree>
    <p:extLst>
      <p:ext uri="{BB962C8B-B14F-4D97-AF65-F5344CB8AC3E}">
        <p14:creationId xmlns:p14="http://schemas.microsoft.com/office/powerpoint/2010/main" val="332774787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Quote + Dark bkgd.">
    <p:bg>
      <p:bgPr>
        <a:solidFill>
          <a:schemeClr val="tx1"/>
        </a:solidFill>
        <a:effectLst/>
      </p:bgPr>
    </p:bg>
    <p:spTree>
      <p:nvGrpSpPr>
        <p:cNvPr id="1" name=""/>
        <p:cNvGrpSpPr/>
        <p:nvPr/>
      </p:nvGrpSpPr>
      <p:grpSpPr>
        <a:xfrm>
          <a:off x="0" y="0"/>
          <a:ext cx="0" cy="0"/>
          <a:chOff x="0" y="0"/>
          <a:chExt cx="0" cy="0"/>
        </a:xfrm>
      </p:grpSpPr>
      <p:pic>
        <p:nvPicPr>
          <p:cNvPr id="13" name="Picture 12" descr="A close up of a logo&#10;&#10;Description generated with very high confidence">
            <a:extLst>
              <a:ext uri="{FF2B5EF4-FFF2-40B4-BE49-F238E27FC236}">
                <a16:creationId xmlns:a16="http://schemas.microsoft.com/office/drawing/2014/main" id="{C49040EA-FE23-4B53-8BE5-BD8E2C417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3861" y="6556891"/>
            <a:ext cx="686144" cy="147200"/>
          </a:xfrm>
          <a:prstGeom prst="rect">
            <a:avLst/>
          </a:prstGeom>
        </p:spPr>
      </p:pic>
      <p:sp>
        <p:nvSpPr>
          <p:cNvPr id="14" name="Title 1">
            <a:extLst>
              <a:ext uri="{FF2B5EF4-FFF2-40B4-BE49-F238E27FC236}">
                <a16:creationId xmlns:a16="http://schemas.microsoft.com/office/drawing/2014/main" id="{848B6007-B878-459B-95AA-ADC9B06B3C01}"/>
              </a:ext>
            </a:extLst>
          </p:cNvPr>
          <p:cNvSpPr txBox="1">
            <a:spLocks/>
          </p:cNvSpPr>
          <p:nvPr/>
        </p:nvSpPr>
        <p:spPr>
          <a:xfrm>
            <a:off x="5871733" y="6523249"/>
            <a:ext cx="448535" cy="218654"/>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fld id="{8CDB8CBA-EB11-894E-8631-17E36B7DB51E}" type="slidenum">
              <a:rPr lang="en-US" smtClean="0">
                <a:solidFill>
                  <a:schemeClr val="bg1">
                    <a:lumMod val="75000"/>
                  </a:schemeClr>
                </a:solidFill>
                <a:latin typeface="+mn-lt"/>
              </a:rPr>
              <a:pPr>
                <a:lnSpc>
                  <a:spcPct val="100000"/>
                </a:lnSpc>
              </a:pPr>
              <a:t>‹#›</a:t>
            </a:fld>
            <a:endParaRPr lang="en-US">
              <a:solidFill>
                <a:schemeClr val="bg1">
                  <a:lumMod val="75000"/>
                </a:schemeClr>
              </a:solidFill>
              <a:latin typeface="+mn-lt"/>
            </a:endParaRPr>
          </a:p>
        </p:txBody>
      </p:sp>
      <p:sp>
        <p:nvSpPr>
          <p:cNvPr id="15" name="Title 1">
            <a:extLst>
              <a:ext uri="{FF2B5EF4-FFF2-40B4-BE49-F238E27FC236}">
                <a16:creationId xmlns:a16="http://schemas.microsoft.com/office/drawing/2014/main" id="{C6629807-3F1E-438A-BAAD-E5AEF947C5F5}"/>
              </a:ext>
            </a:extLst>
          </p:cNvPr>
          <p:cNvSpPr txBox="1">
            <a:spLocks/>
          </p:cNvSpPr>
          <p:nvPr/>
        </p:nvSpPr>
        <p:spPr>
          <a:xfrm>
            <a:off x="652463" y="6523249"/>
            <a:ext cx="3200399" cy="218654"/>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00000"/>
              </a:lnSpc>
            </a:pPr>
            <a:r>
              <a:rPr lang="en-US">
                <a:solidFill>
                  <a:schemeClr val="bg1">
                    <a:lumMod val="75000"/>
                  </a:schemeClr>
                </a:solidFill>
                <a:latin typeface="+mn-lt"/>
              </a:rPr>
              <a:t>© 2026 CellStrat. All rights reserved | CCA Intensive</a:t>
            </a:r>
          </a:p>
        </p:txBody>
      </p:sp>
      <p:grpSp>
        <p:nvGrpSpPr>
          <p:cNvPr id="10" name="Group 9">
            <a:extLst>
              <a:ext uri="{FF2B5EF4-FFF2-40B4-BE49-F238E27FC236}">
                <a16:creationId xmlns:a16="http://schemas.microsoft.com/office/drawing/2014/main" id="{D4EF20FE-8CE2-47D4-BA67-42C359E87A36}"/>
              </a:ext>
            </a:extLst>
          </p:cNvPr>
          <p:cNvGrpSpPr/>
          <p:nvPr/>
        </p:nvGrpSpPr>
        <p:grpSpPr>
          <a:xfrm>
            <a:off x="731837" y="1507584"/>
            <a:ext cx="1455288" cy="845823"/>
            <a:chOff x="4640712" y="1507584"/>
            <a:chExt cx="1455288" cy="845823"/>
          </a:xfrm>
        </p:grpSpPr>
        <p:sp>
          <p:nvSpPr>
            <p:cNvPr id="16" name="TextBox 15">
              <a:extLst>
                <a:ext uri="{FF2B5EF4-FFF2-40B4-BE49-F238E27FC236}">
                  <a16:creationId xmlns:a16="http://schemas.microsoft.com/office/drawing/2014/main" id="{AC591764-F364-4147-B28C-D6CF0DD6FF88}"/>
                </a:ext>
              </a:extLst>
            </p:cNvPr>
            <p:cNvSpPr txBox="1">
              <a:spLocks/>
            </p:cNvSpPr>
            <p:nvPr userDrawn="1"/>
          </p:nvSpPr>
          <p:spPr>
            <a:xfrm>
              <a:off x="4640712" y="1507584"/>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sp>
          <p:nvSpPr>
            <p:cNvPr id="17" name="TextBox 16">
              <a:extLst>
                <a:ext uri="{FF2B5EF4-FFF2-40B4-BE49-F238E27FC236}">
                  <a16:creationId xmlns:a16="http://schemas.microsoft.com/office/drawing/2014/main" id="{5B56254D-ECCA-4335-A674-D290293E0913}"/>
                </a:ext>
              </a:extLst>
            </p:cNvPr>
            <p:cNvSpPr txBox="1">
              <a:spLocks/>
            </p:cNvSpPr>
            <p:nvPr userDrawn="1"/>
          </p:nvSpPr>
          <p:spPr>
            <a:xfrm>
              <a:off x="5429133" y="1507584"/>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grpSp>
      <p:sp>
        <p:nvSpPr>
          <p:cNvPr id="18" name="Text Placeholder 4">
            <a:extLst>
              <a:ext uri="{FF2B5EF4-FFF2-40B4-BE49-F238E27FC236}">
                <a16:creationId xmlns:a16="http://schemas.microsoft.com/office/drawing/2014/main" id="{539A892A-E0A3-4F85-AC15-00958250E5A0}"/>
              </a:ext>
            </a:extLst>
          </p:cNvPr>
          <p:cNvSpPr>
            <a:spLocks noGrp="1"/>
          </p:cNvSpPr>
          <p:nvPr>
            <p:ph type="body" sz="quarter" idx="13" hasCustomPrompt="1"/>
          </p:nvPr>
        </p:nvSpPr>
        <p:spPr>
          <a:xfrm>
            <a:off x="1042988" y="1712422"/>
            <a:ext cx="10417175" cy="4276519"/>
          </a:xfrm>
          <a:prstGeom prst="rect">
            <a:avLst/>
          </a:prstGeom>
        </p:spPr>
        <p:txBody>
          <a:bodyPr tIns="288000" anchor="t" anchorCtr="0">
            <a:spAutoFit/>
          </a:bodyPr>
          <a:lstStyle>
            <a:lvl1pPr marL="0" indent="0">
              <a:lnSpc>
                <a:spcPct val="100000"/>
              </a:lnSpc>
              <a:spcBef>
                <a:spcPts val="0"/>
              </a:spcBef>
              <a:buNone/>
              <a:defRPr sz="6400" b="1" i="0">
                <a:solidFill>
                  <a:srgbClr val="FFFFFF"/>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
        <p:nvSpPr>
          <p:cNvPr id="19" name="Text Placeholder 4">
            <a:extLst>
              <a:ext uri="{FF2B5EF4-FFF2-40B4-BE49-F238E27FC236}">
                <a16:creationId xmlns:a16="http://schemas.microsoft.com/office/drawing/2014/main" id="{73946CEA-176B-4058-93BA-D0D282E61443}"/>
              </a:ext>
            </a:extLst>
          </p:cNvPr>
          <p:cNvSpPr>
            <a:spLocks noGrp="1"/>
          </p:cNvSpPr>
          <p:nvPr>
            <p:ph type="body" sz="quarter" idx="15" hasCustomPrompt="1"/>
          </p:nvPr>
        </p:nvSpPr>
        <p:spPr>
          <a:xfrm>
            <a:off x="1035788" y="870633"/>
            <a:ext cx="10417175" cy="510417"/>
          </a:xfrm>
          <a:prstGeom prst="rect">
            <a:avLst/>
          </a:prstGeom>
        </p:spPr>
        <p:txBody>
          <a:bodyPr anchor="t">
            <a:spAutoFit/>
          </a:bodyPr>
          <a:lstStyle>
            <a:lvl1pPr marL="0" indent="0" algn="l">
              <a:lnSpc>
                <a:spcPct val="100000"/>
              </a:lnSpc>
              <a:spcBef>
                <a:spcPts val="0"/>
              </a:spcBef>
              <a:buNone/>
              <a:defRPr sz="2600" b="0" i="0">
                <a:solidFill>
                  <a:srgbClr val="FFFFFF"/>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Tree>
    <p:extLst>
      <p:ext uri="{BB962C8B-B14F-4D97-AF65-F5344CB8AC3E}">
        <p14:creationId xmlns:p14="http://schemas.microsoft.com/office/powerpoint/2010/main" val="52635879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9EA7E8-D58C-4823-96CC-7C58457E2C33}"/>
              </a:ext>
            </a:extLst>
          </p:cNvPr>
          <p:cNvGrpSpPr/>
          <p:nvPr/>
        </p:nvGrpSpPr>
        <p:grpSpPr>
          <a:xfrm>
            <a:off x="615146" y="667216"/>
            <a:ext cx="1455288" cy="845823"/>
            <a:chOff x="7946718" y="2965722"/>
            <a:chExt cx="1455288" cy="845823"/>
          </a:xfrm>
          <a:solidFill>
            <a:srgbClr val="D6D6D6"/>
          </a:solidFill>
        </p:grpSpPr>
        <p:sp>
          <p:nvSpPr>
            <p:cNvPr id="10" name="TextBox 9">
              <a:extLst>
                <a:ext uri="{FF2B5EF4-FFF2-40B4-BE49-F238E27FC236}">
                  <a16:creationId xmlns:a16="http://schemas.microsoft.com/office/drawing/2014/main" id="{252B4F35-079E-4266-92C5-94E8876B874B}"/>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sp>
          <p:nvSpPr>
            <p:cNvPr id="11" name="TextBox 10">
              <a:extLst>
                <a:ext uri="{FF2B5EF4-FFF2-40B4-BE49-F238E27FC236}">
                  <a16:creationId xmlns:a16="http://schemas.microsoft.com/office/drawing/2014/main" id="{12BE29EC-219E-4956-B6C5-7099FDB8AC2F}"/>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6886358" y="0"/>
            <a:ext cx="5305642" cy="6213475"/>
          </a:xfrm>
          <a:prstGeom prst="rect">
            <a:avLst/>
          </a:prstGeom>
        </p:spPr>
        <p:txBody>
          <a:bodyPr/>
          <a:lstStyle>
            <a:lvl1pPr marL="0" indent="0">
              <a:lnSpc>
                <a:spcPct val="100000"/>
              </a:lnSpc>
              <a:buNone/>
              <a:defRPr sz="16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431925" y="1127877"/>
            <a:ext cx="5426075" cy="4616648"/>
          </a:xfrm>
          <a:prstGeom prst="rect">
            <a:avLst/>
          </a:prstGeom>
        </p:spPr>
        <p:txBody>
          <a:bodyPr anchor="t">
            <a:spAutoFit/>
          </a:bodyPr>
          <a:lstStyle>
            <a:lvl1pPr marL="0" indent="0">
              <a:lnSpc>
                <a:spcPct val="100000"/>
              </a:lnSpc>
              <a:spcBef>
                <a:spcPts val="0"/>
              </a:spcBef>
              <a:buNone/>
              <a:defRPr sz="420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431925" y="5730123"/>
            <a:ext cx="5426075" cy="492443"/>
          </a:xfrm>
          <a:prstGeom prst="rect">
            <a:avLst/>
          </a:prstGeom>
        </p:spPr>
        <p:txBody>
          <a:bodyPr anchor="t">
            <a:spAutoFit/>
          </a:bodyPr>
          <a:lstStyle>
            <a:lvl1pPr marL="0" indent="0" algn="r">
              <a:lnSpc>
                <a:spcPct val="100000"/>
              </a:lnSpc>
              <a:spcBef>
                <a:spcPts val="0"/>
              </a:spcBef>
              <a:buNone/>
              <a:defRPr sz="2600" b="1" i="0">
                <a:solidFill>
                  <a:schemeClr val="accent4"/>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196924760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580635" y="2595484"/>
            <a:ext cx="5003301" cy="104644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GB"/>
              <a:t>Thank You.</a:t>
            </a:r>
            <a:endParaRPr lang="en-US"/>
          </a:p>
        </p:txBody>
      </p:sp>
      <p:sp>
        <p:nvSpPr>
          <p:cNvPr id="18" name="TextBox 17">
            <a:extLst>
              <a:ext uri="{FF2B5EF4-FFF2-40B4-BE49-F238E27FC236}">
                <a16:creationId xmlns:a16="http://schemas.microsoft.com/office/drawing/2014/main" id="{0FAC5960-9DFE-4FCE-9F3E-7E71D5335D59}"/>
              </a:ext>
            </a:extLst>
          </p:cNvPr>
          <p:cNvSpPr txBox="1"/>
          <p:nvPr/>
        </p:nvSpPr>
        <p:spPr>
          <a:xfrm>
            <a:off x="729624" y="5382478"/>
            <a:ext cx="4359763" cy="830997"/>
          </a:xfrm>
          <a:prstGeom prst="rect">
            <a:avLst/>
          </a:prstGeom>
          <a:noFill/>
        </p:spPr>
        <p:txBody>
          <a:bodyPr wrap="square" rtlCol="0">
            <a:spAutoFit/>
          </a:bodyPr>
          <a:lstStyle/>
          <a:p>
            <a:r>
              <a:rPr lang="en-US" sz="1200">
                <a:solidFill>
                  <a:schemeClr val="tx2"/>
                </a:solidFill>
                <a:latin typeface="Open Sans" panose="020B0606030504020204" pitchFamily="34" charset="0"/>
                <a:ea typeface="Open Sans" panose="020B0606030504020204" pitchFamily="34" charset="0"/>
                <a:cs typeface="Open Sans" panose="020B0606030504020204" pitchFamily="34" charset="0"/>
              </a:rPr>
              <a:t>Claude Code Certified Architect (CCA) · a hands-on CellStrat intensive. Build, break, secure, test and ship.</a:t>
            </a:r>
          </a:p>
        </p:txBody>
      </p:sp>
      <p:sp>
        <p:nvSpPr>
          <p:cNvPr id="19" name="TextBox 18">
            <a:extLst>
              <a:ext uri="{FF2B5EF4-FFF2-40B4-BE49-F238E27FC236}">
                <a16:creationId xmlns:a16="http://schemas.microsoft.com/office/drawing/2014/main" id="{436E1585-D766-4B04-A7D7-9B27FF597730}"/>
              </a:ext>
            </a:extLst>
          </p:cNvPr>
          <p:cNvSpPr txBox="1"/>
          <p:nvPr/>
        </p:nvSpPr>
        <p:spPr>
          <a:xfrm>
            <a:off x="10351096" y="6029237"/>
            <a:ext cx="1199702" cy="276999"/>
          </a:xfrm>
          <a:prstGeom prst="rect">
            <a:avLst/>
          </a:prstGeom>
          <a:noFill/>
        </p:spPr>
        <p:txBody>
          <a:bodyPr wrap="square" rtlCol="0">
            <a:spAutoFit/>
          </a:bodyPr>
          <a:lstStyle/>
          <a:p>
            <a:r>
              <a:rPr lang="en-US" sz="1200" err="1">
                <a:solidFill>
                  <a:srgbClr val="6B6B6B"/>
                </a:solidFill>
                <a:latin typeface="Open Sans" panose="020B0606030504020204" pitchFamily="34" charset="0"/>
                <a:ea typeface="Open Sans" panose="020B0606030504020204" pitchFamily="34" charset="0"/>
                <a:cs typeface="Open Sans" panose="020B0606030504020204" pitchFamily="34" charset="0"/>
              </a:rPr>
              <a:t>CellStrat</a:t>
            </a:r>
            <a:endParaRPr lang="en-US" sz="12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extLst>
              <a:ext uri="{FF2B5EF4-FFF2-40B4-BE49-F238E27FC236}">
                <a16:creationId xmlns:a16="http://schemas.microsoft.com/office/drawing/2014/main" id="{B6C1155E-5832-4871-A7A9-F568C266B18F}"/>
              </a:ext>
            </a:extLst>
          </p:cNvPr>
          <p:cNvSpPr>
            <a:spLocks noEditPoints="1"/>
          </p:cNvSpPr>
          <p:nvPr/>
        </p:nvSpPr>
        <p:spPr bwMode="auto">
          <a:xfrm>
            <a:off x="9001063" y="5942606"/>
            <a:ext cx="309599" cy="335495"/>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extLst>
              <a:ext uri="{FF2B5EF4-FFF2-40B4-BE49-F238E27FC236}">
                <a16:creationId xmlns:a16="http://schemas.microsoft.com/office/drawing/2014/main" id="{123AD49C-4EAA-4A9F-8D0C-E2B97FC4CB79}"/>
              </a:ext>
            </a:extLst>
          </p:cNvPr>
          <p:cNvSpPr>
            <a:spLocks noEditPoints="1"/>
          </p:cNvSpPr>
          <p:nvPr/>
        </p:nvSpPr>
        <p:spPr bwMode="auto">
          <a:xfrm>
            <a:off x="9386925" y="5963631"/>
            <a:ext cx="269148" cy="263698"/>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762834" y="4795112"/>
            <a:ext cx="1804127" cy="462596"/>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10040493" y="5975875"/>
            <a:ext cx="237600" cy="2376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9726630" y="5975875"/>
            <a:ext cx="237600" cy="237600"/>
          </a:xfrm>
          <a:prstGeom prst="rect">
            <a:avLst/>
          </a:prstGeom>
        </p:spPr>
      </p:pic>
    </p:spTree>
    <p:extLst>
      <p:ext uri="{BB962C8B-B14F-4D97-AF65-F5344CB8AC3E}">
        <p14:creationId xmlns:p14="http://schemas.microsoft.com/office/powerpoint/2010/main" val="105775939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3418049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 Id="rId40" Type="http://schemas.openxmlformats.org/officeDocument/2006/relationships/image" Target="../media/image1_cellstrat.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slideLayout" Target="../slideLayouts/slideLayout52.xml"/><Relationship Id="rId15" Type="http://schemas.openxmlformats.org/officeDocument/2006/relationships/slideLayout" Target="../slideLayouts/slideLayout53.xml"/><Relationship Id="rId16" Type="http://schemas.openxmlformats.org/officeDocument/2006/relationships/slideLayout" Target="../slideLayouts/slideLayout54.xml"/><Relationship Id="rId17" Type="http://schemas.openxmlformats.org/officeDocument/2006/relationships/slideLayout" Target="../slideLayouts/slideLayout55.xml"/><Relationship Id="rId18" Type="http://schemas.openxmlformats.org/officeDocument/2006/relationships/slideLayout" Target="../slideLayouts/slideLayout56.xml"/><Relationship Id="rId19" Type="http://schemas.openxmlformats.org/officeDocument/2006/relationships/slideLayout" Target="../slideLayouts/slideLayout57.xml"/><Relationship Id="rId20" Type="http://schemas.openxmlformats.org/officeDocument/2006/relationships/slideLayout" Target="../slideLayouts/slideLayout58.xml"/><Relationship Id="rId21" Type="http://schemas.openxmlformats.org/officeDocument/2006/relationships/slideLayout" Target="../slideLayouts/slideLayout59.xml"/><Relationship Id="rId22" Type="http://schemas.openxmlformats.org/officeDocument/2006/relationships/slideLayout" Target="../slideLayouts/slideLayout60.xml"/><Relationship Id="rId23" Type="http://schemas.openxmlformats.org/officeDocument/2006/relationships/slideLayout" Target="../slideLayouts/slideLayout61.xml"/><Relationship Id="rId24" Type="http://schemas.openxmlformats.org/officeDocument/2006/relationships/slideLayout" Target="../slideLayouts/slideLayout62.xml"/><Relationship Id="rId25" Type="http://schemas.openxmlformats.org/officeDocument/2006/relationships/slideLayout" Target="../slideLayouts/slideLayout63.xml"/><Relationship Id="rId26" Type="http://schemas.openxmlformats.org/officeDocument/2006/relationships/slideLayout" Target="../slideLayouts/slideLayout64.xml"/><Relationship Id="rId27" Type="http://schemas.openxmlformats.org/officeDocument/2006/relationships/slideLayout" Target="../slideLayouts/slideLayout65.xml"/><Relationship Id="rId28" Type="http://schemas.openxmlformats.org/officeDocument/2006/relationships/slideLayout" Target="../slideLayouts/slideLayout66.xml"/><Relationship Id="rId29" Type="http://schemas.openxmlformats.org/officeDocument/2006/relationships/slideLayout" Target="../slideLayouts/slideLayout67.xml"/><Relationship Id="rId30" Type="http://schemas.openxmlformats.org/officeDocument/2006/relationships/slideLayout" Target="../slideLayouts/slideLayout68.xml"/><Relationship Id="rId31" Type="http://schemas.openxmlformats.org/officeDocument/2006/relationships/slideLayout" Target="../slideLayouts/slideLayout69.xml"/><Relationship Id="rId32" Type="http://schemas.openxmlformats.org/officeDocument/2006/relationships/slideLayout" Target="../slideLayouts/slideLayout70.xml"/><Relationship Id="rId33" Type="http://schemas.openxmlformats.org/officeDocument/2006/relationships/slideLayout" Target="../slideLayouts/slideLayout71.xml"/><Relationship Id="rId34" Type="http://schemas.openxmlformats.org/officeDocument/2006/relationships/slideLayout" Target="../slideLayouts/slideLayout72.xml"/><Relationship Id="rId35" Type="http://schemas.openxmlformats.org/officeDocument/2006/relationships/slideLayout" Target="../slideLayouts/slideLayout73.xml"/><Relationship Id="rId36" Type="http://schemas.openxmlformats.org/officeDocument/2006/relationships/slideLayout" Target="../slideLayouts/slideLayout74.xml"/><Relationship Id="rId37" Type="http://schemas.openxmlformats.org/officeDocument/2006/relationships/slideLayout" Target="../slideLayouts/slideLayout75.xml"/><Relationship Id="rId38" Type="http://schemas.openxmlformats.org/officeDocument/2006/relationships/slideLayout" Target="../slideLayouts/slideLayout76.xml"/><Relationship Id="rId39" Type="http://schemas.openxmlformats.org/officeDocument/2006/relationships/slideLayout" Target="../slideLayouts/slideLayout77.xml"/><Relationship Id="rId40" Type="http://schemas.openxmlformats.org/officeDocument/2006/relationships/slideLayout" Target="../slideLayouts/slideLayout78.xml"/><Relationship Id="rId41" Type="http://schemas.openxmlformats.org/officeDocument/2006/relationships/slideLayout" Target="../slideLayouts/slideLayout79.xml"/><Relationship Id="rId42" Type="http://schemas.openxmlformats.org/officeDocument/2006/relationships/slideLayout" Target="../slideLayouts/slideLayout80.xml"/><Relationship Id="rId43" Type="http://schemas.openxmlformats.org/officeDocument/2006/relationships/slideLayout" Target="../slideLayouts/slideLayout81.xml"/><Relationship Id="rId44" Type="http://schemas.openxmlformats.org/officeDocument/2006/relationships/slideLayout" Target="../slideLayouts/slideLayout82.xml"/><Relationship Id="rId45" Type="http://schemas.openxmlformats.org/officeDocument/2006/relationships/slideLayout" Target="../slideLayouts/slideLayout83.xml"/><Relationship Id="rId46" Type="http://schemas.openxmlformats.org/officeDocument/2006/relationships/theme" Target="../theme/theme2.xml"/><Relationship Id="rId47" Type="http://schemas.openxmlformats.org/officeDocument/2006/relationships/image" Target="../media/image1_cellstrat.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5871733" y="6523249"/>
            <a:ext cx="448535" cy="218654"/>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mtClean="0"/>
              <a:pPr/>
              <a:t>‹#›</a:t>
            </a:fld>
            <a:endParaRPr lang="en-US"/>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652463" y="6523249"/>
            <a:ext cx="3200399" cy="218654"/>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 2026 CellStrat. All rights reserved | CCA Intensive</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40">
            <a:extLst>
              <a:ext uri="{28A0092B-C50C-407E-A947-70E740481C1C}">
                <a14:useLocalDpi xmlns:a14="http://schemas.microsoft.com/office/drawing/2010/main" val="0"/>
              </a:ext>
            </a:extLst>
          </a:blip>
          <a:srcRect b="24104"/>
          <a:stretch/>
        </p:blipFill>
        <p:spPr>
          <a:xfrm>
            <a:off x="10783861" y="6556351"/>
            <a:ext cx="686144" cy="149645"/>
          </a:xfrm>
          <a:prstGeom prst="rect">
            <a:avLst/>
          </a:prstGeom>
        </p:spPr>
      </p:pic>
    </p:spTree>
    <p:extLst>
      <p:ext uri="{BB962C8B-B14F-4D97-AF65-F5344CB8AC3E}">
        <p14:creationId xmlns:p14="http://schemas.microsoft.com/office/powerpoint/2010/main" val="276488254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0">
          <p15:clr>
            <a:srgbClr val="F26B43"/>
          </p15:clr>
        </p15:guide>
        <p15:guide id="2" pos="448">
          <p15:clr>
            <a:srgbClr val="F26B43"/>
          </p15:clr>
        </p15:guide>
        <p15:guide id="29" orient="horz" pos="809">
          <p15:clr>
            <a:srgbClr val="F26B43"/>
          </p15:clr>
        </p15:guide>
        <p15:guide id="43" orient="horz" pos="3914">
          <p15:clr>
            <a:srgbClr val="F26B43"/>
          </p15:clr>
        </p15:guide>
        <p15:guide id="44" pos="721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5871733" y="6523249"/>
            <a:ext cx="448535" cy="218654"/>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mtClean="0"/>
              <a:pPr/>
              <a:t>‹#›</a:t>
            </a:fld>
            <a:endParaRPr lang="en-US"/>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652463" y="6523249"/>
            <a:ext cx="3200399" cy="218654"/>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 2026 CellStrat. All rights reserved | CCA Intensive</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47">
            <a:extLst>
              <a:ext uri="{28A0092B-C50C-407E-A947-70E740481C1C}">
                <a14:useLocalDpi xmlns:a14="http://schemas.microsoft.com/office/drawing/2010/main" val="0"/>
              </a:ext>
            </a:extLst>
          </a:blip>
          <a:srcRect b="24104"/>
          <a:stretch/>
        </p:blipFill>
        <p:spPr>
          <a:xfrm>
            <a:off x="10783861" y="6556351"/>
            <a:ext cx="686144" cy="149645"/>
          </a:xfrm>
          <a:prstGeom prst="rect">
            <a:avLst/>
          </a:prstGeom>
        </p:spPr>
      </p:pic>
    </p:spTree>
    <p:extLst>
      <p:ext uri="{BB962C8B-B14F-4D97-AF65-F5344CB8AC3E}">
        <p14:creationId xmlns:p14="http://schemas.microsoft.com/office/powerpoint/2010/main" val="2715809288"/>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 id="2147483732" r:id="rId32"/>
    <p:sldLayoutId id="2147483733" r:id="rId33"/>
    <p:sldLayoutId id="2147483734" r:id="rId34"/>
    <p:sldLayoutId id="2147483735" r:id="rId35"/>
    <p:sldLayoutId id="2147483736" r:id="rId36"/>
    <p:sldLayoutId id="2147483737" r:id="rId37"/>
    <p:sldLayoutId id="2147483738" r:id="rId38"/>
    <p:sldLayoutId id="2147483739" r:id="rId39"/>
    <p:sldLayoutId id="2147483740" r:id="rId40"/>
    <p:sldLayoutId id="2147483741" r:id="rId41"/>
    <p:sldLayoutId id="2147483742" r:id="rId42"/>
    <p:sldLayoutId id="2147483743" r:id="rId43"/>
    <p:sldLayoutId id="2147483744" r:id="rId44"/>
    <p:sldLayoutId id="2147483745" r:id="rId4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0">
          <p15:clr>
            <a:srgbClr val="F26B43"/>
          </p15:clr>
        </p15:guide>
        <p15:guide id="2" pos="448">
          <p15:clr>
            <a:srgbClr val="F26B43"/>
          </p15:clr>
        </p15:guide>
        <p15:guide id="29" orient="horz" pos="809">
          <p15:clr>
            <a:srgbClr val="F26B43"/>
          </p15:clr>
        </p15:guide>
        <p15:guide id="43" orient="horz" pos="3914">
          <p15:clr>
            <a:srgbClr val="F26B43"/>
          </p15:clr>
        </p15:guide>
        <p15:guide id="44" pos="721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2.xml"/><Relationship Id="rId3" Type="http://schemas.openxmlformats.org/officeDocument/2006/relationships/image" Target="../media/image16.svg"/><Relationship Id="rId4" Type="http://schemas.openxmlformats.org/officeDocument/2006/relationships/image" Target="../media/image17.svg"/><Relationship Id="rId5" Type="http://schemas.openxmlformats.org/officeDocument/2006/relationships/image" Target="../media/image18.svg"/><Relationship Id="rId6" Type="http://schemas.openxmlformats.org/officeDocument/2006/relationships/image" Target="../media/image19.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9.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22.svg"/><Relationship Id="rId6" Type="http://schemas.openxmlformats.org/officeDocument/2006/relationships/image" Target="../media/image2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24.svg"/><Relationship Id="rId4" Type="http://schemas.openxmlformats.org/officeDocument/2006/relationships/image" Target="../media/image25.svg"/><Relationship Id="rId5" Type="http://schemas.openxmlformats.org/officeDocument/2006/relationships/image" Target="../media/image2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83.xml"/><Relationship Id="rId3" Type="http://schemas.openxmlformats.org/officeDocument/2006/relationships/notesSlide" Target="../notesSlides/notesSlide19.xml"/><Relationship Id="rId4" Type="http://schemas.openxmlformats.org/officeDocument/2006/relationships/image" Target="../media/image28.svg"/><Relationship Id="rId5" Type="http://schemas.openxmlformats.org/officeDocument/2006/relationships/image" Target="../media/image29.svg"/><Relationship Id="rId6" Type="http://schemas.openxmlformats.org/officeDocument/2006/relationships/image" Target="../media/image30.svg"/></Relationships>
</file>

<file path=ppt/slides/_rels/slide2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83.xml"/><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83.xml"/><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83.xml"/><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83.xml"/><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83.xml"/><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34.xml"/><Relationship Id="rId3" Type="http://schemas.openxmlformats.org/officeDocument/2006/relationships/image" Target="../media/image31.svg"/><Relationship Id="rId4" Type="http://schemas.openxmlformats.org/officeDocument/2006/relationships/image" Target="../media/image32.svg"/><Relationship Id="rId5" Type="http://schemas.openxmlformats.org/officeDocument/2006/relationships/image" Target="../media/image33.svg"/><Relationship Id="rId6" Type="http://schemas.openxmlformats.org/officeDocument/2006/relationships/image" Target="../media/image34.svg"/><Relationship Id="rId7" Type="http://schemas.openxmlformats.org/officeDocument/2006/relationships/image" Target="../media/image35.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83.xml"/><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DAC3-A516-0572-A926-8B630EE5858D}"/>
              </a:ext>
            </a:extLst>
          </p:cNvPr>
          <p:cNvSpPr>
            <a:spLocks noGrp="1"/>
          </p:cNvSpPr>
          <p:nvPr>
            <p:ph type="ctrTitle"/>
          </p:nvPr>
        </p:nvSpPr>
        <p:spPr>
          <a:xfrm>
            <a:off x="730800" y="2614024"/>
            <a:ext cx="8967225" cy="1938992"/>
          </a:xfrm>
        </p:spPr>
        <p:txBody>
          <a:bodyPr wrap="square" lIns="91440" tIns="45720" rIns="91440" bIns="45720" anchor="b">
            <a:spAutoFit/>
          </a:bodyPr>
          <a:lstStyle/>
          <a:p>
            <a:r>
              <a:rPr lang="en-IN" sz="6000" dirty="0">
                <a:ea typeface="Open Sans"/>
                <a:cs typeface="Open Sans"/>
              </a:rPr>
              <a:t>Claude Code Certified Architect</a:t>
            </a:r>
            <a:endParaRPr lang="en-US" sz="6000"/>
          </a:p>
        </p:txBody>
      </p:sp>
      <p:sp>
        <p:nvSpPr>
          <p:cNvPr id="3" name="Subtitle 2">
            <a:extLst>
              <a:ext uri="{FF2B5EF4-FFF2-40B4-BE49-F238E27FC236}">
                <a16:creationId xmlns:a16="http://schemas.microsoft.com/office/drawing/2014/main" id="{B09E77BF-D6C6-A253-547F-B02DC170DBF4}"/>
              </a:ext>
            </a:extLst>
          </p:cNvPr>
          <p:cNvSpPr>
            <a:spLocks noGrp="1"/>
          </p:cNvSpPr>
          <p:nvPr>
            <p:ph type="subTitle" idx="1"/>
          </p:nvPr>
        </p:nvSpPr>
        <p:spPr>
          <a:xfrm>
            <a:off x="730800" y="4665787"/>
            <a:ext cx="10035960" cy="1015663"/>
          </a:xfrm>
        </p:spPr>
        <p:txBody>
          <a:bodyPr wrap="square" lIns="91440" tIns="45720" rIns="91440" bIns="45720" anchor="t">
            <a:spAutoFit/>
          </a:bodyPr>
          <a:lstStyle/>
          <a:p>
            <a:r>
              <a:rPr lang="en-US" sz="6000" b="1" dirty="0">
                <a:solidFill>
                  <a:schemeClr val="accent2"/>
                </a:solidFill>
              </a:rPr>
              <a:t>CCA · A CellStrat Full-Day Intensive</a:t>
            </a:r>
            <a:endParaRPr lang="en-US" sz="6000" b="1" dirty="0">
              <a:solidFill>
                <a:schemeClr val="accent2"/>
              </a:solidFill>
              <a:ea typeface="Open Sans"/>
              <a:cs typeface="Open Sans"/>
            </a:endParaRPr>
          </a:p>
        </p:txBody>
      </p:sp>
      <p:sp>
        <p:nvSpPr>
          <p:cNvPr id="5" name="Shape 10">
            <a:extLst>
              <a:ext uri="{FF2B5EF4-FFF2-40B4-BE49-F238E27FC236}">
                <a16:creationId xmlns:a16="http://schemas.microsoft.com/office/drawing/2014/main" id="{D1A2A319-805A-A6E5-04EF-EFF027E090A2}"/>
              </a:ext>
            </a:extLst>
          </p:cNvPr>
          <p:cNvSpPr/>
          <p:nvPr/>
        </p:nvSpPr>
        <p:spPr>
          <a:xfrm>
            <a:off x="694800" y="1780469"/>
            <a:ext cx="2786912" cy="515419"/>
          </a:xfrm>
          <a:prstGeom prst="roundRect">
            <a:avLst>
              <a:gd name="adj" fmla="val 11905"/>
            </a:avLst>
          </a:prstGeom>
          <a:solidFill>
            <a:schemeClr val="accent1"/>
          </a:solidFill>
          <a:ln w="12700">
            <a:noFill/>
            <a:prstDash val="solid"/>
          </a:ln>
        </p:spPr>
        <p:txBody>
          <a:bodyP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
            <a:extLst>
              <a:ext uri="{FF2B5EF4-FFF2-40B4-BE49-F238E27FC236}">
                <a16:creationId xmlns:a16="http://schemas.microsoft.com/office/drawing/2014/main" id="{C81D6E02-DB5A-C964-32B1-090C32F51BA4}"/>
              </a:ext>
            </a:extLst>
          </p:cNvPr>
          <p:cNvSpPr txBox="1">
            <a:spLocks/>
          </p:cNvSpPr>
          <p:nvPr/>
        </p:nvSpPr>
        <p:spPr>
          <a:xfrm>
            <a:off x="744453" y="1761180"/>
            <a:ext cx="2703339" cy="584775"/>
          </a:xfrm>
          <a:prstGeom prst="rect">
            <a:avLst/>
          </a:prstGeom>
        </p:spPr>
        <p:txBody>
          <a:bodyPr wrap="square" lIns="91440" tIns="45720" rIns="91440" bIns="45720" anchor="b">
            <a:spAutoFit/>
          </a:bodyPr>
          <a:lstStyle>
            <a:lvl1pPr marL="0" algn="l" defTabSz="685800" rtl="0" eaLnBrk="1" latinLnBrk="0" hangingPunct="1">
              <a:lnSpc>
                <a:spcPct val="100000"/>
              </a:lnSpc>
              <a:spcBef>
                <a:spcPct val="0"/>
              </a:spcBef>
              <a:buNone/>
              <a:defRPr sz="5100" b="1" i="0" kern="1200">
                <a:solidFill>
                  <a:schemeClr val="tx1"/>
                </a:solidFill>
                <a:latin typeface="+mn-lt"/>
                <a:ea typeface="Open Sans" panose="020B0606030504020204" pitchFamily="34" charset="0"/>
                <a:cs typeface="Open Sans" panose="020B0606030504020204" pitchFamily="34" charset="0"/>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algn="ctr"/>
            <a:r>
              <a:rPr lang="en-IN" sz="3200">
                <a:solidFill>
                  <a:schemeClr val="bg1"/>
                </a:solidFill>
                <a:latin typeface="Open Sans"/>
                <a:ea typeface="Open Sans"/>
                <a:cs typeface="Open Sans"/>
              </a:rPr>
              <a:t>Module 1:</a:t>
            </a:r>
            <a:endParaRPr lang="en-US" sz="3200">
              <a:solidFill>
                <a:schemeClr val="bg1"/>
              </a:solidFill>
              <a:latin typeface="Open Sans"/>
              <a:ea typeface="Open Sans"/>
              <a:cs typeface="Open Sans"/>
            </a:endParaRPr>
          </a:p>
        </p:txBody>
      </p:sp>
    </p:spTree>
    <p:extLst>
      <p:ext uri="{BB962C8B-B14F-4D97-AF65-F5344CB8AC3E}">
        <p14:creationId xmlns:p14="http://schemas.microsoft.com/office/powerpoint/2010/main" val="3730389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B382D-6039-67B3-A0F6-2DBE06D24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737F9-A2F6-5F88-61D9-222C480ED923}"/>
              </a:ext>
            </a:extLst>
          </p:cNvPr>
          <p:cNvSpPr>
            <a:spLocks noGrp="1"/>
          </p:cNvSpPr>
          <p:nvPr>
            <p:ph type="title"/>
          </p:nvPr>
        </p:nvSpPr>
        <p:spPr>
          <a:xfrm>
            <a:off x="532340" y="248930"/>
            <a:ext cx="10854797" cy="646331"/>
          </a:xfrm>
        </p:spPr>
        <p:txBody>
          <a:bodyPr wrap="square" lIns="91440" tIns="45720" rIns="91440" bIns="45720" anchor="t">
            <a:spAutoFit/>
          </a:bodyPr>
          <a:lstStyle/>
          <a:p>
            <a:r>
              <a:rPr lang="en-IN" dirty="0">
                <a:ea typeface="Open Sans"/>
                <a:cs typeface="Open Sans"/>
              </a:rPr>
              <a:t>Arjun and His Transformation</a:t>
            </a:r>
            <a:endParaRPr lang="en-US" dirty="0">
              <a:ea typeface="Open Sans"/>
              <a:cs typeface="Open Sans"/>
            </a:endParaRPr>
          </a:p>
        </p:txBody>
      </p:sp>
      <p:sp>
        <p:nvSpPr>
          <p:cNvPr id="16" name="Shape 5">
            <a:extLst>
              <a:ext uri="{FF2B5EF4-FFF2-40B4-BE49-F238E27FC236}">
                <a16:creationId xmlns:a16="http://schemas.microsoft.com/office/drawing/2014/main" id="{31B63D07-376A-9285-9A9C-8FBA19820729}"/>
              </a:ext>
            </a:extLst>
          </p:cNvPr>
          <p:cNvSpPr/>
          <p:nvPr/>
        </p:nvSpPr>
        <p:spPr>
          <a:xfrm>
            <a:off x="5432077" y="3972063"/>
            <a:ext cx="5437685" cy="2036856"/>
          </a:xfrm>
          <a:prstGeom prst="roundRect">
            <a:avLst>
              <a:gd name="adj" fmla="val 722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A194973C-0DDA-C3AE-5A2A-433712039BCB}"/>
              </a:ext>
            </a:extLst>
          </p:cNvPr>
          <p:cNvSpPr txBox="1"/>
          <p:nvPr/>
        </p:nvSpPr>
        <p:spPr bwMode="auto">
          <a:xfrm>
            <a:off x="6746025" y="4676772"/>
            <a:ext cx="3800841" cy="1169551"/>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lIns="91440" tIns="45720" rIns="91440" bIns="45720" rtlCol="0" anchor="t">
            <a:spAutoFit/>
          </a:bodyPr>
          <a:lstStyle/>
          <a:p>
            <a:r>
              <a:rPr lang="en-IN" sz="1400" dirty="0"/>
              <a:t>By the end of this intensive, Arjun directs Claude Code like an architect: spec first, agent-built, test-verified, secured and shipped.</a:t>
            </a:r>
          </a:p>
          <a:p>
            <a:endParaRPr lang="en-IN" sz="1400" dirty="0"/>
          </a:p>
          <a:p>
            <a:r>
              <a:rPr lang="en-IN" sz="1400" dirty="0"/>
              <a:t>Spec in. Tested service out.</a:t>
            </a:r>
            <a:endParaRPr lang="en-US" sz="1400" dirty="0"/>
          </a:p>
        </p:txBody>
      </p:sp>
      <p:sp>
        <p:nvSpPr>
          <p:cNvPr id="15" name="Shape 5">
            <a:extLst>
              <a:ext uri="{FF2B5EF4-FFF2-40B4-BE49-F238E27FC236}">
                <a16:creationId xmlns:a16="http://schemas.microsoft.com/office/drawing/2014/main" id="{A5B91301-39E8-3EC8-7093-216D2ED2FC31}"/>
              </a:ext>
            </a:extLst>
          </p:cNvPr>
          <p:cNvSpPr/>
          <p:nvPr/>
        </p:nvSpPr>
        <p:spPr>
          <a:xfrm>
            <a:off x="5432077" y="1392144"/>
            <a:ext cx="5437685" cy="2036856"/>
          </a:xfrm>
          <a:prstGeom prst="roundRect">
            <a:avLst>
              <a:gd name="adj" fmla="val 722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7D4303A3-BDEB-CF5A-ACEE-3CFA3A166356}"/>
              </a:ext>
            </a:extLst>
          </p:cNvPr>
          <p:cNvSpPr txBox="1"/>
          <p:nvPr/>
        </p:nvSpPr>
        <p:spPr bwMode="auto">
          <a:xfrm>
            <a:off x="6746025" y="1491990"/>
            <a:ext cx="1901483" cy="369332"/>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pPr algn="l"/>
            <a:r>
              <a:rPr lang="en-US" b="1" dirty="0">
                <a:solidFill>
                  <a:schemeClr val="accent1"/>
                </a:solidFill>
              </a:rPr>
              <a:t>His pain points</a:t>
            </a:r>
          </a:p>
        </p:txBody>
      </p:sp>
      <p:sp>
        <p:nvSpPr>
          <p:cNvPr id="6" name="TextBox 5">
            <a:extLst>
              <a:ext uri="{FF2B5EF4-FFF2-40B4-BE49-F238E27FC236}">
                <a16:creationId xmlns:a16="http://schemas.microsoft.com/office/drawing/2014/main" id="{AD9399C0-7416-C1C3-4C1E-E8EA28B9B280}"/>
              </a:ext>
            </a:extLst>
          </p:cNvPr>
          <p:cNvSpPr txBox="1"/>
          <p:nvPr/>
        </p:nvSpPr>
        <p:spPr bwMode="auto">
          <a:xfrm>
            <a:off x="6746025" y="4144844"/>
            <a:ext cx="2382575" cy="369332"/>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pPr algn="l"/>
            <a:r>
              <a:rPr lang="en-US" b="1" dirty="0">
                <a:solidFill>
                  <a:schemeClr val="accent1"/>
                </a:solidFill>
              </a:rPr>
              <a:t>His transformation</a:t>
            </a:r>
          </a:p>
        </p:txBody>
      </p:sp>
      <p:sp>
        <p:nvSpPr>
          <p:cNvPr id="17" name="TextBox 16">
            <a:extLst>
              <a:ext uri="{FF2B5EF4-FFF2-40B4-BE49-F238E27FC236}">
                <a16:creationId xmlns:a16="http://schemas.microsoft.com/office/drawing/2014/main" id="{93246BD0-5F0E-0C9A-C2D9-ED8ABE03AE3F}"/>
              </a:ext>
            </a:extLst>
          </p:cNvPr>
          <p:cNvSpPr txBox="1"/>
          <p:nvPr/>
        </p:nvSpPr>
        <p:spPr bwMode="auto">
          <a:xfrm>
            <a:off x="6746025" y="1915065"/>
            <a:ext cx="4123738" cy="1169551"/>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lIns="91440" tIns="45720" rIns="91440" bIns="45720" rtlCol="0" anchor="t">
            <a:spAutoFit/>
          </a:bodyPr>
          <a:lstStyle/>
          <a:p>
            <a:r>
              <a:rPr lang="en-IN" sz="1400" dirty="0"/>
              <a:t>He can call an LLM from a notebook, but has never taken one to a typed, tested, secure service.</a:t>
            </a:r>
          </a:p>
          <a:p>
            <a:endParaRPr lang="en-IN" sz="1400" dirty="0"/>
          </a:p>
          <a:p>
            <a:r>
              <a:rPr lang="en-IN" sz="1400" dirty="0"/>
              <a:t>He uses autocomplete daily, but does not trust multi-file agent edits he cannot verify.</a:t>
            </a:r>
            <a:endParaRPr lang="en-US" sz="1400" dirty="0"/>
          </a:p>
        </p:txBody>
      </p:sp>
      <p:sp>
        <p:nvSpPr>
          <p:cNvPr id="26" name="Shape 5">
            <a:extLst>
              <a:ext uri="{FF2B5EF4-FFF2-40B4-BE49-F238E27FC236}">
                <a16:creationId xmlns:a16="http://schemas.microsoft.com/office/drawing/2014/main" id="{B6F41DA0-6516-30CF-2A69-944AE82D61C3}"/>
              </a:ext>
            </a:extLst>
          </p:cNvPr>
          <p:cNvSpPr/>
          <p:nvPr/>
        </p:nvSpPr>
        <p:spPr>
          <a:xfrm>
            <a:off x="1296090" y="1934257"/>
            <a:ext cx="2735489" cy="3151313"/>
          </a:xfrm>
          <a:prstGeom prst="roundRect">
            <a:avLst>
              <a:gd name="adj" fmla="val 722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1">
            <a:extLst>
              <a:ext uri="{FF2B5EF4-FFF2-40B4-BE49-F238E27FC236}">
                <a16:creationId xmlns:a16="http://schemas.microsoft.com/office/drawing/2014/main" id="{848EA9EE-5917-05BE-7BC4-5CA87FD820CD}"/>
              </a:ext>
            </a:extLst>
          </p:cNvPr>
          <p:cNvSpPr/>
          <p:nvPr/>
        </p:nvSpPr>
        <p:spPr>
          <a:xfrm>
            <a:off x="1039505" y="4277278"/>
            <a:ext cx="3225651" cy="436845"/>
          </a:xfrm>
          <a:prstGeom prst="rect">
            <a:avLst/>
          </a:prstGeom>
          <a:noFill/>
          <a:ln/>
        </p:spPr>
        <p:txBody>
          <a:bodyPr wrap="square" lIns="0" tIns="0" rIns="0" bIns="0" rtlCol="0" anchor="ctr"/>
          <a:lstStyle/>
          <a:p>
            <a:pPr algn="ctr"/>
            <a:r>
              <a:rPr lang="en-US" b="1" dirty="0"/>
              <a:t>Arjun</a:t>
            </a:r>
          </a:p>
          <a:p>
            <a:pPr algn="ctr"/>
            <a:r>
              <a:rPr lang="en-US" b="1"/>
              <a:t>AI Developer Intern</a:t>
            </a:r>
            <a:endParaRPr lang="en-US" b="1">
              <a:ea typeface="Open Sans"/>
              <a:cs typeface="Open Sans"/>
            </a:endParaRPr>
          </a:p>
        </p:txBody>
      </p:sp>
      <p:sp>
        <p:nvSpPr>
          <p:cNvPr id="27" name="Oval 26">
            <a:extLst>
              <a:ext uri="{FF2B5EF4-FFF2-40B4-BE49-F238E27FC236}">
                <a16:creationId xmlns:a16="http://schemas.microsoft.com/office/drawing/2014/main" id="{7AA5618C-EBFC-17C7-0528-44FF424C66BC}"/>
              </a:ext>
            </a:extLst>
          </p:cNvPr>
          <p:cNvSpPr/>
          <p:nvPr/>
        </p:nvSpPr>
        <p:spPr>
          <a:xfrm>
            <a:off x="1690230" y="2143055"/>
            <a:ext cx="1838463" cy="183846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err="1">
              <a:solidFill>
                <a:schemeClr val="tx1"/>
              </a:solidFill>
            </a:endParaRPr>
          </a:p>
        </p:txBody>
      </p:sp>
      <p:pic>
        <p:nvPicPr>
          <p:cNvPr id="24" name="Picture 23">
            <a:extLst>
              <a:ext uri="{FF2B5EF4-FFF2-40B4-BE49-F238E27FC236}">
                <a16:creationId xmlns:a16="http://schemas.microsoft.com/office/drawing/2014/main" id="{7D9C5F7A-7A13-CEB6-E547-7DCC3B3F3531}"/>
              </a:ext>
            </a:extLst>
          </p:cNvPr>
          <p:cNvPicPr>
            <a:picLocks noChangeAspect="1"/>
          </p:cNvPicPr>
          <p:nvPr/>
        </p:nvPicPr>
        <p:blipFill>
          <a:blip r:embed="rId3"/>
          <a:srcRect l="2833" t="1682" r="2482" b="2086"/>
          <a:stretch>
            <a:fillRect/>
          </a:stretch>
        </p:blipFill>
        <p:spPr>
          <a:xfrm>
            <a:off x="1736336" y="2174874"/>
            <a:ext cx="1746250" cy="1774825"/>
          </a:xfrm>
          <a:prstGeom prst="ellipse">
            <a:avLst/>
          </a:prstGeom>
        </p:spPr>
      </p:pic>
      <p:pic>
        <p:nvPicPr>
          <p:cNvPr id="28" name="Picture 27">
            <a:extLst>
              <a:ext uri="{FF2B5EF4-FFF2-40B4-BE49-F238E27FC236}">
                <a16:creationId xmlns:a16="http://schemas.microsoft.com/office/drawing/2014/main" id="{39D75A13-A03E-209F-3F68-99887CC1685C}"/>
              </a:ext>
            </a:extLst>
          </p:cNvPr>
          <p:cNvPicPr>
            <a:picLocks noChangeAspect="1"/>
          </p:cNvPicPr>
          <p:nvPr/>
        </p:nvPicPr>
        <p:blipFill>
          <a:blip r:embed="rId4"/>
          <a:srcRect/>
          <a:stretch/>
        </p:blipFill>
        <p:spPr>
          <a:xfrm>
            <a:off x="5572660" y="1861322"/>
            <a:ext cx="1098500" cy="1098500"/>
          </a:xfrm>
          <a:prstGeom prst="rect">
            <a:avLst/>
          </a:prstGeom>
        </p:spPr>
      </p:pic>
      <p:pic>
        <p:nvPicPr>
          <p:cNvPr id="29" name="Picture 28">
            <a:extLst>
              <a:ext uri="{FF2B5EF4-FFF2-40B4-BE49-F238E27FC236}">
                <a16:creationId xmlns:a16="http://schemas.microsoft.com/office/drawing/2014/main" id="{0E0E8B85-88EE-ECF2-8657-AACB3842EF28}"/>
              </a:ext>
            </a:extLst>
          </p:cNvPr>
          <p:cNvPicPr>
            <a:picLocks noChangeAspect="1"/>
          </p:cNvPicPr>
          <p:nvPr/>
        </p:nvPicPr>
        <p:blipFill>
          <a:blip r:embed="rId5"/>
          <a:srcRect/>
          <a:stretch/>
        </p:blipFill>
        <p:spPr>
          <a:xfrm>
            <a:off x="5572660" y="4441241"/>
            <a:ext cx="1098500" cy="1098500"/>
          </a:xfrm>
          <a:prstGeom prst="rect">
            <a:avLst/>
          </a:prstGeom>
        </p:spPr>
      </p:pic>
    </p:spTree>
    <p:extLst>
      <p:ext uri="{BB962C8B-B14F-4D97-AF65-F5344CB8AC3E}">
        <p14:creationId xmlns:p14="http://schemas.microsoft.com/office/powerpoint/2010/main" val="2883623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199763"/>
            <a:ext cx="10972800" cy="731520"/>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Your Day at a Glance</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609600" y="999744"/>
            <a:ext cx="10972800" cy="365760"/>
          </a:xfrm>
          <a:prstGeom prst="rect">
            <a:avLst/>
          </a:prstGeom>
          <a:noFill/>
          <a:ln/>
        </p:spPr>
        <p:txBody>
          <a:bodyPr wrap="square" lIns="0" tIns="0" rIns="0" bIns="0" rtlCol="0" anchor="ctr"/>
          <a:lstStyle/>
          <a:p>
            <a:r>
              <a:rPr lang="en-US" sz="1400" dirty="0">
                <a:solidFill>
                  <a:srgbClr val="666666"/>
                </a:solidFill>
                <a:latin typeface="Open Sans" panose="020B0606030504020204" pitchFamily="34" charset="0"/>
                <a:ea typeface="Open Sans" panose="020B0606030504020204" pitchFamily="34" charset="0"/>
                <a:cs typeface="Open Sans" panose="020B0606030504020204" pitchFamily="34" charset="0"/>
              </a:rPr>
              <a:t>One day. Five modules. One real PoC: DischargeFlow.</a:t>
            </a:r>
            <a:r>
              <a:rPr lang="en-US" sz="1400" dirty="0" err="1">
                <a:solidFill>
                  <a:srgbClr val="666666"/>
                </a:solidFill>
                <a:latin typeface="Open Sans" panose="020B0606030504020204" pitchFamily="34" charset="0"/>
                <a:ea typeface="Open Sans" panose="020B0606030504020204" pitchFamily="34" charset="0"/>
                <a:cs typeface="Open Sans" panose="020B0606030504020204" pitchFamily="34" charset="0"/>
              </a:rPr>
              <a:t/>
            </a:r>
            <a:r>
              <a:rPr lang="en-US" sz="1400" dirty="0">
                <a:solidFill>
                  <a:srgbClr val="666666"/>
                </a:solidFill>
                <a:latin typeface="Open Sans" panose="020B0606030504020204" pitchFamily="34" charset="0"/>
                <a:ea typeface="Open Sans" panose="020B0606030504020204" pitchFamily="34" charset="0"/>
                <a:cs typeface="Open Sans" panose="020B0606030504020204" pitchFamily="34" charset="0"/>
              </a:rPr>
              <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26720" y="1524000"/>
            <a:ext cx="2499360" cy="4389120"/>
          </a:xfrm>
          <a:prstGeom prst="roundRect">
            <a:avLst>
              <a:gd name="adj" fmla="val 5854"/>
            </a:avLst>
          </a:prstGeom>
          <a:solidFill>
            <a:srgbClr val="FFFFFF"/>
          </a:solidFill>
          <a:ln w="6350">
            <a:solidFill>
              <a:srgbClr val="E0E0E0"/>
            </a:solidFill>
            <a:prstDash val="solid"/>
          </a:ln>
          <a:effectLst>
            <a:outerShdw blurRad="101600" dist="38100" dir="2700000" algn="bl" rotWithShape="0">
              <a:srgbClr val="000000">
                <a:alpha val="10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573024" y="2331639"/>
            <a:ext cx="2206752" cy="548640"/>
          </a:xfrm>
          <a:prstGeom prst="rect">
            <a:avLst/>
          </a:prstGeom>
          <a:noFill/>
          <a:ln/>
        </p:spPr>
        <p:txBody>
          <a:bodyPr wrap="square" lIns="0" tIns="0" rIns="0" bIns="0" rtlCol="0" anchor="ctr"/>
          <a:lstStyle/>
          <a:p>
            <a:pPr algn="ctr"/>
            <a:r>
              <a:rPr lang="en-US" sz="1733" b="1" dirty="0">
                <a:latin typeface="Open Sans" panose="020B0606030504020204" pitchFamily="34" charset="0"/>
                <a:ea typeface="Open Sans" panose="020B0606030504020204" pitchFamily="34" charset="0"/>
                <a:cs typeface="Open Sans" panose="020B0606030504020204" pitchFamily="34" charset="0"/>
              </a:rPr>
              <a:t>Module 1</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p:cNvSpPr/>
          <p:nvPr/>
        </p:nvSpPr>
        <p:spPr>
          <a:xfrm>
            <a:off x="573024" y="3166791"/>
            <a:ext cx="2206752" cy="838281"/>
          </a:xfrm>
          <a:prstGeom prst="rect">
            <a:avLst/>
          </a:prstGeom>
          <a:noFill/>
          <a:ln/>
        </p:spPr>
        <p:txBody>
          <a:bodyPr wrap="square" lIns="0" tIns="0" rIns="0" bIns="0" rtlCol="0" anchor="t"/>
          <a:lstStyle/>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Orient &amp; Architect</a:t>
            </a:r>
          </a:p>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CLAUDE.md</a:t>
            </a:r>
          </a:p>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Plan Mode &amp; Spec</a:t>
            </a:r>
          </a:p>
        </p:txBody>
      </p:sp>
      <p:sp>
        <p:nvSpPr>
          <p:cNvPr id="10" name="Shape 7"/>
          <p:cNvSpPr/>
          <p:nvPr/>
        </p:nvSpPr>
        <p:spPr>
          <a:xfrm>
            <a:off x="573024" y="3962400"/>
            <a:ext cx="2206752" cy="0"/>
          </a:xfrm>
          <a:prstGeom prst="line">
            <a:avLst/>
          </a:prstGeom>
          <a:noFill/>
          <a:ln w="10160">
            <a:solidFill>
              <a:srgbClr val="E8E8E8"/>
            </a:solidFill>
            <a:prstDash val="solid"/>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8"/>
          <p:cNvSpPr/>
          <p:nvPr/>
        </p:nvSpPr>
        <p:spPr>
          <a:xfrm>
            <a:off x="573024" y="4084320"/>
            <a:ext cx="2206752" cy="268224"/>
          </a:xfrm>
          <a:prstGeom prst="rect">
            <a:avLst/>
          </a:prstGeom>
          <a:noFill/>
          <a:ln/>
        </p:spPr>
        <p:txBody>
          <a:bodyPr wrap="square" lIns="0" tIns="0" rIns="0" bIns="0" rtlCol="0" anchor="ctr"/>
          <a:lstStyle/>
          <a:p>
            <a:r>
              <a:rPr lang="en-US" sz="1000" b="1" kern="0" spc="133" dirty="0">
                <a:solidFill>
                  <a:schemeClr val="tx2"/>
                </a:solidFill>
                <a:latin typeface="Open Sans" panose="020B0606030504020204" pitchFamily="34" charset="0"/>
                <a:ea typeface="Open Sans" panose="020B0606030504020204" pitchFamily="34" charset="0"/>
                <a:cs typeface="Open Sans" panose="020B0606030504020204" pitchFamily="34" charset="0"/>
              </a:rPr>
              <a:t>MODULE OUTCOME</a:t>
            </a:r>
            <a:endParaRPr lang="en-US" sz="1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9"/>
          <p:cNvSpPr/>
          <p:nvPr/>
        </p:nvSpPr>
        <p:spPr>
          <a:xfrm>
            <a:off x="573024" y="4537642"/>
            <a:ext cx="2206752" cy="835152"/>
          </a:xfrm>
          <a:prstGeom prst="rect">
            <a:avLst/>
          </a:prstGeom>
          <a:noFill/>
          <a:ln/>
        </p:spPr>
        <p:txBody>
          <a:bodyPr wrap="square" lIns="0" tIns="0" rIns="0" bIns="0" rtlCol="0" anchor="t"/>
          <a:lstStyle/>
          <a:p>
            <a:r>
              <a:rPr lang="en-US" sz="1200" dirty="0">
                <a:latin typeface="Open Sans" panose="020B0606030504020204" pitchFamily="34" charset="0"/>
                <a:ea typeface="Open Sans" panose="020B0606030504020204" pitchFamily="34" charset="0"/>
                <a:cs typeface="Open Sans" panose="020B0606030504020204" pitchFamily="34" charset="0"/>
              </a:rPr>
              <a:t>A CLAUDE.md constitution and a reviewed architecture built from SPEC.md</a:t>
            </a:r>
          </a:p>
        </p:txBody>
      </p:sp>
      <p:sp>
        <p:nvSpPr>
          <p:cNvPr id="15" name="Shape 12"/>
          <p:cNvSpPr/>
          <p:nvPr/>
        </p:nvSpPr>
        <p:spPr>
          <a:xfrm>
            <a:off x="3194304" y="1524000"/>
            <a:ext cx="2499360" cy="4389120"/>
          </a:xfrm>
          <a:prstGeom prst="roundRect">
            <a:avLst>
              <a:gd name="adj" fmla="val 5854"/>
            </a:avLst>
          </a:prstGeom>
          <a:solidFill>
            <a:srgbClr val="FFFFFF"/>
          </a:solidFill>
          <a:ln w="6350">
            <a:solidFill>
              <a:srgbClr val="E0E0E0"/>
            </a:solidFill>
            <a:prstDash val="solid"/>
          </a:ln>
          <a:effectLst>
            <a:outerShdw blurRad="101600" dist="38100" dir="2700000" algn="bl" rotWithShape="0">
              <a:srgbClr val="000000">
                <a:alpha val="10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5"/>
          <p:cNvSpPr/>
          <p:nvPr/>
        </p:nvSpPr>
        <p:spPr>
          <a:xfrm>
            <a:off x="3340608" y="2331639"/>
            <a:ext cx="2206752" cy="548640"/>
          </a:xfrm>
          <a:prstGeom prst="rect">
            <a:avLst/>
          </a:prstGeom>
          <a:noFill/>
          <a:ln/>
        </p:spPr>
        <p:txBody>
          <a:bodyPr wrap="square" lIns="0" tIns="0" rIns="0" bIns="0" rtlCol="0" anchor="ctr"/>
          <a:lstStyle/>
          <a:p>
            <a:pPr algn="ctr"/>
            <a:r>
              <a:rPr lang="en-US" sz="1733" b="1">
                <a:latin typeface="Open Sans" panose="020B0606030504020204" pitchFamily="34" charset="0"/>
                <a:ea typeface="Open Sans" panose="020B0606030504020204" pitchFamily="34" charset="0"/>
                <a:cs typeface="Open Sans" panose="020B0606030504020204" pitchFamily="34" charset="0"/>
              </a:rPr>
              <a:t>Modules 2–3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6"/>
          <p:cNvSpPr/>
          <p:nvPr/>
        </p:nvSpPr>
        <p:spPr>
          <a:xfrm>
            <a:off x="3340608" y="3166791"/>
            <a:ext cx="2206752" cy="838281"/>
          </a:xfrm>
          <a:prstGeom prst="rect">
            <a:avLst/>
          </a:prstGeom>
          <a:noFill/>
          <a:ln/>
        </p:spPr>
        <p:txBody>
          <a:bodyPr wrap="square" lIns="0" tIns="0" rIns="0" bIns="0" rtlCol="0" anchor="t"/>
          <a:lstStyle/>
          <a:p>
            <a:pPr marL="285750" indent="-285750">
              <a:buClr>
                <a:schemeClr val="tx1"/>
              </a:buClr>
              <a:buFont typeface="Wingdings" pitchFamily="2" charset="2"/>
              <a:buChar char="Ø"/>
            </a:pPr>
            <a:r>
              <a:rPr lang="en-US" sz="1400">
                <a:latin typeface="Open Sans" panose="020B0606030504020204" pitchFamily="34" charset="0"/>
                <a:ea typeface="Open Sans" panose="020B0606030504020204" pitchFamily="34" charset="0"/>
                <a:cs typeface="Open Sans" panose="020B0606030504020204" pitchFamily="34" charset="0"/>
              </a:rPr>
              <a:t>Build &amp; AI Features</a:t>
            </a:r>
          </a:p>
          <a:p>
            <a:pPr marL="285750" indent="-285750">
              <a:buClr>
                <a:schemeClr val="tx1"/>
              </a:buClr>
              <a:buFont typeface="Wingdings" pitchFamily="2" charset="2"/>
              <a:buChar char="Ø"/>
            </a:pPr>
            <a:r>
              <a:rPr lang="en-US" sz="1400">
                <a:latin typeface="Open Sans" panose="020B0606030504020204" pitchFamily="34" charset="0"/>
                <a:ea typeface="Open Sans" panose="020B0606030504020204" pitchFamily="34" charset="0"/>
                <a:cs typeface="Open Sans" panose="020B0606030504020204" pitchFamily="34" charset="0"/>
              </a:rPr>
              <a:t>Claude + RAG</a:t>
            </a:r>
          </a:p>
          <a:p>
            <a:pPr marL="285750" indent="-285750">
              <a:buClr>
                <a:schemeClr val="tx1"/>
              </a:buClr>
              <a:buFont typeface="Wingdings" pitchFamily="2" charset="2"/>
              <a:buChar char="Ø"/>
            </a:pPr>
            <a:r>
              <a:t>Security &amp; PHI</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7"/>
          <p:cNvSpPr/>
          <p:nvPr/>
        </p:nvSpPr>
        <p:spPr>
          <a:xfrm>
            <a:off x="3340608" y="3962400"/>
            <a:ext cx="2206752" cy="0"/>
          </a:xfrm>
          <a:prstGeom prst="line">
            <a:avLst/>
          </a:prstGeom>
          <a:noFill/>
          <a:ln w="10160">
            <a:solidFill>
              <a:srgbClr val="E8E8E8"/>
            </a:solidFill>
            <a:prstDash val="solid"/>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18"/>
          <p:cNvSpPr/>
          <p:nvPr/>
        </p:nvSpPr>
        <p:spPr>
          <a:xfrm>
            <a:off x="3340608" y="4084320"/>
            <a:ext cx="2206752" cy="268224"/>
          </a:xfrm>
          <a:prstGeom prst="rect">
            <a:avLst/>
          </a:prstGeom>
          <a:noFill/>
          <a:ln/>
        </p:spPr>
        <p:txBody>
          <a:bodyPr wrap="square" lIns="0" tIns="0" rIns="0" bIns="0" rtlCol="0" anchor="ctr"/>
          <a:lstStyle/>
          <a:p>
            <a:r>
              <a:rPr lang="en-US" sz="1000" b="1" kern="0" spc="133">
                <a:solidFill>
                  <a:schemeClr val="tx2"/>
                </a:solidFill>
                <a:latin typeface="Open Sans" panose="020B0606030504020204" pitchFamily="34" charset="0"/>
                <a:ea typeface="Open Sans" panose="020B0606030504020204" pitchFamily="34" charset="0"/>
                <a:cs typeface="Open Sans" panose="020B0606030504020204" pitchFamily="34" charset="0"/>
              </a:rPr>
              <a:t>MODULE OUTCOME</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19"/>
          <p:cNvSpPr/>
          <p:nvPr/>
        </p:nvSpPr>
        <p:spPr>
          <a:xfrm>
            <a:off x="3340608" y="4537642"/>
            <a:ext cx="2206752" cy="835152"/>
          </a:xfrm>
          <a:prstGeom prst="rect">
            <a:avLst/>
          </a:prstGeom>
          <a:noFill/>
          <a:ln/>
        </p:spPr>
        <p:txBody>
          <a:bodyPr wrap="square" lIns="0" tIns="0" rIns="0" bIns="0" rtlCol="0" anchor="t"/>
          <a:lstStyle/>
          <a:p>
            <a:r>
              <a:rPr lang="en-US" sz="1200">
                <a:latin typeface="Open Sans" panose="020B0606030504020204" pitchFamily="34" charset="0"/>
                <a:ea typeface="Open Sans" panose="020B0606030504020204" pitchFamily="34" charset="0"/>
                <a:cs typeface="Open Sans" panose="020B0606030504020204" pitchFamily="34" charset="0"/>
              </a:rPr>
              <a:t>A grounded, hardened API with a clinician sign-off workflow</a:t>
            </a:r>
          </a:p>
        </p:txBody>
      </p:sp>
      <p:sp>
        <p:nvSpPr>
          <p:cNvPr id="26" name="Shape 22"/>
          <p:cNvSpPr/>
          <p:nvPr/>
        </p:nvSpPr>
        <p:spPr>
          <a:xfrm>
            <a:off x="5961888" y="1524000"/>
            <a:ext cx="2499360" cy="4389120"/>
          </a:xfrm>
          <a:prstGeom prst="roundRect">
            <a:avLst>
              <a:gd name="adj" fmla="val 5854"/>
            </a:avLst>
          </a:prstGeom>
          <a:solidFill>
            <a:srgbClr val="FFFFFF"/>
          </a:solidFill>
          <a:ln w="6350">
            <a:solidFill>
              <a:srgbClr val="E0E0E0"/>
            </a:solidFill>
            <a:prstDash val="solid"/>
          </a:ln>
          <a:effectLst>
            <a:outerShdw blurRad="101600" dist="38100" dir="2700000" algn="bl" rotWithShape="0">
              <a:srgbClr val="000000">
                <a:alpha val="10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5"/>
          <p:cNvSpPr/>
          <p:nvPr/>
        </p:nvSpPr>
        <p:spPr>
          <a:xfrm>
            <a:off x="6108192" y="2331639"/>
            <a:ext cx="2206752" cy="548640"/>
          </a:xfrm>
          <a:prstGeom prst="rect">
            <a:avLst/>
          </a:prstGeom>
          <a:noFill/>
          <a:ln/>
        </p:spPr>
        <p:txBody>
          <a:bodyPr wrap="square" lIns="0" tIns="0" rIns="0" bIns="0" rtlCol="0" anchor="ctr"/>
          <a:lstStyle/>
          <a:p>
            <a:pPr algn="ctr"/>
            <a:r>
              <a:rPr lang="en-US" sz="1733" b="1">
                <a:latin typeface="Open Sans" panose="020B0606030504020204" pitchFamily="34" charset="0"/>
                <a:ea typeface="Open Sans" panose="020B0606030504020204" pitchFamily="34" charset="0"/>
                <a:cs typeface="Open Sans" panose="020B0606030504020204" pitchFamily="34" charset="0"/>
              </a:rPr>
              <a:t>Module 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6"/>
          <p:cNvSpPr/>
          <p:nvPr/>
        </p:nvSpPr>
        <p:spPr>
          <a:xfrm>
            <a:off x="6108192" y="3166791"/>
            <a:ext cx="2206752" cy="838281"/>
          </a:xfrm>
          <a:prstGeom prst="rect">
            <a:avLst/>
          </a:prstGeom>
          <a:noFill/>
          <a:ln/>
        </p:spPr>
        <p:txBody>
          <a:bodyPr wrap="square" lIns="0" tIns="0" rIns="0" bIns="0" rtlCol="0" anchor="t"/>
          <a:lstStyle/>
          <a:p>
            <a:pPr marL="285750" indent="-285750">
              <a:buClr>
                <a:schemeClr val="tx1"/>
              </a:buClr>
              <a:buFont typeface="Wingdings" pitchFamily="2" charset="2"/>
              <a:buChar char="Ø"/>
            </a:pPr>
            <a:r>
              <a:rPr lang="en-US" sz="1400">
                <a:latin typeface="Open Sans" panose="020B0606030504020204" pitchFamily="34" charset="0"/>
                <a:ea typeface="Open Sans" panose="020B0606030504020204" pitchFamily="34" charset="0"/>
                <a:cs typeface="Open Sans" panose="020B0606030504020204" pitchFamily="34" charset="0"/>
              </a:rPr>
              <a:t>Debug &amp; Assure</a:t>
            </a:r>
          </a:p>
          <a:p>
            <a:pPr marL="285750" indent="-285750">
              <a:buClr>
                <a:schemeClr val="tx1"/>
              </a:buClr>
              <a:buFont typeface="Wingdings" pitchFamily="2" charset="2"/>
              <a:buChar char="Ø"/>
            </a:pPr>
            <a:r>
              <a:rPr lang="en-US" sz="1400">
                <a:latin typeface="Open Sans" panose="020B0606030504020204" pitchFamily="34" charset="0"/>
                <a:ea typeface="Open Sans" panose="020B0606030504020204" pitchFamily="34" charset="0"/>
                <a:cs typeface="Open Sans" panose="020B0606030504020204" pitchFamily="34" charset="0"/>
              </a:rPr>
              <a:t>Checkpoints</a:t>
            </a:r>
          </a:p>
          <a:p>
            <a:pPr marL="285750" indent="-285750">
              <a:buClr>
                <a:schemeClr val="tx1"/>
              </a:buClr>
              <a:buFont typeface="Wingdings" pitchFamily="2" charset="2"/>
              <a:buChar char="Ø"/>
            </a:pPr>
            <a:r>
              <a:rPr lang="en-US" sz="1400">
                <a:latin typeface="Open Sans" panose="020B0606030504020204" pitchFamily="34" charset="0"/>
                <a:ea typeface="Open Sans" panose="020B0606030504020204" pitchFamily="34" charset="0"/>
                <a:cs typeface="Open Sans" panose="020B0606030504020204" pitchFamily="34" charset="0"/>
              </a:rPr>
              <a:t>Tests &amp; Hooks</a:t>
            </a:r>
          </a:p>
        </p:txBody>
      </p:sp>
      <p:sp>
        <p:nvSpPr>
          <p:cNvPr id="32" name="Shape 27"/>
          <p:cNvSpPr/>
          <p:nvPr/>
        </p:nvSpPr>
        <p:spPr>
          <a:xfrm>
            <a:off x="6108192" y="3962400"/>
            <a:ext cx="2206752" cy="0"/>
          </a:xfrm>
          <a:prstGeom prst="line">
            <a:avLst/>
          </a:prstGeom>
          <a:noFill/>
          <a:ln w="10160">
            <a:solidFill>
              <a:srgbClr val="E8E8E8"/>
            </a:solidFill>
            <a:prstDash val="solid"/>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28"/>
          <p:cNvSpPr/>
          <p:nvPr/>
        </p:nvSpPr>
        <p:spPr>
          <a:xfrm>
            <a:off x="6108192" y="4084320"/>
            <a:ext cx="2206752" cy="268224"/>
          </a:xfrm>
          <a:prstGeom prst="rect">
            <a:avLst/>
          </a:prstGeom>
          <a:noFill/>
          <a:ln/>
        </p:spPr>
        <p:txBody>
          <a:bodyPr wrap="square" lIns="0" tIns="0" rIns="0" bIns="0" rtlCol="0" anchor="ctr"/>
          <a:lstStyle/>
          <a:p>
            <a:r>
              <a:rPr lang="en-US" sz="1000" b="1" kern="0" spc="133">
                <a:solidFill>
                  <a:schemeClr val="tx2"/>
                </a:solidFill>
                <a:latin typeface="Open Sans" panose="020B0606030504020204" pitchFamily="34" charset="0"/>
                <a:ea typeface="Open Sans" panose="020B0606030504020204" pitchFamily="34" charset="0"/>
                <a:cs typeface="Open Sans" panose="020B0606030504020204" pitchFamily="34" charset="0"/>
              </a:rPr>
              <a:t>MODULE OUTCOME</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29"/>
          <p:cNvSpPr/>
          <p:nvPr/>
        </p:nvSpPr>
        <p:spPr>
          <a:xfrm>
            <a:off x="6108192" y="4537642"/>
            <a:ext cx="2206752" cy="835152"/>
          </a:xfrm>
          <a:prstGeom prst="rect">
            <a:avLst/>
          </a:prstGeom>
          <a:noFill/>
          <a:ln/>
        </p:spPr>
        <p:txBody>
          <a:bodyPr wrap="square" lIns="0" tIns="0" rIns="0" bIns="0" rtlCol="0" anchor="t"/>
          <a:lstStyle/>
          <a:p>
            <a:r>
              <a:rPr lang="en-US" sz="1200">
                <a:latin typeface="Open Sans" panose="020B0606030504020204" pitchFamily="34" charset="0"/>
                <a:ea typeface="Open Sans" panose="020B0606030504020204" pitchFamily="34" charset="0"/>
                <a:cs typeface="Open Sans" panose="020B0606030504020204" pitchFamily="34" charset="0"/>
              </a:rPr>
              <a:t>A debugged PoC with a test per requirement and hooks that enforce green</a:t>
            </a:r>
          </a:p>
        </p:txBody>
      </p:sp>
      <p:sp>
        <p:nvSpPr>
          <p:cNvPr id="37" name="Shape 32"/>
          <p:cNvSpPr/>
          <p:nvPr/>
        </p:nvSpPr>
        <p:spPr>
          <a:xfrm>
            <a:off x="8729472" y="1524000"/>
            <a:ext cx="2499360" cy="4389120"/>
          </a:xfrm>
          <a:prstGeom prst="roundRect">
            <a:avLst>
              <a:gd name="adj" fmla="val 5854"/>
            </a:avLst>
          </a:prstGeom>
          <a:solidFill>
            <a:srgbClr val="FFFFFF"/>
          </a:solidFill>
          <a:ln w="6350">
            <a:solidFill>
              <a:srgbClr val="E0E0E0"/>
            </a:solidFill>
            <a:prstDash val="solid"/>
          </a:ln>
          <a:effectLst>
            <a:outerShdw blurRad="101600" dist="38100" dir="2700000" algn="bl" rotWithShape="0">
              <a:srgbClr val="000000">
                <a:alpha val="10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35"/>
          <p:cNvSpPr/>
          <p:nvPr/>
        </p:nvSpPr>
        <p:spPr>
          <a:xfrm>
            <a:off x="8875776" y="2331639"/>
            <a:ext cx="2206752" cy="548640"/>
          </a:xfrm>
          <a:prstGeom prst="rect">
            <a:avLst/>
          </a:prstGeom>
          <a:noFill/>
          <a:ln/>
        </p:spPr>
        <p:txBody>
          <a:bodyPr wrap="square" lIns="0" tIns="0" rIns="0" bIns="0" rtlCol="0" anchor="ctr"/>
          <a:lstStyle/>
          <a:p>
            <a:pPr algn="ctr"/>
            <a:r>
              <a:rPr lang="en-US" sz="1733" b="1">
                <a:latin typeface="Open Sans" panose="020B0606030504020204" pitchFamily="34" charset="0"/>
                <a:ea typeface="Open Sans" panose="020B0606030504020204" pitchFamily="34" charset="0"/>
                <a:cs typeface="Open Sans" panose="020B0606030504020204" pitchFamily="34" charset="0"/>
              </a:rPr>
              <a:t>Module 5</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36"/>
          <p:cNvSpPr/>
          <p:nvPr/>
        </p:nvSpPr>
        <p:spPr>
          <a:xfrm>
            <a:off x="8875776" y="3166791"/>
            <a:ext cx="2206752" cy="838281"/>
          </a:xfrm>
          <a:prstGeom prst="rect">
            <a:avLst/>
          </a:prstGeom>
          <a:noFill/>
          <a:ln/>
        </p:spPr>
        <p:txBody>
          <a:bodyPr wrap="square" lIns="0" tIns="0" rIns="0" bIns="0" rtlCol="0" anchor="t"/>
          <a:lstStyle/>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Agent &amp; MCP</a:t>
            </a:r>
          </a:p>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Streamlit UI</a:t>
            </a:r>
          </a:p>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Docs &amp; Ship</a:t>
            </a:r>
          </a:p>
        </p:txBody>
      </p:sp>
      <p:sp>
        <p:nvSpPr>
          <p:cNvPr id="43" name="Shape 37"/>
          <p:cNvSpPr/>
          <p:nvPr/>
        </p:nvSpPr>
        <p:spPr>
          <a:xfrm>
            <a:off x="8875776" y="3962400"/>
            <a:ext cx="2206752" cy="0"/>
          </a:xfrm>
          <a:prstGeom prst="line">
            <a:avLst/>
          </a:prstGeom>
          <a:noFill/>
          <a:ln w="10160">
            <a:solidFill>
              <a:srgbClr val="E8E8E8"/>
            </a:solidFill>
            <a:prstDash val="solid"/>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38"/>
          <p:cNvSpPr/>
          <p:nvPr/>
        </p:nvSpPr>
        <p:spPr>
          <a:xfrm>
            <a:off x="8875776" y="4084320"/>
            <a:ext cx="2206752" cy="268224"/>
          </a:xfrm>
          <a:prstGeom prst="rect">
            <a:avLst/>
          </a:prstGeom>
          <a:noFill/>
          <a:ln/>
        </p:spPr>
        <p:txBody>
          <a:bodyPr wrap="square" lIns="0" tIns="0" rIns="0" bIns="0" rtlCol="0" anchor="ctr"/>
          <a:lstStyle/>
          <a:p>
            <a:r>
              <a:rPr lang="en-US" sz="1000" b="1" kern="0" spc="133">
                <a:solidFill>
                  <a:schemeClr val="tx2"/>
                </a:solidFill>
                <a:latin typeface="Open Sans" panose="020B0606030504020204" pitchFamily="34" charset="0"/>
                <a:ea typeface="Open Sans" panose="020B0606030504020204" pitchFamily="34" charset="0"/>
                <a:cs typeface="Open Sans" panose="020B0606030504020204" pitchFamily="34" charset="0"/>
              </a:rPr>
              <a:t>MODULE OUTCOME</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Text 39"/>
          <p:cNvSpPr/>
          <p:nvPr/>
        </p:nvSpPr>
        <p:spPr>
          <a:xfrm>
            <a:off x="8875776" y="4537642"/>
            <a:ext cx="2206752" cy="835152"/>
          </a:xfrm>
          <a:prstGeom prst="rect">
            <a:avLst/>
          </a:prstGeom>
          <a:noFill/>
          <a:ln/>
        </p:spPr>
        <p:txBody>
          <a:bodyPr wrap="square" lIns="0" tIns="0" rIns="0" bIns="0" rtlCol="0" anchor="t"/>
          <a:lstStyle/>
          <a:p>
            <a:r>
              <a:rPr lang="en-US" sz="1200">
                <a:latin typeface="Open Sans" panose="020B0606030504020204" pitchFamily="34" charset="0"/>
                <a:ea typeface="Open Sans" panose="020B0606030504020204" pitchFamily="34" charset="0"/>
                <a:cs typeface="Open Sans" panose="020B0606030504020204" pitchFamily="34" charset="0"/>
              </a:rPr>
              <a:t>An agent with memory, a clinician console, handoff docs and a gap audit — then the graded exam</a:t>
            </a:r>
          </a:p>
        </p:txBody>
      </p:sp>
      <p:pic>
        <p:nvPicPr>
          <p:cNvPr id="25" name="Graphic 24">
            <a:extLst>
              <a:ext uri="{FF2B5EF4-FFF2-40B4-BE49-F238E27FC236}">
                <a16:creationId xmlns:a16="http://schemas.microsoft.com/office/drawing/2014/main" id="{819183BF-00D5-B946-80D3-C7F2A5253C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71600" y="1669076"/>
            <a:ext cx="609600" cy="609600"/>
          </a:xfrm>
          <a:prstGeom prst="rect">
            <a:avLst/>
          </a:prstGeom>
        </p:spPr>
      </p:pic>
      <p:pic>
        <p:nvPicPr>
          <p:cNvPr id="36" name="Graphic 35">
            <a:extLst>
              <a:ext uri="{FF2B5EF4-FFF2-40B4-BE49-F238E27FC236}">
                <a16:creationId xmlns:a16="http://schemas.microsoft.com/office/drawing/2014/main" id="{D2236C0B-E585-B536-0D35-F15922C0C0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49575" y="1669076"/>
            <a:ext cx="588818" cy="588818"/>
          </a:xfrm>
          <a:prstGeom prst="rect">
            <a:avLst/>
          </a:prstGeom>
        </p:spPr>
      </p:pic>
      <p:pic>
        <p:nvPicPr>
          <p:cNvPr id="47" name="Graphic 46">
            <a:extLst>
              <a:ext uri="{FF2B5EF4-FFF2-40B4-BE49-F238E27FC236}">
                <a16:creationId xmlns:a16="http://schemas.microsoft.com/office/drawing/2014/main" id="{D3D304D4-A02A-FFC0-15EA-EC5687B160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10232" y="1689342"/>
            <a:ext cx="602673" cy="602673"/>
          </a:xfrm>
          <a:prstGeom prst="rect">
            <a:avLst/>
          </a:prstGeom>
        </p:spPr>
      </p:pic>
      <p:pic>
        <p:nvPicPr>
          <p:cNvPr id="49" name="Graphic 48">
            <a:extLst>
              <a:ext uri="{FF2B5EF4-FFF2-40B4-BE49-F238E27FC236}">
                <a16:creationId xmlns:a16="http://schemas.microsoft.com/office/drawing/2014/main" id="{C862DA3B-A81D-91FD-30CA-252FDF576F7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25639" y="1709972"/>
            <a:ext cx="507026" cy="5070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0">
            <a:extLst>
              <a:ext uri="{FF2B5EF4-FFF2-40B4-BE49-F238E27FC236}">
                <a16:creationId xmlns:a16="http://schemas.microsoft.com/office/drawing/2014/main" id="{E8723CAE-86B2-9352-616A-4351CF88FFD4}"/>
              </a:ext>
            </a:extLst>
          </p:cNvPr>
          <p:cNvSpPr/>
          <p:nvPr/>
        </p:nvSpPr>
        <p:spPr>
          <a:xfrm>
            <a:off x="615934" y="881457"/>
            <a:ext cx="2786912" cy="515420"/>
          </a:xfrm>
          <a:prstGeom prst="roundRect">
            <a:avLst>
              <a:gd name="adj" fmla="val 11905"/>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2">
            <a:extLst>
              <a:ext uri="{FF2B5EF4-FFF2-40B4-BE49-F238E27FC236}">
                <a16:creationId xmlns:a16="http://schemas.microsoft.com/office/drawing/2014/main" id="{14FBDC42-ED85-8A10-D0AB-67335A55479C}"/>
              </a:ext>
            </a:extLst>
          </p:cNvPr>
          <p:cNvSpPr txBox="1">
            <a:spLocks/>
          </p:cNvSpPr>
          <p:nvPr/>
        </p:nvSpPr>
        <p:spPr>
          <a:xfrm>
            <a:off x="657721" y="846780"/>
            <a:ext cx="2703339" cy="584775"/>
          </a:xfrm>
          <a:prstGeom prst="rect">
            <a:avLst/>
          </a:prstGeom>
        </p:spPr>
        <p:txBody>
          <a:bodyPr wrap="square" lIns="91440" tIns="45720" rIns="91440" bIns="45720" anchor="b">
            <a:spAutoFit/>
          </a:bodyPr>
          <a:lstStyle>
            <a:lvl1pPr algn="l" defTabSz="685800" rtl="0" eaLnBrk="1" latinLnBrk="0" hangingPunct="1">
              <a:lnSpc>
                <a:spcPct val="100000"/>
              </a:lnSpc>
              <a:spcBef>
                <a:spcPct val="0"/>
              </a:spcBef>
              <a:buNone/>
              <a:defRPr sz="5100" b="1" i="0" kern="1200">
                <a:solidFill>
                  <a:schemeClr val="tx1"/>
                </a:solidFill>
                <a:latin typeface="+mn-lt"/>
                <a:ea typeface="Open Sans" panose="020B0606030504020204" pitchFamily="34" charset="0"/>
                <a:cs typeface="Open Sans" panose="020B0606030504020204" pitchFamily="34" charset="0"/>
              </a:defRPr>
            </a:lvl1pPr>
          </a:lstStyle>
          <a:p>
            <a:pPr algn="ctr"/>
            <a:r>
              <a:rPr lang="en-IN" sz="3200">
                <a:solidFill>
                  <a:schemeClr val="bg1"/>
                </a:solidFill>
                <a:latin typeface="Open Sans"/>
                <a:ea typeface="Open Sans"/>
                <a:cs typeface="Open Sans"/>
              </a:rPr>
              <a:t>Module 1:</a:t>
            </a:r>
            <a:endParaRPr lang="en-US" sz="3200">
              <a:solidFill>
                <a:schemeClr val="bg1"/>
              </a:solidFill>
              <a:latin typeface="Open Sans"/>
              <a:ea typeface="Open Sans"/>
              <a:cs typeface="Open Sans"/>
            </a:endParaRPr>
          </a:p>
        </p:txBody>
      </p:sp>
      <p:sp>
        <p:nvSpPr>
          <p:cNvPr id="6" name="Title 2">
            <a:extLst>
              <a:ext uri="{FF2B5EF4-FFF2-40B4-BE49-F238E27FC236}">
                <a16:creationId xmlns:a16="http://schemas.microsoft.com/office/drawing/2014/main" id="{55B53BBC-886C-AA2A-CD1C-D67A3C472108}"/>
              </a:ext>
            </a:extLst>
          </p:cNvPr>
          <p:cNvSpPr txBox="1">
            <a:spLocks/>
          </p:cNvSpPr>
          <p:nvPr/>
        </p:nvSpPr>
        <p:spPr>
          <a:xfrm>
            <a:off x="511007" y="2709271"/>
            <a:ext cx="9064096" cy="175432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6000" b="1" dirty="0"/>
              <a:t>Getting Started with Claude Code &amp; AI Tools</a:t>
            </a:r>
            <a:endParaRPr lang="en-US" sz="6000" b="1" dirty="0"/>
          </a:p>
        </p:txBody>
      </p:sp>
    </p:spTree>
    <p:extLst>
      <p:ext uri="{BB962C8B-B14F-4D97-AF65-F5344CB8AC3E}">
        <p14:creationId xmlns:p14="http://schemas.microsoft.com/office/powerpoint/2010/main" val="2094109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BEA6EF-A1FD-81D9-D6D7-661B4826EA74}"/>
            </a:ext>
          </a:extLst>
        </p:cNvPr>
        <p:cNvGrpSpPr/>
        <p:nvPr/>
      </p:nvGrpSpPr>
      <p:grpSpPr>
        <a:xfrm>
          <a:off x="0" y="0"/>
          <a:ext cx="0" cy="0"/>
          <a:chOff x="0" y="0"/>
          <a:chExt cx="0" cy="0"/>
        </a:xfrm>
      </p:grpSpPr>
      <p:sp>
        <p:nvSpPr>
          <p:cNvPr id="8" name="Shape 5">
            <a:extLst>
              <a:ext uri="{FF2B5EF4-FFF2-40B4-BE49-F238E27FC236}">
                <a16:creationId xmlns:a16="http://schemas.microsoft.com/office/drawing/2014/main" id="{66C81320-336B-DEED-68CF-6353F42421EB}"/>
              </a:ext>
            </a:extLst>
          </p:cNvPr>
          <p:cNvSpPr/>
          <p:nvPr/>
        </p:nvSpPr>
        <p:spPr>
          <a:xfrm>
            <a:off x="629293" y="158216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2">
            <a:extLst>
              <a:ext uri="{FF2B5EF4-FFF2-40B4-BE49-F238E27FC236}">
                <a16:creationId xmlns:a16="http://schemas.microsoft.com/office/drawing/2014/main" id="{68A5E868-4367-E694-C46C-059D7929ED05}"/>
              </a:ext>
            </a:extLst>
          </p:cNvPr>
          <p:cNvSpPr>
            <a:spLocks noGrp="1"/>
          </p:cNvSpPr>
          <p:nvPr>
            <p:ph type="title"/>
          </p:nvPr>
        </p:nvSpPr>
        <p:spPr>
          <a:xfrm>
            <a:off x="514636" y="240252"/>
            <a:ext cx="10854797" cy="646331"/>
          </a:xfrm>
        </p:spPr>
        <p:txBody>
          <a:bodyPr/>
          <a:lstStyle/>
          <a:p>
            <a:r>
              <a:rPr lang="en-IN" sz="3600" dirty="0"/>
              <a:t>Module Agenda + Timebox</a:t>
            </a:r>
            <a:endParaRPr lang="en-US" sz="3600" dirty="0"/>
          </a:p>
        </p:txBody>
      </p:sp>
      <p:sp>
        <p:nvSpPr>
          <p:cNvPr id="16" name="Rounded Rectangle 15">
            <a:extLst>
              <a:ext uri="{FF2B5EF4-FFF2-40B4-BE49-F238E27FC236}">
                <a16:creationId xmlns:a16="http://schemas.microsoft.com/office/drawing/2014/main" id="{D442390A-26CA-487B-B042-5BA54AC3D044}"/>
              </a:ext>
            </a:extLst>
          </p:cNvPr>
          <p:cNvSpPr/>
          <p:nvPr/>
        </p:nvSpPr>
        <p:spPr>
          <a:xfrm>
            <a:off x="629293" y="1457261"/>
            <a:ext cx="3155795"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endParaRPr lang="en-IN" b="1" dirty="0">
              <a:solidFill>
                <a:schemeClr val="tx1"/>
              </a:solidFill>
            </a:endParaRPr>
          </a:p>
          <a:p>
            <a:r>
              <a:rPr lang="en-IN" b="1">
                <a:solidFill>
                  <a:schemeClr val="accent2"/>
                </a:solidFill>
              </a:rPr>
              <a:t>PART 1                  ~ 30 min</a:t>
            </a:r>
            <a:endParaRPr lang="en-IN" b="1">
              <a:solidFill>
                <a:schemeClr val="accent2"/>
              </a:solidFill>
              <a:ea typeface="Open Sans"/>
              <a:cs typeface="Open Sans"/>
            </a:endParaRPr>
          </a:p>
          <a:p>
            <a:endParaRPr lang="en-IN" sz="1600" dirty="0">
              <a:solidFill>
                <a:schemeClr val="tx1"/>
              </a:solidFill>
            </a:endParaRPr>
          </a:p>
          <a:p>
            <a:endParaRPr lang="en-IN" sz="1600" dirty="0">
              <a:solidFill>
                <a:schemeClr val="tx1"/>
              </a:solidFill>
            </a:endParaRPr>
          </a:p>
          <a:p>
            <a:pPr marL="285750" indent="-285750">
              <a:lnSpc>
                <a:spcPct val="150000"/>
              </a:lnSpc>
              <a:buSzPct val="100000"/>
              <a:buFont typeface="Arial" panose="020B0604020202020204" pitchFamily="34" charset="0"/>
              <a:buChar char="•"/>
            </a:pPr>
            <a:r>
              <a:rPr lang="en-IN" sz="1600" dirty="0">
                <a:solidFill>
                  <a:schemeClr val="tx1"/>
                </a:solidFill>
              </a:rPr>
              <a:t>The AI Coding Landscape</a:t>
            </a:r>
          </a:p>
          <a:p>
            <a:pPr marL="285750" indent="-285750">
              <a:lnSpc>
                <a:spcPct val="150000"/>
              </a:lnSpc>
              <a:buSzPct val="100000"/>
              <a:buFont typeface="Arial" panose="020B0604020202020204" pitchFamily="34" charset="0"/>
              <a:buChar char="•"/>
            </a:pPr>
            <a:r>
              <a:rPr lang="en-IN" sz="1600" dirty="0">
                <a:solidFill>
                  <a:schemeClr val="tx1"/>
                </a:solidFill>
              </a:rPr>
              <a:t>AI Tools</a:t>
            </a:r>
          </a:p>
          <a:p>
            <a:pPr marL="285750" indent="-285750">
              <a:lnSpc>
                <a:spcPct val="150000"/>
              </a:lnSpc>
              <a:buSzPct val="100000"/>
              <a:buFont typeface="Arial" panose="020B0604020202020204" pitchFamily="34" charset="0"/>
              <a:buChar char="•"/>
            </a:pPr>
            <a:r>
              <a:rPr lang="en-IN" sz="1600" dirty="0">
                <a:solidFill>
                  <a:schemeClr val="tx1"/>
                </a:solidFill>
              </a:rPr>
              <a:t>How To Choose Right Tool</a:t>
            </a:r>
            <a:endParaRPr lang="en-US" sz="1600" dirty="0">
              <a:solidFill>
                <a:schemeClr val="tx1"/>
              </a:solidFill>
            </a:endParaRPr>
          </a:p>
        </p:txBody>
      </p:sp>
      <p:sp>
        <p:nvSpPr>
          <p:cNvPr id="9" name="Shape 5">
            <a:extLst>
              <a:ext uri="{FF2B5EF4-FFF2-40B4-BE49-F238E27FC236}">
                <a16:creationId xmlns:a16="http://schemas.microsoft.com/office/drawing/2014/main" id="{75244766-8231-5965-56A9-65B8FF661116}"/>
              </a:ext>
            </a:extLst>
          </p:cNvPr>
          <p:cNvSpPr/>
          <p:nvPr/>
        </p:nvSpPr>
        <p:spPr>
          <a:xfrm>
            <a:off x="4518103" y="158216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7" name="Rounded Rectangle 16">
            <a:extLst>
              <a:ext uri="{FF2B5EF4-FFF2-40B4-BE49-F238E27FC236}">
                <a16:creationId xmlns:a16="http://schemas.microsoft.com/office/drawing/2014/main" id="{EFF2EDE1-EA49-AE34-FCDE-58A153C27C35}"/>
              </a:ext>
            </a:extLst>
          </p:cNvPr>
          <p:cNvSpPr/>
          <p:nvPr/>
        </p:nvSpPr>
        <p:spPr>
          <a:xfrm>
            <a:off x="4518103" y="1457261"/>
            <a:ext cx="3155795"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endParaRPr lang="en-IN" b="1" dirty="0">
              <a:solidFill>
                <a:schemeClr val="tx1"/>
              </a:solidFill>
            </a:endParaRPr>
          </a:p>
          <a:p>
            <a:r>
              <a:rPr lang="en-IN" b="1">
                <a:solidFill>
                  <a:schemeClr val="accent2"/>
                </a:solidFill>
              </a:rPr>
              <a:t>PART 2		   ~ 40 </a:t>
            </a:r>
            <a:r>
              <a:rPr lang="en-IN" b="1" dirty="0">
                <a:solidFill>
                  <a:schemeClr val="accent2"/>
                </a:solidFill>
              </a:rPr>
              <a:t>min</a:t>
            </a:r>
            <a:endParaRPr lang="en-IN" sz="1600" dirty="0">
              <a:solidFill>
                <a:schemeClr val="accent2"/>
              </a:solidFill>
            </a:endParaRPr>
          </a:p>
          <a:p>
            <a:endParaRPr lang="en-IN" sz="1600" dirty="0">
              <a:solidFill>
                <a:schemeClr val="tx1"/>
              </a:solidFill>
            </a:endParaRPr>
          </a:p>
          <a:p>
            <a:pPr marL="285750" indent="-285750">
              <a:lnSpc>
                <a:spcPct val="150000"/>
              </a:lnSpc>
              <a:buFont typeface="Arial" panose="020B0604020202020204" pitchFamily="34" charset="0"/>
              <a:buChar char="•"/>
            </a:pPr>
            <a:r>
              <a:rPr lang="en-IN" sz="1600" dirty="0">
                <a:solidFill>
                  <a:schemeClr val="tx1"/>
                </a:solidFill>
              </a:rPr>
              <a:t>Getting Started with Claude Code</a:t>
            </a:r>
            <a:br>
              <a:rPr lang="en-IN" sz="1600" dirty="0">
                <a:solidFill>
                  <a:schemeClr val="tx1"/>
                </a:solidFill>
              </a:rPr>
            </a:br>
            <a:r>
              <a:rPr lang="en-IN" sz="1600" dirty="0">
                <a:solidFill>
                  <a:schemeClr val="tx1"/>
                </a:solidFill>
              </a:rPr>
              <a:t>Demo + Hands-on</a:t>
            </a:r>
          </a:p>
          <a:p>
            <a:pPr marL="285750" indent="-285750">
              <a:lnSpc>
                <a:spcPct val="150000"/>
              </a:lnSpc>
              <a:buFont typeface="Arial" panose="020B0604020202020204" pitchFamily="34" charset="0"/>
              <a:buChar char="•"/>
            </a:pPr>
            <a:r>
              <a:rPr lang="en-IN" sz="1600" dirty="0">
                <a:solidFill>
                  <a:schemeClr val="tx1"/>
                </a:solidFill>
              </a:rPr>
              <a:t>Interface orientation</a:t>
            </a:r>
          </a:p>
          <a:p>
            <a:pPr marL="285750" indent="-285750">
              <a:lnSpc>
                <a:spcPct val="150000"/>
              </a:lnSpc>
              <a:buFont typeface="Arial" panose="020B0604020202020204" pitchFamily="34" charset="0"/>
              <a:buChar char="•"/>
            </a:pPr>
            <a:r>
              <a:rPr lang="en-IN" sz="1600">
                <a:solidFill>
                  <a:schemeClr val="tx1"/>
                </a:solidFill>
              </a:rPr>
              <a:t>CLAUDE.md</a:t>
            </a:r>
          </a:p>
          <a:p>
            <a:pPr marL="285750" indent="-285750">
              <a:lnSpc>
                <a:spcPct val="150000"/>
              </a:lnSpc>
              <a:buFont typeface="Arial" panose="020B0604020202020204" pitchFamily="34" charset="0"/>
              <a:buChar char="•"/>
            </a:pPr>
            <a:r>
              <a:rPr lang="en-IN" sz="1600" dirty="0">
                <a:solidFill>
                  <a:schemeClr val="tx1"/>
                </a:solidFill>
              </a:rPr>
              <a:t>Key commands</a:t>
            </a:r>
            <a:endParaRPr lang="en-US" sz="1600" dirty="0">
              <a:solidFill>
                <a:schemeClr val="tx1"/>
              </a:solidFill>
            </a:endParaRPr>
          </a:p>
        </p:txBody>
      </p:sp>
      <p:sp>
        <p:nvSpPr>
          <p:cNvPr id="10" name="Shape 5">
            <a:extLst>
              <a:ext uri="{FF2B5EF4-FFF2-40B4-BE49-F238E27FC236}">
                <a16:creationId xmlns:a16="http://schemas.microsoft.com/office/drawing/2014/main" id="{4CDD4BB4-374C-D42D-39C2-0D1940B837FF}"/>
              </a:ext>
            </a:extLst>
          </p:cNvPr>
          <p:cNvSpPr/>
          <p:nvPr/>
        </p:nvSpPr>
        <p:spPr>
          <a:xfrm>
            <a:off x="8406912" y="158216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9" name="Rounded Rectangle 18">
            <a:extLst>
              <a:ext uri="{FF2B5EF4-FFF2-40B4-BE49-F238E27FC236}">
                <a16:creationId xmlns:a16="http://schemas.microsoft.com/office/drawing/2014/main" id="{53DE84A8-2388-6CAA-B293-3A5D58AD50A8}"/>
              </a:ext>
            </a:extLst>
          </p:cNvPr>
          <p:cNvSpPr/>
          <p:nvPr/>
        </p:nvSpPr>
        <p:spPr>
          <a:xfrm>
            <a:off x="8406912" y="1457261"/>
            <a:ext cx="3155795"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endParaRPr lang="en-IN" b="1" dirty="0">
              <a:solidFill>
                <a:schemeClr val="tx1"/>
              </a:solidFill>
            </a:endParaRPr>
          </a:p>
          <a:p>
            <a:r>
              <a:rPr lang="en-IN" b="1" dirty="0">
                <a:solidFill>
                  <a:schemeClr val="accent2"/>
                </a:solidFill>
              </a:rPr>
              <a:t>PART 3                   ~ 50 min</a:t>
            </a:r>
            <a:endParaRPr lang="en-IN" b="1" dirty="0">
              <a:solidFill>
                <a:schemeClr val="accent2"/>
              </a:solidFill>
              <a:ea typeface="Open Sans"/>
              <a:cs typeface="Open Sans"/>
            </a:endParaRPr>
          </a:p>
          <a:p>
            <a:endParaRPr lang="en-IN" b="1" dirty="0">
              <a:solidFill>
                <a:schemeClr val="tx1"/>
              </a:solidFill>
            </a:endParaRPr>
          </a:p>
          <a:p>
            <a:endParaRPr lang="en-IN" b="1" dirty="0">
              <a:solidFill>
                <a:schemeClr val="tx1"/>
              </a:solidFill>
            </a:endParaRPr>
          </a:p>
          <a:p>
            <a:pPr marL="285750" indent="-285750">
              <a:lnSpc>
                <a:spcPct val="150000"/>
              </a:lnSpc>
              <a:buFont typeface="Arial"/>
              <a:buChar char="•"/>
            </a:pPr>
            <a:r>
              <a:rPr lang="en-IN" sz="1600" dirty="0">
                <a:solidFill>
                  <a:schemeClr val="tx1"/>
                </a:solidFill>
              </a:rPr>
              <a:t>Prompt Engineering for Code Generation</a:t>
            </a:r>
            <a:br>
              <a:rPr lang="en-IN" sz="1600" dirty="0"/>
            </a:br>
            <a:r>
              <a:rPr lang="en-IN" sz="1600" dirty="0">
                <a:solidFill>
                  <a:schemeClr val="tx1"/>
                </a:solidFill>
              </a:rPr>
              <a:t>Hands-on</a:t>
            </a:r>
            <a:endParaRPr lang="en-IN" sz="1600" dirty="0">
              <a:solidFill>
                <a:schemeClr val="tx1"/>
              </a:solidFill>
              <a:ea typeface="Open Sans"/>
              <a:cs typeface="Open Sans"/>
            </a:endParaRPr>
          </a:p>
          <a:p>
            <a:pPr marL="285750" indent="-285750">
              <a:lnSpc>
                <a:spcPct val="150000"/>
              </a:lnSpc>
              <a:buFont typeface="Arial" panose="020B0604020202020204" pitchFamily="34" charset="0"/>
              <a:buChar char="•"/>
            </a:pPr>
            <a:r>
              <a:rPr lang="en-IN" sz="1600" dirty="0">
                <a:solidFill>
                  <a:schemeClr val="tx1"/>
                </a:solidFill>
              </a:rPr>
              <a:t>Scaffold prompt</a:t>
            </a:r>
          </a:p>
          <a:p>
            <a:pPr marL="285750" indent="-285750">
              <a:lnSpc>
                <a:spcPct val="150000"/>
              </a:lnSpc>
              <a:buFont typeface="Arial" panose="020B0604020202020204" pitchFamily="34" charset="0"/>
              <a:buChar char="•"/>
            </a:pPr>
            <a:r>
              <a:rPr lang="en-IN" sz="1600" dirty="0">
                <a:solidFill>
                  <a:schemeClr val="tx1"/>
                </a:solidFill>
              </a:rPr>
              <a:t>v1 → v2 improvement loop</a:t>
            </a:r>
            <a:endParaRPr lang="en-US" sz="1600" dirty="0">
              <a:solidFill>
                <a:schemeClr val="tx1"/>
              </a:solidFill>
            </a:endParaRPr>
          </a:p>
        </p:txBody>
      </p:sp>
    </p:spTree>
    <p:extLst>
      <p:ext uri="{BB962C8B-B14F-4D97-AF65-F5344CB8AC3E}">
        <p14:creationId xmlns:p14="http://schemas.microsoft.com/office/powerpoint/2010/main" val="3064622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0D577C95-62B8-1305-D283-47DF6A527848}"/>
              </a:ext>
            </a:extLst>
          </p:cNvPr>
          <p:cNvSpPr>
            <a:spLocks noGrp="1"/>
          </p:cNvSpPr>
          <p:nvPr>
            <p:ph type="body" sz="quarter" idx="17"/>
          </p:nvPr>
        </p:nvSpPr>
        <p:spPr>
          <a:xfrm>
            <a:off x="1458806" y="1741368"/>
            <a:ext cx="9960293" cy="615747"/>
          </a:xfrm>
        </p:spPr>
        <p:txBody>
          <a:bodyPr anchor="t"/>
          <a:lstStyle/>
          <a:p>
            <a:r>
              <a:rPr lang="en-IN" sz="1800" dirty="0"/>
              <a:t>Understand the AI coding landscape to select the right tool for a given task</a:t>
            </a:r>
            <a:endParaRPr lang="en-US" sz="1800" dirty="0"/>
          </a:p>
        </p:txBody>
      </p:sp>
      <p:sp>
        <p:nvSpPr>
          <p:cNvPr id="3" name="Title 2">
            <a:extLst>
              <a:ext uri="{FF2B5EF4-FFF2-40B4-BE49-F238E27FC236}">
                <a16:creationId xmlns:a16="http://schemas.microsoft.com/office/drawing/2014/main" id="{A871B61F-C74F-E002-CB31-0AB411EB0275}"/>
              </a:ext>
            </a:extLst>
          </p:cNvPr>
          <p:cNvSpPr>
            <a:spLocks noGrp="1"/>
          </p:cNvSpPr>
          <p:nvPr>
            <p:ph type="title"/>
          </p:nvPr>
        </p:nvSpPr>
        <p:spPr>
          <a:xfrm>
            <a:off x="493854" y="242568"/>
            <a:ext cx="10854797" cy="646331"/>
          </a:xfrm>
        </p:spPr>
        <p:txBody>
          <a:bodyPr/>
          <a:lstStyle/>
          <a:p>
            <a:r>
              <a:rPr lang="en-US" sz="3600" dirty="0"/>
              <a:t>Learning Outcomes:</a:t>
            </a:r>
          </a:p>
        </p:txBody>
      </p:sp>
      <p:sp>
        <p:nvSpPr>
          <p:cNvPr id="4" name="Text Placeholder 7">
            <a:extLst>
              <a:ext uri="{FF2B5EF4-FFF2-40B4-BE49-F238E27FC236}">
                <a16:creationId xmlns:a16="http://schemas.microsoft.com/office/drawing/2014/main" id="{9A83FCD1-E9E1-91B0-9957-240CB87D904E}"/>
              </a:ext>
            </a:extLst>
          </p:cNvPr>
          <p:cNvSpPr txBox="1">
            <a:spLocks/>
          </p:cNvSpPr>
          <p:nvPr/>
        </p:nvSpPr>
        <p:spPr>
          <a:xfrm>
            <a:off x="1458805" y="2920255"/>
            <a:ext cx="9960293" cy="6157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dirty="0"/>
              <a:t>Distinguish Claude Code from chat tools and navigate its interface using key commands</a:t>
            </a:r>
            <a:endParaRPr lang="en-US" sz="1800" dirty="0"/>
          </a:p>
        </p:txBody>
      </p:sp>
      <p:sp>
        <p:nvSpPr>
          <p:cNvPr id="7" name="Text Placeholder 7">
            <a:extLst>
              <a:ext uri="{FF2B5EF4-FFF2-40B4-BE49-F238E27FC236}">
                <a16:creationId xmlns:a16="http://schemas.microsoft.com/office/drawing/2014/main" id="{2CCF03F7-FB00-159E-02C5-7F790EEF07C1}"/>
              </a:ext>
            </a:extLst>
          </p:cNvPr>
          <p:cNvSpPr txBox="1">
            <a:spLocks/>
          </p:cNvSpPr>
          <p:nvPr/>
        </p:nvSpPr>
        <p:spPr>
          <a:xfrm>
            <a:off x="1458805" y="4122543"/>
            <a:ext cx="9960293" cy="6157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dirty="0"/>
              <a:t>Write a scaffold prompt that generates useful, first-attempt code from a plain-English brief</a:t>
            </a:r>
            <a:endParaRPr lang="en-US" sz="1800" dirty="0"/>
          </a:p>
        </p:txBody>
      </p:sp>
      <p:sp>
        <p:nvSpPr>
          <p:cNvPr id="10" name="Text Placeholder 7">
            <a:extLst>
              <a:ext uri="{FF2B5EF4-FFF2-40B4-BE49-F238E27FC236}">
                <a16:creationId xmlns:a16="http://schemas.microsoft.com/office/drawing/2014/main" id="{6F21F96C-4EA7-9F58-1124-DCEE3CE6D44E}"/>
              </a:ext>
            </a:extLst>
          </p:cNvPr>
          <p:cNvSpPr txBox="1">
            <a:spLocks/>
          </p:cNvSpPr>
          <p:nvPr/>
        </p:nvSpPr>
        <p:spPr>
          <a:xfrm>
            <a:off x="1458804" y="5302411"/>
            <a:ext cx="9960293" cy="6157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dirty="0"/>
              <a:t>Apply an iterative prompting loop to improve output quality across multiple attempts</a:t>
            </a:r>
            <a:endParaRPr lang="en-US" sz="1800" dirty="0"/>
          </a:p>
        </p:txBody>
      </p:sp>
      <p:sp>
        <p:nvSpPr>
          <p:cNvPr id="11" name="Text Placeholder 7">
            <a:extLst>
              <a:ext uri="{FF2B5EF4-FFF2-40B4-BE49-F238E27FC236}">
                <a16:creationId xmlns:a16="http://schemas.microsoft.com/office/drawing/2014/main" id="{8510A87C-981B-160F-5D9A-C9E6FEB10827}"/>
              </a:ext>
            </a:extLst>
          </p:cNvPr>
          <p:cNvSpPr txBox="1">
            <a:spLocks/>
          </p:cNvSpPr>
          <p:nvPr/>
        </p:nvSpPr>
        <p:spPr>
          <a:xfrm>
            <a:off x="605364" y="861191"/>
            <a:ext cx="9960293" cy="615811"/>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dirty="0"/>
              <a:t>By the end of this module, you will be able to:</a:t>
            </a:r>
            <a:endParaRPr lang="en-US" sz="1800" dirty="0"/>
          </a:p>
        </p:txBody>
      </p:sp>
      <p:sp>
        <p:nvSpPr>
          <p:cNvPr id="12" name="Shape 5">
            <a:extLst>
              <a:ext uri="{FF2B5EF4-FFF2-40B4-BE49-F238E27FC236}">
                <a16:creationId xmlns:a16="http://schemas.microsoft.com/office/drawing/2014/main" id="{185CD508-A910-5C37-5470-5B5FA24394C2}"/>
              </a:ext>
            </a:extLst>
          </p:cNvPr>
          <p:cNvSpPr/>
          <p:nvPr/>
        </p:nvSpPr>
        <p:spPr>
          <a:xfrm>
            <a:off x="579914" y="1713961"/>
            <a:ext cx="670560" cy="670560"/>
          </a:xfrm>
          <a:prstGeom prst="ellipse">
            <a:avLst/>
          </a:prstGeom>
          <a:solidFill>
            <a:srgbClr val="008CCC"/>
          </a:solidFill>
          <a:ln/>
        </p:spPr>
        <p:txBody>
          <a:bodyPr/>
          <a:lstStyle/>
          <a:p>
            <a:endParaRPr lang="en-IN" sz="3200"/>
          </a:p>
        </p:txBody>
      </p:sp>
      <p:sp>
        <p:nvSpPr>
          <p:cNvPr id="13" name="Text 2">
            <a:extLst>
              <a:ext uri="{FF2B5EF4-FFF2-40B4-BE49-F238E27FC236}">
                <a16:creationId xmlns:a16="http://schemas.microsoft.com/office/drawing/2014/main" id="{85C63230-C890-01AB-5ED2-8CCB43F176E2}"/>
              </a:ext>
            </a:extLst>
          </p:cNvPr>
          <p:cNvSpPr/>
          <p:nvPr/>
        </p:nvSpPr>
        <p:spPr>
          <a:xfrm>
            <a:off x="488474" y="1610329"/>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4">
            <a:extLst>
              <a:ext uri="{FF2B5EF4-FFF2-40B4-BE49-F238E27FC236}">
                <a16:creationId xmlns:a16="http://schemas.microsoft.com/office/drawing/2014/main" id="{1B1F5045-CDD2-89D4-B760-8CBE6A9192D6}"/>
              </a:ext>
            </a:extLst>
          </p:cNvPr>
          <p:cNvSpPr/>
          <p:nvPr/>
        </p:nvSpPr>
        <p:spPr>
          <a:xfrm>
            <a:off x="488474" y="2594143"/>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5">
            <a:extLst>
              <a:ext uri="{FF2B5EF4-FFF2-40B4-BE49-F238E27FC236}">
                <a16:creationId xmlns:a16="http://schemas.microsoft.com/office/drawing/2014/main" id="{3689F806-1072-AFFE-6A85-14351800644F}"/>
              </a:ext>
            </a:extLst>
          </p:cNvPr>
          <p:cNvSpPr/>
          <p:nvPr/>
        </p:nvSpPr>
        <p:spPr>
          <a:xfrm>
            <a:off x="579914" y="2892848"/>
            <a:ext cx="670560" cy="670560"/>
          </a:xfrm>
          <a:prstGeom prst="ellipse">
            <a:avLst/>
          </a:prstGeom>
          <a:solidFill>
            <a:srgbClr val="008CCC"/>
          </a:solidFill>
          <a:ln/>
        </p:spPr>
        <p:txBody>
          <a:bodyPr/>
          <a:lstStyle/>
          <a:p>
            <a:endParaRPr lang="en-IN" sz="3200"/>
          </a:p>
        </p:txBody>
      </p:sp>
      <p:sp>
        <p:nvSpPr>
          <p:cNvPr id="16" name="Text 5">
            <a:extLst>
              <a:ext uri="{FF2B5EF4-FFF2-40B4-BE49-F238E27FC236}">
                <a16:creationId xmlns:a16="http://schemas.microsoft.com/office/drawing/2014/main" id="{FCAFEDE6-3F6C-7649-9D80-69B8D08EE4C0}"/>
              </a:ext>
            </a:extLst>
          </p:cNvPr>
          <p:cNvSpPr/>
          <p:nvPr/>
        </p:nvSpPr>
        <p:spPr>
          <a:xfrm>
            <a:off x="488474" y="2789216"/>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5">
            <a:extLst>
              <a:ext uri="{FF2B5EF4-FFF2-40B4-BE49-F238E27FC236}">
                <a16:creationId xmlns:a16="http://schemas.microsoft.com/office/drawing/2014/main" id="{D0CFB3DB-A06F-7A86-0870-856A2B7A8947}"/>
              </a:ext>
            </a:extLst>
          </p:cNvPr>
          <p:cNvSpPr/>
          <p:nvPr/>
        </p:nvSpPr>
        <p:spPr>
          <a:xfrm>
            <a:off x="579914" y="4095136"/>
            <a:ext cx="670560" cy="670560"/>
          </a:xfrm>
          <a:prstGeom prst="ellipse">
            <a:avLst/>
          </a:prstGeom>
          <a:solidFill>
            <a:srgbClr val="008CCC"/>
          </a:solidFill>
          <a:ln/>
        </p:spPr>
        <p:txBody>
          <a:bodyPr/>
          <a:lstStyle/>
          <a:p>
            <a:endParaRPr lang="en-IN" sz="3200"/>
          </a:p>
        </p:txBody>
      </p:sp>
      <p:sp>
        <p:nvSpPr>
          <p:cNvPr id="18" name="Shape 7">
            <a:extLst>
              <a:ext uri="{FF2B5EF4-FFF2-40B4-BE49-F238E27FC236}">
                <a16:creationId xmlns:a16="http://schemas.microsoft.com/office/drawing/2014/main" id="{52D068B0-26F1-AD4D-4CE1-CF2521317B23}"/>
              </a:ext>
            </a:extLst>
          </p:cNvPr>
          <p:cNvSpPr/>
          <p:nvPr/>
        </p:nvSpPr>
        <p:spPr>
          <a:xfrm>
            <a:off x="488474" y="3862112"/>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8">
            <a:extLst>
              <a:ext uri="{FF2B5EF4-FFF2-40B4-BE49-F238E27FC236}">
                <a16:creationId xmlns:a16="http://schemas.microsoft.com/office/drawing/2014/main" id="{54F1078E-56B9-661B-98D2-10293317DCFA}"/>
              </a:ext>
            </a:extLst>
          </p:cNvPr>
          <p:cNvSpPr/>
          <p:nvPr/>
        </p:nvSpPr>
        <p:spPr>
          <a:xfrm>
            <a:off x="488474" y="3991504"/>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0">
            <a:extLst>
              <a:ext uri="{FF2B5EF4-FFF2-40B4-BE49-F238E27FC236}">
                <a16:creationId xmlns:a16="http://schemas.microsoft.com/office/drawing/2014/main" id="{AB9B2140-E20D-0397-98EE-3F0D7D87E6A9}"/>
              </a:ext>
            </a:extLst>
          </p:cNvPr>
          <p:cNvSpPr/>
          <p:nvPr/>
        </p:nvSpPr>
        <p:spPr>
          <a:xfrm>
            <a:off x="488474" y="5038048"/>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5">
            <a:extLst>
              <a:ext uri="{FF2B5EF4-FFF2-40B4-BE49-F238E27FC236}">
                <a16:creationId xmlns:a16="http://schemas.microsoft.com/office/drawing/2014/main" id="{D5B1A4F4-F820-F9EE-8AA3-803380948E03}"/>
              </a:ext>
            </a:extLst>
          </p:cNvPr>
          <p:cNvSpPr/>
          <p:nvPr/>
        </p:nvSpPr>
        <p:spPr>
          <a:xfrm>
            <a:off x="579914" y="5275004"/>
            <a:ext cx="670560" cy="670560"/>
          </a:xfrm>
          <a:prstGeom prst="ellipse">
            <a:avLst/>
          </a:prstGeom>
          <a:solidFill>
            <a:srgbClr val="008CCC"/>
          </a:solidFill>
          <a:ln/>
        </p:spPr>
        <p:txBody>
          <a:bodyPr/>
          <a:lstStyle/>
          <a:p>
            <a:endParaRPr lang="en-IN" sz="3200"/>
          </a:p>
        </p:txBody>
      </p:sp>
      <p:sp>
        <p:nvSpPr>
          <p:cNvPr id="22" name="Text 11">
            <a:extLst>
              <a:ext uri="{FF2B5EF4-FFF2-40B4-BE49-F238E27FC236}">
                <a16:creationId xmlns:a16="http://schemas.microsoft.com/office/drawing/2014/main" id="{CF61755D-42E8-4AB9-D4FB-99F5E5A85075}"/>
              </a:ext>
            </a:extLst>
          </p:cNvPr>
          <p:cNvSpPr/>
          <p:nvPr/>
        </p:nvSpPr>
        <p:spPr>
          <a:xfrm>
            <a:off x="488474" y="5171372"/>
            <a:ext cx="853440" cy="877824"/>
          </a:xfrm>
          <a:prstGeom prst="rect">
            <a:avLst/>
          </a:prstGeom>
          <a:noFill/>
          <a:ln/>
        </p:spPr>
        <p:txBody>
          <a:bodyPr wrap="square" lIns="0" tIns="0" rIns="0" bIns="0" rtlCol="0" anchor="ctr"/>
          <a:lstStyle/>
          <a:p>
            <a:pPr algn="ctr"/>
            <a:r>
              <a:rPr lang="en-US" sz="18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US" sz="18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641973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611000-4E21-C2D1-A6F3-36B3B14DD6D8}"/>
              </a:ext>
            </a:extLst>
          </p:cNvPr>
          <p:cNvSpPr>
            <a:spLocks noGrp="1"/>
          </p:cNvSpPr>
          <p:nvPr>
            <p:ph type="title"/>
          </p:nvPr>
        </p:nvSpPr>
        <p:spPr>
          <a:xfrm>
            <a:off x="493373" y="236582"/>
            <a:ext cx="10854797" cy="646331"/>
          </a:xfrm>
        </p:spPr>
        <p:txBody>
          <a:bodyPr/>
          <a:lstStyle/>
          <a:p>
            <a:r>
              <a:rPr lang="en-IN" dirty="0"/>
              <a:t>Before We Start</a:t>
            </a:r>
            <a:endParaRPr lang="en-US" dirty="0"/>
          </a:p>
        </p:txBody>
      </p:sp>
      <p:sp>
        <p:nvSpPr>
          <p:cNvPr id="4" name="Shape 2">
            <a:extLst>
              <a:ext uri="{FF2B5EF4-FFF2-40B4-BE49-F238E27FC236}">
                <a16:creationId xmlns:a16="http://schemas.microsoft.com/office/drawing/2014/main" id="{0CD3165C-B1D2-42CE-1A62-CF58D6B67E75}"/>
              </a:ext>
            </a:extLst>
          </p:cNvPr>
          <p:cNvSpPr/>
          <p:nvPr/>
        </p:nvSpPr>
        <p:spPr>
          <a:xfrm>
            <a:off x="609599" y="1091195"/>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6" name="Text 3">
            <a:extLst>
              <a:ext uri="{FF2B5EF4-FFF2-40B4-BE49-F238E27FC236}">
                <a16:creationId xmlns:a16="http://schemas.microsoft.com/office/drawing/2014/main" id="{3FDF69A9-276F-5662-29AD-0971F40FEBE1}"/>
              </a:ext>
            </a:extLst>
          </p:cNvPr>
          <p:cNvSpPr/>
          <p:nvPr/>
        </p:nvSpPr>
        <p:spPr>
          <a:xfrm>
            <a:off x="841974" y="1160971"/>
            <a:ext cx="10241280" cy="518817"/>
          </a:xfrm>
          <a:prstGeom prst="rect">
            <a:avLst/>
          </a:prstGeom>
          <a:noFill/>
          <a:ln/>
        </p:spPr>
        <p:txBody>
          <a:bodyPr wrap="square" lIns="0" tIns="0" rIns="0" bIns="0" rtlCol="0" anchor="ctr"/>
          <a:lstStyle/>
          <a:p>
            <a:pPr>
              <a:lnSpc>
                <a:spcPct val="150000"/>
              </a:lnSpc>
            </a:pPr>
            <a:r>
              <a:rPr lang="en-IN" dirty="0"/>
              <a:t>Claude Code is pre-installed — no setup today</a:t>
            </a:r>
          </a:p>
        </p:txBody>
      </p:sp>
      <p:sp>
        <p:nvSpPr>
          <p:cNvPr id="7" name="Shape 2">
            <a:extLst>
              <a:ext uri="{FF2B5EF4-FFF2-40B4-BE49-F238E27FC236}">
                <a16:creationId xmlns:a16="http://schemas.microsoft.com/office/drawing/2014/main" id="{7AC4C2AD-3DF0-71E9-072F-DCEA85DFFA38}"/>
              </a:ext>
            </a:extLst>
          </p:cNvPr>
          <p:cNvSpPr/>
          <p:nvPr/>
        </p:nvSpPr>
        <p:spPr>
          <a:xfrm>
            <a:off x="609599" y="1893882"/>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8" name="Text 3">
            <a:extLst>
              <a:ext uri="{FF2B5EF4-FFF2-40B4-BE49-F238E27FC236}">
                <a16:creationId xmlns:a16="http://schemas.microsoft.com/office/drawing/2014/main" id="{A28C9F54-41BF-D75E-BFE8-441563E37AB2}"/>
              </a:ext>
            </a:extLst>
          </p:cNvPr>
          <p:cNvSpPr/>
          <p:nvPr/>
        </p:nvSpPr>
        <p:spPr>
          <a:xfrm>
            <a:off x="841974" y="1963658"/>
            <a:ext cx="10241280" cy="518817"/>
          </a:xfrm>
          <a:prstGeom prst="rect">
            <a:avLst/>
          </a:prstGeom>
          <a:noFill/>
          <a:ln/>
        </p:spPr>
        <p:txBody>
          <a:bodyPr wrap="square" lIns="0" tIns="0" rIns="0" bIns="0" rtlCol="0" anchor="ctr"/>
          <a:lstStyle/>
          <a:p>
            <a:pPr>
              <a:lnSpc>
                <a:spcPct val="150000"/>
              </a:lnSpc>
            </a:pPr>
            <a:r>
              <a:rPr lang="en-IN" dirty="0"/>
              <a:t>This is a hands-on intensive. You will write and run real code all day, starting in Exercise 1</a:t>
            </a:r>
          </a:p>
        </p:txBody>
      </p:sp>
      <p:sp>
        <p:nvSpPr>
          <p:cNvPr id="9" name="Shape 2">
            <a:extLst>
              <a:ext uri="{FF2B5EF4-FFF2-40B4-BE49-F238E27FC236}">
                <a16:creationId xmlns:a16="http://schemas.microsoft.com/office/drawing/2014/main" id="{5D181F21-CFFF-5BF9-3E01-02F0198333AA}"/>
              </a:ext>
            </a:extLst>
          </p:cNvPr>
          <p:cNvSpPr/>
          <p:nvPr/>
        </p:nvSpPr>
        <p:spPr>
          <a:xfrm>
            <a:off x="609599" y="2696569"/>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10" name="Text 3">
            <a:extLst>
              <a:ext uri="{FF2B5EF4-FFF2-40B4-BE49-F238E27FC236}">
                <a16:creationId xmlns:a16="http://schemas.microsoft.com/office/drawing/2014/main" id="{D930968F-4388-6BDB-DC1A-E6721C2FBF3F}"/>
              </a:ext>
            </a:extLst>
          </p:cNvPr>
          <p:cNvSpPr/>
          <p:nvPr/>
        </p:nvSpPr>
        <p:spPr>
          <a:xfrm>
            <a:off x="841974" y="2766345"/>
            <a:ext cx="10241280" cy="518817"/>
          </a:xfrm>
          <a:prstGeom prst="rect">
            <a:avLst/>
          </a:prstGeom>
          <a:noFill/>
          <a:ln/>
        </p:spPr>
        <p:txBody>
          <a:bodyPr wrap="square" lIns="0" tIns="0" rIns="0" bIns="0" rtlCol="0" anchor="ctr"/>
          <a:lstStyle/>
          <a:p>
            <a:pPr>
              <a:lnSpc>
                <a:spcPct val="150000"/>
              </a:lnSpc>
            </a:pPr>
            <a:r>
              <a:rPr lang="en-IN" dirty="0"/>
              <a:t>When something breaks, that is where learning happens — don't skip the error</a:t>
            </a:r>
          </a:p>
        </p:txBody>
      </p:sp>
      <p:sp>
        <p:nvSpPr>
          <p:cNvPr id="17" name="Shape 2">
            <a:extLst>
              <a:ext uri="{FF2B5EF4-FFF2-40B4-BE49-F238E27FC236}">
                <a16:creationId xmlns:a16="http://schemas.microsoft.com/office/drawing/2014/main" id="{095449EF-B6BB-19FC-CD34-DA6C122C0CE4}"/>
              </a:ext>
            </a:extLst>
          </p:cNvPr>
          <p:cNvSpPr/>
          <p:nvPr/>
        </p:nvSpPr>
        <p:spPr>
          <a:xfrm>
            <a:off x="609599" y="3522781"/>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18" name="Text 3">
            <a:extLst>
              <a:ext uri="{FF2B5EF4-FFF2-40B4-BE49-F238E27FC236}">
                <a16:creationId xmlns:a16="http://schemas.microsoft.com/office/drawing/2014/main" id="{04769429-03FC-C16C-92AA-74E4341726BD}"/>
              </a:ext>
            </a:extLst>
          </p:cNvPr>
          <p:cNvSpPr/>
          <p:nvPr/>
        </p:nvSpPr>
        <p:spPr>
          <a:xfrm>
            <a:off x="841974" y="3592557"/>
            <a:ext cx="10241280" cy="518817"/>
          </a:xfrm>
          <a:prstGeom prst="rect">
            <a:avLst/>
          </a:prstGeom>
          <a:noFill/>
          <a:ln/>
        </p:spPr>
        <p:txBody>
          <a:bodyPr wrap="square" lIns="0" tIns="0" rIns="0" bIns="0" rtlCol="0" anchor="ctr"/>
          <a:lstStyle/>
          <a:p>
            <a:pPr>
              <a:lnSpc>
                <a:spcPct val="150000"/>
              </a:lnSpc>
            </a:pPr>
            <a:r>
              <a:rPr lang="en-IN" dirty="0"/>
              <a:t>Keep a running prompt log as you work — you will use it in Part 3</a:t>
            </a:r>
          </a:p>
        </p:txBody>
      </p:sp>
      <p:sp>
        <p:nvSpPr>
          <p:cNvPr id="19" name="Shape 2">
            <a:extLst>
              <a:ext uri="{FF2B5EF4-FFF2-40B4-BE49-F238E27FC236}">
                <a16:creationId xmlns:a16="http://schemas.microsoft.com/office/drawing/2014/main" id="{2C7B106E-FD4F-B045-2B60-BD012356A5C3}"/>
              </a:ext>
            </a:extLst>
          </p:cNvPr>
          <p:cNvSpPr/>
          <p:nvPr/>
        </p:nvSpPr>
        <p:spPr>
          <a:xfrm>
            <a:off x="609599" y="4335964"/>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20" name="Text 3">
            <a:extLst>
              <a:ext uri="{FF2B5EF4-FFF2-40B4-BE49-F238E27FC236}">
                <a16:creationId xmlns:a16="http://schemas.microsoft.com/office/drawing/2014/main" id="{BD441693-4981-AE84-A947-666B57C77A68}"/>
              </a:ext>
            </a:extLst>
          </p:cNvPr>
          <p:cNvSpPr/>
          <p:nvPr/>
        </p:nvSpPr>
        <p:spPr>
          <a:xfrm>
            <a:off x="841974" y="4405740"/>
            <a:ext cx="10241280" cy="518817"/>
          </a:xfrm>
          <a:prstGeom prst="rect">
            <a:avLst/>
          </a:prstGeom>
          <a:noFill/>
          <a:ln/>
        </p:spPr>
        <p:txBody>
          <a:bodyPr wrap="square" lIns="0" tIns="0" rIns="0" bIns="0" rtlCol="0" anchor="ctr"/>
          <a:lstStyle/>
          <a:p>
            <a:pPr>
              <a:lnSpc>
                <a:spcPct val="150000"/>
              </a:lnSpc>
            </a:pPr>
            <a:r>
              <a:rPr lang="en-IN" dirty="0"/>
              <a:t>Questions are welcome throughout — raise your hand or drop them in chat</a:t>
            </a:r>
          </a:p>
        </p:txBody>
      </p:sp>
      <p:sp>
        <p:nvSpPr>
          <p:cNvPr id="21" name="Shape 2">
            <a:extLst>
              <a:ext uri="{FF2B5EF4-FFF2-40B4-BE49-F238E27FC236}">
                <a16:creationId xmlns:a16="http://schemas.microsoft.com/office/drawing/2014/main" id="{5D462C8A-04F3-AC9F-F2F1-0BAB1B5C4239}"/>
              </a:ext>
            </a:extLst>
          </p:cNvPr>
          <p:cNvSpPr/>
          <p:nvPr/>
        </p:nvSpPr>
        <p:spPr>
          <a:xfrm>
            <a:off x="609599" y="5149147"/>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22" name="Text 3">
            <a:extLst>
              <a:ext uri="{FF2B5EF4-FFF2-40B4-BE49-F238E27FC236}">
                <a16:creationId xmlns:a16="http://schemas.microsoft.com/office/drawing/2014/main" id="{17C19F1C-D4A4-291B-87A8-E7BC41407DAF}"/>
              </a:ext>
            </a:extLst>
          </p:cNvPr>
          <p:cNvSpPr/>
          <p:nvPr/>
        </p:nvSpPr>
        <p:spPr>
          <a:xfrm>
            <a:off x="841974" y="5218923"/>
            <a:ext cx="10241280" cy="518817"/>
          </a:xfrm>
          <a:prstGeom prst="rect">
            <a:avLst/>
          </a:prstGeom>
          <a:noFill/>
          <a:ln/>
        </p:spPr>
        <p:txBody>
          <a:bodyPr wrap="square" lIns="0" tIns="0" rIns="0" bIns="0" rtlCol="0" anchor="ctr"/>
          <a:lstStyle/>
          <a:p>
            <a:pPr>
              <a:lnSpc>
                <a:spcPct val="150000"/>
              </a:lnSpc>
            </a:pPr>
            <a:r>
              <a:rPr lang="en-IN" dirty="0"/>
              <a:t>The learner who asks the most questions today gets a special shout-out in the next module</a:t>
            </a:r>
          </a:p>
        </p:txBody>
      </p:sp>
    </p:spTree>
    <p:extLst>
      <p:ext uri="{BB962C8B-B14F-4D97-AF65-F5344CB8AC3E}">
        <p14:creationId xmlns:p14="http://schemas.microsoft.com/office/powerpoint/2010/main" val="3405824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02AB9F-0E5B-2F99-375A-A89749EF78C0}"/>
              </a:ext>
            </a:extLst>
          </p:cNvPr>
          <p:cNvSpPr>
            <a:spLocks noGrp="1"/>
          </p:cNvSpPr>
          <p:nvPr>
            <p:ph type="title"/>
          </p:nvPr>
        </p:nvSpPr>
        <p:spPr>
          <a:xfrm>
            <a:off x="503764" y="240045"/>
            <a:ext cx="10854797" cy="646331"/>
          </a:xfrm>
        </p:spPr>
        <p:txBody>
          <a:bodyPr/>
          <a:lstStyle/>
          <a:p>
            <a:r>
              <a:rPr lang="en-IN" sz="3600" dirty="0"/>
              <a:t>Meet Your Instructor</a:t>
            </a:r>
          </a:p>
        </p:txBody>
      </p:sp>
      <p:sp>
        <p:nvSpPr>
          <p:cNvPr id="5" name="Text Placeholder 4">
            <a:extLst>
              <a:ext uri="{FF2B5EF4-FFF2-40B4-BE49-F238E27FC236}">
                <a16:creationId xmlns:a16="http://schemas.microsoft.com/office/drawing/2014/main" id="{1D768823-B536-3C38-BD05-141F7AC59CAE}"/>
              </a:ext>
            </a:extLst>
          </p:cNvPr>
          <p:cNvSpPr>
            <a:spLocks noGrp="1"/>
          </p:cNvSpPr>
          <p:nvPr>
            <p:ph type="body" sz="quarter" idx="13"/>
          </p:nvPr>
        </p:nvSpPr>
        <p:spPr>
          <a:xfrm>
            <a:off x="605364" y="4445931"/>
            <a:ext cx="2138400" cy="338554"/>
          </a:xfrm>
        </p:spPr>
        <p:txBody>
          <a:bodyPr/>
          <a:lstStyle/>
          <a:p>
            <a:endParaRPr lang="en-IN"/>
          </a:p>
        </p:txBody>
      </p:sp>
      <p:sp>
        <p:nvSpPr>
          <p:cNvPr id="6" name="Text Placeholder 5">
            <a:extLst>
              <a:ext uri="{FF2B5EF4-FFF2-40B4-BE49-F238E27FC236}">
                <a16:creationId xmlns:a16="http://schemas.microsoft.com/office/drawing/2014/main" id="{AC295739-4CB3-FDC4-A6D9-403B0BA549E8}"/>
              </a:ext>
            </a:extLst>
          </p:cNvPr>
          <p:cNvSpPr>
            <a:spLocks noGrp="1"/>
          </p:cNvSpPr>
          <p:nvPr>
            <p:ph type="body" sz="quarter" idx="15"/>
          </p:nvPr>
        </p:nvSpPr>
        <p:spPr>
          <a:xfrm>
            <a:off x="605364" y="4892762"/>
            <a:ext cx="2138400" cy="338554"/>
          </a:xfrm>
        </p:spPr>
        <p:txBody>
          <a:bodyPr/>
          <a:lstStyle/>
          <a:p>
            <a:endParaRPr lang="en-IN"/>
          </a:p>
        </p:txBody>
      </p:sp>
    </p:spTree>
    <p:extLst>
      <p:ext uri="{BB962C8B-B14F-4D97-AF65-F5344CB8AC3E}">
        <p14:creationId xmlns:p14="http://schemas.microsoft.com/office/powerpoint/2010/main" val="3837489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A8EB82C-92C6-B1E2-5C2D-DCE4FA0256BE}"/>
              </a:ext>
            </a:extLst>
          </p:cNvPr>
          <p:cNvSpPr>
            <a:spLocks noGrp="1"/>
          </p:cNvSpPr>
          <p:nvPr>
            <p:ph type="body" sz="quarter" idx="12"/>
          </p:nvPr>
        </p:nvSpPr>
        <p:spPr>
          <a:xfrm>
            <a:off x="601133" y="2536448"/>
            <a:ext cx="1794933" cy="1785104"/>
          </a:xfrm>
        </p:spPr>
        <p:txBody>
          <a:bodyPr/>
          <a:lstStyle/>
          <a:p>
            <a:pPr algn="ctr"/>
            <a:r>
              <a:rPr lang="en-US" sz="10600" dirty="0"/>
              <a:t>01</a:t>
            </a:r>
          </a:p>
        </p:txBody>
      </p:sp>
      <p:sp>
        <p:nvSpPr>
          <p:cNvPr id="3" name="Title 2">
            <a:extLst>
              <a:ext uri="{FF2B5EF4-FFF2-40B4-BE49-F238E27FC236}">
                <a16:creationId xmlns:a16="http://schemas.microsoft.com/office/drawing/2014/main" id="{833B4886-8B63-3F65-18A0-D29E9CB6663D}"/>
              </a:ext>
            </a:extLst>
          </p:cNvPr>
          <p:cNvSpPr>
            <a:spLocks noGrp="1"/>
          </p:cNvSpPr>
          <p:nvPr>
            <p:ph type="title"/>
          </p:nvPr>
        </p:nvSpPr>
        <p:spPr>
          <a:xfrm>
            <a:off x="2460721" y="2367171"/>
            <a:ext cx="9064096" cy="2123658"/>
          </a:xfrm>
        </p:spPr>
        <p:txBody>
          <a:bodyPr/>
          <a:lstStyle/>
          <a:p>
            <a:r>
              <a:rPr lang="en-IN" sz="6600" dirty="0"/>
              <a:t>THE AI CODING </a:t>
            </a:r>
            <a:br>
              <a:rPr lang="en-IN" sz="6600" dirty="0"/>
            </a:br>
            <a:r>
              <a:rPr lang="en-IN" sz="6600" dirty="0"/>
              <a:t>LANDSCAPE</a:t>
            </a:r>
            <a:endParaRPr lang="en-US" sz="6600" dirty="0"/>
          </a:p>
        </p:txBody>
      </p:sp>
    </p:spTree>
    <p:extLst>
      <p:ext uri="{BB962C8B-B14F-4D97-AF65-F5344CB8AC3E}">
        <p14:creationId xmlns:p14="http://schemas.microsoft.com/office/powerpoint/2010/main" val="2653835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4F1ADF77-893C-B04E-801A-F300247244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84356FA-0D90-F07E-3C7F-14585C8E4DFA}"/>
              </a:ext>
            </a:extLst>
          </p:cNvPr>
          <p:cNvSpPr>
            <a:spLocks noGrp="1"/>
          </p:cNvSpPr>
          <p:nvPr>
            <p:ph type="title"/>
          </p:nvPr>
        </p:nvSpPr>
        <p:spPr>
          <a:xfrm>
            <a:off x="540711" y="240046"/>
            <a:ext cx="10854797" cy="646331"/>
          </a:xfrm>
        </p:spPr>
        <p:txBody>
          <a:bodyPr/>
          <a:lstStyle/>
          <a:p>
            <a:r>
              <a:rPr lang="en-IN" dirty="0"/>
              <a:t>What’s Changed — And What Hasn’t</a:t>
            </a:r>
            <a:endParaRPr lang="en-US" dirty="0"/>
          </a:p>
        </p:txBody>
      </p:sp>
      <p:sp>
        <p:nvSpPr>
          <p:cNvPr id="5" name="Rounded Rectangle 4">
            <a:extLst>
              <a:ext uri="{FF2B5EF4-FFF2-40B4-BE49-F238E27FC236}">
                <a16:creationId xmlns:a16="http://schemas.microsoft.com/office/drawing/2014/main" id="{03FF4F05-B206-E3D1-FABD-A5C49BFD5857}"/>
              </a:ext>
            </a:extLst>
          </p:cNvPr>
          <p:cNvSpPr/>
          <p:nvPr/>
        </p:nvSpPr>
        <p:spPr>
          <a:xfrm>
            <a:off x="605364" y="1871226"/>
            <a:ext cx="4850656" cy="3624410"/>
          </a:xfrm>
          <a:prstGeom prst="roundRect">
            <a:avLst>
              <a:gd name="adj" fmla="val 7126"/>
            </a:avLst>
          </a:prstGeom>
          <a:solidFill>
            <a:schemeClr val="accent5">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600" b="1" dirty="0">
                <a:solidFill>
                  <a:schemeClr val="accent2"/>
                </a:solidFill>
              </a:rPr>
              <a:t>What’s Changed</a:t>
            </a:r>
          </a:p>
          <a:p>
            <a:endParaRPr lang="en-IN" sz="1600" dirty="0">
              <a:solidFill>
                <a:schemeClr val="tx1"/>
              </a:solidFill>
            </a:endParaRPr>
          </a:p>
          <a:p>
            <a:pPr marL="285750" indent="-285750">
              <a:lnSpc>
                <a:spcPct val="150000"/>
              </a:lnSpc>
              <a:buFont typeface="Arial" panose="020B0604020202020204" pitchFamily="34" charset="0"/>
              <a:buChar char="•"/>
            </a:pPr>
            <a:r>
              <a:rPr lang="en-IN" sz="1600" dirty="0">
                <a:solidFill>
                  <a:schemeClr val="tx1"/>
                </a:solidFill>
              </a:rPr>
              <a:t>The speed at which working code can be produced</a:t>
            </a:r>
          </a:p>
          <a:p>
            <a:pPr marL="285750" indent="-285750">
              <a:lnSpc>
                <a:spcPct val="150000"/>
              </a:lnSpc>
              <a:buFont typeface="Arial" panose="020B0604020202020204" pitchFamily="34" charset="0"/>
              <a:buChar char="•"/>
            </a:pPr>
            <a:r>
              <a:rPr lang="en-IN" sz="1600" dirty="0">
                <a:solidFill>
                  <a:schemeClr val="tx1"/>
                </a:solidFill>
              </a:rPr>
              <a:t>How much one engineer can ship across a multi-file codebase</a:t>
            </a:r>
          </a:p>
          <a:p>
            <a:pPr marL="285750" indent="-285750">
              <a:lnSpc>
                <a:spcPct val="150000"/>
              </a:lnSpc>
              <a:buFont typeface="Arial" panose="020B0604020202020204" pitchFamily="34" charset="0"/>
              <a:buChar char="•"/>
            </a:pPr>
            <a:r>
              <a:rPr lang="en-IN" sz="1600" dirty="0">
                <a:solidFill>
                  <a:schemeClr val="tx1"/>
                </a:solidFill>
              </a:rPr>
              <a:t>The cost of a first working draft</a:t>
            </a:r>
          </a:p>
          <a:p>
            <a:pPr marL="285750" indent="-285750">
              <a:lnSpc>
                <a:spcPct val="150000"/>
              </a:lnSpc>
              <a:buFont typeface="Arial" panose="020B0604020202020204" pitchFamily="34" charset="0"/>
              <a:buChar char="•"/>
            </a:pPr>
            <a:r>
              <a:rPr lang="en-IN" sz="1600" dirty="0">
                <a:solidFill>
                  <a:schemeClr val="tx1"/>
                </a:solidFill>
              </a:rPr>
              <a:t>How quickly you can navigate an unfamiliar codebase</a:t>
            </a:r>
          </a:p>
        </p:txBody>
      </p:sp>
      <p:sp>
        <p:nvSpPr>
          <p:cNvPr id="6" name="Rounded Rectangle 5">
            <a:extLst>
              <a:ext uri="{FF2B5EF4-FFF2-40B4-BE49-F238E27FC236}">
                <a16:creationId xmlns:a16="http://schemas.microsoft.com/office/drawing/2014/main" id="{1520445B-4054-9464-226D-0650FC1E22A8}"/>
              </a:ext>
            </a:extLst>
          </p:cNvPr>
          <p:cNvSpPr/>
          <p:nvPr/>
        </p:nvSpPr>
        <p:spPr>
          <a:xfrm>
            <a:off x="6096000" y="1871226"/>
            <a:ext cx="4850656" cy="3624410"/>
          </a:xfrm>
          <a:prstGeom prst="roundRect">
            <a:avLst>
              <a:gd name="adj" fmla="val 7126"/>
            </a:avLst>
          </a:prstGeom>
          <a:solidFill>
            <a:schemeClr val="accent6">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600" b="1" dirty="0">
                <a:solidFill>
                  <a:schemeClr val="accent1"/>
                </a:solidFill>
              </a:rPr>
              <a:t>What Hasn’t Changed</a:t>
            </a:r>
          </a:p>
          <a:p>
            <a:endParaRPr lang="en-IN" sz="1600" dirty="0">
              <a:solidFill>
                <a:schemeClr val="tx1"/>
              </a:solidFill>
            </a:endParaRPr>
          </a:p>
          <a:p>
            <a:pPr marL="285750" indent="-285750">
              <a:lnSpc>
                <a:spcPct val="150000"/>
              </a:lnSpc>
              <a:buFont typeface="Arial" panose="020B0604020202020204" pitchFamily="34" charset="0"/>
              <a:buChar char="•"/>
            </a:pPr>
            <a:r>
              <a:rPr lang="en-IN" sz="1600" dirty="0">
                <a:solidFill>
                  <a:schemeClr val="tx1"/>
                </a:solidFill>
              </a:rPr>
              <a:t>Syntax still matters — garbage in, garbage out</a:t>
            </a:r>
          </a:p>
          <a:p>
            <a:pPr marL="285750" indent="-285750">
              <a:lnSpc>
                <a:spcPct val="150000"/>
              </a:lnSpc>
              <a:buFont typeface="Arial" panose="020B0604020202020204" pitchFamily="34" charset="0"/>
              <a:buChar char="•"/>
            </a:pPr>
            <a:r>
              <a:rPr lang="en-IN" sz="1600" dirty="0">
                <a:solidFill>
                  <a:schemeClr val="tx1"/>
                </a:solidFill>
              </a:rPr>
              <a:t>Architecture decisions still require human judgement</a:t>
            </a:r>
          </a:p>
          <a:p>
            <a:pPr marL="285750" indent="-285750">
              <a:lnSpc>
                <a:spcPct val="150000"/>
              </a:lnSpc>
              <a:buFont typeface="Arial" panose="020B0604020202020204" pitchFamily="34" charset="0"/>
              <a:buChar char="•"/>
            </a:pPr>
            <a:r>
              <a:rPr lang="en-IN" sz="1600" dirty="0">
                <a:solidFill>
                  <a:schemeClr val="tx1"/>
                </a:solidFill>
              </a:rPr>
              <a:t>Invariants, edge cases and failure modes still need you to specify them</a:t>
            </a:r>
          </a:p>
          <a:p>
            <a:pPr marL="285750" indent="-285750">
              <a:lnSpc>
                <a:spcPct val="150000"/>
              </a:lnSpc>
              <a:buFont typeface="Arial" panose="020B0604020202020204" pitchFamily="34" charset="0"/>
              <a:buChar char="•"/>
            </a:pPr>
            <a:r>
              <a:rPr lang="en-IN" sz="1600" dirty="0">
                <a:solidFill>
                  <a:schemeClr val="tx1"/>
                </a:solidFill>
              </a:rPr>
              <a:t>Knowing when to stop — the AI is a skill, not a setting</a:t>
            </a:r>
          </a:p>
        </p:txBody>
      </p:sp>
    </p:spTree>
    <p:extLst>
      <p:ext uri="{BB962C8B-B14F-4D97-AF65-F5344CB8AC3E}">
        <p14:creationId xmlns:p14="http://schemas.microsoft.com/office/powerpoint/2010/main" val="1419364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11446" y="253998"/>
            <a:ext cx="10972800" cy="640080"/>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The AI Coding Landscape: Four Platform Tiers</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382386" y="1356360"/>
            <a:ext cx="2743200" cy="4160520"/>
          </a:xfrm>
          <a:prstGeom prst="rect">
            <a:avLst/>
          </a:prstGeom>
          <a:solidFill>
            <a:srgbClr val="F8FAFC"/>
          </a:solidFill>
          <a:ln w="12700">
            <a:solidFill>
              <a:srgbClr val="E2E8F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382386" y="1356360"/>
            <a:ext cx="2743200" cy="88768"/>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519546" y="1637437"/>
            <a:ext cx="731520" cy="594360"/>
          </a:xfrm>
          <a:prstGeom prst="rect">
            <a:avLst/>
          </a:prstGeom>
          <a:noFill/>
          <a:ln/>
        </p:spPr>
        <p:txBody>
          <a:bodyPr wrap="square" lIns="0" tIns="0" rIns="0" bIns="0" rtlCol="0" anchor="ctr"/>
          <a:lstStyle/>
          <a:p>
            <a:pPr marL="0" indent="0">
              <a:buNone/>
            </a:pPr>
            <a:r>
              <a:rPr lang="en-US"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T1</a:t>
            </a:r>
            <a:endParaRPr lang="en-US" sz="2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8"/>
          <p:cNvSpPr/>
          <p:nvPr/>
        </p:nvSpPr>
        <p:spPr>
          <a:xfrm>
            <a:off x="1228206" y="1728877"/>
            <a:ext cx="1051560" cy="411480"/>
          </a:xfrm>
          <a:prstGeom prst="rect">
            <a:avLst/>
          </a:prstGeom>
          <a:noFill/>
          <a:ln/>
        </p:spPr>
        <p:txBody>
          <a:bodyPr wrap="square" lIns="0" tIns="0" rIns="0" bIns="0" rtlCol="0" anchor="ctr"/>
          <a:lstStyle/>
          <a:p>
            <a:pPr marL="0" indent="0">
              <a:buNone/>
            </a:pPr>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App Builders</a:t>
            </a:r>
            <a:endPar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9"/>
          <p:cNvSpPr/>
          <p:nvPr/>
        </p:nvSpPr>
        <p:spPr>
          <a:xfrm>
            <a:off x="565266" y="2509434"/>
            <a:ext cx="2377440" cy="201168"/>
          </a:xfrm>
          <a:prstGeom prst="rect">
            <a:avLst/>
          </a:prstGeom>
          <a:noFill/>
          <a:ln/>
        </p:spPr>
        <p:txBody>
          <a:bodyPr wrap="square" lIns="0" tIns="0" rIns="0" bIns="0" rtlCol="0" anchor="ctr"/>
          <a:lstStyle/>
          <a:p>
            <a:pPr marL="0" indent="0">
              <a:buNone/>
            </a:pPr>
            <a:r>
              <a:rPr lang="en-US" sz="900" b="1" kern="0" spc="200" dirty="0">
                <a:solidFill>
                  <a:srgbClr val="475569"/>
                </a:solidFill>
                <a:latin typeface="Open Sans" panose="020B0606030504020204" pitchFamily="34" charset="0"/>
                <a:ea typeface="Open Sans" panose="020B0606030504020204" pitchFamily="34" charset="0"/>
                <a:cs typeface="Open Sans" panose="020B0606030504020204" pitchFamily="34" charset="0"/>
              </a:rPr>
              <a:t>FOR</a:t>
            </a:r>
            <a:endParaRPr lang="en-US" sz="9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0"/>
          <p:cNvSpPr/>
          <p:nvPr/>
        </p:nvSpPr>
        <p:spPr>
          <a:xfrm>
            <a:off x="565266" y="2761864"/>
            <a:ext cx="2377440" cy="457200"/>
          </a:xfrm>
          <a:prstGeom prst="rect">
            <a:avLst/>
          </a:prstGeom>
          <a:noFill/>
          <a:ln/>
        </p:spPr>
        <p:txBody>
          <a:bodyPr wrap="square" lIns="0" tIns="0" rIns="0" bIns="0" rtlCol="0" anchor="ctr"/>
          <a:lstStyle/>
          <a:p>
            <a:pPr marL="0" indent="0">
              <a:buNone/>
            </a:pPr>
            <a:r>
              <a:rPr lang="en-US" sz="1200" b="1" dirty="0">
                <a:latin typeface="Open Sans" panose="020B0606030504020204" pitchFamily="34" charset="0"/>
                <a:ea typeface="Open Sans" panose="020B0606030504020204" pitchFamily="34" charset="0"/>
                <a:cs typeface="Open Sans" panose="020B0606030504020204" pitchFamily="34" charset="0"/>
              </a:rPr>
              <a:t>Non-tech founders, designers, PMs</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1"/>
          <p:cNvSpPr/>
          <p:nvPr/>
        </p:nvSpPr>
        <p:spPr>
          <a:xfrm>
            <a:off x="565266" y="3404616"/>
            <a:ext cx="2377440" cy="201168"/>
          </a:xfrm>
          <a:prstGeom prst="rect">
            <a:avLst/>
          </a:prstGeom>
          <a:noFill/>
          <a:ln/>
        </p:spPr>
        <p:txBody>
          <a:bodyPr wrap="square" lIns="0" tIns="0" rIns="0" bIns="0" rtlCol="0" anchor="ctr"/>
          <a:lstStyle/>
          <a:p>
            <a:pPr marL="0" indent="0">
              <a:buNone/>
            </a:pPr>
            <a:r>
              <a:rPr lang="en-US" sz="900" b="1" kern="0" spc="200" dirty="0">
                <a:solidFill>
                  <a:schemeClr val="tx2"/>
                </a:solidFill>
                <a:latin typeface="Open Sans" panose="020B0606030504020204" pitchFamily="34" charset="0"/>
                <a:ea typeface="Open Sans" panose="020B0606030504020204" pitchFamily="34" charset="0"/>
                <a:cs typeface="Open Sans" panose="020B0606030504020204" pitchFamily="34" charset="0"/>
              </a:rPr>
              <a:t>WHAT IT IS</a:t>
            </a:r>
            <a:endParaRPr lang="en-US" sz="9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2"/>
          <p:cNvSpPr/>
          <p:nvPr/>
        </p:nvSpPr>
        <p:spPr>
          <a:xfrm>
            <a:off x="565266" y="3432048"/>
            <a:ext cx="2377440" cy="1188720"/>
          </a:xfrm>
          <a:prstGeom prst="rect">
            <a:avLst/>
          </a:prstGeom>
          <a:noFill/>
          <a:ln/>
        </p:spPr>
        <p:txBody>
          <a:bodyPr wrap="square" lIns="0" tIns="0" rIns="0" bIns="0" rtlCol="0" anchor="ctr"/>
          <a:lstStyle/>
          <a:p>
            <a:pPr marL="0" indent="0">
              <a:buNone/>
            </a:pPr>
            <a:r>
              <a:rPr lang="en-US" sz="1100" dirty="0">
                <a:solidFill>
                  <a:srgbClr val="475569"/>
                </a:solidFill>
                <a:latin typeface="Open Sans" panose="020B0606030504020204" pitchFamily="34" charset="0"/>
                <a:ea typeface="Open Sans" panose="020B0606030504020204" pitchFamily="34" charset="0"/>
                <a:cs typeface="Open Sans" panose="020B0606030504020204" pitchFamily="34" charset="0"/>
              </a:rPr>
              <a:t>Browser based. Prompt-to-app. UI plus backend plus hosting in one flow.</a:t>
            </a:r>
            <a:endParaRPr lang="en-US" sz="11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3"/>
          <p:cNvSpPr/>
          <p:nvPr/>
        </p:nvSpPr>
        <p:spPr>
          <a:xfrm>
            <a:off x="565266" y="4648200"/>
            <a:ext cx="2377440" cy="201168"/>
          </a:xfrm>
          <a:prstGeom prst="rect">
            <a:avLst/>
          </a:prstGeom>
          <a:noFill/>
          <a:ln/>
        </p:spPr>
        <p:txBody>
          <a:bodyPr wrap="square" lIns="0" tIns="0" rIns="0" bIns="0" rtlCol="0" anchor="ctr"/>
          <a:lstStyle/>
          <a:p>
            <a:pPr marL="0" indent="0">
              <a:buNone/>
            </a:pPr>
            <a:r>
              <a:rPr lang="en-US" sz="900" b="1" kern="0" spc="200" dirty="0">
                <a:latin typeface="Open Sans" panose="020B0606030504020204" pitchFamily="34" charset="0"/>
                <a:ea typeface="Open Sans" panose="020B0606030504020204" pitchFamily="34" charset="0"/>
                <a:cs typeface="Open Sans" panose="020B0606030504020204" pitchFamily="34" charset="0"/>
              </a:rPr>
              <a:t>REPRESENTATIVE TOOLS</a:t>
            </a:r>
            <a:endParaRPr lang="en-US" sz="9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4"/>
          <p:cNvSpPr/>
          <p:nvPr/>
        </p:nvSpPr>
        <p:spPr>
          <a:xfrm>
            <a:off x="565266" y="4858512"/>
            <a:ext cx="2377440" cy="640080"/>
          </a:xfrm>
          <a:prstGeom prst="rect">
            <a:avLst/>
          </a:prstGeom>
          <a:noFill/>
          <a:ln/>
        </p:spPr>
        <p:txBody>
          <a:bodyPr wrap="square" lIns="0" tIns="0" rIns="0" bIns="0" rtlCol="0" anchor="ctr"/>
          <a:lstStyle/>
          <a:p>
            <a:pPr marL="0" indent="0">
              <a:buNone/>
            </a:pPr>
            <a:r>
              <a:rPr lang="en-US" sz="1100" i="1" dirty="0">
                <a:solidFill>
                  <a:schemeClr val="tx2"/>
                </a:solidFill>
                <a:latin typeface="Open Sans" panose="020B0606030504020204" pitchFamily="34" charset="0"/>
                <a:ea typeface="Open Sans" panose="020B0606030504020204" pitchFamily="34" charset="0"/>
                <a:cs typeface="Open Sans" panose="020B0606030504020204" pitchFamily="34" charset="0"/>
              </a:rPr>
              <a:t>Lovable, </a:t>
            </a:r>
            <a:r>
              <a:rPr lang="en-US" sz="1100" i="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Bolt.new</a:t>
            </a:r>
            <a:r>
              <a:rPr lang="en-US" sz="1100" i="1" dirty="0">
                <a:solidFill>
                  <a:schemeClr val="tx2"/>
                </a:solidFill>
                <a:latin typeface="Open Sans" panose="020B0606030504020204" pitchFamily="34" charset="0"/>
                <a:ea typeface="Open Sans" panose="020B0606030504020204" pitchFamily="34" charset="0"/>
                <a:cs typeface="Open Sans" panose="020B0606030504020204" pitchFamily="34" charset="0"/>
              </a:rPr>
              <a:t>, v0, Base44, </a:t>
            </a:r>
            <a:r>
              <a:rPr lang="en-US" sz="1100" i="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Replit</a:t>
            </a:r>
            <a:r>
              <a:rPr lang="en-US" sz="1100" i="1" dirty="0">
                <a:solidFill>
                  <a:schemeClr val="tx2"/>
                </a:solidFill>
                <a:latin typeface="Open Sans" panose="020B0606030504020204" pitchFamily="34" charset="0"/>
                <a:ea typeface="Open Sans" panose="020B0606030504020204" pitchFamily="34" charset="0"/>
                <a:cs typeface="Open Sans" panose="020B0606030504020204" pitchFamily="34" charset="0"/>
              </a:rPr>
              <a:t> Agent</a:t>
            </a:r>
            <a:endParaRPr lang="en-US" sz="11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p:cNvSpPr/>
          <p:nvPr/>
        </p:nvSpPr>
        <p:spPr>
          <a:xfrm>
            <a:off x="3244458" y="1356360"/>
            <a:ext cx="2743200" cy="4160520"/>
          </a:xfrm>
          <a:prstGeom prst="rect">
            <a:avLst/>
          </a:prstGeom>
          <a:solidFill>
            <a:srgbClr val="F8FAFC"/>
          </a:solidFill>
          <a:ln w="12700">
            <a:solidFill>
              <a:srgbClr val="E2E8F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6"/>
          <p:cNvSpPr/>
          <p:nvPr/>
        </p:nvSpPr>
        <p:spPr>
          <a:xfrm>
            <a:off x="3244458" y="1356360"/>
            <a:ext cx="2743200" cy="86667"/>
          </a:xfrm>
          <a:prstGeom prst="rect">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p:cNvSpPr/>
          <p:nvPr/>
        </p:nvSpPr>
        <p:spPr>
          <a:xfrm>
            <a:off x="3364477" y="1637437"/>
            <a:ext cx="731520" cy="594360"/>
          </a:xfrm>
          <a:prstGeom prst="rect">
            <a:avLst/>
          </a:prstGeom>
          <a:noFill/>
          <a:ln/>
        </p:spPr>
        <p:txBody>
          <a:bodyPr wrap="square" lIns="0" tIns="0" rIns="0" bIns="0" rtlCol="0" anchor="ctr"/>
          <a:lstStyle/>
          <a:p>
            <a:pPr marL="0" indent="0">
              <a:buNone/>
            </a:pPr>
            <a:r>
              <a:rPr lang="en-US" sz="28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T2</a:t>
            </a:r>
            <a:endParaRPr lang="en-US" sz="28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19"/>
          <p:cNvSpPr/>
          <p:nvPr/>
        </p:nvSpPr>
        <p:spPr>
          <a:xfrm>
            <a:off x="4090278" y="1728877"/>
            <a:ext cx="1051560" cy="411480"/>
          </a:xfrm>
          <a:prstGeom prst="rect">
            <a:avLst/>
          </a:prstGeom>
          <a:noFill/>
          <a:ln/>
        </p:spPr>
        <p:txBody>
          <a:bodyPr wrap="square" lIns="0" tIns="0" rIns="0" bIns="0" rtlCol="0" anchor="ctr"/>
          <a:lstStyle/>
          <a:p>
            <a:pPr marL="0" indent="0">
              <a:buNone/>
            </a:pPr>
            <a:r>
              <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AI IDEs</a:t>
            </a:r>
            <a:endParaRPr lang="en-US" sz="16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0"/>
          <p:cNvSpPr/>
          <p:nvPr/>
        </p:nvSpPr>
        <p:spPr>
          <a:xfrm>
            <a:off x="3427338" y="2509434"/>
            <a:ext cx="2377440" cy="201168"/>
          </a:xfrm>
          <a:prstGeom prst="rect">
            <a:avLst/>
          </a:prstGeom>
          <a:noFill/>
          <a:ln/>
        </p:spPr>
        <p:txBody>
          <a:bodyPr wrap="square" lIns="0" tIns="0" rIns="0" bIns="0" rtlCol="0" anchor="ctr"/>
          <a:lstStyle/>
          <a:p>
            <a:pPr marL="0" indent="0">
              <a:buNone/>
            </a:pPr>
            <a:r>
              <a:rPr lang="en-US" sz="900" b="1" kern="0" spc="200">
                <a:solidFill>
                  <a:srgbClr val="475569"/>
                </a:solidFill>
                <a:latin typeface="Open Sans" panose="020B0606030504020204" pitchFamily="34" charset="0"/>
                <a:ea typeface="Open Sans" panose="020B0606030504020204" pitchFamily="34" charset="0"/>
                <a:cs typeface="Open Sans" panose="020B0606030504020204" pitchFamily="34" charset="0"/>
              </a:rPr>
              <a:t>FOR</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1"/>
          <p:cNvSpPr/>
          <p:nvPr/>
        </p:nvSpPr>
        <p:spPr>
          <a:xfrm>
            <a:off x="3427338" y="2761864"/>
            <a:ext cx="2377440" cy="457200"/>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Working developers, technical founders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2"/>
          <p:cNvSpPr/>
          <p:nvPr/>
        </p:nvSpPr>
        <p:spPr>
          <a:xfrm>
            <a:off x="3427338" y="3404616"/>
            <a:ext cx="2377440" cy="201168"/>
          </a:xfrm>
          <a:prstGeom prst="rect">
            <a:avLst/>
          </a:prstGeom>
          <a:noFill/>
          <a:ln/>
        </p:spPr>
        <p:txBody>
          <a:bodyPr wrap="square" lIns="0" tIns="0" rIns="0" bIns="0" rtlCol="0" anchor="ctr"/>
          <a:lstStyle/>
          <a:p>
            <a:pPr marL="0" indent="0">
              <a:buNone/>
            </a:pPr>
            <a:r>
              <a:rPr lang="en-US" sz="900" b="1" kern="0" spc="200">
                <a:solidFill>
                  <a:schemeClr val="tx2"/>
                </a:solidFill>
                <a:latin typeface="Open Sans" panose="020B0606030504020204" pitchFamily="34" charset="0"/>
                <a:ea typeface="Open Sans" panose="020B0606030504020204" pitchFamily="34" charset="0"/>
                <a:cs typeface="Open Sans" panose="020B0606030504020204" pitchFamily="34" charset="0"/>
              </a:rPr>
              <a:t>WHAT IT IS</a:t>
            </a:r>
            <a:endParaRPr lang="en-US" sz="9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3"/>
          <p:cNvSpPr/>
          <p:nvPr/>
        </p:nvSpPr>
        <p:spPr>
          <a:xfrm>
            <a:off x="3427338" y="3432048"/>
            <a:ext cx="2377440" cy="118872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AI-augmented code editors. You own the code. Multi-file edits, codebase awareness.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4"/>
          <p:cNvSpPr/>
          <p:nvPr/>
        </p:nvSpPr>
        <p:spPr>
          <a:xfrm>
            <a:off x="3427338" y="4648200"/>
            <a:ext cx="2377440" cy="201168"/>
          </a:xfrm>
          <a:prstGeom prst="rect">
            <a:avLst/>
          </a:prstGeom>
          <a:noFill/>
          <a:ln/>
        </p:spPr>
        <p:txBody>
          <a:bodyPr wrap="square" lIns="0" tIns="0" rIns="0" bIns="0" rtlCol="0" anchor="ctr"/>
          <a:lstStyle/>
          <a:p>
            <a:pPr marL="0" indent="0">
              <a:buNone/>
            </a:pPr>
            <a:r>
              <a:rPr lang="en-US" sz="900" b="1" kern="0" spc="200">
                <a:latin typeface="Open Sans" panose="020B0606030504020204" pitchFamily="34" charset="0"/>
                <a:ea typeface="Open Sans" panose="020B0606030504020204" pitchFamily="34" charset="0"/>
                <a:cs typeface="Open Sans" panose="020B0606030504020204" pitchFamily="34" charset="0"/>
              </a:rPr>
              <a:t>REPRESENTATIVE TOOLS</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5"/>
          <p:cNvSpPr/>
          <p:nvPr/>
        </p:nvSpPr>
        <p:spPr>
          <a:xfrm>
            <a:off x="3427338" y="4858512"/>
            <a:ext cx="2377440" cy="640080"/>
          </a:xfrm>
          <a:prstGeom prst="rect">
            <a:avLst/>
          </a:prstGeom>
          <a:noFill/>
          <a:ln/>
        </p:spPr>
        <p:txBody>
          <a:bodyPr wrap="square" lIns="0" tIns="0" rIns="0" bIns="0" rtlCol="0" anchor="ctr"/>
          <a:lstStyle/>
          <a:p>
            <a:pPr marL="0" indent="0">
              <a:buNone/>
            </a:pPr>
            <a:r>
              <a:rPr lang="en-US" sz="1100" i="1">
                <a:solidFill>
                  <a:schemeClr val="tx2"/>
                </a:solidFill>
                <a:latin typeface="Open Sans" panose="020B0606030504020204" pitchFamily="34" charset="0"/>
                <a:ea typeface="Open Sans" panose="020B0606030504020204" pitchFamily="34" charset="0"/>
                <a:cs typeface="Open Sans" panose="020B0606030504020204" pitchFamily="34" charset="0"/>
              </a:rPr>
              <a:t>Cursor, Windsurf, GitHub Copilot, Trae</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26"/>
          <p:cNvSpPr/>
          <p:nvPr/>
        </p:nvSpPr>
        <p:spPr>
          <a:xfrm>
            <a:off x="6106530" y="1356360"/>
            <a:ext cx="2743200" cy="4160520"/>
          </a:xfrm>
          <a:prstGeom prst="rect">
            <a:avLst/>
          </a:prstGeom>
          <a:solidFill>
            <a:srgbClr val="F8FAFC"/>
          </a:solidFill>
          <a:ln w="12700">
            <a:solidFill>
              <a:srgbClr val="E2E8F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27"/>
          <p:cNvSpPr/>
          <p:nvPr/>
        </p:nvSpPr>
        <p:spPr>
          <a:xfrm>
            <a:off x="6106530" y="1356360"/>
            <a:ext cx="2743200" cy="86667"/>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2" name="Text 28"/>
          <p:cNvSpPr/>
          <p:nvPr/>
        </p:nvSpPr>
        <p:spPr>
          <a:xfrm>
            <a:off x="6226549" y="1637437"/>
            <a:ext cx="731520" cy="594360"/>
          </a:xfrm>
          <a:prstGeom prst="rect">
            <a:avLst/>
          </a:prstGeom>
          <a:noFill/>
          <a:ln/>
        </p:spPr>
        <p:txBody>
          <a:bodyPr wrap="square" lIns="0" tIns="0" rIns="0" bIns="0" rtlCol="0" anchor="ctr"/>
          <a:lstStyle/>
          <a:p>
            <a:pPr marL="0" indent="0">
              <a:buNone/>
            </a:pPr>
            <a:r>
              <a:rPr lang="en-US"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T3</a:t>
            </a:r>
            <a:endParaRPr lang="en-US" sz="2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0"/>
          <p:cNvSpPr/>
          <p:nvPr/>
        </p:nvSpPr>
        <p:spPr>
          <a:xfrm>
            <a:off x="6958069" y="1728877"/>
            <a:ext cx="1051560" cy="411480"/>
          </a:xfrm>
          <a:prstGeom prst="rect">
            <a:avLst/>
          </a:prstGeom>
          <a:noFill/>
          <a:ln/>
        </p:spPr>
        <p:txBody>
          <a:bodyPr wrap="square" lIns="0" tIns="0" rIns="0" bIns="0" rtlCol="0" anchor="ctr"/>
          <a:lstStyle/>
          <a:p>
            <a:pPr marL="0" indent="0">
              <a:buNone/>
            </a:pPr>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Terminal Agents</a:t>
            </a:r>
            <a:endPar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31"/>
          <p:cNvSpPr/>
          <p:nvPr/>
        </p:nvSpPr>
        <p:spPr>
          <a:xfrm>
            <a:off x="6289410" y="2509434"/>
            <a:ext cx="2377440" cy="201168"/>
          </a:xfrm>
          <a:prstGeom prst="rect">
            <a:avLst/>
          </a:prstGeom>
          <a:noFill/>
          <a:ln/>
        </p:spPr>
        <p:txBody>
          <a:bodyPr wrap="square" lIns="0" tIns="0" rIns="0" bIns="0" rtlCol="0" anchor="ctr"/>
          <a:lstStyle/>
          <a:p>
            <a:pPr marL="0" indent="0">
              <a:buNone/>
            </a:pPr>
            <a:r>
              <a:rPr lang="en-US" sz="900" b="1" kern="0" spc="200">
                <a:solidFill>
                  <a:srgbClr val="475569"/>
                </a:solidFill>
                <a:latin typeface="Open Sans" panose="020B0606030504020204" pitchFamily="34" charset="0"/>
                <a:ea typeface="Open Sans" panose="020B0606030504020204" pitchFamily="34" charset="0"/>
                <a:cs typeface="Open Sans" panose="020B0606030504020204" pitchFamily="34" charset="0"/>
              </a:rPr>
              <a:t>FOR</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37" name="Text 32"/>
          <p:cNvSpPr/>
          <p:nvPr/>
        </p:nvSpPr>
        <p:spPr>
          <a:xfrm>
            <a:off x="6289410" y="2761864"/>
            <a:ext cx="2377440" cy="457200"/>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Senior engineers, platform teams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33"/>
          <p:cNvSpPr/>
          <p:nvPr/>
        </p:nvSpPr>
        <p:spPr>
          <a:xfrm>
            <a:off x="6289410" y="3404616"/>
            <a:ext cx="2377440" cy="201168"/>
          </a:xfrm>
          <a:prstGeom prst="rect">
            <a:avLst/>
          </a:prstGeom>
          <a:noFill/>
          <a:ln/>
        </p:spPr>
        <p:txBody>
          <a:bodyPr wrap="square" lIns="0" tIns="0" rIns="0" bIns="0" rtlCol="0" anchor="ctr"/>
          <a:lstStyle/>
          <a:p>
            <a:pPr marL="0" indent="0">
              <a:buNone/>
            </a:pPr>
            <a:r>
              <a:rPr lang="en-US" sz="900" b="1" kern="0" spc="200">
                <a:solidFill>
                  <a:schemeClr val="tx2"/>
                </a:solidFill>
                <a:latin typeface="Open Sans" panose="020B0606030504020204" pitchFamily="34" charset="0"/>
                <a:ea typeface="Open Sans" panose="020B0606030504020204" pitchFamily="34" charset="0"/>
                <a:cs typeface="Open Sans" panose="020B0606030504020204" pitchFamily="34" charset="0"/>
              </a:rPr>
              <a:t>WHAT IT IS</a:t>
            </a:r>
            <a:endParaRPr lang="en-US" sz="9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34"/>
          <p:cNvSpPr/>
          <p:nvPr/>
        </p:nvSpPr>
        <p:spPr>
          <a:xfrm>
            <a:off x="6289410" y="3432048"/>
            <a:ext cx="2377440" cy="118872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CLI-native agents. Operate on real repos. Highest raw capability on complex codebases.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35"/>
          <p:cNvSpPr/>
          <p:nvPr/>
        </p:nvSpPr>
        <p:spPr>
          <a:xfrm>
            <a:off x="6289410" y="4648200"/>
            <a:ext cx="2377440" cy="201168"/>
          </a:xfrm>
          <a:prstGeom prst="rect">
            <a:avLst/>
          </a:prstGeom>
          <a:noFill/>
          <a:ln/>
        </p:spPr>
        <p:txBody>
          <a:bodyPr wrap="square" lIns="0" tIns="0" rIns="0" bIns="0" rtlCol="0" anchor="ctr"/>
          <a:lstStyle/>
          <a:p>
            <a:pPr marL="0" indent="0">
              <a:buNone/>
            </a:pPr>
            <a:r>
              <a:rPr lang="en-US" sz="900" b="1" kern="0" spc="200">
                <a:latin typeface="Open Sans" panose="020B0606030504020204" pitchFamily="34" charset="0"/>
                <a:ea typeface="Open Sans" panose="020B0606030504020204" pitchFamily="34" charset="0"/>
                <a:cs typeface="Open Sans" panose="020B0606030504020204" pitchFamily="34" charset="0"/>
              </a:rPr>
              <a:t>REPRESENTATIVE TOOLS</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36"/>
          <p:cNvSpPr/>
          <p:nvPr/>
        </p:nvSpPr>
        <p:spPr>
          <a:xfrm>
            <a:off x="6289410" y="4858512"/>
            <a:ext cx="2377440" cy="640080"/>
          </a:xfrm>
          <a:prstGeom prst="rect">
            <a:avLst/>
          </a:prstGeom>
          <a:noFill/>
          <a:ln/>
        </p:spPr>
        <p:txBody>
          <a:bodyPr wrap="square" lIns="0" tIns="0" rIns="0" bIns="0" rtlCol="0" anchor="ctr"/>
          <a:lstStyle/>
          <a:p>
            <a:pPr marL="0" indent="0">
              <a:buNone/>
            </a:pPr>
            <a:r>
              <a:rPr lang="en-US" sz="1100" i="1">
                <a:solidFill>
                  <a:schemeClr val="tx2"/>
                </a:solidFill>
                <a:latin typeface="Open Sans" panose="020B0606030504020204" pitchFamily="34" charset="0"/>
                <a:ea typeface="Open Sans" panose="020B0606030504020204" pitchFamily="34" charset="0"/>
                <a:cs typeface="Open Sans" panose="020B0606030504020204" pitchFamily="34" charset="0"/>
              </a:rPr>
              <a:t>Claude Code, Gemini CLI, OpenAI Codex, Devin</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Shape 37"/>
          <p:cNvSpPr/>
          <p:nvPr/>
        </p:nvSpPr>
        <p:spPr>
          <a:xfrm>
            <a:off x="8968602" y="1356360"/>
            <a:ext cx="2743200" cy="4160520"/>
          </a:xfrm>
          <a:prstGeom prst="rect">
            <a:avLst/>
          </a:prstGeom>
          <a:solidFill>
            <a:srgbClr val="F8FAFC"/>
          </a:solidFill>
          <a:ln w="12700">
            <a:solidFill>
              <a:srgbClr val="E2E8F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38"/>
          <p:cNvSpPr/>
          <p:nvPr/>
        </p:nvSpPr>
        <p:spPr>
          <a:xfrm>
            <a:off x="8968602" y="1356360"/>
            <a:ext cx="2743200" cy="86667"/>
          </a:xfrm>
          <a:prstGeom prst="rect">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39"/>
          <p:cNvSpPr/>
          <p:nvPr/>
        </p:nvSpPr>
        <p:spPr>
          <a:xfrm>
            <a:off x="9092046" y="1637437"/>
            <a:ext cx="731520" cy="594360"/>
          </a:xfrm>
          <a:prstGeom prst="rect">
            <a:avLst/>
          </a:prstGeom>
          <a:noFill/>
          <a:ln/>
        </p:spPr>
        <p:txBody>
          <a:bodyPr wrap="square" lIns="0" tIns="0" rIns="0" bIns="0" rtlCol="0" anchor="ctr"/>
          <a:lstStyle/>
          <a:p>
            <a:pPr marL="0" indent="0">
              <a:buNone/>
            </a:pPr>
            <a:r>
              <a:rPr lang="en-US" sz="28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T4</a:t>
            </a:r>
            <a:endParaRPr lang="en-US" sz="28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41"/>
          <p:cNvSpPr/>
          <p:nvPr/>
        </p:nvSpPr>
        <p:spPr>
          <a:xfrm>
            <a:off x="9709266" y="1728877"/>
            <a:ext cx="1314459" cy="411480"/>
          </a:xfrm>
          <a:prstGeom prst="rect">
            <a:avLst/>
          </a:prstGeom>
          <a:noFill/>
          <a:ln/>
        </p:spPr>
        <p:txBody>
          <a:bodyPr wrap="square" lIns="0" tIns="0" rIns="0" bIns="0" rtlCol="0" anchor="ctr"/>
          <a:lstStyle/>
          <a:p>
            <a:pPr marL="0" indent="0">
              <a:buNone/>
            </a:pPr>
            <a:r>
              <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Spec-Driven Agents</a:t>
            </a:r>
            <a:endParaRPr lang="en-US" sz="16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42"/>
          <p:cNvSpPr/>
          <p:nvPr/>
        </p:nvSpPr>
        <p:spPr>
          <a:xfrm>
            <a:off x="9151482" y="2509434"/>
            <a:ext cx="2377440" cy="201168"/>
          </a:xfrm>
          <a:prstGeom prst="rect">
            <a:avLst/>
          </a:prstGeom>
          <a:noFill/>
          <a:ln/>
        </p:spPr>
        <p:txBody>
          <a:bodyPr wrap="square" lIns="0" tIns="0" rIns="0" bIns="0" rtlCol="0" anchor="ctr"/>
          <a:lstStyle/>
          <a:p>
            <a:pPr marL="0" indent="0">
              <a:buNone/>
            </a:pPr>
            <a:r>
              <a:rPr lang="en-US" sz="900" b="1" kern="0" spc="200">
                <a:solidFill>
                  <a:srgbClr val="475569"/>
                </a:solidFill>
                <a:latin typeface="Open Sans" panose="020B0606030504020204" pitchFamily="34" charset="0"/>
                <a:ea typeface="Open Sans" panose="020B0606030504020204" pitchFamily="34" charset="0"/>
                <a:cs typeface="Open Sans" panose="020B0606030504020204" pitchFamily="34" charset="0"/>
              </a:rPr>
              <a:t>FOR</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49" name="Text 43"/>
          <p:cNvSpPr/>
          <p:nvPr/>
        </p:nvSpPr>
        <p:spPr>
          <a:xfrm>
            <a:off x="9151482" y="2761864"/>
            <a:ext cx="2377440" cy="457200"/>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Enterprise teams, regulated domains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50" name="Text 44"/>
          <p:cNvSpPr/>
          <p:nvPr/>
        </p:nvSpPr>
        <p:spPr>
          <a:xfrm>
            <a:off x="9151482" y="3404616"/>
            <a:ext cx="2377440" cy="201168"/>
          </a:xfrm>
          <a:prstGeom prst="rect">
            <a:avLst/>
          </a:prstGeom>
          <a:noFill/>
          <a:ln/>
        </p:spPr>
        <p:txBody>
          <a:bodyPr wrap="square" lIns="0" tIns="0" rIns="0" bIns="0" rtlCol="0" anchor="ctr"/>
          <a:lstStyle/>
          <a:p>
            <a:pPr marL="0" indent="0">
              <a:buNone/>
            </a:pPr>
            <a:r>
              <a:rPr lang="en-US" sz="900" b="1" kern="0" spc="200">
                <a:solidFill>
                  <a:schemeClr val="tx2"/>
                </a:solidFill>
                <a:latin typeface="Open Sans" panose="020B0606030504020204" pitchFamily="34" charset="0"/>
                <a:ea typeface="Open Sans" panose="020B0606030504020204" pitchFamily="34" charset="0"/>
                <a:cs typeface="Open Sans" panose="020B0606030504020204" pitchFamily="34" charset="0"/>
              </a:rPr>
              <a:t>WHAT IT IS</a:t>
            </a:r>
            <a:endParaRPr lang="en-US" sz="9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45"/>
          <p:cNvSpPr/>
          <p:nvPr/>
        </p:nvSpPr>
        <p:spPr>
          <a:xfrm>
            <a:off x="9151482" y="3432048"/>
            <a:ext cx="2377440" cy="118872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Spec-first orchestration. Validation gates. Agent execution against versioned specs.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46"/>
          <p:cNvSpPr/>
          <p:nvPr/>
        </p:nvSpPr>
        <p:spPr>
          <a:xfrm>
            <a:off x="9151482" y="4648200"/>
            <a:ext cx="2377440" cy="201168"/>
          </a:xfrm>
          <a:prstGeom prst="rect">
            <a:avLst/>
          </a:prstGeom>
          <a:noFill/>
          <a:ln/>
        </p:spPr>
        <p:txBody>
          <a:bodyPr wrap="square" lIns="0" tIns="0" rIns="0" bIns="0" rtlCol="0" anchor="ctr"/>
          <a:lstStyle/>
          <a:p>
            <a:pPr marL="0" indent="0">
              <a:buNone/>
            </a:pPr>
            <a:r>
              <a:rPr lang="en-US" sz="900" b="1" kern="0" spc="200">
                <a:latin typeface="Open Sans" panose="020B0606030504020204" pitchFamily="34" charset="0"/>
                <a:ea typeface="Open Sans" panose="020B0606030504020204" pitchFamily="34" charset="0"/>
                <a:cs typeface="Open Sans" panose="020B0606030504020204" pitchFamily="34" charset="0"/>
              </a:rPr>
              <a:t>REPRESENTATIVE TOOLS</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47"/>
          <p:cNvSpPr/>
          <p:nvPr/>
        </p:nvSpPr>
        <p:spPr>
          <a:xfrm>
            <a:off x="9151482" y="4858512"/>
            <a:ext cx="2377440" cy="640080"/>
          </a:xfrm>
          <a:prstGeom prst="rect">
            <a:avLst/>
          </a:prstGeom>
          <a:noFill/>
          <a:ln/>
        </p:spPr>
        <p:txBody>
          <a:bodyPr wrap="square" lIns="0" tIns="0" rIns="0" bIns="0" rtlCol="0" anchor="ctr"/>
          <a:lstStyle/>
          <a:p>
            <a:pPr marL="0" indent="0">
              <a:buNone/>
            </a:pPr>
            <a:r>
              <a:rPr lang="en-US" sz="1100" i="1">
                <a:solidFill>
                  <a:schemeClr val="tx2"/>
                </a:solidFill>
                <a:latin typeface="Open Sans" panose="020B0606030504020204" pitchFamily="34" charset="0"/>
                <a:ea typeface="Open Sans" panose="020B0606030504020204" pitchFamily="34" charset="0"/>
                <a:cs typeface="Open Sans" panose="020B0606030504020204" pitchFamily="34" charset="0"/>
              </a:rPr>
              <a:t>AWS Kiro, GitHub Spec Kit, OpenSpec, Augment Intent</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 name="Graphic 1">
            <a:extLst>
              <a:ext uri="{FF2B5EF4-FFF2-40B4-BE49-F238E27FC236}">
                <a16:creationId xmlns:a16="http://schemas.microsoft.com/office/drawing/2014/main" id="{A812E0A5-EB37-7B53-F6FC-271A4A6E7F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79339" y="1742963"/>
            <a:ext cx="383309" cy="383309"/>
          </a:xfrm>
          <a:prstGeom prst="rect">
            <a:avLst/>
          </a:prstGeom>
        </p:spPr>
      </p:pic>
      <p:pic>
        <p:nvPicPr>
          <p:cNvPr id="5" name="Graphic 4">
            <a:extLst>
              <a:ext uri="{FF2B5EF4-FFF2-40B4-BE49-F238E27FC236}">
                <a16:creationId xmlns:a16="http://schemas.microsoft.com/office/drawing/2014/main" id="{EADBC780-CA7F-584D-539D-F85E936658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9096" y="1726776"/>
            <a:ext cx="415682" cy="415682"/>
          </a:xfrm>
          <a:prstGeom prst="rect">
            <a:avLst/>
          </a:prstGeom>
        </p:spPr>
      </p:pic>
      <p:pic>
        <p:nvPicPr>
          <p:cNvPr id="55" name="Graphic 54">
            <a:extLst>
              <a:ext uri="{FF2B5EF4-FFF2-40B4-BE49-F238E27FC236}">
                <a16:creationId xmlns:a16="http://schemas.microsoft.com/office/drawing/2014/main" id="{8DFF0ED0-ACF9-74A1-FD4D-4CE9499EE7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72454" y="1770065"/>
            <a:ext cx="329104" cy="329104"/>
          </a:xfrm>
          <a:prstGeom prst="rect">
            <a:avLst/>
          </a:prstGeom>
        </p:spPr>
      </p:pic>
      <p:pic>
        <p:nvPicPr>
          <p:cNvPr id="57" name="Graphic 56">
            <a:extLst>
              <a:ext uri="{FF2B5EF4-FFF2-40B4-BE49-F238E27FC236}">
                <a16:creationId xmlns:a16="http://schemas.microsoft.com/office/drawing/2014/main" id="{73E3460D-68AD-199C-DE5B-33F03268482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57422" y="1764315"/>
            <a:ext cx="340605" cy="3406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8AA7AAAB-BD94-C333-D10F-DD534E804F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870028-F8B3-9B7D-B3C3-FA2BAC363EC8}"/>
              </a:ext>
            </a:extLst>
          </p:cNvPr>
          <p:cNvSpPr>
            <a:spLocks noGrp="1"/>
          </p:cNvSpPr>
          <p:nvPr>
            <p:ph type="title"/>
          </p:nvPr>
        </p:nvSpPr>
        <p:spPr>
          <a:xfrm>
            <a:off x="515913" y="250572"/>
            <a:ext cx="10854797" cy="646331"/>
          </a:xfrm>
        </p:spPr>
        <p:txBody>
          <a:bodyPr/>
          <a:lstStyle/>
          <a:p>
            <a:r>
              <a:rPr lang="en-IN" dirty="0"/>
              <a:t>The Right Mental Model</a:t>
            </a:r>
            <a:endParaRPr lang="en-US" dirty="0"/>
          </a:p>
        </p:txBody>
      </p:sp>
      <p:sp>
        <p:nvSpPr>
          <p:cNvPr id="8" name="Shape 1">
            <a:extLst>
              <a:ext uri="{FF2B5EF4-FFF2-40B4-BE49-F238E27FC236}">
                <a16:creationId xmlns:a16="http://schemas.microsoft.com/office/drawing/2014/main" id="{561C65D5-3D3C-2EAB-5103-3AB75629784B}"/>
              </a:ext>
            </a:extLst>
          </p:cNvPr>
          <p:cNvSpPr/>
          <p:nvPr/>
        </p:nvSpPr>
        <p:spPr>
          <a:xfrm>
            <a:off x="605364" y="2053085"/>
            <a:ext cx="3391508" cy="1983529"/>
          </a:xfrm>
          <a:prstGeom prst="roundRect">
            <a:avLst>
              <a:gd name="adj" fmla="val 7551"/>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10" name="Shape 1">
            <a:extLst>
              <a:ext uri="{FF2B5EF4-FFF2-40B4-BE49-F238E27FC236}">
                <a16:creationId xmlns:a16="http://schemas.microsoft.com/office/drawing/2014/main" id="{60703278-A6CF-87D7-85FF-CBD2214BF1BA}"/>
              </a:ext>
            </a:extLst>
          </p:cNvPr>
          <p:cNvSpPr/>
          <p:nvPr/>
        </p:nvSpPr>
        <p:spPr>
          <a:xfrm>
            <a:off x="4402111" y="2053085"/>
            <a:ext cx="3391508" cy="1983529"/>
          </a:xfrm>
          <a:prstGeom prst="roundRect">
            <a:avLst>
              <a:gd name="adj" fmla="val 7551"/>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12" name="Shape 1">
            <a:extLst>
              <a:ext uri="{FF2B5EF4-FFF2-40B4-BE49-F238E27FC236}">
                <a16:creationId xmlns:a16="http://schemas.microsoft.com/office/drawing/2014/main" id="{B8CB7DB5-7397-BBBC-E794-54A9C010D8F6}"/>
              </a:ext>
            </a:extLst>
          </p:cNvPr>
          <p:cNvSpPr/>
          <p:nvPr/>
        </p:nvSpPr>
        <p:spPr>
          <a:xfrm>
            <a:off x="8198858" y="2053085"/>
            <a:ext cx="3391508" cy="1983529"/>
          </a:xfrm>
          <a:prstGeom prst="roundRect">
            <a:avLst>
              <a:gd name="adj" fmla="val 7551"/>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2" name="TextBox 1">
            <a:extLst>
              <a:ext uri="{FF2B5EF4-FFF2-40B4-BE49-F238E27FC236}">
                <a16:creationId xmlns:a16="http://schemas.microsoft.com/office/drawing/2014/main" id="{9E8CAD79-DAC3-6608-AA6A-BFE318D76030}"/>
              </a:ext>
            </a:extLst>
          </p:cNvPr>
          <p:cNvSpPr txBox="1"/>
          <p:nvPr/>
        </p:nvSpPr>
        <p:spPr bwMode="auto">
          <a:xfrm>
            <a:off x="605364" y="1116791"/>
            <a:ext cx="10341870" cy="369332"/>
          </a:xfrm>
          <a:prstGeom prst="rect">
            <a:avLst/>
          </a:prstGeom>
        </p:spPr>
        <p:txBody>
          <a:bodyPr wrap="none" rtlCol="0">
            <a:spAutoFit/>
          </a:bodyPr>
          <a:lstStyle/>
          <a:p>
            <a:r>
              <a:rPr lang="en-IN" dirty="0"/>
              <a:t>AI coding tools are like a very fast junior developer. The speed is theirs. The judgement is yours.</a:t>
            </a:r>
          </a:p>
        </p:txBody>
      </p:sp>
      <p:sp>
        <p:nvSpPr>
          <p:cNvPr id="4" name="TextBox 3">
            <a:extLst>
              <a:ext uri="{FF2B5EF4-FFF2-40B4-BE49-F238E27FC236}">
                <a16:creationId xmlns:a16="http://schemas.microsoft.com/office/drawing/2014/main" id="{17349BE7-EC6B-1F7B-B1C2-C0B982CEA230}"/>
              </a:ext>
            </a:extLst>
          </p:cNvPr>
          <p:cNvSpPr txBox="1"/>
          <p:nvPr/>
        </p:nvSpPr>
        <p:spPr bwMode="auto">
          <a:xfrm>
            <a:off x="2380038" y="5198596"/>
            <a:ext cx="7589898" cy="369332"/>
          </a:xfrm>
          <a:prstGeom prst="rect">
            <a:avLst/>
          </a:prstGeom>
        </p:spPr>
        <p:txBody>
          <a:bodyPr wrap="none" rtlCol="0">
            <a:spAutoFit/>
          </a:bodyPr>
          <a:lstStyle/>
          <a:p>
            <a:pPr algn="ctr"/>
            <a:r>
              <a:rPr lang="en-IN" i="1" dirty="0">
                <a:solidFill>
                  <a:schemeClr val="tx2"/>
                </a:solidFill>
              </a:rPr>
              <a:t>The output is only as good as the brief — and only as safe as your review.</a:t>
            </a:r>
            <a:endParaRPr lang="en-IN" dirty="0">
              <a:solidFill>
                <a:schemeClr val="tx2"/>
              </a:solidFill>
            </a:endParaRPr>
          </a:p>
        </p:txBody>
      </p:sp>
      <p:sp>
        <p:nvSpPr>
          <p:cNvPr id="5" name="TextBox 4">
            <a:extLst>
              <a:ext uri="{FF2B5EF4-FFF2-40B4-BE49-F238E27FC236}">
                <a16:creationId xmlns:a16="http://schemas.microsoft.com/office/drawing/2014/main" id="{F8B94325-421D-D105-F01F-D36FF8668DD2}"/>
              </a:ext>
            </a:extLst>
          </p:cNvPr>
          <p:cNvSpPr txBox="1"/>
          <p:nvPr/>
        </p:nvSpPr>
        <p:spPr bwMode="auto">
          <a:xfrm>
            <a:off x="1222650" y="3436652"/>
            <a:ext cx="2156937" cy="369332"/>
          </a:xfrm>
          <a:prstGeom prst="rect">
            <a:avLst/>
          </a:prstGeom>
        </p:spPr>
        <p:txBody>
          <a:bodyPr wrap="none" rtlCol="0">
            <a:spAutoFit/>
          </a:bodyPr>
          <a:lstStyle/>
          <a:p>
            <a:r>
              <a:rPr lang="en-IN" dirty="0"/>
              <a:t>They write quickly.</a:t>
            </a:r>
          </a:p>
        </p:txBody>
      </p:sp>
      <p:sp>
        <p:nvSpPr>
          <p:cNvPr id="6" name="TextBox 5">
            <a:extLst>
              <a:ext uri="{FF2B5EF4-FFF2-40B4-BE49-F238E27FC236}">
                <a16:creationId xmlns:a16="http://schemas.microsoft.com/office/drawing/2014/main" id="{16C00373-D944-8967-E30E-D669E5408784}"/>
              </a:ext>
            </a:extLst>
          </p:cNvPr>
          <p:cNvSpPr txBox="1"/>
          <p:nvPr/>
        </p:nvSpPr>
        <p:spPr bwMode="auto">
          <a:xfrm>
            <a:off x="4479185" y="3436652"/>
            <a:ext cx="3237361" cy="369332"/>
          </a:xfrm>
          <a:prstGeom prst="rect">
            <a:avLst/>
          </a:prstGeom>
        </p:spPr>
        <p:txBody>
          <a:bodyPr wrap="none" rtlCol="0">
            <a:spAutoFit/>
          </a:bodyPr>
          <a:lstStyle/>
          <a:p>
            <a:r>
              <a:rPr lang="en-IN"/>
              <a:t>They hallucinate confidently.</a:t>
            </a:r>
          </a:p>
        </p:txBody>
      </p:sp>
      <p:sp>
        <p:nvSpPr>
          <p:cNvPr id="7" name="TextBox 6">
            <a:extLst>
              <a:ext uri="{FF2B5EF4-FFF2-40B4-BE49-F238E27FC236}">
                <a16:creationId xmlns:a16="http://schemas.microsoft.com/office/drawing/2014/main" id="{B464C538-E3A9-7F11-0DD8-CD8EAB397E4A}"/>
              </a:ext>
            </a:extLst>
          </p:cNvPr>
          <p:cNvSpPr txBox="1"/>
          <p:nvPr/>
        </p:nvSpPr>
        <p:spPr bwMode="auto">
          <a:xfrm>
            <a:off x="8711243" y="3436652"/>
            <a:ext cx="2366738" cy="369332"/>
          </a:xfrm>
          <a:prstGeom prst="rect">
            <a:avLst/>
          </a:prstGeom>
        </p:spPr>
        <p:txBody>
          <a:bodyPr wrap="none" rtlCol="0">
            <a:spAutoFit/>
          </a:bodyPr>
          <a:lstStyle/>
          <a:p>
            <a:r>
              <a:rPr lang="en-IN"/>
              <a:t>They need direction.</a:t>
            </a:r>
          </a:p>
        </p:txBody>
      </p:sp>
      <p:pic>
        <p:nvPicPr>
          <p:cNvPr id="9" name="Graphic 8" descr="Classroom outline">
            <a:extLst>
              <a:ext uri="{FF2B5EF4-FFF2-40B4-BE49-F238E27FC236}">
                <a16:creationId xmlns:a16="http://schemas.microsoft.com/office/drawing/2014/main" id="{7AE8BB16-ED22-2D7D-FC54-1897907F6C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37412" y="2387088"/>
            <a:ext cx="914400" cy="914400"/>
          </a:xfrm>
          <a:prstGeom prst="rect">
            <a:avLst/>
          </a:prstGeom>
        </p:spPr>
      </p:pic>
      <p:pic>
        <p:nvPicPr>
          <p:cNvPr id="11" name="Graphic 10" descr="Brain outline">
            <a:extLst>
              <a:ext uri="{FF2B5EF4-FFF2-40B4-BE49-F238E27FC236}">
                <a16:creationId xmlns:a16="http://schemas.microsoft.com/office/drawing/2014/main" id="{39CD95DA-70E3-D2E4-2BB4-31FAE05DC8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0665" y="2387088"/>
            <a:ext cx="914400" cy="914400"/>
          </a:xfrm>
          <a:prstGeom prst="rect">
            <a:avLst/>
          </a:prstGeom>
        </p:spPr>
      </p:pic>
      <p:pic>
        <p:nvPicPr>
          <p:cNvPr id="15" name="Graphic 14" descr="Stopwatch 75% outline">
            <a:extLst>
              <a:ext uri="{FF2B5EF4-FFF2-40B4-BE49-F238E27FC236}">
                <a16:creationId xmlns:a16="http://schemas.microsoft.com/office/drawing/2014/main" id="{47C7DD60-C98A-5D1C-9FA0-2ACE8B38433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43918" y="2387088"/>
            <a:ext cx="914400" cy="914400"/>
          </a:xfrm>
          <a:prstGeom prst="rect">
            <a:avLst/>
          </a:prstGeom>
        </p:spPr>
      </p:pic>
    </p:spTree>
    <p:extLst>
      <p:ext uri="{BB962C8B-B14F-4D97-AF65-F5344CB8AC3E}">
        <p14:creationId xmlns:p14="http://schemas.microsoft.com/office/powerpoint/2010/main" val="3157896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52839"/>
            <a:ext cx="5486400" cy="320040"/>
          </a:xfrm>
          <a:prstGeom prst="rect">
            <a:avLst/>
          </a:prstGeom>
          <a:noFill/>
          <a:ln/>
        </p:spPr>
        <p:txBody>
          <a:bodyPr wrap="square" lIns="0" tIns="0" rIns="0" bIns="0" rtlCol="0" anchor="ctr"/>
          <a:lstStyle/>
          <a:p>
            <a:pPr marL="0" indent="0">
              <a:buNone/>
            </a:pPr>
            <a:r>
              <a:rPr lang="en-US" sz="1100" b="1" kern="0" spc="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07  /  TOOL PROFILES</a:t>
            </a:r>
            <a:endParaRPr lang="en-US" sz="11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
          <p:cNvSpPr/>
          <p:nvPr/>
        </p:nvSpPr>
        <p:spPr>
          <a:xfrm>
            <a:off x="609600" y="694944"/>
            <a:ext cx="457200" cy="36576"/>
          </a:xfrm>
          <a:prstGeom prst="rect">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594360" y="777240"/>
            <a:ext cx="10972800" cy="640080"/>
          </a:xfrm>
          <a:prstGeom prst="rect">
            <a:avLst/>
          </a:prstGeom>
          <a:noFill/>
          <a:ln/>
        </p:spPr>
        <p:txBody>
          <a:bodyPr wrap="square" lIns="0" tIns="0" rIns="0" bIns="0" rtlCol="0" anchor="ctr"/>
          <a:lstStyle/>
          <a:p>
            <a:pPr marL="0" indent="0">
              <a:buNone/>
            </a:pPr>
            <a:r>
              <a:rPr lang="en-US" sz="3600" b="1" dirty="0">
                <a:latin typeface="Open Sans" panose="020B0606030504020204" pitchFamily="34" charset="0"/>
                <a:ea typeface="Open Sans" panose="020B0606030504020204" pitchFamily="34" charset="0"/>
                <a:cs typeface="Open Sans" panose="020B0606030504020204" pitchFamily="34" charset="0"/>
              </a:rPr>
              <a:t>Tool-by-Tool: Best For and Limitation</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3"/>
          <p:cNvSpPr/>
          <p:nvPr/>
        </p:nvSpPr>
        <p:spPr>
          <a:xfrm>
            <a:off x="457200" y="1521681"/>
            <a:ext cx="11247120" cy="411480"/>
          </a:xfrm>
          <a:prstGeom prst="rect">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594360" y="1521681"/>
            <a:ext cx="1371600" cy="411480"/>
          </a:xfrm>
          <a:prstGeom prst="rect">
            <a:avLst/>
          </a:prstGeom>
          <a:noFill/>
          <a:ln/>
        </p:spPr>
        <p:txBody>
          <a:bodyPr wrap="square" lIns="0" tIns="0" rIns="0" bIns="0" rtlCol="0" anchor="ctr"/>
          <a:lstStyle/>
          <a:p>
            <a:pPr marL="0" indent="0">
              <a:buNone/>
            </a:pPr>
            <a:r>
              <a:rPr lang="en-US" sz="1100" b="1" kern="0" spc="300">
                <a:solidFill>
                  <a:srgbClr val="FFFFFF"/>
                </a:solidFill>
                <a:latin typeface="Open Sans" panose="020B0606030504020204" pitchFamily="34" charset="0"/>
                <a:ea typeface="Open Sans" panose="020B0606030504020204" pitchFamily="34" charset="0"/>
                <a:cs typeface="Open Sans" panose="020B0606030504020204" pitchFamily="34" charset="0"/>
              </a:rPr>
              <a:t>TOOL</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2148840" y="1521681"/>
            <a:ext cx="594360" cy="411480"/>
          </a:xfrm>
          <a:prstGeom prst="rect">
            <a:avLst/>
          </a:prstGeom>
          <a:noFill/>
          <a:ln/>
        </p:spPr>
        <p:txBody>
          <a:bodyPr wrap="square" lIns="0" tIns="0" rIns="0" bIns="0" rtlCol="0" anchor="ctr"/>
          <a:lstStyle/>
          <a:p>
            <a:pPr marL="0" indent="0">
              <a:buNone/>
            </a:pPr>
            <a:r>
              <a:rPr lang="en-US" sz="1100" b="1" kern="0" spc="300">
                <a:solidFill>
                  <a:srgbClr val="FFFFFF"/>
                </a:solidFill>
                <a:latin typeface="Open Sans" panose="020B0606030504020204" pitchFamily="34" charset="0"/>
                <a:ea typeface="Open Sans" panose="020B0606030504020204" pitchFamily="34" charset="0"/>
                <a:cs typeface="Open Sans" panose="020B0606030504020204" pitchFamily="34" charset="0"/>
              </a:rPr>
              <a:t>TIER</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2926080" y="1521681"/>
            <a:ext cx="3931920" cy="411480"/>
          </a:xfrm>
          <a:prstGeom prst="rect">
            <a:avLst/>
          </a:prstGeom>
          <a:noFill/>
          <a:ln/>
        </p:spPr>
        <p:txBody>
          <a:bodyPr wrap="square" lIns="0" tIns="0" rIns="0" bIns="0" rtlCol="0" anchor="ctr"/>
          <a:lstStyle/>
          <a:p>
            <a:pPr marL="0" indent="0">
              <a:buNone/>
            </a:pPr>
            <a:r>
              <a:rPr lang="en-US" sz="1100" b="1" kern="0" spc="300">
                <a:solidFill>
                  <a:srgbClr val="FFFFFF"/>
                </a:solidFill>
                <a:latin typeface="Open Sans" panose="020B0606030504020204" pitchFamily="34" charset="0"/>
                <a:ea typeface="Open Sans" panose="020B0606030504020204" pitchFamily="34" charset="0"/>
                <a:cs typeface="Open Sans" panose="020B0606030504020204" pitchFamily="34" charset="0"/>
              </a:rPr>
              <a:t>BEST FOR</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7040880" y="1521681"/>
            <a:ext cx="3977640" cy="411480"/>
          </a:xfrm>
          <a:prstGeom prst="rect">
            <a:avLst/>
          </a:prstGeom>
          <a:noFill/>
          <a:ln/>
        </p:spPr>
        <p:txBody>
          <a:bodyPr wrap="square" lIns="0" tIns="0" rIns="0" bIns="0" rtlCol="0" anchor="ctr"/>
          <a:lstStyle/>
          <a:p>
            <a:pPr marL="0" indent="0">
              <a:buNone/>
            </a:pPr>
            <a:r>
              <a:rPr lang="en-US" sz="1100" b="1" kern="0" spc="300">
                <a:solidFill>
                  <a:srgbClr val="FFFFFF"/>
                </a:solidFill>
                <a:latin typeface="Open Sans" panose="020B0606030504020204" pitchFamily="34" charset="0"/>
                <a:ea typeface="Open Sans" panose="020B0606030504020204" pitchFamily="34" charset="0"/>
                <a:cs typeface="Open Sans" panose="020B0606030504020204" pitchFamily="34" charset="0"/>
              </a:rPr>
              <a:t>LIMITATION</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457200" y="2285950"/>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594360" y="193316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Lovable</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2103120" y="200631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2103120" y="2006313"/>
            <a:ext cx="548640" cy="219456"/>
          </a:xfrm>
          <a:prstGeom prst="rect">
            <a:avLst/>
          </a:prstGeom>
          <a:noFill/>
          <a:ln/>
        </p:spPr>
        <p:txBody>
          <a:bodyPr wrap="square" lIns="0" tIns="0" rIns="0" bIns="0" rtlCol="0" anchor="ctr"/>
          <a:lstStyle/>
          <a:p>
            <a:pPr marL="0" indent="0" algn="ctr">
              <a:buNone/>
            </a:pPr>
            <a:r>
              <a:rPr lang="en-US" sz="900" b="1" dirty="0">
                <a:solidFill>
                  <a:schemeClr val="bg1"/>
                </a:solidFill>
                <a:latin typeface="Open Sans" panose="020B0606030504020204" pitchFamily="34" charset="0"/>
                <a:ea typeface="Open Sans" panose="020B0606030504020204" pitchFamily="34" charset="0"/>
                <a:cs typeface="Open Sans" panose="020B0606030504020204" pitchFamily="34" charset="0"/>
              </a:rPr>
              <a:t>T1</a:t>
            </a:r>
            <a:endParaRPr lang="en-US" sz="9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2880360" y="193316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Full-stack scaffolding. Polished UI defaults.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995160" y="193316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Vision over surgical refinement. Web only.</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594360" y="2285950"/>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Bolt.new</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2103120" y="2359102"/>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2103120" y="2359102"/>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T1</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2880360" y="2285950"/>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Fastest browser prototype. Live preview. Mobile via Expo.</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6995160" y="2285950"/>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SPA bias. Vague prompts produce incomplete builds.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457200" y="3042219"/>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594360" y="266468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v0 (Vercel)</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2103120" y="273783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2103120" y="273783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T1</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2880360" y="266468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React + shadcn/ui. Fastest Vercel deploy.</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6995160" y="266468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Frontend leaning. Less for backend or non-coders.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594360" y="3042219"/>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Replit Agent</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2103120" y="3115371"/>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2103120" y="3115371"/>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T1</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2880360" y="3042219"/>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Cloud IDE plus agent. Multi-language. Learning friendly.</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6995160" y="3042219"/>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Infinite-fix loops burn credits. Non-coders see raw code.</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30"/>
          <p:cNvSpPr/>
          <p:nvPr/>
        </p:nvSpPr>
        <p:spPr>
          <a:xfrm>
            <a:off x="457200" y="3759477"/>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31"/>
          <p:cNvSpPr/>
          <p:nvPr/>
        </p:nvSpPr>
        <p:spPr>
          <a:xfrm>
            <a:off x="594360" y="339620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Cursor</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4" name="Shape 32"/>
          <p:cNvSpPr/>
          <p:nvPr/>
        </p:nvSpPr>
        <p:spPr>
          <a:xfrm>
            <a:off x="2103120" y="346935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3"/>
          <p:cNvSpPr/>
          <p:nvPr/>
        </p:nvSpPr>
        <p:spPr>
          <a:xfrm>
            <a:off x="2103120" y="346935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T2</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34"/>
          <p:cNvSpPr/>
          <p:nvPr/>
        </p:nvSpPr>
        <p:spPr>
          <a:xfrm>
            <a:off x="2880360" y="339620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Multi-file edits. Deep codebase awareness. Rules files.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7" name="Text 35"/>
          <p:cNvSpPr/>
          <p:nvPr/>
        </p:nvSpPr>
        <p:spPr>
          <a:xfrm>
            <a:off x="6995160" y="339620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No persistent spec memory. Rules are advisory, not enforced.</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36"/>
          <p:cNvSpPr/>
          <p:nvPr/>
        </p:nvSpPr>
        <p:spPr>
          <a:xfrm>
            <a:off x="594360" y="376196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Windsurf</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9" name="Shape 37"/>
          <p:cNvSpPr/>
          <p:nvPr/>
        </p:nvSpPr>
        <p:spPr>
          <a:xfrm>
            <a:off x="2103120" y="383511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38"/>
          <p:cNvSpPr/>
          <p:nvPr/>
        </p:nvSpPr>
        <p:spPr>
          <a:xfrm>
            <a:off x="2103120" y="383511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T2</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39"/>
          <p:cNvSpPr/>
          <p:nvPr/>
        </p:nvSpPr>
        <p:spPr>
          <a:xfrm>
            <a:off x="2880360" y="376196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Cascade agent for large codebases. .windsurfrules.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40"/>
          <p:cNvSpPr/>
          <p:nvPr/>
        </p:nvSpPr>
        <p:spPr>
          <a:xfrm>
            <a:off x="6995160" y="376196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Start fresh chat per feature. Smaller mindshare than Cursor.</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41"/>
          <p:cNvSpPr/>
          <p:nvPr/>
        </p:nvSpPr>
        <p:spPr>
          <a:xfrm>
            <a:off x="457200" y="4519424"/>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42"/>
          <p:cNvSpPr/>
          <p:nvPr/>
        </p:nvSpPr>
        <p:spPr>
          <a:xfrm>
            <a:off x="594360" y="412772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Claude Code</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43"/>
          <p:cNvSpPr/>
          <p:nvPr/>
        </p:nvSpPr>
        <p:spPr>
          <a:xfrm>
            <a:off x="2103120" y="420087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44"/>
          <p:cNvSpPr/>
          <p:nvPr/>
        </p:nvSpPr>
        <p:spPr>
          <a:xfrm>
            <a:off x="2103120" y="420087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T3</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45"/>
          <p:cNvSpPr/>
          <p:nvPr/>
        </p:nvSpPr>
        <p:spPr>
          <a:xfrm>
            <a:off x="2880360" y="412772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Agentic coding. Plan mode. Highest benchmark scores.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46"/>
          <p:cNvSpPr/>
          <p:nvPr/>
        </p:nvSpPr>
        <p:spPr>
          <a:xfrm>
            <a:off x="6995160" y="412772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Terminal native. Requires strong prompting discipline.</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9" name="Text 47"/>
          <p:cNvSpPr/>
          <p:nvPr/>
        </p:nvSpPr>
        <p:spPr>
          <a:xfrm>
            <a:off x="594360" y="4519424"/>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GitHub Copilot</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0" name="Shape 48"/>
          <p:cNvSpPr/>
          <p:nvPr/>
        </p:nvSpPr>
        <p:spPr>
          <a:xfrm>
            <a:off x="2103120" y="4592576"/>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49"/>
          <p:cNvSpPr/>
          <p:nvPr/>
        </p:nvSpPr>
        <p:spPr>
          <a:xfrm>
            <a:off x="2103120" y="4592576"/>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T2</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50"/>
          <p:cNvSpPr/>
          <p:nvPr/>
        </p:nvSpPr>
        <p:spPr>
          <a:xfrm>
            <a:off x="2880360" y="4519424"/>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Inline autocomplete in VS Code, JetBrains.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51"/>
          <p:cNvSpPr/>
          <p:nvPr/>
        </p:nvSpPr>
        <p:spPr>
          <a:xfrm>
            <a:off x="6995160" y="4519424"/>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Less autonomous. Different category from agentic tools.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4" name="Shape 52"/>
          <p:cNvSpPr/>
          <p:nvPr/>
        </p:nvSpPr>
        <p:spPr>
          <a:xfrm>
            <a:off x="457200" y="5227388"/>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5" name="Text 53"/>
          <p:cNvSpPr/>
          <p:nvPr/>
        </p:nvSpPr>
        <p:spPr>
          <a:xfrm>
            <a:off x="594360" y="485924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Kiro (AWS)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6" name="Shape 54"/>
          <p:cNvSpPr/>
          <p:nvPr/>
        </p:nvSpPr>
        <p:spPr>
          <a:xfrm>
            <a:off x="2103120" y="4932393"/>
            <a:ext cx="548640" cy="219456"/>
          </a:xfrm>
          <a:prstGeom prst="rect">
            <a:avLst/>
          </a:prstGeom>
          <a:solidFill>
            <a:srgbClr val="A6FF4D">
              <a:alpha val="30000"/>
            </a:srgb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7" name="Text 55"/>
          <p:cNvSpPr/>
          <p:nvPr/>
        </p:nvSpPr>
        <p:spPr>
          <a:xfrm>
            <a:off x="2103120" y="4932393"/>
            <a:ext cx="548640" cy="219456"/>
          </a:xfrm>
          <a:prstGeom prst="rect">
            <a:avLst/>
          </a:prstGeom>
          <a:solidFill>
            <a:schemeClr val="accent2"/>
          </a:solid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T4</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8" name="Text 56"/>
          <p:cNvSpPr/>
          <p:nvPr/>
        </p:nvSpPr>
        <p:spPr>
          <a:xfrm>
            <a:off x="2880360" y="485924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Spec-first IDE. Validation gates. Audit trail.</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9" name="Text 57"/>
          <p:cNvSpPr/>
          <p:nvPr/>
        </p:nvSpPr>
        <p:spPr>
          <a:xfrm>
            <a:off x="6995160" y="485924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Newer. Best for enterprise and regulated workloads.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60" name="Text 58"/>
          <p:cNvSpPr/>
          <p:nvPr/>
        </p:nvSpPr>
        <p:spPr>
          <a:xfrm>
            <a:off x="594360" y="522500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GitHub Spec Kit</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61" name="Shape 59"/>
          <p:cNvSpPr/>
          <p:nvPr/>
        </p:nvSpPr>
        <p:spPr>
          <a:xfrm>
            <a:off x="2103120" y="529815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2" name="Text 60"/>
          <p:cNvSpPr/>
          <p:nvPr/>
        </p:nvSpPr>
        <p:spPr>
          <a:xfrm>
            <a:off x="2103120" y="529815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T4</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3" name="Text 61"/>
          <p:cNvSpPr/>
          <p:nvPr/>
        </p:nvSpPr>
        <p:spPr>
          <a:xfrm>
            <a:off x="2880360" y="522500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Specify-Plan-Tasks-Implement team workflow.</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64" name="Text 62"/>
          <p:cNvSpPr/>
          <p:nvPr/>
        </p:nvSpPr>
        <p:spPr>
          <a:xfrm>
            <a:off x="6995160" y="522500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Requires team buy-in to spec discipline.</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65" name="Shape 63"/>
          <p:cNvSpPr/>
          <p:nvPr/>
        </p:nvSpPr>
        <p:spPr>
          <a:xfrm>
            <a:off x="457200" y="5954134"/>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6" name="Text 64"/>
          <p:cNvSpPr/>
          <p:nvPr/>
        </p:nvSpPr>
        <p:spPr>
          <a:xfrm>
            <a:off x="594360" y="559076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OpenSpec</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67" name="Shape 65"/>
          <p:cNvSpPr/>
          <p:nvPr/>
        </p:nvSpPr>
        <p:spPr>
          <a:xfrm>
            <a:off x="2103120" y="566391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8" name="Text 66"/>
          <p:cNvSpPr/>
          <p:nvPr/>
        </p:nvSpPr>
        <p:spPr>
          <a:xfrm>
            <a:off x="2103120" y="566391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T4</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 name="Text 67"/>
          <p:cNvSpPr/>
          <p:nvPr/>
        </p:nvSpPr>
        <p:spPr>
          <a:xfrm>
            <a:off x="2880360" y="559076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Solo SDD via /openspec commands in Cursor.</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0" name="Text 68"/>
          <p:cNvSpPr/>
          <p:nvPr/>
        </p:nvSpPr>
        <p:spPr>
          <a:xfrm>
            <a:off x="6995160" y="559076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Best for 2-3 session features, not large team flows.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1" name="Text 69"/>
          <p:cNvSpPr/>
          <p:nvPr/>
        </p:nvSpPr>
        <p:spPr>
          <a:xfrm>
            <a:off x="594360" y="595652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Augment Intent</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2" name="Shape 70"/>
          <p:cNvSpPr/>
          <p:nvPr/>
        </p:nvSpPr>
        <p:spPr>
          <a:xfrm>
            <a:off x="2103120" y="602967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3" name="Text 71"/>
          <p:cNvSpPr/>
          <p:nvPr/>
        </p:nvSpPr>
        <p:spPr>
          <a:xfrm>
            <a:off x="2103120" y="602967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T4</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4" name="Text 72"/>
          <p:cNvSpPr/>
          <p:nvPr/>
        </p:nvSpPr>
        <p:spPr>
          <a:xfrm>
            <a:off x="2880360" y="595652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Living specs. Coordinator + verifier agents.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5" name="Text 73"/>
          <p:cNvSpPr/>
          <p:nvPr/>
        </p:nvSpPr>
        <p:spPr>
          <a:xfrm>
            <a:off x="6995160" y="595652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Heaviest setup. Pays back on team-scale projects.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p:cNvGrpSpPr/>
        <p:nvPr/>
      </p:nvGrpSpPr>
      <p:grpSpPr>
        <a:xfrm>
          <a:off x="0" y="0"/>
          <a:ext cx="0" cy="0"/>
          <a:chOff x="0" y="0"/>
          <a:chExt cx="0" cy="0"/>
        </a:xfrm>
      </p:grpSpPr>
      <p:sp>
        <p:nvSpPr>
          <p:cNvPr id="25" name="Shape 11">
            <a:extLst>
              <a:ext uri="{FF2B5EF4-FFF2-40B4-BE49-F238E27FC236}">
                <a16:creationId xmlns:a16="http://schemas.microsoft.com/office/drawing/2014/main" id="{545C4212-5102-2A5E-AA3D-00EAE2C219C8}"/>
              </a:ext>
            </a:extLst>
          </p:cNvPr>
          <p:cNvSpPr/>
          <p:nvPr/>
        </p:nvSpPr>
        <p:spPr>
          <a:xfrm>
            <a:off x="488474" y="1559285"/>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19">
            <a:extLst>
              <a:ext uri="{FF2B5EF4-FFF2-40B4-BE49-F238E27FC236}">
                <a16:creationId xmlns:a16="http://schemas.microsoft.com/office/drawing/2014/main" id="{7E618105-6810-F9B3-C851-1F28ABB816E7}"/>
              </a:ext>
            </a:extLst>
          </p:cNvPr>
          <p:cNvSpPr/>
          <p:nvPr/>
        </p:nvSpPr>
        <p:spPr>
          <a:xfrm>
            <a:off x="488474" y="5485934"/>
            <a:ext cx="11216640" cy="693193"/>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3" name="TextBox 2">
            <a:extLst>
              <a:ext uri="{FF2B5EF4-FFF2-40B4-BE49-F238E27FC236}">
                <a16:creationId xmlns:a16="http://schemas.microsoft.com/office/drawing/2014/main" id="{81419BFF-9AD3-9520-4676-658532093E18}"/>
              </a:ext>
            </a:extLst>
          </p:cNvPr>
          <p:cNvSpPr txBox="1"/>
          <p:nvPr/>
        </p:nvSpPr>
        <p:spPr bwMode="auto">
          <a:xfrm>
            <a:off x="605364" y="1658452"/>
            <a:ext cx="10333888" cy="861774"/>
          </a:xfrm>
          <a:prstGeom prst="rect">
            <a:avLst/>
          </a:prstGeom>
        </p:spPr>
        <p:txBody>
          <a:bodyPr wrap="square" rtlCol="0">
            <a:spAutoFit/>
          </a:bodyPr>
          <a:lstStyle/>
          <a:p>
            <a:r>
              <a:rPr lang="en-IN"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SCENARIO A</a:t>
            </a:r>
            <a:br>
              <a:rPr lang="en-IN" dirty="0">
                <a:latin typeface="Open Sans" panose="020B0606030504020204" pitchFamily="34" charset="0"/>
                <a:ea typeface="Open Sans" panose="020B0606030504020204" pitchFamily="34" charset="0"/>
                <a:cs typeface="Open Sans" panose="020B0606030504020204" pitchFamily="34" charset="0"/>
              </a:rPr>
            </a:br>
            <a:r>
              <a:rPr lang="en-IN" sz="1600" dirty="0">
                <a:latin typeface="Open Sans" panose="020B0606030504020204" pitchFamily="34" charset="0"/>
                <a:ea typeface="Open Sans" panose="020B0606030504020204" pitchFamily="34" charset="0"/>
                <a:cs typeface="Open Sans" panose="020B0606030504020204" pitchFamily="34" charset="0"/>
              </a:rPr>
              <a:t>You need a clickable UI mock of the clinician review console for a design review on Friday. Nobody will run the backend.</a:t>
            </a:r>
          </a:p>
        </p:txBody>
      </p:sp>
      <p:sp>
        <p:nvSpPr>
          <p:cNvPr id="4" name="TextBox 3">
            <a:extLst>
              <a:ext uri="{FF2B5EF4-FFF2-40B4-BE49-F238E27FC236}">
                <a16:creationId xmlns:a16="http://schemas.microsoft.com/office/drawing/2014/main" id="{2D4CE59D-31CA-1616-07A9-F75125245D13}"/>
              </a:ext>
            </a:extLst>
          </p:cNvPr>
          <p:cNvSpPr txBox="1"/>
          <p:nvPr/>
        </p:nvSpPr>
        <p:spPr bwMode="auto">
          <a:xfrm>
            <a:off x="605364" y="978379"/>
            <a:ext cx="8033738" cy="369332"/>
          </a:xfrm>
          <a:prstGeom prst="rect">
            <a:avLst/>
          </a:prstGeom>
        </p:spPr>
        <p:txBody>
          <a:bodyPr wrap="none" rtlCol="0">
            <a:spAutoFit/>
          </a:bodyPr>
          <a:lstStyle/>
          <a:p>
            <a:r>
              <a:rPr lang="en-IN" dirty="0">
                <a:latin typeface="Open Sans" panose="020B0606030504020204" pitchFamily="34" charset="0"/>
                <a:ea typeface="Open Sans" panose="020B0606030504020204" pitchFamily="34" charset="0"/>
                <a:cs typeface="Open Sans" panose="020B0606030504020204" pitchFamily="34" charset="0"/>
              </a:rPr>
              <a:t>Three scenarios. Pick the right tool for each. Vote — then we discuss why.</a:t>
            </a:r>
          </a:p>
        </p:txBody>
      </p:sp>
      <p:sp>
        <p:nvSpPr>
          <p:cNvPr id="5" name="Title 2">
            <a:extLst>
              <a:ext uri="{FF2B5EF4-FFF2-40B4-BE49-F238E27FC236}">
                <a16:creationId xmlns:a16="http://schemas.microsoft.com/office/drawing/2014/main" id="{FF85B0BA-538C-E996-E825-A5CEAB0A9BD0}"/>
              </a:ext>
            </a:extLst>
          </p:cNvPr>
          <p:cNvSpPr txBox="1">
            <a:spLocks/>
          </p:cNvSpPr>
          <p:nvPr/>
        </p:nvSpPr>
        <p:spPr>
          <a:xfrm>
            <a:off x="539608" y="249132"/>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latin typeface="Open Sans" panose="020B0606030504020204" pitchFamily="34" charset="0"/>
              </a:rPr>
              <a:t>Which Tool Would You Reach For?</a:t>
            </a:r>
          </a:p>
        </p:txBody>
      </p:sp>
      <p:sp>
        <p:nvSpPr>
          <p:cNvPr id="6" name="TextBox 5">
            <a:extLst>
              <a:ext uri="{FF2B5EF4-FFF2-40B4-BE49-F238E27FC236}">
                <a16:creationId xmlns:a16="http://schemas.microsoft.com/office/drawing/2014/main" id="{5E74B277-2C3B-EE07-679B-BCDBD694ED79}"/>
              </a:ext>
            </a:extLst>
          </p:cNvPr>
          <p:cNvSpPr txBox="1"/>
          <p:nvPr/>
        </p:nvSpPr>
        <p:spPr bwMode="auto">
          <a:xfrm>
            <a:off x="605364" y="5647864"/>
            <a:ext cx="1608133" cy="369332"/>
          </a:xfrm>
          <a:prstGeom prst="rect">
            <a:avLst/>
          </a:prstGeom>
        </p:spPr>
        <p:txBody>
          <a:bodyPr wrap="none" rtlCol="0">
            <a:spAutoFit/>
          </a:bodyPr>
          <a:lstStyle/>
          <a:p>
            <a:pPr algn="l"/>
            <a:r>
              <a:rPr lang="en-US" b="1" dirty="0">
                <a:latin typeface="Open Sans" panose="020B0606030504020204" pitchFamily="34" charset="0"/>
                <a:ea typeface="Open Sans" panose="020B0606030504020204" pitchFamily="34" charset="0"/>
                <a:cs typeface="Open Sans" panose="020B0606030504020204" pitchFamily="34" charset="0"/>
              </a:rPr>
              <a:t>Claude Code</a:t>
            </a:r>
          </a:p>
        </p:txBody>
      </p:sp>
      <p:sp>
        <p:nvSpPr>
          <p:cNvPr id="7" name="TextBox 6">
            <a:extLst>
              <a:ext uri="{FF2B5EF4-FFF2-40B4-BE49-F238E27FC236}">
                <a16:creationId xmlns:a16="http://schemas.microsoft.com/office/drawing/2014/main" id="{8BF7A2AA-02D0-5458-5EAA-4C25EE223172}"/>
              </a:ext>
            </a:extLst>
          </p:cNvPr>
          <p:cNvSpPr txBox="1"/>
          <p:nvPr/>
        </p:nvSpPr>
        <p:spPr bwMode="auto">
          <a:xfrm>
            <a:off x="3066265" y="5647864"/>
            <a:ext cx="1877437" cy="369332"/>
          </a:xfrm>
          <a:prstGeom prst="rect">
            <a:avLst/>
          </a:prstGeom>
        </p:spPr>
        <p:txBody>
          <a:bodyPr wrap="none" rtlCol="0">
            <a:spAutoFit/>
          </a:bodyPr>
          <a:lstStyle/>
          <a:p>
            <a:r>
              <a:rPr lang="en-IN" b="1" dirty="0">
                <a:latin typeface="Open Sans" panose="020B0606030504020204" pitchFamily="34" charset="0"/>
                <a:ea typeface="Open Sans" panose="020B0606030504020204" pitchFamily="34" charset="0"/>
                <a:cs typeface="Open Sans" panose="020B0606030504020204" pitchFamily="34" charset="0"/>
              </a:rPr>
              <a:t>GitHub Copilot</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98702787-B02C-B73C-309B-AEE6DE252A42}"/>
              </a:ext>
            </a:extLst>
          </p:cNvPr>
          <p:cNvSpPr txBox="1"/>
          <p:nvPr/>
        </p:nvSpPr>
        <p:spPr bwMode="auto">
          <a:xfrm>
            <a:off x="5937893" y="5647864"/>
            <a:ext cx="1821524" cy="369332"/>
          </a:xfrm>
          <a:prstGeom prst="rect">
            <a:avLst/>
          </a:prstGeom>
        </p:spPr>
        <p:txBody>
          <a:bodyPr wrap="none" rtlCol="0">
            <a:spAutoFit/>
          </a:bodyPr>
          <a:lstStyle/>
          <a:p>
            <a:r>
              <a:rPr lang="en-IN" b="1">
                <a:latin typeface="Open Sans" panose="020B0606030504020204" pitchFamily="34" charset="0"/>
                <a:ea typeface="Open Sans" panose="020B0606030504020204" pitchFamily="34" charset="0"/>
                <a:cs typeface="Open Sans" panose="020B0606030504020204" pitchFamily="34" charset="0"/>
              </a:rPr>
              <a:t>Cursor / Devin</a:t>
            </a:r>
          </a:p>
        </p:txBody>
      </p:sp>
      <p:sp>
        <p:nvSpPr>
          <p:cNvPr id="9" name="TextBox 8">
            <a:extLst>
              <a:ext uri="{FF2B5EF4-FFF2-40B4-BE49-F238E27FC236}">
                <a16:creationId xmlns:a16="http://schemas.microsoft.com/office/drawing/2014/main" id="{0DCF1048-D4BD-4949-40E2-AA7E509CBB0B}"/>
              </a:ext>
            </a:extLst>
          </p:cNvPr>
          <p:cNvSpPr txBox="1"/>
          <p:nvPr/>
        </p:nvSpPr>
        <p:spPr bwMode="auto">
          <a:xfrm>
            <a:off x="8500983" y="5647864"/>
            <a:ext cx="3085653" cy="369332"/>
          </a:xfrm>
          <a:prstGeom prst="rect">
            <a:avLst/>
          </a:prstGeom>
        </p:spPr>
        <p:txBody>
          <a:bodyPr wrap="none" rtlCol="0">
            <a:spAutoFit/>
          </a:bodyPr>
          <a:lstStyle/>
          <a:p>
            <a:r>
              <a:rPr lang="en-IN" b="1">
                <a:latin typeface="Open Sans" panose="020B0606030504020204" pitchFamily="34" charset="0"/>
                <a:ea typeface="Open Sans" panose="020B0606030504020204" pitchFamily="34" charset="0"/>
                <a:cs typeface="Open Sans" panose="020B0606030504020204" pitchFamily="34" charset="0"/>
              </a:rPr>
              <a:t>Lovable / Bolt / Emergent</a:t>
            </a: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0">
            <a:extLst>
              <a:ext uri="{FF2B5EF4-FFF2-40B4-BE49-F238E27FC236}">
                <a16:creationId xmlns:a16="http://schemas.microsoft.com/office/drawing/2014/main" id="{46F1B6D3-AE98-095D-A8B2-DE271CD694B4}"/>
              </a:ext>
            </a:extLst>
          </p:cNvPr>
          <p:cNvSpPr/>
          <p:nvPr/>
        </p:nvSpPr>
        <p:spPr>
          <a:xfrm>
            <a:off x="9745544" y="221424"/>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11">
            <a:extLst>
              <a:ext uri="{FF2B5EF4-FFF2-40B4-BE49-F238E27FC236}">
                <a16:creationId xmlns:a16="http://schemas.microsoft.com/office/drawing/2014/main" id="{715FFF1E-331E-4981-9198-7BDD610C2D65}"/>
              </a:ext>
            </a:extLst>
          </p:cNvPr>
          <p:cNvSpPr/>
          <p:nvPr/>
        </p:nvSpPr>
        <p:spPr>
          <a:xfrm>
            <a:off x="488474" y="2868168"/>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
            <a:extLst>
              <a:ext uri="{FF2B5EF4-FFF2-40B4-BE49-F238E27FC236}">
                <a16:creationId xmlns:a16="http://schemas.microsoft.com/office/drawing/2014/main" id="{3732D465-E6EC-C477-E7F1-1147597D9C73}"/>
              </a:ext>
            </a:extLst>
          </p:cNvPr>
          <p:cNvSpPr/>
          <p:nvPr/>
        </p:nvSpPr>
        <p:spPr>
          <a:xfrm>
            <a:off x="9543000" y="160464"/>
            <a:ext cx="2247655" cy="58521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REFLECT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Box 21">
            <a:extLst>
              <a:ext uri="{FF2B5EF4-FFF2-40B4-BE49-F238E27FC236}">
                <a16:creationId xmlns:a16="http://schemas.microsoft.com/office/drawing/2014/main" id="{B328E139-24C5-53B9-6185-CF3D0D87B89C}"/>
              </a:ext>
            </a:extLst>
          </p:cNvPr>
          <p:cNvSpPr txBox="1"/>
          <p:nvPr/>
        </p:nvSpPr>
        <p:spPr bwMode="auto">
          <a:xfrm>
            <a:off x="530372" y="2967335"/>
            <a:ext cx="10333888" cy="861774"/>
          </a:xfrm>
          <a:prstGeom prst="rect">
            <a:avLst/>
          </a:prstGeom>
        </p:spPr>
        <p:txBody>
          <a:bodyPr wrap="square" rtlCol="0">
            <a:spAutoFit/>
          </a:bodyPr>
          <a:lstStyle/>
          <a:p>
            <a:r>
              <a:rPr lang="en-IN"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SCENARIO B</a:t>
            </a:r>
            <a:br>
              <a:rPr lang="en-IN" dirty="0">
                <a:latin typeface="Open Sans" panose="020B0606030504020204" pitchFamily="34" charset="0"/>
                <a:ea typeface="Open Sans" panose="020B0606030504020204" pitchFamily="34" charset="0"/>
                <a:cs typeface="Open Sans" panose="020B0606030504020204" pitchFamily="34" charset="0"/>
              </a:rPr>
            </a:br>
            <a:r>
              <a:rPr lang="en-IN" sz="1600" dirty="0">
                <a:latin typeface="Open Sans" panose="020B0606030504020204" pitchFamily="34" charset="0"/>
                <a:ea typeface="Open Sans" panose="020B0606030504020204" pitchFamily="34" charset="0"/>
                <a:cs typeface="Open Sans" panose="020B0606030504020204" pitchFamily="34" charset="0"/>
              </a:rPr>
              <a:t>You have inherited a 3,000-line Python service. A bug is breaking the payment flow. You need to find the source and fix it without touching anything you don't understand.</a:t>
            </a:r>
          </a:p>
        </p:txBody>
      </p:sp>
      <p:sp>
        <p:nvSpPr>
          <p:cNvPr id="27" name="Shape 11">
            <a:extLst>
              <a:ext uri="{FF2B5EF4-FFF2-40B4-BE49-F238E27FC236}">
                <a16:creationId xmlns:a16="http://schemas.microsoft.com/office/drawing/2014/main" id="{73321075-06E7-B286-D4E2-D7056E20EF0A}"/>
              </a:ext>
            </a:extLst>
          </p:cNvPr>
          <p:cNvSpPr/>
          <p:nvPr/>
        </p:nvSpPr>
        <p:spPr>
          <a:xfrm>
            <a:off x="488474" y="4177051"/>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Box 22">
            <a:extLst>
              <a:ext uri="{FF2B5EF4-FFF2-40B4-BE49-F238E27FC236}">
                <a16:creationId xmlns:a16="http://schemas.microsoft.com/office/drawing/2014/main" id="{15404B9A-DAFF-D048-E749-A2467D53AE0F}"/>
              </a:ext>
            </a:extLst>
          </p:cNvPr>
          <p:cNvSpPr txBox="1"/>
          <p:nvPr/>
        </p:nvSpPr>
        <p:spPr bwMode="auto">
          <a:xfrm>
            <a:off x="605364" y="4276218"/>
            <a:ext cx="10333888" cy="861774"/>
          </a:xfrm>
          <a:prstGeom prst="rect">
            <a:avLst/>
          </a:prstGeom>
        </p:spPr>
        <p:txBody>
          <a:bodyPr wrap="square" rtlCol="0">
            <a:spAutoFit/>
          </a:bodyPr>
          <a:lstStyle/>
          <a:p>
            <a:r>
              <a:rPr lang="en-IN"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SCENARIO C</a:t>
            </a:r>
            <a:br>
              <a:rPr lang="en-IN" dirty="0">
                <a:latin typeface="Open Sans" panose="020B0606030504020204" pitchFamily="34" charset="0"/>
                <a:ea typeface="Open Sans" panose="020B0606030504020204" pitchFamily="34" charset="0"/>
                <a:cs typeface="Open Sans" panose="020B0606030504020204" pitchFamily="34" charset="0"/>
              </a:rPr>
            </a:br>
            <a:r>
              <a:rPr lang="en-IN" sz="1600" dirty="0">
                <a:latin typeface="Open Sans" panose="020B0606030504020204" pitchFamily="34" charset="0"/>
                <a:ea typeface="Open Sans" panose="020B0606030504020204" pitchFamily="34" charset="0"/>
                <a:cs typeface="Open Sans" panose="020B0606030504020204" pitchFamily="34" charset="0"/>
              </a:rPr>
              <a:t>You are writing a new data validation function and want line-by-line suggestions as you type, inside your existing editor.</a:t>
            </a:r>
          </a:p>
        </p:txBody>
      </p:sp>
    </p:spTree>
    <p:extLst>
      <p:ext uri="{BB962C8B-B14F-4D97-AF65-F5344CB8AC3E}">
        <p14:creationId xmlns:p14="http://schemas.microsoft.com/office/powerpoint/2010/main" val="3432310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7EC7894C-A804-5B5A-9E28-5DB73D470CC9}"/>
            </a:ext>
          </a:extLst>
        </p:cNvPr>
        <p:cNvGrpSpPr/>
        <p:nvPr/>
      </p:nvGrpSpPr>
      <p:grpSpPr>
        <a:xfrm>
          <a:off x="0" y="0"/>
          <a:ext cx="0" cy="0"/>
          <a:chOff x="0" y="0"/>
          <a:chExt cx="0" cy="0"/>
        </a:xfrm>
      </p:grpSpPr>
      <p:sp>
        <p:nvSpPr>
          <p:cNvPr id="2" name="Shape 1">
            <a:extLst>
              <a:ext uri="{FF2B5EF4-FFF2-40B4-BE49-F238E27FC236}">
                <a16:creationId xmlns:a16="http://schemas.microsoft.com/office/drawing/2014/main" id="{2853E9DD-697C-D39D-AB58-BC84CE5CEB13}"/>
              </a:ext>
            </a:extLst>
          </p:cNvPr>
          <p:cNvSpPr/>
          <p:nvPr/>
        </p:nvSpPr>
        <p:spPr>
          <a:xfrm>
            <a:off x="605363" y="1387993"/>
            <a:ext cx="10981274" cy="2195715"/>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A9D26FF9-9796-EBEC-2ADC-4B81E7B892C7}"/>
              </a:ext>
            </a:extLst>
          </p:cNvPr>
          <p:cNvSpPr txBox="1"/>
          <p:nvPr/>
        </p:nvSpPr>
        <p:spPr bwMode="auto">
          <a:xfrm>
            <a:off x="762381" y="1470187"/>
            <a:ext cx="9118499" cy="2031325"/>
          </a:xfrm>
          <a:prstGeom prst="rect">
            <a:avLst/>
          </a:prstGeom>
        </p:spPr>
        <p:txBody>
          <a:bodyPr wrap="square" rtlCol="0">
            <a:spAutoFit/>
          </a:bodyPr>
          <a:lstStyle/>
          <a:p>
            <a:r>
              <a:rPr lang="en-IN" b="1" dirty="0"/>
              <a:t>What you now have</a:t>
            </a:r>
          </a:p>
          <a:p>
            <a:endParaRPr lang="en-IN" dirty="0"/>
          </a:p>
          <a:p>
            <a:r>
              <a:rPr lang="en-IN" dirty="0">
                <a:solidFill>
                  <a:srgbClr val="00B050"/>
                </a:solidFill>
              </a:rPr>
              <a:t>✓</a:t>
            </a:r>
            <a:r>
              <a:rPr lang="en-IN" dirty="0"/>
              <a:t>  </a:t>
            </a:r>
            <a:r>
              <a:rPr lang="en-IN" sz="1600" dirty="0"/>
              <a:t>A map of the four AI coding tool categories and where each one belongs</a:t>
            </a:r>
          </a:p>
          <a:p>
            <a:endParaRPr lang="en-IN" dirty="0"/>
          </a:p>
          <a:p>
            <a:r>
              <a:rPr lang="en-IN" dirty="0">
                <a:solidFill>
                  <a:srgbClr val="00B050"/>
                </a:solidFill>
              </a:rPr>
              <a:t>✓</a:t>
            </a:r>
            <a:r>
              <a:rPr lang="en-IN" dirty="0"/>
              <a:t>  </a:t>
            </a:r>
            <a:r>
              <a:rPr lang="en-IN" sz="1600" dirty="0"/>
              <a:t>The mental model: fast junior developer — you supervise, you review, you decide</a:t>
            </a:r>
          </a:p>
          <a:p>
            <a:endParaRPr lang="en-IN" dirty="0">
              <a:solidFill>
                <a:srgbClr val="00B050"/>
              </a:solidFill>
            </a:endParaRPr>
          </a:p>
          <a:p>
            <a:r>
              <a:rPr lang="en-IN" dirty="0">
                <a:solidFill>
                  <a:srgbClr val="00B050"/>
                </a:solidFill>
              </a:rPr>
              <a:t>✓  </a:t>
            </a:r>
            <a:r>
              <a:rPr lang="en-IN" sz="1600" dirty="0"/>
              <a:t>A framework for choosing the right tool before you start</a:t>
            </a:r>
          </a:p>
        </p:txBody>
      </p:sp>
      <p:sp>
        <p:nvSpPr>
          <p:cNvPr id="5" name="Title 2">
            <a:extLst>
              <a:ext uri="{FF2B5EF4-FFF2-40B4-BE49-F238E27FC236}">
                <a16:creationId xmlns:a16="http://schemas.microsoft.com/office/drawing/2014/main" id="{BD6A7476-2908-9134-D085-572DEC7C5E40}"/>
              </a:ext>
            </a:extLst>
          </p:cNvPr>
          <p:cNvSpPr txBox="1">
            <a:spLocks/>
          </p:cNvSpPr>
          <p:nvPr/>
        </p:nvSpPr>
        <p:spPr>
          <a:xfrm>
            <a:off x="531473" y="240046"/>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A Quick Recap</a:t>
            </a:r>
          </a:p>
        </p:txBody>
      </p:sp>
      <p:sp>
        <p:nvSpPr>
          <p:cNvPr id="6" name="TextBox 5">
            <a:extLst>
              <a:ext uri="{FF2B5EF4-FFF2-40B4-BE49-F238E27FC236}">
                <a16:creationId xmlns:a16="http://schemas.microsoft.com/office/drawing/2014/main" id="{B6D779CF-1344-42AB-9597-11689D24E5C0}"/>
              </a:ext>
            </a:extLst>
          </p:cNvPr>
          <p:cNvSpPr txBox="1"/>
          <p:nvPr/>
        </p:nvSpPr>
        <p:spPr bwMode="auto">
          <a:xfrm>
            <a:off x="3234479" y="5100675"/>
            <a:ext cx="5723042" cy="369332"/>
          </a:xfrm>
          <a:prstGeom prst="rect">
            <a:avLst/>
          </a:prstGeom>
        </p:spPr>
        <p:txBody>
          <a:bodyPr wrap="none" rtlCol="0">
            <a:spAutoFit/>
          </a:bodyPr>
          <a:lstStyle/>
          <a:p>
            <a:pPr algn="ctr"/>
            <a:r>
              <a:rPr lang="en-IN" i="1" dirty="0"/>
              <a:t>Coming Up — Part 2: Getting Started with Claude Code</a:t>
            </a:r>
            <a:endParaRPr lang="en-US" i="1" dirty="0"/>
          </a:p>
        </p:txBody>
      </p:sp>
    </p:spTree>
    <p:extLst>
      <p:ext uri="{BB962C8B-B14F-4D97-AF65-F5344CB8AC3E}">
        <p14:creationId xmlns:p14="http://schemas.microsoft.com/office/powerpoint/2010/main" val="3656658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27150-FB84-CAD8-39B5-E9BEC3CE6E2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9350FDB-27BC-A141-5574-29B1A088B302}"/>
              </a:ext>
            </a:extLst>
          </p:cNvPr>
          <p:cNvSpPr>
            <a:spLocks noGrp="1"/>
          </p:cNvSpPr>
          <p:nvPr>
            <p:ph type="body" sz="quarter" idx="12"/>
          </p:nvPr>
        </p:nvSpPr>
        <p:spPr>
          <a:xfrm>
            <a:off x="601133" y="2536448"/>
            <a:ext cx="1794933" cy="1785104"/>
          </a:xfrm>
        </p:spPr>
        <p:txBody>
          <a:bodyPr/>
          <a:lstStyle/>
          <a:p>
            <a:r>
              <a:rPr lang="en-US" sz="10600" dirty="0"/>
              <a:t>02</a:t>
            </a:r>
          </a:p>
        </p:txBody>
      </p:sp>
      <p:sp>
        <p:nvSpPr>
          <p:cNvPr id="3" name="Title 2">
            <a:extLst>
              <a:ext uri="{FF2B5EF4-FFF2-40B4-BE49-F238E27FC236}">
                <a16:creationId xmlns:a16="http://schemas.microsoft.com/office/drawing/2014/main" id="{6DA24837-1095-8FCB-A807-AAF8D311187E}"/>
              </a:ext>
            </a:extLst>
          </p:cNvPr>
          <p:cNvSpPr>
            <a:spLocks noGrp="1"/>
          </p:cNvSpPr>
          <p:nvPr>
            <p:ph type="title"/>
          </p:nvPr>
        </p:nvSpPr>
        <p:spPr>
          <a:xfrm>
            <a:off x="2396067" y="1859339"/>
            <a:ext cx="9417242" cy="3139321"/>
          </a:xfrm>
        </p:spPr>
        <p:txBody>
          <a:bodyPr/>
          <a:lstStyle/>
          <a:p>
            <a:r>
              <a:rPr lang="en-IN" sz="6600" dirty="0"/>
              <a:t>GETTING STARTED WITH </a:t>
            </a:r>
            <a:br>
              <a:rPr lang="en-IN" sz="6600" dirty="0"/>
            </a:br>
            <a:r>
              <a:rPr lang="en-IN" sz="6600" dirty="0"/>
              <a:t>CLAUDE CODE</a:t>
            </a:r>
            <a:endParaRPr lang="en-US" sz="6600" dirty="0"/>
          </a:p>
        </p:txBody>
      </p:sp>
    </p:spTree>
    <p:extLst>
      <p:ext uri="{BB962C8B-B14F-4D97-AF65-F5344CB8AC3E}">
        <p14:creationId xmlns:p14="http://schemas.microsoft.com/office/powerpoint/2010/main" val="3129210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0DE5F02A-B1EC-0A55-0AF1-26C8A30B13CE}"/>
            </a:ext>
          </a:extLst>
        </p:cNvPr>
        <p:cNvGrpSpPr/>
        <p:nvPr/>
      </p:nvGrpSpPr>
      <p:grpSpPr>
        <a:xfrm>
          <a:off x="0" y="0"/>
          <a:ext cx="0" cy="0"/>
          <a:chOff x="0" y="0"/>
          <a:chExt cx="0" cy="0"/>
        </a:xfrm>
      </p:grpSpPr>
      <p:sp>
        <p:nvSpPr>
          <p:cNvPr id="8" name="Shape 1">
            <a:extLst>
              <a:ext uri="{FF2B5EF4-FFF2-40B4-BE49-F238E27FC236}">
                <a16:creationId xmlns:a16="http://schemas.microsoft.com/office/drawing/2014/main" id="{A53C0EA5-5569-D5A8-665D-817EF1BF0E43}"/>
              </a:ext>
            </a:extLst>
          </p:cNvPr>
          <p:cNvSpPr/>
          <p:nvPr/>
        </p:nvSpPr>
        <p:spPr>
          <a:xfrm>
            <a:off x="605363" y="1490004"/>
            <a:ext cx="5167364" cy="4005632"/>
          </a:xfrm>
          <a:prstGeom prst="roundRect">
            <a:avLst>
              <a:gd name="adj" fmla="val 8889"/>
            </a:avLst>
          </a:prstGeom>
          <a:solidFill>
            <a:schemeClr val="accent5">
              <a:lumMod val="20000"/>
              <a:lumOff val="80000"/>
            </a:schemeClr>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1">
            <a:extLst>
              <a:ext uri="{FF2B5EF4-FFF2-40B4-BE49-F238E27FC236}">
                <a16:creationId xmlns:a16="http://schemas.microsoft.com/office/drawing/2014/main" id="{AE2651E5-CA8D-3C6C-791A-531E185B66D9}"/>
              </a:ext>
            </a:extLst>
          </p:cNvPr>
          <p:cNvSpPr/>
          <p:nvPr/>
        </p:nvSpPr>
        <p:spPr>
          <a:xfrm>
            <a:off x="6232427" y="1490004"/>
            <a:ext cx="5167364" cy="4005632"/>
          </a:xfrm>
          <a:prstGeom prst="roundRect">
            <a:avLst>
              <a:gd name="adj" fmla="val 8889"/>
            </a:avLst>
          </a:prstGeom>
          <a:solidFill>
            <a:schemeClr val="accent6">
              <a:lumMod val="20000"/>
              <a:lumOff val="80000"/>
            </a:schemeClr>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B0E4976B-0328-550B-CD12-2418B45E08F1}"/>
              </a:ext>
            </a:extLst>
          </p:cNvPr>
          <p:cNvSpPr txBox="1"/>
          <p:nvPr/>
        </p:nvSpPr>
        <p:spPr bwMode="auto">
          <a:xfrm>
            <a:off x="680210" y="1720763"/>
            <a:ext cx="5017671" cy="3192284"/>
          </a:xfrm>
          <a:prstGeom prst="rect">
            <a:avLst/>
          </a:prstGeom>
        </p:spPr>
        <p:txBody>
          <a:bodyPr wrap="square" lIns="91440" tIns="45720" rIns="91440" bIns="45720" rtlCol="0" anchor="t">
            <a:spAutoFit/>
          </a:bodyPr>
          <a:lstStyle/>
          <a:p>
            <a:pPr algn="ctr"/>
            <a:r>
              <a:rPr lang="en-IN" b="1" dirty="0">
                <a:solidFill>
                  <a:schemeClr val="accent2"/>
                </a:solidFill>
              </a:rPr>
              <a:t>Chat Interface (</a:t>
            </a:r>
            <a:r>
              <a:rPr lang="en-IN" b="1" dirty="0" err="1">
                <a:solidFill>
                  <a:schemeClr val="accent2"/>
                </a:solidFill>
              </a:rPr>
              <a:t>Claude.ai</a:t>
            </a:r>
            <a:r>
              <a:rPr lang="en-IN" b="1" dirty="0">
                <a:solidFill>
                  <a:schemeClr val="accent2"/>
                </a:solidFill>
              </a:rPr>
              <a:t>, ChatGPT)</a:t>
            </a:r>
          </a:p>
          <a:p>
            <a:endParaRPr lang="en-IN" dirty="0"/>
          </a:p>
          <a:p>
            <a:pPr marL="285750" indent="-285750">
              <a:lnSpc>
                <a:spcPct val="150000"/>
              </a:lnSpc>
              <a:buFont typeface="Arial" panose="020B0604020202020204" pitchFamily="34" charset="0"/>
              <a:buChar char="•"/>
            </a:pPr>
            <a:r>
              <a:rPr lang="en-IN" sz="1600" dirty="0"/>
              <a:t>You paste code in. Claude responds in text. You copy the output back manually.</a:t>
            </a:r>
          </a:p>
          <a:p>
            <a:pPr marL="285750" indent="-285750">
              <a:lnSpc>
                <a:spcPct val="150000"/>
              </a:lnSpc>
              <a:buFont typeface="Arial" panose="020B0604020202020204" pitchFamily="34" charset="0"/>
              <a:buChar char="•"/>
            </a:pPr>
            <a:r>
              <a:rPr lang="en-IN" sz="1600" dirty="0"/>
              <a:t>Claude has no access to your files.</a:t>
            </a:r>
          </a:p>
          <a:p>
            <a:pPr marL="285750" indent="-285750">
              <a:lnSpc>
                <a:spcPct val="150000"/>
              </a:lnSpc>
              <a:buFont typeface="Arial" panose="020B0604020202020204" pitchFamily="34" charset="0"/>
              <a:buChar char="•"/>
            </a:pPr>
            <a:r>
              <a:rPr lang="en-IN" sz="1600" dirty="0"/>
              <a:t>Every conversation starts fresh — no memory of your project.</a:t>
            </a:r>
          </a:p>
          <a:p>
            <a:pPr marL="285750" indent="-285750">
              <a:lnSpc>
                <a:spcPct val="150000"/>
              </a:lnSpc>
              <a:buFont typeface="Arial" panose="020B0604020202020204" pitchFamily="34" charset="0"/>
              <a:buChar char="•"/>
            </a:pPr>
            <a:r>
              <a:rPr lang="en-IN" sz="1600" dirty="0"/>
              <a:t>Best for: </a:t>
            </a:r>
            <a:r>
              <a:rPr lang="en-IN" sz="1600" b="1" dirty="0"/>
              <a:t>questions, explanations, one-off tasks.</a:t>
            </a:r>
            <a:endParaRPr lang="en-IN" sz="1600" b="1" dirty="0">
              <a:ea typeface="Open Sans"/>
              <a:cs typeface="Open Sans"/>
            </a:endParaRPr>
          </a:p>
        </p:txBody>
      </p:sp>
      <p:sp>
        <p:nvSpPr>
          <p:cNvPr id="5" name="Title 2">
            <a:extLst>
              <a:ext uri="{FF2B5EF4-FFF2-40B4-BE49-F238E27FC236}">
                <a16:creationId xmlns:a16="http://schemas.microsoft.com/office/drawing/2014/main" id="{8FA3B92C-807D-E278-5C81-FDB950350570}"/>
              </a:ext>
            </a:extLst>
          </p:cNvPr>
          <p:cNvSpPr txBox="1">
            <a:spLocks/>
          </p:cNvSpPr>
          <p:nvPr/>
        </p:nvSpPr>
        <p:spPr>
          <a:xfrm>
            <a:off x="508829" y="240046"/>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Claude Code vs. Chat — The Key Difference</a:t>
            </a:r>
          </a:p>
        </p:txBody>
      </p:sp>
      <p:sp>
        <p:nvSpPr>
          <p:cNvPr id="10" name="Shape 19">
            <a:extLst>
              <a:ext uri="{FF2B5EF4-FFF2-40B4-BE49-F238E27FC236}">
                <a16:creationId xmlns:a16="http://schemas.microsoft.com/office/drawing/2014/main" id="{F88C7185-268C-2176-1B5A-BD4635369B3D}"/>
              </a:ext>
            </a:extLst>
          </p:cNvPr>
          <p:cNvSpPr/>
          <p:nvPr/>
        </p:nvSpPr>
        <p:spPr>
          <a:xfrm>
            <a:off x="605362" y="5712807"/>
            <a:ext cx="10981273" cy="64633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6" name="TextBox 5">
            <a:extLst>
              <a:ext uri="{FF2B5EF4-FFF2-40B4-BE49-F238E27FC236}">
                <a16:creationId xmlns:a16="http://schemas.microsoft.com/office/drawing/2014/main" id="{8291CC39-8307-116D-10A9-FB6A961EC1D6}"/>
              </a:ext>
            </a:extLst>
          </p:cNvPr>
          <p:cNvSpPr txBox="1"/>
          <p:nvPr/>
        </p:nvSpPr>
        <p:spPr bwMode="auto">
          <a:xfrm>
            <a:off x="605365" y="5774362"/>
            <a:ext cx="10661726" cy="523220"/>
          </a:xfrm>
          <a:prstGeom prst="rect">
            <a:avLst/>
          </a:prstGeom>
        </p:spPr>
        <p:txBody>
          <a:bodyPr wrap="square" lIns="91440" tIns="45720" rIns="91440" bIns="45720" rtlCol="0" anchor="t">
            <a:spAutoFit/>
          </a:bodyPr>
          <a:lstStyle/>
          <a:p>
            <a:r>
              <a:rPr lang="en-IN" sz="1400" b="1" dirty="0">
                <a:latin typeface="Open Sans" panose="020B0606030504020204" pitchFamily="34" charset="0"/>
                <a:ea typeface="Open Sans" panose="020B0606030504020204" pitchFamily="34" charset="0"/>
                <a:cs typeface="Open Sans" panose="020B0606030504020204" pitchFamily="34" charset="0"/>
              </a:rPr>
              <a:t>THE CRITICAL DIFFERENCE: </a:t>
            </a:r>
            <a:r>
              <a:rPr lang="en-IN" sz="1400" dirty="0">
                <a:latin typeface="Open Sans" panose="020B0606030504020204" pitchFamily="34" charset="0"/>
                <a:ea typeface="Open Sans" panose="020B0606030504020204" pitchFamily="34" charset="0"/>
                <a:cs typeface="Open Sans" panose="020B0606030504020204" pitchFamily="34" charset="0"/>
              </a:rPr>
              <a:t>Claude Code acts on your project (new or existing). A chat tool advises on it. One reads your files. The other doesn't know they exist.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F62CC7F3-E731-CFB4-8AA3-794DE5BE1391}"/>
              </a:ext>
            </a:extLst>
          </p:cNvPr>
          <p:cNvSpPr txBox="1"/>
          <p:nvPr/>
        </p:nvSpPr>
        <p:spPr bwMode="auto">
          <a:xfrm>
            <a:off x="6307274" y="1720762"/>
            <a:ext cx="5017671" cy="3561616"/>
          </a:xfrm>
          <a:prstGeom prst="rect">
            <a:avLst/>
          </a:prstGeom>
        </p:spPr>
        <p:txBody>
          <a:bodyPr wrap="square" lIns="91440" tIns="45720" rIns="91440" bIns="45720" rtlCol="0" anchor="t">
            <a:spAutoFit/>
          </a:bodyPr>
          <a:lstStyle/>
          <a:p>
            <a:pPr algn="ctr"/>
            <a:r>
              <a:rPr lang="en-IN" b="1" dirty="0">
                <a:solidFill>
                  <a:schemeClr val="accent1"/>
                </a:solidFill>
              </a:rPr>
              <a:t>Claude Code (Terminal)</a:t>
            </a:r>
          </a:p>
          <a:p>
            <a:endParaRPr lang="en-IN" dirty="0"/>
          </a:p>
          <a:p>
            <a:pPr marL="285750" indent="-285750">
              <a:lnSpc>
                <a:spcPct val="150000"/>
              </a:lnSpc>
              <a:buFont typeface="Arial" panose="020B0604020202020204" pitchFamily="34" charset="0"/>
              <a:buChar char="•"/>
            </a:pPr>
            <a:r>
              <a:rPr lang="en-IN" sz="1600" dirty="0"/>
              <a:t>Claude runs in your terminal and reads your files directly.</a:t>
            </a:r>
          </a:p>
          <a:p>
            <a:pPr marL="285750" indent="-285750">
              <a:lnSpc>
                <a:spcPct val="150000"/>
              </a:lnSpc>
              <a:buFont typeface="Arial" panose="020B0604020202020204" pitchFamily="34" charset="0"/>
              <a:buChar char="•"/>
            </a:pPr>
            <a:r>
              <a:rPr lang="en-IN" sz="1600" dirty="0"/>
              <a:t>It proposes changes as diffs — you accept or reject each one.</a:t>
            </a:r>
          </a:p>
          <a:p>
            <a:pPr marL="285750" indent="-285750">
              <a:lnSpc>
                <a:spcPct val="150000"/>
              </a:lnSpc>
              <a:buFont typeface="Arial" panose="020B0604020202020204" pitchFamily="34" charset="0"/>
              <a:buChar char="•"/>
            </a:pPr>
            <a:r>
              <a:rPr lang="en-IN" sz="1600" dirty="0"/>
              <a:t>It can execute commands on your machine, with your approval.</a:t>
            </a:r>
          </a:p>
          <a:p>
            <a:pPr marL="285750" indent="-285750">
              <a:lnSpc>
                <a:spcPct val="150000"/>
              </a:lnSpc>
              <a:buFont typeface="Arial" panose="020B0604020202020204" pitchFamily="34" charset="0"/>
              <a:buChar char="•"/>
            </a:pPr>
            <a:r>
              <a:rPr lang="en-IN" sz="1600" dirty="0"/>
              <a:t>Best for: </a:t>
            </a:r>
            <a:r>
              <a:rPr lang="en-IN" sz="1600" b="1" dirty="0"/>
              <a:t>building, editing, and navigating real projects.</a:t>
            </a:r>
            <a:endParaRPr lang="en-IN" sz="1600" b="1" dirty="0">
              <a:ea typeface="Open Sans"/>
              <a:cs typeface="Open Sans"/>
            </a:endParaRPr>
          </a:p>
        </p:txBody>
      </p:sp>
    </p:spTree>
    <p:extLst>
      <p:ext uri="{BB962C8B-B14F-4D97-AF65-F5344CB8AC3E}">
        <p14:creationId xmlns:p14="http://schemas.microsoft.com/office/powerpoint/2010/main" val="1016149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AA7DC710-9F1C-2E28-881C-1249E41F631F}"/>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A50A70AD-A385-9DC2-E835-1860B329673B}"/>
              </a:ext>
            </a:extLst>
          </p:cNvPr>
          <p:cNvSpPr txBox="1">
            <a:spLocks/>
          </p:cNvSpPr>
          <p:nvPr/>
        </p:nvSpPr>
        <p:spPr>
          <a:xfrm>
            <a:off x="499593" y="234289"/>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US" dirty="0"/>
              <a:t>How Coding Assistants Work</a:t>
            </a:r>
          </a:p>
        </p:txBody>
      </p:sp>
      <p:sp>
        <p:nvSpPr>
          <p:cNvPr id="6" name="TextBox 5">
            <a:extLst>
              <a:ext uri="{FF2B5EF4-FFF2-40B4-BE49-F238E27FC236}">
                <a16:creationId xmlns:a16="http://schemas.microsoft.com/office/drawing/2014/main" id="{2C792E78-ABB4-B9CC-6351-4AE68ACFC82B}"/>
              </a:ext>
            </a:extLst>
          </p:cNvPr>
          <p:cNvSpPr txBox="1"/>
          <p:nvPr/>
        </p:nvSpPr>
        <p:spPr bwMode="auto">
          <a:xfrm>
            <a:off x="765137" y="5275660"/>
            <a:ext cx="10661726" cy="738664"/>
          </a:xfrm>
          <a:prstGeom prst="rect">
            <a:avLst/>
          </a:prstGeom>
        </p:spPr>
        <p:txBody>
          <a:bodyPr wrap="square" lIns="91440" tIns="45720" rIns="91440" bIns="45720" rtlCol="0" anchor="t">
            <a:spAutoFit/>
          </a:bodyPr>
          <a:lstStyle/>
          <a:p>
            <a:r>
              <a:rPr lang="en-US" sz="1400" dirty="0"/>
              <a:t>A coding assistant is more than just a tool that writes code - it's a sophisticated system that uses language models to tackle complex programming tasks. Understanding how these assistants work behind the scenes will help you appreciate what makes a truly powerful coding companion. </a:t>
            </a:r>
          </a:p>
        </p:txBody>
      </p:sp>
      <p:pic>
        <p:nvPicPr>
          <p:cNvPr id="4" name="Picture 3">
            <a:extLst>
              <a:ext uri="{FF2B5EF4-FFF2-40B4-BE49-F238E27FC236}">
                <a16:creationId xmlns:a16="http://schemas.microsoft.com/office/drawing/2014/main" id="{4E69980B-D4AA-2B6E-B3A4-98C7D8200C9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1388030"/>
            <a:ext cx="5943600" cy="3343275"/>
          </a:xfrm>
          <a:prstGeom prst="rect">
            <a:avLst/>
          </a:prstGeom>
          <a:noFill/>
          <a:ln w="19050">
            <a:solidFill>
              <a:schemeClr val="accent1"/>
            </a:solidFill>
          </a:ln>
        </p:spPr>
      </p:pic>
    </p:spTree>
    <p:extLst>
      <p:ext uri="{BB962C8B-B14F-4D97-AF65-F5344CB8AC3E}">
        <p14:creationId xmlns:p14="http://schemas.microsoft.com/office/powerpoint/2010/main" val="1862726384"/>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05D51-FFAC-75C8-A222-79546867278B}"/>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1A0CCB92-7C29-8814-556A-997FC3AD10FC}"/>
              </a:ext>
            </a:extLst>
          </p:cNvPr>
          <p:cNvSpPr/>
          <p:nvPr/>
        </p:nvSpPr>
        <p:spPr>
          <a:xfrm>
            <a:off x="6096000" y="1478800"/>
            <a:ext cx="5694826" cy="3300248"/>
          </a:xfrm>
          <a:prstGeom prst="roundRect">
            <a:avLst>
              <a:gd name="adj" fmla="val 6463"/>
            </a:avLst>
          </a:prstGeom>
          <a:solidFill>
            <a:schemeClr val="accent6">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IN" b="1" dirty="0">
                <a:solidFill>
                  <a:schemeClr val="accent1"/>
                </a:solidFill>
              </a:rPr>
              <a:t>Where Claude Requires your approval</a:t>
            </a:r>
            <a:endParaRPr lang="en-US" b="1" dirty="0">
              <a:solidFill>
                <a:schemeClr val="accent1"/>
              </a:solidFill>
            </a:endParaRPr>
          </a:p>
        </p:txBody>
      </p:sp>
      <p:sp>
        <p:nvSpPr>
          <p:cNvPr id="5" name="Rounded Rectangle 4">
            <a:extLst>
              <a:ext uri="{FF2B5EF4-FFF2-40B4-BE49-F238E27FC236}">
                <a16:creationId xmlns:a16="http://schemas.microsoft.com/office/drawing/2014/main" id="{00D9DCA3-8BE5-BD27-80A6-CA27E56E7D33}"/>
              </a:ext>
            </a:extLst>
          </p:cNvPr>
          <p:cNvSpPr/>
          <p:nvPr/>
        </p:nvSpPr>
        <p:spPr>
          <a:xfrm>
            <a:off x="326711" y="1478800"/>
            <a:ext cx="5694826" cy="3300248"/>
          </a:xfrm>
          <a:prstGeom prst="roundRect">
            <a:avLst>
              <a:gd name="adj" fmla="val 6463"/>
            </a:avLst>
          </a:prstGeom>
          <a:solidFill>
            <a:schemeClr val="accent5">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dirty="0">
                <a:solidFill>
                  <a:schemeClr val="accent2"/>
                </a:solidFill>
              </a:rPr>
              <a:t>What Claude Does - Autonomous</a:t>
            </a:r>
            <a:endParaRPr lang="en-US" b="1" dirty="0">
              <a:solidFill>
                <a:schemeClr val="accent2"/>
              </a:solidFill>
              <a:ea typeface="Open Sans"/>
              <a:cs typeface="Open Sans"/>
            </a:endParaRPr>
          </a:p>
        </p:txBody>
      </p:sp>
      <p:sp>
        <p:nvSpPr>
          <p:cNvPr id="3" name="Title 2">
            <a:extLst>
              <a:ext uri="{FF2B5EF4-FFF2-40B4-BE49-F238E27FC236}">
                <a16:creationId xmlns:a16="http://schemas.microsoft.com/office/drawing/2014/main" id="{9B8B0CFE-5404-E910-93D6-7B1F4848B630}"/>
              </a:ext>
            </a:extLst>
          </p:cNvPr>
          <p:cNvSpPr>
            <a:spLocks noGrp="1"/>
          </p:cNvSpPr>
          <p:nvPr>
            <p:ph type="title"/>
          </p:nvPr>
        </p:nvSpPr>
        <p:spPr>
          <a:xfrm>
            <a:off x="521562" y="235635"/>
            <a:ext cx="10854797" cy="646331"/>
          </a:xfrm>
        </p:spPr>
        <p:txBody>
          <a:bodyPr wrap="square" lIns="91440" tIns="45720" rIns="91440" bIns="45720" anchor="t">
            <a:spAutoFit/>
          </a:bodyPr>
          <a:lstStyle/>
          <a:p>
            <a:r>
              <a:rPr lang="en-IN" sz="3600" dirty="0">
                <a:ea typeface="Open Sans"/>
                <a:cs typeface="Open Sans"/>
              </a:rPr>
              <a:t>That Doesn’t Mean It Has All The Permissions</a:t>
            </a:r>
          </a:p>
        </p:txBody>
      </p:sp>
      <p:sp>
        <p:nvSpPr>
          <p:cNvPr id="16" name="Rounded Rectangle 15">
            <a:extLst>
              <a:ext uri="{FF2B5EF4-FFF2-40B4-BE49-F238E27FC236}">
                <a16:creationId xmlns:a16="http://schemas.microsoft.com/office/drawing/2014/main" id="{045CE3A7-D958-FAB7-7C11-FEB8F9833922}"/>
              </a:ext>
            </a:extLst>
          </p:cNvPr>
          <p:cNvSpPr/>
          <p:nvPr/>
        </p:nvSpPr>
        <p:spPr>
          <a:xfrm>
            <a:off x="453724" y="2057249"/>
            <a:ext cx="2669762" cy="2648224"/>
          </a:xfrm>
          <a:prstGeom prst="roundRect">
            <a:avLst>
              <a:gd name="adj" fmla="val 7126"/>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b="1" dirty="0">
                <a:solidFill>
                  <a:schemeClr val="accent2"/>
                </a:solidFill>
              </a:rPr>
              <a:t>READ</a:t>
            </a:r>
          </a:p>
          <a:p>
            <a:br>
              <a:rPr lang="en-IN" dirty="0">
                <a:solidFill>
                  <a:schemeClr val="tx1"/>
                </a:solidFill>
              </a:rPr>
            </a:br>
            <a:r>
              <a:rPr lang="en-IN" sz="1400" dirty="0">
                <a:solidFill>
                  <a:schemeClr val="tx1"/>
                </a:solidFill>
              </a:rPr>
              <a:t>Claude reads your files and scans your project structure without asking. This is how it understands context.</a:t>
            </a:r>
          </a:p>
          <a:p>
            <a:br>
              <a:rPr lang="en-IN" sz="1400" dirty="0">
                <a:solidFill>
                  <a:schemeClr val="tx1"/>
                </a:solidFill>
              </a:rPr>
            </a:br>
            <a:r>
              <a:rPr lang="en-IN" sz="1400" i="1" dirty="0">
                <a:solidFill>
                  <a:schemeClr val="tx1"/>
                </a:solidFill>
              </a:rPr>
              <a:t>You see: file names listed as Claude scans them.</a:t>
            </a:r>
            <a:endParaRPr lang="en-US" sz="1400" dirty="0">
              <a:solidFill>
                <a:schemeClr val="tx1"/>
              </a:solidFill>
            </a:endParaRPr>
          </a:p>
        </p:txBody>
      </p:sp>
      <p:sp>
        <p:nvSpPr>
          <p:cNvPr id="17" name="Rounded Rectangle 16">
            <a:extLst>
              <a:ext uri="{FF2B5EF4-FFF2-40B4-BE49-F238E27FC236}">
                <a16:creationId xmlns:a16="http://schemas.microsoft.com/office/drawing/2014/main" id="{D718FD5E-7E8A-EAC4-B365-0295AA938AED}"/>
              </a:ext>
            </a:extLst>
          </p:cNvPr>
          <p:cNvSpPr/>
          <p:nvPr/>
        </p:nvSpPr>
        <p:spPr>
          <a:xfrm>
            <a:off x="3224362" y="2057249"/>
            <a:ext cx="2669762" cy="2648224"/>
          </a:xfrm>
          <a:prstGeom prst="roundRect">
            <a:avLst>
              <a:gd name="adj" fmla="val 7126"/>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b="1" dirty="0">
                <a:solidFill>
                  <a:schemeClr val="accent2"/>
                </a:solidFill>
              </a:rPr>
              <a:t>PROPOSE</a:t>
            </a:r>
          </a:p>
          <a:p>
            <a:br>
              <a:rPr lang="en-IN" dirty="0">
                <a:solidFill>
                  <a:schemeClr val="tx1"/>
                </a:solidFill>
              </a:rPr>
            </a:br>
            <a:r>
              <a:rPr lang="en-IN" sz="1400" dirty="0">
                <a:solidFill>
                  <a:schemeClr val="tx1"/>
                </a:solidFill>
              </a:rPr>
              <a:t>Claude generates code changes and shows them as diffs. It writes — but does not save — until you decide.</a:t>
            </a:r>
          </a:p>
          <a:p>
            <a:br>
              <a:rPr lang="en-IN" sz="1400" dirty="0">
                <a:solidFill>
                  <a:schemeClr val="tx1"/>
                </a:solidFill>
              </a:rPr>
            </a:br>
            <a:r>
              <a:rPr lang="en-IN" sz="1400" i="1" dirty="0">
                <a:solidFill>
                  <a:schemeClr val="tx1"/>
                </a:solidFill>
              </a:rPr>
              <a:t>You see: the proposed change before anything is applied.</a:t>
            </a:r>
            <a:endParaRPr lang="en-US" sz="1400" dirty="0">
              <a:solidFill>
                <a:schemeClr val="tx1"/>
              </a:solidFill>
            </a:endParaRPr>
          </a:p>
        </p:txBody>
      </p:sp>
      <p:sp>
        <p:nvSpPr>
          <p:cNvPr id="19" name="Rounded Rectangle 18">
            <a:extLst>
              <a:ext uri="{FF2B5EF4-FFF2-40B4-BE49-F238E27FC236}">
                <a16:creationId xmlns:a16="http://schemas.microsoft.com/office/drawing/2014/main" id="{3BA0E016-1993-C170-077C-06C9ADCBDB85}"/>
              </a:ext>
            </a:extLst>
          </p:cNvPr>
          <p:cNvSpPr/>
          <p:nvPr/>
        </p:nvSpPr>
        <p:spPr>
          <a:xfrm>
            <a:off x="6205200" y="2057249"/>
            <a:ext cx="2669762" cy="2648224"/>
          </a:xfrm>
          <a:prstGeom prst="roundRect">
            <a:avLst>
              <a:gd name="adj" fmla="val 7126"/>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b="1" dirty="0">
                <a:solidFill>
                  <a:schemeClr val="accent1"/>
                </a:solidFill>
              </a:rPr>
              <a:t>EDIT</a:t>
            </a:r>
            <a:br>
              <a:rPr lang="en-IN" dirty="0">
                <a:solidFill>
                  <a:schemeClr val="tx1"/>
                </a:solidFill>
              </a:rPr>
            </a:br>
            <a:endParaRPr lang="en-IN" dirty="0">
              <a:solidFill>
                <a:schemeClr val="tx1"/>
              </a:solidFill>
            </a:endParaRPr>
          </a:p>
          <a:p>
            <a:r>
              <a:rPr lang="en-IN" sz="1400" dirty="0">
                <a:solidFill>
                  <a:schemeClr val="tx1"/>
                </a:solidFill>
              </a:rPr>
              <a:t>Claude applies changes to your files only after you confirm. Press Y to accept, N to reject.</a:t>
            </a:r>
          </a:p>
          <a:p>
            <a:br>
              <a:rPr lang="en-IN" sz="1400" dirty="0">
                <a:solidFill>
                  <a:schemeClr val="tx1"/>
                </a:solidFill>
              </a:rPr>
            </a:br>
            <a:r>
              <a:rPr lang="en-IN" sz="1400" i="1" dirty="0">
                <a:solidFill>
                  <a:schemeClr val="tx1"/>
                </a:solidFill>
              </a:rPr>
              <a:t>You control: every write to disk.</a:t>
            </a:r>
            <a:endParaRPr lang="en-US" sz="1400" dirty="0">
              <a:solidFill>
                <a:schemeClr val="tx1"/>
              </a:solidFill>
            </a:endParaRPr>
          </a:p>
        </p:txBody>
      </p:sp>
      <p:sp>
        <p:nvSpPr>
          <p:cNvPr id="2" name="Rounded Rectangle 1">
            <a:extLst>
              <a:ext uri="{FF2B5EF4-FFF2-40B4-BE49-F238E27FC236}">
                <a16:creationId xmlns:a16="http://schemas.microsoft.com/office/drawing/2014/main" id="{ED740F81-E6A9-256B-A327-6DE9F491A2FA}"/>
              </a:ext>
            </a:extLst>
          </p:cNvPr>
          <p:cNvSpPr/>
          <p:nvPr/>
        </p:nvSpPr>
        <p:spPr>
          <a:xfrm>
            <a:off x="8996857" y="2057249"/>
            <a:ext cx="2669762" cy="2648224"/>
          </a:xfrm>
          <a:prstGeom prst="roundRect">
            <a:avLst>
              <a:gd name="adj" fmla="val 7126"/>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b="1" dirty="0">
                <a:solidFill>
                  <a:schemeClr val="accent1"/>
                </a:solidFill>
              </a:rPr>
              <a:t>EXECUTE</a:t>
            </a:r>
          </a:p>
          <a:p>
            <a:br>
              <a:rPr lang="en-IN" dirty="0">
                <a:solidFill>
                  <a:schemeClr val="tx1"/>
                </a:solidFill>
              </a:rPr>
            </a:br>
            <a:r>
              <a:rPr lang="en-IN" sz="1400" dirty="0">
                <a:solidFill>
                  <a:schemeClr val="tx1"/>
                </a:solidFill>
              </a:rPr>
              <a:t>Claude runs terminal commands only after showing you what it intends to run and waiting for your go-ahead.</a:t>
            </a:r>
          </a:p>
          <a:p>
            <a:br>
              <a:rPr lang="en-IN" sz="1400" dirty="0">
                <a:solidFill>
                  <a:schemeClr val="tx1"/>
                </a:solidFill>
              </a:rPr>
            </a:br>
            <a:r>
              <a:rPr lang="en-IN" sz="1400" i="1" dirty="0">
                <a:solidFill>
                  <a:schemeClr val="tx1"/>
                </a:solidFill>
              </a:rPr>
              <a:t>You control: every command that runs on your machine.</a:t>
            </a:r>
            <a:endParaRPr lang="en-IN" sz="1400" dirty="0">
              <a:solidFill>
                <a:schemeClr val="tx1"/>
              </a:solidFill>
            </a:endParaRPr>
          </a:p>
        </p:txBody>
      </p:sp>
      <p:sp>
        <p:nvSpPr>
          <p:cNvPr id="7" name="Shape 19">
            <a:extLst>
              <a:ext uri="{FF2B5EF4-FFF2-40B4-BE49-F238E27FC236}">
                <a16:creationId xmlns:a16="http://schemas.microsoft.com/office/drawing/2014/main" id="{74720F53-33CF-5873-F318-409B52F87B39}"/>
              </a:ext>
            </a:extLst>
          </p:cNvPr>
          <p:cNvSpPr/>
          <p:nvPr/>
        </p:nvSpPr>
        <p:spPr>
          <a:xfrm>
            <a:off x="605362" y="5357497"/>
            <a:ext cx="10981273" cy="64633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4" name="TextBox 3">
            <a:extLst>
              <a:ext uri="{FF2B5EF4-FFF2-40B4-BE49-F238E27FC236}">
                <a16:creationId xmlns:a16="http://schemas.microsoft.com/office/drawing/2014/main" id="{6C5777EF-5284-A171-0EEF-2CB35C7853E6}"/>
              </a:ext>
            </a:extLst>
          </p:cNvPr>
          <p:cNvSpPr txBox="1"/>
          <p:nvPr/>
        </p:nvSpPr>
        <p:spPr bwMode="auto">
          <a:xfrm>
            <a:off x="1078304" y="5526774"/>
            <a:ext cx="9886465" cy="307777"/>
          </a:xfrm>
          <a:prstGeom prst="rect">
            <a:avLst/>
          </a:prstGeom>
        </p:spPr>
        <p:txBody>
          <a:bodyPr wrap="square" rtlCol="0">
            <a:spAutoFit/>
          </a:bodyPr>
          <a:lstStyle/>
          <a:p>
            <a:r>
              <a:rPr lang="en-IN" sz="1400" b="1" dirty="0"/>
              <a:t>THE PRINCIPLE: </a:t>
            </a:r>
            <a:r>
              <a:rPr lang="en-IN" sz="1400" dirty="0"/>
              <a:t>Claude proposes. You decide. Nothing changes on your machine without your explicit approval.</a:t>
            </a:r>
            <a:endParaRPr lang="en-US" sz="1400" dirty="0"/>
          </a:p>
        </p:txBody>
      </p:sp>
    </p:spTree>
    <p:extLst>
      <p:ext uri="{BB962C8B-B14F-4D97-AF65-F5344CB8AC3E}">
        <p14:creationId xmlns:p14="http://schemas.microsoft.com/office/powerpoint/2010/main" val="1242236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66D659-238A-F0FE-4D0F-1ADC9A77A5B1}"/>
              </a:ext>
            </a:extLst>
          </p:cNvPr>
          <p:cNvSpPr>
            <a:spLocks noGrp="1"/>
          </p:cNvSpPr>
          <p:nvPr>
            <p:ph type="title"/>
          </p:nvPr>
        </p:nvSpPr>
        <p:spPr>
          <a:xfrm>
            <a:off x="503201" y="224952"/>
            <a:ext cx="11180800" cy="646331"/>
          </a:xfrm>
        </p:spPr>
        <p:txBody>
          <a:bodyPr wrap="square" lIns="91440" tIns="45720" rIns="91440" bIns="45720" anchor="t">
            <a:spAutoFit/>
          </a:bodyPr>
          <a:lstStyle/>
          <a:p>
            <a:r>
              <a:rPr lang="en-IN" sz="3600" dirty="0">
                <a:ea typeface="Open Sans"/>
                <a:cs typeface="Open Sans"/>
              </a:rPr>
              <a:t>Context Is Everything for Coding Assistants</a:t>
            </a:r>
            <a:endParaRPr lang="en-US" sz="3600" dirty="0"/>
          </a:p>
        </p:txBody>
      </p:sp>
      <p:sp>
        <p:nvSpPr>
          <p:cNvPr id="7" name="TextBox 6">
            <a:extLst>
              <a:ext uri="{FF2B5EF4-FFF2-40B4-BE49-F238E27FC236}">
                <a16:creationId xmlns:a16="http://schemas.microsoft.com/office/drawing/2014/main" id="{DED67E3F-0ADA-9919-1D4A-2EFE7EB0F457}"/>
              </a:ext>
            </a:extLst>
          </p:cNvPr>
          <p:cNvSpPr txBox="1"/>
          <p:nvPr/>
        </p:nvSpPr>
        <p:spPr bwMode="auto">
          <a:xfrm>
            <a:off x="605364" y="1142898"/>
            <a:ext cx="9960740" cy="338554"/>
          </a:xfrm>
          <a:prstGeom prst="rect">
            <a:avLst/>
          </a:prstGeom>
        </p:spPr>
        <p:txBody>
          <a:bodyPr wrap="none" rtlCol="0">
            <a:spAutoFit/>
          </a:bodyPr>
          <a:lstStyle/>
          <a:p>
            <a:r>
              <a:rPr lang="en-IN" sz="1600" dirty="0"/>
              <a:t>You can run Claude Code. You know the commands. But Claude still knows nothing about your project.</a:t>
            </a:r>
            <a:endParaRPr lang="en-US" sz="1600" dirty="0"/>
          </a:p>
        </p:txBody>
      </p:sp>
      <p:sp>
        <p:nvSpPr>
          <p:cNvPr id="3" name="Shape 2">
            <a:extLst>
              <a:ext uri="{FF2B5EF4-FFF2-40B4-BE49-F238E27FC236}">
                <a16:creationId xmlns:a16="http://schemas.microsoft.com/office/drawing/2014/main" id="{6D3AE0CF-C762-382B-67EB-2D7C484EAA1A}"/>
              </a:ext>
            </a:extLst>
          </p:cNvPr>
          <p:cNvSpPr/>
          <p:nvPr/>
        </p:nvSpPr>
        <p:spPr>
          <a:xfrm>
            <a:off x="605362" y="1780775"/>
            <a:ext cx="10981273" cy="2400972"/>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a:extLst>
              <a:ext uri="{FF2B5EF4-FFF2-40B4-BE49-F238E27FC236}">
                <a16:creationId xmlns:a16="http://schemas.microsoft.com/office/drawing/2014/main" id="{1744C61B-1EF2-53A0-DDF9-5A76B7F6FDDF}"/>
              </a:ext>
            </a:extLst>
          </p:cNvPr>
          <p:cNvSpPr txBox="1"/>
          <p:nvPr/>
        </p:nvSpPr>
        <p:spPr bwMode="auto">
          <a:xfrm>
            <a:off x="756746" y="2073320"/>
            <a:ext cx="10604938" cy="1815882"/>
          </a:xfrm>
          <a:prstGeom prst="rect">
            <a:avLst/>
          </a:prstGeom>
        </p:spPr>
        <p:txBody>
          <a:bodyPr wrap="square" rtlCol="0">
            <a:spAutoFit/>
          </a:bodyPr>
          <a:lstStyle/>
          <a:p>
            <a:pPr marL="285750" indent="-285750">
              <a:buFont typeface="Arial" panose="020B0604020202020204" pitchFamily="34" charset="0"/>
              <a:buChar char="•"/>
            </a:pPr>
            <a:r>
              <a:rPr lang="en-IN" sz="1400"/>
              <a:t>Claude Code is not a magic box — it works on exactly what you give it</a:t>
            </a:r>
          </a:p>
          <a:p>
            <a:pPr marL="285750" indent="-285750">
              <a:buFont typeface="Arial" panose="020B0604020202020204" pitchFamily="34" charset="0"/>
              <a:buChar char="•"/>
            </a:pPr>
            <a:endParaRPr lang="en-IN" sz="1400"/>
          </a:p>
          <a:p>
            <a:pPr marL="285750" indent="-285750">
              <a:buFont typeface="Arial" panose="020B0604020202020204" pitchFamily="34" charset="0"/>
              <a:buChar char="•"/>
            </a:pPr>
            <a:r>
              <a:rPr lang="en-IN" sz="1400"/>
              <a:t>Every session starts cold — no memory of what you built yesterday, no knowledge of what not to touch, no understanding of how your team works</a:t>
            </a:r>
          </a:p>
          <a:p>
            <a:pPr marL="285750" indent="-285750">
              <a:buFont typeface="Arial" panose="020B0604020202020204" pitchFamily="34" charset="0"/>
              <a:buChar char="•"/>
            </a:pPr>
            <a:endParaRPr lang="en-IN" sz="1400"/>
          </a:p>
          <a:p>
            <a:pPr marL="285750" indent="-285750">
              <a:buFont typeface="Arial" panose="020B0604020202020204" pitchFamily="34" charset="0"/>
              <a:buChar char="•"/>
            </a:pPr>
            <a:r>
              <a:rPr lang="en-IN" sz="1400"/>
              <a:t>Give it a vague brief and it produces reasonable-looking code that solves the wrong problem</a:t>
            </a:r>
          </a:p>
          <a:p>
            <a:pPr marL="285750" indent="-285750">
              <a:buFont typeface="Arial" panose="020B0604020202020204" pitchFamily="34" charset="0"/>
              <a:buChar char="•"/>
            </a:pPr>
            <a:endParaRPr lang="en-IN" sz="1400"/>
          </a:p>
          <a:p>
            <a:pPr marL="285750" indent="-285750">
              <a:buFont typeface="Arial" panose="020B0604020202020204" pitchFamily="34" charset="0"/>
              <a:buChar char="•"/>
            </a:pPr>
            <a:r>
              <a:rPr lang="en-IN" sz="1400"/>
              <a:t>Give it a precise brief and it becomes the fastest developer you have ever worked with</a:t>
            </a:r>
            <a:endParaRPr lang="en-US" sz="1400"/>
          </a:p>
        </p:txBody>
      </p:sp>
      <p:sp>
        <p:nvSpPr>
          <p:cNvPr id="2" name="Shape 19">
            <a:extLst>
              <a:ext uri="{FF2B5EF4-FFF2-40B4-BE49-F238E27FC236}">
                <a16:creationId xmlns:a16="http://schemas.microsoft.com/office/drawing/2014/main" id="{8DDBFA6F-605D-7C79-4908-B5D69D0EDC05}"/>
              </a:ext>
            </a:extLst>
          </p:cNvPr>
          <p:cNvSpPr/>
          <p:nvPr/>
        </p:nvSpPr>
        <p:spPr>
          <a:xfrm>
            <a:off x="605362" y="4546496"/>
            <a:ext cx="10981273" cy="64633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13" name="TextBox 12">
            <a:extLst>
              <a:ext uri="{FF2B5EF4-FFF2-40B4-BE49-F238E27FC236}">
                <a16:creationId xmlns:a16="http://schemas.microsoft.com/office/drawing/2014/main" id="{B9C6FD66-5B98-3C94-4000-DDD3701466AB}"/>
              </a:ext>
            </a:extLst>
          </p:cNvPr>
          <p:cNvSpPr txBox="1"/>
          <p:nvPr/>
        </p:nvSpPr>
        <p:spPr bwMode="auto">
          <a:xfrm>
            <a:off x="887239" y="4608051"/>
            <a:ext cx="9799233" cy="523220"/>
          </a:xfrm>
          <a:prstGeom prst="rect">
            <a:avLst/>
          </a:prstGeom>
        </p:spPr>
        <p:txBody>
          <a:bodyPr wrap="square" rtlCol="0">
            <a:spAutoFit/>
          </a:bodyPr>
          <a:lstStyle/>
          <a:p>
            <a:r>
              <a:rPr lang="en-IN" sz="1400" dirty="0"/>
              <a:t>The quality of what you get out is directly proportional to the quality of the context you put in — and that is exactly what </a:t>
            </a:r>
            <a:r>
              <a:rPr lang="en-IN" sz="1400" dirty="0" err="1"/>
              <a:t>CLAUDE.md</a:t>
            </a:r>
            <a:r>
              <a:rPr lang="en-IN" sz="1400" dirty="0"/>
              <a:t> is built to solve.</a:t>
            </a:r>
            <a:endParaRPr lang="en-US" sz="1400" dirty="0"/>
          </a:p>
        </p:txBody>
      </p:sp>
    </p:spTree>
    <p:extLst>
      <p:ext uri="{BB962C8B-B14F-4D97-AF65-F5344CB8AC3E}">
        <p14:creationId xmlns:p14="http://schemas.microsoft.com/office/powerpoint/2010/main" val="1442862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1">
            <a:extLst>
              <a:ext uri="{FF2B5EF4-FFF2-40B4-BE49-F238E27FC236}">
                <a16:creationId xmlns:a16="http://schemas.microsoft.com/office/drawing/2014/main" id="{6D71DB71-37C9-E607-E77B-461E9F10AE92}"/>
              </a:ext>
            </a:extLst>
          </p:cNvPr>
          <p:cNvSpPr/>
          <p:nvPr/>
        </p:nvSpPr>
        <p:spPr>
          <a:xfrm>
            <a:off x="630031" y="1762439"/>
            <a:ext cx="10970837" cy="1908215"/>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0">
            <a:extLst>
              <a:ext uri="{FF2B5EF4-FFF2-40B4-BE49-F238E27FC236}">
                <a16:creationId xmlns:a16="http://schemas.microsoft.com/office/drawing/2014/main" id="{75C6BDF8-7C4E-B9A2-F878-A7F679435668}"/>
              </a:ext>
            </a:extLst>
          </p:cNvPr>
          <p:cNvSpPr/>
          <p:nvPr/>
        </p:nvSpPr>
        <p:spPr>
          <a:xfrm>
            <a:off x="582383" y="128390"/>
            <a:ext cx="10824035" cy="851329"/>
          </a:xfrm>
          <a:prstGeom prst="rect">
            <a:avLst/>
          </a:prstGeom>
          <a:noFill/>
          <a:ln/>
        </p:spPr>
        <p:txBody>
          <a:bodyPr wrap="square" lIns="0" tIns="0" rIns="0" bIns="0" rtlCol="0" anchor="ctr"/>
          <a:lstStyle/>
          <a:p>
            <a:r>
              <a:rPr lang="en-IN" sz="3600" b="1" dirty="0"/>
              <a:t>Before Your Real Project — A Practice Round</a:t>
            </a:r>
            <a:endParaRPr lang="en-US" sz="3600" b="1" dirty="0">
              <a:ea typeface="Open Sans"/>
              <a:cs typeface="Open Sans"/>
            </a:endParaRPr>
          </a:p>
        </p:txBody>
      </p:sp>
      <p:sp>
        <p:nvSpPr>
          <p:cNvPr id="4" name="TextBox 3">
            <a:extLst>
              <a:ext uri="{FF2B5EF4-FFF2-40B4-BE49-F238E27FC236}">
                <a16:creationId xmlns:a16="http://schemas.microsoft.com/office/drawing/2014/main" id="{BA608438-7F77-49AF-FC74-9EA630FC5450}"/>
              </a:ext>
            </a:extLst>
          </p:cNvPr>
          <p:cNvSpPr txBox="1"/>
          <p:nvPr/>
        </p:nvSpPr>
        <p:spPr bwMode="auto">
          <a:xfrm>
            <a:off x="683981" y="1037276"/>
            <a:ext cx="10169912" cy="523220"/>
          </a:xfrm>
          <a:prstGeom prst="rect">
            <a:avLst/>
          </a:prstGeom>
        </p:spPr>
        <p:txBody>
          <a:bodyPr wrap="square" rtlCol="0">
            <a:spAutoFit/>
          </a:bodyPr>
          <a:lstStyle/>
          <a:p>
            <a:r>
              <a:rPr lang="en-IN" sz="1400" dirty="0"/>
              <a:t>You are about to write your first </a:t>
            </a:r>
            <a:r>
              <a:rPr lang="en-IN" sz="1400" dirty="0" err="1"/>
              <a:t>CLAUDE.md</a:t>
            </a:r>
            <a:r>
              <a:rPr lang="en-IN" sz="1400" dirty="0"/>
              <a:t>. To do that, you need a project. This one is a throwaway — it exists only to practice the skill.</a:t>
            </a:r>
            <a:endParaRPr lang="en-US" sz="1400" dirty="0"/>
          </a:p>
        </p:txBody>
      </p:sp>
      <p:sp>
        <p:nvSpPr>
          <p:cNvPr id="5" name="TextBox 4">
            <a:extLst>
              <a:ext uri="{FF2B5EF4-FFF2-40B4-BE49-F238E27FC236}">
                <a16:creationId xmlns:a16="http://schemas.microsoft.com/office/drawing/2014/main" id="{AFDC9624-2EA3-0F29-ECA5-5FCE17D5B88F}"/>
              </a:ext>
            </a:extLst>
          </p:cNvPr>
          <p:cNvSpPr txBox="1"/>
          <p:nvPr/>
        </p:nvSpPr>
        <p:spPr bwMode="auto">
          <a:xfrm>
            <a:off x="683981" y="1800052"/>
            <a:ext cx="9969190" cy="1908215"/>
          </a:xfrm>
          <a:prstGeom prst="rect">
            <a:avLst/>
          </a:prstGeom>
        </p:spPr>
        <p:txBody>
          <a:bodyPr wrap="square" rtlCol="0">
            <a:spAutoFit/>
          </a:bodyPr>
          <a:lstStyle/>
          <a:p>
            <a:r>
              <a:rPr lang="en-IN" sz="1600" b="1" dirty="0">
                <a:solidFill>
                  <a:schemeClr val="accent1"/>
                </a:solidFill>
              </a:rPr>
              <a:t>The Scenario — Log Triage CLI</a:t>
            </a:r>
          </a:p>
          <a:p>
            <a:br>
              <a:rPr lang="en-IN" dirty="0"/>
            </a:br>
            <a:r>
              <a:rPr lang="en-IN" sz="1400" dirty="0"/>
              <a:t>Step 1 - Generate app.log.jsonl (40-60 lines: ts in ISO-8601, level, endpoint, exception_type, latency_ms; a mix of INFO, WARN and ERROR over the last 48 hours)</a:t>
            </a:r>
            <a:r>
              <a:rPr lang="en-IN" sz="1400" dirty="0" err="1"/>
              <a:t/>
            </a:r>
            <a:r>
              <a:rPr lang="en-IN" sz="1400" dirty="0"/>
              <a:t/>
            </a:r>
            <a:r>
              <a:rPr lang="en-IN" sz="1400" dirty="0" err="1"/>
              <a:t/>
            </a:r>
            <a:r>
              <a:rPr lang="en-IN" sz="1400" dirty="0"/>
              <a:t/>
            </a:r>
            <a:r>
              <a:rPr lang="en-IN" sz="1400" dirty="0" err="1"/>
              <a:t/>
            </a:r>
            <a:r>
              <a:rPr lang="en-IN" sz="1400" dirty="0"/>
              <a:t/>
            </a:r>
            <a:r>
              <a:rPr lang="en-IN" sz="1400" dirty="0" err="1"/>
              <a:t/>
            </a:r>
            <a:r>
              <a:rPr lang="en-IN" sz="1400" dirty="0"/>
              <a:t/>
            </a:r>
          </a:p>
          <a:p>
            <a:br>
              <a:rPr lang="en-IN" sz="1400" dirty="0"/>
            </a:br>
            <a:r>
              <a:rPr lang="en-IN" sz="1400" dirty="0"/>
              <a:t>Step 2 - A Python CLI that reads the log, groups ERROR lines by exception_type and endpoint, and prints the top 5 with count, first seen and last seen. Flag --since 24h.</a:t>
            </a:r>
          </a:p>
          <a:p>
            <a:endParaRPr lang="en-IN" sz="1400" dirty="0"/>
          </a:p>
        </p:txBody>
      </p:sp>
      <p:sp>
        <p:nvSpPr>
          <p:cNvPr id="6" name="TextBox 5">
            <a:extLst>
              <a:ext uri="{FF2B5EF4-FFF2-40B4-BE49-F238E27FC236}">
                <a16:creationId xmlns:a16="http://schemas.microsoft.com/office/drawing/2014/main" id="{EC31B01E-F95B-7C94-2482-DCBDE2191E5D}"/>
              </a:ext>
            </a:extLst>
          </p:cNvPr>
          <p:cNvSpPr txBox="1"/>
          <p:nvPr/>
        </p:nvSpPr>
        <p:spPr bwMode="auto">
          <a:xfrm>
            <a:off x="683981" y="3962805"/>
            <a:ext cx="5460213" cy="307777"/>
          </a:xfrm>
          <a:prstGeom prst="rect">
            <a:avLst/>
          </a:prstGeom>
        </p:spPr>
        <p:txBody>
          <a:bodyPr wrap="none" rtlCol="0">
            <a:spAutoFit/>
          </a:bodyPr>
          <a:lstStyle/>
          <a:p>
            <a:r>
              <a:rPr lang="en-IN" sz="1400" dirty="0"/>
              <a:t>Three elements below the scenario card (small, three columns):</a:t>
            </a:r>
            <a:endParaRPr lang="en-US" sz="1400" dirty="0"/>
          </a:p>
        </p:txBody>
      </p:sp>
      <p:graphicFrame>
        <p:nvGraphicFramePr>
          <p:cNvPr id="7" name="Table 6">
            <a:extLst>
              <a:ext uri="{FF2B5EF4-FFF2-40B4-BE49-F238E27FC236}">
                <a16:creationId xmlns:a16="http://schemas.microsoft.com/office/drawing/2014/main" id="{68716284-079F-B5CB-4A68-39890037B64C}"/>
              </a:ext>
            </a:extLst>
          </p:cNvPr>
          <p:cNvGraphicFramePr>
            <a:graphicFrameLocks noGrp="1"/>
          </p:cNvGraphicFramePr>
          <p:nvPr>
            <p:extLst>
              <p:ext uri="{D42A27DB-BD31-4B8C-83A1-F6EECF244321}">
                <p14:modId xmlns:p14="http://schemas.microsoft.com/office/powerpoint/2010/main" val="273452"/>
              </p:ext>
            </p:extLst>
          </p:nvPr>
        </p:nvGraphicFramePr>
        <p:xfrm>
          <a:off x="683981" y="4483080"/>
          <a:ext cx="9969189" cy="1337644"/>
        </p:xfrm>
        <a:graphic>
          <a:graphicData uri="http://schemas.openxmlformats.org/drawingml/2006/table">
            <a:tbl>
              <a:tblPr firstRow="1" bandRow="1">
                <a:tableStyleId>{00A15C55-8517-42AA-B614-E9B94910E393}</a:tableStyleId>
              </a:tblPr>
              <a:tblGrid>
                <a:gridCol w="3323063">
                  <a:extLst>
                    <a:ext uri="{9D8B030D-6E8A-4147-A177-3AD203B41FA5}">
                      <a16:colId xmlns:a16="http://schemas.microsoft.com/office/drawing/2014/main" val="3922371818"/>
                    </a:ext>
                  </a:extLst>
                </a:gridCol>
                <a:gridCol w="3323063">
                  <a:extLst>
                    <a:ext uri="{9D8B030D-6E8A-4147-A177-3AD203B41FA5}">
                      <a16:colId xmlns:a16="http://schemas.microsoft.com/office/drawing/2014/main" val="2529210824"/>
                    </a:ext>
                  </a:extLst>
                </a:gridCol>
                <a:gridCol w="3323063">
                  <a:extLst>
                    <a:ext uri="{9D8B030D-6E8A-4147-A177-3AD203B41FA5}">
                      <a16:colId xmlns:a16="http://schemas.microsoft.com/office/drawing/2014/main" val="3207135686"/>
                    </a:ext>
                  </a:extLst>
                </a:gridCol>
              </a:tblGrid>
              <a:tr h="606124">
                <a:tc>
                  <a:txBody>
                    <a:bodyPr/>
                    <a:lstStyle/>
                    <a:p>
                      <a:pPr algn="ctr"/>
                      <a:r>
                        <a:rPr lang="en-IN" sz="1400"/>
                        <a:t>What it does</a:t>
                      </a:r>
                      <a:endParaRPr lang="en-US" sz="1400"/>
                    </a:p>
                  </a:txBody>
                  <a:tcPr anchor="ctr">
                    <a:solidFill>
                      <a:schemeClr val="accent1"/>
                    </a:solidFill>
                  </a:tcPr>
                </a:tc>
                <a:tc>
                  <a:txBody>
                    <a:bodyPr/>
                    <a:lstStyle/>
                    <a:p>
                      <a:pPr algn="ctr"/>
                      <a:r>
                        <a:rPr lang="en-IN" sz="1400"/>
                        <a:t>What it does NOT do</a:t>
                      </a:r>
                      <a:endParaRPr lang="en-US" sz="1400"/>
                    </a:p>
                  </a:txBody>
                  <a:tcPr anchor="ctr">
                    <a:solidFill>
                      <a:schemeClr val="accent1"/>
                    </a:solidFill>
                  </a:tcPr>
                </a:tc>
                <a:tc>
                  <a:txBody>
                    <a:bodyPr/>
                    <a:lstStyle/>
                    <a:p>
                      <a:pPr algn="ctr"/>
                      <a:r>
                        <a:rPr lang="en-IN" sz="1400" dirty="0"/>
                        <a:t>Why we're using it</a:t>
                      </a:r>
                      <a:endParaRPr lang="en-US" sz="1400" dirty="0"/>
                    </a:p>
                  </a:txBody>
                  <a:tcPr anchor="ctr">
                    <a:solidFill>
                      <a:schemeClr val="accent1"/>
                    </a:solidFill>
                  </a:tcPr>
                </a:tc>
                <a:extLst>
                  <a:ext uri="{0D108BD9-81ED-4DB2-BD59-A6C34878D82A}">
                    <a16:rowId xmlns:a16="http://schemas.microsoft.com/office/drawing/2014/main" val="2374300875"/>
                  </a:ext>
                </a:extLst>
              </a:tr>
              <a:tr h="614543">
                <a:tc>
                  <a:txBody>
                    <a:bodyPr/>
                    <a:lstStyle/>
                    <a:p>
                      <a:r>
                        <a:rPr lang="en-IN" sz="1400" dirty="0"/>
                        <a:t>Parses JSONL, filters by time, aggregates, prints</a:t>
                      </a:r>
                      <a:endParaRPr lang="en-US" sz="1400" dirty="0"/>
                    </a:p>
                  </a:txBody>
                  <a:tcPr>
                    <a:solidFill>
                      <a:schemeClr val="bg1">
                        <a:lumMod val="95000"/>
                      </a:schemeClr>
                    </a:solidFill>
                  </a:tcPr>
                </a:tc>
                <a:tc>
                  <a:txBody>
                    <a:bodyPr/>
                    <a:lstStyle/>
                    <a:p>
                      <a:r>
                        <a:rPr lang="en-IN" sz="1400"/>
                        <a:t>No alerting, no writes, no UI</a:t>
                      </a:r>
                      <a:endParaRPr lang="en-US" sz="1400"/>
                    </a:p>
                  </a:txBody>
                  <a:tcPr>
                    <a:solidFill>
                      <a:schemeClr val="bg1">
                        <a:lumMod val="95000"/>
                      </a:schemeClr>
                    </a:solidFill>
                  </a:tcPr>
                </a:tc>
                <a:tc>
                  <a:txBody>
                    <a:bodyPr/>
                    <a:lstStyle/>
                    <a:p>
                      <a:r>
                        <a:rPr lang="en-IN" sz="1400" dirty="0"/>
                        <a:t>Simple enough to brainstorm in 3 minutes. Generic enough that everyone builds the same thing.</a:t>
                      </a:r>
                      <a:endParaRPr lang="en-US" sz="1400" dirty="0"/>
                    </a:p>
                  </a:txBody>
                  <a:tcPr>
                    <a:solidFill>
                      <a:schemeClr val="bg1">
                        <a:lumMod val="95000"/>
                      </a:schemeClr>
                    </a:solidFill>
                  </a:tcPr>
                </a:tc>
                <a:extLst>
                  <a:ext uri="{0D108BD9-81ED-4DB2-BD59-A6C34878D82A}">
                    <a16:rowId xmlns:a16="http://schemas.microsoft.com/office/drawing/2014/main" val="304807214"/>
                  </a:ext>
                </a:extLst>
              </a:tr>
            </a:tbl>
          </a:graphicData>
        </a:graphic>
      </p:graphicFrame>
    </p:spTree>
    <p:extLst>
      <p:ext uri="{BB962C8B-B14F-4D97-AF65-F5344CB8AC3E}">
        <p14:creationId xmlns:p14="http://schemas.microsoft.com/office/powerpoint/2010/main" val="1095523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7EA1D-51CE-4E1E-22FF-3C2966846D7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79EE2BE-9F88-4CDE-C0A5-38B6636F421A}"/>
              </a:ext>
            </a:extLst>
          </p:cNvPr>
          <p:cNvSpPr/>
          <p:nvPr/>
        </p:nvSpPr>
        <p:spPr>
          <a:xfrm>
            <a:off x="619331" y="138116"/>
            <a:ext cx="10824035" cy="851329"/>
          </a:xfrm>
          <a:prstGeom prst="rect">
            <a:avLst/>
          </a:prstGeom>
          <a:noFill/>
          <a:ln/>
        </p:spPr>
        <p:txBody>
          <a:bodyPr wrap="square" lIns="0" tIns="0" rIns="0" bIns="0" rtlCol="0" anchor="ctr"/>
          <a:lstStyle/>
          <a:p>
            <a:r>
              <a:rPr lang="en-US" sz="3600" b="1" dirty="0">
                <a:latin typeface="Open Sans" pitchFamily="34" charset="0"/>
                <a:ea typeface="Open Sans" pitchFamily="34" charset="-122"/>
                <a:cs typeface="Open Sans" pitchFamily="34" charset="-120"/>
              </a:rPr>
              <a:t>What is </a:t>
            </a:r>
            <a:r>
              <a:rPr lang="en-US" sz="3600" b="1" dirty="0" err="1">
                <a:solidFill>
                  <a:schemeClr val="accent2"/>
                </a:solidFill>
                <a:latin typeface="Open Sans" pitchFamily="34" charset="0"/>
                <a:ea typeface="Open Sans" pitchFamily="34" charset="-122"/>
                <a:cs typeface="Open Sans" pitchFamily="34" charset="-120"/>
              </a:rPr>
              <a:t>CLAUDE.md</a:t>
            </a:r>
            <a:r>
              <a:rPr lang="en-US" sz="3600" b="1" dirty="0">
                <a:latin typeface="Open Sans" pitchFamily="34" charset="0"/>
                <a:ea typeface="Open Sans" pitchFamily="34" charset="-122"/>
                <a:cs typeface="Open Sans" pitchFamily="34" charset="-120"/>
              </a:rPr>
              <a:t>?</a:t>
            </a:r>
            <a:endParaRPr lang="en-US" sz="3600" dirty="0"/>
          </a:p>
        </p:txBody>
      </p:sp>
      <p:sp>
        <p:nvSpPr>
          <p:cNvPr id="6" name="Shape 1">
            <a:extLst>
              <a:ext uri="{FF2B5EF4-FFF2-40B4-BE49-F238E27FC236}">
                <a16:creationId xmlns:a16="http://schemas.microsoft.com/office/drawing/2014/main" id="{9787D697-E829-2C91-480A-6611CBA93480}"/>
              </a:ext>
            </a:extLst>
          </p:cNvPr>
          <p:cNvSpPr/>
          <p:nvPr/>
        </p:nvSpPr>
        <p:spPr>
          <a:xfrm>
            <a:off x="683984" y="1633316"/>
            <a:ext cx="10824035" cy="0"/>
          </a:xfrm>
          <a:prstGeom prst="line">
            <a:avLst/>
          </a:prstGeom>
          <a:noFill/>
          <a:ln w="9525">
            <a:solidFill>
              <a:srgbClr val="F2F2F2"/>
            </a:solidFill>
            <a:prstDash val="solid"/>
          </a:ln>
        </p:spPr>
        <p:txBody>
          <a:bodyPr/>
          <a:lstStyle/>
          <a:p>
            <a:endParaRPr lang="en-US" sz="3187"/>
          </a:p>
        </p:txBody>
      </p:sp>
      <p:sp>
        <p:nvSpPr>
          <p:cNvPr id="8" name="Text 2">
            <a:extLst>
              <a:ext uri="{FF2B5EF4-FFF2-40B4-BE49-F238E27FC236}">
                <a16:creationId xmlns:a16="http://schemas.microsoft.com/office/drawing/2014/main" id="{B792E988-47DD-DDD6-A946-55415D3634E4}"/>
              </a:ext>
            </a:extLst>
          </p:cNvPr>
          <p:cNvSpPr/>
          <p:nvPr/>
        </p:nvSpPr>
        <p:spPr>
          <a:xfrm>
            <a:off x="683982" y="1049546"/>
            <a:ext cx="10945654" cy="790519"/>
          </a:xfrm>
          <a:prstGeom prst="rect">
            <a:avLst/>
          </a:prstGeom>
          <a:noFill/>
          <a:ln/>
        </p:spPr>
        <p:txBody>
          <a:bodyPr wrap="square" lIns="0" tIns="0" rIns="0" bIns="0" rtlCol="0" anchor="t"/>
          <a:lstStyle/>
          <a:p>
            <a:r>
              <a:rPr lang="en-US" sz="1600" dirty="0" err="1">
                <a:latin typeface="Open Sans" pitchFamily="34" charset="0"/>
                <a:ea typeface="Open Sans" pitchFamily="34" charset="-122"/>
                <a:cs typeface="Open Sans" pitchFamily="34" charset="-120"/>
              </a:rPr>
              <a:t>CLAUDE.md</a:t>
            </a:r>
            <a:r>
              <a:rPr lang="en-US" sz="1600" dirty="0">
                <a:latin typeface="Open Sans" pitchFamily="34" charset="0"/>
                <a:ea typeface="Open Sans" pitchFamily="34" charset="-122"/>
                <a:cs typeface="Open Sans" pitchFamily="34" charset="-120"/>
              </a:rPr>
              <a:t> is a plain text file at your project root. Claude reads it automatically at the start of every session — before you type a single prompt. It is your instruction manual to Claude: what the project is, how it works, and what not to touch.</a:t>
            </a:r>
            <a:endParaRPr lang="en-US" sz="1600" dirty="0"/>
          </a:p>
        </p:txBody>
      </p:sp>
      <p:sp>
        <p:nvSpPr>
          <p:cNvPr id="3" name="Shape 2">
            <a:extLst>
              <a:ext uri="{FF2B5EF4-FFF2-40B4-BE49-F238E27FC236}">
                <a16:creationId xmlns:a16="http://schemas.microsoft.com/office/drawing/2014/main" id="{5BCB5783-07FE-495E-B2FC-8D50A0DEE9C5}"/>
              </a:ext>
            </a:extLst>
          </p:cNvPr>
          <p:cNvSpPr/>
          <p:nvPr/>
        </p:nvSpPr>
        <p:spPr>
          <a:xfrm>
            <a:off x="620296" y="2141117"/>
            <a:ext cx="3250088" cy="3456120"/>
          </a:xfrm>
          <a:prstGeom prst="roundRect">
            <a:avLst>
              <a:gd name="adj" fmla="val 3367"/>
            </a:avLst>
          </a:prstGeom>
          <a:solidFill>
            <a:srgbClr val="F5F5F5"/>
          </a:solidFill>
          <a:ln w="19050">
            <a:solidFill>
              <a:schemeClr val="bg1">
                <a:lumMod val="95000"/>
              </a:schemeClr>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a:extLst>
              <a:ext uri="{FF2B5EF4-FFF2-40B4-BE49-F238E27FC236}">
                <a16:creationId xmlns:a16="http://schemas.microsoft.com/office/drawing/2014/main" id="{346AF9CB-58AC-5D2A-BDF5-0BCFDD060247}"/>
              </a:ext>
            </a:extLst>
          </p:cNvPr>
          <p:cNvSpPr/>
          <p:nvPr/>
        </p:nvSpPr>
        <p:spPr>
          <a:xfrm>
            <a:off x="4466313" y="2141117"/>
            <a:ext cx="3250088" cy="3456120"/>
          </a:xfrm>
          <a:prstGeom prst="roundRect">
            <a:avLst>
              <a:gd name="adj" fmla="val 3367"/>
            </a:avLst>
          </a:prstGeom>
          <a:solidFill>
            <a:srgbClr val="F5F5F5"/>
          </a:solidFill>
          <a:ln w="19050">
            <a:solidFill>
              <a:schemeClr val="bg1">
                <a:lumMod val="95000"/>
              </a:schemeClr>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2">
            <a:extLst>
              <a:ext uri="{FF2B5EF4-FFF2-40B4-BE49-F238E27FC236}">
                <a16:creationId xmlns:a16="http://schemas.microsoft.com/office/drawing/2014/main" id="{A3832CAE-81F9-CF4B-70C9-AE49914A47C6}"/>
              </a:ext>
            </a:extLst>
          </p:cNvPr>
          <p:cNvSpPr/>
          <p:nvPr/>
        </p:nvSpPr>
        <p:spPr>
          <a:xfrm>
            <a:off x="8317877" y="2141117"/>
            <a:ext cx="3250088" cy="3456120"/>
          </a:xfrm>
          <a:prstGeom prst="roundRect">
            <a:avLst>
              <a:gd name="adj" fmla="val 3367"/>
            </a:avLst>
          </a:prstGeom>
          <a:solidFill>
            <a:srgbClr val="F5F5F5"/>
          </a:solidFill>
          <a:ln w="19050">
            <a:solidFill>
              <a:schemeClr val="bg1">
                <a:lumMod val="95000"/>
              </a:schemeClr>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5">
            <a:extLst>
              <a:ext uri="{FF2B5EF4-FFF2-40B4-BE49-F238E27FC236}">
                <a16:creationId xmlns:a16="http://schemas.microsoft.com/office/drawing/2014/main" id="{9E6960BE-135A-2C87-7121-3AC861E80BC2}"/>
              </a:ext>
            </a:extLst>
          </p:cNvPr>
          <p:cNvSpPr/>
          <p:nvPr/>
        </p:nvSpPr>
        <p:spPr>
          <a:xfrm>
            <a:off x="761596" y="3495123"/>
            <a:ext cx="2967488" cy="425664"/>
          </a:xfrm>
          <a:prstGeom prst="rect">
            <a:avLst/>
          </a:prstGeom>
          <a:noFill/>
          <a:ln/>
        </p:spPr>
        <p:txBody>
          <a:bodyPr wrap="square" lIns="0" tIns="0" rIns="0" bIns="0" rtlCol="0" anchor="ctr"/>
          <a:lstStyle/>
          <a:p>
            <a:pPr algn="ctr"/>
            <a:r>
              <a:rPr lang="en-US" b="1" dirty="0">
                <a:solidFill>
                  <a:schemeClr val="accent2"/>
                </a:solidFill>
                <a:latin typeface="Open Sans" pitchFamily="34" charset="0"/>
                <a:ea typeface="Open Sans" pitchFamily="34" charset="-122"/>
                <a:cs typeface="Open Sans" pitchFamily="34" charset="-120"/>
              </a:rPr>
              <a:t>Onboarding doc</a:t>
            </a:r>
            <a:endParaRPr lang="en-US" dirty="0">
              <a:solidFill>
                <a:schemeClr val="accent2"/>
              </a:solidFill>
            </a:endParaRPr>
          </a:p>
        </p:txBody>
      </p:sp>
      <p:sp>
        <p:nvSpPr>
          <p:cNvPr id="14" name="Text 6">
            <a:extLst>
              <a:ext uri="{FF2B5EF4-FFF2-40B4-BE49-F238E27FC236}">
                <a16:creationId xmlns:a16="http://schemas.microsoft.com/office/drawing/2014/main" id="{9CFB3443-8081-F195-271B-7007FB5876B4}"/>
              </a:ext>
            </a:extLst>
          </p:cNvPr>
          <p:cNvSpPr/>
          <p:nvPr/>
        </p:nvSpPr>
        <p:spPr>
          <a:xfrm>
            <a:off x="761596" y="4294500"/>
            <a:ext cx="2967488" cy="947710"/>
          </a:xfrm>
          <a:prstGeom prst="rect">
            <a:avLst/>
          </a:prstGeom>
          <a:noFill/>
          <a:ln/>
        </p:spPr>
        <p:txBody>
          <a:bodyPr wrap="square" lIns="0" tIns="0" rIns="0" bIns="0" rtlCol="0" anchor="t"/>
          <a:lstStyle/>
          <a:p>
            <a:r>
              <a:rPr lang="en-US" sz="1596" dirty="0">
                <a:latin typeface="Open Sans" pitchFamily="34" charset="0"/>
                <a:ea typeface="Open Sans" pitchFamily="34" charset="-122"/>
                <a:cs typeface="Open Sans" pitchFamily="34" charset="-120"/>
              </a:rPr>
              <a:t>Like the README you wish someone had written before you joined.</a:t>
            </a:r>
            <a:endParaRPr lang="en-US" sz="1596" dirty="0"/>
          </a:p>
        </p:txBody>
      </p:sp>
      <p:sp>
        <p:nvSpPr>
          <p:cNvPr id="19" name="Text 9">
            <a:extLst>
              <a:ext uri="{FF2B5EF4-FFF2-40B4-BE49-F238E27FC236}">
                <a16:creationId xmlns:a16="http://schemas.microsoft.com/office/drawing/2014/main" id="{D094D1BE-A829-2E47-3618-BA6A01411ED4}"/>
              </a:ext>
            </a:extLst>
          </p:cNvPr>
          <p:cNvSpPr/>
          <p:nvPr/>
        </p:nvSpPr>
        <p:spPr>
          <a:xfrm>
            <a:off x="4607613" y="3495123"/>
            <a:ext cx="2967488" cy="425664"/>
          </a:xfrm>
          <a:prstGeom prst="rect">
            <a:avLst/>
          </a:prstGeom>
          <a:noFill/>
          <a:ln/>
        </p:spPr>
        <p:txBody>
          <a:bodyPr wrap="square" lIns="0" tIns="0" rIns="0" bIns="0" rtlCol="0" anchor="ctr"/>
          <a:lstStyle/>
          <a:p>
            <a:pPr algn="ctr"/>
            <a:r>
              <a:rPr lang="en-US" sz="1862" b="1" dirty="0">
                <a:solidFill>
                  <a:schemeClr val="accent2"/>
                </a:solidFill>
                <a:latin typeface="Open Sans" pitchFamily="34" charset="0"/>
                <a:ea typeface="Open Sans" pitchFamily="34" charset="-122"/>
                <a:cs typeface="Open Sans" pitchFamily="34" charset="-120"/>
              </a:rPr>
              <a:t>Project memory</a:t>
            </a:r>
            <a:endParaRPr lang="en-US" sz="1862" dirty="0">
              <a:solidFill>
                <a:schemeClr val="accent2"/>
              </a:solidFill>
            </a:endParaRPr>
          </a:p>
        </p:txBody>
      </p:sp>
      <p:sp>
        <p:nvSpPr>
          <p:cNvPr id="23" name="Text 10">
            <a:extLst>
              <a:ext uri="{FF2B5EF4-FFF2-40B4-BE49-F238E27FC236}">
                <a16:creationId xmlns:a16="http://schemas.microsoft.com/office/drawing/2014/main" id="{B9313A3F-7713-1BCE-E2DA-F217F88A010B}"/>
              </a:ext>
            </a:extLst>
          </p:cNvPr>
          <p:cNvSpPr/>
          <p:nvPr/>
        </p:nvSpPr>
        <p:spPr>
          <a:xfrm>
            <a:off x="4607613" y="4294500"/>
            <a:ext cx="2967488" cy="873547"/>
          </a:xfrm>
          <a:prstGeom prst="rect">
            <a:avLst/>
          </a:prstGeom>
          <a:noFill/>
          <a:ln/>
        </p:spPr>
        <p:txBody>
          <a:bodyPr wrap="square" lIns="0" tIns="0" rIns="0" bIns="0" rtlCol="0" anchor="t"/>
          <a:lstStyle/>
          <a:p>
            <a:r>
              <a:rPr lang="en-US" sz="1596" dirty="0">
                <a:latin typeface="Open Sans" pitchFamily="34" charset="0"/>
                <a:ea typeface="Open Sans" pitchFamily="34" charset="-122"/>
                <a:cs typeface="Open Sans" pitchFamily="34" charset="-120"/>
              </a:rPr>
              <a:t>Claude forgets between sessions — </a:t>
            </a:r>
            <a:r>
              <a:rPr lang="en-US" sz="1596" dirty="0" err="1">
                <a:latin typeface="Open Sans" pitchFamily="34" charset="0"/>
                <a:ea typeface="Open Sans" pitchFamily="34" charset="-122"/>
                <a:cs typeface="Open Sans" pitchFamily="34" charset="-120"/>
              </a:rPr>
              <a:t>CLAUDE.md</a:t>
            </a:r>
            <a:r>
              <a:rPr lang="en-US" sz="1596" dirty="0">
                <a:latin typeface="Open Sans" pitchFamily="34" charset="0"/>
                <a:ea typeface="Open Sans" pitchFamily="34" charset="-122"/>
                <a:cs typeface="Open Sans" pitchFamily="34" charset="-120"/>
              </a:rPr>
              <a:t> restores context instantly.</a:t>
            </a:r>
            <a:endParaRPr lang="en-US" sz="1596" dirty="0"/>
          </a:p>
        </p:txBody>
      </p:sp>
      <p:sp>
        <p:nvSpPr>
          <p:cNvPr id="26" name="Text 13">
            <a:extLst>
              <a:ext uri="{FF2B5EF4-FFF2-40B4-BE49-F238E27FC236}">
                <a16:creationId xmlns:a16="http://schemas.microsoft.com/office/drawing/2014/main" id="{BFB983F4-D4E8-97A1-4133-0A82CAAC76F4}"/>
              </a:ext>
            </a:extLst>
          </p:cNvPr>
          <p:cNvSpPr/>
          <p:nvPr/>
        </p:nvSpPr>
        <p:spPr>
          <a:xfrm>
            <a:off x="8459177" y="3495123"/>
            <a:ext cx="2967488" cy="425664"/>
          </a:xfrm>
          <a:prstGeom prst="rect">
            <a:avLst/>
          </a:prstGeom>
          <a:noFill/>
          <a:ln/>
        </p:spPr>
        <p:txBody>
          <a:bodyPr wrap="square" lIns="0" tIns="0" rIns="0" bIns="0" rtlCol="0" anchor="ctr"/>
          <a:lstStyle/>
          <a:p>
            <a:pPr algn="ctr"/>
            <a:r>
              <a:rPr lang="en-US" sz="1862" b="1">
                <a:solidFill>
                  <a:schemeClr val="accent2"/>
                </a:solidFill>
                <a:latin typeface="Open Sans" pitchFamily="34" charset="0"/>
                <a:ea typeface="Open Sans" pitchFamily="34" charset="-122"/>
                <a:cs typeface="Open Sans" pitchFamily="34" charset="-120"/>
              </a:rPr>
              <a:t>Team contract</a:t>
            </a:r>
            <a:endParaRPr lang="en-US" sz="1862">
              <a:solidFill>
                <a:schemeClr val="accent2"/>
              </a:solidFill>
            </a:endParaRPr>
          </a:p>
        </p:txBody>
      </p:sp>
      <p:sp>
        <p:nvSpPr>
          <p:cNvPr id="27" name="Text 14">
            <a:extLst>
              <a:ext uri="{FF2B5EF4-FFF2-40B4-BE49-F238E27FC236}">
                <a16:creationId xmlns:a16="http://schemas.microsoft.com/office/drawing/2014/main" id="{D7589AF5-C861-1798-E777-88F59BD708B0}"/>
              </a:ext>
            </a:extLst>
          </p:cNvPr>
          <p:cNvSpPr/>
          <p:nvPr/>
        </p:nvSpPr>
        <p:spPr>
          <a:xfrm>
            <a:off x="8459177" y="4294500"/>
            <a:ext cx="2967488" cy="1041020"/>
          </a:xfrm>
          <a:prstGeom prst="rect">
            <a:avLst/>
          </a:prstGeom>
          <a:noFill/>
          <a:ln/>
        </p:spPr>
        <p:txBody>
          <a:bodyPr wrap="square" lIns="0" tIns="0" rIns="0" bIns="0" rtlCol="0" anchor="t"/>
          <a:lstStyle/>
          <a:p>
            <a:r>
              <a:rPr lang="en-US" sz="1550" dirty="0">
                <a:latin typeface="Open Sans"/>
                <a:ea typeface="Open Sans"/>
                <a:cs typeface="Open Sans"/>
              </a:rPr>
              <a:t>Coding conventions, naming rules, no-go zones — enforced by context. You keep updating it as the project evolves.</a:t>
            </a:r>
            <a:endParaRPr lang="en-US" sz="1550" dirty="0">
              <a:ea typeface="Open Sans"/>
              <a:cs typeface="Open Sans"/>
            </a:endParaRPr>
          </a:p>
        </p:txBody>
      </p:sp>
      <p:pic>
        <p:nvPicPr>
          <p:cNvPr id="13" name="Graphic 12">
            <a:extLst>
              <a:ext uri="{FF2B5EF4-FFF2-40B4-BE49-F238E27FC236}">
                <a16:creationId xmlns:a16="http://schemas.microsoft.com/office/drawing/2014/main" id="{3E6148AB-3992-0EB7-1C03-AF45D72E58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50367" y="2319798"/>
            <a:ext cx="985109" cy="985109"/>
          </a:xfrm>
          <a:prstGeom prst="rect">
            <a:avLst/>
          </a:prstGeom>
        </p:spPr>
      </p:pic>
      <p:pic>
        <p:nvPicPr>
          <p:cNvPr id="17" name="Graphic 16">
            <a:extLst>
              <a:ext uri="{FF2B5EF4-FFF2-40B4-BE49-F238E27FC236}">
                <a16:creationId xmlns:a16="http://schemas.microsoft.com/office/drawing/2014/main" id="{2567A590-6418-8129-5098-2252FA4A8FA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74210" y="2395205"/>
            <a:ext cx="834294" cy="834294"/>
          </a:xfrm>
          <a:prstGeom prst="rect">
            <a:avLst/>
          </a:prstGeom>
        </p:spPr>
      </p:pic>
      <p:pic>
        <p:nvPicPr>
          <p:cNvPr id="20" name="Graphic 19">
            <a:extLst>
              <a:ext uri="{FF2B5EF4-FFF2-40B4-BE49-F238E27FC236}">
                <a16:creationId xmlns:a16="http://schemas.microsoft.com/office/drawing/2014/main" id="{0A8828AC-7C71-9BE8-1714-C32EDDA8BD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33605" y="2400617"/>
            <a:ext cx="823471" cy="823471"/>
          </a:xfrm>
          <a:prstGeom prst="rect">
            <a:avLst/>
          </a:prstGeom>
        </p:spPr>
      </p:pic>
    </p:spTree>
    <p:custDataLst>
      <p:tags r:id="rId1"/>
    </p:custDataLst>
    <p:extLst>
      <p:ext uri="{BB962C8B-B14F-4D97-AF65-F5344CB8AC3E}">
        <p14:creationId xmlns:p14="http://schemas.microsoft.com/office/powerpoint/2010/main" val="327046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ACC79-3D31-4418-C4EB-80D0B44A0223}"/>
            </a:ext>
          </a:extLst>
        </p:cNvPr>
        <p:cNvGrpSpPr/>
        <p:nvPr/>
      </p:nvGrpSpPr>
      <p:grpSpPr>
        <a:xfrm>
          <a:off x="0" y="0"/>
          <a:ext cx="0" cy="0"/>
          <a:chOff x="0" y="0"/>
          <a:chExt cx="0" cy="0"/>
        </a:xfrm>
      </p:grpSpPr>
      <p:sp>
        <p:nvSpPr>
          <p:cNvPr id="6" name="Shape 11">
            <a:extLst>
              <a:ext uri="{FF2B5EF4-FFF2-40B4-BE49-F238E27FC236}">
                <a16:creationId xmlns:a16="http://schemas.microsoft.com/office/drawing/2014/main" id="{3203711D-9D72-4254-A32D-00FB037F93A4}"/>
              </a:ext>
            </a:extLst>
          </p:cNvPr>
          <p:cNvSpPr/>
          <p:nvPr/>
        </p:nvSpPr>
        <p:spPr>
          <a:xfrm>
            <a:off x="630031" y="4535368"/>
            <a:ext cx="10970837"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1">
            <a:extLst>
              <a:ext uri="{FF2B5EF4-FFF2-40B4-BE49-F238E27FC236}">
                <a16:creationId xmlns:a16="http://schemas.microsoft.com/office/drawing/2014/main" id="{73F1E528-76CC-AEFF-AAAF-D5BBA72033D6}"/>
              </a:ext>
            </a:extLst>
          </p:cNvPr>
          <p:cNvSpPr/>
          <p:nvPr/>
        </p:nvSpPr>
        <p:spPr>
          <a:xfrm>
            <a:off x="6199559" y="1581471"/>
            <a:ext cx="5401309"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11">
            <a:extLst>
              <a:ext uri="{FF2B5EF4-FFF2-40B4-BE49-F238E27FC236}">
                <a16:creationId xmlns:a16="http://schemas.microsoft.com/office/drawing/2014/main" id="{AB07A7FD-F3E9-B5F9-37AF-22CEB0F500FB}"/>
              </a:ext>
            </a:extLst>
          </p:cNvPr>
          <p:cNvSpPr/>
          <p:nvPr/>
        </p:nvSpPr>
        <p:spPr>
          <a:xfrm>
            <a:off x="630031" y="1581471"/>
            <a:ext cx="5401309"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11">
            <a:extLst>
              <a:ext uri="{FF2B5EF4-FFF2-40B4-BE49-F238E27FC236}">
                <a16:creationId xmlns:a16="http://schemas.microsoft.com/office/drawing/2014/main" id="{3EE647C8-269D-C71D-69CD-34D8DC902296}"/>
              </a:ext>
            </a:extLst>
          </p:cNvPr>
          <p:cNvSpPr/>
          <p:nvPr/>
        </p:nvSpPr>
        <p:spPr>
          <a:xfrm>
            <a:off x="630031" y="3092999"/>
            <a:ext cx="5401309"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0">
            <a:extLst>
              <a:ext uri="{FF2B5EF4-FFF2-40B4-BE49-F238E27FC236}">
                <a16:creationId xmlns:a16="http://schemas.microsoft.com/office/drawing/2014/main" id="{F4DB9FE0-3B0B-2242-93A3-821FBB5AABAC}"/>
              </a:ext>
            </a:extLst>
          </p:cNvPr>
          <p:cNvSpPr/>
          <p:nvPr/>
        </p:nvSpPr>
        <p:spPr>
          <a:xfrm>
            <a:off x="598596" y="135414"/>
            <a:ext cx="10824035" cy="851329"/>
          </a:xfrm>
          <a:prstGeom prst="rect">
            <a:avLst/>
          </a:prstGeom>
          <a:noFill/>
          <a:ln/>
        </p:spPr>
        <p:txBody>
          <a:bodyPr wrap="square" lIns="0" tIns="0" rIns="0" bIns="0" rtlCol="0" anchor="ctr"/>
          <a:lstStyle/>
          <a:p>
            <a:r>
              <a:rPr lang="en-US" sz="3600" b="1" dirty="0" err="1">
                <a:solidFill>
                  <a:schemeClr val="accent2"/>
                </a:solidFill>
                <a:latin typeface="Open Sans" pitchFamily="34" charset="0"/>
                <a:ea typeface="Open Sans" pitchFamily="34" charset="-122"/>
                <a:cs typeface="Open Sans" pitchFamily="34" charset="-120"/>
              </a:rPr>
              <a:t>CLAUDE.md</a:t>
            </a:r>
            <a:r>
              <a:rPr lang="en-US" sz="3600" b="1" dirty="0">
                <a:solidFill>
                  <a:schemeClr val="accent2"/>
                </a:solidFill>
                <a:latin typeface="Open Sans" pitchFamily="34" charset="0"/>
                <a:ea typeface="Open Sans" pitchFamily="34" charset="-122"/>
                <a:cs typeface="Open Sans" pitchFamily="34" charset="-120"/>
              </a:rPr>
              <a:t> </a:t>
            </a:r>
            <a:r>
              <a:rPr lang="en-US" sz="3600" b="1" dirty="0">
                <a:latin typeface="Open Sans" pitchFamily="34" charset="0"/>
                <a:ea typeface="Open Sans" pitchFamily="34" charset="-122"/>
                <a:cs typeface="Open Sans" pitchFamily="34" charset="-120"/>
              </a:rPr>
              <a:t>— The 5-Section Anatomy</a:t>
            </a:r>
            <a:endParaRPr lang="en-US" sz="3600" dirty="0"/>
          </a:p>
        </p:txBody>
      </p:sp>
      <p:sp>
        <p:nvSpPr>
          <p:cNvPr id="5" name="Shape 11">
            <a:extLst>
              <a:ext uri="{FF2B5EF4-FFF2-40B4-BE49-F238E27FC236}">
                <a16:creationId xmlns:a16="http://schemas.microsoft.com/office/drawing/2014/main" id="{0B68F11A-BFCB-0CD6-C99E-7682FF57BB0F}"/>
              </a:ext>
            </a:extLst>
          </p:cNvPr>
          <p:cNvSpPr/>
          <p:nvPr/>
        </p:nvSpPr>
        <p:spPr>
          <a:xfrm>
            <a:off x="6199559" y="3092999"/>
            <a:ext cx="5401309"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
            <a:extLst>
              <a:ext uri="{FF2B5EF4-FFF2-40B4-BE49-F238E27FC236}">
                <a16:creationId xmlns:a16="http://schemas.microsoft.com/office/drawing/2014/main" id="{6345A82E-31A5-04A7-8DB3-2DF3BCE69095}"/>
              </a:ext>
            </a:extLst>
          </p:cNvPr>
          <p:cNvSpPr/>
          <p:nvPr/>
        </p:nvSpPr>
        <p:spPr>
          <a:xfrm>
            <a:off x="683984" y="1170810"/>
            <a:ext cx="10824035" cy="0"/>
          </a:xfrm>
          <a:prstGeom prst="line">
            <a:avLst/>
          </a:prstGeom>
          <a:noFill/>
          <a:ln w="9525">
            <a:solidFill>
              <a:srgbClr val="F2F2F2"/>
            </a:solidFill>
            <a:prstDash val="solid"/>
          </a:ln>
        </p:spPr>
        <p:txBody>
          <a:bodyPr/>
          <a:lstStyle/>
          <a:p>
            <a:endParaRPr lang="en-US" sz="3187"/>
          </a:p>
        </p:txBody>
      </p:sp>
      <p:grpSp>
        <p:nvGrpSpPr>
          <p:cNvPr id="58" name="Group 57">
            <a:extLst>
              <a:ext uri="{FF2B5EF4-FFF2-40B4-BE49-F238E27FC236}">
                <a16:creationId xmlns:a16="http://schemas.microsoft.com/office/drawing/2014/main" id="{386FEEB0-792C-5A9C-22D6-4A249CA18310}"/>
              </a:ext>
            </a:extLst>
          </p:cNvPr>
          <p:cNvGrpSpPr/>
          <p:nvPr/>
        </p:nvGrpSpPr>
        <p:grpSpPr>
          <a:xfrm>
            <a:off x="874436" y="1753124"/>
            <a:ext cx="2418990" cy="778358"/>
            <a:chOff x="859355" y="2164670"/>
            <a:chExt cx="2418990" cy="778358"/>
          </a:xfrm>
        </p:grpSpPr>
        <p:sp>
          <p:nvSpPr>
            <p:cNvPr id="23" name="Text 3">
              <a:extLst>
                <a:ext uri="{FF2B5EF4-FFF2-40B4-BE49-F238E27FC236}">
                  <a16:creationId xmlns:a16="http://schemas.microsoft.com/office/drawing/2014/main" id="{CD97F129-38F2-AB89-1591-1F2A80C79002}"/>
                </a:ext>
              </a:extLst>
            </p:cNvPr>
            <p:cNvSpPr/>
            <p:nvPr/>
          </p:nvSpPr>
          <p:spPr>
            <a:xfrm>
              <a:off x="859355" y="2164670"/>
              <a:ext cx="2106476" cy="364855"/>
            </a:xfrm>
            <a:prstGeom prst="rect">
              <a:avLst/>
            </a:prstGeom>
            <a:noFill/>
            <a:ln/>
          </p:spPr>
          <p:txBody>
            <a:bodyPr wrap="square" lIns="0" tIns="0" rIns="0" bIns="0" rtlCol="0" anchor="ctr"/>
            <a:lstStyle/>
            <a:p>
              <a:r>
                <a:rPr lang="en-US" sz="1596" b="1" dirty="0">
                  <a:solidFill>
                    <a:schemeClr val="accent2"/>
                  </a:solidFill>
                  <a:latin typeface="Open Sans" pitchFamily="34" charset="0"/>
                  <a:ea typeface="Open Sans" pitchFamily="34" charset="-122"/>
                  <a:cs typeface="Open Sans" pitchFamily="34" charset="-120"/>
                </a:rPr>
                <a:t>1.  Project Overview</a:t>
              </a:r>
              <a:endParaRPr lang="en-US" sz="1596" dirty="0">
                <a:solidFill>
                  <a:schemeClr val="accent2"/>
                </a:solidFill>
              </a:endParaRPr>
            </a:p>
          </p:txBody>
        </p:sp>
        <p:sp>
          <p:nvSpPr>
            <p:cNvPr id="28" name="Text 4">
              <a:extLst>
                <a:ext uri="{FF2B5EF4-FFF2-40B4-BE49-F238E27FC236}">
                  <a16:creationId xmlns:a16="http://schemas.microsoft.com/office/drawing/2014/main" id="{295B0200-90C1-7B3C-1A04-88E9EDE2798D}"/>
                </a:ext>
              </a:extLst>
            </p:cNvPr>
            <p:cNvSpPr/>
            <p:nvPr/>
          </p:nvSpPr>
          <p:spPr>
            <a:xfrm>
              <a:off x="859355" y="2578173"/>
              <a:ext cx="2418990" cy="364855"/>
            </a:xfrm>
            <a:prstGeom prst="rect">
              <a:avLst/>
            </a:prstGeom>
            <a:noFill/>
            <a:ln/>
          </p:spPr>
          <p:txBody>
            <a:bodyPr wrap="square" lIns="0" tIns="0" rIns="0" bIns="0" rtlCol="0" anchor="t"/>
            <a:lstStyle/>
            <a:p>
              <a:r>
                <a:rPr lang="en-US" sz="1400" dirty="0">
                  <a:latin typeface="Open Sans" pitchFamily="34" charset="0"/>
                  <a:ea typeface="Open Sans" pitchFamily="34" charset="-122"/>
                  <a:cs typeface="Open Sans" pitchFamily="34" charset="-120"/>
                </a:rPr>
                <a:t>What does this project do? Who uses it?</a:t>
              </a:r>
              <a:endParaRPr lang="en-US" sz="1400" dirty="0"/>
            </a:p>
          </p:txBody>
        </p:sp>
      </p:grpSp>
      <p:sp>
        <p:nvSpPr>
          <p:cNvPr id="29" name="Text 5">
            <a:extLst>
              <a:ext uri="{FF2B5EF4-FFF2-40B4-BE49-F238E27FC236}">
                <a16:creationId xmlns:a16="http://schemas.microsoft.com/office/drawing/2014/main" id="{A65BA7AF-06C2-5B61-3E3C-AA0ACC69924E}"/>
              </a:ext>
            </a:extLst>
          </p:cNvPr>
          <p:cNvSpPr/>
          <p:nvPr/>
        </p:nvSpPr>
        <p:spPr>
          <a:xfrm>
            <a:off x="3483151" y="1900838"/>
            <a:ext cx="2448178" cy="482931"/>
          </a:xfrm>
          <a:prstGeom prst="rect">
            <a:avLst/>
          </a:prstGeom>
          <a:noFill/>
          <a:ln/>
        </p:spPr>
        <p:txBody>
          <a:bodyPr wrap="square" lIns="0" tIns="0" rIns="0" bIns="0" rtlCol="0" anchor="t"/>
          <a:lstStyle/>
          <a:p>
            <a:r>
              <a:rPr lang="en-US" sz="1200" i="1" dirty="0">
                <a:solidFill>
                  <a:schemeClr val="tx1">
                    <a:lumMod val="60000"/>
                    <a:lumOff val="40000"/>
                  </a:schemeClr>
                </a:solidFill>
                <a:latin typeface="Open Sans" pitchFamily="34" charset="0"/>
                <a:ea typeface="Open Sans" pitchFamily="34" charset="-122"/>
                <a:cs typeface="Open Sans" pitchFamily="34" charset="-120"/>
              </a:rPr>
              <a:t>"Patient appointment scheduling system for NHS clinic staff."</a:t>
            </a:r>
            <a:endParaRPr lang="en-US" sz="1200" dirty="0">
              <a:solidFill>
                <a:schemeClr val="tx1">
                  <a:lumMod val="60000"/>
                  <a:lumOff val="40000"/>
                </a:schemeClr>
              </a:solidFill>
            </a:endParaRPr>
          </a:p>
        </p:txBody>
      </p:sp>
      <p:cxnSp>
        <p:nvCxnSpPr>
          <p:cNvPr id="56" name="Straight Connector 55">
            <a:extLst>
              <a:ext uri="{FF2B5EF4-FFF2-40B4-BE49-F238E27FC236}">
                <a16:creationId xmlns:a16="http://schemas.microsoft.com/office/drawing/2014/main" id="{50EE6656-D0AA-7F00-A7EE-87FF594C2061}"/>
              </a:ext>
            </a:extLst>
          </p:cNvPr>
          <p:cNvCxnSpPr>
            <a:cxnSpLocks/>
          </p:cNvCxnSpPr>
          <p:nvPr/>
        </p:nvCxnSpPr>
        <p:spPr>
          <a:xfrm>
            <a:off x="3321885" y="1655831"/>
            <a:ext cx="0" cy="972945"/>
          </a:xfrm>
          <a:prstGeom prst="line">
            <a:avLst/>
          </a:prstGeom>
          <a:ln w="12700">
            <a:solidFill>
              <a:schemeClr val="bg1">
                <a:lumMod val="75000"/>
                <a:alpha val="42911"/>
              </a:schemeClr>
            </a:solidFill>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99A116C4-D4FC-619B-66B9-83A7C07DE5A0}"/>
              </a:ext>
            </a:extLst>
          </p:cNvPr>
          <p:cNvGrpSpPr/>
          <p:nvPr/>
        </p:nvGrpSpPr>
        <p:grpSpPr>
          <a:xfrm>
            <a:off x="870151" y="3264652"/>
            <a:ext cx="2418991" cy="778358"/>
            <a:chOff x="859354" y="2164670"/>
            <a:chExt cx="2418991" cy="778358"/>
          </a:xfrm>
        </p:grpSpPr>
        <p:sp>
          <p:nvSpPr>
            <p:cNvPr id="60" name="Text 3">
              <a:extLst>
                <a:ext uri="{FF2B5EF4-FFF2-40B4-BE49-F238E27FC236}">
                  <a16:creationId xmlns:a16="http://schemas.microsoft.com/office/drawing/2014/main" id="{B9FCB6CC-D4D4-D6C6-EF0D-C8D5DB51EB7F}"/>
                </a:ext>
              </a:extLst>
            </p:cNvPr>
            <p:cNvSpPr/>
            <p:nvPr/>
          </p:nvSpPr>
          <p:spPr>
            <a:xfrm>
              <a:off x="859354" y="2164670"/>
              <a:ext cx="2389797" cy="364855"/>
            </a:xfrm>
            <a:prstGeom prst="rect">
              <a:avLst/>
            </a:prstGeom>
            <a:noFill/>
            <a:ln/>
          </p:spPr>
          <p:txBody>
            <a:bodyPr wrap="square" lIns="0" tIns="0" rIns="0" bIns="0" rtlCol="0" anchor="ctr"/>
            <a:lstStyle/>
            <a:p>
              <a:r>
                <a:rPr lang="en-US" sz="1596" b="1" dirty="0">
                  <a:solidFill>
                    <a:schemeClr val="accent2"/>
                  </a:solidFill>
                  <a:latin typeface="Open Sans" pitchFamily="34" charset="0"/>
                  <a:ea typeface="Open Sans" pitchFamily="34" charset="-122"/>
                  <a:cs typeface="Open Sans" pitchFamily="34" charset="-120"/>
                </a:rPr>
                <a:t>3.  Coding Conventions</a:t>
              </a:r>
              <a:endParaRPr lang="en-US" sz="1596" dirty="0">
                <a:solidFill>
                  <a:schemeClr val="accent2"/>
                </a:solidFill>
              </a:endParaRPr>
            </a:p>
          </p:txBody>
        </p:sp>
        <p:sp>
          <p:nvSpPr>
            <p:cNvPr id="61" name="Text 4">
              <a:extLst>
                <a:ext uri="{FF2B5EF4-FFF2-40B4-BE49-F238E27FC236}">
                  <a16:creationId xmlns:a16="http://schemas.microsoft.com/office/drawing/2014/main" id="{6AF843AC-FEDB-9856-B206-1DEDA77D3539}"/>
                </a:ext>
              </a:extLst>
            </p:cNvPr>
            <p:cNvSpPr/>
            <p:nvPr/>
          </p:nvSpPr>
          <p:spPr>
            <a:xfrm>
              <a:off x="859355" y="2578173"/>
              <a:ext cx="2418990" cy="364855"/>
            </a:xfrm>
            <a:prstGeom prst="rect">
              <a:avLst/>
            </a:prstGeom>
            <a:noFill/>
            <a:ln/>
          </p:spPr>
          <p:txBody>
            <a:bodyPr wrap="square" lIns="0" tIns="0" rIns="0" bIns="0" rtlCol="0" anchor="t"/>
            <a:lstStyle/>
            <a:p>
              <a:r>
                <a:rPr lang="en-US" sz="1400" dirty="0">
                  <a:latin typeface="Open Sans" pitchFamily="34" charset="0"/>
                  <a:ea typeface="Open Sans" pitchFamily="34" charset="-122"/>
                  <a:cs typeface="Open Sans" pitchFamily="34" charset="-120"/>
                </a:rPr>
                <a:t>Naming rules, response format, ORM-only SQL.</a:t>
              </a:r>
              <a:endParaRPr lang="en-US" sz="1400" dirty="0"/>
            </a:p>
          </p:txBody>
        </p:sp>
      </p:grpSp>
      <p:sp>
        <p:nvSpPr>
          <p:cNvPr id="62" name="Text 5">
            <a:extLst>
              <a:ext uri="{FF2B5EF4-FFF2-40B4-BE49-F238E27FC236}">
                <a16:creationId xmlns:a16="http://schemas.microsoft.com/office/drawing/2014/main" id="{B31687C8-A091-D2D1-10BF-EB7B6E99D34F}"/>
              </a:ext>
            </a:extLst>
          </p:cNvPr>
          <p:cNvSpPr/>
          <p:nvPr/>
        </p:nvSpPr>
        <p:spPr>
          <a:xfrm>
            <a:off x="3478867" y="3412366"/>
            <a:ext cx="2443893" cy="482931"/>
          </a:xfrm>
          <a:prstGeom prst="rect">
            <a:avLst/>
          </a:prstGeom>
          <a:noFill/>
          <a:ln/>
        </p:spPr>
        <p:txBody>
          <a:bodyPr wrap="square" lIns="0" tIns="0" rIns="0" bIns="0" rtlCol="0" anchor="t"/>
          <a:lstStyle/>
          <a:p>
            <a:r>
              <a:rPr lang="en-US" sz="1200" i="1" dirty="0">
                <a:solidFill>
                  <a:schemeClr val="tx1">
                    <a:lumMod val="60000"/>
                    <a:lumOff val="40000"/>
                  </a:schemeClr>
                </a:solidFill>
                <a:latin typeface="Open Sans" pitchFamily="34" charset="0"/>
                <a:ea typeface="Open Sans" pitchFamily="34" charset="-122"/>
                <a:cs typeface="Open Sans" pitchFamily="34" charset="-120"/>
              </a:rPr>
              <a:t>"</a:t>
            </a:r>
            <a:r>
              <a:rPr lang="en-US" sz="1200" i="1" dirty="0" err="1">
                <a:solidFill>
                  <a:schemeClr val="tx1">
                    <a:lumMod val="60000"/>
                    <a:lumOff val="40000"/>
                  </a:schemeClr>
                </a:solidFill>
                <a:latin typeface="Open Sans" pitchFamily="34" charset="0"/>
                <a:ea typeface="Open Sans" pitchFamily="34" charset="-122"/>
                <a:cs typeface="Open Sans" pitchFamily="34" charset="-120"/>
              </a:rPr>
              <a:t>snake_case</a:t>
            </a:r>
            <a:r>
              <a:rPr lang="en-US" sz="1200" i="1" dirty="0">
                <a:solidFill>
                  <a:schemeClr val="tx1">
                    <a:lumMod val="60000"/>
                    <a:lumOff val="40000"/>
                  </a:schemeClr>
                </a:solidFill>
                <a:latin typeface="Open Sans" pitchFamily="34" charset="0"/>
                <a:ea typeface="Open Sans" pitchFamily="34" charset="-122"/>
                <a:cs typeface="Open Sans" pitchFamily="34" charset="-120"/>
              </a:rPr>
              <a:t> everywhere. Routes return JSON: {data, error, status}."</a:t>
            </a:r>
            <a:endParaRPr lang="en-US" sz="1200" dirty="0">
              <a:solidFill>
                <a:schemeClr val="tx1">
                  <a:lumMod val="60000"/>
                  <a:lumOff val="40000"/>
                </a:schemeClr>
              </a:solidFill>
            </a:endParaRPr>
          </a:p>
        </p:txBody>
      </p:sp>
      <p:cxnSp>
        <p:nvCxnSpPr>
          <p:cNvPr id="63" name="Straight Connector 62">
            <a:extLst>
              <a:ext uri="{FF2B5EF4-FFF2-40B4-BE49-F238E27FC236}">
                <a16:creationId xmlns:a16="http://schemas.microsoft.com/office/drawing/2014/main" id="{FA143574-A003-853D-833E-0B27A2FFE663}"/>
              </a:ext>
            </a:extLst>
          </p:cNvPr>
          <p:cNvCxnSpPr>
            <a:cxnSpLocks/>
          </p:cNvCxnSpPr>
          <p:nvPr/>
        </p:nvCxnSpPr>
        <p:spPr>
          <a:xfrm>
            <a:off x="3317600" y="3167359"/>
            <a:ext cx="0" cy="972945"/>
          </a:xfrm>
          <a:prstGeom prst="line">
            <a:avLst/>
          </a:prstGeom>
          <a:ln w="12700">
            <a:solidFill>
              <a:schemeClr val="bg1">
                <a:lumMod val="75000"/>
                <a:alpha val="42911"/>
              </a:schemeClr>
            </a:solidFil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9B99ADBC-FCBA-4C4A-EDAC-1E1ABACC2674}"/>
              </a:ext>
            </a:extLst>
          </p:cNvPr>
          <p:cNvGrpSpPr/>
          <p:nvPr/>
        </p:nvGrpSpPr>
        <p:grpSpPr>
          <a:xfrm>
            <a:off x="6463287" y="1753124"/>
            <a:ext cx="2418990" cy="778358"/>
            <a:chOff x="859355" y="2164670"/>
            <a:chExt cx="2418990" cy="778358"/>
          </a:xfrm>
        </p:grpSpPr>
        <p:sp>
          <p:nvSpPr>
            <p:cNvPr id="65" name="Text 3">
              <a:extLst>
                <a:ext uri="{FF2B5EF4-FFF2-40B4-BE49-F238E27FC236}">
                  <a16:creationId xmlns:a16="http://schemas.microsoft.com/office/drawing/2014/main" id="{D408A227-D645-5A6E-F91D-8487F289C282}"/>
                </a:ext>
              </a:extLst>
            </p:cNvPr>
            <p:cNvSpPr/>
            <p:nvPr/>
          </p:nvSpPr>
          <p:spPr>
            <a:xfrm>
              <a:off x="859355" y="2164670"/>
              <a:ext cx="2106476" cy="364855"/>
            </a:xfrm>
            <a:prstGeom prst="rect">
              <a:avLst/>
            </a:prstGeom>
            <a:noFill/>
            <a:ln/>
          </p:spPr>
          <p:txBody>
            <a:bodyPr wrap="square" lIns="0" tIns="0" rIns="0" bIns="0" rtlCol="0" anchor="ctr"/>
            <a:lstStyle/>
            <a:p>
              <a:r>
                <a:rPr lang="en-US" sz="1596" b="1" dirty="0">
                  <a:solidFill>
                    <a:schemeClr val="accent2"/>
                  </a:solidFill>
                  <a:latin typeface="Open Sans" pitchFamily="34" charset="0"/>
                  <a:ea typeface="Open Sans" pitchFamily="34" charset="-122"/>
                  <a:cs typeface="Open Sans" pitchFamily="34" charset="-120"/>
                </a:rPr>
                <a:t>2.  Tech Stack</a:t>
              </a:r>
              <a:endParaRPr lang="en-US" sz="1596" dirty="0">
                <a:solidFill>
                  <a:schemeClr val="accent2"/>
                </a:solidFill>
              </a:endParaRPr>
            </a:p>
          </p:txBody>
        </p:sp>
        <p:sp>
          <p:nvSpPr>
            <p:cNvPr id="66" name="Text 4">
              <a:extLst>
                <a:ext uri="{FF2B5EF4-FFF2-40B4-BE49-F238E27FC236}">
                  <a16:creationId xmlns:a16="http://schemas.microsoft.com/office/drawing/2014/main" id="{84C617F0-C306-079D-836B-FED27E09BA05}"/>
                </a:ext>
              </a:extLst>
            </p:cNvPr>
            <p:cNvSpPr/>
            <p:nvPr/>
          </p:nvSpPr>
          <p:spPr>
            <a:xfrm>
              <a:off x="859355" y="2578173"/>
              <a:ext cx="2418990" cy="364855"/>
            </a:xfrm>
            <a:prstGeom prst="rect">
              <a:avLst/>
            </a:prstGeom>
            <a:noFill/>
            <a:ln/>
          </p:spPr>
          <p:txBody>
            <a:bodyPr wrap="square" lIns="0" tIns="0" rIns="0" bIns="0" rtlCol="0" anchor="t"/>
            <a:lstStyle/>
            <a:p>
              <a:r>
                <a:rPr lang="en-US" sz="1400" dirty="0">
                  <a:latin typeface="Open Sans" pitchFamily="34" charset="0"/>
                  <a:ea typeface="Open Sans" pitchFamily="34" charset="-122"/>
                  <a:cs typeface="Open Sans" pitchFamily="34" charset="-120"/>
                </a:rPr>
                <a:t>Languages, frameworks, DB, libraries. Versions matter.</a:t>
              </a:r>
              <a:endParaRPr lang="en-US" sz="1400" dirty="0"/>
            </a:p>
          </p:txBody>
        </p:sp>
      </p:grpSp>
      <p:sp>
        <p:nvSpPr>
          <p:cNvPr id="67" name="Text 5">
            <a:extLst>
              <a:ext uri="{FF2B5EF4-FFF2-40B4-BE49-F238E27FC236}">
                <a16:creationId xmlns:a16="http://schemas.microsoft.com/office/drawing/2014/main" id="{C65FF481-EC67-F08E-FDAA-277C57E226F5}"/>
              </a:ext>
            </a:extLst>
          </p:cNvPr>
          <p:cNvSpPr/>
          <p:nvPr/>
        </p:nvSpPr>
        <p:spPr>
          <a:xfrm>
            <a:off x="9072002" y="1900838"/>
            <a:ext cx="2448178" cy="482931"/>
          </a:xfrm>
          <a:prstGeom prst="rect">
            <a:avLst/>
          </a:prstGeom>
          <a:noFill/>
          <a:ln/>
        </p:spPr>
        <p:txBody>
          <a:bodyPr wrap="square" lIns="0" tIns="0" rIns="0" bIns="0" rtlCol="0" anchor="t"/>
          <a:lstStyle/>
          <a:p>
            <a:r>
              <a:rPr lang="en-US" sz="1200" i="1" dirty="0">
                <a:solidFill>
                  <a:schemeClr val="tx1">
                    <a:lumMod val="60000"/>
                    <a:lumOff val="40000"/>
                  </a:schemeClr>
                </a:solidFill>
                <a:latin typeface="Open Sans" pitchFamily="34" charset="0"/>
                <a:ea typeface="Open Sans" pitchFamily="34" charset="-122"/>
                <a:cs typeface="Open Sans" pitchFamily="34" charset="-120"/>
              </a:rPr>
              <a:t>"Flask 3.0 · </a:t>
            </a:r>
            <a:r>
              <a:rPr lang="en-US" sz="1200" i="1" dirty="0" err="1">
                <a:solidFill>
                  <a:schemeClr val="tx1">
                    <a:lumMod val="60000"/>
                    <a:lumOff val="40000"/>
                  </a:schemeClr>
                </a:solidFill>
                <a:latin typeface="Open Sans" pitchFamily="34" charset="0"/>
                <a:ea typeface="Open Sans" pitchFamily="34" charset="-122"/>
                <a:cs typeface="Open Sans" pitchFamily="34" charset="-120"/>
              </a:rPr>
              <a:t>SQLAlchemy</a:t>
            </a:r>
            <a:r>
              <a:rPr lang="en-US" sz="1200" i="1" dirty="0">
                <a:solidFill>
                  <a:schemeClr val="tx1">
                    <a:lumMod val="60000"/>
                    <a:lumOff val="40000"/>
                  </a:schemeClr>
                </a:solidFill>
                <a:latin typeface="Open Sans" pitchFamily="34" charset="0"/>
                <a:ea typeface="Open Sans" pitchFamily="34" charset="-122"/>
                <a:cs typeface="Open Sans" pitchFamily="34" charset="-120"/>
              </a:rPr>
              <a:t> · SQLite · Python 3.11 · Entry: </a:t>
            </a:r>
            <a:r>
              <a:rPr lang="en-US" sz="1200" i="1" dirty="0" err="1">
                <a:solidFill>
                  <a:schemeClr val="tx1">
                    <a:lumMod val="60000"/>
                    <a:lumOff val="40000"/>
                  </a:schemeClr>
                </a:solidFill>
                <a:latin typeface="Open Sans" pitchFamily="34" charset="0"/>
                <a:ea typeface="Open Sans" pitchFamily="34" charset="-122"/>
                <a:cs typeface="Open Sans" pitchFamily="34" charset="-120"/>
              </a:rPr>
              <a:t>app.py</a:t>
            </a:r>
            <a:r>
              <a:rPr lang="en-US" sz="1200" i="1" dirty="0">
                <a:solidFill>
                  <a:schemeClr val="tx1">
                    <a:lumMod val="60000"/>
                    <a:lumOff val="40000"/>
                  </a:schemeClr>
                </a:solidFill>
                <a:latin typeface="Open Sans" pitchFamily="34" charset="0"/>
                <a:ea typeface="Open Sans" pitchFamily="34" charset="-122"/>
                <a:cs typeface="Open Sans" pitchFamily="34" charset="-120"/>
              </a:rPr>
              <a:t>"</a:t>
            </a:r>
            <a:endParaRPr lang="en-US" sz="1200" dirty="0">
              <a:solidFill>
                <a:schemeClr val="tx1">
                  <a:lumMod val="60000"/>
                  <a:lumOff val="40000"/>
                </a:schemeClr>
              </a:solidFill>
            </a:endParaRPr>
          </a:p>
        </p:txBody>
      </p:sp>
      <p:cxnSp>
        <p:nvCxnSpPr>
          <p:cNvPr id="68" name="Straight Connector 67">
            <a:extLst>
              <a:ext uri="{FF2B5EF4-FFF2-40B4-BE49-F238E27FC236}">
                <a16:creationId xmlns:a16="http://schemas.microsoft.com/office/drawing/2014/main" id="{79F5217A-9422-9CB1-D1CA-A105D1E46B5F}"/>
              </a:ext>
            </a:extLst>
          </p:cNvPr>
          <p:cNvCxnSpPr>
            <a:cxnSpLocks/>
          </p:cNvCxnSpPr>
          <p:nvPr/>
        </p:nvCxnSpPr>
        <p:spPr>
          <a:xfrm>
            <a:off x="8910736" y="1655831"/>
            <a:ext cx="0" cy="972945"/>
          </a:xfrm>
          <a:prstGeom prst="line">
            <a:avLst/>
          </a:prstGeom>
          <a:ln w="12700">
            <a:solidFill>
              <a:schemeClr val="bg1">
                <a:lumMod val="75000"/>
                <a:alpha val="42911"/>
              </a:schemeClr>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A4BB85BE-3A27-59DE-7F83-894ACB10004C}"/>
              </a:ext>
            </a:extLst>
          </p:cNvPr>
          <p:cNvGrpSpPr/>
          <p:nvPr/>
        </p:nvGrpSpPr>
        <p:grpSpPr>
          <a:xfrm>
            <a:off x="6463288" y="3200256"/>
            <a:ext cx="2418991" cy="778358"/>
            <a:chOff x="859354" y="2164670"/>
            <a:chExt cx="2418991" cy="778358"/>
          </a:xfrm>
        </p:grpSpPr>
        <p:sp>
          <p:nvSpPr>
            <p:cNvPr id="70" name="Text 3">
              <a:extLst>
                <a:ext uri="{FF2B5EF4-FFF2-40B4-BE49-F238E27FC236}">
                  <a16:creationId xmlns:a16="http://schemas.microsoft.com/office/drawing/2014/main" id="{A5EBD7F4-1D2B-833F-EDEF-21101E616344}"/>
                </a:ext>
              </a:extLst>
            </p:cNvPr>
            <p:cNvSpPr/>
            <p:nvPr/>
          </p:nvSpPr>
          <p:spPr>
            <a:xfrm>
              <a:off x="859354" y="2164670"/>
              <a:ext cx="2389797" cy="364855"/>
            </a:xfrm>
            <a:prstGeom prst="rect">
              <a:avLst/>
            </a:prstGeom>
            <a:noFill/>
            <a:ln/>
          </p:spPr>
          <p:txBody>
            <a:bodyPr wrap="square" lIns="0" tIns="0" rIns="0" bIns="0" rtlCol="0" anchor="ctr"/>
            <a:lstStyle/>
            <a:p>
              <a:r>
                <a:rPr lang="en-US" sz="1596" b="1" dirty="0">
                  <a:solidFill>
                    <a:schemeClr val="accent2"/>
                  </a:solidFill>
                  <a:latin typeface="Open Sans" pitchFamily="34" charset="0"/>
                  <a:ea typeface="Open Sans" pitchFamily="34" charset="-122"/>
                  <a:cs typeface="Open Sans" pitchFamily="34" charset="-120"/>
                </a:rPr>
                <a:t>4.  Do-Not-Touch Zones</a:t>
              </a:r>
              <a:endParaRPr lang="en-US" sz="1596" dirty="0">
                <a:solidFill>
                  <a:schemeClr val="accent2"/>
                </a:solidFill>
              </a:endParaRPr>
            </a:p>
          </p:txBody>
        </p:sp>
        <p:sp>
          <p:nvSpPr>
            <p:cNvPr id="71" name="Text 4">
              <a:extLst>
                <a:ext uri="{FF2B5EF4-FFF2-40B4-BE49-F238E27FC236}">
                  <a16:creationId xmlns:a16="http://schemas.microsoft.com/office/drawing/2014/main" id="{C3AF965C-AB3B-5263-D1E4-65201FFA8F89}"/>
                </a:ext>
              </a:extLst>
            </p:cNvPr>
            <p:cNvSpPr/>
            <p:nvPr/>
          </p:nvSpPr>
          <p:spPr>
            <a:xfrm>
              <a:off x="859355" y="2578173"/>
              <a:ext cx="2418990" cy="364855"/>
            </a:xfrm>
            <a:prstGeom prst="rect">
              <a:avLst/>
            </a:prstGeom>
            <a:noFill/>
            <a:ln/>
          </p:spPr>
          <p:txBody>
            <a:bodyPr wrap="square" lIns="0" tIns="0" rIns="0" bIns="0" rtlCol="0" anchor="t"/>
            <a:lstStyle/>
            <a:p>
              <a:r>
                <a:rPr lang="en-US" sz="1400" dirty="0">
                  <a:latin typeface="Open Sans" pitchFamily="34" charset="0"/>
                  <a:ea typeface="Open Sans" pitchFamily="34" charset="-122"/>
                  <a:cs typeface="Open Sans" pitchFamily="34" charset="-120"/>
                </a:rPr>
                <a:t>Files or logic that must not be modified.</a:t>
              </a:r>
              <a:endParaRPr lang="en-US" sz="1400" dirty="0"/>
            </a:p>
          </p:txBody>
        </p:sp>
      </p:grpSp>
      <p:sp>
        <p:nvSpPr>
          <p:cNvPr id="72" name="Text 5">
            <a:extLst>
              <a:ext uri="{FF2B5EF4-FFF2-40B4-BE49-F238E27FC236}">
                <a16:creationId xmlns:a16="http://schemas.microsoft.com/office/drawing/2014/main" id="{ABEC2E8C-BC86-48D4-DDE4-4310B00100DB}"/>
              </a:ext>
            </a:extLst>
          </p:cNvPr>
          <p:cNvSpPr/>
          <p:nvPr/>
        </p:nvSpPr>
        <p:spPr>
          <a:xfrm>
            <a:off x="9072004" y="3371824"/>
            <a:ext cx="2443893" cy="482931"/>
          </a:xfrm>
          <a:prstGeom prst="rect">
            <a:avLst/>
          </a:prstGeom>
          <a:noFill/>
          <a:ln/>
        </p:spPr>
        <p:txBody>
          <a:bodyPr wrap="square" lIns="0" tIns="0" rIns="0" bIns="0" rtlCol="0" anchor="t"/>
          <a:lstStyle/>
          <a:p>
            <a:r>
              <a:rPr lang="en-US" sz="1200" i="1" dirty="0">
                <a:solidFill>
                  <a:schemeClr val="tx1">
                    <a:lumMod val="60000"/>
                    <a:lumOff val="40000"/>
                  </a:schemeClr>
                </a:solidFill>
                <a:latin typeface="Open Sans" pitchFamily="34" charset="0"/>
                <a:ea typeface="Open Sans" pitchFamily="34" charset="-122"/>
                <a:cs typeface="Open Sans" pitchFamily="34" charset="-120"/>
              </a:rPr>
              <a:t>"Do not edit </a:t>
            </a:r>
            <a:r>
              <a:rPr lang="en-US" sz="1200" i="1" dirty="0" err="1">
                <a:solidFill>
                  <a:schemeClr val="tx1">
                    <a:lumMod val="60000"/>
                    <a:lumOff val="40000"/>
                  </a:schemeClr>
                </a:solidFill>
                <a:latin typeface="Open Sans" pitchFamily="34" charset="0"/>
                <a:ea typeface="Open Sans" pitchFamily="34" charset="-122"/>
                <a:cs typeface="Open Sans" pitchFamily="34" charset="-120"/>
              </a:rPr>
              <a:t>db</a:t>
            </a:r>
            <a:r>
              <a:rPr lang="en-US" sz="1200" i="1" dirty="0">
                <a:solidFill>
                  <a:schemeClr val="tx1">
                    <a:lumMod val="60000"/>
                    <a:lumOff val="40000"/>
                  </a:schemeClr>
                </a:solidFill>
                <a:latin typeface="Open Sans" pitchFamily="34" charset="0"/>
                <a:ea typeface="Open Sans" pitchFamily="34" charset="-122"/>
                <a:cs typeface="Open Sans" pitchFamily="34" charset="-120"/>
              </a:rPr>
              <a:t>/</a:t>
            </a:r>
            <a:r>
              <a:rPr lang="en-US" sz="1200" i="1" dirty="0" err="1">
                <a:solidFill>
                  <a:schemeClr val="tx1">
                    <a:lumMod val="60000"/>
                    <a:lumOff val="40000"/>
                  </a:schemeClr>
                </a:solidFill>
                <a:latin typeface="Open Sans" pitchFamily="34" charset="0"/>
                <a:ea typeface="Open Sans" pitchFamily="34" charset="-122"/>
                <a:cs typeface="Open Sans" pitchFamily="34" charset="-120"/>
              </a:rPr>
              <a:t>schema.sql</a:t>
            </a:r>
            <a:r>
              <a:rPr lang="en-US" sz="1200" i="1" dirty="0">
                <a:solidFill>
                  <a:schemeClr val="tx1">
                    <a:lumMod val="60000"/>
                    <a:lumOff val="40000"/>
                  </a:schemeClr>
                </a:solidFill>
                <a:latin typeface="Open Sans" pitchFamily="34" charset="0"/>
                <a:ea typeface="Open Sans" pitchFamily="34" charset="-122"/>
                <a:cs typeface="Open Sans" pitchFamily="34" charset="-120"/>
              </a:rPr>
              <a:t> directly. Do not remove /health route."</a:t>
            </a:r>
            <a:endParaRPr lang="en-US" sz="1200" dirty="0">
              <a:solidFill>
                <a:schemeClr val="tx1">
                  <a:lumMod val="60000"/>
                  <a:lumOff val="40000"/>
                </a:schemeClr>
              </a:solidFill>
            </a:endParaRPr>
          </a:p>
        </p:txBody>
      </p:sp>
      <p:cxnSp>
        <p:nvCxnSpPr>
          <p:cNvPr id="73" name="Straight Connector 72">
            <a:extLst>
              <a:ext uri="{FF2B5EF4-FFF2-40B4-BE49-F238E27FC236}">
                <a16:creationId xmlns:a16="http://schemas.microsoft.com/office/drawing/2014/main" id="{27FF37F1-8768-7857-3D6B-698EADE689F5}"/>
              </a:ext>
            </a:extLst>
          </p:cNvPr>
          <p:cNvCxnSpPr>
            <a:cxnSpLocks/>
          </p:cNvCxnSpPr>
          <p:nvPr/>
        </p:nvCxnSpPr>
        <p:spPr>
          <a:xfrm>
            <a:off x="8910737" y="3142719"/>
            <a:ext cx="0" cy="972945"/>
          </a:xfrm>
          <a:prstGeom prst="line">
            <a:avLst/>
          </a:prstGeom>
          <a:ln w="12700">
            <a:solidFill>
              <a:schemeClr val="bg1">
                <a:lumMod val="75000"/>
                <a:alpha val="42911"/>
              </a:schemeClr>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6F03BB7D-D685-B4A2-4C0F-90341D4F82A8}"/>
              </a:ext>
            </a:extLst>
          </p:cNvPr>
          <p:cNvGrpSpPr/>
          <p:nvPr/>
        </p:nvGrpSpPr>
        <p:grpSpPr>
          <a:xfrm>
            <a:off x="870151" y="4707021"/>
            <a:ext cx="4480255" cy="778358"/>
            <a:chOff x="859354" y="2164670"/>
            <a:chExt cx="4480255" cy="778358"/>
          </a:xfrm>
        </p:grpSpPr>
        <p:sp>
          <p:nvSpPr>
            <p:cNvPr id="75" name="Text 3">
              <a:extLst>
                <a:ext uri="{FF2B5EF4-FFF2-40B4-BE49-F238E27FC236}">
                  <a16:creationId xmlns:a16="http://schemas.microsoft.com/office/drawing/2014/main" id="{FF009D8B-9FFD-9447-EB3B-D4D3B07F6864}"/>
                </a:ext>
              </a:extLst>
            </p:cNvPr>
            <p:cNvSpPr/>
            <p:nvPr/>
          </p:nvSpPr>
          <p:spPr>
            <a:xfrm>
              <a:off x="859354" y="2164670"/>
              <a:ext cx="2389797" cy="364855"/>
            </a:xfrm>
            <a:prstGeom prst="rect">
              <a:avLst/>
            </a:prstGeom>
            <a:noFill/>
            <a:ln/>
          </p:spPr>
          <p:txBody>
            <a:bodyPr wrap="square" lIns="0" tIns="0" rIns="0" bIns="0" rtlCol="0" anchor="ctr"/>
            <a:lstStyle/>
            <a:p>
              <a:r>
                <a:rPr lang="en-US" sz="1596" b="1" dirty="0">
                  <a:solidFill>
                    <a:schemeClr val="accent2"/>
                  </a:solidFill>
                  <a:latin typeface="Open Sans" pitchFamily="34" charset="0"/>
                  <a:ea typeface="Open Sans" pitchFamily="34" charset="-122"/>
                  <a:cs typeface="Open Sans" pitchFamily="34" charset="-120"/>
                </a:rPr>
                <a:t>5.  Useful Context</a:t>
              </a:r>
              <a:endParaRPr lang="en-US" sz="1596" dirty="0">
                <a:solidFill>
                  <a:schemeClr val="accent2"/>
                </a:solidFill>
              </a:endParaRPr>
            </a:p>
          </p:txBody>
        </p:sp>
        <p:sp>
          <p:nvSpPr>
            <p:cNvPr id="76" name="Text 4">
              <a:extLst>
                <a:ext uri="{FF2B5EF4-FFF2-40B4-BE49-F238E27FC236}">
                  <a16:creationId xmlns:a16="http://schemas.microsoft.com/office/drawing/2014/main" id="{778F269F-DCE0-9BBD-A8FA-91AB01C2CAAF}"/>
                </a:ext>
              </a:extLst>
            </p:cNvPr>
            <p:cNvSpPr/>
            <p:nvPr/>
          </p:nvSpPr>
          <p:spPr>
            <a:xfrm>
              <a:off x="859354" y="2578173"/>
              <a:ext cx="4480255" cy="364855"/>
            </a:xfrm>
            <a:prstGeom prst="rect">
              <a:avLst/>
            </a:prstGeom>
            <a:noFill/>
            <a:ln/>
          </p:spPr>
          <p:txBody>
            <a:bodyPr wrap="square" lIns="0" tIns="0" rIns="0" bIns="0" rtlCol="0" anchor="t"/>
            <a:lstStyle/>
            <a:p>
              <a:r>
                <a:rPr lang="en-US" sz="1400" dirty="0">
                  <a:latin typeface="Open Sans" pitchFamily="34" charset="0"/>
                  <a:ea typeface="Open Sans" pitchFamily="34" charset="-122"/>
                  <a:cs typeface="Open Sans" pitchFamily="34" charset="-120"/>
                </a:rPr>
                <a:t>Anything a new engineer would need to know.</a:t>
              </a:r>
              <a:endParaRPr lang="en-US" sz="1400" dirty="0"/>
            </a:p>
          </p:txBody>
        </p:sp>
      </p:grpSp>
      <p:sp>
        <p:nvSpPr>
          <p:cNvPr id="77" name="Text 5">
            <a:extLst>
              <a:ext uri="{FF2B5EF4-FFF2-40B4-BE49-F238E27FC236}">
                <a16:creationId xmlns:a16="http://schemas.microsoft.com/office/drawing/2014/main" id="{3EE3DB86-87DA-2B1D-8E89-5605F70A18E6}"/>
              </a:ext>
            </a:extLst>
          </p:cNvPr>
          <p:cNvSpPr/>
          <p:nvPr/>
        </p:nvSpPr>
        <p:spPr>
          <a:xfrm>
            <a:off x="6628109" y="4979994"/>
            <a:ext cx="4812994" cy="232413"/>
          </a:xfrm>
          <a:prstGeom prst="rect">
            <a:avLst/>
          </a:prstGeom>
          <a:noFill/>
          <a:ln/>
        </p:spPr>
        <p:txBody>
          <a:bodyPr wrap="square" lIns="0" tIns="0" rIns="0" bIns="0" rtlCol="0" anchor="t"/>
          <a:lstStyle/>
          <a:p>
            <a:r>
              <a:rPr lang="en-US" sz="1200" i="1" dirty="0">
                <a:solidFill>
                  <a:schemeClr val="tx1">
                    <a:lumMod val="60000"/>
                    <a:lumOff val="40000"/>
                  </a:schemeClr>
                </a:solidFill>
                <a:latin typeface="Open Sans" pitchFamily="34" charset="0"/>
                <a:ea typeface="Open Sans" pitchFamily="34" charset="-122"/>
                <a:cs typeface="Open Sans" pitchFamily="34" charset="-120"/>
              </a:rPr>
              <a:t>"</a:t>
            </a:r>
            <a:r>
              <a:rPr lang="en-US" sz="1200" i="1" dirty="0" err="1">
                <a:solidFill>
                  <a:schemeClr val="tx1">
                    <a:lumMod val="60000"/>
                    <a:lumOff val="40000"/>
                  </a:schemeClr>
                </a:solidFill>
                <a:latin typeface="Open Sans" pitchFamily="34" charset="0"/>
                <a:ea typeface="Open Sans" pitchFamily="34" charset="-122"/>
                <a:cs typeface="Open Sans" pitchFamily="34" charset="-120"/>
              </a:rPr>
              <a:t>conflict.py</a:t>
            </a:r>
            <a:r>
              <a:rPr lang="en-US" sz="1200" i="1" dirty="0">
                <a:solidFill>
                  <a:schemeClr val="tx1">
                    <a:lumMod val="60000"/>
                    <a:lumOff val="40000"/>
                  </a:schemeClr>
                </a:solidFill>
                <a:latin typeface="Open Sans" pitchFamily="34" charset="0"/>
                <a:ea typeface="Open Sans" pitchFamily="34" charset="-122"/>
                <a:cs typeface="Open Sans" pitchFamily="34" charset="-120"/>
              </a:rPr>
              <a:t> boundary is intentionally strict — do not loosen."</a:t>
            </a:r>
            <a:endParaRPr lang="en-US" sz="1200" dirty="0">
              <a:solidFill>
                <a:schemeClr val="tx1">
                  <a:lumMod val="60000"/>
                  <a:lumOff val="40000"/>
                </a:schemeClr>
              </a:solidFill>
            </a:endParaRPr>
          </a:p>
        </p:txBody>
      </p:sp>
      <p:cxnSp>
        <p:nvCxnSpPr>
          <p:cNvPr id="78" name="Straight Connector 77">
            <a:extLst>
              <a:ext uri="{FF2B5EF4-FFF2-40B4-BE49-F238E27FC236}">
                <a16:creationId xmlns:a16="http://schemas.microsoft.com/office/drawing/2014/main" id="{BCE4D272-7753-7C80-115F-4D69B6B289BD}"/>
              </a:ext>
            </a:extLst>
          </p:cNvPr>
          <p:cNvCxnSpPr>
            <a:cxnSpLocks/>
          </p:cNvCxnSpPr>
          <p:nvPr/>
        </p:nvCxnSpPr>
        <p:spPr>
          <a:xfrm>
            <a:off x="6115449" y="4609728"/>
            <a:ext cx="0" cy="972945"/>
          </a:xfrm>
          <a:prstGeom prst="line">
            <a:avLst/>
          </a:prstGeom>
          <a:ln w="12700">
            <a:solidFill>
              <a:schemeClr val="bg1">
                <a:lumMod val="75000"/>
                <a:alpha val="42911"/>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101610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5">
            <a:extLst>
              <a:ext uri="{FF2B5EF4-FFF2-40B4-BE49-F238E27FC236}">
                <a16:creationId xmlns:a16="http://schemas.microsoft.com/office/drawing/2014/main" id="{0402C6E9-7A9D-FA24-3A69-29F28EB44810}"/>
              </a:ext>
            </a:extLst>
          </p:cNvPr>
          <p:cNvSpPr/>
          <p:nvPr/>
        </p:nvSpPr>
        <p:spPr>
          <a:xfrm>
            <a:off x="6329917" y="1160864"/>
            <a:ext cx="5303520" cy="786780"/>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1">
            <a:extLst>
              <a:ext uri="{FF2B5EF4-FFF2-40B4-BE49-F238E27FC236}">
                <a16:creationId xmlns:a16="http://schemas.microsoft.com/office/drawing/2014/main" id="{056D0385-6365-9393-02EC-D54BB63EE078}"/>
              </a:ext>
            </a:extLst>
          </p:cNvPr>
          <p:cNvSpPr/>
          <p:nvPr/>
        </p:nvSpPr>
        <p:spPr>
          <a:xfrm>
            <a:off x="558565" y="1160864"/>
            <a:ext cx="5303520" cy="786780"/>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5">
            <a:extLst>
              <a:ext uri="{FF2B5EF4-FFF2-40B4-BE49-F238E27FC236}">
                <a16:creationId xmlns:a16="http://schemas.microsoft.com/office/drawing/2014/main" id="{D704EA51-4CC0-C2BB-AB6C-6115878523FD}"/>
              </a:ext>
            </a:extLst>
          </p:cNvPr>
          <p:cNvSpPr/>
          <p:nvPr/>
        </p:nvSpPr>
        <p:spPr>
          <a:xfrm>
            <a:off x="6329917" y="2138026"/>
            <a:ext cx="5303520" cy="786780"/>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3">
            <a:extLst>
              <a:ext uri="{FF2B5EF4-FFF2-40B4-BE49-F238E27FC236}">
                <a16:creationId xmlns:a16="http://schemas.microsoft.com/office/drawing/2014/main" id="{3D0262AB-4492-75ED-117A-AFDD1143F528}"/>
              </a:ext>
            </a:extLst>
          </p:cNvPr>
          <p:cNvSpPr/>
          <p:nvPr/>
        </p:nvSpPr>
        <p:spPr>
          <a:xfrm>
            <a:off x="683984" y="1554254"/>
            <a:ext cx="10824035" cy="0"/>
          </a:xfrm>
          <a:prstGeom prst="line">
            <a:avLst/>
          </a:prstGeom>
          <a:noFill/>
          <a:ln w="9525">
            <a:solidFill>
              <a:srgbClr val="F2F2F2"/>
            </a:solidFill>
            <a:prstDash val="solid"/>
          </a:ln>
        </p:spPr>
        <p:txBody>
          <a:bodyPr/>
          <a:lstStyle/>
          <a:p>
            <a:endParaRPr lang="en-US" sz="3187"/>
          </a:p>
        </p:txBody>
      </p:sp>
      <p:sp>
        <p:nvSpPr>
          <p:cNvPr id="4" name="Shape 1">
            <a:extLst>
              <a:ext uri="{FF2B5EF4-FFF2-40B4-BE49-F238E27FC236}">
                <a16:creationId xmlns:a16="http://schemas.microsoft.com/office/drawing/2014/main" id="{338EA0A6-DC43-BA8A-F49A-533D78044E7E}"/>
              </a:ext>
            </a:extLst>
          </p:cNvPr>
          <p:cNvSpPr/>
          <p:nvPr/>
        </p:nvSpPr>
        <p:spPr>
          <a:xfrm>
            <a:off x="558565" y="2138026"/>
            <a:ext cx="5303520" cy="786780"/>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6"/>
          <p:cNvSpPr/>
          <p:nvPr/>
        </p:nvSpPr>
        <p:spPr>
          <a:xfrm>
            <a:off x="747551" y="1280613"/>
            <a:ext cx="364855" cy="547283"/>
          </a:xfrm>
          <a:prstGeom prst="rect">
            <a:avLst/>
          </a:prstGeom>
          <a:noFill/>
          <a:ln/>
        </p:spPr>
        <p:txBody>
          <a:bodyPr wrap="square" lIns="0" tIns="0" rIns="0" bIns="0" rtlCol="0" anchor="ctr"/>
          <a:lstStyle/>
          <a:p>
            <a:pPr algn="ctr"/>
            <a:r>
              <a:rPr lang="en-US" sz="2128" b="1">
                <a:solidFill>
                  <a:schemeClr val="accent3"/>
                </a:solidFill>
                <a:latin typeface="Open Sans Semibold" pitchFamily="34" charset="0"/>
                <a:ea typeface="Open Sans Semibold" pitchFamily="34" charset="-122"/>
                <a:cs typeface="Open Sans Semibold" pitchFamily="34" charset="-120"/>
              </a:rPr>
              <a:t>✗</a:t>
            </a:r>
            <a:endParaRPr lang="en-US" sz="2128" dirty="0">
              <a:solidFill>
                <a:schemeClr val="accent3"/>
              </a:solidFill>
            </a:endParaRPr>
          </a:p>
        </p:txBody>
      </p:sp>
      <p:sp>
        <p:nvSpPr>
          <p:cNvPr id="31" name="Shape 5">
            <a:extLst>
              <a:ext uri="{FF2B5EF4-FFF2-40B4-BE49-F238E27FC236}">
                <a16:creationId xmlns:a16="http://schemas.microsoft.com/office/drawing/2014/main" id="{7E0D8509-DDED-86A5-E28C-27FD3C8DFB8F}"/>
              </a:ext>
            </a:extLst>
          </p:cNvPr>
          <p:cNvSpPr/>
          <p:nvPr/>
        </p:nvSpPr>
        <p:spPr>
          <a:xfrm>
            <a:off x="6329917" y="3105759"/>
            <a:ext cx="5303520" cy="786780"/>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5">
            <a:extLst>
              <a:ext uri="{FF2B5EF4-FFF2-40B4-BE49-F238E27FC236}">
                <a16:creationId xmlns:a16="http://schemas.microsoft.com/office/drawing/2014/main" id="{046AC992-4C43-BE26-3C69-4F4DD4B5B234}"/>
              </a:ext>
            </a:extLst>
          </p:cNvPr>
          <p:cNvSpPr/>
          <p:nvPr/>
        </p:nvSpPr>
        <p:spPr>
          <a:xfrm>
            <a:off x="6329917" y="4193241"/>
            <a:ext cx="5303520" cy="786780"/>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1">
            <a:extLst>
              <a:ext uri="{FF2B5EF4-FFF2-40B4-BE49-F238E27FC236}">
                <a16:creationId xmlns:a16="http://schemas.microsoft.com/office/drawing/2014/main" id="{055FE9CC-3053-251E-39FE-85C6CA1B87AC}"/>
              </a:ext>
            </a:extLst>
          </p:cNvPr>
          <p:cNvSpPr/>
          <p:nvPr/>
        </p:nvSpPr>
        <p:spPr>
          <a:xfrm>
            <a:off x="558565" y="3105759"/>
            <a:ext cx="5303520" cy="786780"/>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7"/>
          <p:cNvSpPr/>
          <p:nvPr/>
        </p:nvSpPr>
        <p:spPr>
          <a:xfrm>
            <a:off x="1173215" y="1280613"/>
            <a:ext cx="5472827" cy="547283"/>
          </a:xfrm>
          <a:prstGeom prst="rect">
            <a:avLst/>
          </a:prstGeom>
          <a:noFill/>
          <a:ln/>
        </p:spPr>
        <p:txBody>
          <a:bodyPr wrap="square" lIns="0" tIns="0" rIns="0" bIns="0" rtlCol="0" anchor="ctr"/>
          <a:lstStyle/>
          <a:p>
            <a:r>
              <a:rPr lang="en-US" sz="1600" dirty="0">
                <a:latin typeface="Open Sans" panose="020B0606030504020204" pitchFamily="34" charset="0"/>
                <a:ea typeface="Open Sans" panose="020B0606030504020204" pitchFamily="34" charset="0"/>
                <a:cs typeface="Open Sans" panose="020B0606030504020204" pitchFamily="34" charset="0"/>
              </a:rPr>
              <a:t>Using # for section headers</a:t>
            </a:r>
          </a:p>
        </p:txBody>
      </p:sp>
      <p:sp>
        <p:nvSpPr>
          <p:cNvPr id="12" name="Text 8"/>
          <p:cNvSpPr/>
          <p:nvPr/>
        </p:nvSpPr>
        <p:spPr>
          <a:xfrm>
            <a:off x="5933451" y="1280613"/>
            <a:ext cx="364855" cy="547283"/>
          </a:xfrm>
          <a:prstGeom prst="rect">
            <a:avLst/>
          </a:prstGeom>
          <a:noFill/>
          <a:ln/>
        </p:spPr>
        <p:txBody>
          <a:bodyPr wrap="square" lIns="0" tIns="0" rIns="0" bIns="0" rtlCol="0" anchor="ctr"/>
          <a:lstStyle/>
          <a:p>
            <a:pPr algn="ctr"/>
            <a:r>
              <a:rPr lang="en-US" sz="1862" dirty="0">
                <a:latin typeface="Open Sans Semibold" pitchFamily="34" charset="0"/>
                <a:ea typeface="Open Sans Semibold" pitchFamily="34" charset="-122"/>
                <a:cs typeface="Open Sans Semibold" pitchFamily="34" charset="-120"/>
              </a:rPr>
              <a:t>→</a:t>
            </a:r>
            <a:endParaRPr lang="en-US" sz="1862" dirty="0"/>
          </a:p>
        </p:txBody>
      </p:sp>
      <p:sp>
        <p:nvSpPr>
          <p:cNvPr id="6" name="Shape 1">
            <a:extLst>
              <a:ext uri="{FF2B5EF4-FFF2-40B4-BE49-F238E27FC236}">
                <a16:creationId xmlns:a16="http://schemas.microsoft.com/office/drawing/2014/main" id="{A75B1F2F-DA32-994F-76CA-18CA995F9922}"/>
              </a:ext>
            </a:extLst>
          </p:cNvPr>
          <p:cNvSpPr/>
          <p:nvPr/>
        </p:nvSpPr>
        <p:spPr>
          <a:xfrm>
            <a:off x="558565" y="4193241"/>
            <a:ext cx="5303520" cy="786780"/>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9"/>
          <p:cNvSpPr/>
          <p:nvPr/>
        </p:nvSpPr>
        <p:spPr>
          <a:xfrm>
            <a:off x="6518905" y="1280613"/>
            <a:ext cx="4925544" cy="547283"/>
          </a:xfrm>
          <a:prstGeom prst="rect">
            <a:avLst/>
          </a:prstGeom>
          <a:noFill/>
          <a:ln/>
        </p:spPr>
        <p:txBody>
          <a:bodyPr wrap="square" lIns="0" tIns="0" rIns="0" bIns="0" rtlCol="0" anchor="ctr"/>
          <a:lstStyle/>
          <a:p>
            <a:r>
              <a:rPr lang="en-US" sz="1600" b="1" dirty="0">
                <a:solidFill>
                  <a:srgbClr val="00B050"/>
                </a:solidFill>
                <a:latin typeface="Open Sans" pitchFamily="34" charset="0"/>
                <a:ea typeface="Open Sans" pitchFamily="34" charset="-122"/>
                <a:cs typeface="Open Sans" pitchFamily="34" charset="-120"/>
              </a:rPr>
              <a:t>✓ </a:t>
            </a:r>
            <a:r>
              <a:rPr lang="en-US" sz="1600" b="1" dirty="0">
                <a:latin typeface="Open Sans" pitchFamily="34" charset="0"/>
                <a:ea typeface="Open Sans" pitchFamily="34" charset="-122"/>
                <a:cs typeface="Open Sans" pitchFamily="34" charset="-120"/>
              </a:rPr>
              <a:t> </a:t>
            </a:r>
            <a:r>
              <a:rPr lang="en-US" sz="1600" dirty="0">
                <a:latin typeface="Open Sans" pitchFamily="34" charset="0"/>
                <a:ea typeface="Open Sans" pitchFamily="34" charset="-122"/>
                <a:cs typeface="Open Sans" pitchFamily="34" charset="-120"/>
              </a:rPr>
              <a:t>Use ## (H2) — Claude parses sections by H2 reliably.</a:t>
            </a:r>
            <a:endParaRPr lang="en-US" sz="1600" dirty="0"/>
          </a:p>
        </p:txBody>
      </p:sp>
      <p:sp>
        <p:nvSpPr>
          <p:cNvPr id="9" name="Shape 1">
            <a:extLst>
              <a:ext uri="{FF2B5EF4-FFF2-40B4-BE49-F238E27FC236}">
                <a16:creationId xmlns:a16="http://schemas.microsoft.com/office/drawing/2014/main" id="{C1BD5E7A-073E-5212-9BD8-571F3F07EFCB}"/>
              </a:ext>
            </a:extLst>
          </p:cNvPr>
          <p:cNvSpPr/>
          <p:nvPr/>
        </p:nvSpPr>
        <p:spPr>
          <a:xfrm>
            <a:off x="558565" y="5226084"/>
            <a:ext cx="5303520" cy="786780"/>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5">
            <a:extLst>
              <a:ext uri="{FF2B5EF4-FFF2-40B4-BE49-F238E27FC236}">
                <a16:creationId xmlns:a16="http://schemas.microsoft.com/office/drawing/2014/main" id="{36E14D37-C1F4-C17B-AEDA-334058C173B7}"/>
              </a:ext>
            </a:extLst>
          </p:cNvPr>
          <p:cNvSpPr/>
          <p:nvPr/>
        </p:nvSpPr>
        <p:spPr>
          <a:xfrm>
            <a:off x="6329917" y="5226084"/>
            <a:ext cx="5303520" cy="786780"/>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747551" y="2257775"/>
            <a:ext cx="364855" cy="547283"/>
          </a:xfrm>
          <a:prstGeom prst="rect">
            <a:avLst/>
          </a:prstGeom>
          <a:noFill/>
          <a:ln/>
        </p:spPr>
        <p:txBody>
          <a:bodyPr wrap="square" lIns="0" tIns="0" rIns="0" bIns="0" rtlCol="0" anchor="ctr"/>
          <a:lstStyle/>
          <a:p>
            <a:pPr algn="ctr"/>
            <a:r>
              <a:rPr lang="en-US" sz="2128" b="1">
                <a:solidFill>
                  <a:schemeClr val="accent3"/>
                </a:solidFill>
                <a:latin typeface="Open Sans Semibold" pitchFamily="34" charset="0"/>
                <a:ea typeface="Open Sans Semibold" pitchFamily="34" charset="-122"/>
                <a:cs typeface="Open Sans Semibold" pitchFamily="34" charset="-120"/>
              </a:rPr>
              <a:t>✗</a:t>
            </a:r>
            <a:endParaRPr lang="en-US" sz="2128">
              <a:solidFill>
                <a:schemeClr val="accent3"/>
              </a:solidFill>
            </a:endParaRPr>
          </a:p>
        </p:txBody>
      </p:sp>
      <p:sp>
        <p:nvSpPr>
          <p:cNvPr id="15" name="Text 11"/>
          <p:cNvSpPr/>
          <p:nvPr/>
        </p:nvSpPr>
        <p:spPr>
          <a:xfrm>
            <a:off x="1173215" y="2257775"/>
            <a:ext cx="5472827" cy="547283"/>
          </a:xfrm>
          <a:prstGeom prst="rect">
            <a:avLst/>
          </a:prstGeom>
          <a:noFill/>
          <a:ln/>
        </p:spPr>
        <p:txBody>
          <a:bodyPr wrap="square" lIns="0" tIns="0" rIns="0" bIns="0" rtlCol="0" anchor="ctr"/>
          <a:lstStyle/>
          <a:p>
            <a:r>
              <a:rPr lang="en-US" sz="1600">
                <a:latin typeface="Open Sans" panose="020B0606030504020204" pitchFamily="34" charset="0"/>
                <a:ea typeface="Open Sans" panose="020B0606030504020204" pitchFamily="34" charset="0"/>
                <a:cs typeface="Open Sans" panose="020B0606030504020204" pitchFamily="34" charset="0"/>
              </a:rPr>
              <a:t>Vague project description</a:t>
            </a:r>
          </a:p>
        </p:txBody>
      </p:sp>
      <p:sp>
        <p:nvSpPr>
          <p:cNvPr id="16" name="Text 12"/>
          <p:cNvSpPr/>
          <p:nvPr/>
        </p:nvSpPr>
        <p:spPr>
          <a:xfrm>
            <a:off x="5933451" y="2257775"/>
            <a:ext cx="364855" cy="547283"/>
          </a:xfrm>
          <a:prstGeom prst="rect">
            <a:avLst/>
          </a:prstGeom>
          <a:noFill/>
          <a:ln/>
        </p:spPr>
        <p:txBody>
          <a:bodyPr wrap="square" lIns="0" tIns="0" rIns="0" bIns="0" rtlCol="0" anchor="ctr"/>
          <a:lstStyle/>
          <a:p>
            <a:pPr algn="ctr"/>
            <a:r>
              <a:rPr lang="en-US" sz="1862">
                <a:latin typeface="Open Sans Semibold" pitchFamily="34" charset="0"/>
                <a:ea typeface="Open Sans Semibold" pitchFamily="34" charset="-122"/>
                <a:cs typeface="Open Sans Semibold" pitchFamily="34" charset="-120"/>
              </a:rPr>
              <a:t>→</a:t>
            </a:r>
            <a:endParaRPr lang="en-US" sz="1862"/>
          </a:p>
        </p:txBody>
      </p:sp>
      <p:sp>
        <p:nvSpPr>
          <p:cNvPr id="17" name="Text 13"/>
          <p:cNvSpPr/>
          <p:nvPr/>
        </p:nvSpPr>
        <p:spPr>
          <a:xfrm>
            <a:off x="6518905" y="2257775"/>
            <a:ext cx="4925544" cy="547283"/>
          </a:xfrm>
          <a:prstGeom prst="rect">
            <a:avLst/>
          </a:prstGeom>
          <a:noFill/>
          <a:ln/>
        </p:spPr>
        <p:txBody>
          <a:bodyPr wrap="square" lIns="0" tIns="0" rIns="0" bIns="0" rtlCol="0" anchor="ctr"/>
          <a:lstStyle/>
          <a:p>
            <a:r>
              <a:rPr lang="en-US" sz="1600" b="1">
                <a:solidFill>
                  <a:srgbClr val="00B050"/>
                </a:solidFill>
                <a:latin typeface="Open Sans" pitchFamily="34" charset="0"/>
                <a:ea typeface="Open Sans" pitchFamily="34" charset="-122"/>
                <a:cs typeface="Open Sans" pitchFamily="34" charset="-120"/>
              </a:rPr>
              <a:t>✓ </a:t>
            </a:r>
            <a:r>
              <a:rPr lang="en-US" sz="1600" b="1">
                <a:latin typeface="Open Sans" pitchFamily="34" charset="0"/>
                <a:ea typeface="Open Sans" pitchFamily="34" charset="-122"/>
                <a:cs typeface="Open Sans" pitchFamily="34" charset="-120"/>
              </a:rPr>
              <a:t> </a:t>
            </a:r>
            <a:r>
              <a:rPr lang="en-US" sz="1600">
                <a:latin typeface="Open Sans" pitchFamily="34" charset="0"/>
                <a:ea typeface="Open Sans" pitchFamily="34" charset="-122"/>
                <a:cs typeface="Open Sans" pitchFamily="34" charset="-120"/>
              </a:rPr>
              <a:t>Include what the project does, who uses it, and the entry point.</a:t>
            </a:r>
            <a:endParaRPr lang="en-US" sz="1600"/>
          </a:p>
        </p:txBody>
      </p:sp>
      <p:sp>
        <p:nvSpPr>
          <p:cNvPr id="18" name="Text 14"/>
          <p:cNvSpPr/>
          <p:nvPr/>
        </p:nvSpPr>
        <p:spPr>
          <a:xfrm>
            <a:off x="747551" y="3225508"/>
            <a:ext cx="364855" cy="547283"/>
          </a:xfrm>
          <a:prstGeom prst="rect">
            <a:avLst/>
          </a:prstGeom>
          <a:noFill/>
          <a:ln/>
        </p:spPr>
        <p:txBody>
          <a:bodyPr wrap="square" lIns="0" tIns="0" rIns="0" bIns="0" rtlCol="0" anchor="ctr"/>
          <a:lstStyle/>
          <a:p>
            <a:pPr algn="ctr"/>
            <a:r>
              <a:rPr lang="en-US" sz="2128" b="1">
                <a:solidFill>
                  <a:schemeClr val="accent3"/>
                </a:solidFill>
                <a:latin typeface="Open Sans Semibold" pitchFamily="34" charset="0"/>
                <a:ea typeface="Open Sans Semibold" pitchFamily="34" charset="-122"/>
                <a:cs typeface="Open Sans Semibold" pitchFamily="34" charset="-120"/>
              </a:rPr>
              <a:t>✗</a:t>
            </a:r>
            <a:endParaRPr lang="en-US" sz="2128">
              <a:solidFill>
                <a:schemeClr val="accent3"/>
              </a:solidFill>
            </a:endParaRPr>
          </a:p>
        </p:txBody>
      </p:sp>
      <p:sp>
        <p:nvSpPr>
          <p:cNvPr id="19" name="Text 15"/>
          <p:cNvSpPr/>
          <p:nvPr/>
        </p:nvSpPr>
        <p:spPr>
          <a:xfrm>
            <a:off x="1173215" y="3225508"/>
            <a:ext cx="5472827" cy="547283"/>
          </a:xfrm>
          <a:prstGeom prst="rect">
            <a:avLst/>
          </a:prstGeom>
          <a:noFill/>
          <a:ln/>
        </p:spPr>
        <p:txBody>
          <a:bodyPr wrap="square" lIns="0" tIns="0" rIns="0" bIns="0" rtlCol="0" anchor="ctr"/>
          <a:lstStyle/>
          <a:p>
            <a:r>
              <a:rPr lang="en-US" sz="1600">
                <a:latin typeface="Open Sans" panose="020B0606030504020204" pitchFamily="34" charset="0"/>
                <a:ea typeface="Open Sans" panose="020B0606030504020204" pitchFamily="34" charset="0"/>
                <a:cs typeface="Open Sans" panose="020B0606030504020204" pitchFamily="34" charset="0"/>
              </a:rPr>
              <a:t>No do-not-touch section</a:t>
            </a:r>
          </a:p>
        </p:txBody>
      </p:sp>
      <p:sp>
        <p:nvSpPr>
          <p:cNvPr id="20" name="Text 16"/>
          <p:cNvSpPr/>
          <p:nvPr/>
        </p:nvSpPr>
        <p:spPr>
          <a:xfrm>
            <a:off x="5933451" y="3225508"/>
            <a:ext cx="364855" cy="547283"/>
          </a:xfrm>
          <a:prstGeom prst="rect">
            <a:avLst/>
          </a:prstGeom>
          <a:noFill/>
          <a:ln/>
        </p:spPr>
        <p:txBody>
          <a:bodyPr wrap="square" lIns="0" tIns="0" rIns="0" bIns="0" rtlCol="0" anchor="ctr"/>
          <a:lstStyle/>
          <a:p>
            <a:pPr algn="ctr"/>
            <a:r>
              <a:rPr lang="en-US" sz="1862">
                <a:latin typeface="Open Sans Semibold" pitchFamily="34" charset="0"/>
                <a:ea typeface="Open Sans Semibold" pitchFamily="34" charset="-122"/>
                <a:cs typeface="Open Sans Semibold" pitchFamily="34" charset="-120"/>
              </a:rPr>
              <a:t>→</a:t>
            </a:r>
            <a:endParaRPr lang="en-US" sz="1862"/>
          </a:p>
        </p:txBody>
      </p:sp>
      <p:sp>
        <p:nvSpPr>
          <p:cNvPr id="21" name="Text 17"/>
          <p:cNvSpPr/>
          <p:nvPr/>
        </p:nvSpPr>
        <p:spPr>
          <a:xfrm>
            <a:off x="6518905" y="3225508"/>
            <a:ext cx="4925544" cy="547283"/>
          </a:xfrm>
          <a:prstGeom prst="rect">
            <a:avLst/>
          </a:prstGeom>
          <a:noFill/>
          <a:ln/>
        </p:spPr>
        <p:txBody>
          <a:bodyPr wrap="square" lIns="0" tIns="0" rIns="0" bIns="0" rtlCol="0" anchor="ctr"/>
          <a:lstStyle/>
          <a:p>
            <a:r>
              <a:rPr lang="en-US" sz="1600" b="1">
                <a:solidFill>
                  <a:srgbClr val="00B050"/>
                </a:solidFill>
                <a:latin typeface="Open Sans" pitchFamily="34" charset="0"/>
                <a:ea typeface="Open Sans" pitchFamily="34" charset="-122"/>
                <a:cs typeface="Open Sans" pitchFamily="34" charset="-120"/>
              </a:rPr>
              <a:t>✓</a:t>
            </a:r>
            <a:r>
              <a:rPr lang="en-US" sz="1600" b="1">
                <a:latin typeface="Open Sans" pitchFamily="34" charset="0"/>
                <a:ea typeface="Open Sans" pitchFamily="34" charset="-122"/>
                <a:cs typeface="Open Sans" pitchFamily="34" charset="-120"/>
              </a:rPr>
              <a:t>  </a:t>
            </a:r>
            <a:r>
              <a:rPr lang="en-US" sz="1600">
                <a:latin typeface="Open Sans" pitchFamily="34" charset="0"/>
                <a:ea typeface="Open Sans" pitchFamily="34" charset="-122"/>
                <a:cs typeface="Open Sans" pitchFamily="34" charset="-120"/>
              </a:rPr>
              <a:t>Always specify what Claude must never change — saves expensive mistakes.</a:t>
            </a:r>
            <a:endParaRPr lang="en-US" sz="1600"/>
          </a:p>
        </p:txBody>
      </p:sp>
      <p:sp>
        <p:nvSpPr>
          <p:cNvPr id="22" name="Text 18"/>
          <p:cNvSpPr/>
          <p:nvPr/>
        </p:nvSpPr>
        <p:spPr>
          <a:xfrm>
            <a:off x="747551" y="4312990"/>
            <a:ext cx="364855" cy="547283"/>
          </a:xfrm>
          <a:prstGeom prst="rect">
            <a:avLst/>
          </a:prstGeom>
          <a:noFill/>
          <a:ln/>
        </p:spPr>
        <p:txBody>
          <a:bodyPr wrap="square" lIns="0" tIns="0" rIns="0" bIns="0" rtlCol="0" anchor="ctr"/>
          <a:lstStyle/>
          <a:p>
            <a:pPr algn="ctr"/>
            <a:r>
              <a:rPr lang="en-US" sz="2128" b="1">
                <a:solidFill>
                  <a:schemeClr val="accent3"/>
                </a:solidFill>
                <a:latin typeface="Open Sans Semibold" pitchFamily="34" charset="0"/>
                <a:ea typeface="Open Sans Semibold" pitchFamily="34" charset="-122"/>
                <a:cs typeface="Open Sans Semibold" pitchFamily="34" charset="-120"/>
              </a:rPr>
              <a:t>✗</a:t>
            </a:r>
            <a:endParaRPr lang="en-US" sz="2128">
              <a:solidFill>
                <a:schemeClr val="accent3"/>
              </a:solidFill>
            </a:endParaRPr>
          </a:p>
        </p:txBody>
      </p:sp>
      <p:sp>
        <p:nvSpPr>
          <p:cNvPr id="23" name="Text 19"/>
          <p:cNvSpPr/>
          <p:nvPr/>
        </p:nvSpPr>
        <p:spPr>
          <a:xfrm>
            <a:off x="1173215" y="4312990"/>
            <a:ext cx="5472827" cy="547283"/>
          </a:xfrm>
          <a:prstGeom prst="rect">
            <a:avLst/>
          </a:prstGeom>
          <a:noFill/>
          <a:ln/>
        </p:spPr>
        <p:txBody>
          <a:bodyPr wrap="square" lIns="0" tIns="0" rIns="0" bIns="0" rtlCol="0" anchor="ctr"/>
          <a:lstStyle/>
          <a:p>
            <a:r>
              <a:rPr lang="en-US" sz="1600">
                <a:latin typeface="Open Sans" panose="020B0606030504020204" pitchFamily="34" charset="0"/>
                <a:ea typeface="Open Sans" panose="020B0606030504020204" pitchFamily="34" charset="0"/>
                <a:cs typeface="Open Sans" panose="020B0606030504020204" pitchFamily="34" charset="0"/>
              </a:rPr>
              <a:t>Writing CLAUDE.md once and forgetting it</a:t>
            </a:r>
          </a:p>
        </p:txBody>
      </p:sp>
      <p:sp>
        <p:nvSpPr>
          <p:cNvPr id="24" name="Text 20"/>
          <p:cNvSpPr/>
          <p:nvPr/>
        </p:nvSpPr>
        <p:spPr>
          <a:xfrm>
            <a:off x="5933451" y="4312990"/>
            <a:ext cx="364855" cy="547283"/>
          </a:xfrm>
          <a:prstGeom prst="rect">
            <a:avLst/>
          </a:prstGeom>
          <a:noFill/>
          <a:ln/>
        </p:spPr>
        <p:txBody>
          <a:bodyPr wrap="square" lIns="0" tIns="0" rIns="0" bIns="0" rtlCol="0" anchor="ctr"/>
          <a:lstStyle/>
          <a:p>
            <a:pPr algn="ctr"/>
            <a:r>
              <a:rPr lang="en-US" sz="1862">
                <a:latin typeface="Open Sans Semibold" pitchFamily="34" charset="0"/>
                <a:ea typeface="Open Sans Semibold" pitchFamily="34" charset="-122"/>
                <a:cs typeface="Open Sans Semibold" pitchFamily="34" charset="-120"/>
              </a:rPr>
              <a:t>→</a:t>
            </a:r>
            <a:endParaRPr lang="en-US" sz="1862"/>
          </a:p>
        </p:txBody>
      </p:sp>
      <p:sp>
        <p:nvSpPr>
          <p:cNvPr id="25" name="Text 21"/>
          <p:cNvSpPr/>
          <p:nvPr/>
        </p:nvSpPr>
        <p:spPr>
          <a:xfrm>
            <a:off x="6518905" y="4312990"/>
            <a:ext cx="4925544" cy="547283"/>
          </a:xfrm>
          <a:prstGeom prst="rect">
            <a:avLst/>
          </a:prstGeom>
          <a:noFill/>
          <a:ln/>
        </p:spPr>
        <p:txBody>
          <a:bodyPr wrap="square" lIns="0" tIns="0" rIns="0" bIns="0" rtlCol="0" anchor="ctr"/>
          <a:lstStyle/>
          <a:p>
            <a:r>
              <a:rPr lang="en-US" sz="1600" b="1" dirty="0">
                <a:solidFill>
                  <a:srgbClr val="00B050"/>
                </a:solidFill>
                <a:latin typeface="Open Sans" pitchFamily="34" charset="0"/>
                <a:ea typeface="Open Sans" pitchFamily="34" charset="-122"/>
                <a:cs typeface="Open Sans" pitchFamily="34" charset="-120"/>
              </a:rPr>
              <a:t>✓ </a:t>
            </a:r>
            <a:r>
              <a:rPr lang="en-US" sz="1600" b="1" dirty="0">
                <a:latin typeface="Open Sans" pitchFamily="34" charset="0"/>
                <a:ea typeface="Open Sans" pitchFamily="34" charset="-122"/>
                <a:cs typeface="Open Sans" pitchFamily="34" charset="-120"/>
              </a:rPr>
              <a:t> </a:t>
            </a:r>
            <a:r>
              <a:rPr lang="en-US" sz="1600" dirty="0">
                <a:latin typeface="Open Sans" pitchFamily="34" charset="0"/>
                <a:ea typeface="Open Sans" pitchFamily="34" charset="-122"/>
                <a:cs typeface="Open Sans" pitchFamily="34" charset="-120"/>
              </a:rPr>
              <a:t>Update after each module as you discover new things.</a:t>
            </a:r>
            <a:endParaRPr lang="en-US" sz="1600" dirty="0"/>
          </a:p>
        </p:txBody>
      </p:sp>
      <p:sp>
        <p:nvSpPr>
          <p:cNvPr id="26" name="Text 22"/>
          <p:cNvSpPr/>
          <p:nvPr/>
        </p:nvSpPr>
        <p:spPr>
          <a:xfrm>
            <a:off x="747551" y="5345833"/>
            <a:ext cx="364855" cy="547283"/>
          </a:xfrm>
          <a:prstGeom prst="rect">
            <a:avLst/>
          </a:prstGeom>
          <a:noFill/>
          <a:ln/>
        </p:spPr>
        <p:txBody>
          <a:bodyPr wrap="square" lIns="0" tIns="0" rIns="0" bIns="0" rtlCol="0" anchor="ctr"/>
          <a:lstStyle/>
          <a:p>
            <a:pPr algn="ctr"/>
            <a:r>
              <a:rPr lang="en-US" sz="2128" b="1">
                <a:solidFill>
                  <a:schemeClr val="accent3"/>
                </a:solidFill>
                <a:latin typeface="Open Sans Semibold" pitchFamily="34" charset="0"/>
                <a:ea typeface="Open Sans Semibold" pitchFamily="34" charset="-122"/>
                <a:cs typeface="Open Sans Semibold" pitchFamily="34" charset="-120"/>
              </a:rPr>
              <a:t>✗</a:t>
            </a:r>
            <a:endParaRPr lang="en-US" sz="2128">
              <a:solidFill>
                <a:schemeClr val="accent3"/>
              </a:solidFill>
            </a:endParaRPr>
          </a:p>
        </p:txBody>
      </p:sp>
      <p:sp>
        <p:nvSpPr>
          <p:cNvPr id="27" name="Text 23"/>
          <p:cNvSpPr/>
          <p:nvPr/>
        </p:nvSpPr>
        <p:spPr>
          <a:xfrm>
            <a:off x="1173215" y="5345833"/>
            <a:ext cx="5472827" cy="547283"/>
          </a:xfrm>
          <a:prstGeom prst="rect">
            <a:avLst/>
          </a:prstGeom>
          <a:noFill/>
          <a:ln/>
        </p:spPr>
        <p:txBody>
          <a:bodyPr wrap="square" lIns="0" tIns="0" rIns="0" bIns="0" rtlCol="0" anchor="ctr"/>
          <a:lstStyle/>
          <a:p>
            <a:r>
              <a:rPr lang="en-US" sz="1600" dirty="0">
                <a:latin typeface="Open Sans" panose="020B0606030504020204" pitchFamily="34" charset="0"/>
                <a:ea typeface="Open Sans" panose="020B0606030504020204" pitchFamily="34" charset="0"/>
                <a:cs typeface="Open Sans" panose="020B0606030504020204" pitchFamily="34" charset="0"/>
              </a:rPr>
              <a:t>Pasting </a:t>
            </a:r>
            <a:r>
              <a:rPr lang="en-US" sz="1600" dirty="0" err="1">
                <a:latin typeface="Open Sans" panose="020B0606030504020204" pitchFamily="34" charset="0"/>
                <a:ea typeface="Open Sans" panose="020B0606030504020204" pitchFamily="34" charset="0"/>
                <a:cs typeface="Open Sans" panose="020B0606030504020204" pitchFamily="34" charset="0"/>
              </a:rPr>
              <a:t>CLAUDE.md</a:t>
            </a:r>
            <a:r>
              <a:rPr lang="en-US" sz="1600" dirty="0">
                <a:latin typeface="Open Sans" panose="020B0606030504020204" pitchFamily="34" charset="0"/>
                <a:ea typeface="Open Sans" panose="020B0606030504020204" pitchFamily="34" charset="0"/>
                <a:cs typeface="Open Sans" panose="020B0606030504020204" pitchFamily="34" charset="0"/>
              </a:rPr>
              <a:t> content into the prompt</a:t>
            </a:r>
          </a:p>
        </p:txBody>
      </p:sp>
      <p:sp>
        <p:nvSpPr>
          <p:cNvPr id="28" name="Text 24"/>
          <p:cNvSpPr/>
          <p:nvPr/>
        </p:nvSpPr>
        <p:spPr>
          <a:xfrm>
            <a:off x="5933451" y="5345833"/>
            <a:ext cx="364855" cy="547283"/>
          </a:xfrm>
          <a:prstGeom prst="rect">
            <a:avLst/>
          </a:prstGeom>
          <a:noFill/>
          <a:ln/>
        </p:spPr>
        <p:txBody>
          <a:bodyPr wrap="square" lIns="0" tIns="0" rIns="0" bIns="0" rtlCol="0" anchor="ctr"/>
          <a:lstStyle/>
          <a:p>
            <a:pPr algn="ctr"/>
            <a:r>
              <a:rPr lang="en-US" sz="1862">
                <a:latin typeface="Open Sans Semibold" pitchFamily="34" charset="0"/>
                <a:ea typeface="Open Sans Semibold" pitchFamily="34" charset="-122"/>
                <a:cs typeface="Open Sans Semibold" pitchFamily="34" charset="-120"/>
              </a:rPr>
              <a:t>→</a:t>
            </a:r>
            <a:endParaRPr lang="en-US" sz="1862"/>
          </a:p>
        </p:txBody>
      </p:sp>
      <p:sp>
        <p:nvSpPr>
          <p:cNvPr id="29" name="Text 25"/>
          <p:cNvSpPr/>
          <p:nvPr/>
        </p:nvSpPr>
        <p:spPr>
          <a:xfrm>
            <a:off x="6518905" y="5345833"/>
            <a:ext cx="4925544" cy="547283"/>
          </a:xfrm>
          <a:prstGeom prst="rect">
            <a:avLst/>
          </a:prstGeom>
          <a:noFill/>
          <a:ln/>
        </p:spPr>
        <p:txBody>
          <a:bodyPr wrap="square" lIns="0" tIns="0" rIns="0" bIns="0" rtlCol="0" anchor="ctr"/>
          <a:lstStyle/>
          <a:p>
            <a:r>
              <a:rPr lang="en-US" sz="1600" b="1">
                <a:solidFill>
                  <a:srgbClr val="00B050"/>
                </a:solidFill>
                <a:latin typeface="Open Sans" pitchFamily="34" charset="0"/>
                <a:ea typeface="Open Sans" pitchFamily="34" charset="-122"/>
                <a:cs typeface="Open Sans" pitchFamily="34" charset="-120"/>
              </a:rPr>
              <a:t>✓ </a:t>
            </a:r>
            <a:r>
              <a:rPr lang="en-US" sz="1600" b="1">
                <a:latin typeface="Open Sans" pitchFamily="34" charset="0"/>
                <a:ea typeface="Open Sans" pitchFamily="34" charset="-122"/>
                <a:cs typeface="Open Sans" pitchFamily="34" charset="-120"/>
              </a:rPr>
              <a:t> </a:t>
            </a:r>
            <a:r>
              <a:rPr lang="en-US" sz="1600">
                <a:latin typeface="Open Sans" pitchFamily="34" charset="0"/>
                <a:ea typeface="Open Sans" pitchFamily="34" charset="-122"/>
                <a:cs typeface="Open Sans" pitchFamily="34" charset="-120"/>
              </a:rPr>
              <a:t>Claude reads </a:t>
            </a:r>
            <a:r>
              <a:rPr lang="en-US" sz="1600" err="1">
                <a:latin typeface="Open Sans" pitchFamily="34" charset="0"/>
                <a:ea typeface="Open Sans" pitchFamily="34" charset="-122"/>
                <a:cs typeface="Open Sans" pitchFamily="34" charset="-120"/>
              </a:rPr>
              <a:t>CLAUDE.md</a:t>
            </a:r>
            <a:r>
              <a:rPr lang="en-US" sz="1600">
                <a:latin typeface="Open Sans" pitchFamily="34" charset="0"/>
                <a:ea typeface="Open Sans" pitchFamily="34" charset="-122"/>
                <a:cs typeface="Open Sans" pitchFamily="34" charset="-120"/>
              </a:rPr>
              <a:t> automatically — don't duplicate.</a:t>
            </a:r>
            <a:endParaRPr lang="en-US" sz="1600"/>
          </a:p>
        </p:txBody>
      </p:sp>
      <p:sp>
        <p:nvSpPr>
          <p:cNvPr id="7" name="Text 0">
            <a:extLst>
              <a:ext uri="{FF2B5EF4-FFF2-40B4-BE49-F238E27FC236}">
                <a16:creationId xmlns:a16="http://schemas.microsoft.com/office/drawing/2014/main" id="{76AA1945-A9DF-8F05-DDE7-C58B487EDC65}"/>
              </a:ext>
            </a:extLst>
          </p:cNvPr>
          <p:cNvSpPr/>
          <p:nvPr/>
        </p:nvSpPr>
        <p:spPr>
          <a:xfrm>
            <a:off x="600857" y="130202"/>
            <a:ext cx="10824035" cy="851329"/>
          </a:xfrm>
          <a:prstGeom prst="rect">
            <a:avLst/>
          </a:prstGeom>
          <a:noFill/>
          <a:ln/>
        </p:spPr>
        <p:txBody>
          <a:bodyPr wrap="square" lIns="0" tIns="0" rIns="0" bIns="0" rtlCol="0" anchor="ctr"/>
          <a:lstStyle/>
          <a:p>
            <a:r>
              <a:rPr lang="en-US" sz="3600" b="1" dirty="0">
                <a:latin typeface="Open Sans" pitchFamily="34" charset="0"/>
                <a:ea typeface="Open Sans" pitchFamily="34" charset="-122"/>
                <a:cs typeface="Open Sans" pitchFamily="34" charset="-120"/>
              </a:rPr>
              <a:t>Common </a:t>
            </a:r>
            <a:r>
              <a:rPr lang="en-US" sz="3600" b="1" dirty="0" err="1">
                <a:solidFill>
                  <a:schemeClr val="accent2"/>
                </a:solidFill>
                <a:latin typeface="Open Sans" pitchFamily="34" charset="0"/>
                <a:ea typeface="Open Sans" pitchFamily="34" charset="-122"/>
                <a:cs typeface="Open Sans" pitchFamily="34" charset="-120"/>
              </a:rPr>
              <a:t>CLAUDE.md</a:t>
            </a:r>
            <a:r>
              <a:rPr lang="en-US" sz="3600" b="1" dirty="0">
                <a:latin typeface="Open Sans" pitchFamily="34" charset="0"/>
                <a:ea typeface="Open Sans" pitchFamily="34" charset="-122"/>
                <a:cs typeface="Open Sans" pitchFamily="34" charset="-120"/>
              </a:rPr>
              <a:t> Mistakes</a:t>
            </a:r>
            <a:endParaRPr lang="en-US" sz="3600" dirty="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0D3E1D-64B6-187C-2A5E-10057C168A04}"/>
              </a:ext>
            </a:extLst>
          </p:cNvPr>
          <p:cNvSpPr>
            <a:spLocks noGrp="1"/>
          </p:cNvSpPr>
          <p:nvPr>
            <p:ph type="title"/>
          </p:nvPr>
        </p:nvSpPr>
        <p:spPr>
          <a:xfrm>
            <a:off x="493964" y="241781"/>
            <a:ext cx="10854000" cy="646331"/>
          </a:xfrm>
        </p:spPr>
        <p:txBody>
          <a:bodyPr/>
          <a:lstStyle/>
          <a:p>
            <a:r>
              <a:rPr lang="en-IN" sz="3600" dirty="0"/>
              <a:t>Key Commands</a:t>
            </a:r>
            <a:endParaRPr lang="en-US" sz="3600" dirty="0"/>
          </a:p>
        </p:txBody>
      </p:sp>
      <p:graphicFrame>
        <p:nvGraphicFramePr>
          <p:cNvPr id="24" name="Table 23">
            <a:extLst>
              <a:ext uri="{FF2B5EF4-FFF2-40B4-BE49-F238E27FC236}">
                <a16:creationId xmlns:a16="http://schemas.microsoft.com/office/drawing/2014/main" id="{1520B3EB-7196-09F3-098A-2A728E441AD4}"/>
              </a:ext>
            </a:extLst>
          </p:cNvPr>
          <p:cNvGraphicFramePr>
            <a:graphicFrameLocks noGrp="1"/>
          </p:cNvGraphicFramePr>
          <p:nvPr>
            <p:extLst>
              <p:ext uri="{D42A27DB-BD31-4B8C-83A1-F6EECF244321}">
                <p14:modId xmlns:p14="http://schemas.microsoft.com/office/powerpoint/2010/main" val="2946656870"/>
              </p:ext>
            </p:extLst>
          </p:nvPr>
        </p:nvGraphicFramePr>
        <p:xfrm>
          <a:off x="1220952" y="1956267"/>
          <a:ext cx="9750096" cy="3083560"/>
        </p:xfrm>
        <a:graphic>
          <a:graphicData uri="http://schemas.openxmlformats.org/drawingml/2006/table">
            <a:tbl>
              <a:tblPr firstRow="1" bandRow="1">
                <a:tableStyleId>{5C22544A-7EE6-4342-B048-85BDC9FD1C3A}</a:tableStyleId>
              </a:tblPr>
              <a:tblGrid>
                <a:gridCol w="1597572">
                  <a:extLst>
                    <a:ext uri="{9D8B030D-6E8A-4147-A177-3AD203B41FA5}">
                      <a16:colId xmlns:a16="http://schemas.microsoft.com/office/drawing/2014/main" val="2743343720"/>
                    </a:ext>
                  </a:extLst>
                </a:gridCol>
                <a:gridCol w="3983420">
                  <a:extLst>
                    <a:ext uri="{9D8B030D-6E8A-4147-A177-3AD203B41FA5}">
                      <a16:colId xmlns:a16="http://schemas.microsoft.com/office/drawing/2014/main" val="878911098"/>
                    </a:ext>
                  </a:extLst>
                </a:gridCol>
                <a:gridCol w="4169104">
                  <a:extLst>
                    <a:ext uri="{9D8B030D-6E8A-4147-A177-3AD203B41FA5}">
                      <a16:colId xmlns:a16="http://schemas.microsoft.com/office/drawing/2014/main" val="639290715"/>
                    </a:ext>
                  </a:extLst>
                </a:gridCol>
              </a:tblGrid>
              <a:tr h="370840">
                <a:tc>
                  <a:txBody>
                    <a:bodyPr/>
                    <a:lstStyle/>
                    <a:p>
                      <a:pPr algn="ctr"/>
                      <a:r>
                        <a:rPr lang="en-US" sz="1600" dirty="0"/>
                        <a:t>Commands</a:t>
                      </a:r>
                    </a:p>
                  </a:txBody>
                  <a:tcPr/>
                </a:tc>
                <a:tc>
                  <a:txBody>
                    <a:bodyPr/>
                    <a:lstStyle/>
                    <a:p>
                      <a:pPr algn="ctr"/>
                      <a:r>
                        <a:rPr lang="en-US" sz="1600" dirty="0"/>
                        <a:t>What they do</a:t>
                      </a:r>
                    </a:p>
                  </a:txBody>
                  <a:tcPr/>
                </a:tc>
                <a:tc>
                  <a:txBody>
                    <a:bodyPr/>
                    <a:lstStyle/>
                    <a:p>
                      <a:pPr algn="ctr"/>
                      <a:r>
                        <a:rPr lang="en-US" sz="1600" dirty="0"/>
                        <a:t>Use when</a:t>
                      </a:r>
                    </a:p>
                  </a:txBody>
                  <a:tcPr/>
                </a:tc>
                <a:extLst>
                  <a:ext uri="{0D108BD9-81ED-4DB2-BD59-A6C34878D82A}">
                    <a16:rowId xmlns:a16="http://schemas.microsoft.com/office/drawing/2014/main" val="123200322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t>/</a:t>
                      </a:r>
                      <a:r>
                        <a:rPr lang="en-IN" sz="1400" b="1" dirty="0" err="1"/>
                        <a:t>init</a:t>
                      </a:r>
                      <a:endParaRPr lang="en-US" sz="1400" b="1" dirty="0"/>
                    </a:p>
                  </a:txBody>
                  <a:tcPr>
                    <a:noFill/>
                  </a:tcPr>
                </a:tc>
                <a:tc>
                  <a:txBody>
                    <a:bodyPr/>
                    <a:lstStyle/>
                    <a:p>
                      <a:r>
                        <a:rPr lang="en-IN" sz="1400" dirty="0"/>
                        <a:t>Scans your project and generates a starter </a:t>
                      </a:r>
                      <a:r>
                        <a:rPr lang="en-IN" sz="1400" dirty="0" err="1"/>
                        <a:t>CLAUDE.md</a:t>
                      </a:r>
                      <a:r>
                        <a:rPr lang="en-IN" sz="1400" dirty="0"/>
                        <a:t> automatically.</a:t>
                      </a:r>
                      <a:br>
                        <a:rPr lang="en-IN" sz="1400" dirty="0"/>
                      </a:br>
                      <a:endParaRPr lang="en-US" sz="1400" dirty="0"/>
                    </a:p>
                  </a:txBody>
                  <a:tcPr>
                    <a:noFill/>
                  </a:tcPr>
                </a:tc>
                <a:tc>
                  <a:txBody>
                    <a:bodyPr/>
                    <a:lstStyle/>
                    <a:p>
                      <a:r>
                        <a:rPr lang="en-IN" sz="1400" dirty="0"/>
                        <a:t>Starting on a new project for the first time.</a:t>
                      </a:r>
                      <a:endParaRPr lang="en-US" sz="1400" dirty="0"/>
                    </a:p>
                  </a:txBody>
                  <a:tcPr>
                    <a:noFill/>
                  </a:tcPr>
                </a:tc>
                <a:extLst>
                  <a:ext uri="{0D108BD9-81ED-4DB2-BD59-A6C34878D82A}">
                    <a16:rowId xmlns:a16="http://schemas.microsoft.com/office/drawing/2014/main" val="42337774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t>/compact</a:t>
                      </a:r>
                      <a:endParaRPr lang="en-US" sz="1400" b="1" dirty="0"/>
                    </a:p>
                  </a:txBody>
                  <a:tcPr>
                    <a:solidFill>
                      <a:schemeClr val="bg1">
                        <a:lumMod val="95000"/>
                      </a:schemeClr>
                    </a:solidFill>
                  </a:tcPr>
                </a:tc>
                <a:tc>
                  <a:txBody>
                    <a:bodyPr/>
                    <a:lstStyle/>
                    <a:p>
                      <a:r>
                        <a:rPr lang="en-IN" sz="1400" dirty="0"/>
                        <a:t>Summarises the conversation so far and continues with a shorter context. Prevents Claude from losing track on long sessions.</a:t>
                      </a:r>
                      <a:endParaRPr lang="en-US" sz="1400" dirty="0"/>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You have been working for a while and responses are becoming less accurate.</a:t>
                      </a:r>
                      <a:endParaRPr lang="en-US" sz="1400" dirty="0"/>
                    </a:p>
                  </a:txBody>
                  <a:tcPr>
                    <a:solidFill>
                      <a:schemeClr val="bg1">
                        <a:lumMod val="95000"/>
                      </a:schemeClr>
                    </a:solidFill>
                  </a:tcPr>
                </a:tc>
                <a:extLst>
                  <a:ext uri="{0D108BD9-81ED-4DB2-BD59-A6C34878D82A}">
                    <a16:rowId xmlns:a16="http://schemas.microsoft.com/office/drawing/2014/main" val="31149677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a:t>/cost</a:t>
                      </a:r>
                      <a:endParaRPr lang="en-US" sz="1400" b="1"/>
                    </a:p>
                  </a:txBody>
                  <a:tcPr>
                    <a:noFill/>
                  </a:tcPr>
                </a:tc>
                <a:tc>
                  <a:txBody>
                    <a:bodyPr/>
                    <a:lstStyle/>
                    <a:p>
                      <a:r>
                        <a:rPr lang="en-IN" sz="1400" dirty="0"/>
                        <a:t>Shows how many tokens you have used and the cost of the current session.</a:t>
                      </a:r>
                      <a:endParaRPr lang="en-US" sz="1400" dirty="0"/>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You want to monitor spend or sense you are approaching a context limit.</a:t>
                      </a:r>
                      <a:endParaRPr lang="en-US" sz="1400" dirty="0"/>
                    </a:p>
                  </a:txBody>
                  <a:tcPr>
                    <a:noFill/>
                  </a:tcPr>
                </a:tc>
                <a:extLst>
                  <a:ext uri="{0D108BD9-81ED-4DB2-BD59-A6C34878D82A}">
                    <a16:rowId xmlns:a16="http://schemas.microsoft.com/office/drawing/2014/main" val="122530293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a:t>/clear</a:t>
                      </a:r>
                      <a:endParaRPr lang="en-US" sz="1400" b="1"/>
                    </a:p>
                  </a:txBody>
                  <a:tcPr>
                    <a:solidFill>
                      <a:schemeClr val="bg1">
                        <a:lumMod val="95000"/>
                      </a:schemeClr>
                    </a:solidFill>
                  </a:tcPr>
                </a:tc>
                <a:tc>
                  <a:txBody>
                    <a:bodyPr/>
                    <a:lstStyle/>
                    <a:p>
                      <a:r>
                        <a:rPr lang="en-IN" sz="1400"/>
                        <a:t>Starts a completely fresh conversation. Claude forgets everything in the current session.</a:t>
                      </a:r>
                      <a:endParaRPr lang="en-US" sz="1400"/>
                    </a:p>
                  </a:txBody>
                  <a:tcPr>
                    <a:solidFill>
                      <a:schemeClr val="bg1">
                        <a:lumMod val="95000"/>
                      </a:schemeClr>
                    </a:solidFill>
                  </a:tcPr>
                </a:tc>
                <a:tc>
                  <a:txBody>
                    <a:bodyPr/>
                    <a:lstStyle/>
                    <a:p>
                      <a:r>
                        <a:rPr lang="en-IN" sz="1400" dirty="0"/>
                        <a:t>Responses have drifted and you want a clean slate.</a:t>
                      </a:r>
                      <a:endParaRPr lang="en-US" sz="1400" dirty="0"/>
                    </a:p>
                  </a:txBody>
                  <a:tcPr>
                    <a:solidFill>
                      <a:schemeClr val="bg1">
                        <a:lumMod val="95000"/>
                      </a:schemeClr>
                    </a:solidFill>
                  </a:tcPr>
                </a:tc>
                <a:extLst>
                  <a:ext uri="{0D108BD9-81ED-4DB2-BD59-A6C34878D82A}">
                    <a16:rowId xmlns:a16="http://schemas.microsoft.com/office/drawing/2014/main" val="1515105118"/>
                  </a:ext>
                </a:extLst>
              </a:tr>
            </a:tbl>
          </a:graphicData>
        </a:graphic>
      </p:graphicFrame>
      <p:sp>
        <p:nvSpPr>
          <p:cNvPr id="2" name="TextBox 1">
            <a:extLst>
              <a:ext uri="{FF2B5EF4-FFF2-40B4-BE49-F238E27FC236}">
                <a16:creationId xmlns:a16="http://schemas.microsoft.com/office/drawing/2014/main" id="{E5289F1B-A79C-4EC1-F185-53BA6924881E}"/>
              </a:ext>
            </a:extLst>
          </p:cNvPr>
          <p:cNvSpPr txBox="1"/>
          <p:nvPr/>
        </p:nvSpPr>
        <p:spPr bwMode="auto">
          <a:xfrm>
            <a:off x="531474" y="1109785"/>
            <a:ext cx="6000361" cy="369332"/>
          </a:xfrm>
          <a:prstGeom prst="rect">
            <a:avLst/>
          </a:prstGeom>
        </p:spPr>
        <p:txBody>
          <a:bodyPr wrap="none" rtlCol="0">
            <a:spAutoFit/>
          </a:bodyPr>
          <a:lstStyle/>
          <a:p>
            <a:pPr algn="l"/>
            <a:r>
              <a:rPr lang="en-US" dirty="0"/>
              <a:t>Remember these commands, we will use them shortly.</a:t>
            </a:r>
          </a:p>
        </p:txBody>
      </p:sp>
    </p:spTree>
    <p:extLst>
      <p:ext uri="{BB962C8B-B14F-4D97-AF65-F5344CB8AC3E}">
        <p14:creationId xmlns:p14="http://schemas.microsoft.com/office/powerpoint/2010/main" val="3412968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2A043-B9E2-D7AE-C15A-E1FE300C46E7}"/>
            </a:ext>
          </a:extLst>
        </p:cNvPr>
        <p:cNvGrpSpPr/>
        <p:nvPr/>
      </p:nvGrpSpPr>
      <p:grpSpPr>
        <a:xfrm>
          <a:off x="0" y="0"/>
          <a:ext cx="0" cy="0"/>
          <a:chOff x="0" y="0"/>
          <a:chExt cx="0" cy="0"/>
        </a:xfrm>
      </p:grpSpPr>
      <p:sp>
        <p:nvSpPr>
          <p:cNvPr id="20" name="Shape 4">
            <a:extLst>
              <a:ext uri="{FF2B5EF4-FFF2-40B4-BE49-F238E27FC236}">
                <a16:creationId xmlns:a16="http://schemas.microsoft.com/office/drawing/2014/main" id="{5A61C4DC-028D-0B30-26BF-E6120850CCEF}"/>
              </a:ext>
            </a:extLst>
          </p:cNvPr>
          <p:cNvSpPr/>
          <p:nvPr/>
        </p:nvSpPr>
        <p:spPr>
          <a:xfrm>
            <a:off x="549434" y="1506071"/>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2">
            <a:extLst>
              <a:ext uri="{FF2B5EF4-FFF2-40B4-BE49-F238E27FC236}">
                <a16:creationId xmlns:a16="http://schemas.microsoft.com/office/drawing/2014/main" id="{57025FFF-65D4-E2AE-C697-FD11DD2E814A}"/>
              </a:ext>
            </a:extLst>
          </p:cNvPr>
          <p:cNvSpPr/>
          <p:nvPr/>
        </p:nvSpPr>
        <p:spPr>
          <a:xfrm>
            <a:off x="608207" y="135225"/>
            <a:ext cx="10824035" cy="851329"/>
          </a:xfrm>
          <a:prstGeom prst="rect">
            <a:avLst/>
          </a:prstGeom>
          <a:noFill/>
          <a:ln/>
        </p:spPr>
        <p:txBody>
          <a:bodyPr wrap="square" lIns="0" tIns="0" rIns="0" bIns="0" rtlCol="0" anchor="ctr"/>
          <a:lstStyle/>
          <a:p>
            <a:r>
              <a:rPr lang="en-US" sz="3600" b="1" dirty="0">
                <a:latin typeface="Open Sans" pitchFamily="34" charset="0"/>
                <a:ea typeface="Open Sans" pitchFamily="34" charset="-122"/>
                <a:cs typeface="Open Sans" pitchFamily="34" charset="-120"/>
              </a:rPr>
              <a:t>Write your first </a:t>
            </a:r>
            <a:r>
              <a:rPr lang="en-US" sz="3600" b="1" dirty="0" err="1">
                <a:solidFill>
                  <a:schemeClr val="accent2"/>
                </a:solidFill>
                <a:latin typeface="Open Sans" pitchFamily="34" charset="0"/>
                <a:ea typeface="Open Sans" pitchFamily="34" charset="-122"/>
                <a:cs typeface="Open Sans" pitchFamily="34" charset="-120"/>
              </a:rPr>
              <a:t>CLAUDE.md</a:t>
            </a:r>
            <a:endParaRPr lang="en-US" sz="3600" dirty="0"/>
          </a:p>
        </p:txBody>
      </p:sp>
      <p:sp>
        <p:nvSpPr>
          <p:cNvPr id="10" name="Text 5">
            <a:extLst>
              <a:ext uri="{FF2B5EF4-FFF2-40B4-BE49-F238E27FC236}">
                <a16:creationId xmlns:a16="http://schemas.microsoft.com/office/drawing/2014/main" id="{86D9D002-6DED-1FB8-57A9-82B708AA2B9E}"/>
              </a:ext>
            </a:extLst>
          </p:cNvPr>
          <p:cNvSpPr/>
          <p:nvPr/>
        </p:nvSpPr>
        <p:spPr>
          <a:xfrm>
            <a:off x="1294374" y="1708805"/>
            <a:ext cx="9394802" cy="340531"/>
          </a:xfrm>
          <a:prstGeom prst="rect">
            <a:avLst/>
          </a:prstGeom>
          <a:noFill/>
          <a:ln/>
        </p:spPr>
        <p:txBody>
          <a:bodyPr wrap="square" lIns="0" tIns="0" rIns="0" bIns="0" rtlCol="0" anchor="ctr"/>
          <a:lstStyle/>
          <a:p>
            <a:r>
              <a:rPr lang="en-IN" sz="1400" b="1"/>
              <a:t>Read the scenario</a:t>
            </a:r>
            <a:r>
              <a:rPr lang="en-IN" sz="1400"/>
              <a:t> — account tracker, CSV input, terminal output, no writes, no UI</a:t>
            </a:r>
            <a:endParaRPr lang="en-US" sz="1600"/>
          </a:p>
        </p:txBody>
      </p:sp>
      <p:sp>
        <p:nvSpPr>
          <p:cNvPr id="21" name="Shape 4">
            <a:extLst>
              <a:ext uri="{FF2B5EF4-FFF2-40B4-BE49-F238E27FC236}">
                <a16:creationId xmlns:a16="http://schemas.microsoft.com/office/drawing/2014/main" id="{84719ED0-6BAC-A7D3-4D57-69B9BC8430E0}"/>
              </a:ext>
            </a:extLst>
          </p:cNvPr>
          <p:cNvSpPr/>
          <p:nvPr/>
        </p:nvSpPr>
        <p:spPr>
          <a:xfrm>
            <a:off x="549434" y="2508497"/>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4">
            <a:extLst>
              <a:ext uri="{FF2B5EF4-FFF2-40B4-BE49-F238E27FC236}">
                <a16:creationId xmlns:a16="http://schemas.microsoft.com/office/drawing/2014/main" id="{837FEE50-CBDD-9A77-C504-431E32A33088}"/>
              </a:ext>
            </a:extLst>
          </p:cNvPr>
          <p:cNvSpPr/>
          <p:nvPr/>
        </p:nvSpPr>
        <p:spPr>
          <a:xfrm>
            <a:off x="549434" y="3510923"/>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9">
            <a:extLst>
              <a:ext uri="{FF2B5EF4-FFF2-40B4-BE49-F238E27FC236}">
                <a16:creationId xmlns:a16="http://schemas.microsoft.com/office/drawing/2014/main" id="{90AE0E7D-8F86-A0E8-3625-F0FA7E475934}"/>
              </a:ext>
            </a:extLst>
          </p:cNvPr>
          <p:cNvSpPr/>
          <p:nvPr/>
        </p:nvSpPr>
        <p:spPr>
          <a:xfrm>
            <a:off x="1294374" y="2711231"/>
            <a:ext cx="9573221" cy="340531"/>
          </a:xfrm>
          <a:prstGeom prst="rect">
            <a:avLst/>
          </a:prstGeom>
          <a:noFill/>
          <a:ln/>
        </p:spPr>
        <p:txBody>
          <a:bodyPr wrap="square" lIns="0" tIns="0" rIns="0" bIns="0" rtlCol="0" anchor="ctr"/>
          <a:lstStyle/>
          <a:p>
            <a:r>
              <a:rPr lang="en-IN" sz="1400" b="1"/>
              <a:t>Brainstorm with plain prompts</a:t>
            </a:r>
            <a:r>
              <a:rPr lang="en-IN" sz="1400"/>
              <a:t> — open Claude Code and ask: "What would this script need to do, and what should it never do?" Read what comes back.</a:t>
            </a:r>
            <a:endParaRPr lang="en-US" sz="1600"/>
          </a:p>
        </p:txBody>
      </p:sp>
      <p:sp>
        <p:nvSpPr>
          <p:cNvPr id="27" name="Text 13">
            <a:extLst>
              <a:ext uri="{FF2B5EF4-FFF2-40B4-BE49-F238E27FC236}">
                <a16:creationId xmlns:a16="http://schemas.microsoft.com/office/drawing/2014/main" id="{1023B4F4-AA76-9321-12BB-DDD514FE16F7}"/>
              </a:ext>
            </a:extLst>
          </p:cNvPr>
          <p:cNvSpPr/>
          <p:nvPr/>
        </p:nvSpPr>
        <p:spPr>
          <a:xfrm>
            <a:off x="1294374" y="3713657"/>
            <a:ext cx="8870694" cy="340531"/>
          </a:xfrm>
          <a:prstGeom prst="rect">
            <a:avLst/>
          </a:prstGeom>
          <a:noFill/>
          <a:ln/>
        </p:spPr>
        <p:txBody>
          <a:bodyPr wrap="square" lIns="0" tIns="0" rIns="0" bIns="0" rtlCol="0" anchor="ctr"/>
          <a:lstStyle/>
          <a:p>
            <a:r>
              <a:rPr lang="en-IN" sz="1400" b="1" dirty="0"/>
              <a:t>Generates a starter </a:t>
            </a:r>
            <a:r>
              <a:rPr lang="en-IN" sz="1400" b="1" dirty="0" err="1"/>
              <a:t>CLAUDE.md</a:t>
            </a:r>
            <a:r>
              <a:rPr lang="en-IN" sz="1400" dirty="0"/>
              <a:t> from the project context</a:t>
            </a:r>
            <a:endParaRPr lang="en-US" sz="1600" dirty="0"/>
          </a:p>
        </p:txBody>
      </p:sp>
      <p:sp>
        <p:nvSpPr>
          <p:cNvPr id="4" name="Shape 0">
            <a:extLst>
              <a:ext uri="{FF2B5EF4-FFF2-40B4-BE49-F238E27FC236}">
                <a16:creationId xmlns:a16="http://schemas.microsoft.com/office/drawing/2014/main" id="{87C8AC87-1A37-517F-BE16-4C891DF847C4}"/>
              </a:ext>
            </a:extLst>
          </p:cNvPr>
          <p:cNvSpPr/>
          <p:nvPr/>
        </p:nvSpPr>
        <p:spPr>
          <a:xfrm>
            <a:off x="9750464" y="207264"/>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1">
            <a:extLst>
              <a:ext uri="{FF2B5EF4-FFF2-40B4-BE49-F238E27FC236}">
                <a16:creationId xmlns:a16="http://schemas.microsoft.com/office/drawing/2014/main" id="{5608D961-5CE8-C22B-F5A5-B07CAFFCF07C}"/>
              </a:ext>
            </a:extLst>
          </p:cNvPr>
          <p:cNvSpPr/>
          <p:nvPr/>
        </p:nvSpPr>
        <p:spPr>
          <a:xfrm>
            <a:off x="9483026" y="207264"/>
            <a:ext cx="2377440"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a:extLst>
              <a:ext uri="{FF2B5EF4-FFF2-40B4-BE49-F238E27FC236}">
                <a16:creationId xmlns:a16="http://schemas.microsoft.com/office/drawing/2014/main" id="{FA04BAFB-4EBC-C2CA-4903-A62234C039EF}"/>
              </a:ext>
            </a:extLst>
          </p:cNvPr>
          <p:cNvSpPr/>
          <p:nvPr/>
        </p:nvSpPr>
        <p:spPr>
          <a:xfrm>
            <a:off x="702448" y="1659614"/>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5">
            <a:extLst>
              <a:ext uri="{FF2B5EF4-FFF2-40B4-BE49-F238E27FC236}">
                <a16:creationId xmlns:a16="http://schemas.microsoft.com/office/drawing/2014/main" id="{7EF445A3-CE9D-7A69-667A-7E5EB2998AFB}"/>
              </a:ext>
            </a:extLst>
          </p:cNvPr>
          <p:cNvSpPr/>
          <p:nvPr/>
        </p:nvSpPr>
        <p:spPr>
          <a:xfrm>
            <a:off x="702448" y="1659614"/>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8">
            <a:extLst>
              <a:ext uri="{FF2B5EF4-FFF2-40B4-BE49-F238E27FC236}">
                <a16:creationId xmlns:a16="http://schemas.microsoft.com/office/drawing/2014/main" id="{A2A68B53-F134-C62D-6C2F-77AA640DB305}"/>
              </a:ext>
            </a:extLst>
          </p:cNvPr>
          <p:cNvSpPr/>
          <p:nvPr/>
        </p:nvSpPr>
        <p:spPr>
          <a:xfrm>
            <a:off x="702448" y="2662040"/>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9">
            <a:extLst>
              <a:ext uri="{FF2B5EF4-FFF2-40B4-BE49-F238E27FC236}">
                <a16:creationId xmlns:a16="http://schemas.microsoft.com/office/drawing/2014/main" id="{C54A3E4E-AA46-4006-9792-FD10D2047990}"/>
              </a:ext>
            </a:extLst>
          </p:cNvPr>
          <p:cNvSpPr/>
          <p:nvPr/>
        </p:nvSpPr>
        <p:spPr>
          <a:xfrm>
            <a:off x="702448" y="2662040"/>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2">
            <a:extLst>
              <a:ext uri="{FF2B5EF4-FFF2-40B4-BE49-F238E27FC236}">
                <a16:creationId xmlns:a16="http://schemas.microsoft.com/office/drawing/2014/main" id="{81671B5C-4DB4-A0AC-9232-45AC7166C3E0}"/>
              </a:ext>
            </a:extLst>
          </p:cNvPr>
          <p:cNvSpPr/>
          <p:nvPr/>
        </p:nvSpPr>
        <p:spPr>
          <a:xfrm>
            <a:off x="702448" y="3664466"/>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3">
            <a:extLst>
              <a:ext uri="{FF2B5EF4-FFF2-40B4-BE49-F238E27FC236}">
                <a16:creationId xmlns:a16="http://schemas.microsoft.com/office/drawing/2014/main" id="{4708E1FE-ACCE-4054-0045-CEE3A9986D2A}"/>
              </a:ext>
            </a:extLst>
          </p:cNvPr>
          <p:cNvSpPr/>
          <p:nvPr/>
        </p:nvSpPr>
        <p:spPr>
          <a:xfrm>
            <a:off x="702448" y="3664466"/>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Tree>
    <p:custDataLst>
      <p:tags r:id="rId1"/>
    </p:custDataLst>
    <p:extLst>
      <p:ext uri="{BB962C8B-B14F-4D97-AF65-F5344CB8AC3E}">
        <p14:creationId xmlns:p14="http://schemas.microsoft.com/office/powerpoint/2010/main" val="3034900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a:extLst>
              <a:ext uri="{FF2B5EF4-FFF2-40B4-BE49-F238E27FC236}">
                <a16:creationId xmlns:a16="http://schemas.microsoft.com/office/drawing/2014/main" id="{D9F9EBF4-8034-5B01-054B-6F62406F87D4}"/>
              </a:ext>
            </a:extLst>
          </p:cNvPr>
          <p:cNvSpPr/>
          <p:nvPr/>
        </p:nvSpPr>
        <p:spPr>
          <a:xfrm>
            <a:off x="614088" y="488663"/>
            <a:ext cx="10977547" cy="5880674"/>
          </a:xfrm>
          <a:prstGeom prst="roundRect">
            <a:avLst>
              <a:gd name="adj" fmla="val 2439"/>
            </a:avLst>
          </a:prstGeom>
          <a:solidFill>
            <a:srgbClr val="F2F2F2"/>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3200"/>
          </a:p>
        </p:txBody>
      </p:sp>
      <p:sp>
        <p:nvSpPr>
          <p:cNvPr id="3" name="TextBox 2">
            <a:extLst>
              <a:ext uri="{FF2B5EF4-FFF2-40B4-BE49-F238E27FC236}">
                <a16:creationId xmlns:a16="http://schemas.microsoft.com/office/drawing/2014/main" id="{0806D17E-C590-C2C0-3140-138D0C92A043}"/>
              </a:ext>
            </a:extLst>
          </p:cNvPr>
          <p:cNvSpPr txBox="1"/>
          <p:nvPr/>
        </p:nvSpPr>
        <p:spPr bwMode="auto">
          <a:xfrm>
            <a:off x="1211004" y="689789"/>
            <a:ext cx="6095306" cy="5478423"/>
          </a:xfrm>
          <a:prstGeom prst="rect">
            <a:avLst/>
          </a:prstGeom>
          <a:noFill/>
        </p:spPr>
        <p:txBody>
          <a:bodyPr wrap="square">
            <a:spAutoFit/>
          </a:bodyPr>
          <a:lstStyle/>
          <a:p>
            <a:r>
              <a:rPr lang="en-US" sz="1000" dirty="0"/>
              <a:t># Shop API</a:t>
            </a:r>
          </a:p>
          <a:p>
            <a:endParaRPr lang="en-US" sz="1000" dirty="0"/>
          </a:p>
          <a:p>
            <a:r>
              <a:rPr lang="en-US" sz="1000" dirty="0"/>
              <a:t>## What this is</a:t>
            </a:r>
          </a:p>
          <a:p>
            <a:r>
              <a:rPr lang="en-US" sz="1000" dirty="0"/>
              <a:t>An e-commerce backend. It does shopping stuff.</a:t>
            </a:r>
          </a:p>
          <a:p>
            <a:r>
              <a:rPr lang="en-US" sz="1000" dirty="0"/>
              <a:t># BAD: "shopping stuff" describes nothing. No user journey, no scope boundary.</a:t>
            </a:r>
          </a:p>
          <a:p>
            <a:r>
              <a:rPr lang="en-US" sz="1000" dirty="0"/>
              <a:t>#      Claude can't tell what's in scope, so it'll invent features.</a:t>
            </a:r>
          </a:p>
          <a:p>
            <a:endParaRPr lang="en-US" sz="1000" dirty="0"/>
          </a:p>
          <a:p>
            <a:r>
              <a:rPr lang="en-US" sz="1000" dirty="0"/>
              <a:t>## Stack</a:t>
            </a:r>
          </a:p>
          <a:p>
            <a:r>
              <a:rPr lang="en-US" sz="1000" dirty="0"/>
              <a:t>- Python (recent version)</a:t>
            </a:r>
          </a:p>
          <a:p>
            <a:r>
              <a:rPr lang="en-US" sz="1000" dirty="0"/>
              <a:t>- A database</a:t>
            </a:r>
          </a:p>
          <a:p>
            <a:r>
              <a:rPr lang="en-US" sz="1000" dirty="0"/>
              <a:t>- Whatever web framework is cleanest</a:t>
            </a:r>
          </a:p>
          <a:p>
            <a:r>
              <a:rPr lang="en-US" sz="1000" dirty="0"/>
              <a:t># BAD: no pinned versions, no named framework, no ORM, no test runner.</a:t>
            </a:r>
          </a:p>
          <a:p>
            <a:r>
              <a:rPr lang="en-US" sz="1000" dirty="0"/>
              <a:t>#      "Whatever is cleanest" hands an architecture decision to the model</a:t>
            </a:r>
          </a:p>
          <a:p>
            <a:r>
              <a:rPr lang="en-US" sz="1000" dirty="0"/>
              <a:t>#      and guarantees inconsistency between sessions.</a:t>
            </a:r>
          </a:p>
          <a:p>
            <a:endParaRPr lang="en-US" sz="1000" dirty="0"/>
          </a:p>
          <a:p>
            <a:r>
              <a:rPr lang="en-US" sz="1000" dirty="0"/>
              <a:t>## Conventions</a:t>
            </a:r>
          </a:p>
          <a:p>
            <a:r>
              <a:rPr lang="en-US" sz="1000" dirty="0"/>
              <a:t>- Write good, clean, modern, production-grade code.</a:t>
            </a:r>
          </a:p>
          <a:p>
            <a:r>
              <a:rPr lang="en-US" sz="1000" dirty="0"/>
              <a:t>- Follow best practices.</a:t>
            </a:r>
          </a:p>
          <a:p>
            <a:r>
              <a:rPr lang="en-US" sz="1000" dirty="0"/>
              <a:t>- Handle money correctly.</a:t>
            </a:r>
          </a:p>
          <a:p>
            <a:r>
              <a:rPr lang="en-US" sz="1000" dirty="0"/>
              <a:t>- Make it fast and scalable.</a:t>
            </a:r>
          </a:p>
          <a:p>
            <a:r>
              <a:rPr lang="en-US" sz="1000" dirty="0"/>
              <a:t># BAD: every line is a vibe, not a rule. "Best practices" is unverifiable.</a:t>
            </a:r>
          </a:p>
          <a:p>
            <a:r>
              <a:rPr lang="en-US" sz="1000" dirty="0"/>
              <a:t>#      "Handle money correctly" — as float? as Decimal? as minor units? Pick one.</a:t>
            </a:r>
          </a:p>
          <a:p>
            <a:r>
              <a:rPr lang="en-US" sz="1000" dirty="0"/>
              <a:t>#      "Fast and scalable" on a PoC invites premature caching/queues nobody asked for.</a:t>
            </a:r>
          </a:p>
          <a:p>
            <a:endParaRPr lang="en-US" sz="1000" dirty="0"/>
          </a:p>
          <a:p>
            <a:r>
              <a:rPr lang="en-US" sz="1000" dirty="0"/>
              <a:t>## Notes</a:t>
            </a:r>
          </a:p>
          <a:p>
            <a:r>
              <a:rPr lang="en-US" sz="1000" dirty="0"/>
              <a:t>- Be creative and use your judgment.</a:t>
            </a:r>
          </a:p>
          <a:p>
            <a:r>
              <a:rPr lang="en-US" sz="1000" dirty="0"/>
              <a:t>- If something is missing, just add it.</a:t>
            </a:r>
          </a:p>
          <a:p>
            <a:r>
              <a:rPr lang="en-US" sz="1000" dirty="0"/>
              <a:t>- Move fast, we'll clean it up later.</a:t>
            </a:r>
          </a:p>
          <a:p>
            <a:r>
              <a:rPr lang="en-US" sz="1000" dirty="0"/>
              <a:t># BAD: this is the opposite of a guardrail. It explicitly licenses scope creep,</a:t>
            </a:r>
          </a:p>
          <a:p>
            <a:r>
              <a:rPr lang="en-US" sz="1000" dirty="0"/>
              <a:t>#      silent dependency additions, and unreviewed multi-file rewrites.</a:t>
            </a:r>
          </a:p>
          <a:p>
            <a:endParaRPr lang="en-US" sz="1000" dirty="0"/>
          </a:p>
          <a:p>
            <a:r>
              <a:rPr lang="en-US" sz="1000" dirty="0"/>
              <a:t>## Run</a:t>
            </a:r>
          </a:p>
          <a:p>
            <a:r>
              <a:rPr lang="en-US" sz="1000" dirty="0"/>
              <a:t>- Just run it the normal way.</a:t>
            </a:r>
          </a:p>
          <a:p>
            <a:r>
              <a:rPr lang="en-US" sz="1000" dirty="0"/>
              <a:t># BAD: there is no "normal way." No run command, no test command.</a:t>
            </a:r>
          </a:p>
          <a:p>
            <a:r>
              <a:rPr lang="en-US" sz="1000" dirty="0"/>
              <a:t>#      The one section that should be copy-</a:t>
            </a:r>
            <a:r>
              <a:rPr lang="en-US" sz="1000" dirty="0" err="1"/>
              <a:t>pasteable</a:t>
            </a:r>
            <a:r>
              <a:rPr lang="en-US" sz="1000" dirty="0"/>
              <a:t> is useless.</a:t>
            </a:r>
          </a:p>
        </p:txBody>
      </p:sp>
    </p:spTree>
    <p:extLst>
      <p:ext uri="{BB962C8B-B14F-4D97-AF65-F5344CB8AC3E}">
        <p14:creationId xmlns:p14="http://schemas.microsoft.com/office/powerpoint/2010/main" val="1891591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a:extLst>
              <a:ext uri="{FF2B5EF4-FFF2-40B4-BE49-F238E27FC236}">
                <a16:creationId xmlns:a16="http://schemas.microsoft.com/office/drawing/2014/main" id="{C3DA9E07-DF9D-9543-C225-A4D93BAFED19}"/>
              </a:ext>
            </a:extLst>
          </p:cNvPr>
          <p:cNvSpPr/>
          <p:nvPr/>
        </p:nvSpPr>
        <p:spPr>
          <a:xfrm>
            <a:off x="614088" y="488663"/>
            <a:ext cx="10977547" cy="5880674"/>
          </a:xfrm>
          <a:prstGeom prst="roundRect">
            <a:avLst>
              <a:gd name="adj" fmla="val 2439"/>
            </a:avLst>
          </a:prstGeom>
          <a:solidFill>
            <a:srgbClr val="F2F2F2"/>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3200"/>
          </a:p>
        </p:txBody>
      </p:sp>
      <p:sp>
        <p:nvSpPr>
          <p:cNvPr id="3" name="TextBox 2">
            <a:extLst>
              <a:ext uri="{FF2B5EF4-FFF2-40B4-BE49-F238E27FC236}">
                <a16:creationId xmlns:a16="http://schemas.microsoft.com/office/drawing/2014/main" id="{E5352146-F13E-537F-B3C9-69D0CEAB17CE}"/>
              </a:ext>
            </a:extLst>
          </p:cNvPr>
          <p:cNvSpPr txBox="1"/>
          <p:nvPr/>
        </p:nvSpPr>
        <p:spPr bwMode="auto">
          <a:xfrm>
            <a:off x="1201766" y="535901"/>
            <a:ext cx="6095306" cy="5786199"/>
          </a:xfrm>
          <a:prstGeom prst="rect">
            <a:avLst/>
          </a:prstGeom>
          <a:noFill/>
        </p:spPr>
        <p:txBody>
          <a:bodyPr wrap="square">
            <a:spAutoFit/>
          </a:bodyPr>
          <a:lstStyle/>
          <a:p>
            <a:r>
              <a:rPr lang="en-US" sz="1000" dirty="0"/>
              <a:t># </a:t>
            </a:r>
            <a:r>
              <a:rPr lang="en-US" sz="1000" dirty="0" err="1"/>
              <a:t>OrderDesk</a:t>
            </a:r>
            <a:r>
              <a:rPr lang="en-US" sz="1000" dirty="0"/>
              <a:t> API</a:t>
            </a:r>
          </a:p>
          <a:p>
            <a:endParaRPr lang="en-US" sz="1000" dirty="0"/>
          </a:p>
          <a:p>
            <a:r>
              <a:rPr lang="en-US" sz="1000" dirty="0"/>
              <a:t>## What this is</a:t>
            </a:r>
          </a:p>
          <a:p>
            <a:r>
              <a:rPr lang="en-US" sz="1000" dirty="0"/>
              <a:t>A small storefront ordering and inventory service. PoC, not production.</a:t>
            </a:r>
          </a:p>
          <a:p>
            <a:r>
              <a:rPr lang="en-US" sz="1000" dirty="0"/>
              <a:t>One user journey: browse the catalog, place an order, reserve stock, mark it paid or cancelled.</a:t>
            </a:r>
          </a:p>
          <a:p>
            <a:endParaRPr lang="en-US" sz="1000" dirty="0"/>
          </a:p>
          <a:p>
            <a:r>
              <a:rPr lang="en-US" sz="1000" dirty="0"/>
              <a:t>## Stack</a:t>
            </a:r>
          </a:p>
          <a:p>
            <a:r>
              <a:rPr lang="en-US" sz="1000" dirty="0"/>
              <a:t>- Python 3.12, </a:t>
            </a:r>
            <a:r>
              <a:rPr lang="en-US" sz="1000" dirty="0" err="1"/>
              <a:t>FastAPI</a:t>
            </a:r>
            <a:r>
              <a:rPr lang="en-US" sz="1000" dirty="0"/>
              <a:t>, </a:t>
            </a:r>
            <a:r>
              <a:rPr lang="en-US" sz="1000" dirty="0" err="1"/>
              <a:t>Uvicorn</a:t>
            </a:r>
            <a:endParaRPr lang="en-US" sz="1000" dirty="0"/>
          </a:p>
          <a:p>
            <a:r>
              <a:rPr lang="en-US" sz="1000" dirty="0"/>
              <a:t>- </a:t>
            </a:r>
            <a:r>
              <a:rPr lang="en-US" sz="1000" dirty="0" err="1"/>
              <a:t>SQLAlchemy</a:t>
            </a:r>
            <a:r>
              <a:rPr lang="en-US" sz="1000" dirty="0"/>
              <a:t> ORM on SQLite (file: </a:t>
            </a:r>
            <a:r>
              <a:rPr lang="en-US" sz="1000" dirty="0" err="1"/>
              <a:t>orderdesk.db</a:t>
            </a:r>
            <a:r>
              <a:rPr lang="en-US" sz="1000" dirty="0"/>
              <a:t>) for the PoC</a:t>
            </a:r>
          </a:p>
          <a:p>
            <a:r>
              <a:rPr lang="en-US" sz="1000" dirty="0"/>
              <a:t>- </a:t>
            </a:r>
            <a:r>
              <a:rPr lang="en-US" sz="1000" dirty="0" err="1"/>
              <a:t>httpx</a:t>
            </a:r>
            <a:r>
              <a:rPr lang="en-US" sz="1000" dirty="0"/>
              <a:t> for the external payment-intent call (mock gateway)</a:t>
            </a:r>
          </a:p>
          <a:p>
            <a:r>
              <a:rPr lang="en-US" sz="1000" dirty="0"/>
              <a:t>- </a:t>
            </a:r>
            <a:r>
              <a:rPr lang="en-US" sz="1000" dirty="0" err="1"/>
              <a:t>pydantic</a:t>
            </a:r>
            <a:r>
              <a:rPr lang="en-US" sz="1000" dirty="0"/>
              <a:t> v2 for request and response models</a:t>
            </a:r>
          </a:p>
          <a:p>
            <a:r>
              <a:rPr lang="en-US" sz="1000" dirty="0"/>
              <a:t>- </a:t>
            </a:r>
            <a:r>
              <a:rPr lang="en-US" sz="1000" dirty="0" err="1"/>
              <a:t>pytest</a:t>
            </a:r>
            <a:r>
              <a:rPr lang="en-US" sz="1000" dirty="0"/>
              <a:t> for tests</a:t>
            </a:r>
          </a:p>
          <a:p>
            <a:endParaRPr lang="en-US" sz="1000" dirty="0"/>
          </a:p>
          <a:p>
            <a:r>
              <a:rPr lang="en-US" sz="1000" dirty="0"/>
              <a:t>## Conventions</a:t>
            </a:r>
          </a:p>
          <a:p>
            <a:r>
              <a:rPr lang="en-US" sz="1000" dirty="0"/>
              <a:t>- Layout: app/</a:t>
            </a:r>
            <a:r>
              <a:rPr lang="en-US" sz="1000" dirty="0" err="1"/>
              <a:t>main.py</a:t>
            </a:r>
            <a:r>
              <a:rPr lang="en-US" sz="1000" dirty="0"/>
              <a:t>, app/</a:t>
            </a:r>
            <a:r>
              <a:rPr lang="en-US" sz="1000" dirty="0" err="1"/>
              <a:t>db.py</a:t>
            </a:r>
            <a:r>
              <a:rPr lang="en-US" sz="1000" dirty="0"/>
              <a:t>, app/</a:t>
            </a:r>
            <a:r>
              <a:rPr lang="en-US" sz="1000" dirty="0" err="1"/>
              <a:t>models.py</a:t>
            </a:r>
            <a:r>
              <a:rPr lang="en-US" sz="1000" dirty="0"/>
              <a:t>, app/</a:t>
            </a:r>
            <a:r>
              <a:rPr lang="en-US" sz="1000" dirty="0" err="1"/>
              <a:t>schemas.py</a:t>
            </a:r>
            <a:r>
              <a:rPr lang="en-US" sz="1000" dirty="0"/>
              <a:t>, app/</a:t>
            </a:r>
            <a:r>
              <a:rPr lang="en-US" sz="1000" dirty="0" err="1"/>
              <a:t>routes.py</a:t>
            </a:r>
            <a:endParaRPr lang="en-US" sz="1000" dirty="0"/>
          </a:p>
          <a:p>
            <a:r>
              <a:rPr lang="en-US" sz="1000" dirty="0"/>
              <a:t>- Type hints on every function. Docstrings on every endpoint.</a:t>
            </a:r>
          </a:p>
          <a:p>
            <a:r>
              <a:rPr lang="en-US" sz="1000" dirty="0"/>
              <a:t>- Money is stored as integer minor units (paise / cents), never float.</a:t>
            </a:r>
          </a:p>
          <a:p>
            <a:r>
              <a:rPr lang="en-US" sz="1000" dirty="0"/>
              <a:t>- Prices live on the catalog item. Order lines snapshot the price at order time and never recompute from the live catalog.</a:t>
            </a:r>
          </a:p>
          <a:p>
            <a:r>
              <a:rPr lang="en-US" sz="1000" dirty="0"/>
              <a:t>- Stock moves through a reservation, never edited in place. Reserve on order create, release on cancel, commit on pay.</a:t>
            </a:r>
          </a:p>
          <a:p>
            <a:r>
              <a:rPr lang="en-US" sz="1000" dirty="0"/>
              <a:t>- Order create is idempotent on an Idempotency-Key header. The same key returns the same order, never a duplicate.</a:t>
            </a:r>
          </a:p>
          <a:p>
            <a:r>
              <a:rPr lang="en-US" sz="1000" dirty="0"/>
              <a:t>- Never oversell. Reject the order if reservable stock is below the requested quantity.</a:t>
            </a:r>
          </a:p>
          <a:p>
            <a:r>
              <a:rPr lang="en-US" sz="1000" dirty="0"/>
              <a:t>- Never hardcode secrets. Read them from environment variables via python-</a:t>
            </a:r>
            <a:r>
              <a:rPr lang="en-US" sz="1000" dirty="0" err="1"/>
              <a:t>dotenv</a:t>
            </a:r>
            <a:r>
              <a:rPr lang="en-US" sz="1000" dirty="0"/>
              <a:t>.</a:t>
            </a:r>
          </a:p>
          <a:p>
            <a:endParaRPr lang="en-US" sz="1000" dirty="0"/>
          </a:p>
          <a:p>
            <a:r>
              <a:rPr lang="en-US" sz="1000" dirty="0"/>
              <a:t>## Run and test</a:t>
            </a:r>
          </a:p>
          <a:p>
            <a:r>
              <a:rPr lang="en-US" sz="1000" dirty="0"/>
              <a:t>- Run:  python -m </a:t>
            </a:r>
            <a:r>
              <a:rPr lang="en-US" sz="1000" dirty="0" err="1"/>
              <a:t>uvicorn</a:t>
            </a:r>
            <a:r>
              <a:rPr lang="en-US" sz="1000" dirty="0"/>
              <a:t> </a:t>
            </a:r>
            <a:r>
              <a:rPr lang="en-US" sz="1000" dirty="0" err="1"/>
              <a:t>app.main:app</a:t>
            </a:r>
            <a:r>
              <a:rPr lang="en-US" sz="1000" dirty="0"/>
              <a:t> --reload</a:t>
            </a:r>
          </a:p>
          <a:p>
            <a:r>
              <a:rPr lang="en-US" sz="1000" dirty="0"/>
              <a:t>- Test: python -m </a:t>
            </a:r>
            <a:r>
              <a:rPr lang="en-US" sz="1000" dirty="0" err="1"/>
              <a:t>pytest</a:t>
            </a:r>
            <a:r>
              <a:rPr lang="en-US" sz="1000" dirty="0"/>
              <a:t> -q</a:t>
            </a:r>
          </a:p>
          <a:p>
            <a:endParaRPr lang="en-US" sz="1000" dirty="0"/>
          </a:p>
          <a:p>
            <a:r>
              <a:rPr lang="en-US" sz="1000" dirty="0"/>
              <a:t>## Do not touch</a:t>
            </a:r>
          </a:p>
          <a:p>
            <a:r>
              <a:rPr lang="en-US" sz="1000" dirty="0"/>
              <a:t>- Do not edit .</a:t>
            </a:r>
            <a:r>
              <a:rPr lang="en-US" sz="1000" dirty="0" err="1"/>
              <a:t>venv</a:t>
            </a:r>
            <a:r>
              <a:rPr lang="en-US" sz="1000" dirty="0"/>
              <a:t>, .git, or </a:t>
            </a:r>
            <a:r>
              <a:rPr lang="en-US" sz="1000" dirty="0" err="1"/>
              <a:t>orderdesk.db</a:t>
            </a:r>
            <a:r>
              <a:rPr lang="en-US" sz="1000" dirty="0"/>
              <a:t> directly.</a:t>
            </a:r>
          </a:p>
          <a:p>
            <a:r>
              <a:rPr lang="en-US" sz="1000" dirty="0"/>
              <a:t>- Do not add new third-party dependencies without telling me first.</a:t>
            </a:r>
          </a:p>
          <a:p>
            <a:r>
              <a:rPr lang="en-US" sz="1000" dirty="0"/>
              <a:t>- Do not invent endpoints, statuses, or order states that are not in the brief.</a:t>
            </a:r>
          </a:p>
          <a:p>
            <a:r>
              <a:rPr lang="en-US" sz="1000" dirty="0"/>
              <a:t>- Do not bypass the reservation flow to adjust stock counts directly.</a:t>
            </a:r>
          </a:p>
          <a:p>
            <a:endParaRPr lang="en-US" sz="1000" dirty="0"/>
          </a:p>
          <a:p>
            <a:r>
              <a:rPr lang="en-US" sz="1000" dirty="0"/>
              <a:t>Always show me a diff and wait for approval before editing more than one file at a time.</a:t>
            </a:r>
          </a:p>
        </p:txBody>
      </p:sp>
    </p:spTree>
    <p:extLst>
      <p:ext uri="{BB962C8B-B14F-4D97-AF65-F5344CB8AC3E}">
        <p14:creationId xmlns:p14="http://schemas.microsoft.com/office/powerpoint/2010/main" val="2413693011"/>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7"/>
          <p:cNvSpPr/>
          <p:nvPr/>
        </p:nvSpPr>
        <p:spPr>
          <a:xfrm>
            <a:off x="1955585" y="1369902"/>
            <a:ext cx="3526933" cy="3914198"/>
          </a:xfrm>
          <a:prstGeom prst="roundRect">
            <a:avLst>
              <a:gd name="adj" fmla="val 2666"/>
            </a:avLst>
          </a:prstGeom>
          <a:solidFill>
            <a:schemeClr val="bg1">
              <a:lumMod val="95000"/>
            </a:schemeClr>
          </a:solidFill>
          <a:ln w="9525">
            <a:noFill/>
            <a:prstDash val="solid"/>
          </a:ln>
        </p:spPr>
        <p:txBody>
          <a:bodyPr/>
          <a:lstStyle/>
          <a:p>
            <a:endParaRPr lang="en-US" sz="3187"/>
          </a:p>
        </p:txBody>
      </p:sp>
      <p:sp>
        <p:nvSpPr>
          <p:cNvPr id="12" name="Text 8"/>
          <p:cNvSpPr/>
          <p:nvPr/>
        </p:nvSpPr>
        <p:spPr>
          <a:xfrm>
            <a:off x="3354196" y="1515844"/>
            <a:ext cx="729710" cy="364855"/>
          </a:xfrm>
          <a:prstGeom prst="rect">
            <a:avLst/>
          </a:prstGeom>
          <a:noFill/>
          <a:ln/>
        </p:spPr>
        <p:txBody>
          <a:bodyPr wrap="square" lIns="0" tIns="0" rIns="0" bIns="0" rtlCol="0" anchor="ctr"/>
          <a:lstStyle/>
          <a:p>
            <a:pPr algn="ctr"/>
            <a:r>
              <a:rPr lang="en-US" sz="2000" b="1" kern="0" dirty="0">
                <a:latin typeface="Open Sans" panose="020B0606030504020204" pitchFamily="34" charset="0"/>
                <a:ea typeface="Open Sans" panose="020B0606030504020204" pitchFamily="34" charset="0"/>
                <a:cs typeface="Open Sans" panose="020B0606030504020204" pitchFamily="34" charset="0"/>
              </a:rPr>
              <a:t>Q1</a:t>
            </a:r>
            <a:endParaRPr lang="en-US" sz="2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0">
            <a:extLst>
              <a:ext uri="{FF2B5EF4-FFF2-40B4-BE49-F238E27FC236}">
                <a16:creationId xmlns:a16="http://schemas.microsoft.com/office/drawing/2014/main" id="{1697772A-8909-8619-6197-521D4F715DB0}"/>
              </a:ext>
            </a:extLst>
          </p:cNvPr>
          <p:cNvSpPr/>
          <p:nvPr/>
        </p:nvSpPr>
        <p:spPr>
          <a:xfrm>
            <a:off x="582385" y="141838"/>
            <a:ext cx="10824035" cy="851329"/>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Let’s Test Our Understanding</a:t>
            </a:r>
          </a:p>
        </p:txBody>
      </p:sp>
      <p:sp>
        <p:nvSpPr>
          <p:cNvPr id="3" name="Shape 0">
            <a:extLst>
              <a:ext uri="{FF2B5EF4-FFF2-40B4-BE49-F238E27FC236}">
                <a16:creationId xmlns:a16="http://schemas.microsoft.com/office/drawing/2014/main" id="{549494B7-D8E4-2A6D-A79E-FE7ECF119FAE}"/>
              </a:ext>
            </a:extLst>
          </p:cNvPr>
          <p:cNvSpPr/>
          <p:nvPr/>
        </p:nvSpPr>
        <p:spPr>
          <a:xfrm>
            <a:off x="9742179" y="216691"/>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5" name="Text 1">
            <a:extLst>
              <a:ext uri="{FF2B5EF4-FFF2-40B4-BE49-F238E27FC236}">
                <a16:creationId xmlns:a16="http://schemas.microsoft.com/office/drawing/2014/main" id="{EC5BA68E-EFDB-80F5-A510-55B445FEA4FF}"/>
              </a:ext>
            </a:extLst>
          </p:cNvPr>
          <p:cNvSpPr/>
          <p:nvPr/>
        </p:nvSpPr>
        <p:spPr>
          <a:xfrm>
            <a:off x="9678352" y="265912"/>
            <a:ext cx="1970218" cy="364855"/>
          </a:xfrm>
          <a:prstGeom prst="rect">
            <a:avLst/>
          </a:prstGeom>
          <a:noFill/>
          <a:ln/>
        </p:spPr>
        <p:txBody>
          <a:bodyPr wrap="square" lIns="0" tIns="0" rIns="0" bIns="0" rtlCol="0" anchor="ctr"/>
          <a:lstStyle/>
          <a:p>
            <a:pPr algn="ctr"/>
            <a:r>
              <a:rPr lang="en-US" sz="1197" b="1">
                <a:solidFill>
                  <a:schemeClr val="bg1"/>
                </a:solidFill>
                <a:latin typeface="Open Sans" pitchFamily="34" charset="0"/>
                <a:ea typeface="Open Sans" pitchFamily="34" charset="-122"/>
                <a:cs typeface="Open Sans" pitchFamily="34" charset="-120"/>
              </a:rPr>
              <a:t>QUICK CHECK</a:t>
            </a:r>
            <a:endParaRPr lang="en-US" sz="1197">
              <a:solidFill>
                <a:schemeClr val="bg1"/>
              </a:solidFill>
            </a:endParaRPr>
          </a:p>
        </p:txBody>
      </p:sp>
      <p:sp>
        <p:nvSpPr>
          <p:cNvPr id="4" name="Shape 7">
            <a:extLst>
              <a:ext uri="{FF2B5EF4-FFF2-40B4-BE49-F238E27FC236}">
                <a16:creationId xmlns:a16="http://schemas.microsoft.com/office/drawing/2014/main" id="{D7D2C2AE-EC8F-8F95-661F-C0B57B2D3C6D}"/>
              </a:ext>
            </a:extLst>
          </p:cNvPr>
          <p:cNvSpPr/>
          <p:nvPr/>
        </p:nvSpPr>
        <p:spPr>
          <a:xfrm>
            <a:off x="2198822" y="3121208"/>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9" name="Shape 7">
            <a:extLst>
              <a:ext uri="{FF2B5EF4-FFF2-40B4-BE49-F238E27FC236}">
                <a16:creationId xmlns:a16="http://schemas.microsoft.com/office/drawing/2014/main" id="{38F23782-419E-23FC-A938-7D590BF0A930}"/>
              </a:ext>
            </a:extLst>
          </p:cNvPr>
          <p:cNvSpPr/>
          <p:nvPr/>
        </p:nvSpPr>
        <p:spPr>
          <a:xfrm>
            <a:off x="2198822" y="3656919"/>
            <a:ext cx="3040459" cy="413502"/>
          </a:xfrm>
          <a:prstGeom prst="roundRect">
            <a:avLst>
              <a:gd name="adj" fmla="val 11112"/>
            </a:avLst>
          </a:prstGeom>
          <a:solidFill>
            <a:srgbClr val="F2F2F2"/>
          </a:solidFill>
          <a:ln w="3175">
            <a:solidFill>
              <a:schemeClr val="tx2"/>
            </a:solidFill>
            <a:prstDash val="solid"/>
          </a:ln>
        </p:spPr>
        <p:txBody>
          <a:bodyPr/>
          <a:lstStyle/>
          <a:p>
            <a:endParaRPr lang="en-US" sz="3187"/>
          </a:p>
        </p:txBody>
      </p:sp>
      <p:sp>
        <p:nvSpPr>
          <p:cNvPr id="13" name="Text 9"/>
          <p:cNvSpPr/>
          <p:nvPr/>
        </p:nvSpPr>
        <p:spPr>
          <a:xfrm>
            <a:off x="2198822" y="2075289"/>
            <a:ext cx="3040459" cy="851329"/>
          </a:xfrm>
          <a:prstGeom prst="rect">
            <a:avLst/>
          </a:prstGeom>
          <a:noFill/>
          <a:ln/>
        </p:spPr>
        <p:txBody>
          <a:bodyPr wrap="square" lIns="0" tIns="0" rIns="0" bIns="0" rtlCol="0" anchor="t"/>
          <a:lstStyle/>
          <a:p>
            <a:r>
              <a:rPr lang="en-IN" sz="1400" dirty="0"/>
              <a:t>Which </a:t>
            </a:r>
            <a:r>
              <a:rPr lang="en-IN" sz="1400" dirty="0" err="1"/>
              <a:t>CLAUDE.md</a:t>
            </a:r>
            <a:r>
              <a:rPr lang="en-IN" sz="1400" dirty="0"/>
              <a:t> section lists files or logic that should never be modified?</a:t>
            </a:r>
            <a:endParaRPr lang="en-US" sz="14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2259631" y="3121208"/>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Tech Stack</a:t>
            </a:r>
            <a:endParaRPr lang="en-US" sz="1264" dirty="0"/>
          </a:p>
        </p:txBody>
      </p:sp>
      <p:sp>
        <p:nvSpPr>
          <p:cNvPr id="17" name="Text 13"/>
          <p:cNvSpPr/>
          <p:nvPr/>
        </p:nvSpPr>
        <p:spPr>
          <a:xfrm>
            <a:off x="2259631" y="3632005"/>
            <a:ext cx="2918841" cy="413502"/>
          </a:xfrm>
          <a:prstGeom prst="rect">
            <a:avLst/>
          </a:prstGeom>
          <a:noFill/>
          <a:ln/>
        </p:spPr>
        <p:txBody>
          <a:bodyPr wrap="square" lIns="0" tIns="0" rIns="0" bIns="0" rtlCol="0" anchor="ctr"/>
          <a:lstStyle/>
          <a:p>
            <a:r>
              <a:rPr lang="en-US" sz="1264" b="1" dirty="0">
                <a:solidFill>
                  <a:schemeClr val="tx1">
                    <a:lumMod val="75000"/>
                  </a:schemeClr>
                </a:solidFill>
                <a:latin typeface="Open Sans" pitchFamily="34" charset="0"/>
                <a:ea typeface="Open Sans" pitchFamily="34" charset="-122"/>
                <a:cs typeface="Open Sans" pitchFamily="34" charset="-120"/>
              </a:rPr>
              <a:t>Do not touch zones</a:t>
            </a:r>
            <a:endParaRPr lang="en-US" sz="1264" dirty="0">
              <a:solidFill>
                <a:schemeClr val="tx1">
                  <a:lumMod val="75000"/>
                </a:schemeClr>
              </a:solidFill>
            </a:endParaRPr>
          </a:p>
        </p:txBody>
      </p:sp>
      <p:sp>
        <p:nvSpPr>
          <p:cNvPr id="25" name="Shape 7">
            <a:extLst>
              <a:ext uri="{FF2B5EF4-FFF2-40B4-BE49-F238E27FC236}">
                <a16:creationId xmlns:a16="http://schemas.microsoft.com/office/drawing/2014/main" id="{0BB38394-B1E1-B4C5-6371-28547CECECC5}"/>
              </a:ext>
            </a:extLst>
          </p:cNvPr>
          <p:cNvSpPr/>
          <p:nvPr/>
        </p:nvSpPr>
        <p:spPr>
          <a:xfrm>
            <a:off x="2198822" y="4150620"/>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19" name="Text 15"/>
          <p:cNvSpPr/>
          <p:nvPr/>
        </p:nvSpPr>
        <p:spPr>
          <a:xfrm>
            <a:off x="2259631" y="4150620"/>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Coding Conventions</a:t>
            </a:r>
            <a:endParaRPr lang="en-US" sz="1264" dirty="0"/>
          </a:p>
        </p:txBody>
      </p:sp>
      <p:sp>
        <p:nvSpPr>
          <p:cNvPr id="26" name="Shape 7">
            <a:extLst>
              <a:ext uri="{FF2B5EF4-FFF2-40B4-BE49-F238E27FC236}">
                <a16:creationId xmlns:a16="http://schemas.microsoft.com/office/drawing/2014/main" id="{FD680374-4E49-9A06-5EE6-AB43B97899BB}"/>
              </a:ext>
            </a:extLst>
          </p:cNvPr>
          <p:cNvSpPr/>
          <p:nvPr/>
        </p:nvSpPr>
        <p:spPr>
          <a:xfrm>
            <a:off x="2198822" y="4649972"/>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21" name="Text 17"/>
          <p:cNvSpPr/>
          <p:nvPr/>
        </p:nvSpPr>
        <p:spPr>
          <a:xfrm>
            <a:off x="2259631" y="4649972"/>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Useful context</a:t>
            </a:r>
            <a:endParaRPr lang="en-US" sz="1264" dirty="0"/>
          </a:p>
        </p:txBody>
      </p:sp>
      <p:sp>
        <p:nvSpPr>
          <p:cNvPr id="7" name="Shape 7">
            <a:extLst>
              <a:ext uri="{FF2B5EF4-FFF2-40B4-BE49-F238E27FC236}">
                <a16:creationId xmlns:a16="http://schemas.microsoft.com/office/drawing/2014/main" id="{AFB56F9F-458C-9D0E-B931-036297A83BB7}"/>
              </a:ext>
            </a:extLst>
          </p:cNvPr>
          <p:cNvSpPr/>
          <p:nvPr/>
        </p:nvSpPr>
        <p:spPr>
          <a:xfrm>
            <a:off x="6709482" y="1369902"/>
            <a:ext cx="3526933" cy="3914198"/>
          </a:xfrm>
          <a:prstGeom prst="roundRect">
            <a:avLst>
              <a:gd name="adj" fmla="val 2666"/>
            </a:avLst>
          </a:prstGeom>
          <a:solidFill>
            <a:schemeClr val="bg1">
              <a:lumMod val="95000"/>
            </a:schemeClr>
          </a:solidFill>
          <a:ln w="9525">
            <a:noFill/>
            <a:prstDash val="solid"/>
          </a:ln>
        </p:spPr>
        <p:txBody>
          <a:bodyPr/>
          <a:lstStyle/>
          <a:p>
            <a:endParaRPr lang="en-US" sz="3187"/>
          </a:p>
        </p:txBody>
      </p:sp>
      <p:sp>
        <p:nvSpPr>
          <p:cNvPr id="22" name="Text 8">
            <a:extLst>
              <a:ext uri="{FF2B5EF4-FFF2-40B4-BE49-F238E27FC236}">
                <a16:creationId xmlns:a16="http://schemas.microsoft.com/office/drawing/2014/main" id="{63C601BC-F988-62D9-1EA9-A6EACB5805B7}"/>
              </a:ext>
            </a:extLst>
          </p:cNvPr>
          <p:cNvSpPr/>
          <p:nvPr/>
        </p:nvSpPr>
        <p:spPr>
          <a:xfrm>
            <a:off x="8108093" y="1515844"/>
            <a:ext cx="729710" cy="364855"/>
          </a:xfrm>
          <a:prstGeom prst="rect">
            <a:avLst/>
          </a:prstGeom>
          <a:noFill/>
          <a:ln/>
        </p:spPr>
        <p:txBody>
          <a:bodyPr wrap="square" lIns="0" tIns="0" rIns="0" bIns="0" rtlCol="0" anchor="ctr"/>
          <a:lstStyle/>
          <a:p>
            <a:pPr algn="ctr"/>
            <a:r>
              <a:rPr lang="en-US" sz="2000" b="1" kern="0" dirty="0">
                <a:latin typeface="Open Sans" panose="020B0606030504020204" pitchFamily="34" charset="0"/>
                <a:ea typeface="Open Sans" panose="020B0606030504020204" pitchFamily="34" charset="0"/>
                <a:cs typeface="Open Sans" panose="020B0606030504020204" pitchFamily="34" charset="0"/>
              </a:rPr>
              <a:t>Q2</a:t>
            </a:r>
            <a:endParaRPr lang="en-US" sz="2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9">
            <a:extLst>
              <a:ext uri="{FF2B5EF4-FFF2-40B4-BE49-F238E27FC236}">
                <a16:creationId xmlns:a16="http://schemas.microsoft.com/office/drawing/2014/main" id="{8109E1E2-D27F-E161-AEC7-A7E298FC9BC1}"/>
              </a:ext>
            </a:extLst>
          </p:cNvPr>
          <p:cNvSpPr/>
          <p:nvPr/>
        </p:nvSpPr>
        <p:spPr>
          <a:xfrm>
            <a:off x="6952719" y="2075289"/>
            <a:ext cx="3040459" cy="851329"/>
          </a:xfrm>
          <a:prstGeom prst="rect">
            <a:avLst/>
          </a:prstGeom>
          <a:noFill/>
          <a:ln/>
        </p:spPr>
        <p:txBody>
          <a:bodyPr wrap="square" lIns="0" tIns="0" rIns="0" bIns="0" rtlCol="0" anchor="t"/>
          <a:lstStyle/>
          <a:p>
            <a:r>
              <a:rPr lang="en-IN" sz="1400" dirty="0"/>
              <a:t>Which two actions can Claude perform autonomously, without asking for approval</a:t>
            </a:r>
            <a:endParaRPr lang="en-US" sz="14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7">
            <a:extLst>
              <a:ext uri="{FF2B5EF4-FFF2-40B4-BE49-F238E27FC236}">
                <a16:creationId xmlns:a16="http://schemas.microsoft.com/office/drawing/2014/main" id="{E7535581-6449-93C2-610D-73E22A66A4F9}"/>
              </a:ext>
            </a:extLst>
          </p:cNvPr>
          <p:cNvSpPr/>
          <p:nvPr/>
        </p:nvSpPr>
        <p:spPr>
          <a:xfrm>
            <a:off x="6952719" y="3121208"/>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28" name="Shape 7">
            <a:extLst>
              <a:ext uri="{FF2B5EF4-FFF2-40B4-BE49-F238E27FC236}">
                <a16:creationId xmlns:a16="http://schemas.microsoft.com/office/drawing/2014/main" id="{B86361B2-5216-AA64-A12C-411AAE40A3CA}"/>
              </a:ext>
            </a:extLst>
          </p:cNvPr>
          <p:cNvSpPr/>
          <p:nvPr/>
        </p:nvSpPr>
        <p:spPr>
          <a:xfrm>
            <a:off x="6952719" y="3656919"/>
            <a:ext cx="3040459" cy="413502"/>
          </a:xfrm>
          <a:prstGeom prst="roundRect">
            <a:avLst>
              <a:gd name="adj" fmla="val 11112"/>
            </a:avLst>
          </a:prstGeom>
          <a:solidFill>
            <a:srgbClr val="F2F2F2"/>
          </a:solidFill>
          <a:ln w="3175">
            <a:solidFill>
              <a:schemeClr val="tx2"/>
            </a:solidFill>
            <a:prstDash val="solid"/>
          </a:ln>
        </p:spPr>
        <p:txBody>
          <a:bodyPr/>
          <a:lstStyle/>
          <a:p>
            <a:endParaRPr lang="en-US" sz="3187"/>
          </a:p>
        </p:txBody>
      </p:sp>
      <p:sp>
        <p:nvSpPr>
          <p:cNvPr id="47" name="Text 11">
            <a:extLst>
              <a:ext uri="{FF2B5EF4-FFF2-40B4-BE49-F238E27FC236}">
                <a16:creationId xmlns:a16="http://schemas.microsoft.com/office/drawing/2014/main" id="{E9D938F7-6F3C-A231-AB7B-E1AC2911A372}"/>
              </a:ext>
            </a:extLst>
          </p:cNvPr>
          <p:cNvSpPr/>
          <p:nvPr/>
        </p:nvSpPr>
        <p:spPr>
          <a:xfrm>
            <a:off x="7013528" y="3121208"/>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Edit and Execute</a:t>
            </a:r>
            <a:endParaRPr lang="en-US" sz="1264" dirty="0"/>
          </a:p>
        </p:txBody>
      </p:sp>
      <p:sp>
        <p:nvSpPr>
          <p:cNvPr id="29" name="Shape 7">
            <a:extLst>
              <a:ext uri="{FF2B5EF4-FFF2-40B4-BE49-F238E27FC236}">
                <a16:creationId xmlns:a16="http://schemas.microsoft.com/office/drawing/2014/main" id="{81213774-23EF-1A08-6B70-5385D52922F6}"/>
              </a:ext>
            </a:extLst>
          </p:cNvPr>
          <p:cNvSpPr/>
          <p:nvPr/>
        </p:nvSpPr>
        <p:spPr>
          <a:xfrm>
            <a:off x="6952719" y="4150620"/>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49" name="Text 13">
            <a:extLst>
              <a:ext uri="{FF2B5EF4-FFF2-40B4-BE49-F238E27FC236}">
                <a16:creationId xmlns:a16="http://schemas.microsoft.com/office/drawing/2014/main" id="{2E5A63AB-DE28-BEDB-4046-A54173B0E088}"/>
              </a:ext>
            </a:extLst>
          </p:cNvPr>
          <p:cNvSpPr/>
          <p:nvPr/>
        </p:nvSpPr>
        <p:spPr>
          <a:xfrm>
            <a:off x="7013528" y="3644648"/>
            <a:ext cx="2918841" cy="413502"/>
          </a:xfrm>
          <a:prstGeom prst="rect">
            <a:avLst/>
          </a:prstGeom>
          <a:noFill/>
          <a:ln/>
        </p:spPr>
        <p:txBody>
          <a:bodyPr wrap="square" lIns="0" tIns="0" rIns="0" bIns="0" rtlCol="0" anchor="ctr"/>
          <a:lstStyle/>
          <a:p>
            <a:r>
              <a:rPr lang="en-US" sz="1264" b="1">
                <a:solidFill>
                  <a:schemeClr val="tx1">
                    <a:lumMod val="75000"/>
                  </a:schemeClr>
                </a:solidFill>
                <a:latin typeface="Open Sans" pitchFamily="34" charset="0"/>
                <a:ea typeface="Open Sans" pitchFamily="34" charset="-122"/>
                <a:cs typeface="Open Sans" pitchFamily="34" charset="-120"/>
              </a:rPr>
              <a:t>Read and Propose</a:t>
            </a:r>
            <a:endParaRPr lang="en-US" sz="1264">
              <a:solidFill>
                <a:schemeClr val="tx1">
                  <a:lumMod val="75000"/>
                </a:schemeClr>
              </a:solidFill>
            </a:endParaRPr>
          </a:p>
        </p:txBody>
      </p:sp>
      <p:sp>
        <p:nvSpPr>
          <p:cNvPr id="30" name="Shape 7">
            <a:extLst>
              <a:ext uri="{FF2B5EF4-FFF2-40B4-BE49-F238E27FC236}">
                <a16:creationId xmlns:a16="http://schemas.microsoft.com/office/drawing/2014/main" id="{A4BEE455-4020-219E-FD88-E8C7678AD5D2}"/>
              </a:ext>
            </a:extLst>
          </p:cNvPr>
          <p:cNvSpPr/>
          <p:nvPr/>
        </p:nvSpPr>
        <p:spPr>
          <a:xfrm>
            <a:off x="6952719" y="4649972"/>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51" name="Text 15">
            <a:extLst>
              <a:ext uri="{FF2B5EF4-FFF2-40B4-BE49-F238E27FC236}">
                <a16:creationId xmlns:a16="http://schemas.microsoft.com/office/drawing/2014/main" id="{6518B069-A66E-1BA0-AA13-CB57CD5EC1A8}"/>
              </a:ext>
            </a:extLst>
          </p:cNvPr>
          <p:cNvSpPr/>
          <p:nvPr/>
        </p:nvSpPr>
        <p:spPr>
          <a:xfrm>
            <a:off x="7013528" y="4142802"/>
            <a:ext cx="2918841" cy="413502"/>
          </a:xfrm>
          <a:prstGeom prst="rect">
            <a:avLst/>
          </a:prstGeom>
          <a:noFill/>
          <a:ln/>
        </p:spPr>
        <p:txBody>
          <a:bodyPr wrap="square" lIns="0" tIns="0" rIns="0" bIns="0" rtlCol="0" anchor="ctr"/>
          <a:lstStyle/>
          <a:p>
            <a:r>
              <a:rPr lang="en-US" sz="1264" b="1">
                <a:latin typeface="Open Sans" pitchFamily="34" charset="0"/>
                <a:ea typeface="Open Sans" pitchFamily="34" charset="-122"/>
                <a:cs typeface="Open Sans" pitchFamily="34" charset="-120"/>
              </a:rPr>
              <a:t>Propose and Execute</a:t>
            </a:r>
            <a:endParaRPr lang="en-US" sz="1264"/>
          </a:p>
        </p:txBody>
      </p:sp>
      <p:sp>
        <p:nvSpPr>
          <p:cNvPr id="53" name="Text 17">
            <a:extLst>
              <a:ext uri="{FF2B5EF4-FFF2-40B4-BE49-F238E27FC236}">
                <a16:creationId xmlns:a16="http://schemas.microsoft.com/office/drawing/2014/main" id="{020765A7-E144-7D58-1970-7FC6EC8CFB46}"/>
              </a:ext>
            </a:extLst>
          </p:cNvPr>
          <p:cNvSpPr/>
          <p:nvPr/>
        </p:nvSpPr>
        <p:spPr>
          <a:xfrm>
            <a:off x="7013528" y="4653599"/>
            <a:ext cx="2918841" cy="413502"/>
          </a:xfrm>
          <a:prstGeom prst="rect">
            <a:avLst/>
          </a:prstGeom>
          <a:noFill/>
          <a:ln/>
        </p:spPr>
        <p:txBody>
          <a:bodyPr wrap="square" lIns="0" tIns="0" rIns="0" bIns="0" rtlCol="0" anchor="ctr"/>
          <a:lstStyle/>
          <a:p>
            <a:r>
              <a:rPr lang="en-US" sz="1264" b="1">
                <a:latin typeface="Open Sans" pitchFamily="34" charset="0"/>
                <a:ea typeface="Open Sans" pitchFamily="34" charset="-122"/>
                <a:cs typeface="Open Sans" pitchFamily="34" charset="-120"/>
              </a:rPr>
              <a:t>Read and Edit</a:t>
            </a:r>
            <a:endParaRPr lang="en-US" sz="1264"/>
          </a:p>
        </p:txBody>
      </p:sp>
    </p:spTree>
    <p:custDataLst>
      <p:tags r:id="rId1"/>
    </p:custDataLst>
  </p:cSld>
  <p:clrMapOvr>
    <a:masterClrMapping/>
  </p:clrMapOvr>
  <p:extLst>
    <p:ext uri="{6950BFC3-D8DA-4A85-94F7-54DA5524770B}">
      <p188:commentRel xmlns:p188="http://schemas.microsoft.com/office/powerpoint/2018/8/main" r:id="rId4"/>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93EC1-C7BA-808F-C73C-5A23219475C6}"/>
            </a:ext>
          </a:extLst>
        </p:cNvPr>
        <p:cNvGrpSpPr/>
        <p:nvPr/>
      </p:nvGrpSpPr>
      <p:grpSpPr>
        <a:xfrm>
          <a:off x="0" y="0"/>
          <a:ext cx="0" cy="0"/>
          <a:chOff x="0" y="0"/>
          <a:chExt cx="0" cy="0"/>
        </a:xfrm>
      </p:grpSpPr>
      <p:sp>
        <p:nvSpPr>
          <p:cNvPr id="11" name="Shape 7">
            <a:extLst>
              <a:ext uri="{FF2B5EF4-FFF2-40B4-BE49-F238E27FC236}">
                <a16:creationId xmlns:a16="http://schemas.microsoft.com/office/drawing/2014/main" id="{49FAD278-B9EE-5090-10E4-6C6A65A70BC5}"/>
              </a:ext>
            </a:extLst>
          </p:cNvPr>
          <p:cNvSpPr/>
          <p:nvPr/>
        </p:nvSpPr>
        <p:spPr>
          <a:xfrm>
            <a:off x="1955585" y="1369902"/>
            <a:ext cx="3526933" cy="3914198"/>
          </a:xfrm>
          <a:prstGeom prst="roundRect">
            <a:avLst>
              <a:gd name="adj" fmla="val 2666"/>
            </a:avLst>
          </a:prstGeom>
          <a:solidFill>
            <a:schemeClr val="bg1">
              <a:lumMod val="95000"/>
            </a:schemeClr>
          </a:solidFill>
          <a:ln w="9525">
            <a:noFill/>
            <a:prstDash val="solid"/>
          </a:ln>
        </p:spPr>
        <p:txBody>
          <a:bodyPr/>
          <a:lstStyle/>
          <a:p>
            <a:endParaRPr lang="en-US" sz="3187"/>
          </a:p>
        </p:txBody>
      </p:sp>
      <p:sp>
        <p:nvSpPr>
          <p:cNvPr id="12" name="Text 8">
            <a:extLst>
              <a:ext uri="{FF2B5EF4-FFF2-40B4-BE49-F238E27FC236}">
                <a16:creationId xmlns:a16="http://schemas.microsoft.com/office/drawing/2014/main" id="{817DEF6F-227C-17FA-CD94-392359ABB6D8}"/>
              </a:ext>
            </a:extLst>
          </p:cNvPr>
          <p:cNvSpPr/>
          <p:nvPr/>
        </p:nvSpPr>
        <p:spPr>
          <a:xfrm>
            <a:off x="3354196" y="1515844"/>
            <a:ext cx="729710" cy="364855"/>
          </a:xfrm>
          <a:prstGeom prst="rect">
            <a:avLst/>
          </a:prstGeom>
          <a:noFill/>
          <a:ln/>
        </p:spPr>
        <p:txBody>
          <a:bodyPr wrap="square" lIns="0" tIns="0" rIns="0" bIns="0" rtlCol="0" anchor="ctr"/>
          <a:lstStyle/>
          <a:p>
            <a:pPr algn="ctr"/>
            <a:r>
              <a:rPr lang="en-US" sz="2000" b="1" kern="0" dirty="0">
                <a:latin typeface="Open Sans" panose="020B0606030504020204" pitchFamily="34" charset="0"/>
                <a:ea typeface="Open Sans" panose="020B0606030504020204" pitchFamily="34" charset="0"/>
                <a:cs typeface="Open Sans" panose="020B0606030504020204" pitchFamily="34" charset="0"/>
              </a:rPr>
              <a:t>Q1</a:t>
            </a:r>
            <a:endParaRPr lang="en-US" sz="2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0">
            <a:extLst>
              <a:ext uri="{FF2B5EF4-FFF2-40B4-BE49-F238E27FC236}">
                <a16:creationId xmlns:a16="http://schemas.microsoft.com/office/drawing/2014/main" id="{1C7CD232-FFE9-FDB3-C9EB-D96E4FD017DA}"/>
              </a:ext>
            </a:extLst>
          </p:cNvPr>
          <p:cNvSpPr/>
          <p:nvPr/>
        </p:nvSpPr>
        <p:spPr>
          <a:xfrm>
            <a:off x="582385" y="141838"/>
            <a:ext cx="10824035" cy="851329"/>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Let’s Test Our Understanding</a:t>
            </a:r>
          </a:p>
        </p:txBody>
      </p:sp>
      <p:sp>
        <p:nvSpPr>
          <p:cNvPr id="3" name="Shape 0">
            <a:extLst>
              <a:ext uri="{FF2B5EF4-FFF2-40B4-BE49-F238E27FC236}">
                <a16:creationId xmlns:a16="http://schemas.microsoft.com/office/drawing/2014/main" id="{C0AEDDDC-40FB-CD20-413C-72B28AC59AC7}"/>
              </a:ext>
            </a:extLst>
          </p:cNvPr>
          <p:cNvSpPr/>
          <p:nvPr/>
        </p:nvSpPr>
        <p:spPr>
          <a:xfrm>
            <a:off x="9742179" y="216691"/>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5" name="Text 1">
            <a:extLst>
              <a:ext uri="{FF2B5EF4-FFF2-40B4-BE49-F238E27FC236}">
                <a16:creationId xmlns:a16="http://schemas.microsoft.com/office/drawing/2014/main" id="{40C27FCB-3A54-0A24-96FD-E0DEA30180B0}"/>
              </a:ext>
            </a:extLst>
          </p:cNvPr>
          <p:cNvSpPr/>
          <p:nvPr/>
        </p:nvSpPr>
        <p:spPr>
          <a:xfrm>
            <a:off x="9678352" y="265912"/>
            <a:ext cx="1970218" cy="364855"/>
          </a:xfrm>
          <a:prstGeom prst="rect">
            <a:avLst/>
          </a:prstGeom>
          <a:noFill/>
          <a:ln/>
        </p:spPr>
        <p:txBody>
          <a:bodyPr wrap="square" lIns="0" tIns="0" rIns="0" bIns="0" rtlCol="0" anchor="ctr"/>
          <a:lstStyle/>
          <a:p>
            <a:pPr algn="ctr"/>
            <a:r>
              <a:rPr lang="en-US" sz="1197" b="1">
                <a:solidFill>
                  <a:schemeClr val="bg1"/>
                </a:solidFill>
                <a:latin typeface="Open Sans" pitchFamily="34" charset="0"/>
                <a:ea typeface="Open Sans" pitchFamily="34" charset="-122"/>
                <a:cs typeface="Open Sans" pitchFamily="34" charset="-120"/>
              </a:rPr>
              <a:t>QUICK CHECK</a:t>
            </a:r>
            <a:endParaRPr lang="en-US" sz="1197">
              <a:solidFill>
                <a:schemeClr val="bg1"/>
              </a:solidFill>
            </a:endParaRPr>
          </a:p>
        </p:txBody>
      </p:sp>
      <p:sp>
        <p:nvSpPr>
          <p:cNvPr id="4" name="Shape 7">
            <a:extLst>
              <a:ext uri="{FF2B5EF4-FFF2-40B4-BE49-F238E27FC236}">
                <a16:creationId xmlns:a16="http://schemas.microsoft.com/office/drawing/2014/main" id="{DAFC618D-93CF-DB7B-3EC1-489347C63347}"/>
              </a:ext>
            </a:extLst>
          </p:cNvPr>
          <p:cNvSpPr/>
          <p:nvPr/>
        </p:nvSpPr>
        <p:spPr>
          <a:xfrm>
            <a:off x="2198822" y="3121208"/>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9" name="Shape 7">
            <a:extLst>
              <a:ext uri="{FF2B5EF4-FFF2-40B4-BE49-F238E27FC236}">
                <a16:creationId xmlns:a16="http://schemas.microsoft.com/office/drawing/2014/main" id="{857BCA47-53DE-EF91-9827-9618CCDD97E4}"/>
              </a:ext>
            </a:extLst>
          </p:cNvPr>
          <p:cNvSpPr/>
          <p:nvPr/>
        </p:nvSpPr>
        <p:spPr>
          <a:xfrm>
            <a:off x="2198822" y="3656919"/>
            <a:ext cx="3040459" cy="413502"/>
          </a:xfrm>
          <a:prstGeom prst="roundRect">
            <a:avLst>
              <a:gd name="adj" fmla="val 11112"/>
            </a:avLst>
          </a:prstGeom>
          <a:solidFill>
            <a:srgbClr val="ECFEF6"/>
          </a:solidFill>
          <a:ln w="19050">
            <a:solidFill>
              <a:srgbClr val="00B050"/>
            </a:solidFill>
            <a:prstDash val="solid"/>
          </a:ln>
        </p:spPr>
        <p:txBody>
          <a:bodyPr/>
          <a:lstStyle/>
          <a:p>
            <a:endParaRPr lang="en-US" sz="3187"/>
          </a:p>
        </p:txBody>
      </p:sp>
      <p:sp>
        <p:nvSpPr>
          <p:cNvPr id="13" name="Text 9">
            <a:extLst>
              <a:ext uri="{FF2B5EF4-FFF2-40B4-BE49-F238E27FC236}">
                <a16:creationId xmlns:a16="http://schemas.microsoft.com/office/drawing/2014/main" id="{C5281FD4-27CA-DA67-DEA4-0988646195F0}"/>
              </a:ext>
            </a:extLst>
          </p:cNvPr>
          <p:cNvSpPr/>
          <p:nvPr/>
        </p:nvSpPr>
        <p:spPr>
          <a:xfrm>
            <a:off x="2198822" y="2075289"/>
            <a:ext cx="3040459" cy="851329"/>
          </a:xfrm>
          <a:prstGeom prst="rect">
            <a:avLst/>
          </a:prstGeom>
          <a:noFill/>
          <a:ln/>
        </p:spPr>
        <p:txBody>
          <a:bodyPr wrap="square" lIns="0" tIns="0" rIns="0" bIns="0" rtlCol="0" anchor="t"/>
          <a:lstStyle/>
          <a:p>
            <a:r>
              <a:rPr lang="en-IN" sz="1400" dirty="0"/>
              <a:t>Which </a:t>
            </a:r>
            <a:r>
              <a:rPr lang="en-IN" sz="1400" dirty="0" err="1"/>
              <a:t>CLAUDE.md</a:t>
            </a:r>
            <a:r>
              <a:rPr lang="en-IN" sz="1400" dirty="0"/>
              <a:t> section lists files or logic that should never be modified?</a:t>
            </a:r>
            <a:endParaRPr lang="en-US" sz="14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a:extLst>
              <a:ext uri="{FF2B5EF4-FFF2-40B4-BE49-F238E27FC236}">
                <a16:creationId xmlns:a16="http://schemas.microsoft.com/office/drawing/2014/main" id="{864AAED0-DDFC-9F59-D791-7E48AA6F2DA6}"/>
              </a:ext>
            </a:extLst>
          </p:cNvPr>
          <p:cNvSpPr/>
          <p:nvPr/>
        </p:nvSpPr>
        <p:spPr>
          <a:xfrm>
            <a:off x="2259631" y="3121208"/>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Tech Stack</a:t>
            </a:r>
            <a:endParaRPr lang="en-US" sz="1264" dirty="0"/>
          </a:p>
        </p:txBody>
      </p:sp>
      <p:sp>
        <p:nvSpPr>
          <p:cNvPr id="17" name="Text 13">
            <a:extLst>
              <a:ext uri="{FF2B5EF4-FFF2-40B4-BE49-F238E27FC236}">
                <a16:creationId xmlns:a16="http://schemas.microsoft.com/office/drawing/2014/main" id="{7BB85978-A653-F4FB-3B76-880A8D2D3204}"/>
              </a:ext>
            </a:extLst>
          </p:cNvPr>
          <p:cNvSpPr/>
          <p:nvPr/>
        </p:nvSpPr>
        <p:spPr>
          <a:xfrm>
            <a:off x="2259631" y="3632005"/>
            <a:ext cx="2918841" cy="413502"/>
          </a:xfrm>
          <a:prstGeom prst="rect">
            <a:avLst/>
          </a:prstGeom>
          <a:noFill/>
          <a:ln/>
        </p:spPr>
        <p:txBody>
          <a:bodyPr wrap="square" lIns="0" tIns="0" rIns="0" bIns="0" rtlCol="0" anchor="ctr"/>
          <a:lstStyle/>
          <a:p>
            <a:r>
              <a:rPr lang="en-US" sz="1264" b="1">
                <a:solidFill>
                  <a:srgbClr val="00B050"/>
                </a:solidFill>
                <a:latin typeface="Open Sans" pitchFamily="34" charset="0"/>
                <a:ea typeface="Open Sans" pitchFamily="34" charset="-122"/>
                <a:cs typeface="Open Sans" pitchFamily="34" charset="-120"/>
              </a:rPr>
              <a:t>Do not touch zones</a:t>
            </a:r>
            <a:endParaRPr lang="en-US" sz="1264">
              <a:solidFill>
                <a:srgbClr val="00B050"/>
              </a:solidFill>
            </a:endParaRPr>
          </a:p>
        </p:txBody>
      </p:sp>
      <p:sp>
        <p:nvSpPr>
          <p:cNvPr id="25" name="Shape 7">
            <a:extLst>
              <a:ext uri="{FF2B5EF4-FFF2-40B4-BE49-F238E27FC236}">
                <a16:creationId xmlns:a16="http://schemas.microsoft.com/office/drawing/2014/main" id="{646ED4C8-7737-EFB7-E005-AF45A259C2FA}"/>
              </a:ext>
            </a:extLst>
          </p:cNvPr>
          <p:cNvSpPr/>
          <p:nvPr/>
        </p:nvSpPr>
        <p:spPr>
          <a:xfrm>
            <a:off x="2198822" y="4150620"/>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19" name="Text 15">
            <a:extLst>
              <a:ext uri="{FF2B5EF4-FFF2-40B4-BE49-F238E27FC236}">
                <a16:creationId xmlns:a16="http://schemas.microsoft.com/office/drawing/2014/main" id="{18725CAA-CD09-FCB3-F413-EF56C148BE64}"/>
              </a:ext>
            </a:extLst>
          </p:cNvPr>
          <p:cNvSpPr/>
          <p:nvPr/>
        </p:nvSpPr>
        <p:spPr>
          <a:xfrm>
            <a:off x="2259631" y="4150620"/>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Coding Conventions</a:t>
            </a:r>
            <a:endParaRPr lang="en-US" sz="1264" dirty="0"/>
          </a:p>
        </p:txBody>
      </p:sp>
      <p:sp>
        <p:nvSpPr>
          <p:cNvPr id="26" name="Shape 7">
            <a:extLst>
              <a:ext uri="{FF2B5EF4-FFF2-40B4-BE49-F238E27FC236}">
                <a16:creationId xmlns:a16="http://schemas.microsoft.com/office/drawing/2014/main" id="{09989A2C-1A79-7956-BA9C-70114F4CDA27}"/>
              </a:ext>
            </a:extLst>
          </p:cNvPr>
          <p:cNvSpPr/>
          <p:nvPr/>
        </p:nvSpPr>
        <p:spPr>
          <a:xfrm>
            <a:off x="2198822" y="4649972"/>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21" name="Text 17">
            <a:extLst>
              <a:ext uri="{FF2B5EF4-FFF2-40B4-BE49-F238E27FC236}">
                <a16:creationId xmlns:a16="http://schemas.microsoft.com/office/drawing/2014/main" id="{8A7BEF89-DE10-ECB7-EC66-374CC83ED374}"/>
              </a:ext>
            </a:extLst>
          </p:cNvPr>
          <p:cNvSpPr/>
          <p:nvPr/>
        </p:nvSpPr>
        <p:spPr>
          <a:xfrm>
            <a:off x="2259631" y="4649972"/>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Useful context</a:t>
            </a:r>
            <a:endParaRPr lang="en-US" sz="1264" dirty="0"/>
          </a:p>
        </p:txBody>
      </p:sp>
      <p:sp>
        <p:nvSpPr>
          <p:cNvPr id="7" name="Shape 7">
            <a:extLst>
              <a:ext uri="{FF2B5EF4-FFF2-40B4-BE49-F238E27FC236}">
                <a16:creationId xmlns:a16="http://schemas.microsoft.com/office/drawing/2014/main" id="{99F39F77-D155-52E1-0A30-3293464082FE}"/>
              </a:ext>
            </a:extLst>
          </p:cNvPr>
          <p:cNvSpPr/>
          <p:nvPr/>
        </p:nvSpPr>
        <p:spPr>
          <a:xfrm>
            <a:off x="6709482" y="1369902"/>
            <a:ext cx="3526933" cy="3914198"/>
          </a:xfrm>
          <a:prstGeom prst="roundRect">
            <a:avLst>
              <a:gd name="adj" fmla="val 2666"/>
            </a:avLst>
          </a:prstGeom>
          <a:solidFill>
            <a:schemeClr val="bg1">
              <a:lumMod val="95000"/>
            </a:schemeClr>
          </a:solidFill>
          <a:ln w="9525">
            <a:noFill/>
            <a:prstDash val="solid"/>
          </a:ln>
        </p:spPr>
        <p:txBody>
          <a:bodyPr/>
          <a:lstStyle/>
          <a:p>
            <a:endParaRPr lang="en-US" sz="3187"/>
          </a:p>
        </p:txBody>
      </p:sp>
      <p:sp>
        <p:nvSpPr>
          <p:cNvPr id="22" name="Text 8">
            <a:extLst>
              <a:ext uri="{FF2B5EF4-FFF2-40B4-BE49-F238E27FC236}">
                <a16:creationId xmlns:a16="http://schemas.microsoft.com/office/drawing/2014/main" id="{29E94313-21AD-8EA0-3875-243C494A3347}"/>
              </a:ext>
            </a:extLst>
          </p:cNvPr>
          <p:cNvSpPr/>
          <p:nvPr/>
        </p:nvSpPr>
        <p:spPr>
          <a:xfrm>
            <a:off x="8108093" y="1515844"/>
            <a:ext cx="729710" cy="364855"/>
          </a:xfrm>
          <a:prstGeom prst="rect">
            <a:avLst/>
          </a:prstGeom>
          <a:noFill/>
          <a:ln/>
        </p:spPr>
        <p:txBody>
          <a:bodyPr wrap="square" lIns="0" tIns="0" rIns="0" bIns="0" rtlCol="0" anchor="ctr"/>
          <a:lstStyle/>
          <a:p>
            <a:pPr algn="ctr"/>
            <a:r>
              <a:rPr lang="en-US" sz="2000" b="1" kern="0" dirty="0">
                <a:latin typeface="Open Sans" panose="020B0606030504020204" pitchFamily="34" charset="0"/>
                <a:ea typeface="Open Sans" panose="020B0606030504020204" pitchFamily="34" charset="0"/>
                <a:cs typeface="Open Sans" panose="020B0606030504020204" pitchFamily="34" charset="0"/>
              </a:rPr>
              <a:t>Q2</a:t>
            </a:r>
            <a:endParaRPr lang="en-US" sz="2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9">
            <a:extLst>
              <a:ext uri="{FF2B5EF4-FFF2-40B4-BE49-F238E27FC236}">
                <a16:creationId xmlns:a16="http://schemas.microsoft.com/office/drawing/2014/main" id="{0BD7DA42-FDC1-372A-C4DF-7828B0EACB40}"/>
              </a:ext>
            </a:extLst>
          </p:cNvPr>
          <p:cNvSpPr/>
          <p:nvPr/>
        </p:nvSpPr>
        <p:spPr>
          <a:xfrm>
            <a:off x="6952719" y="2075289"/>
            <a:ext cx="3040459" cy="851329"/>
          </a:xfrm>
          <a:prstGeom prst="rect">
            <a:avLst/>
          </a:prstGeom>
          <a:noFill/>
          <a:ln/>
        </p:spPr>
        <p:txBody>
          <a:bodyPr wrap="square" lIns="0" tIns="0" rIns="0" bIns="0" rtlCol="0" anchor="t"/>
          <a:lstStyle/>
          <a:p>
            <a:r>
              <a:rPr lang="en-IN" sz="1400" dirty="0"/>
              <a:t>Which two actions can Claude perform autonomously, without asking for approval</a:t>
            </a:r>
            <a:endParaRPr lang="en-US" sz="14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7">
            <a:extLst>
              <a:ext uri="{FF2B5EF4-FFF2-40B4-BE49-F238E27FC236}">
                <a16:creationId xmlns:a16="http://schemas.microsoft.com/office/drawing/2014/main" id="{B30F30A4-2F5E-140A-78D1-4F07A48B38A1}"/>
              </a:ext>
            </a:extLst>
          </p:cNvPr>
          <p:cNvSpPr/>
          <p:nvPr/>
        </p:nvSpPr>
        <p:spPr>
          <a:xfrm>
            <a:off x="6952719" y="3121208"/>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28" name="Shape 7">
            <a:extLst>
              <a:ext uri="{FF2B5EF4-FFF2-40B4-BE49-F238E27FC236}">
                <a16:creationId xmlns:a16="http://schemas.microsoft.com/office/drawing/2014/main" id="{85DDB11F-FD15-56B7-9E6C-E136AC584CF7}"/>
              </a:ext>
            </a:extLst>
          </p:cNvPr>
          <p:cNvSpPr/>
          <p:nvPr/>
        </p:nvSpPr>
        <p:spPr>
          <a:xfrm>
            <a:off x="6952719" y="3656919"/>
            <a:ext cx="3040459" cy="413502"/>
          </a:xfrm>
          <a:prstGeom prst="roundRect">
            <a:avLst>
              <a:gd name="adj" fmla="val 11112"/>
            </a:avLst>
          </a:prstGeom>
          <a:solidFill>
            <a:srgbClr val="ECFEF6"/>
          </a:solidFill>
          <a:ln w="19050">
            <a:solidFill>
              <a:srgbClr val="00B050"/>
            </a:solidFill>
            <a:prstDash val="solid"/>
          </a:ln>
        </p:spPr>
        <p:txBody>
          <a:bodyPr/>
          <a:lstStyle/>
          <a:p>
            <a:endParaRPr lang="en-US" sz="3187"/>
          </a:p>
        </p:txBody>
      </p:sp>
      <p:sp>
        <p:nvSpPr>
          <p:cNvPr id="47" name="Text 11">
            <a:extLst>
              <a:ext uri="{FF2B5EF4-FFF2-40B4-BE49-F238E27FC236}">
                <a16:creationId xmlns:a16="http://schemas.microsoft.com/office/drawing/2014/main" id="{6DF846E7-25EE-A44A-045F-90A29B99520E}"/>
              </a:ext>
            </a:extLst>
          </p:cNvPr>
          <p:cNvSpPr/>
          <p:nvPr/>
        </p:nvSpPr>
        <p:spPr>
          <a:xfrm>
            <a:off x="7013528" y="3121208"/>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Edit and Execute</a:t>
            </a:r>
            <a:endParaRPr lang="en-US" sz="1264" dirty="0"/>
          </a:p>
        </p:txBody>
      </p:sp>
      <p:sp>
        <p:nvSpPr>
          <p:cNvPr id="29" name="Shape 7">
            <a:extLst>
              <a:ext uri="{FF2B5EF4-FFF2-40B4-BE49-F238E27FC236}">
                <a16:creationId xmlns:a16="http://schemas.microsoft.com/office/drawing/2014/main" id="{C789EE26-F7E4-0078-00F2-D6FA6CCB7DB9}"/>
              </a:ext>
            </a:extLst>
          </p:cNvPr>
          <p:cNvSpPr/>
          <p:nvPr/>
        </p:nvSpPr>
        <p:spPr>
          <a:xfrm>
            <a:off x="6952719" y="4150620"/>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49" name="Text 13">
            <a:extLst>
              <a:ext uri="{FF2B5EF4-FFF2-40B4-BE49-F238E27FC236}">
                <a16:creationId xmlns:a16="http://schemas.microsoft.com/office/drawing/2014/main" id="{1C037EF9-72C8-586F-7093-AC3FBB74F921}"/>
              </a:ext>
            </a:extLst>
          </p:cNvPr>
          <p:cNvSpPr/>
          <p:nvPr/>
        </p:nvSpPr>
        <p:spPr>
          <a:xfrm>
            <a:off x="7013528" y="3644648"/>
            <a:ext cx="2918841" cy="413502"/>
          </a:xfrm>
          <a:prstGeom prst="rect">
            <a:avLst/>
          </a:prstGeom>
          <a:noFill/>
          <a:ln/>
        </p:spPr>
        <p:txBody>
          <a:bodyPr wrap="square" lIns="0" tIns="0" rIns="0" bIns="0" rtlCol="0" anchor="ctr"/>
          <a:lstStyle/>
          <a:p>
            <a:r>
              <a:rPr lang="en-US" sz="1264" b="1">
                <a:solidFill>
                  <a:srgbClr val="00B050"/>
                </a:solidFill>
                <a:latin typeface="Open Sans" pitchFamily="34" charset="0"/>
                <a:ea typeface="Open Sans" pitchFamily="34" charset="-122"/>
                <a:cs typeface="Open Sans" pitchFamily="34" charset="-120"/>
              </a:rPr>
              <a:t>Read and Propose</a:t>
            </a:r>
            <a:endParaRPr lang="en-US" sz="1264">
              <a:solidFill>
                <a:srgbClr val="00B050"/>
              </a:solidFill>
            </a:endParaRPr>
          </a:p>
        </p:txBody>
      </p:sp>
      <p:sp>
        <p:nvSpPr>
          <p:cNvPr id="30" name="Shape 7">
            <a:extLst>
              <a:ext uri="{FF2B5EF4-FFF2-40B4-BE49-F238E27FC236}">
                <a16:creationId xmlns:a16="http://schemas.microsoft.com/office/drawing/2014/main" id="{1407D6C9-7815-9938-A483-B6DD16D829E2}"/>
              </a:ext>
            </a:extLst>
          </p:cNvPr>
          <p:cNvSpPr/>
          <p:nvPr/>
        </p:nvSpPr>
        <p:spPr>
          <a:xfrm>
            <a:off x="6952719" y="4649972"/>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51" name="Text 15">
            <a:extLst>
              <a:ext uri="{FF2B5EF4-FFF2-40B4-BE49-F238E27FC236}">
                <a16:creationId xmlns:a16="http://schemas.microsoft.com/office/drawing/2014/main" id="{25026488-84C7-5846-7183-64E3670390EA}"/>
              </a:ext>
            </a:extLst>
          </p:cNvPr>
          <p:cNvSpPr/>
          <p:nvPr/>
        </p:nvSpPr>
        <p:spPr>
          <a:xfrm>
            <a:off x="7013528" y="4142802"/>
            <a:ext cx="2918841" cy="413502"/>
          </a:xfrm>
          <a:prstGeom prst="rect">
            <a:avLst/>
          </a:prstGeom>
          <a:noFill/>
          <a:ln/>
        </p:spPr>
        <p:txBody>
          <a:bodyPr wrap="square" lIns="0" tIns="0" rIns="0" bIns="0" rtlCol="0" anchor="ctr"/>
          <a:lstStyle/>
          <a:p>
            <a:r>
              <a:rPr lang="en-US" sz="1264" b="1">
                <a:latin typeface="Open Sans" pitchFamily="34" charset="0"/>
                <a:ea typeface="Open Sans" pitchFamily="34" charset="-122"/>
                <a:cs typeface="Open Sans" pitchFamily="34" charset="-120"/>
              </a:rPr>
              <a:t>Propose and Execute</a:t>
            </a:r>
            <a:endParaRPr lang="en-US" sz="1264"/>
          </a:p>
        </p:txBody>
      </p:sp>
      <p:sp>
        <p:nvSpPr>
          <p:cNvPr id="53" name="Text 17">
            <a:extLst>
              <a:ext uri="{FF2B5EF4-FFF2-40B4-BE49-F238E27FC236}">
                <a16:creationId xmlns:a16="http://schemas.microsoft.com/office/drawing/2014/main" id="{66FF9ADD-3EA9-D806-818C-11B60A58D07E}"/>
              </a:ext>
            </a:extLst>
          </p:cNvPr>
          <p:cNvSpPr/>
          <p:nvPr/>
        </p:nvSpPr>
        <p:spPr>
          <a:xfrm>
            <a:off x="7013528" y="4653599"/>
            <a:ext cx="2918841" cy="413502"/>
          </a:xfrm>
          <a:prstGeom prst="rect">
            <a:avLst/>
          </a:prstGeom>
          <a:noFill/>
          <a:ln/>
        </p:spPr>
        <p:txBody>
          <a:bodyPr wrap="square" lIns="0" tIns="0" rIns="0" bIns="0" rtlCol="0" anchor="ctr"/>
          <a:lstStyle/>
          <a:p>
            <a:r>
              <a:rPr lang="en-US" sz="1264" b="1">
                <a:latin typeface="Open Sans" pitchFamily="34" charset="0"/>
                <a:ea typeface="Open Sans" pitchFamily="34" charset="-122"/>
                <a:cs typeface="Open Sans" pitchFamily="34" charset="-120"/>
              </a:rPr>
              <a:t>Read and Edit</a:t>
            </a:r>
            <a:endParaRPr lang="en-US" sz="1264"/>
          </a:p>
        </p:txBody>
      </p:sp>
    </p:spTree>
    <p:custDataLst>
      <p:tags r:id="rId1"/>
    </p:custDataLst>
    <p:extLst>
      <p:ext uri="{BB962C8B-B14F-4D97-AF65-F5344CB8AC3E}">
        <p14:creationId xmlns:p14="http://schemas.microsoft.com/office/powerpoint/2010/main" val="4099953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FAAA8F2B-DA04-EBCB-76B5-65957A236C33}"/>
            </a:ext>
          </a:extLst>
        </p:cNvPr>
        <p:cNvGrpSpPr/>
        <p:nvPr/>
      </p:nvGrpSpPr>
      <p:grpSpPr>
        <a:xfrm>
          <a:off x="0" y="0"/>
          <a:ext cx="0" cy="0"/>
          <a:chOff x="0" y="0"/>
          <a:chExt cx="0" cy="0"/>
        </a:xfrm>
      </p:grpSpPr>
      <p:sp>
        <p:nvSpPr>
          <p:cNvPr id="2" name="Shape 1">
            <a:extLst>
              <a:ext uri="{FF2B5EF4-FFF2-40B4-BE49-F238E27FC236}">
                <a16:creationId xmlns:a16="http://schemas.microsoft.com/office/drawing/2014/main" id="{ED32B90A-43D2-1AD3-2961-6A76908BB654}"/>
              </a:ext>
            </a:extLst>
          </p:cNvPr>
          <p:cNvSpPr/>
          <p:nvPr/>
        </p:nvSpPr>
        <p:spPr>
          <a:xfrm>
            <a:off x="605363" y="1378756"/>
            <a:ext cx="10981274" cy="3442626"/>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8D81985D-F3E4-9118-441F-442E7C4470ED}"/>
              </a:ext>
            </a:extLst>
          </p:cNvPr>
          <p:cNvSpPr txBox="1"/>
          <p:nvPr/>
        </p:nvSpPr>
        <p:spPr bwMode="auto">
          <a:xfrm>
            <a:off x="836272" y="1761081"/>
            <a:ext cx="9739364" cy="2677977"/>
          </a:xfrm>
          <a:prstGeom prst="rect">
            <a:avLst/>
          </a:prstGeom>
        </p:spPr>
        <p:txBody>
          <a:bodyPr wrap="square" rtlCol="0">
            <a:spAutoFit/>
          </a:bodyPr>
          <a:lstStyle/>
          <a:p>
            <a:r>
              <a:rPr lang="en-IN" b="1" dirty="0"/>
              <a:t>What you now have</a:t>
            </a:r>
          </a:p>
          <a:p>
            <a:endParaRPr lang="en-IN" dirty="0"/>
          </a:p>
          <a:p>
            <a:pPr>
              <a:lnSpc>
                <a:spcPct val="150000"/>
              </a:lnSpc>
            </a:pPr>
            <a:r>
              <a:rPr lang="en-IN" dirty="0">
                <a:solidFill>
                  <a:srgbClr val="00B050"/>
                </a:solidFill>
              </a:rPr>
              <a:t>✓</a:t>
            </a:r>
            <a:r>
              <a:rPr lang="en-IN" dirty="0"/>
              <a:t>   A clear understanding of how Claude Code differs from a chat tool</a:t>
            </a:r>
          </a:p>
          <a:p>
            <a:pPr>
              <a:lnSpc>
                <a:spcPct val="150000"/>
              </a:lnSpc>
            </a:pPr>
            <a:r>
              <a:rPr lang="en-IN" dirty="0">
                <a:solidFill>
                  <a:srgbClr val="00B050"/>
                </a:solidFill>
              </a:rPr>
              <a:t>✓</a:t>
            </a:r>
            <a:r>
              <a:rPr lang="en-IN" dirty="0"/>
              <a:t>   Hands-on experience navigating the interface and issuing real prompts</a:t>
            </a:r>
          </a:p>
          <a:p>
            <a:pPr>
              <a:lnSpc>
                <a:spcPct val="150000"/>
              </a:lnSpc>
            </a:pPr>
            <a:r>
              <a:rPr lang="en-IN" dirty="0">
                <a:solidFill>
                  <a:srgbClr val="00B050"/>
                </a:solidFill>
              </a:rPr>
              <a:t>✓   </a:t>
            </a:r>
            <a:r>
              <a:rPr lang="en-IN" dirty="0"/>
              <a:t>A </a:t>
            </a:r>
            <a:r>
              <a:rPr lang="en-IN" dirty="0" err="1"/>
              <a:t>CLAUDE.md</a:t>
            </a:r>
            <a:r>
              <a:rPr lang="en-IN" dirty="0"/>
              <a:t> started for the workshop project</a:t>
            </a:r>
          </a:p>
          <a:p>
            <a:pPr>
              <a:lnSpc>
                <a:spcPct val="150000"/>
              </a:lnSpc>
            </a:pPr>
            <a:r>
              <a:rPr lang="en-IN" dirty="0">
                <a:solidFill>
                  <a:srgbClr val="00B050"/>
                </a:solidFill>
              </a:rPr>
              <a:t>✓</a:t>
            </a:r>
            <a:r>
              <a:rPr lang="en-IN" dirty="0"/>
              <a:t>   The key commands and when each one matters</a:t>
            </a:r>
          </a:p>
          <a:p>
            <a:pPr>
              <a:lnSpc>
                <a:spcPct val="150000"/>
              </a:lnSpc>
            </a:pPr>
            <a:r>
              <a:rPr lang="en-IN" dirty="0">
                <a:solidFill>
                  <a:srgbClr val="00B050"/>
                </a:solidFill>
              </a:rPr>
              <a:t>✓</a:t>
            </a:r>
            <a:r>
              <a:rPr lang="en-IN" dirty="0"/>
              <a:t>   The permission model — nothing changes on your machine without your approval</a:t>
            </a:r>
          </a:p>
        </p:txBody>
      </p:sp>
      <p:sp>
        <p:nvSpPr>
          <p:cNvPr id="5" name="Title 2">
            <a:extLst>
              <a:ext uri="{FF2B5EF4-FFF2-40B4-BE49-F238E27FC236}">
                <a16:creationId xmlns:a16="http://schemas.microsoft.com/office/drawing/2014/main" id="{B31284F0-F5E0-7DF6-591B-ADCC37BDC212}"/>
              </a:ext>
            </a:extLst>
          </p:cNvPr>
          <p:cNvSpPr txBox="1">
            <a:spLocks/>
          </p:cNvSpPr>
          <p:nvPr/>
        </p:nvSpPr>
        <p:spPr>
          <a:xfrm>
            <a:off x="540709"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A Quick Recap</a:t>
            </a:r>
          </a:p>
        </p:txBody>
      </p:sp>
      <p:sp>
        <p:nvSpPr>
          <p:cNvPr id="6" name="TextBox 5">
            <a:extLst>
              <a:ext uri="{FF2B5EF4-FFF2-40B4-BE49-F238E27FC236}">
                <a16:creationId xmlns:a16="http://schemas.microsoft.com/office/drawing/2014/main" id="{1F5807C8-24A2-34D2-4CD9-4252B743F14C}"/>
              </a:ext>
            </a:extLst>
          </p:cNvPr>
          <p:cNvSpPr txBox="1"/>
          <p:nvPr/>
        </p:nvSpPr>
        <p:spPr bwMode="auto">
          <a:xfrm>
            <a:off x="2850368" y="5275660"/>
            <a:ext cx="6491264" cy="369332"/>
          </a:xfrm>
          <a:prstGeom prst="rect">
            <a:avLst/>
          </a:prstGeom>
        </p:spPr>
        <p:txBody>
          <a:bodyPr wrap="none" rtlCol="0">
            <a:spAutoFit/>
          </a:bodyPr>
          <a:lstStyle/>
          <a:p>
            <a:r>
              <a:rPr lang="en-IN" i="1" dirty="0"/>
              <a:t>Coming Up — Part 3: Prompt Engineering for Code Generation</a:t>
            </a:r>
            <a:endParaRPr lang="en-US" i="1" dirty="0"/>
          </a:p>
        </p:txBody>
      </p:sp>
    </p:spTree>
    <p:extLst>
      <p:ext uri="{BB962C8B-B14F-4D97-AF65-F5344CB8AC3E}">
        <p14:creationId xmlns:p14="http://schemas.microsoft.com/office/powerpoint/2010/main" val="1257247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7ADBB-36A7-E303-767A-483406956E0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D51DB09-3F4F-25ED-F531-66B7437E5B0C}"/>
              </a:ext>
            </a:extLst>
          </p:cNvPr>
          <p:cNvSpPr>
            <a:spLocks noGrp="1"/>
          </p:cNvSpPr>
          <p:nvPr>
            <p:ph type="body" sz="quarter" idx="12"/>
          </p:nvPr>
        </p:nvSpPr>
        <p:spPr>
          <a:xfrm>
            <a:off x="601133" y="2536448"/>
            <a:ext cx="1794933" cy="1785104"/>
          </a:xfrm>
        </p:spPr>
        <p:txBody>
          <a:bodyPr/>
          <a:lstStyle/>
          <a:p>
            <a:r>
              <a:rPr lang="en-US" sz="10600" dirty="0"/>
              <a:t>03</a:t>
            </a:r>
          </a:p>
        </p:txBody>
      </p:sp>
      <p:sp>
        <p:nvSpPr>
          <p:cNvPr id="3" name="Title 2">
            <a:extLst>
              <a:ext uri="{FF2B5EF4-FFF2-40B4-BE49-F238E27FC236}">
                <a16:creationId xmlns:a16="http://schemas.microsoft.com/office/drawing/2014/main" id="{C0E855F1-67EF-6E3A-1743-3829DA20C922}"/>
              </a:ext>
            </a:extLst>
          </p:cNvPr>
          <p:cNvSpPr>
            <a:spLocks noGrp="1"/>
          </p:cNvSpPr>
          <p:nvPr>
            <p:ph type="title"/>
          </p:nvPr>
        </p:nvSpPr>
        <p:spPr>
          <a:xfrm>
            <a:off x="2526771" y="1859339"/>
            <a:ext cx="9064096" cy="3139321"/>
          </a:xfrm>
        </p:spPr>
        <p:txBody>
          <a:bodyPr/>
          <a:lstStyle/>
          <a:p>
            <a:r>
              <a:rPr lang="en-IN" sz="6600" dirty="0"/>
              <a:t>PROMPT ENGINEERING FOR </a:t>
            </a:r>
            <a:br>
              <a:rPr lang="en-IN" sz="6600" dirty="0"/>
            </a:br>
            <a:r>
              <a:rPr lang="en-IN" sz="6600" dirty="0"/>
              <a:t>CODE GENERATION</a:t>
            </a:r>
            <a:endParaRPr lang="en-US" sz="6600" dirty="0"/>
          </a:p>
        </p:txBody>
      </p:sp>
    </p:spTree>
    <p:extLst>
      <p:ext uri="{BB962C8B-B14F-4D97-AF65-F5344CB8AC3E}">
        <p14:creationId xmlns:p14="http://schemas.microsoft.com/office/powerpoint/2010/main" val="1955717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21A9D9A0-1DFD-A6A9-3223-B53ACC6E4EEB}"/>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88156377-AB9E-B530-7833-068FBAF5E141}"/>
              </a:ext>
            </a:extLst>
          </p:cNvPr>
          <p:cNvSpPr txBox="1">
            <a:spLocks/>
          </p:cNvSpPr>
          <p:nvPr/>
        </p:nvSpPr>
        <p:spPr>
          <a:xfrm>
            <a:off x="513003" y="240045"/>
            <a:ext cx="10854797" cy="1200329"/>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How Coding Prompts Differ from General Prompts</a:t>
            </a:r>
          </a:p>
        </p:txBody>
      </p:sp>
      <p:sp>
        <p:nvSpPr>
          <p:cNvPr id="3" name="Shape 1">
            <a:extLst>
              <a:ext uri="{FF2B5EF4-FFF2-40B4-BE49-F238E27FC236}">
                <a16:creationId xmlns:a16="http://schemas.microsoft.com/office/drawing/2014/main" id="{517E7960-37A8-5274-6432-0AABAEEA82CD}"/>
              </a:ext>
            </a:extLst>
          </p:cNvPr>
          <p:cNvSpPr/>
          <p:nvPr/>
        </p:nvSpPr>
        <p:spPr>
          <a:xfrm>
            <a:off x="605363" y="1490004"/>
            <a:ext cx="5167364" cy="4670650"/>
          </a:xfrm>
          <a:prstGeom prst="roundRect">
            <a:avLst>
              <a:gd name="adj" fmla="val 8889"/>
            </a:avLst>
          </a:prstGeom>
          <a:solidFill>
            <a:schemeClr val="accent5">
              <a:lumMod val="20000"/>
              <a:lumOff val="80000"/>
            </a:schemeClr>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1">
            <a:extLst>
              <a:ext uri="{FF2B5EF4-FFF2-40B4-BE49-F238E27FC236}">
                <a16:creationId xmlns:a16="http://schemas.microsoft.com/office/drawing/2014/main" id="{655CC141-49CB-45D8-16D6-EECAD319251D}"/>
              </a:ext>
            </a:extLst>
          </p:cNvPr>
          <p:cNvSpPr/>
          <p:nvPr/>
        </p:nvSpPr>
        <p:spPr>
          <a:xfrm>
            <a:off x="6232427" y="1490003"/>
            <a:ext cx="5167364" cy="4670651"/>
          </a:xfrm>
          <a:prstGeom prst="roundRect">
            <a:avLst>
              <a:gd name="adj" fmla="val 8889"/>
            </a:avLst>
          </a:prstGeom>
          <a:solidFill>
            <a:schemeClr val="accent6">
              <a:lumMod val="20000"/>
              <a:lumOff val="80000"/>
            </a:schemeClr>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6528B408-B1BF-2DAC-63B2-CE0B8790467F}"/>
              </a:ext>
            </a:extLst>
          </p:cNvPr>
          <p:cNvSpPr txBox="1"/>
          <p:nvPr/>
        </p:nvSpPr>
        <p:spPr bwMode="auto">
          <a:xfrm>
            <a:off x="782176" y="1720006"/>
            <a:ext cx="4813738" cy="2422907"/>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IN" b="1" dirty="0">
                <a:solidFill>
                  <a:schemeClr val="accent2"/>
                </a:solidFill>
              </a:rPr>
              <a:t>General Prompts</a:t>
            </a:r>
          </a:p>
          <a:p>
            <a:endParaRPr lang="en-IN" sz="1600" dirty="0"/>
          </a:p>
          <a:p>
            <a:pPr marL="285750" indent="-285750">
              <a:lnSpc>
                <a:spcPct val="150000"/>
              </a:lnSpc>
              <a:buFont typeface="Arial" panose="020B0604020202020204" pitchFamily="34" charset="0"/>
              <a:buChar char="•"/>
            </a:pPr>
            <a:r>
              <a:rPr lang="en-IN" sz="1600" dirty="0"/>
              <a:t>Work well with vague instructions — Claude fills gaps from general knowledge</a:t>
            </a:r>
          </a:p>
          <a:p>
            <a:pPr marL="285750" indent="-285750">
              <a:lnSpc>
                <a:spcPct val="150000"/>
              </a:lnSpc>
              <a:buFont typeface="Arial" panose="020B0604020202020204" pitchFamily="34" charset="0"/>
              <a:buChar char="•"/>
            </a:pPr>
            <a:r>
              <a:rPr lang="en-IN" sz="1600" dirty="0"/>
              <a:t>Output is text — easy to read and evaluate</a:t>
            </a:r>
          </a:p>
          <a:p>
            <a:pPr marL="285750" indent="-285750">
              <a:lnSpc>
                <a:spcPct val="150000"/>
              </a:lnSpc>
              <a:buFont typeface="Arial" panose="020B0604020202020204" pitchFamily="34" charset="0"/>
              <a:buChar char="•"/>
            </a:pPr>
            <a:r>
              <a:rPr lang="en-IN" sz="1600" dirty="0"/>
              <a:t>Ambiguity produces a reasonable response</a:t>
            </a:r>
          </a:p>
          <a:p>
            <a:pPr marL="285750" indent="-285750">
              <a:lnSpc>
                <a:spcPct val="150000"/>
              </a:lnSpc>
              <a:buFont typeface="Arial" panose="020B0604020202020204" pitchFamily="34" charset="0"/>
              <a:buChar char="•"/>
            </a:pPr>
            <a:r>
              <a:rPr lang="en-IN" sz="1600" i="1" dirty="0"/>
              <a:t>"Explain what a vector database is"</a:t>
            </a:r>
            <a:endParaRPr lang="en-IN" sz="1600" dirty="0"/>
          </a:p>
        </p:txBody>
      </p:sp>
      <p:sp>
        <p:nvSpPr>
          <p:cNvPr id="4" name="TextBox 3">
            <a:extLst>
              <a:ext uri="{FF2B5EF4-FFF2-40B4-BE49-F238E27FC236}">
                <a16:creationId xmlns:a16="http://schemas.microsoft.com/office/drawing/2014/main" id="{7AFF9DB6-9337-88C0-0911-8822BFA7379C}"/>
              </a:ext>
            </a:extLst>
          </p:cNvPr>
          <p:cNvSpPr txBox="1"/>
          <p:nvPr/>
        </p:nvSpPr>
        <p:spPr bwMode="auto">
          <a:xfrm>
            <a:off x="6409240" y="1720006"/>
            <a:ext cx="4813738" cy="4269567"/>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IN" b="1" dirty="0">
                <a:solidFill>
                  <a:schemeClr val="accent1"/>
                </a:solidFill>
              </a:rPr>
              <a:t>Coding Prompts</a:t>
            </a:r>
          </a:p>
          <a:p>
            <a:endParaRPr lang="en-IN" sz="1600" dirty="0"/>
          </a:p>
          <a:p>
            <a:pPr marL="285750" indent="-285750">
              <a:lnSpc>
                <a:spcPct val="150000"/>
              </a:lnSpc>
              <a:buFont typeface="Arial" panose="020B0604020202020204" pitchFamily="34" charset="0"/>
              <a:buChar char="•"/>
            </a:pPr>
            <a:r>
              <a:rPr lang="en-IN" sz="1600" dirty="0"/>
              <a:t>Require named specifics — Claude fills gaps from training data, which may be outdated or wrong</a:t>
            </a:r>
          </a:p>
          <a:p>
            <a:pPr marL="285750" indent="-285750">
              <a:lnSpc>
                <a:spcPct val="150000"/>
              </a:lnSpc>
              <a:buFont typeface="Arial" panose="020B0604020202020204" pitchFamily="34" charset="0"/>
              <a:buChar char="•"/>
            </a:pPr>
            <a:r>
              <a:rPr lang="en-IN" sz="1600" dirty="0"/>
              <a:t>Output is executable — every gap becomes a potential bug</a:t>
            </a:r>
          </a:p>
          <a:p>
            <a:pPr marL="285750" indent="-285750">
              <a:lnSpc>
                <a:spcPct val="150000"/>
              </a:lnSpc>
              <a:buFont typeface="Arial" panose="020B0604020202020204" pitchFamily="34" charset="0"/>
              <a:buChar char="•"/>
            </a:pPr>
            <a:r>
              <a:rPr lang="en-IN" sz="1600" dirty="0"/>
              <a:t>Ambiguity produces plausible code that solves the wrong problem</a:t>
            </a:r>
          </a:p>
          <a:p>
            <a:pPr marL="285750" indent="-285750">
              <a:lnSpc>
                <a:spcPct val="150000"/>
              </a:lnSpc>
              <a:buFont typeface="Arial" panose="020B0604020202020204" pitchFamily="34" charset="0"/>
              <a:buChar char="•"/>
            </a:pPr>
            <a:r>
              <a:rPr lang="en-IN" sz="1600" i="1" dirty="0"/>
              <a:t>"Fix the rescheduling bug" → Claude does not know which file, which function, or what "fixed" means</a:t>
            </a:r>
            <a:endParaRPr lang="en-IN" sz="1600" dirty="0"/>
          </a:p>
        </p:txBody>
      </p:sp>
    </p:spTree>
    <p:extLst>
      <p:ext uri="{BB962C8B-B14F-4D97-AF65-F5344CB8AC3E}">
        <p14:creationId xmlns:p14="http://schemas.microsoft.com/office/powerpoint/2010/main" val="4049649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302651AA-717E-ACD7-49BF-2D00FF37423E}"/>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ED93CE86-E5FB-2C20-87F4-8CA59CD3FAAA}"/>
              </a:ext>
            </a:extLst>
          </p:cNvPr>
          <p:cNvSpPr txBox="1">
            <a:spLocks/>
          </p:cNvSpPr>
          <p:nvPr/>
        </p:nvSpPr>
        <p:spPr>
          <a:xfrm>
            <a:off x="522237" y="24893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The Scaffold Prompt Template</a:t>
            </a:r>
          </a:p>
        </p:txBody>
      </p:sp>
      <p:sp>
        <p:nvSpPr>
          <p:cNvPr id="4" name="Shape 11">
            <a:extLst>
              <a:ext uri="{FF2B5EF4-FFF2-40B4-BE49-F238E27FC236}">
                <a16:creationId xmlns:a16="http://schemas.microsoft.com/office/drawing/2014/main" id="{8CC35B69-F64A-258D-8B1D-C37371C9155B}"/>
              </a:ext>
            </a:extLst>
          </p:cNvPr>
          <p:cNvSpPr/>
          <p:nvPr/>
        </p:nvSpPr>
        <p:spPr>
          <a:xfrm>
            <a:off x="6199559" y="1704286"/>
            <a:ext cx="5401309" cy="1405683"/>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1">
            <a:extLst>
              <a:ext uri="{FF2B5EF4-FFF2-40B4-BE49-F238E27FC236}">
                <a16:creationId xmlns:a16="http://schemas.microsoft.com/office/drawing/2014/main" id="{BE267E70-4228-3174-9ED0-E4E65584B9B2}"/>
              </a:ext>
            </a:extLst>
          </p:cNvPr>
          <p:cNvSpPr/>
          <p:nvPr/>
        </p:nvSpPr>
        <p:spPr>
          <a:xfrm>
            <a:off x="630031" y="3264267"/>
            <a:ext cx="5401309" cy="1405683"/>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11">
            <a:extLst>
              <a:ext uri="{FF2B5EF4-FFF2-40B4-BE49-F238E27FC236}">
                <a16:creationId xmlns:a16="http://schemas.microsoft.com/office/drawing/2014/main" id="{BF5B6F8B-7D0B-3381-4901-00F21A72EBAB}"/>
              </a:ext>
            </a:extLst>
          </p:cNvPr>
          <p:cNvSpPr/>
          <p:nvPr/>
        </p:nvSpPr>
        <p:spPr>
          <a:xfrm>
            <a:off x="617698" y="4846868"/>
            <a:ext cx="10970837" cy="1318249"/>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a:extLst>
              <a:ext uri="{FF2B5EF4-FFF2-40B4-BE49-F238E27FC236}">
                <a16:creationId xmlns:a16="http://schemas.microsoft.com/office/drawing/2014/main" id="{14EF7F12-3B50-6282-4CE2-76B8E55A856B}"/>
              </a:ext>
            </a:extLst>
          </p:cNvPr>
          <p:cNvSpPr/>
          <p:nvPr/>
        </p:nvSpPr>
        <p:spPr>
          <a:xfrm>
            <a:off x="6199559" y="3264267"/>
            <a:ext cx="5401309" cy="1405683"/>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11">
            <a:extLst>
              <a:ext uri="{FF2B5EF4-FFF2-40B4-BE49-F238E27FC236}">
                <a16:creationId xmlns:a16="http://schemas.microsoft.com/office/drawing/2014/main" id="{2D6F5EF6-3081-96D2-E71C-33D451AEBB50}"/>
              </a:ext>
            </a:extLst>
          </p:cNvPr>
          <p:cNvSpPr/>
          <p:nvPr/>
        </p:nvSpPr>
        <p:spPr>
          <a:xfrm>
            <a:off x="630031" y="1704286"/>
            <a:ext cx="5401309" cy="1405683"/>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BF670B8E-FEAD-0361-856B-1BC88CD74E09}"/>
              </a:ext>
            </a:extLst>
          </p:cNvPr>
          <p:cNvSpPr txBox="1"/>
          <p:nvPr/>
        </p:nvSpPr>
        <p:spPr bwMode="auto">
          <a:xfrm>
            <a:off x="605364" y="1130888"/>
            <a:ext cx="6181308" cy="338554"/>
          </a:xfrm>
          <a:prstGeom prst="rect">
            <a:avLst/>
          </a:prstGeom>
        </p:spPr>
        <p:txBody>
          <a:bodyPr wrap="none" rtlCol="0">
            <a:spAutoFit/>
          </a:bodyPr>
          <a:lstStyle/>
          <a:p>
            <a:r>
              <a:rPr lang="en-IN" sz="1600" dirty="0"/>
              <a:t>[Stack] + [Architecture Intent] + [Edge Cases] + [Output Format]</a:t>
            </a:r>
            <a:endParaRPr lang="en-US" sz="1600" dirty="0"/>
          </a:p>
        </p:txBody>
      </p:sp>
      <p:sp>
        <p:nvSpPr>
          <p:cNvPr id="6" name="TextBox 5">
            <a:extLst>
              <a:ext uri="{FF2B5EF4-FFF2-40B4-BE49-F238E27FC236}">
                <a16:creationId xmlns:a16="http://schemas.microsoft.com/office/drawing/2014/main" id="{CD8E7592-7FA4-B570-6543-DE4758124C2D}"/>
              </a:ext>
            </a:extLst>
          </p:cNvPr>
          <p:cNvSpPr txBox="1"/>
          <p:nvPr/>
        </p:nvSpPr>
        <p:spPr bwMode="auto">
          <a:xfrm>
            <a:off x="700981" y="1699241"/>
            <a:ext cx="5259408" cy="769441"/>
          </a:xfrm>
          <a:prstGeom prst="rect">
            <a:avLst/>
          </a:prstGeom>
          <a:noFill/>
          <a:ln>
            <a:noFill/>
          </a:ln>
        </p:spPr>
        <p:txBody>
          <a:bodyPr wrap="square" rtlCol="0">
            <a:spAutoFit/>
          </a:bodyPr>
          <a:lstStyle/>
          <a:p>
            <a:r>
              <a:rPr lang="en-IN" sz="1600" b="1" dirty="0">
                <a:solidFill>
                  <a:schemeClr val="accent1"/>
                </a:solidFill>
              </a:rPr>
              <a:t>Stack</a:t>
            </a:r>
          </a:p>
          <a:p>
            <a:br>
              <a:rPr lang="en-IN" sz="1400" dirty="0"/>
            </a:br>
            <a:r>
              <a:rPr lang="en-IN" sz="1400" dirty="0"/>
              <a:t>What language, framework, and libraries should Claude use?</a:t>
            </a:r>
            <a:endParaRPr lang="en-IN" sz="1400" i="1" dirty="0"/>
          </a:p>
        </p:txBody>
      </p:sp>
      <p:sp>
        <p:nvSpPr>
          <p:cNvPr id="7" name="TextBox 6">
            <a:extLst>
              <a:ext uri="{FF2B5EF4-FFF2-40B4-BE49-F238E27FC236}">
                <a16:creationId xmlns:a16="http://schemas.microsoft.com/office/drawing/2014/main" id="{FF7616E0-AA06-25ED-2D45-17855CB29531}"/>
              </a:ext>
            </a:extLst>
          </p:cNvPr>
          <p:cNvSpPr txBox="1"/>
          <p:nvPr/>
        </p:nvSpPr>
        <p:spPr bwMode="auto">
          <a:xfrm>
            <a:off x="6407317" y="1714630"/>
            <a:ext cx="4985789" cy="738664"/>
          </a:xfrm>
          <a:prstGeom prst="rect">
            <a:avLst/>
          </a:prstGeom>
          <a:noFill/>
          <a:ln>
            <a:noFill/>
          </a:ln>
        </p:spPr>
        <p:txBody>
          <a:bodyPr wrap="square" rtlCol="0">
            <a:spAutoFit/>
          </a:bodyPr>
          <a:lstStyle/>
          <a:p>
            <a:r>
              <a:rPr lang="en-IN" sz="1400" b="1" dirty="0">
                <a:solidFill>
                  <a:schemeClr val="accent1"/>
                </a:solidFill>
              </a:rPr>
              <a:t>Architecture Intent</a:t>
            </a:r>
          </a:p>
          <a:p>
            <a:endParaRPr lang="en-IN" sz="1400" b="1" dirty="0"/>
          </a:p>
          <a:p>
            <a:r>
              <a:rPr lang="en-IN" sz="1400" dirty="0"/>
              <a:t>What should this do and how should it fit into the project?</a:t>
            </a:r>
            <a:endParaRPr lang="en-US" sz="1400" dirty="0"/>
          </a:p>
        </p:txBody>
      </p:sp>
      <p:sp>
        <p:nvSpPr>
          <p:cNvPr id="8" name="TextBox 7">
            <a:extLst>
              <a:ext uri="{FF2B5EF4-FFF2-40B4-BE49-F238E27FC236}">
                <a16:creationId xmlns:a16="http://schemas.microsoft.com/office/drawing/2014/main" id="{EDA063CA-8DEE-6370-3508-C927EE9DFD5D}"/>
              </a:ext>
            </a:extLst>
          </p:cNvPr>
          <p:cNvSpPr txBox="1"/>
          <p:nvPr/>
        </p:nvSpPr>
        <p:spPr bwMode="auto">
          <a:xfrm>
            <a:off x="700981" y="3382333"/>
            <a:ext cx="5259408" cy="769441"/>
          </a:xfrm>
          <a:prstGeom prst="rect">
            <a:avLst/>
          </a:prstGeom>
          <a:noFill/>
          <a:ln>
            <a:noFill/>
          </a:ln>
        </p:spPr>
        <p:txBody>
          <a:bodyPr wrap="square" rtlCol="0">
            <a:spAutoFit/>
          </a:bodyPr>
          <a:lstStyle/>
          <a:p>
            <a:r>
              <a:rPr lang="en-IN" sz="1600" b="1" dirty="0">
                <a:solidFill>
                  <a:schemeClr val="accent1"/>
                </a:solidFill>
              </a:rPr>
              <a:t>Edge Cases</a:t>
            </a:r>
          </a:p>
          <a:p>
            <a:br>
              <a:rPr lang="en-IN" sz="1400" dirty="0"/>
            </a:br>
            <a:r>
              <a:rPr lang="en-IN" sz="1400" dirty="0"/>
              <a:t>What should happen when things go wrong?</a:t>
            </a:r>
            <a:endParaRPr lang="en-US" sz="1400" dirty="0"/>
          </a:p>
        </p:txBody>
      </p:sp>
      <p:sp>
        <p:nvSpPr>
          <p:cNvPr id="9" name="TextBox 8">
            <a:extLst>
              <a:ext uri="{FF2B5EF4-FFF2-40B4-BE49-F238E27FC236}">
                <a16:creationId xmlns:a16="http://schemas.microsoft.com/office/drawing/2014/main" id="{17B321A4-6089-F934-99D0-C9B024A1BE3C}"/>
              </a:ext>
            </a:extLst>
          </p:cNvPr>
          <p:cNvSpPr txBox="1"/>
          <p:nvPr/>
        </p:nvSpPr>
        <p:spPr bwMode="auto">
          <a:xfrm>
            <a:off x="6407318" y="3382333"/>
            <a:ext cx="4985789" cy="769441"/>
          </a:xfrm>
          <a:prstGeom prst="rect">
            <a:avLst/>
          </a:prstGeom>
          <a:noFill/>
          <a:ln>
            <a:noFill/>
          </a:ln>
        </p:spPr>
        <p:txBody>
          <a:bodyPr wrap="square" rtlCol="0">
            <a:spAutoFit/>
          </a:bodyPr>
          <a:lstStyle/>
          <a:p>
            <a:r>
              <a:rPr lang="en-IN" sz="1600" b="1" dirty="0">
                <a:solidFill>
                  <a:schemeClr val="accent1"/>
                </a:solidFill>
              </a:rPr>
              <a:t>Output Format</a:t>
            </a:r>
          </a:p>
          <a:p>
            <a:br>
              <a:rPr lang="en-IN" sz="1400" dirty="0"/>
            </a:br>
            <a:r>
              <a:rPr lang="en-IN" sz="1400" dirty="0"/>
              <a:t>How should the result be structured?</a:t>
            </a:r>
            <a:endParaRPr lang="en-US" sz="1400" dirty="0"/>
          </a:p>
        </p:txBody>
      </p:sp>
      <p:sp>
        <p:nvSpPr>
          <p:cNvPr id="10" name="TextBox 9">
            <a:extLst>
              <a:ext uri="{FF2B5EF4-FFF2-40B4-BE49-F238E27FC236}">
                <a16:creationId xmlns:a16="http://schemas.microsoft.com/office/drawing/2014/main" id="{9A281E29-9B44-DFED-A18B-ACAC57AA6136}"/>
              </a:ext>
            </a:extLst>
          </p:cNvPr>
          <p:cNvSpPr txBox="1"/>
          <p:nvPr/>
        </p:nvSpPr>
        <p:spPr bwMode="auto">
          <a:xfrm>
            <a:off x="675718" y="4905828"/>
            <a:ext cx="10854797" cy="1200329"/>
          </a:xfrm>
          <a:prstGeom prst="rect">
            <a:avLst/>
          </a:prstGeom>
          <a:noFill/>
        </p:spPr>
        <p:txBody>
          <a:bodyPr wrap="square" rtlCol="0">
            <a:spAutoFit/>
          </a:bodyPr>
          <a:lstStyle/>
          <a:p>
            <a:r>
              <a:rPr lang="en-IN" sz="1600" b="1" dirty="0">
                <a:solidFill>
                  <a:schemeClr val="accent1"/>
                </a:solidFill>
              </a:rPr>
              <a:t>Assembled:</a:t>
            </a:r>
          </a:p>
          <a:p>
            <a:br>
              <a:rPr lang="en-IN" sz="1400" dirty="0"/>
            </a:br>
            <a:r>
              <a:rPr lang="en-IN" sz="1400" i="1" dirty="0"/>
              <a:t>"In Python 3.11 using Flask and </a:t>
            </a:r>
            <a:r>
              <a:rPr lang="en-IN" sz="1400" i="1" dirty="0" err="1"/>
              <a:t>SQLAlchemy</a:t>
            </a:r>
            <a:r>
              <a:rPr lang="en-IN" sz="1400" i="1" dirty="0"/>
              <a:t>, add a validation function to utils/</a:t>
            </a:r>
            <a:r>
              <a:rPr lang="en-IN" sz="1400" i="1" dirty="0" err="1"/>
              <a:t>validation.py</a:t>
            </a:r>
            <a:r>
              <a:rPr lang="en-IN" sz="1400" i="1" dirty="0"/>
              <a:t> that checks whether a submitted date range overlaps with any existing entries. Return 422 on invalid range, 500 on database failure. Return JSON: {data, error, status}. Include a Google-style docstring."</a:t>
            </a:r>
            <a:endParaRPr lang="en-US" sz="1400" dirty="0"/>
          </a:p>
        </p:txBody>
      </p:sp>
      <p:sp>
        <p:nvSpPr>
          <p:cNvPr id="14" name="TextBox 13">
            <a:extLst>
              <a:ext uri="{FF2B5EF4-FFF2-40B4-BE49-F238E27FC236}">
                <a16:creationId xmlns:a16="http://schemas.microsoft.com/office/drawing/2014/main" id="{5FC492C7-AC36-F546-1F20-4A1B7CD4389C}"/>
              </a:ext>
            </a:extLst>
          </p:cNvPr>
          <p:cNvSpPr txBox="1"/>
          <p:nvPr/>
        </p:nvSpPr>
        <p:spPr bwMode="auto">
          <a:xfrm>
            <a:off x="756745" y="2601377"/>
            <a:ext cx="5202621" cy="276999"/>
          </a:xfrm>
          <a:prstGeom prst="rect">
            <a:avLst/>
          </a:prstGeom>
          <a:noFill/>
        </p:spPr>
        <p:txBody>
          <a:bodyPr wrap="square" rtlCol="0">
            <a:spAutoFit/>
          </a:bodyPr>
          <a:lstStyle/>
          <a:p>
            <a:r>
              <a:rPr lang="en-IN" sz="1200" i="1" dirty="0">
                <a:solidFill>
                  <a:schemeClr val="accent2"/>
                </a:solidFill>
              </a:rPr>
              <a:t>"Python 3.11 · Flask · </a:t>
            </a:r>
            <a:r>
              <a:rPr lang="en-IN" sz="1200" i="1" dirty="0" err="1">
                <a:solidFill>
                  <a:schemeClr val="accent2"/>
                </a:solidFill>
              </a:rPr>
              <a:t>SQLAlchemy</a:t>
            </a:r>
            <a:r>
              <a:rPr lang="en-IN" sz="1200" i="1" dirty="0">
                <a:solidFill>
                  <a:schemeClr val="accent2"/>
                </a:solidFill>
              </a:rPr>
              <a:t> · Entry point: </a:t>
            </a:r>
            <a:r>
              <a:rPr lang="en-IN" sz="1200" i="1" dirty="0" err="1">
                <a:solidFill>
                  <a:schemeClr val="accent2"/>
                </a:solidFill>
              </a:rPr>
              <a:t>app.py</a:t>
            </a:r>
            <a:r>
              <a:rPr lang="en-IN" sz="1200" i="1" dirty="0">
                <a:solidFill>
                  <a:schemeClr val="accent2"/>
                </a:solidFill>
              </a:rPr>
              <a:t>”</a:t>
            </a:r>
            <a:endParaRPr lang="en-IN" sz="1200" dirty="0">
              <a:solidFill>
                <a:schemeClr val="accent2"/>
              </a:solidFill>
            </a:endParaRPr>
          </a:p>
        </p:txBody>
      </p:sp>
      <p:sp>
        <p:nvSpPr>
          <p:cNvPr id="15" name="TextBox 14">
            <a:extLst>
              <a:ext uri="{FF2B5EF4-FFF2-40B4-BE49-F238E27FC236}">
                <a16:creationId xmlns:a16="http://schemas.microsoft.com/office/drawing/2014/main" id="{D8D89ABE-6629-3D4D-EBCE-37BB6E3D70A1}"/>
              </a:ext>
            </a:extLst>
          </p:cNvPr>
          <p:cNvSpPr txBox="1"/>
          <p:nvPr/>
        </p:nvSpPr>
        <p:spPr bwMode="auto">
          <a:xfrm>
            <a:off x="6407317" y="2601377"/>
            <a:ext cx="5202621" cy="461665"/>
          </a:xfrm>
          <a:prstGeom prst="rect">
            <a:avLst/>
          </a:prstGeom>
          <a:noFill/>
        </p:spPr>
        <p:txBody>
          <a:bodyPr wrap="square" rtlCol="0">
            <a:spAutoFit/>
          </a:bodyPr>
          <a:lstStyle/>
          <a:p>
            <a:r>
              <a:rPr lang="en-IN" sz="1200" i="1" dirty="0">
                <a:solidFill>
                  <a:schemeClr val="accent2"/>
                </a:solidFill>
              </a:rPr>
              <a:t>"Add a validation function that checks whether a submitted date range overlaps with any existing entries in the database."</a:t>
            </a:r>
            <a:endParaRPr lang="en-IN" sz="1200" dirty="0">
              <a:solidFill>
                <a:schemeClr val="accent2"/>
              </a:solidFill>
            </a:endParaRPr>
          </a:p>
        </p:txBody>
      </p:sp>
      <p:sp>
        <p:nvSpPr>
          <p:cNvPr id="16" name="TextBox 15">
            <a:extLst>
              <a:ext uri="{FF2B5EF4-FFF2-40B4-BE49-F238E27FC236}">
                <a16:creationId xmlns:a16="http://schemas.microsoft.com/office/drawing/2014/main" id="{4D6146D4-6A75-A9FE-4B31-53BACA4F7C29}"/>
              </a:ext>
            </a:extLst>
          </p:cNvPr>
          <p:cNvSpPr txBox="1"/>
          <p:nvPr/>
        </p:nvSpPr>
        <p:spPr bwMode="auto">
          <a:xfrm>
            <a:off x="756745" y="4217272"/>
            <a:ext cx="5202621" cy="461665"/>
          </a:xfrm>
          <a:prstGeom prst="rect">
            <a:avLst/>
          </a:prstGeom>
          <a:noFill/>
        </p:spPr>
        <p:txBody>
          <a:bodyPr wrap="square" rtlCol="0">
            <a:spAutoFit/>
          </a:bodyPr>
          <a:lstStyle/>
          <a:p>
            <a:r>
              <a:rPr lang="en-IN" sz="1200" i="1" dirty="0">
                <a:solidFill>
                  <a:schemeClr val="accent2"/>
                </a:solidFill>
              </a:rPr>
              <a:t>"If the date range is invalid, return 422 with an error message. If the database is unreachable, log the error and return 500."</a:t>
            </a:r>
            <a:endParaRPr lang="en-IN" sz="1200" dirty="0">
              <a:solidFill>
                <a:schemeClr val="accent2"/>
              </a:solidFill>
            </a:endParaRPr>
          </a:p>
        </p:txBody>
      </p:sp>
      <p:sp>
        <p:nvSpPr>
          <p:cNvPr id="17" name="TextBox 16">
            <a:extLst>
              <a:ext uri="{FF2B5EF4-FFF2-40B4-BE49-F238E27FC236}">
                <a16:creationId xmlns:a16="http://schemas.microsoft.com/office/drawing/2014/main" id="{28F07F22-99A3-04FC-6D7F-176D03BFA69D}"/>
              </a:ext>
            </a:extLst>
          </p:cNvPr>
          <p:cNvSpPr txBox="1"/>
          <p:nvPr/>
        </p:nvSpPr>
        <p:spPr bwMode="auto">
          <a:xfrm>
            <a:off x="6359348" y="4217272"/>
            <a:ext cx="5202621" cy="461665"/>
          </a:xfrm>
          <a:prstGeom prst="rect">
            <a:avLst/>
          </a:prstGeom>
          <a:noFill/>
        </p:spPr>
        <p:txBody>
          <a:bodyPr wrap="square" rtlCol="0">
            <a:spAutoFit/>
          </a:bodyPr>
          <a:lstStyle/>
          <a:p>
            <a:r>
              <a:rPr lang="en-IN" sz="1200" i="1" dirty="0">
                <a:solidFill>
                  <a:schemeClr val="accent2"/>
                </a:solidFill>
              </a:rPr>
              <a:t>"Return JSON: {data, error, status}. Add a Google-style docstring to the function."</a:t>
            </a:r>
            <a:endParaRPr lang="en-IN" sz="1200" dirty="0">
              <a:solidFill>
                <a:schemeClr val="accent2"/>
              </a:solidFill>
            </a:endParaRPr>
          </a:p>
        </p:txBody>
      </p:sp>
    </p:spTree>
    <p:extLst>
      <p:ext uri="{BB962C8B-B14F-4D97-AF65-F5344CB8AC3E}">
        <p14:creationId xmlns:p14="http://schemas.microsoft.com/office/powerpoint/2010/main" val="3020793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75EA4D63-CB01-2F34-DD76-79104BB2F53F}"/>
            </a:ext>
          </a:extLst>
        </p:cNvPr>
        <p:cNvGrpSpPr/>
        <p:nvPr/>
      </p:nvGrpSpPr>
      <p:grpSpPr>
        <a:xfrm>
          <a:off x="0" y="0"/>
          <a:ext cx="0" cy="0"/>
          <a:chOff x="0" y="0"/>
          <a:chExt cx="0" cy="0"/>
        </a:xfrm>
      </p:grpSpPr>
      <p:sp>
        <p:nvSpPr>
          <p:cNvPr id="8" name="Shape 1">
            <a:extLst>
              <a:ext uri="{FF2B5EF4-FFF2-40B4-BE49-F238E27FC236}">
                <a16:creationId xmlns:a16="http://schemas.microsoft.com/office/drawing/2014/main" id="{9ECD31DB-90C0-B4B9-2385-B62A5D9DA682}"/>
              </a:ext>
            </a:extLst>
          </p:cNvPr>
          <p:cNvSpPr/>
          <p:nvPr/>
        </p:nvSpPr>
        <p:spPr>
          <a:xfrm>
            <a:off x="605364" y="1388638"/>
            <a:ext cx="5303520" cy="1726325"/>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a:extLst>
              <a:ext uri="{FF2B5EF4-FFF2-40B4-BE49-F238E27FC236}">
                <a16:creationId xmlns:a16="http://schemas.microsoft.com/office/drawing/2014/main" id="{06EE2EC8-D1D7-B406-758E-24D2A415C3C5}"/>
              </a:ext>
            </a:extLst>
          </p:cNvPr>
          <p:cNvSpPr/>
          <p:nvPr/>
        </p:nvSpPr>
        <p:spPr>
          <a:xfrm>
            <a:off x="6283118" y="1388638"/>
            <a:ext cx="5303520" cy="1726325"/>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a:extLst>
              <a:ext uri="{FF2B5EF4-FFF2-40B4-BE49-F238E27FC236}">
                <a16:creationId xmlns:a16="http://schemas.microsoft.com/office/drawing/2014/main" id="{418473A7-55F7-C5AE-3B30-61F0B2CEE6D2}"/>
              </a:ext>
            </a:extLst>
          </p:cNvPr>
          <p:cNvSpPr txBox="1">
            <a:spLocks/>
          </p:cNvSpPr>
          <p:nvPr/>
        </p:nvSpPr>
        <p:spPr>
          <a:xfrm>
            <a:off x="532173" y="249282"/>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Weak Prompt vs. Strong Prompt</a:t>
            </a:r>
          </a:p>
        </p:txBody>
      </p:sp>
      <p:sp>
        <p:nvSpPr>
          <p:cNvPr id="2" name="TextBox 1">
            <a:extLst>
              <a:ext uri="{FF2B5EF4-FFF2-40B4-BE49-F238E27FC236}">
                <a16:creationId xmlns:a16="http://schemas.microsoft.com/office/drawing/2014/main" id="{38D2E086-8918-8A4D-9F59-818E8D7835D9}"/>
              </a:ext>
            </a:extLst>
          </p:cNvPr>
          <p:cNvSpPr txBox="1"/>
          <p:nvPr/>
        </p:nvSpPr>
        <p:spPr bwMode="auto">
          <a:xfrm>
            <a:off x="848934" y="1604081"/>
            <a:ext cx="4816380" cy="95410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1400" dirty="0">
                <a:solidFill>
                  <a:schemeClr val="accent3"/>
                </a:solidFill>
              </a:rPr>
              <a:t>✗ </a:t>
            </a:r>
            <a:r>
              <a:rPr lang="en-IN" sz="1400" dirty="0"/>
              <a:t>  </a:t>
            </a:r>
            <a:r>
              <a:rPr lang="en-IN" sz="1400" b="1" dirty="0"/>
              <a:t>Weal Prompt</a:t>
            </a:r>
          </a:p>
          <a:p>
            <a:br>
              <a:rPr lang="en-IN" sz="1400" dirty="0"/>
            </a:br>
            <a:r>
              <a:rPr lang="en-IN" sz="1400" i="1" dirty="0"/>
              <a:t>"Write a script that cleans our training data.”</a:t>
            </a:r>
          </a:p>
        </p:txBody>
      </p:sp>
      <p:sp>
        <p:nvSpPr>
          <p:cNvPr id="11" name="Shape 11">
            <a:extLst>
              <a:ext uri="{FF2B5EF4-FFF2-40B4-BE49-F238E27FC236}">
                <a16:creationId xmlns:a16="http://schemas.microsoft.com/office/drawing/2014/main" id="{8C4AE535-283A-62F7-3FE9-1B644325C1EC}"/>
              </a:ext>
            </a:extLst>
          </p:cNvPr>
          <p:cNvSpPr/>
          <p:nvPr/>
        </p:nvSpPr>
        <p:spPr>
          <a:xfrm>
            <a:off x="605362" y="3548671"/>
            <a:ext cx="5354210" cy="227947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a:extLst>
              <a:ext uri="{FF2B5EF4-FFF2-40B4-BE49-F238E27FC236}">
                <a16:creationId xmlns:a16="http://schemas.microsoft.com/office/drawing/2014/main" id="{76C5645C-8CCB-8A54-734C-91F3D35476B1}"/>
              </a:ext>
            </a:extLst>
          </p:cNvPr>
          <p:cNvSpPr/>
          <p:nvPr/>
        </p:nvSpPr>
        <p:spPr>
          <a:xfrm>
            <a:off x="6285726" y="3548671"/>
            <a:ext cx="5354210" cy="227947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087A65E9-114A-7218-598C-8CA71024F499}"/>
              </a:ext>
            </a:extLst>
          </p:cNvPr>
          <p:cNvSpPr txBox="1"/>
          <p:nvPr/>
        </p:nvSpPr>
        <p:spPr bwMode="auto">
          <a:xfrm>
            <a:off x="6402301" y="1604081"/>
            <a:ext cx="5237635" cy="1384995"/>
          </a:xfrm>
          <a:prstGeom prst="rect">
            <a:avLst/>
          </a:prstGeom>
          <a:noFill/>
        </p:spPr>
        <p:txBody>
          <a:bodyPr wrap="square" rtlCol="0">
            <a:spAutoFit/>
          </a:bodyPr>
          <a:lstStyle/>
          <a:p>
            <a:r>
              <a:rPr lang="en-IN" sz="1400" dirty="0">
                <a:solidFill>
                  <a:srgbClr val="00B050"/>
                </a:solidFill>
              </a:rPr>
              <a:t>✓</a:t>
            </a:r>
            <a:r>
              <a:rPr lang="en-IN" sz="1400" dirty="0"/>
              <a:t>   </a:t>
            </a:r>
            <a:r>
              <a:rPr lang="en-IN" sz="1400" b="1" dirty="0"/>
              <a:t>Strong Prompt</a:t>
            </a:r>
          </a:p>
          <a:p>
            <a:br>
              <a:rPr lang="en-IN" sz="1400" dirty="0"/>
            </a:br>
            <a:r>
              <a:rPr lang="en-IN" sz="1400" i="1" dirty="0"/>
              <a:t>"In Python 3.12, write a CLI that reads data/train.jsonl, drops records with an empty text field or a duplicate id, normalises whitespace, and writes data/train.clean.jsonl. Log dropped-row counts by reason. Add a --dry-run flag."</a:t>
            </a:r>
            <a:r>
              <a:rPr lang="en-IN" sz="1400" i="1" dirty="0" err="1"/>
              <a:t/>
            </a:r>
            <a:r>
              <a:rPr lang="en-IN" sz="1400" i="1" dirty="0"/>
              <a:t/>
            </a:r>
            <a:endParaRPr lang="en-US" sz="1400" dirty="0"/>
          </a:p>
        </p:txBody>
      </p:sp>
      <p:sp>
        <p:nvSpPr>
          <p:cNvPr id="4" name="TextBox 3">
            <a:extLst>
              <a:ext uri="{FF2B5EF4-FFF2-40B4-BE49-F238E27FC236}">
                <a16:creationId xmlns:a16="http://schemas.microsoft.com/office/drawing/2014/main" id="{153DC01B-664E-5A43-3DF9-2C5B9055E58D}"/>
              </a:ext>
            </a:extLst>
          </p:cNvPr>
          <p:cNvSpPr txBox="1"/>
          <p:nvPr/>
        </p:nvSpPr>
        <p:spPr bwMode="auto">
          <a:xfrm>
            <a:off x="767492" y="3681981"/>
            <a:ext cx="4897822" cy="2062103"/>
          </a:xfrm>
          <a:prstGeom prst="rect">
            <a:avLst/>
          </a:prstGeom>
          <a:noFill/>
        </p:spPr>
        <p:txBody>
          <a:bodyPr wrap="square" rtlCol="0">
            <a:spAutoFit/>
          </a:bodyPr>
          <a:lstStyle/>
          <a:p>
            <a:r>
              <a:rPr lang="en-IN" sz="1600" b="1" dirty="0"/>
              <a:t>What Claude does not know:</a:t>
            </a:r>
          </a:p>
          <a:p>
            <a:endParaRPr lang="en-IN" sz="1400" dirty="0"/>
          </a:p>
          <a:p>
            <a:pPr marL="285750" indent="-285750">
              <a:buFont typeface="Arial" panose="020B0604020202020204" pitchFamily="34" charset="0"/>
              <a:buChar char="•"/>
            </a:pPr>
            <a:r>
              <a:rPr lang="en-IN" sz="1400" dirty="0"/>
              <a:t>Where the data comes from — API? CSV? database?</a:t>
            </a:r>
          </a:p>
          <a:p>
            <a:pPr marL="285750" indent="-285750">
              <a:buFont typeface="Arial" panose="020B0604020202020204" pitchFamily="34" charset="0"/>
              <a:buChar char="•"/>
            </a:pPr>
            <a:r>
              <a:rPr lang="en-IN" sz="1400" dirty="0"/>
              <a:t>What language or libraries to use</a:t>
            </a:r>
          </a:p>
          <a:p>
            <a:pPr marL="285750" indent="-285750">
              <a:buFont typeface="Arial" panose="020B0604020202020204" pitchFamily="34" charset="0"/>
              <a:buChar char="•"/>
            </a:pPr>
            <a:r>
              <a:rPr lang="en-IN" sz="1400" dirty="0"/>
              <a:t>What a "report" means — HTML? PDF? printed to terminal?</a:t>
            </a:r>
          </a:p>
          <a:p>
            <a:pPr marL="285750" indent="-285750">
              <a:buFont typeface="Arial" panose="020B0604020202020204" pitchFamily="34" charset="0"/>
              <a:buChar char="•"/>
            </a:pPr>
            <a:r>
              <a:rPr lang="en-IN" sz="1400" dirty="0"/>
              <a:t>What "clean" means — dedupe? PII removal? schema checks?</a:t>
            </a:r>
          </a:p>
          <a:p>
            <a:pPr marL="285750" indent="-285750">
              <a:buFont typeface="Arial" panose="020B0604020202020204" pitchFamily="34" charset="0"/>
              <a:buChar char="•"/>
            </a:pPr>
            <a:r>
              <a:rPr lang="en-IN" sz="1400" dirty="0"/>
              <a:t>What to do if data is missing or malformed</a:t>
            </a:r>
          </a:p>
        </p:txBody>
      </p:sp>
      <p:sp>
        <p:nvSpPr>
          <p:cNvPr id="6" name="TextBox 5">
            <a:extLst>
              <a:ext uri="{FF2B5EF4-FFF2-40B4-BE49-F238E27FC236}">
                <a16:creationId xmlns:a16="http://schemas.microsoft.com/office/drawing/2014/main" id="{48D70E4A-F093-6BA6-542C-6AF4988ABF87}"/>
              </a:ext>
            </a:extLst>
          </p:cNvPr>
          <p:cNvSpPr txBox="1"/>
          <p:nvPr/>
        </p:nvSpPr>
        <p:spPr bwMode="auto">
          <a:xfrm>
            <a:off x="6483311" y="3681980"/>
            <a:ext cx="5103328" cy="2062103"/>
          </a:xfrm>
          <a:prstGeom prst="rect">
            <a:avLst/>
          </a:prstGeom>
          <a:noFill/>
        </p:spPr>
        <p:txBody>
          <a:bodyPr wrap="square" rtlCol="0">
            <a:spAutoFit/>
          </a:bodyPr>
          <a:lstStyle/>
          <a:p>
            <a:r>
              <a:rPr lang="en-IN" sz="1600" b="1" dirty="0"/>
              <a:t>What Claude now knows:</a:t>
            </a:r>
          </a:p>
          <a:p>
            <a:endParaRPr lang="en-IN" sz="1400" dirty="0"/>
          </a:p>
          <a:p>
            <a:pPr marL="285750" indent="-285750">
              <a:buFont typeface="Arial" panose="020B0604020202020204" pitchFamily="34" charset="0"/>
              <a:buChar char="•"/>
            </a:pPr>
            <a:r>
              <a:rPr lang="en-IN" sz="1400" dirty="0"/>
              <a:t>Language and version </a:t>
            </a:r>
            <a:r>
              <a:rPr lang="en-IN" sz="1400" dirty="0">
                <a:solidFill>
                  <a:srgbClr val="00B050"/>
                </a:solidFill>
              </a:rPr>
              <a:t>✓</a:t>
            </a:r>
          </a:p>
          <a:p>
            <a:pPr marL="285750" indent="-285750">
              <a:buFont typeface="Arial" panose="020B0604020202020204" pitchFamily="34" charset="0"/>
              <a:buChar char="•"/>
            </a:pPr>
            <a:r>
              <a:rPr lang="en-IN" sz="1400" dirty="0"/>
              <a:t>Data source and location </a:t>
            </a:r>
            <a:r>
              <a:rPr lang="en-IN" sz="1400" dirty="0">
                <a:solidFill>
                  <a:srgbClr val="00B050"/>
                </a:solidFill>
              </a:rPr>
              <a:t>✓</a:t>
            </a:r>
          </a:p>
          <a:p>
            <a:pPr marL="285750" indent="-285750">
              <a:buFont typeface="Arial" panose="020B0604020202020204" pitchFamily="34" charset="0"/>
              <a:buChar char="•"/>
            </a:pPr>
            <a:r>
              <a:rPr lang="en-IN" sz="1400" dirty="0"/>
              <a:t>What the output looks like </a:t>
            </a:r>
            <a:r>
              <a:rPr lang="en-IN" sz="1400" dirty="0">
                <a:solidFill>
                  <a:srgbClr val="00B050"/>
                </a:solidFill>
              </a:rPr>
              <a:t>✓</a:t>
            </a:r>
          </a:p>
          <a:p>
            <a:pPr marL="285750" indent="-285750">
              <a:buFont typeface="Arial" panose="020B0604020202020204" pitchFamily="34" charset="0"/>
              <a:buChar char="•"/>
            </a:pPr>
            <a:r>
              <a:rPr lang="en-IN" sz="1400" dirty="0"/>
              <a:t>How to handle errors </a:t>
            </a:r>
            <a:r>
              <a:rPr lang="en-IN" sz="1400" dirty="0">
                <a:solidFill>
                  <a:srgbClr val="00B050"/>
                </a:solidFill>
              </a:rPr>
              <a:t>✓</a:t>
            </a:r>
          </a:p>
          <a:p>
            <a:pPr marL="285750" indent="-285750">
              <a:buFont typeface="Arial" panose="020B0604020202020204" pitchFamily="34" charset="0"/>
              <a:buChar char="•"/>
            </a:pPr>
            <a:r>
              <a:rPr lang="en-IN" sz="1400" dirty="0"/>
              <a:t>What the user controls </a:t>
            </a:r>
            <a:r>
              <a:rPr lang="en-IN" sz="1400" dirty="0">
                <a:solidFill>
                  <a:srgbClr val="00B050"/>
                </a:solidFill>
              </a:rPr>
              <a:t>✓</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endParaRPr lang="en-IN" sz="1400" dirty="0"/>
          </a:p>
        </p:txBody>
      </p:sp>
    </p:spTree>
    <p:extLst>
      <p:ext uri="{BB962C8B-B14F-4D97-AF65-F5344CB8AC3E}">
        <p14:creationId xmlns:p14="http://schemas.microsoft.com/office/powerpoint/2010/main" val="1463480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A1B1F566-DAE1-D7F1-3549-D271F7C78861}"/>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9F9A9F0F-6D22-7696-8083-D8BC1F77703A}"/>
              </a:ext>
            </a:extLst>
          </p:cNvPr>
          <p:cNvSpPr txBox="1">
            <a:spLocks/>
          </p:cNvSpPr>
          <p:nvPr/>
        </p:nvSpPr>
        <p:spPr>
          <a:xfrm>
            <a:off x="531476" y="254247"/>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The Iterative Prompting Loop</a:t>
            </a:r>
          </a:p>
        </p:txBody>
      </p:sp>
      <p:sp>
        <p:nvSpPr>
          <p:cNvPr id="2" name="TextBox 1">
            <a:extLst>
              <a:ext uri="{FF2B5EF4-FFF2-40B4-BE49-F238E27FC236}">
                <a16:creationId xmlns:a16="http://schemas.microsoft.com/office/drawing/2014/main" id="{2D2915C2-6050-A762-ED65-E0784E6A5899}"/>
              </a:ext>
            </a:extLst>
          </p:cNvPr>
          <p:cNvSpPr txBox="1"/>
          <p:nvPr/>
        </p:nvSpPr>
        <p:spPr bwMode="auto">
          <a:xfrm>
            <a:off x="605364" y="1143131"/>
            <a:ext cx="8343181" cy="338554"/>
          </a:xfrm>
          <a:prstGeom prst="rect">
            <a:avLst/>
          </a:prstGeom>
        </p:spPr>
        <p:txBody>
          <a:bodyPr wrap="none" rtlCol="0">
            <a:spAutoFit/>
          </a:bodyPr>
          <a:lstStyle/>
          <a:p>
            <a:r>
              <a:rPr lang="en-IN" sz="1600" dirty="0"/>
              <a:t>Treat each Claude Code response as one step in a build loop — not a finished answer.</a:t>
            </a:r>
            <a:endParaRPr lang="en-US" sz="1600" dirty="0"/>
          </a:p>
        </p:txBody>
      </p:sp>
      <p:sp>
        <p:nvSpPr>
          <p:cNvPr id="13" name="Shape 11">
            <a:extLst>
              <a:ext uri="{FF2B5EF4-FFF2-40B4-BE49-F238E27FC236}">
                <a16:creationId xmlns:a16="http://schemas.microsoft.com/office/drawing/2014/main" id="{D089BC60-F334-9D46-BBC5-D5DC82A0F4D3}"/>
              </a:ext>
            </a:extLst>
          </p:cNvPr>
          <p:cNvSpPr/>
          <p:nvPr/>
        </p:nvSpPr>
        <p:spPr>
          <a:xfrm>
            <a:off x="630031" y="1749972"/>
            <a:ext cx="5401309" cy="1525140"/>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11">
            <a:extLst>
              <a:ext uri="{FF2B5EF4-FFF2-40B4-BE49-F238E27FC236}">
                <a16:creationId xmlns:a16="http://schemas.microsoft.com/office/drawing/2014/main" id="{BF79CE9D-D1F5-ADAD-294F-EAE8AC45B247}"/>
              </a:ext>
            </a:extLst>
          </p:cNvPr>
          <p:cNvSpPr/>
          <p:nvPr/>
        </p:nvSpPr>
        <p:spPr>
          <a:xfrm>
            <a:off x="630031" y="3469520"/>
            <a:ext cx="5401309" cy="1525140"/>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1">
            <a:extLst>
              <a:ext uri="{FF2B5EF4-FFF2-40B4-BE49-F238E27FC236}">
                <a16:creationId xmlns:a16="http://schemas.microsoft.com/office/drawing/2014/main" id="{BC9D7595-32DC-4A54-7327-8C600F5BB45F}"/>
              </a:ext>
            </a:extLst>
          </p:cNvPr>
          <p:cNvSpPr/>
          <p:nvPr/>
        </p:nvSpPr>
        <p:spPr>
          <a:xfrm>
            <a:off x="6199559" y="3469520"/>
            <a:ext cx="5401309" cy="1525140"/>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11">
            <a:extLst>
              <a:ext uri="{FF2B5EF4-FFF2-40B4-BE49-F238E27FC236}">
                <a16:creationId xmlns:a16="http://schemas.microsoft.com/office/drawing/2014/main" id="{313EDD66-1F9E-BB04-E5AB-CD35679D9C94}"/>
              </a:ext>
            </a:extLst>
          </p:cNvPr>
          <p:cNvSpPr/>
          <p:nvPr/>
        </p:nvSpPr>
        <p:spPr>
          <a:xfrm>
            <a:off x="6199559" y="1749972"/>
            <a:ext cx="5401309" cy="1525140"/>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57702DE3-8B72-050D-247B-F9D1993AB85D}"/>
              </a:ext>
            </a:extLst>
          </p:cNvPr>
          <p:cNvSpPr txBox="1"/>
          <p:nvPr/>
        </p:nvSpPr>
        <p:spPr bwMode="auto">
          <a:xfrm>
            <a:off x="756745" y="1776948"/>
            <a:ext cx="5202621" cy="984885"/>
          </a:xfrm>
          <a:prstGeom prst="rect">
            <a:avLst/>
          </a:prstGeom>
          <a:noFill/>
        </p:spPr>
        <p:txBody>
          <a:bodyPr wrap="square" rtlCol="0">
            <a:spAutoFit/>
          </a:bodyPr>
          <a:lstStyle/>
          <a:p>
            <a:r>
              <a:rPr lang="en-IN" sz="1600" b="1" dirty="0">
                <a:solidFill>
                  <a:schemeClr val="accent1"/>
                </a:solidFill>
              </a:rPr>
              <a:t>STEP 1 — Rough Scaffold</a:t>
            </a:r>
          </a:p>
          <a:p>
            <a:br>
              <a:rPr lang="en-IN" sz="1400" dirty="0"/>
            </a:br>
            <a:r>
              <a:rPr lang="en-IN" sz="1400" dirty="0"/>
              <a:t>Prompt for structure first. Get the skeleton. Do not expect working code yet.</a:t>
            </a:r>
            <a:endParaRPr lang="en-IN" sz="1200" dirty="0">
              <a:solidFill>
                <a:schemeClr val="accent2"/>
              </a:solidFill>
            </a:endParaRPr>
          </a:p>
        </p:txBody>
      </p:sp>
      <p:sp>
        <p:nvSpPr>
          <p:cNvPr id="4" name="TextBox 3">
            <a:extLst>
              <a:ext uri="{FF2B5EF4-FFF2-40B4-BE49-F238E27FC236}">
                <a16:creationId xmlns:a16="http://schemas.microsoft.com/office/drawing/2014/main" id="{48F582CC-B3FD-940A-92FA-AB9D897CFCCB}"/>
              </a:ext>
            </a:extLst>
          </p:cNvPr>
          <p:cNvSpPr txBox="1"/>
          <p:nvPr/>
        </p:nvSpPr>
        <p:spPr bwMode="auto">
          <a:xfrm>
            <a:off x="6257540" y="1776948"/>
            <a:ext cx="5202621" cy="769441"/>
          </a:xfrm>
          <a:prstGeom prst="rect">
            <a:avLst/>
          </a:prstGeom>
          <a:noFill/>
        </p:spPr>
        <p:txBody>
          <a:bodyPr wrap="square" rtlCol="0">
            <a:spAutoFit/>
          </a:bodyPr>
          <a:lstStyle/>
          <a:p>
            <a:r>
              <a:rPr lang="en-IN" sz="1600" b="1" dirty="0">
                <a:solidFill>
                  <a:schemeClr val="accent1"/>
                </a:solidFill>
              </a:rPr>
              <a:t>STEP 2 — Working Function</a:t>
            </a:r>
          </a:p>
          <a:p>
            <a:br>
              <a:rPr lang="en-IN" sz="1400" dirty="0"/>
            </a:br>
            <a:r>
              <a:rPr lang="en-IN" sz="1400" dirty="0"/>
              <a:t>Add the logic. Run it. See what breaks.</a:t>
            </a:r>
          </a:p>
        </p:txBody>
      </p:sp>
      <p:sp>
        <p:nvSpPr>
          <p:cNvPr id="6" name="TextBox 5">
            <a:extLst>
              <a:ext uri="{FF2B5EF4-FFF2-40B4-BE49-F238E27FC236}">
                <a16:creationId xmlns:a16="http://schemas.microsoft.com/office/drawing/2014/main" id="{95DC693C-1A66-308C-C77B-C33636CC6D1C}"/>
              </a:ext>
            </a:extLst>
          </p:cNvPr>
          <p:cNvSpPr txBox="1"/>
          <p:nvPr/>
        </p:nvSpPr>
        <p:spPr bwMode="auto">
          <a:xfrm>
            <a:off x="756745" y="3505732"/>
            <a:ext cx="5202621" cy="769441"/>
          </a:xfrm>
          <a:prstGeom prst="rect">
            <a:avLst/>
          </a:prstGeom>
          <a:noFill/>
        </p:spPr>
        <p:txBody>
          <a:bodyPr wrap="square" rtlCol="0">
            <a:spAutoFit/>
          </a:bodyPr>
          <a:lstStyle/>
          <a:p>
            <a:r>
              <a:rPr lang="en-IN" sz="1600" b="1" dirty="0">
                <a:solidFill>
                  <a:schemeClr val="accent1"/>
                </a:solidFill>
              </a:rPr>
              <a:t>STEP 3 — Tested Module</a:t>
            </a:r>
          </a:p>
          <a:p>
            <a:br>
              <a:rPr lang="en-IN" sz="1400" dirty="0"/>
            </a:br>
            <a:r>
              <a:rPr lang="en-IN" sz="1400" dirty="0"/>
              <a:t>Ask Claude to write tests. Run them. Fix what fails.</a:t>
            </a:r>
          </a:p>
        </p:txBody>
      </p:sp>
      <p:sp>
        <p:nvSpPr>
          <p:cNvPr id="7" name="TextBox 6">
            <a:extLst>
              <a:ext uri="{FF2B5EF4-FFF2-40B4-BE49-F238E27FC236}">
                <a16:creationId xmlns:a16="http://schemas.microsoft.com/office/drawing/2014/main" id="{11977906-DED4-DD04-54FC-3009694C4CCF}"/>
              </a:ext>
            </a:extLst>
          </p:cNvPr>
          <p:cNvSpPr txBox="1"/>
          <p:nvPr/>
        </p:nvSpPr>
        <p:spPr bwMode="auto">
          <a:xfrm>
            <a:off x="6257540" y="3505732"/>
            <a:ext cx="5202621" cy="984885"/>
          </a:xfrm>
          <a:prstGeom prst="rect">
            <a:avLst/>
          </a:prstGeom>
          <a:noFill/>
        </p:spPr>
        <p:txBody>
          <a:bodyPr wrap="square" rtlCol="0">
            <a:spAutoFit/>
          </a:bodyPr>
          <a:lstStyle/>
          <a:p>
            <a:r>
              <a:rPr lang="en-IN" sz="1600" b="1" dirty="0">
                <a:solidFill>
                  <a:schemeClr val="accent1"/>
                </a:solidFill>
              </a:rPr>
              <a:t>STEP 4 — Documented Code</a:t>
            </a:r>
          </a:p>
          <a:p>
            <a:br>
              <a:rPr lang="en-IN" sz="1400" dirty="0"/>
            </a:br>
            <a:r>
              <a:rPr lang="en-IN" sz="1400" dirty="0"/>
              <a:t>Ask for docstrings and inline comments. Review them before you commit.</a:t>
            </a:r>
            <a:endParaRPr lang="en-IN" sz="1200" dirty="0">
              <a:solidFill>
                <a:schemeClr val="accent2"/>
              </a:solidFill>
            </a:endParaRPr>
          </a:p>
        </p:txBody>
      </p:sp>
      <p:sp>
        <p:nvSpPr>
          <p:cNvPr id="14" name="Shape 19">
            <a:extLst>
              <a:ext uri="{FF2B5EF4-FFF2-40B4-BE49-F238E27FC236}">
                <a16:creationId xmlns:a16="http://schemas.microsoft.com/office/drawing/2014/main" id="{A5B94E8C-BFA6-1472-0EF1-950C9A405744}"/>
              </a:ext>
            </a:extLst>
          </p:cNvPr>
          <p:cNvSpPr/>
          <p:nvPr/>
        </p:nvSpPr>
        <p:spPr>
          <a:xfrm>
            <a:off x="605362" y="5511885"/>
            <a:ext cx="10981273" cy="64633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8" name="TextBox 7">
            <a:extLst>
              <a:ext uri="{FF2B5EF4-FFF2-40B4-BE49-F238E27FC236}">
                <a16:creationId xmlns:a16="http://schemas.microsoft.com/office/drawing/2014/main" id="{5539FF18-36C3-9D6A-37DC-330894D11627}"/>
              </a:ext>
            </a:extLst>
          </p:cNvPr>
          <p:cNvSpPr txBox="1"/>
          <p:nvPr/>
        </p:nvSpPr>
        <p:spPr bwMode="auto">
          <a:xfrm>
            <a:off x="744290" y="5681162"/>
            <a:ext cx="10703416" cy="307777"/>
          </a:xfrm>
          <a:prstGeom prst="rect">
            <a:avLst/>
          </a:prstGeom>
          <a:noFill/>
        </p:spPr>
        <p:txBody>
          <a:bodyPr wrap="square" rtlCol="0">
            <a:spAutoFit/>
          </a:bodyPr>
          <a:lstStyle/>
          <a:p>
            <a:pPr algn="ctr"/>
            <a:r>
              <a:rPr lang="en-IN" sz="1400" b="1" dirty="0"/>
              <a:t>The Habit</a:t>
            </a:r>
            <a:r>
              <a:rPr lang="en-IN" sz="1400" dirty="0"/>
              <a:t>: Never expect step 4 quality from a step 1 prompt. Each prompt is one move. The loop is the method.</a:t>
            </a:r>
            <a:endParaRPr lang="en-US" sz="1400" dirty="0"/>
          </a:p>
        </p:txBody>
      </p:sp>
      <p:sp>
        <p:nvSpPr>
          <p:cNvPr id="15" name="TextBox 14">
            <a:extLst>
              <a:ext uri="{FF2B5EF4-FFF2-40B4-BE49-F238E27FC236}">
                <a16:creationId xmlns:a16="http://schemas.microsoft.com/office/drawing/2014/main" id="{0AEBB4DE-3423-B70C-A85B-134BB720D0F0}"/>
              </a:ext>
            </a:extLst>
          </p:cNvPr>
          <p:cNvSpPr txBox="1"/>
          <p:nvPr/>
        </p:nvSpPr>
        <p:spPr bwMode="auto">
          <a:xfrm>
            <a:off x="756745" y="2804287"/>
            <a:ext cx="5202621" cy="461665"/>
          </a:xfrm>
          <a:prstGeom prst="rect">
            <a:avLst/>
          </a:prstGeom>
          <a:noFill/>
        </p:spPr>
        <p:txBody>
          <a:bodyPr wrap="square" rtlCol="0">
            <a:spAutoFit/>
          </a:bodyPr>
          <a:lstStyle/>
          <a:p>
            <a:r>
              <a:rPr lang="en-IN" sz="1200" i="1" dirty="0">
                <a:solidFill>
                  <a:schemeClr val="accent2"/>
                </a:solidFill>
              </a:rPr>
              <a:t>"Scaffold a Flask route handler for submitting a new entry. Structure only — no business logic."</a:t>
            </a:r>
            <a:endParaRPr lang="en-IN" sz="1200" dirty="0">
              <a:solidFill>
                <a:schemeClr val="accent2"/>
              </a:solidFill>
            </a:endParaRPr>
          </a:p>
        </p:txBody>
      </p:sp>
      <p:sp>
        <p:nvSpPr>
          <p:cNvPr id="16" name="TextBox 15">
            <a:extLst>
              <a:ext uri="{FF2B5EF4-FFF2-40B4-BE49-F238E27FC236}">
                <a16:creationId xmlns:a16="http://schemas.microsoft.com/office/drawing/2014/main" id="{25814C5F-82E8-DAE1-ADFB-89C797DCC481}"/>
              </a:ext>
            </a:extLst>
          </p:cNvPr>
          <p:cNvSpPr txBox="1"/>
          <p:nvPr/>
        </p:nvSpPr>
        <p:spPr bwMode="auto">
          <a:xfrm>
            <a:off x="6261618" y="2721462"/>
            <a:ext cx="5202621" cy="461665"/>
          </a:xfrm>
          <a:prstGeom prst="rect">
            <a:avLst/>
          </a:prstGeom>
          <a:noFill/>
        </p:spPr>
        <p:txBody>
          <a:bodyPr wrap="square" rtlCol="0">
            <a:spAutoFit/>
          </a:bodyPr>
          <a:lstStyle/>
          <a:p>
            <a:r>
              <a:rPr lang="en-IN" sz="1200" i="1" dirty="0">
                <a:solidFill>
                  <a:schemeClr val="accent2"/>
                </a:solidFill>
              </a:rPr>
              <a:t>"Now add the validation logic. The entry must not overlap with any existing date range.”</a:t>
            </a:r>
          </a:p>
        </p:txBody>
      </p:sp>
      <p:sp>
        <p:nvSpPr>
          <p:cNvPr id="17" name="TextBox 16">
            <a:extLst>
              <a:ext uri="{FF2B5EF4-FFF2-40B4-BE49-F238E27FC236}">
                <a16:creationId xmlns:a16="http://schemas.microsoft.com/office/drawing/2014/main" id="{4277748A-B382-FD2D-11DC-5EA56CDEC9A4}"/>
              </a:ext>
            </a:extLst>
          </p:cNvPr>
          <p:cNvSpPr txBox="1"/>
          <p:nvPr/>
        </p:nvSpPr>
        <p:spPr bwMode="auto">
          <a:xfrm>
            <a:off x="756745" y="4488053"/>
            <a:ext cx="5202621" cy="461665"/>
          </a:xfrm>
          <a:prstGeom prst="rect">
            <a:avLst/>
          </a:prstGeom>
          <a:noFill/>
        </p:spPr>
        <p:txBody>
          <a:bodyPr wrap="square" rtlCol="0">
            <a:spAutoFit/>
          </a:bodyPr>
          <a:lstStyle/>
          <a:p>
            <a:r>
              <a:rPr lang="en-IN" sz="1200" i="1" dirty="0">
                <a:solidFill>
                  <a:schemeClr val="accent2"/>
                </a:solidFill>
              </a:rPr>
              <a:t>"Write </a:t>
            </a:r>
            <a:r>
              <a:rPr lang="en-IN" sz="1200" i="1" dirty="0" err="1">
                <a:solidFill>
                  <a:schemeClr val="accent2"/>
                </a:solidFill>
              </a:rPr>
              <a:t>pytest</a:t>
            </a:r>
            <a:r>
              <a:rPr lang="en-IN" sz="1200" i="1" dirty="0">
                <a:solidFill>
                  <a:schemeClr val="accent2"/>
                </a:solidFill>
              </a:rPr>
              <a:t> tests covering: valid input, overlapping date range, and missing required fields.”</a:t>
            </a:r>
          </a:p>
        </p:txBody>
      </p:sp>
      <p:sp>
        <p:nvSpPr>
          <p:cNvPr id="18" name="TextBox 17">
            <a:extLst>
              <a:ext uri="{FF2B5EF4-FFF2-40B4-BE49-F238E27FC236}">
                <a16:creationId xmlns:a16="http://schemas.microsoft.com/office/drawing/2014/main" id="{65349FAD-7154-1110-EAAA-DFB8C2A75860}"/>
              </a:ext>
            </a:extLst>
          </p:cNvPr>
          <p:cNvSpPr txBox="1"/>
          <p:nvPr/>
        </p:nvSpPr>
        <p:spPr bwMode="auto">
          <a:xfrm>
            <a:off x="6245085" y="4488053"/>
            <a:ext cx="5202621" cy="461665"/>
          </a:xfrm>
          <a:prstGeom prst="rect">
            <a:avLst/>
          </a:prstGeom>
          <a:noFill/>
        </p:spPr>
        <p:txBody>
          <a:bodyPr wrap="square" rtlCol="0">
            <a:spAutoFit/>
          </a:bodyPr>
          <a:lstStyle/>
          <a:p>
            <a:r>
              <a:rPr lang="en-IN" sz="1200" i="1" dirty="0">
                <a:solidFill>
                  <a:schemeClr val="accent2"/>
                </a:solidFill>
              </a:rPr>
              <a:t>"Add a Google-style docstring and inline comments explaining the non-obvious logic."</a:t>
            </a:r>
          </a:p>
        </p:txBody>
      </p:sp>
    </p:spTree>
    <p:extLst>
      <p:ext uri="{BB962C8B-B14F-4D97-AF65-F5344CB8AC3E}">
        <p14:creationId xmlns:p14="http://schemas.microsoft.com/office/powerpoint/2010/main" val="2119606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5F30AD2D-E615-F922-3BEE-55F9722E4ED3}"/>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AC4BCFFE-609A-A40D-3344-5CBA3B3A885A}"/>
              </a:ext>
            </a:extLst>
          </p:cNvPr>
          <p:cNvSpPr txBox="1">
            <a:spLocks/>
          </p:cNvSpPr>
          <p:nvPr/>
        </p:nvSpPr>
        <p:spPr>
          <a:xfrm>
            <a:off x="494748"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Prompting for Understanding, Not Just Output</a:t>
            </a:r>
          </a:p>
        </p:txBody>
      </p:sp>
      <p:sp>
        <p:nvSpPr>
          <p:cNvPr id="6" name="Shape 11">
            <a:extLst>
              <a:ext uri="{FF2B5EF4-FFF2-40B4-BE49-F238E27FC236}">
                <a16:creationId xmlns:a16="http://schemas.microsoft.com/office/drawing/2014/main" id="{3B67811B-E123-EFD6-1C1B-1073F2B2683B}"/>
              </a:ext>
            </a:extLst>
          </p:cNvPr>
          <p:cNvSpPr/>
          <p:nvPr/>
        </p:nvSpPr>
        <p:spPr>
          <a:xfrm>
            <a:off x="617698" y="1811066"/>
            <a:ext cx="10970837" cy="1318249"/>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11">
            <a:extLst>
              <a:ext uri="{FF2B5EF4-FFF2-40B4-BE49-F238E27FC236}">
                <a16:creationId xmlns:a16="http://schemas.microsoft.com/office/drawing/2014/main" id="{6F3380AE-AD72-2A65-EF45-F4D7E1BE8C22}"/>
              </a:ext>
            </a:extLst>
          </p:cNvPr>
          <p:cNvSpPr/>
          <p:nvPr/>
        </p:nvSpPr>
        <p:spPr>
          <a:xfrm>
            <a:off x="617698" y="3429000"/>
            <a:ext cx="10970837" cy="1318249"/>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BC1781B1-64B6-F763-76C3-56CD00646A65}"/>
              </a:ext>
            </a:extLst>
          </p:cNvPr>
          <p:cNvSpPr txBox="1"/>
          <p:nvPr/>
        </p:nvSpPr>
        <p:spPr bwMode="auto">
          <a:xfrm>
            <a:off x="605364" y="1156354"/>
            <a:ext cx="10307052" cy="338554"/>
          </a:xfrm>
          <a:prstGeom prst="rect">
            <a:avLst/>
          </a:prstGeom>
        </p:spPr>
        <p:txBody>
          <a:bodyPr wrap="none" rtlCol="0">
            <a:spAutoFit/>
          </a:bodyPr>
          <a:lstStyle/>
          <a:p>
            <a:r>
              <a:rPr lang="en-IN" sz="1600" dirty="0"/>
              <a:t>The most important habit for anyone who needs to review, sign off on, or stand behind AI-generated code.</a:t>
            </a:r>
            <a:endParaRPr lang="en-US" sz="1600" dirty="0"/>
          </a:p>
        </p:txBody>
      </p:sp>
      <p:sp>
        <p:nvSpPr>
          <p:cNvPr id="3" name="TextBox 2">
            <a:extLst>
              <a:ext uri="{FF2B5EF4-FFF2-40B4-BE49-F238E27FC236}">
                <a16:creationId xmlns:a16="http://schemas.microsoft.com/office/drawing/2014/main" id="{BF4A0B59-4491-F385-E86F-DE3DB4EA0043}"/>
              </a:ext>
            </a:extLst>
          </p:cNvPr>
          <p:cNvSpPr txBox="1"/>
          <p:nvPr/>
        </p:nvSpPr>
        <p:spPr bwMode="auto">
          <a:xfrm>
            <a:off x="839354" y="2085470"/>
            <a:ext cx="10734947" cy="769441"/>
          </a:xfrm>
          <a:prstGeom prst="rect">
            <a:avLst/>
          </a:prstGeom>
          <a:noFill/>
          <a:ln>
            <a:noFill/>
          </a:ln>
        </p:spPr>
        <p:txBody>
          <a:bodyPr wrap="square" rtlCol="0">
            <a:spAutoFit/>
          </a:bodyPr>
          <a:lstStyle/>
          <a:p>
            <a:r>
              <a:rPr lang="en-IN" sz="1600" b="1" dirty="0">
                <a:solidFill>
                  <a:schemeClr val="accent1"/>
                </a:solidFill>
              </a:rPr>
              <a:t>The Prompt:</a:t>
            </a:r>
          </a:p>
          <a:p>
            <a:br>
              <a:rPr lang="en-IN" sz="1400" dirty="0"/>
            </a:br>
            <a:r>
              <a:rPr lang="en-IN" sz="1400" dirty="0"/>
              <a:t>"Explain what this does, line by line.”</a:t>
            </a:r>
          </a:p>
        </p:txBody>
      </p:sp>
      <p:sp>
        <p:nvSpPr>
          <p:cNvPr id="4" name="TextBox 3">
            <a:extLst>
              <a:ext uri="{FF2B5EF4-FFF2-40B4-BE49-F238E27FC236}">
                <a16:creationId xmlns:a16="http://schemas.microsoft.com/office/drawing/2014/main" id="{3584A12A-99F9-71EF-BFEB-0512466FFF87}"/>
              </a:ext>
            </a:extLst>
          </p:cNvPr>
          <p:cNvSpPr txBox="1"/>
          <p:nvPr/>
        </p:nvSpPr>
        <p:spPr bwMode="auto">
          <a:xfrm>
            <a:off x="839356" y="3487960"/>
            <a:ext cx="10734946" cy="1200329"/>
          </a:xfrm>
          <a:prstGeom prst="rect">
            <a:avLst/>
          </a:prstGeom>
          <a:noFill/>
          <a:ln>
            <a:noFill/>
          </a:ln>
        </p:spPr>
        <p:txBody>
          <a:bodyPr wrap="square" rtlCol="0">
            <a:spAutoFit/>
          </a:bodyPr>
          <a:lstStyle/>
          <a:p>
            <a:r>
              <a:rPr lang="en-IN" sz="1600" b="1" dirty="0">
                <a:solidFill>
                  <a:schemeClr val="accent1"/>
                </a:solidFill>
              </a:rPr>
              <a:t>Why It Matters:</a:t>
            </a:r>
          </a:p>
          <a:p>
            <a:br>
              <a:rPr lang="en-IN" sz="1400" dirty="0"/>
            </a:br>
            <a:r>
              <a:rPr lang="en-IN" sz="1400" dirty="0"/>
              <a:t>You cannot review what you do not understand. If you accept a diff you cannot explain, you own the consequences when it breaks.</a:t>
            </a:r>
          </a:p>
          <a:p>
            <a:endParaRPr lang="en-IN" sz="1400" dirty="0"/>
          </a:p>
        </p:txBody>
      </p:sp>
    </p:spTree>
    <p:extLst>
      <p:ext uri="{BB962C8B-B14F-4D97-AF65-F5344CB8AC3E}">
        <p14:creationId xmlns:p14="http://schemas.microsoft.com/office/powerpoint/2010/main" val="3631746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FBC61A1A-39C8-B0B1-B6A7-378C38430335}"/>
            </a:ext>
          </a:extLst>
        </p:cNvPr>
        <p:cNvGrpSpPr/>
        <p:nvPr/>
      </p:nvGrpSpPr>
      <p:grpSpPr>
        <a:xfrm>
          <a:off x="0" y="0"/>
          <a:ext cx="0" cy="0"/>
          <a:chOff x="0" y="0"/>
          <a:chExt cx="0" cy="0"/>
        </a:xfrm>
      </p:grpSpPr>
      <p:sp>
        <p:nvSpPr>
          <p:cNvPr id="8" name="Shape 11">
            <a:extLst>
              <a:ext uri="{FF2B5EF4-FFF2-40B4-BE49-F238E27FC236}">
                <a16:creationId xmlns:a16="http://schemas.microsoft.com/office/drawing/2014/main" id="{249A9D7A-0DEB-3D6C-5013-D86244306DC3}"/>
              </a:ext>
            </a:extLst>
          </p:cNvPr>
          <p:cNvSpPr/>
          <p:nvPr/>
        </p:nvSpPr>
        <p:spPr>
          <a:xfrm>
            <a:off x="605363" y="1777738"/>
            <a:ext cx="3373909" cy="2988226"/>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a:extLst>
              <a:ext uri="{FF2B5EF4-FFF2-40B4-BE49-F238E27FC236}">
                <a16:creationId xmlns:a16="http://schemas.microsoft.com/office/drawing/2014/main" id="{75625763-810C-5F6A-5050-65CF9C921ADE}"/>
              </a:ext>
            </a:extLst>
          </p:cNvPr>
          <p:cNvSpPr txBox="1">
            <a:spLocks/>
          </p:cNvSpPr>
          <p:nvPr/>
        </p:nvSpPr>
        <p:spPr>
          <a:xfrm>
            <a:off x="494530" y="249182"/>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Prompting for Understanding, Not Just Output</a:t>
            </a:r>
          </a:p>
        </p:txBody>
      </p:sp>
      <p:sp>
        <p:nvSpPr>
          <p:cNvPr id="9" name="Shape 11">
            <a:extLst>
              <a:ext uri="{FF2B5EF4-FFF2-40B4-BE49-F238E27FC236}">
                <a16:creationId xmlns:a16="http://schemas.microsoft.com/office/drawing/2014/main" id="{6C582899-A12A-39D4-F972-D3A134D93B04}"/>
              </a:ext>
            </a:extLst>
          </p:cNvPr>
          <p:cNvSpPr/>
          <p:nvPr/>
        </p:nvSpPr>
        <p:spPr>
          <a:xfrm>
            <a:off x="4412856" y="1777738"/>
            <a:ext cx="3373909" cy="2988226"/>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11">
            <a:extLst>
              <a:ext uri="{FF2B5EF4-FFF2-40B4-BE49-F238E27FC236}">
                <a16:creationId xmlns:a16="http://schemas.microsoft.com/office/drawing/2014/main" id="{AE80FCD5-809F-A2E0-7F38-4356ACC16C87}"/>
              </a:ext>
            </a:extLst>
          </p:cNvPr>
          <p:cNvSpPr/>
          <p:nvPr/>
        </p:nvSpPr>
        <p:spPr>
          <a:xfrm>
            <a:off x="8212728" y="1777738"/>
            <a:ext cx="3373909" cy="2988226"/>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D607D6F4-59FE-9917-AAE4-EEA3C005EC7F}"/>
              </a:ext>
            </a:extLst>
          </p:cNvPr>
          <p:cNvSpPr txBox="1"/>
          <p:nvPr/>
        </p:nvSpPr>
        <p:spPr bwMode="auto">
          <a:xfrm>
            <a:off x="605364" y="1135702"/>
            <a:ext cx="10734947" cy="338554"/>
          </a:xfrm>
          <a:prstGeom prst="rect">
            <a:avLst/>
          </a:prstGeom>
        </p:spPr>
        <p:txBody>
          <a:bodyPr wrap="square" lIns="91440" tIns="45720" rIns="91440" bIns="45720" rtlCol="0" anchor="t">
            <a:spAutoFit/>
          </a:bodyPr>
          <a:lstStyle/>
          <a:p>
            <a:r>
              <a:rPr lang="en-IN" sz="1600" dirty="0"/>
              <a:t>Three Levels of Understanding Prompts</a:t>
            </a:r>
            <a:endParaRPr lang="en-IN" sz="1600" b="1" dirty="0"/>
          </a:p>
        </p:txBody>
      </p:sp>
      <p:sp>
        <p:nvSpPr>
          <p:cNvPr id="14" name="Shape 19">
            <a:extLst>
              <a:ext uri="{FF2B5EF4-FFF2-40B4-BE49-F238E27FC236}">
                <a16:creationId xmlns:a16="http://schemas.microsoft.com/office/drawing/2014/main" id="{3B0E64C6-7853-78ED-27D8-3F3CABC0E448}"/>
              </a:ext>
            </a:extLst>
          </p:cNvPr>
          <p:cNvSpPr/>
          <p:nvPr/>
        </p:nvSpPr>
        <p:spPr>
          <a:xfrm>
            <a:off x="605362" y="5359776"/>
            <a:ext cx="10981273" cy="64633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4" name="TextBox 3">
            <a:extLst>
              <a:ext uri="{FF2B5EF4-FFF2-40B4-BE49-F238E27FC236}">
                <a16:creationId xmlns:a16="http://schemas.microsoft.com/office/drawing/2014/main" id="{0945907D-A19A-2CF8-7639-9FAF83712D70}"/>
              </a:ext>
            </a:extLst>
          </p:cNvPr>
          <p:cNvSpPr txBox="1"/>
          <p:nvPr/>
        </p:nvSpPr>
        <p:spPr bwMode="auto">
          <a:xfrm>
            <a:off x="952738" y="5421331"/>
            <a:ext cx="10286520" cy="523220"/>
          </a:xfrm>
          <a:prstGeom prst="rect">
            <a:avLst/>
          </a:prstGeom>
        </p:spPr>
        <p:txBody>
          <a:bodyPr wrap="square" rtlCol="0">
            <a:spAutoFit/>
          </a:bodyPr>
          <a:lstStyle/>
          <a:p>
            <a:r>
              <a:rPr lang="en-IN" sz="1400" b="1" i="1" dirty="0"/>
              <a:t>THE RULE: </a:t>
            </a:r>
            <a:r>
              <a:rPr lang="en-IN" sz="1400" i="1" dirty="0"/>
              <a:t>If you cannot explain what Claude wrote, you are not ready to commit it. Understanding prompts are not a slowdown — they are how you stay accountable for what you ship.</a:t>
            </a:r>
            <a:endParaRPr lang="en-IN" sz="1400" dirty="0"/>
          </a:p>
        </p:txBody>
      </p:sp>
      <p:sp>
        <p:nvSpPr>
          <p:cNvPr id="2" name="Rounded Rectangle 1">
            <a:extLst>
              <a:ext uri="{FF2B5EF4-FFF2-40B4-BE49-F238E27FC236}">
                <a16:creationId xmlns:a16="http://schemas.microsoft.com/office/drawing/2014/main" id="{ABB4EF63-3D80-BFF1-D66E-A228276FB1C7}"/>
              </a:ext>
            </a:extLst>
          </p:cNvPr>
          <p:cNvSpPr/>
          <p:nvPr/>
        </p:nvSpPr>
        <p:spPr>
          <a:xfrm>
            <a:off x="605363" y="2667321"/>
            <a:ext cx="3373909" cy="19549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LINE BY LINE</a:t>
            </a:r>
          </a:p>
          <a:p>
            <a:pPr algn="ctr"/>
            <a:r>
              <a:rPr lang="en-IN" sz="1600" b="1" dirty="0">
                <a:solidFill>
                  <a:schemeClr val="tx1"/>
                </a:solidFill>
              </a:rPr>
              <a:t>For unfamiliar code</a:t>
            </a:r>
          </a:p>
          <a:p>
            <a:pPr algn="ctr"/>
            <a:br>
              <a:rPr lang="en-IN" sz="1600" dirty="0">
                <a:solidFill>
                  <a:schemeClr val="tx1"/>
                </a:solidFill>
              </a:rPr>
            </a:br>
            <a:r>
              <a:rPr lang="en-IN" sz="1600" i="1" dirty="0">
                <a:solidFill>
                  <a:schemeClr val="accent2"/>
                </a:solidFill>
              </a:rPr>
              <a:t>"</a:t>
            </a:r>
            <a:r>
              <a:rPr lang="en-IN" sz="1400" i="1" dirty="0">
                <a:solidFill>
                  <a:schemeClr val="accent2"/>
                </a:solidFill>
              </a:rPr>
              <a:t>Explain this function line by line. Assume I understand the basics but not this specific library.”</a:t>
            </a:r>
          </a:p>
        </p:txBody>
      </p:sp>
      <p:sp>
        <p:nvSpPr>
          <p:cNvPr id="6" name="Rounded Rectangle 5">
            <a:extLst>
              <a:ext uri="{FF2B5EF4-FFF2-40B4-BE49-F238E27FC236}">
                <a16:creationId xmlns:a16="http://schemas.microsoft.com/office/drawing/2014/main" id="{181DADD2-12A2-4224-DE7D-BC16BFEBA808}"/>
              </a:ext>
            </a:extLst>
          </p:cNvPr>
          <p:cNvSpPr/>
          <p:nvPr/>
        </p:nvSpPr>
        <p:spPr>
          <a:xfrm>
            <a:off x="4412856" y="2667321"/>
            <a:ext cx="3373909" cy="19549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DECISION RATIONALE</a:t>
            </a:r>
          </a:p>
          <a:p>
            <a:pPr algn="ctr"/>
            <a:r>
              <a:rPr lang="en-IN" sz="1600" b="1" dirty="0">
                <a:solidFill>
                  <a:schemeClr val="tx1"/>
                </a:solidFill>
              </a:rPr>
              <a:t>For architecture choices</a:t>
            </a:r>
          </a:p>
          <a:p>
            <a:pPr algn="ctr"/>
            <a:br>
              <a:rPr lang="en-IN" sz="1600" dirty="0">
                <a:solidFill>
                  <a:schemeClr val="tx1"/>
                </a:solidFill>
              </a:rPr>
            </a:br>
            <a:r>
              <a:rPr lang="en-IN" sz="1400" i="1" dirty="0">
                <a:solidFill>
                  <a:schemeClr val="accent2"/>
                </a:solidFill>
              </a:rPr>
              <a:t>"Why did you structure it this way? What would break if I changed the approach?”</a:t>
            </a:r>
          </a:p>
        </p:txBody>
      </p:sp>
      <p:sp>
        <p:nvSpPr>
          <p:cNvPr id="7" name="Rounded Rectangle 6">
            <a:extLst>
              <a:ext uri="{FF2B5EF4-FFF2-40B4-BE49-F238E27FC236}">
                <a16:creationId xmlns:a16="http://schemas.microsoft.com/office/drawing/2014/main" id="{C86EDBF5-891B-4975-1445-6A2FDAC94C68}"/>
              </a:ext>
            </a:extLst>
          </p:cNvPr>
          <p:cNvSpPr/>
          <p:nvPr/>
        </p:nvSpPr>
        <p:spPr>
          <a:xfrm>
            <a:off x="8212728" y="2667321"/>
            <a:ext cx="3373909" cy="19549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RISK IDENTIFICATION</a:t>
            </a:r>
          </a:p>
          <a:p>
            <a:pPr algn="ctr"/>
            <a:r>
              <a:rPr lang="en-IN" sz="1600" b="1" dirty="0">
                <a:solidFill>
                  <a:schemeClr val="tx1"/>
                </a:solidFill>
              </a:rPr>
              <a:t>Before you commit</a:t>
            </a:r>
          </a:p>
          <a:p>
            <a:pPr algn="ctr"/>
            <a:br>
              <a:rPr lang="en-IN" sz="1600" dirty="0">
                <a:solidFill>
                  <a:schemeClr val="tx1"/>
                </a:solidFill>
              </a:rPr>
            </a:br>
            <a:r>
              <a:rPr lang="en-IN" sz="1400" i="1" dirty="0">
                <a:solidFill>
                  <a:schemeClr val="accent2"/>
                </a:solidFill>
              </a:rPr>
              <a:t>"What are the three most likely ways this could break in production?”</a:t>
            </a:r>
          </a:p>
        </p:txBody>
      </p:sp>
      <p:sp>
        <p:nvSpPr>
          <p:cNvPr id="11" name="Oval 10">
            <a:extLst>
              <a:ext uri="{FF2B5EF4-FFF2-40B4-BE49-F238E27FC236}">
                <a16:creationId xmlns:a16="http://schemas.microsoft.com/office/drawing/2014/main" id="{8CFE0EE3-043E-9DC6-2B1C-0192620AF6E7}"/>
              </a:ext>
            </a:extLst>
          </p:cNvPr>
          <p:cNvSpPr/>
          <p:nvPr/>
        </p:nvSpPr>
        <p:spPr>
          <a:xfrm>
            <a:off x="2022317" y="1983603"/>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1</a:t>
            </a:r>
          </a:p>
        </p:txBody>
      </p:sp>
      <p:sp>
        <p:nvSpPr>
          <p:cNvPr id="12" name="Oval 11">
            <a:extLst>
              <a:ext uri="{FF2B5EF4-FFF2-40B4-BE49-F238E27FC236}">
                <a16:creationId xmlns:a16="http://schemas.microsoft.com/office/drawing/2014/main" id="{E97AE5E3-1A8E-C122-FE38-B18168C219C2}"/>
              </a:ext>
            </a:extLst>
          </p:cNvPr>
          <p:cNvSpPr/>
          <p:nvPr/>
        </p:nvSpPr>
        <p:spPr>
          <a:xfrm>
            <a:off x="5829810" y="1983603"/>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2</a:t>
            </a:r>
          </a:p>
        </p:txBody>
      </p:sp>
      <p:sp>
        <p:nvSpPr>
          <p:cNvPr id="13" name="Oval 12">
            <a:extLst>
              <a:ext uri="{FF2B5EF4-FFF2-40B4-BE49-F238E27FC236}">
                <a16:creationId xmlns:a16="http://schemas.microsoft.com/office/drawing/2014/main" id="{A227F59E-96F5-2438-B025-E45688FCEEA7}"/>
              </a:ext>
            </a:extLst>
          </p:cNvPr>
          <p:cNvSpPr/>
          <p:nvPr/>
        </p:nvSpPr>
        <p:spPr>
          <a:xfrm>
            <a:off x="9629682" y="1983603"/>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3</a:t>
            </a:r>
          </a:p>
        </p:txBody>
      </p:sp>
    </p:spTree>
    <p:extLst>
      <p:ext uri="{BB962C8B-B14F-4D97-AF65-F5344CB8AC3E}">
        <p14:creationId xmlns:p14="http://schemas.microsoft.com/office/powerpoint/2010/main" val="6350420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4">
            <a:extLst>
              <a:ext uri="{FF2B5EF4-FFF2-40B4-BE49-F238E27FC236}">
                <a16:creationId xmlns:a16="http://schemas.microsoft.com/office/drawing/2014/main" id="{47DAEB55-E58D-9597-6EF2-1D81DD8C4473}"/>
              </a:ext>
            </a:extLst>
          </p:cNvPr>
          <p:cNvSpPr/>
          <p:nvPr/>
        </p:nvSpPr>
        <p:spPr>
          <a:xfrm>
            <a:off x="549434" y="1737360"/>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457200" y="269067"/>
            <a:ext cx="10972800" cy="640080"/>
          </a:xfrm>
          <a:prstGeom prst="rect">
            <a:avLst/>
          </a:prstGeom>
          <a:noFill/>
          <a:ln/>
        </p:spPr>
        <p:txBody>
          <a:bodyPr wrap="square" lIns="0" tIns="0" rIns="0" bIns="0" rtlCol="0" anchor="ctr"/>
          <a:lstStyle/>
          <a:p>
            <a:pPr marL="0" indent="0">
              <a:buNone/>
            </a:pPr>
            <a:r>
              <a:rPr lang="en-US" sz="3400" b="1" dirty="0">
                <a:latin typeface="Open Sans" panose="020B0606030504020204" pitchFamily="34" charset="0"/>
                <a:ea typeface="Open Sans" panose="020B0606030504020204" pitchFamily="34" charset="0"/>
                <a:cs typeface="Open Sans" panose="020B0606030504020204" pitchFamily="34" charset="0"/>
              </a:rPr>
              <a:t>Five Prompting Techniques to Master</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457200" y="1318029"/>
            <a:ext cx="10972800" cy="365760"/>
          </a:xfrm>
          <a:prstGeom prst="rect">
            <a:avLst/>
          </a:prstGeom>
          <a:noFill/>
          <a:ln/>
        </p:spPr>
        <p:txBody>
          <a:bodyPr wrap="square" lIns="0" tIns="0" rIns="0" bIns="0" rtlCol="0" anchor="ctr"/>
          <a:lstStyle/>
          <a:p>
            <a:pPr marL="0" indent="0">
              <a:buNone/>
            </a:pPr>
            <a:r>
              <a:rPr lang="en-US" sz="1600" dirty="0">
                <a:latin typeface="Open Sans" panose="020B0606030504020204" pitchFamily="34" charset="0"/>
                <a:ea typeface="Open Sans" panose="020B0606030504020204" pitchFamily="34" charset="0"/>
                <a:cs typeface="Open Sans" panose="020B0606030504020204" pitchFamily="34" charset="0"/>
              </a:rPr>
              <a:t>Master these and the choice of platform becomes secondary.</a:t>
            </a:r>
          </a:p>
        </p:txBody>
      </p:sp>
      <p:sp>
        <p:nvSpPr>
          <p:cNvPr id="7" name="Shape 5"/>
          <p:cNvSpPr/>
          <p:nvPr/>
        </p:nvSpPr>
        <p:spPr>
          <a:xfrm>
            <a:off x="640080" y="1844375"/>
            <a:ext cx="502920" cy="502920"/>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9" name="Shape 4">
            <a:extLst>
              <a:ext uri="{FF2B5EF4-FFF2-40B4-BE49-F238E27FC236}">
                <a16:creationId xmlns:a16="http://schemas.microsoft.com/office/drawing/2014/main" id="{A4760DC7-0766-22D1-6D99-ADE3C9FDAFC4}"/>
              </a:ext>
            </a:extLst>
          </p:cNvPr>
          <p:cNvSpPr/>
          <p:nvPr/>
        </p:nvSpPr>
        <p:spPr>
          <a:xfrm>
            <a:off x="549434" y="2568633"/>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p:cNvSpPr/>
          <p:nvPr/>
        </p:nvSpPr>
        <p:spPr>
          <a:xfrm>
            <a:off x="1371600" y="1816943"/>
            <a:ext cx="2468880" cy="274320"/>
          </a:xfrm>
          <a:prstGeom prst="rect">
            <a:avLst/>
          </a:prstGeom>
          <a:noFill/>
          <a:ln/>
        </p:spPr>
        <p:txBody>
          <a:bodyPr wrap="square" lIns="0" tIns="0" rIns="0" bIns="0" rtlCol="0" anchor="ctr"/>
          <a:lstStyle/>
          <a:p>
            <a:pPr marL="0" indent="0">
              <a:buNone/>
            </a:pPr>
            <a:r>
              <a:rPr lang="en-US" sz="1600" b="1" dirty="0">
                <a:latin typeface="Open Sans" panose="020B0606030504020204" pitchFamily="34" charset="0"/>
                <a:ea typeface="Open Sans" panose="020B0606030504020204" pitchFamily="34" charset="0"/>
                <a:cs typeface="Open Sans" panose="020B0606030504020204" pitchFamily="34" charset="0"/>
              </a:rPr>
              <a:t>One-shot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0" name="Shape 4">
            <a:extLst>
              <a:ext uri="{FF2B5EF4-FFF2-40B4-BE49-F238E27FC236}">
                <a16:creationId xmlns:a16="http://schemas.microsoft.com/office/drawing/2014/main" id="{D7FAD83C-E275-9467-DDEB-9D8E593212EE}"/>
              </a:ext>
            </a:extLst>
          </p:cNvPr>
          <p:cNvSpPr/>
          <p:nvPr/>
        </p:nvSpPr>
        <p:spPr>
          <a:xfrm>
            <a:off x="549434" y="3409142"/>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7"/>
          <p:cNvSpPr/>
          <p:nvPr/>
        </p:nvSpPr>
        <p:spPr>
          <a:xfrm>
            <a:off x="1371600" y="2109551"/>
            <a:ext cx="2468880" cy="228600"/>
          </a:xfrm>
          <a:prstGeom prst="rect">
            <a:avLst/>
          </a:prstGeom>
          <a:noFill/>
          <a:ln/>
        </p:spPr>
        <p:txBody>
          <a:bodyPr wrap="square" lIns="0" tIns="0" rIns="0" bIns="0" rtlCol="0" anchor="ctr"/>
          <a:lstStyle/>
          <a:p>
            <a:pPr marL="0" indent="0">
              <a:buNone/>
            </a:pPr>
            <a:r>
              <a:rPr lang="en-US" sz="1000" b="1" kern="0" spc="100" dirty="0">
                <a:solidFill>
                  <a:schemeClr val="tx2"/>
                </a:solidFill>
                <a:latin typeface="Open Sans" panose="020B0606030504020204" pitchFamily="34" charset="0"/>
                <a:ea typeface="Open Sans" panose="020B0606030504020204" pitchFamily="34" charset="0"/>
                <a:cs typeface="Open Sans" panose="020B0606030504020204" pitchFamily="34" charset="0"/>
              </a:rPr>
              <a:t>WHEN: Simple, bounded task</a:t>
            </a:r>
            <a:endParaRPr lang="en-US" sz="1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8"/>
          <p:cNvSpPr/>
          <p:nvPr/>
        </p:nvSpPr>
        <p:spPr>
          <a:xfrm>
            <a:off x="4114800" y="1844375"/>
            <a:ext cx="7589520" cy="566928"/>
          </a:xfrm>
          <a:prstGeom prst="rect">
            <a:avLst/>
          </a:prstGeom>
          <a:noFill/>
          <a:ln/>
        </p:spPr>
        <p:txBody>
          <a:bodyPr wrap="square" lIns="0" tIns="0" rIns="0" bIns="0" rtlCol="0" anchor="ctr"/>
          <a:lstStyle/>
          <a:p>
            <a:pPr marL="0" indent="0">
              <a:buNone/>
            </a:pPr>
            <a:r>
              <a:rPr lang="en-US" sz="1300" dirty="0">
                <a:solidFill>
                  <a:schemeClr val="tx2"/>
                </a:solidFill>
                <a:latin typeface="Open Sans" panose="020B0606030504020204" pitchFamily="34" charset="0"/>
                <a:ea typeface="Open Sans" panose="020B0606030504020204" pitchFamily="34" charset="0"/>
                <a:cs typeface="Open Sans" panose="020B0606030504020204" pitchFamily="34" charset="0"/>
              </a:rPr>
              <a:t>Single focused prompt with full context. Adding a function, a component, a fixed transformation.</a:t>
            </a:r>
          </a:p>
        </p:txBody>
      </p:sp>
      <p:sp>
        <p:nvSpPr>
          <p:cNvPr id="41" name="Shape 4">
            <a:extLst>
              <a:ext uri="{FF2B5EF4-FFF2-40B4-BE49-F238E27FC236}">
                <a16:creationId xmlns:a16="http://schemas.microsoft.com/office/drawing/2014/main" id="{23889B9A-658E-F391-3AC0-AC0A818739D6}"/>
              </a:ext>
            </a:extLst>
          </p:cNvPr>
          <p:cNvSpPr/>
          <p:nvPr/>
        </p:nvSpPr>
        <p:spPr>
          <a:xfrm>
            <a:off x="549434" y="4238586"/>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9"/>
          <p:cNvSpPr/>
          <p:nvPr/>
        </p:nvSpPr>
        <p:spPr>
          <a:xfrm>
            <a:off x="640080" y="2706204"/>
            <a:ext cx="502920" cy="502920"/>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pic>
        <p:nvPicPr>
          <p:cNvPr id="44" name="Graphic 43">
            <a:extLst>
              <a:ext uri="{FF2B5EF4-FFF2-40B4-BE49-F238E27FC236}">
                <a16:creationId xmlns:a16="http://schemas.microsoft.com/office/drawing/2014/main" id="{F94DF146-3F6D-6A61-8EE4-6ADE6CE923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602171">
            <a:off x="706813" y="1911108"/>
            <a:ext cx="369455" cy="369455"/>
          </a:xfrm>
          <a:prstGeom prst="rect">
            <a:avLst/>
          </a:prstGeom>
        </p:spPr>
      </p:pic>
      <p:sp>
        <p:nvSpPr>
          <p:cNvPr id="42" name="Shape 4">
            <a:extLst>
              <a:ext uri="{FF2B5EF4-FFF2-40B4-BE49-F238E27FC236}">
                <a16:creationId xmlns:a16="http://schemas.microsoft.com/office/drawing/2014/main" id="{A316DDA2-C177-00BB-D208-D94A02D2346D}"/>
              </a:ext>
            </a:extLst>
          </p:cNvPr>
          <p:cNvSpPr/>
          <p:nvPr/>
        </p:nvSpPr>
        <p:spPr>
          <a:xfrm>
            <a:off x="549434" y="5084803"/>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1371600" y="2678772"/>
            <a:ext cx="2468880" cy="274320"/>
          </a:xfrm>
          <a:prstGeom prst="rect">
            <a:avLst/>
          </a:prstGeom>
          <a:noFill/>
          <a:ln/>
        </p:spPr>
        <p:txBody>
          <a:bodyPr wrap="square" lIns="0" tIns="0" rIns="0" bIns="0" rtlCol="0" anchor="ctr"/>
          <a:lstStyle/>
          <a:p>
            <a:pPr marL="0" indent="0">
              <a:buNone/>
            </a:pPr>
            <a:r>
              <a:rPr lang="en-US" sz="1600" b="1" dirty="0">
                <a:latin typeface="Open Sans" panose="020B0606030504020204" pitchFamily="34" charset="0"/>
                <a:ea typeface="Open Sans" panose="020B0606030504020204" pitchFamily="34" charset="0"/>
                <a:cs typeface="Open Sans" panose="020B0606030504020204" pitchFamily="34" charset="0"/>
              </a:rPr>
              <a:t>Multi-shot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1371600" y="2971380"/>
            <a:ext cx="2468880" cy="305654"/>
          </a:xfrm>
          <a:prstGeom prst="rect">
            <a:avLst/>
          </a:prstGeom>
          <a:noFill/>
          <a:ln/>
        </p:spPr>
        <p:txBody>
          <a:bodyPr wrap="square" lIns="0" tIns="0" rIns="0" bIns="0" rtlCol="0" anchor="ctr"/>
          <a:lstStyle/>
          <a:p>
            <a:pPr marL="0" indent="0">
              <a:buNone/>
            </a:pPr>
            <a:r>
              <a:rPr lang="en-US" sz="1000" b="1" kern="0" spc="100" dirty="0">
                <a:solidFill>
                  <a:schemeClr val="tx2"/>
                </a:solidFill>
                <a:latin typeface="Open Sans" panose="020B0606030504020204" pitchFamily="34" charset="0"/>
                <a:ea typeface="Open Sans" panose="020B0606030504020204" pitchFamily="34" charset="0"/>
                <a:cs typeface="Open Sans" panose="020B0606030504020204" pitchFamily="34" charset="0"/>
              </a:rPr>
              <a:t>WHEN: Style or architecture matters</a:t>
            </a:r>
            <a:endParaRPr lang="en-US" sz="1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2"/>
          <p:cNvSpPr/>
          <p:nvPr/>
        </p:nvSpPr>
        <p:spPr>
          <a:xfrm>
            <a:off x="4114800" y="2706204"/>
            <a:ext cx="7589520" cy="566928"/>
          </a:xfrm>
          <a:prstGeom prst="rect">
            <a:avLst/>
          </a:prstGeom>
          <a:noFill/>
          <a:ln/>
        </p:spPr>
        <p:txBody>
          <a:bodyPr wrap="square" lIns="0" tIns="0" rIns="0" bIns="0" rtlCol="0" anchor="ctr"/>
          <a:lstStyle/>
          <a:p>
            <a:pPr marL="0" indent="0">
              <a:buNone/>
            </a:pPr>
            <a:r>
              <a:rPr lang="en-US" sz="1300" dirty="0">
                <a:solidFill>
                  <a:schemeClr val="tx2"/>
                </a:solidFill>
                <a:latin typeface="Open Sans" panose="020B0606030504020204" pitchFamily="34" charset="0"/>
                <a:ea typeface="Open Sans" panose="020B0606030504020204" pitchFamily="34" charset="0"/>
                <a:cs typeface="Open Sans" panose="020B0606030504020204" pitchFamily="34" charset="0"/>
              </a:rPr>
              <a:t>Provide multiple worked examples that demonstrate the desired pattern. The AI imitates them.</a:t>
            </a:r>
          </a:p>
        </p:txBody>
      </p:sp>
      <p:sp>
        <p:nvSpPr>
          <p:cNvPr id="36" name="Text 29"/>
          <p:cNvSpPr/>
          <p:nvPr/>
        </p:nvSpPr>
        <p:spPr>
          <a:xfrm>
            <a:off x="11094415" y="6446520"/>
            <a:ext cx="822960" cy="274320"/>
          </a:xfrm>
          <a:prstGeom prst="rect">
            <a:avLst/>
          </a:prstGeom>
          <a:noFill/>
          <a:ln/>
        </p:spPr>
        <p:txBody>
          <a:bodyPr wrap="square" lIns="0" tIns="0" rIns="0" bIns="0" rtlCol="0" anchor="ctr"/>
          <a:lstStyle/>
          <a:p>
            <a:pPr marL="0" indent="0" algn="r">
              <a:buNone/>
            </a:pPr>
            <a:r>
              <a:rPr lang="en-US" sz="1000">
                <a:solidFill>
                  <a:srgbClr val="475569"/>
                </a:solidFill>
                <a:latin typeface="Calibri" pitchFamily="34" charset="0"/>
                <a:ea typeface="Calibri" pitchFamily="34" charset="-122"/>
                <a:cs typeface="Calibri" pitchFamily="34" charset="-120"/>
              </a:rPr>
              <a:t>05 / 16</a:t>
            </a:r>
            <a:endParaRPr lang="en-US" sz="1000"/>
          </a:p>
        </p:txBody>
      </p:sp>
      <p:sp>
        <p:nvSpPr>
          <p:cNvPr id="18" name="Shape 14"/>
          <p:cNvSpPr/>
          <p:nvPr/>
        </p:nvSpPr>
        <p:spPr>
          <a:xfrm>
            <a:off x="640080" y="3520020"/>
            <a:ext cx="502920" cy="502920"/>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5"/>
          <p:cNvSpPr/>
          <p:nvPr/>
        </p:nvSpPr>
        <p:spPr>
          <a:xfrm>
            <a:off x="1371600" y="3492588"/>
            <a:ext cx="2468880" cy="274320"/>
          </a:xfrm>
          <a:prstGeom prst="rect">
            <a:avLst/>
          </a:prstGeom>
          <a:noFill/>
          <a:ln/>
        </p:spPr>
        <p:txBody>
          <a:bodyPr wrap="square" lIns="0" tIns="0" rIns="0" bIns="0" rtlCol="0" anchor="ctr"/>
          <a:lstStyle/>
          <a:p>
            <a:pPr marL="0" indent="0">
              <a:buNone/>
            </a:pPr>
            <a:r>
              <a:rPr lang="en-US" sz="1600" b="1" dirty="0">
                <a:latin typeface="Open Sans" panose="020B0606030504020204" pitchFamily="34" charset="0"/>
                <a:ea typeface="Open Sans" panose="020B0606030504020204" pitchFamily="34" charset="0"/>
                <a:cs typeface="Open Sans" panose="020B0606030504020204" pitchFamily="34" charset="0"/>
              </a:rPr>
              <a:t>Task Decomposition</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6"/>
          <p:cNvSpPr/>
          <p:nvPr/>
        </p:nvSpPr>
        <p:spPr>
          <a:xfrm>
            <a:off x="1371600" y="3785196"/>
            <a:ext cx="2468880" cy="228600"/>
          </a:xfrm>
          <a:prstGeom prst="rect">
            <a:avLst/>
          </a:prstGeom>
          <a:noFill/>
          <a:ln/>
        </p:spPr>
        <p:txBody>
          <a:bodyPr wrap="square" lIns="0" tIns="0" rIns="0" bIns="0" rtlCol="0" anchor="ctr"/>
          <a:lstStyle/>
          <a:p>
            <a:pPr marL="0" indent="0">
              <a:buNone/>
            </a:pPr>
            <a:r>
              <a:rPr lang="en-US" sz="1000" b="1" kern="0" spc="100">
                <a:solidFill>
                  <a:schemeClr val="tx2"/>
                </a:solidFill>
                <a:latin typeface="Open Sans" panose="020B0606030504020204" pitchFamily="34" charset="0"/>
                <a:ea typeface="Open Sans" panose="020B0606030504020204" pitchFamily="34" charset="0"/>
                <a:cs typeface="Open Sans" panose="020B0606030504020204" pitchFamily="34" charset="0"/>
              </a:rPr>
              <a:t>WHEN: Large multi-file features</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7" name="Graphic 46">
            <a:extLst>
              <a:ext uri="{FF2B5EF4-FFF2-40B4-BE49-F238E27FC236}">
                <a16:creationId xmlns:a16="http://schemas.microsoft.com/office/drawing/2014/main" id="{DEB51827-9F70-A484-29D3-9E827C2F56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7222" y="3627162"/>
            <a:ext cx="288636" cy="288636"/>
          </a:xfrm>
          <a:prstGeom prst="rect">
            <a:avLst/>
          </a:prstGeom>
        </p:spPr>
      </p:pic>
      <p:sp>
        <p:nvSpPr>
          <p:cNvPr id="22" name="Text 17"/>
          <p:cNvSpPr/>
          <p:nvPr/>
        </p:nvSpPr>
        <p:spPr>
          <a:xfrm>
            <a:off x="4114800" y="3520020"/>
            <a:ext cx="7589520" cy="566928"/>
          </a:xfrm>
          <a:prstGeom prst="rect">
            <a:avLst/>
          </a:prstGeom>
          <a:noFill/>
          <a:ln/>
        </p:spPr>
        <p:txBody>
          <a:bodyPr wrap="square" lIns="0" tIns="0" rIns="0" bIns="0" rtlCol="0" anchor="ctr"/>
          <a:lstStyle/>
          <a:p>
            <a:pPr marL="0" indent="0">
              <a:buNone/>
            </a:pPr>
            <a:r>
              <a:rPr lang="en-US" sz="1300">
                <a:solidFill>
                  <a:schemeClr val="tx2"/>
                </a:solidFill>
                <a:latin typeface="Open Sans" panose="020B0606030504020204" pitchFamily="34" charset="0"/>
                <a:ea typeface="Open Sans" panose="020B0606030504020204" pitchFamily="34" charset="0"/>
                <a:cs typeface="Open Sans" panose="020B0606030504020204" pitchFamily="34" charset="0"/>
              </a:rPr>
              <a:t>Break the feature into 3-5 smaller focused prompts. Each delivers a coherent slice with done criteria.</a:t>
            </a:r>
          </a:p>
        </p:txBody>
      </p:sp>
      <p:sp>
        <p:nvSpPr>
          <p:cNvPr id="23" name="Shape 18"/>
          <p:cNvSpPr/>
          <p:nvPr/>
        </p:nvSpPr>
        <p:spPr>
          <a:xfrm>
            <a:off x="640080" y="4358700"/>
            <a:ext cx="502920" cy="502920"/>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19"/>
          <p:cNvSpPr/>
          <p:nvPr/>
        </p:nvSpPr>
        <p:spPr>
          <a:xfrm>
            <a:off x="1371600" y="4331268"/>
            <a:ext cx="2468880" cy="274320"/>
          </a:xfrm>
          <a:prstGeom prst="rect">
            <a:avLst/>
          </a:prstGeom>
          <a:noFill/>
          <a:ln/>
        </p:spPr>
        <p:txBody>
          <a:bodyPr wrap="square" lIns="0" tIns="0" rIns="0" bIns="0" rtlCol="0" anchor="ctr"/>
          <a:lstStyle/>
          <a:p>
            <a:pPr marL="0" indent="0">
              <a:buNone/>
            </a:pPr>
            <a:r>
              <a:rPr lang="en-US" sz="1600" b="1">
                <a:latin typeface="Open Sans" panose="020B0606030504020204" pitchFamily="34" charset="0"/>
                <a:ea typeface="Open Sans" panose="020B0606030504020204" pitchFamily="34" charset="0"/>
                <a:cs typeface="Open Sans" panose="020B0606030504020204" pitchFamily="34" charset="0"/>
              </a:rPr>
              <a:t>Chain-of-Thought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0"/>
          <p:cNvSpPr/>
          <p:nvPr/>
        </p:nvSpPr>
        <p:spPr>
          <a:xfrm>
            <a:off x="1371600" y="4623876"/>
            <a:ext cx="2468880" cy="228600"/>
          </a:xfrm>
          <a:prstGeom prst="rect">
            <a:avLst/>
          </a:prstGeom>
          <a:noFill/>
          <a:ln/>
        </p:spPr>
        <p:txBody>
          <a:bodyPr wrap="square" lIns="0" tIns="0" rIns="0" bIns="0" rtlCol="0" anchor="ctr"/>
          <a:lstStyle/>
          <a:p>
            <a:pPr marL="0" indent="0">
              <a:buNone/>
            </a:pPr>
            <a:r>
              <a:rPr lang="en-US" sz="1000" b="1" kern="0" spc="100">
                <a:solidFill>
                  <a:schemeClr val="tx2"/>
                </a:solidFill>
                <a:latin typeface="Open Sans" panose="020B0606030504020204" pitchFamily="34" charset="0"/>
                <a:ea typeface="Open Sans" panose="020B0606030504020204" pitchFamily="34" charset="0"/>
                <a:cs typeface="Open Sans" panose="020B0606030504020204" pitchFamily="34" charset="0"/>
              </a:rPr>
              <a:t>WHEN: Logic heavy or algorithmic work</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9" name="Graphic 48">
            <a:extLst>
              <a:ext uri="{FF2B5EF4-FFF2-40B4-BE49-F238E27FC236}">
                <a16:creationId xmlns:a16="http://schemas.microsoft.com/office/drawing/2014/main" id="{731E0524-9818-C9E2-1C30-4D36E118A6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3874" y="4462494"/>
            <a:ext cx="295333" cy="295333"/>
          </a:xfrm>
          <a:prstGeom prst="rect">
            <a:avLst/>
          </a:prstGeom>
        </p:spPr>
      </p:pic>
      <p:sp>
        <p:nvSpPr>
          <p:cNvPr id="27" name="Text 21"/>
          <p:cNvSpPr/>
          <p:nvPr/>
        </p:nvSpPr>
        <p:spPr>
          <a:xfrm>
            <a:off x="4114800" y="4358700"/>
            <a:ext cx="7589520" cy="566928"/>
          </a:xfrm>
          <a:prstGeom prst="rect">
            <a:avLst/>
          </a:prstGeom>
          <a:noFill/>
          <a:ln/>
        </p:spPr>
        <p:txBody>
          <a:bodyPr wrap="square" lIns="0" tIns="0" rIns="0" bIns="0" rtlCol="0" anchor="ctr"/>
          <a:lstStyle/>
          <a:p>
            <a:pPr marL="0" indent="0">
              <a:buNone/>
            </a:pPr>
            <a:r>
              <a:rPr lang="en-US" sz="1300" dirty="0">
                <a:solidFill>
                  <a:schemeClr val="tx2"/>
                </a:solidFill>
                <a:latin typeface="Open Sans" panose="020B0606030504020204" pitchFamily="34" charset="0"/>
                <a:ea typeface="Open Sans" panose="020B0606030504020204" pitchFamily="34" charset="0"/>
                <a:cs typeface="Open Sans" panose="020B0606030504020204" pitchFamily="34" charset="0"/>
              </a:rPr>
              <a:t>Ask the AI to reason stepwise through the logic before writing code. Catches design errors before code.</a:t>
            </a:r>
          </a:p>
        </p:txBody>
      </p:sp>
      <p:sp>
        <p:nvSpPr>
          <p:cNvPr id="29" name="Shape 23"/>
          <p:cNvSpPr/>
          <p:nvPr/>
        </p:nvSpPr>
        <p:spPr>
          <a:xfrm>
            <a:off x="640080" y="5196327"/>
            <a:ext cx="502920" cy="502920"/>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4"/>
          <p:cNvSpPr/>
          <p:nvPr/>
        </p:nvSpPr>
        <p:spPr>
          <a:xfrm>
            <a:off x="1371600" y="5168895"/>
            <a:ext cx="2468880" cy="274320"/>
          </a:xfrm>
          <a:prstGeom prst="rect">
            <a:avLst/>
          </a:prstGeom>
          <a:noFill/>
          <a:ln/>
        </p:spPr>
        <p:txBody>
          <a:bodyPr wrap="square" lIns="0" tIns="0" rIns="0" bIns="0" rtlCol="0" anchor="ctr"/>
          <a:lstStyle/>
          <a:p>
            <a:pPr marL="0" indent="0">
              <a:buNone/>
            </a:pPr>
            <a:r>
              <a:rPr lang="en-US" sz="1600" b="1">
                <a:latin typeface="Open Sans" panose="020B0606030504020204" pitchFamily="34" charset="0"/>
                <a:ea typeface="Open Sans" panose="020B0606030504020204" pitchFamily="34" charset="0"/>
                <a:cs typeface="Open Sans" panose="020B0606030504020204" pitchFamily="34" charset="0"/>
              </a:rPr>
              <a:t>Metaprompting / Skills</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pic>
        <p:nvPicPr>
          <p:cNvPr id="51" name="Graphic 50">
            <a:extLst>
              <a:ext uri="{FF2B5EF4-FFF2-40B4-BE49-F238E27FC236}">
                <a16:creationId xmlns:a16="http://schemas.microsoft.com/office/drawing/2014/main" id="{B6BC8122-2C7C-662A-457F-B566C674498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6889" y="5293136"/>
            <a:ext cx="309302" cy="309302"/>
          </a:xfrm>
          <a:prstGeom prst="rect">
            <a:avLst/>
          </a:prstGeom>
        </p:spPr>
      </p:pic>
      <p:sp>
        <p:nvSpPr>
          <p:cNvPr id="32" name="Text 25"/>
          <p:cNvSpPr/>
          <p:nvPr/>
        </p:nvSpPr>
        <p:spPr>
          <a:xfrm>
            <a:off x="1371600" y="5461503"/>
            <a:ext cx="2468880" cy="228600"/>
          </a:xfrm>
          <a:prstGeom prst="rect">
            <a:avLst/>
          </a:prstGeom>
          <a:noFill/>
          <a:ln/>
        </p:spPr>
        <p:txBody>
          <a:bodyPr wrap="square" lIns="0" tIns="0" rIns="0" bIns="0" rtlCol="0" anchor="ctr"/>
          <a:lstStyle/>
          <a:p>
            <a:pPr marL="0" indent="0">
              <a:buNone/>
            </a:pPr>
            <a:r>
              <a:rPr lang="en-US" sz="1000" b="1" kern="0" spc="100">
                <a:solidFill>
                  <a:schemeClr val="tx2"/>
                </a:solidFill>
                <a:latin typeface="Open Sans" panose="020B0606030504020204" pitchFamily="34" charset="0"/>
                <a:ea typeface="Open Sans" panose="020B0606030504020204" pitchFamily="34" charset="0"/>
                <a:cs typeface="Open Sans" panose="020B0606030504020204" pitchFamily="34" charset="0"/>
              </a:rPr>
              <a:t>WHEN: Repeated team patterns</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7" name="Shape 19">
            <a:extLst>
              <a:ext uri="{FF2B5EF4-FFF2-40B4-BE49-F238E27FC236}">
                <a16:creationId xmlns:a16="http://schemas.microsoft.com/office/drawing/2014/main" id="{E8A5CD14-302E-91DC-7274-75EA0E08C94E}"/>
              </a:ext>
            </a:extLst>
          </p:cNvPr>
          <p:cNvSpPr/>
          <p:nvPr/>
        </p:nvSpPr>
        <p:spPr>
          <a:xfrm>
            <a:off x="549434" y="5989319"/>
            <a:ext cx="11034359" cy="411481"/>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33" name="Text 26"/>
          <p:cNvSpPr/>
          <p:nvPr/>
        </p:nvSpPr>
        <p:spPr>
          <a:xfrm>
            <a:off x="4114800" y="5196327"/>
            <a:ext cx="7589520" cy="566928"/>
          </a:xfrm>
          <a:prstGeom prst="rect">
            <a:avLst/>
          </a:prstGeom>
          <a:noFill/>
          <a:ln/>
        </p:spPr>
        <p:txBody>
          <a:bodyPr wrap="square" lIns="0" tIns="0" rIns="0" bIns="0" rtlCol="0" anchor="ctr"/>
          <a:lstStyle/>
          <a:p>
            <a:pPr marL="0" indent="0">
              <a:buNone/>
            </a:pPr>
            <a:r>
              <a:rPr lang="en-US" sz="1300">
                <a:solidFill>
                  <a:schemeClr val="tx2"/>
                </a:solidFill>
                <a:latin typeface="Open Sans" panose="020B0606030504020204" pitchFamily="34" charset="0"/>
                <a:ea typeface="Open Sans" panose="020B0606030504020204" pitchFamily="34" charset="0"/>
                <a:cs typeface="Open Sans" panose="020B0606030504020204" pitchFamily="34" charset="0"/>
              </a:rPr>
              <a:t>Save reusable prompt templates as .md files (SKILL.md, .cursorrules). Apply on demand.</a:t>
            </a:r>
          </a:p>
        </p:txBody>
      </p:sp>
      <p:sp>
        <p:nvSpPr>
          <p:cNvPr id="35" name="Text 28"/>
          <p:cNvSpPr/>
          <p:nvPr/>
        </p:nvSpPr>
        <p:spPr>
          <a:xfrm>
            <a:off x="457200" y="5989320"/>
            <a:ext cx="11247120" cy="411480"/>
          </a:xfrm>
          <a:prstGeom prst="rect">
            <a:avLst/>
          </a:prstGeom>
          <a:noFill/>
          <a:ln/>
        </p:spPr>
        <p:txBody>
          <a:bodyPr wrap="square" lIns="0" tIns="0" rIns="0" bIns="0" rtlCol="0" anchor="ctr"/>
          <a:lstStyle/>
          <a:p>
            <a:pPr marL="0" indent="0" algn="ctr">
              <a:buNone/>
            </a:pPr>
            <a:r>
              <a:rPr lang="en-US" sz="1400" dirty="0">
                <a:latin typeface="Open Sans" panose="020B0606030504020204" pitchFamily="34" charset="0"/>
                <a:ea typeface="Open Sans" panose="020B0606030504020204" pitchFamily="34" charset="0"/>
                <a:cs typeface="Open Sans" panose="020B0606030504020204" pitchFamily="34" charset="0"/>
              </a:rPr>
              <a:t>Plan-first prompting: never let AI write code without first seeing and approving a plan.</a:t>
            </a:r>
          </a:p>
        </p:txBody>
      </p:sp>
      <p:pic>
        <p:nvPicPr>
          <p:cNvPr id="53" name="Graphic 52">
            <a:extLst>
              <a:ext uri="{FF2B5EF4-FFF2-40B4-BE49-F238E27FC236}">
                <a16:creationId xmlns:a16="http://schemas.microsoft.com/office/drawing/2014/main" id="{0ACB7312-010B-DC99-D644-EEEA9EB76BA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2835" y="2808959"/>
            <a:ext cx="297411" cy="297411"/>
          </a:xfrm>
          <a:prstGeom prst="rect">
            <a:avLst/>
          </a:prstGeom>
        </p:spPr>
      </p:pic>
    </p:spTree>
    <p:extLst>
      <p:ext uri="{BB962C8B-B14F-4D97-AF65-F5344CB8AC3E}">
        <p14:creationId xmlns:p14="http://schemas.microsoft.com/office/powerpoint/2010/main" val="10852374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02E75631-0E8A-2798-84AC-C538B85A1AF9}"/>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E388A26F-82C2-4D05-F1C0-DDDB3C178F01}"/>
              </a:ext>
            </a:extLst>
          </p:cNvPr>
          <p:cNvSpPr txBox="1">
            <a:spLocks/>
          </p:cNvSpPr>
          <p:nvPr/>
        </p:nvSpPr>
        <p:spPr>
          <a:xfrm>
            <a:off x="503764"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Common Prompting Mistakes</a:t>
            </a:r>
          </a:p>
        </p:txBody>
      </p:sp>
      <p:sp>
        <p:nvSpPr>
          <p:cNvPr id="4" name="Shape 4">
            <a:extLst>
              <a:ext uri="{FF2B5EF4-FFF2-40B4-BE49-F238E27FC236}">
                <a16:creationId xmlns:a16="http://schemas.microsoft.com/office/drawing/2014/main" id="{D61671CB-722D-BB7C-3652-9E51C1E9BBD2}"/>
              </a:ext>
            </a:extLst>
          </p:cNvPr>
          <p:cNvSpPr/>
          <p:nvPr/>
        </p:nvSpPr>
        <p:spPr>
          <a:xfrm>
            <a:off x="549434" y="2048466"/>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4">
            <a:extLst>
              <a:ext uri="{FF2B5EF4-FFF2-40B4-BE49-F238E27FC236}">
                <a16:creationId xmlns:a16="http://schemas.microsoft.com/office/drawing/2014/main" id="{FB6B8D96-2EFA-3BD3-8625-25D485FF90DB}"/>
              </a:ext>
            </a:extLst>
          </p:cNvPr>
          <p:cNvSpPr/>
          <p:nvPr/>
        </p:nvSpPr>
        <p:spPr>
          <a:xfrm>
            <a:off x="549434" y="932109"/>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a:extLst>
              <a:ext uri="{FF2B5EF4-FFF2-40B4-BE49-F238E27FC236}">
                <a16:creationId xmlns:a16="http://schemas.microsoft.com/office/drawing/2014/main" id="{A36D9B33-E094-A24F-E906-C11786D49560}"/>
              </a:ext>
            </a:extLst>
          </p:cNvPr>
          <p:cNvSpPr/>
          <p:nvPr/>
        </p:nvSpPr>
        <p:spPr>
          <a:xfrm>
            <a:off x="549434" y="3145890"/>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4">
            <a:extLst>
              <a:ext uri="{FF2B5EF4-FFF2-40B4-BE49-F238E27FC236}">
                <a16:creationId xmlns:a16="http://schemas.microsoft.com/office/drawing/2014/main" id="{6F8DC356-EBB2-3EA7-39AA-12C86B08FC11}"/>
              </a:ext>
            </a:extLst>
          </p:cNvPr>
          <p:cNvSpPr/>
          <p:nvPr/>
        </p:nvSpPr>
        <p:spPr>
          <a:xfrm>
            <a:off x="549434" y="4206830"/>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4">
            <a:extLst>
              <a:ext uri="{FF2B5EF4-FFF2-40B4-BE49-F238E27FC236}">
                <a16:creationId xmlns:a16="http://schemas.microsoft.com/office/drawing/2014/main" id="{46DCA054-6AB5-9985-0E6C-B039C6BB81A7}"/>
              </a:ext>
            </a:extLst>
          </p:cNvPr>
          <p:cNvSpPr/>
          <p:nvPr/>
        </p:nvSpPr>
        <p:spPr>
          <a:xfrm>
            <a:off x="549434" y="5314399"/>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DADF918C-0211-C164-D103-9D22D31F5B15}"/>
              </a:ext>
            </a:extLst>
          </p:cNvPr>
          <p:cNvSpPr txBox="1"/>
          <p:nvPr/>
        </p:nvSpPr>
        <p:spPr bwMode="auto">
          <a:xfrm>
            <a:off x="716200" y="4206830"/>
            <a:ext cx="8130431" cy="984885"/>
          </a:xfrm>
          <a:prstGeom prst="rect">
            <a:avLst/>
          </a:prstGeom>
        </p:spPr>
        <p:txBody>
          <a:bodyPr wrap="none" rtlCol="0">
            <a:spAutoFit/>
          </a:bodyPr>
          <a:lstStyle/>
          <a:p>
            <a:r>
              <a:rPr lang="en-IN" sz="1600" b="1" dirty="0">
                <a:solidFill>
                  <a:schemeClr val="accent1"/>
                </a:solidFill>
              </a:rPr>
              <a:t>4 — Letting Claude choose the architecture</a:t>
            </a:r>
          </a:p>
          <a:p>
            <a:br>
              <a:rPr lang="en-IN" sz="1400" dirty="0"/>
            </a:br>
            <a:r>
              <a:rPr lang="en-IN" sz="1400" dirty="0"/>
              <a:t>Not specifying where new code should live, how it should integrate, or what patterns to follow.</a:t>
            </a:r>
            <a:br>
              <a:rPr lang="en-IN" sz="1400" dirty="0"/>
            </a:br>
            <a:r>
              <a:rPr lang="en-IN" sz="1400" dirty="0"/>
              <a:t>→ Claude makes reasonable decisions that conflict with decisions you already made elsewhere.</a:t>
            </a:r>
          </a:p>
        </p:txBody>
      </p:sp>
      <p:sp>
        <p:nvSpPr>
          <p:cNvPr id="9" name="TextBox 8">
            <a:extLst>
              <a:ext uri="{FF2B5EF4-FFF2-40B4-BE49-F238E27FC236}">
                <a16:creationId xmlns:a16="http://schemas.microsoft.com/office/drawing/2014/main" id="{64465AC1-539B-2E2D-64F5-2D07B50DA420}"/>
              </a:ext>
            </a:extLst>
          </p:cNvPr>
          <p:cNvSpPr txBox="1"/>
          <p:nvPr/>
        </p:nvSpPr>
        <p:spPr bwMode="auto">
          <a:xfrm>
            <a:off x="716200" y="932109"/>
            <a:ext cx="7148945" cy="984885"/>
          </a:xfrm>
          <a:prstGeom prst="rect">
            <a:avLst/>
          </a:prstGeom>
        </p:spPr>
        <p:txBody>
          <a:bodyPr wrap="none" rtlCol="0">
            <a:spAutoFit/>
          </a:bodyPr>
          <a:lstStyle/>
          <a:p>
            <a:r>
              <a:rPr lang="en-IN" sz="1600" b="1" dirty="0">
                <a:solidFill>
                  <a:schemeClr val="accent1"/>
                </a:solidFill>
              </a:rPr>
              <a:t>1 — Under-specifying context</a:t>
            </a:r>
          </a:p>
          <a:p>
            <a:br>
              <a:rPr lang="en-IN" sz="1400" dirty="0"/>
            </a:br>
            <a:r>
              <a:rPr lang="en-IN" sz="1400" dirty="0"/>
              <a:t>"Fix the bug" without naming the file, function, or what correct behaviour looks like.</a:t>
            </a:r>
            <a:br>
              <a:rPr lang="en-IN" sz="1400" dirty="0"/>
            </a:br>
            <a:r>
              <a:rPr lang="en-IN" sz="1400" dirty="0"/>
              <a:t>→ Claude fixes the wrong thing — confidently.</a:t>
            </a:r>
          </a:p>
        </p:txBody>
      </p:sp>
      <p:sp>
        <p:nvSpPr>
          <p:cNvPr id="10" name="TextBox 9">
            <a:extLst>
              <a:ext uri="{FF2B5EF4-FFF2-40B4-BE49-F238E27FC236}">
                <a16:creationId xmlns:a16="http://schemas.microsoft.com/office/drawing/2014/main" id="{05A447DF-68ED-11C1-2858-E2745D9C4A40}"/>
              </a:ext>
            </a:extLst>
          </p:cNvPr>
          <p:cNvSpPr txBox="1"/>
          <p:nvPr/>
        </p:nvSpPr>
        <p:spPr bwMode="auto">
          <a:xfrm>
            <a:off x="716200" y="2048466"/>
            <a:ext cx="7992509" cy="984885"/>
          </a:xfrm>
          <a:prstGeom prst="rect">
            <a:avLst/>
          </a:prstGeom>
        </p:spPr>
        <p:txBody>
          <a:bodyPr wrap="none" rtlCol="0">
            <a:spAutoFit/>
          </a:bodyPr>
          <a:lstStyle/>
          <a:p>
            <a:r>
              <a:rPr lang="en-IN" sz="1600" b="1" dirty="0">
                <a:solidFill>
                  <a:schemeClr val="accent1"/>
                </a:solidFill>
              </a:rPr>
              <a:t>2 — Ignoring error handling</a:t>
            </a:r>
          </a:p>
          <a:p>
            <a:br>
              <a:rPr lang="en-IN" sz="1400" dirty="0"/>
            </a:br>
            <a:r>
              <a:rPr lang="en-IN" sz="1400" dirty="0"/>
              <a:t>Not telling Claude what to do when inputs are missing, malformed, or a service is unavailable.</a:t>
            </a:r>
            <a:br>
              <a:rPr lang="en-IN" sz="1400" dirty="0"/>
            </a:br>
            <a:r>
              <a:rPr lang="en-IN" sz="1400" dirty="0"/>
              <a:t>→ Code works in demos. Breaks in production.</a:t>
            </a:r>
          </a:p>
        </p:txBody>
      </p:sp>
      <p:sp>
        <p:nvSpPr>
          <p:cNvPr id="11" name="TextBox 10">
            <a:extLst>
              <a:ext uri="{FF2B5EF4-FFF2-40B4-BE49-F238E27FC236}">
                <a16:creationId xmlns:a16="http://schemas.microsoft.com/office/drawing/2014/main" id="{A62385DD-ECBD-38C2-DD4F-336C490601F2}"/>
              </a:ext>
            </a:extLst>
          </p:cNvPr>
          <p:cNvSpPr txBox="1"/>
          <p:nvPr/>
        </p:nvSpPr>
        <p:spPr bwMode="auto">
          <a:xfrm>
            <a:off x="716200" y="3145890"/>
            <a:ext cx="7906780" cy="984885"/>
          </a:xfrm>
          <a:prstGeom prst="rect">
            <a:avLst/>
          </a:prstGeom>
        </p:spPr>
        <p:txBody>
          <a:bodyPr wrap="none" rtlCol="0">
            <a:spAutoFit/>
          </a:bodyPr>
          <a:lstStyle/>
          <a:p>
            <a:r>
              <a:rPr lang="en-IN" sz="1600" b="1" dirty="0">
                <a:solidFill>
                  <a:schemeClr val="accent1"/>
                </a:solidFill>
              </a:rPr>
              <a:t>3 — Accepting the first output without running it</a:t>
            </a:r>
          </a:p>
          <a:p>
            <a:br>
              <a:rPr lang="en-IN" sz="1400" dirty="0"/>
            </a:br>
            <a:r>
              <a:rPr lang="en-IN" sz="1400" dirty="0"/>
              <a:t>Reading the code, deciding it looks right, and moving on.</a:t>
            </a:r>
            <a:br>
              <a:rPr lang="en-IN" sz="1400" dirty="0"/>
            </a:br>
            <a:r>
              <a:rPr lang="en-IN" sz="1400" dirty="0"/>
              <a:t>→ Code that looks correct and code that runs correctly are not the same thing. Always run it.</a:t>
            </a:r>
          </a:p>
        </p:txBody>
      </p:sp>
      <p:sp>
        <p:nvSpPr>
          <p:cNvPr id="12" name="TextBox 11">
            <a:extLst>
              <a:ext uri="{FF2B5EF4-FFF2-40B4-BE49-F238E27FC236}">
                <a16:creationId xmlns:a16="http://schemas.microsoft.com/office/drawing/2014/main" id="{A3DF0228-1D04-6745-1D1B-9D738429C3BD}"/>
              </a:ext>
            </a:extLst>
          </p:cNvPr>
          <p:cNvSpPr txBox="1"/>
          <p:nvPr/>
        </p:nvSpPr>
        <p:spPr bwMode="auto">
          <a:xfrm>
            <a:off x="727036" y="5422121"/>
            <a:ext cx="8119595" cy="769441"/>
          </a:xfrm>
          <a:prstGeom prst="rect">
            <a:avLst/>
          </a:prstGeom>
        </p:spPr>
        <p:txBody>
          <a:bodyPr wrap="none" rtlCol="0">
            <a:spAutoFit/>
          </a:bodyPr>
          <a:lstStyle/>
          <a:p>
            <a:r>
              <a:rPr lang="en-IN" sz="1600" b="1" dirty="0">
                <a:solidFill>
                  <a:schemeClr val="accent1"/>
                </a:solidFill>
              </a:rPr>
              <a:t>5 — Treating each prompt as a one-shot</a:t>
            </a:r>
          </a:p>
          <a:p>
            <a:br>
              <a:rPr lang="en-IN" sz="1400" dirty="0"/>
            </a:br>
            <a:r>
              <a:rPr lang="en-IN" sz="1400" dirty="0"/>
              <a:t>Expecting a single prompt to produce complete, tested, documented, production-ready output.</a:t>
            </a:r>
          </a:p>
        </p:txBody>
      </p:sp>
    </p:spTree>
    <p:extLst>
      <p:ext uri="{BB962C8B-B14F-4D97-AF65-F5344CB8AC3E}">
        <p14:creationId xmlns:p14="http://schemas.microsoft.com/office/powerpoint/2010/main" val="40285505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7F098-84F6-C6EA-E98A-4E838C1D95FC}"/>
            </a:ext>
          </a:extLst>
        </p:cNvPr>
        <p:cNvGrpSpPr/>
        <p:nvPr/>
      </p:nvGrpSpPr>
      <p:grpSpPr>
        <a:xfrm>
          <a:off x="0" y="0"/>
          <a:ext cx="0" cy="0"/>
          <a:chOff x="0" y="0"/>
          <a:chExt cx="0" cy="0"/>
        </a:xfrm>
      </p:grpSpPr>
      <p:sp>
        <p:nvSpPr>
          <p:cNvPr id="7" name="Text 2">
            <a:extLst>
              <a:ext uri="{FF2B5EF4-FFF2-40B4-BE49-F238E27FC236}">
                <a16:creationId xmlns:a16="http://schemas.microsoft.com/office/drawing/2014/main" id="{499CE9F9-1241-819C-C269-9D6A0AEE2BD3}"/>
              </a:ext>
            </a:extLst>
          </p:cNvPr>
          <p:cNvSpPr/>
          <p:nvPr/>
        </p:nvSpPr>
        <p:spPr>
          <a:xfrm>
            <a:off x="598971" y="416630"/>
            <a:ext cx="9354326" cy="851329"/>
          </a:xfrm>
          <a:prstGeom prst="rect">
            <a:avLst/>
          </a:prstGeom>
          <a:noFill/>
          <a:ln/>
        </p:spPr>
        <p:txBody>
          <a:bodyPr wrap="square" lIns="0" tIns="0" rIns="0" bIns="0" rtlCol="0" anchor="ctr"/>
          <a:lstStyle/>
          <a:p>
            <a:r>
              <a:rPr lang="en-IN" sz="3600" b="1" dirty="0"/>
              <a:t>Write a Brief, Generate v1, Improve to v2</a:t>
            </a:r>
            <a:endParaRPr lang="en-US" sz="3600" b="1" dirty="0"/>
          </a:p>
        </p:txBody>
      </p:sp>
      <p:sp>
        <p:nvSpPr>
          <p:cNvPr id="9" name="Shape 4">
            <a:extLst>
              <a:ext uri="{FF2B5EF4-FFF2-40B4-BE49-F238E27FC236}">
                <a16:creationId xmlns:a16="http://schemas.microsoft.com/office/drawing/2014/main" id="{4BB28645-D6D3-3835-6A34-5A579EBCEC75}"/>
              </a:ext>
            </a:extLst>
          </p:cNvPr>
          <p:cNvSpPr/>
          <p:nvPr/>
        </p:nvSpPr>
        <p:spPr>
          <a:xfrm>
            <a:off x="549434" y="2029718"/>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4">
            <a:extLst>
              <a:ext uri="{FF2B5EF4-FFF2-40B4-BE49-F238E27FC236}">
                <a16:creationId xmlns:a16="http://schemas.microsoft.com/office/drawing/2014/main" id="{D93C33A7-8609-9C59-EAB8-7967C57A2882}"/>
              </a:ext>
            </a:extLst>
          </p:cNvPr>
          <p:cNvSpPr/>
          <p:nvPr/>
        </p:nvSpPr>
        <p:spPr>
          <a:xfrm>
            <a:off x="549434" y="2978447"/>
            <a:ext cx="11034359" cy="2142797"/>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4">
            <a:extLst>
              <a:ext uri="{FF2B5EF4-FFF2-40B4-BE49-F238E27FC236}">
                <a16:creationId xmlns:a16="http://schemas.microsoft.com/office/drawing/2014/main" id="{AF3C22B7-D979-AB4A-C1A2-4EB0DD9C9E40}"/>
              </a:ext>
            </a:extLst>
          </p:cNvPr>
          <p:cNvSpPr/>
          <p:nvPr/>
        </p:nvSpPr>
        <p:spPr>
          <a:xfrm>
            <a:off x="549434" y="5274788"/>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9">
            <a:extLst>
              <a:ext uri="{FF2B5EF4-FFF2-40B4-BE49-F238E27FC236}">
                <a16:creationId xmlns:a16="http://schemas.microsoft.com/office/drawing/2014/main" id="{E54A4A9A-F504-0540-D191-A74AF89421CC}"/>
              </a:ext>
            </a:extLst>
          </p:cNvPr>
          <p:cNvSpPr/>
          <p:nvPr/>
        </p:nvSpPr>
        <p:spPr>
          <a:xfrm>
            <a:off x="1294374" y="2232452"/>
            <a:ext cx="9941185" cy="340531"/>
          </a:xfrm>
          <a:prstGeom prst="rect">
            <a:avLst/>
          </a:prstGeom>
          <a:noFill/>
          <a:ln/>
        </p:spPr>
        <p:txBody>
          <a:bodyPr wrap="square" lIns="0" tIns="0" rIns="0" bIns="0" rtlCol="0" anchor="t"/>
          <a:lstStyle/>
          <a:p>
            <a:r>
              <a:rPr lang="en-IN" sz="1400" b="1" dirty="0"/>
              <a:t>Part 1: Generate Sample Data</a:t>
            </a:r>
          </a:p>
          <a:p>
            <a:r>
              <a:rPr lang="en-IN" sz="1000" dirty="0"/>
              <a:t>Create app.log.jsonl with 40–60 JSON lines so the CLI has realistic data. Fields: ts (ISO-8601 UTC), level, endpoint, exception_type, latency_ms.</a:t>
            </a:r>
            <a:r>
              <a:rPr lang="en-IN" sz="1000" dirty="0" err="1"/>
              <a:t/>
            </a:r>
            <a:r>
              <a:rPr lang="en-IN" sz="1000" dirty="0"/>
              <a:t/>
            </a:r>
          </a:p>
        </p:txBody>
      </p:sp>
      <p:sp>
        <p:nvSpPr>
          <p:cNvPr id="27" name="Text 13">
            <a:extLst>
              <a:ext uri="{FF2B5EF4-FFF2-40B4-BE49-F238E27FC236}">
                <a16:creationId xmlns:a16="http://schemas.microsoft.com/office/drawing/2014/main" id="{83EE9820-3382-BC8A-B6C6-D3AC89EDD756}"/>
              </a:ext>
            </a:extLst>
          </p:cNvPr>
          <p:cNvSpPr/>
          <p:nvPr/>
        </p:nvSpPr>
        <p:spPr>
          <a:xfrm>
            <a:off x="1294374" y="3132084"/>
            <a:ext cx="4864735" cy="1939972"/>
          </a:xfrm>
          <a:prstGeom prst="rect">
            <a:avLst/>
          </a:prstGeom>
          <a:noFill/>
          <a:ln/>
        </p:spPr>
        <p:txBody>
          <a:bodyPr wrap="square" lIns="0" tIns="0" rIns="0" bIns="0" rtlCol="0" anchor="ctr"/>
          <a:lstStyle/>
          <a:p>
            <a:r>
              <a:rPr lang="en-IN" sz="1400" b="1" dirty="0"/>
              <a:t>Part 2: The Task</a:t>
            </a:r>
          </a:p>
          <a:p>
            <a:r>
              <a:rPr lang="en-IN" sz="1000" dirty="0"/>
              <a:t>Write a Python CLI (log_triage.py) that:</a:t>
            </a:r>
            <a:r>
              <a:rPr lang="en-IN" sz="1000" dirty="0" err="1"/>
              <a:t/>
            </a:r>
            <a:r>
              <a:rPr lang="en-IN" sz="1000" dirty="0"/>
              <a:t/>
            </a:r>
          </a:p>
          <a:p>
            <a:r>
              <a:rPr lang="en-IN" sz="1000" dirty="0"/>
              <a:t>Streams app.log.jsonl line by line; skips and counts malformed lines.</a:t>
            </a:r>
            <a:r>
              <a:rPr lang="en-IN" sz="1000" dirty="0" err="1"/>
              <a:t/>
            </a:r>
            <a:r>
              <a:rPr lang="en-IN" sz="1000" dirty="0"/>
              <a:t/>
            </a:r>
          </a:p>
          <a:p>
            <a:r>
              <a:rPr lang="en-IN" sz="1000" dirty="0"/>
              <a:t>Filters to ERROR lines newer than --since (default 24h), using timezone-aware datetimes.</a:t>
            </a:r>
          </a:p>
          <a:p>
            <a:r>
              <a:rPr lang="en-IN" sz="1000" dirty="0"/>
              <a:t>Groups by (exception_type, endpoint) and computes count, first_seen, last_seen, p95 latency_ms.</a:t>
            </a:r>
            <a:r>
              <a:rPr lang="en-IN" sz="1000" dirty="0" err="1"/>
              <a:t/>
            </a:r>
            <a:r>
              <a:rPr lang="en-IN" sz="1000" dirty="0"/>
              <a:t/>
            </a:r>
          </a:p>
          <a:p>
            <a:r>
              <a:rPr lang="en-IN" sz="1000" dirty="0"/>
              <a:t>Prints a formatted terminal table of the top 5 groups, showing: </a:t>
            </a:r>
          </a:p>
          <a:p>
            <a:r>
              <a:rPr lang="en-IN" sz="1000" dirty="0"/>
              <a:t>	Exception / Endpoint</a:t>
            </a:r>
          </a:p>
          <a:p>
            <a:r>
              <a:rPr lang="en-IN" sz="1000" dirty="0"/>
              <a:t>	Count and p95 latency</a:t>
            </a:r>
          </a:p>
          <a:p>
            <a:r>
              <a:rPr lang="en-IN" sz="1000" dirty="0"/>
              <a:t>	First and Last Seen</a:t>
            </a:r>
          </a:p>
          <a:p>
            <a:r>
              <a:rPr lang="en-IN" sz="1000" dirty="0"/>
              <a:t>Sorts by count descending; exits non-zero if any group exceeds --threshold.</a:t>
            </a:r>
          </a:p>
          <a:p>
            <a:r>
              <a:rPr lang="en-IN" sz="1000" dirty="0"/>
              <a:t>Write pytest cases (malformed lines, empty window, ties), run the suite, report results</a:t>
            </a:r>
          </a:p>
          <a:p>
            <a:endParaRPr lang="en-IN" sz="1000" dirty="0"/>
          </a:p>
        </p:txBody>
      </p:sp>
      <p:sp>
        <p:nvSpPr>
          <p:cNvPr id="37" name="Text 17">
            <a:extLst>
              <a:ext uri="{FF2B5EF4-FFF2-40B4-BE49-F238E27FC236}">
                <a16:creationId xmlns:a16="http://schemas.microsoft.com/office/drawing/2014/main" id="{80899D5D-F80B-6812-E6BA-F6648C351FB7}"/>
              </a:ext>
            </a:extLst>
          </p:cNvPr>
          <p:cNvSpPr/>
          <p:nvPr/>
        </p:nvSpPr>
        <p:spPr>
          <a:xfrm>
            <a:off x="1294374" y="5477522"/>
            <a:ext cx="5169488" cy="340531"/>
          </a:xfrm>
          <a:prstGeom prst="rect">
            <a:avLst/>
          </a:prstGeom>
          <a:noFill/>
          <a:ln/>
        </p:spPr>
        <p:txBody>
          <a:bodyPr wrap="square" lIns="0" tIns="0" rIns="0" bIns="0" rtlCol="0" anchor="ctr"/>
          <a:lstStyle/>
          <a:p>
            <a:r>
              <a:rPr lang="en-IN" sz="1400" b="1" dirty="0"/>
              <a:t>Part 3: Compare earlier to current solution and list pros / cons</a:t>
            </a:r>
          </a:p>
        </p:txBody>
      </p:sp>
      <p:sp>
        <p:nvSpPr>
          <p:cNvPr id="4" name="TextBox 3">
            <a:extLst>
              <a:ext uri="{FF2B5EF4-FFF2-40B4-BE49-F238E27FC236}">
                <a16:creationId xmlns:a16="http://schemas.microsoft.com/office/drawing/2014/main" id="{691FFA33-D8FC-A4D2-CBF5-7A8ABBAA7D25}"/>
              </a:ext>
            </a:extLst>
          </p:cNvPr>
          <p:cNvSpPr txBox="1"/>
          <p:nvPr/>
        </p:nvSpPr>
        <p:spPr bwMode="auto">
          <a:xfrm>
            <a:off x="598972" y="1431153"/>
            <a:ext cx="10482783" cy="338554"/>
          </a:xfrm>
          <a:prstGeom prst="rect">
            <a:avLst/>
          </a:prstGeom>
        </p:spPr>
        <p:txBody>
          <a:bodyPr wrap="square" rtlCol="0">
            <a:spAutoFit/>
          </a:bodyPr>
          <a:lstStyle/>
          <a:p>
            <a:r>
              <a:rPr lang="en-IN" sz="1600" dirty="0"/>
              <a:t>Same project from Part 2. Your </a:t>
            </a:r>
            <a:r>
              <a:rPr lang="en-IN" sz="1600" dirty="0" err="1"/>
              <a:t>CLAUDE.md</a:t>
            </a:r>
            <a:r>
              <a:rPr lang="en-IN" sz="1600" dirty="0"/>
              <a:t> is already written — now write the prompts that put it to work.</a:t>
            </a:r>
            <a:endParaRPr lang="en-US" sz="1600" dirty="0"/>
          </a:p>
        </p:txBody>
      </p:sp>
      <p:sp>
        <p:nvSpPr>
          <p:cNvPr id="5" name="Shape 0">
            <a:extLst>
              <a:ext uri="{FF2B5EF4-FFF2-40B4-BE49-F238E27FC236}">
                <a16:creationId xmlns:a16="http://schemas.microsoft.com/office/drawing/2014/main" id="{DB46D15B-74BA-03E0-4F6D-30D6DD495032}"/>
              </a:ext>
            </a:extLst>
          </p:cNvPr>
          <p:cNvSpPr/>
          <p:nvPr/>
        </p:nvSpPr>
        <p:spPr>
          <a:xfrm>
            <a:off x="10086793" y="216210"/>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1">
            <a:extLst>
              <a:ext uri="{FF2B5EF4-FFF2-40B4-BE49-F238E27FC236}">
                <a16:creationId xmlns:a16="http://schemas.microsoft.com/office/drawing/2014/main" id="{0F9D1848-8B00-5FD8-1302-5B1446084B8F}"/>
              </a:ext>
            </a:extLst>
          </p:cNvPr>
          <p:cNvSpPr/>
          <p:nvPr/>
        </p:nvSpPr>
        <p:spPr>
          <a:xfrm>
            <a:off x="9819355" y="216210"/>
            <a:ext cx="2377440"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4">
            <a:extLst>
              <a:ext uri="{FF2B5EF4-FFF2-40B4-BE49-F238E27FC236}">
                <a16:creationId xmlns:a16="http://schemas.microsoft.com/office/drawing/2014/main" id="{26E823DB-BD21-246C-AB25-F655A8281023}"/>
              </a:ext>
            </a:extLst>
          </p:cNvPr>
          <p:cNvSpPr/>
          <p:nvPr/>
        </p:nvSpPr>
        <p:spPr>
          <a:xfrm>
            <a:off x="702448" y="2183261"/>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5">
            <a:extLst>
              <a:ext uri="{FF2B5EF4-FFF2-40B4-BE49-F238E27FC236}">
                <a16:creationId xmlns:a16="http://schemas.microsoft.com/office/drawing/2014/main" id="{2F0F98BD-999E-9A5C-9443-1551256F3F57}"/>
              </a:ext>
            </a:extLst>
          </p:cNvPr>
          <p:cNvSpPr/>
          <p:nvPr/>
        </p:nvSpPr>
        <p:spPr>
          <a:xfrm>
            <a:off x="702448" y="2183261"/>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8">
            <a:extLst>
              <a:ext uri="{FF2B5EF4-FFF2-40B4-BE49-F238E27FC236}">
                <a16:creationId xmlns:a16="http://schemas.microsoft.com/office/drawing/2014/main" id="{37293490-D376-38F4-19DB-47E1246A28B1}"/>
              </a:ext>
            </a:extLst>
          </p:cNvPr>
          <p:cNvSpPr/>
          <p:nvPr/>
        </p:nvSpPr>
        <p:spPr>
          <a:xfrm>
            <a:off x="702448" y="3427425"/>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9">
            <a:extLst>
              <a:ext uri="{FF2B5EF4-FFF2-40B4-BE49-F238E27FC236}">
                <a16:creationId xmlns:a16="http://schemas.microsoft.com/office/drawing/2014/main" id="{24D52EC8-3A84-F0AB-6605-46008B0DB6EE}"/>
              </a:ext>
            </a:extLst>
          </p:cNvPr>
          <p:cNvSpPr/>
          <p:nvPr/>
        </p:nvSpPr>
        <p:spPr>
          <a:xfrm>
            <a:off x="702448" y="3427425"/>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2">
            <a:extLst>
              <a:ext uri="{FF2B5EF4-FFF2-40B4-BE49-F238E27FC236}">
                <a16:creationId xmlns:a16="http://schemas.microsoft.com/office/drawing/2014/main" id="{0C6EF6B6-124F-A3CA-DD47-9645DCC641E2}"/>
              </a:ext>
            </a:extLst>
          </p:cNvPr>
          <p:cNvSpPr/>
          <p:nvPr/>
        </p:nvSpPr>
        <p:spPr>
          <a:xfrm>
            <a:off x="702448" y="5428331"/>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3">
            <a:extLst>
              <a:ext uri="{FF2B5EF4-FFF2-40B4-BE49-F238E27FC236}">
                <a16:creationId xmlns:a16="http://schemas.microsoft.com/office/drawing/2014/main" id="{5601AE06-2D14-FF32-0745-11E2FDC503B5}"/>
              </a:ext>
            </a:extLst>
          </p:cNvPr>
          <p:cNvSpPr/>
          <p:nvPr/>
        </p:nvSpPr>
        <p:spPr>
          <a:xfrm>
            <a:off x="702448" y="5428331"/>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Tree>
    <p:custDataLst>
      <p:tags r:id="rId1"/>
    </p:custDataLst>
    <p:extLst>
      <p:ext uri="{BB962C8B-B14F-4D97-AF65-F5344CB8AC3E}">
        <p14:creationId xmlns:p14="http://schemas.microsoft.com/office/powerpoint/2010/main" val="1657156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0D6FAC14-EAB5-60E3-4B5D-1A06E2F270D1}"/>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BF99DF12-C5D0-A94C-9976-135154C025F4}"/>
              </a:ext>
            </a:extLst>
          </p:cNvPr>
          <p:cNvSpPr txBox="1">
            <a:spLocks/>
          </p:cNvSpPr>
          <p:nvPr/>
        </p:nvSpPr>
        <p:spPr>
          <a:xfrm>
            <a:off x="522236" y="248938"/>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THE QUESTION:</a:t>
            </a:r>
          </a:p>
        </p:txBody>
      </p:sp>
      <p:sp>
        <p:nvSpPr>
          <p:cNvPr id="7" name="Shape 0">
            <a:extLst>
              <a:ext uri="{FF2B5EF4-FFF2-40B4-BE49-F238E27FC236}">
                <a16:creationId xmlns:a16="http://schemas.microsoft.com/office/drawing/2014/main" id="{24F51F8C-AA67-84FA-49D0-5897C770D818}"/>
              </a:ext>
            </a:extLst>
          </p:cNvPr>
          <p:cNvSpPr/>
          <p:nvPr/>
        </p:nvSpPr>
        <p:spPr>
          <a:xfrm>
            <a:off x="9765812" y="221230"/>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a:extLst>
              <a:ext uri="{FF2B5EF4-FFF2-40B4-BE49-F238E27FC236}">
                <a16:creationId xmlns:a16="http://schemas.microsoft.com/office/drawing/2014/main" id="{56CA6265-6257-396D-8852-A5E95CD493F8}"/>
              </a:ext>
            </a:extLst>
          </p:cNvPr>
          <p:cNvSpPr/>
          <p:nvPr/>
        </p:nvSpPr>
        <p:spPr>
          <a:xfrm>
            <a:off x="9744552" y="270451"/>
            <a:ext cx="1885085" cy="364855"/>
          </a:xfrm>
          <a:prstGeom prst="rect">
            <a:avLst/>
          </a:prstGeom>
          <a:noFill/>
          <a:ln/>
        </p:spPr>
        <p:txBody>
          <a:bodyPr wrap="square" lIns="0" tIns="0" rIns="0" bIns="0" rtlCol="0" anchor="ctr"/>
          <a:lstStyle/>
          <a:p>
            <a:pPr algn="ctr"/>
            <a:r>
              <a:rPr lang="en-US" sz="1197" b="1" dirty="0">
                <a:solidFill>
                  <a:schemeClr val="bg1"/>
                </a:solidFill>
                <a:latin typeface="Open Sans" pitchFamily="34" charset="0"/>
                <a:ea typeface="Open Sans" pitchFamily="34" charset="-122"/>
                <a:cs typeface="Open Sans" pitchFamily="34" charset="-120"/>
              </a:rPr>
              <a:t>DISCUSSION</a:t>
            </a:r>
            <a:endParaRPr lang="en-US" sz="1197" dirty="0">
              <a:solidFill>
                <a:schemeClr val="bg1"/>
              </a:solidFill>
            </a:endParaRPr>
          </a:p>
        </p:txBody>
      </p:sp>
      <p:sp>
        <p:nvSpPr>
          <p:cNvPr id="8" name="Shape 4">
            <a:extLst>
              <a:ext uri="{FF2B5EF4-FFF2-40B4-BE49-F238E27FC236}">
                <a16:creationId xmlns:a16="http://schemas.microsoft.com/office/drawing/2014/main" id="{8A482BE0-D6AC-23AB-7D38-6C772E0B4538}"/>
              </a:ext>
            </a:extLst>
          </p:cNvPr>
          <p:cNvSpPr/>
          <p:nvPr/>
        </p:nvSpPr>
        <p:spPr>
          <a:xfrm>
            <a:off x="549434" y="1628508"/>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E4C906CF-5AF7-DB35-58D5-72904D8E015C}"/>
              </a:ext>
            </a:extLst>
          </p:cNvPr>
          <p:cNvSpPr txBox="1"/>
          <p:nvPr/>
        </p:nvSpPr>
        <p:spPr bwMode="auto">
          <a:xfrm>
            <a:off x="721146" y="1797785"/>
            <a:ext cx="10089698" cy="646331"/>
          </a:xfrm>
          <a:prstGeom prst="rect">
            <a:avLst/>
          </a:prstGeom>
        </p:spPr>
        <p:txBody>
          <a:bodyPr wrap="square" rtlCol="0">
            <a:spAutoFit/>
          </a:bodyPr>
          <a:lstStyle/>
          <a:p>
            <a:r>
              <a:rPr lang="en-IN" dirty="0"/>
              <a:t>What was the single change between your v1 prompt and your v2 prompt that produced the biggest quality difference in the output?</a:t>
            </a:r>
            <a:endParaRPr lang="en-US" dirty="0"/>
          </a:p>
        </p:txBody>
      </p:sp>
      <p:sp>
        <p:nvSpPr>
          <p:cNvPr id="9" name="Shape 4">
            <a:extLst>
              <a:ext uri="{FF2B5EF4-FFF2-40B4-BE49-F238E27FC236}">
                <a16:creationId xmlns:a16="http://schemas.microsoft.com/office/drawing/2014/main" id="{87F753E5-3A75-2898-159C-BFFB4C0D17C1}"/>
              </a:ext>
            </a:extLst>
          </p:cNvPr>
          <p:cNvSpPr/>
          <p:nvPr/>
        </p:nvSpPr>
        <p:spPr>
          <a:xfrm>
            <a:off x="549434" y="3184953"/>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330DCB2F-3AA3-61B3-B843-851463BD0F20}"/>
              </a:ext>
            </a:extLst>
          </p:cNvPr>
          <p:cNvSpPr txBox="1"/>
          <p:nvPr/>
        </p:nvSpPr>
        <p:spPr bwMode="auto">
          <a:xfrm>
            <a:off x="721146" y="3354230"/>
            <a:ext cx="10257487" cy="646331"/>
          </a:xfrm>
          <a:prstGeom prst="rect">
            <a:avLst/>
          </a:prstGeom>
        </p:spPr>
        <p:txBody>
          <a:bodyPr wrap="square" rtlCol="0">
            <a:spAutoFit/>
          </a:bodyPr>
          <a:lstStyle/>
          <a:p>
            <a:r>
              <a:rPr lang="en-IN" dirty="0"/>
              <a:t>Which scaffold component made the biggest difference — stack, architecture intent, edge cases, or output format?</a:t>
            </a:r>
            <a:endParaRPr lang="en-US" dirty="0"/>
          </a:p>
        </p:txBody>
      </p:sp>
    </p:spTree>
    <p:extLst>
      <p:ext uri="{BB962C8B-B14F-4D97-AF65-F5344CB8AC3E}">
        <p14:creationId xmlns:p14="http://schemas.microsoft.com/office/powerpoint/2010/main" val="29588681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7F144766-D4B4-2D88-A4EB-C2BB597542AA}"/>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44E2ACCE-2EBC-18E5-33C6-B259E78F38EB}"/>
              </a:ext>
            </a:extLst>
          </p:cNvPr>
          <p:cNvSpPr txBox="1">
            <a:spLocks/>
          </p:cNvSpPr>
          <p:nvPr/>
        </p:nvSpPr>
        <p:spPr>
          <a:xfrm>
            <a:off x="493854"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Recap - What You Can Do Now</a:t>
            </a:r>
          </a:p>
        </p:txBody>
      </p:sp>
      <p:sp>
        <p:nvSpPr>
          <p:cNvPr id="6" name="Shape 11">
            <a:extLst>
              <a:ext uri="{FF2B5EF4-FFF2-40B4-BE49-F238E27FC236}">
                <a16:creationId xmlns:a16="http://schemas.microsoft.com/office/drawing/2014/main" id="{9872139B-FE96-02D5-AE54-8E0CA3306EFD}"/>
              </a:ext>
            </a:extLst>
          </p:cNvPr>
          <p:cNvSpPr/>
          <p:nvPr/>
        </p:nvSpPr>
        <p:spPr>
          <a:xfrm>
            <a:off x="606270" y="1371826"/>
            <a:ext cx="3373909" cy="3401122"/>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11">
            <a:extLst>
              <a:ext uri="{FF2B5EF4-FFF2-40B4-BE49-F238E27FC236}">
                <a16:creationId xmlns:a16="http://schemas.microsoft.com/office/drawing/2014/main" id="{0AD92B24-35CA-73E7-BE78-B5DE0772FB83}"/>
              </a:ext>
            </a:extLst>
          </p:cNvPr>
          <p:cNvSpPr/>
          <p:nvPr/>
        </p:nvSpPr>
        <p:spPr>
          <a:xfrm>
            <a:off x="4409046" y="1371826"/>
            <a:ext cx="3373909" cy="3401122"/>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11">
            <a:extLst>
              <a:ext uri="{FF2B5EF4-FFF2-40B4-BE49-F238E27FC236}">
                <a16:creationId xmlns:a16="http://schemas.microsoft.com/office/drawing/2014/main" id="{6955DEF1-F547-6E1C-F179-30670893A892}"/>
              </a:ext>
            </a:extLst>
          </p:cNvPr>
          <p:cNvSpPr/>
          <p:nvPr/>
        </p:nvSpPr>
        <p:spPr>
          <a:xfrm>
            <a:off x="8211821" y="1371826"/>
            <a:ext cx="3373909" cy="3401122"/>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Rounded Rectangle 1">
            <a:extLst>
              <a:ext uri="{FF2B5EF4-FFF2-40B4-BE49-F238E27FC236}">
                <a16:creationId xmlns:a16="http://schemas.microsoft.com/office/drawing/2014/main" id="{4CA8FA29-30D7-1C38-3050-8ABDFA18E27D}"/>
              </a:ext>
            </a:extLst>
          </p:cNvPr>
          <p:cNvSpPr/>
          <p:nvPr/>
        </p:nvSpPr>
        <p:spPr>
          <a:xfrm>
            <a:off x="553377" y="1371826"/>
            <a:ext cx="3479694"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b="1" dirty="0">
                <a:solidFill>
                  <a:schemeClr val="accent2"/>
                </a:solidFill>
              </a:rPr>
              <a:t>THE AI CODING LANDSCAPE</a:t>
            </a:r>
          </a:p>
          <a:p>
            <a:endParaRPr lang="en-IN" b="1" dirty="0">
              <a:solidFill>
                <a:schemeClr val="tx1"/>
              </a:solidFill>
            </a:endParaRPr>
          </a:p>
          <a:p>
            <a:pPr marL="285750" indent="-285750">
              <a:buClr>
                <a:schemeClr val="tx1"/>
              </a:buClr>
              <a:buFont typeface="Wingdings" pitchFamily="2" charset="2"/>
              <a:buChar char="Ø"/>
            </a:pPr>
            <a:r>
              <a:rPr lang="en-IN" sz="1400" dirty="0">
                <a:solidFill>
                  <a:schemeClr val="tx1"/>
                </a:solidFill>
              </a:rPr>
              <a:t>Map the four tool categories and where each belongs</a:t>
            </a:r>
          </a:p>
          <a:p>
            <a:pPr marL="285750" indent="-285750">
              <a:buClr>
                <a:schemeClr val="tx1"/>
              </a:buClr>
              <a:buFont typeface="Wingdings" pitchFamily="2" charset="2"/>
              <a:buChar char="Ø"/>
            </a:pPr>
            <a:r>
              <a:rPr lang="en-IN" sz="1400" dirty="0">
                <a:solidFill>
                  <a:schemeClr val="tx1"/>
                </a:solidFill>
              </a:rPr>
              <a:t>Apply the selection framework — right tool for the right task</a:t>
            </a:r>
          </a:p>
          <a:p>
            <a:pPr marL="285750" indent="-285750">
              <a:buClr>
                <a:schemeClr val="tx1"/>
              </a:buClr>
              <a:buFont typeface="Wingdings" pitchFamily="2" charset="2"/>
              <a:buChar char="Ø"/>
            </a:pPr>
            <a:r>
              <a:rPr lang="en-IN" sz="1400" dirty="0">
                <a:solidFill>
                  <a:schemeClr val="tx1"/>
                </a:solidFill>
              </a:rPr>
              <a:t>Supervise AI output with the correct mental model</a:t>
            </a:r>
            <a:endParaRPr lang="en-US" sz="1400" dirty="0">
              <a:solidFill>
                <a:schemeClr val="tx1"/>
              </a:solidFill>
            </a:endParaRPr>
          </a:p>
        </p:txBody>
      </p:sp>
      <p:sp>
        <p:nvSpPr>
          <p:cNvPr id="3" name="Rounded Rectangle 2">
            <a:extLst>
              <a:ext uri="{FF2B5EF4-FFF2-40B4-BE49-F238E27FC236}">
                <a16:creationId xmlns:a16="http://schemas.microsoft.com/office/drawing/2014/main" id="{2FF61CAE-3501-C9A7-46D9-017B6DF01567}"/>
              </a:ext>
            </a:extLst>
          </p:cNvPr>
          <p:cNvSpPr/>
          <p:nvPr/>
        </p:nvSpPr>
        <p:spPr>
          <a:xfrm>
            <a:off x="4356153" y="1371826"/>
            <a:ext cx="3479694"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b="1" dirty="0">
                <a:solidFill>
                  <a:schemeClr val="accent2"/>
                </a:solidFill>
              </a:rPr>
              <a:t>CLAUDE CODE</a:t>
            </a:r>
          </a:p>
          <a:p>
            <a:endParaRPr lang="en-IN" dirty="0">
              <a:solidFill>
                <a:schemeClr val="tx1"/>
              </a:solidFill>
            </a:endParaRPr>
          </a:p>
          <a:p>
            <a:pPr marL="285750" indent="-285750">
              <a:buClr>
                <a:schemeClr val="tx1"/>
              </a:buClr>
              <a:buFont typeface="Wingdings" pitchFamily="2" charset="2"/>
              <a:buChar char="Ø"/>
            </a:pPr>
            <a:r>
              <a:rPr lang="en-IN" sz="1400" dirty="0">
                <a:solidFill>
                  <a:schemeClr val="tx1"/>
                </a:solidFill>
              </a:rPr>
              <a:t>Navigate the terminal interface and issue real prompts</a:t>
            </a:r>
          </a:p>
          <a:p>
            <a:pPr marL="285750" indent="-285750">
              <a:buClr>
                <a:schemeClr val="tx1"/>
              </a:buClr>
              <a:buFont typeface="Wingdings" pitchFamily="2" charset="2"/>
              <a:buChar char="Ø"/>
            </a:pPr>
            <a:r>
              <a:rPr lang="en-IN" sz="1400" dirty="0">
                <a:solidFill>
                  <a:schemeClr val="tx1"/>
                </a:solidFill>
              </a:rPr>
              <a:t>Use </a:t>
            </a:r>
            <a:r>
              <a:rPr lang="en-IN" sz="1400" dirty="0" err="1">
                <a:solidFill>
                  <a:schemeClr val="tx1"/>
                </a:solidFill>
              </a:rPr>
              <a:t>CLAUDE.md</a:t>
            </a:r>
            <a:r>
              <a:rPr lang="en-IN" sz="1400" dirty="0">
                <a:solidFill>
                  <a:schemeClr val="tx1"/>
                </a:solidFill>
              </a:rPr>
              <a:t> to give Claude reliable project context</a:t>
            </a:r>
          </a:p>
          <a:p>
            <a:pPr marL="285750" indent="-285750">
              <a:buClr>
                <a:schemeClr val="tx1"/>
              </a:buClr>
              <a:buFont typeface="Wingdings" pitchFamily="2" charset="2"/>
              <a:buChar char="Ø"/>
            </a:pPr>
            <a:r>
              <a:rPr lang="en-IN" sz="1400" dirty="0">
                <a:solidFill>
                  <a:schemeClr val="tx1"/>
                </a:solidFill>
              </a:rPr>
              <a:t>Use plan mode, /compact, and /cost with confidence</a:t>
            </a:r>
          </a:p>
          <a:p>
            <a:pPr marL="285750" indent="-285750">
              <a:buClr>
                <a:schemeClr val="tx1"/>
              </a:buClr>
              <a:buFont typeface="Wingdings" pitchFamily="2" charset="2"/>
              <a:buChar char="Ø"/>
            </a:pPr>
            <a:r>
              <a:rPr lang="en-IN" sz="1400" dirty="0">
                <a:solidFill>
                  <a:schemeClr val="tx1"/>
                </a:solidFill>
              </a:rPr>
              <a:t>Understand the permission model — nothing changes without your approval</a:t>
            </a:r>
            <a:endParaRPr lang="en-US" sz="1400" dirty="0">
              <a:solidFill>
                <a:schemeClr val="tx1"/>
              </a:solidFill>
            </a:endParaRPr>
          </a:p>
        </p:txBody>
      </p:sp>
      <p:sp>
        <p:nvSpPr>
          <p:cNvPr id="4" name="Rounded Rectangle 3">
            <a:extLst>
              <a:ext uri="{FF2B5EF4-FFF2-40B4-BE49-F238E27FC236}">
                <a16:creationId xmlns:a16="http://schemas.microsoft.com/office/drawing/2014/main" id="{23636938-AC1F-12EF-C0DA-26D91AD41D8E}"/>
              </a:ext>
            </a:extLst>
          </p:cNvPr>
          <p:cNvSpPr/>
          <p:nvPr/>
        </p:nvSpPr>
        <p:spPr>
          <a:xfrm>
            <a:off x="8158928" y="1371826"/>
            <a:ext cx="3479694"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b="1" dirty="0">
                <a:solidFill>
                  <a:schemeClr val="accent2"/>
                </a:solidFill>
              </a:rPr>
              <a:t>PROMPT ENGINEERING</a:t>
            </a:r>
          </a:p>
          <a:p>
            <a:endParaRPr lang="en-IN" b="1" dirty="0">
              <a:solidFill>
                <a:schemeClr val="tx1"/>
              </a:solidFill>
            </a:endParaRPr>
          </a:p>
          <a:p>
            <a:pPr marL="285750" indent="-285750">
              <a:buClr>
                <a:schemeClr val="tx1"/>
              </a:buClr>
              <a:buFont typeface="Wingdings" pitchFamily="2" charset="2"/>
              <a:buChar char="Ø"/>
            </a:pPr>
            <a:r>
              <a:rPr lang="en-IN" sz="1400" dirty="0">
                <a:solidFill>
                  <a:schemeClr val="tx1"/>
                </a:solidFill>
              </a:rPr>
              <a:t>Write a scaffold prompt using stack, architecture intent, edge cases, and output format</a:t>
            </a:r>
          </a:p>
          <a:p>
            <a:pPr marL="285750" indent="-285750">
              <a:buClr>
                <a:schemeClr val="tx1"/>
              </a:buClr>
              <a:buFont typeface="Wingdings" pitchFamily="2" charset="2"/>
              <a:buChar char="Ø"/>
            </a:pPr>
            <a:r>
              <a:rPr lang="en-IN" sz="1400" dirty="0">
                <a:solidFill>
                  <a:schemeClr val="tx1"/>
                </a:solidFill>
              </a:rPr>
              <a:t>Apply the iterative loop — rough scaffold through to documented code</a:t>
            </a:r>
          </a:p>
          <a:p>
            <a:pPr marL="285750" indent="-285750">
              <a:buClr>
                <a:schemeClr val="tx1"/>
              </a:buClr>
              <a:buFont typeface="Wingdings" pitchFamily="2" charset="2"/>
              <a:buChar char="Ø"/>
            </a:pPr>
            <a:r>
              <a:rPr lang="en-IN" sz="1400" dirty="0">
                <a:solidFill>
                  <a:schemeClr val="tx1"/>
                </a:solidFill>
              </a:rPr>
              <a:t>Prompt for understanding, not just output</a:t>
            </a:r>
          </a:p>
          <a:p>
            <a:pPr marL="285750" indent="-285750">
              <a:buClr>
                <a:schemeClr val="tx1"/>
              </a:buClr>
              <a:buFont typeface="Wingdings" pitchFamily="2" charset="2"/>
              <a:buChar char="Ø"/>
            </a:pPr>
            <a:r>
              <a:rPr lang="en-IN" sz="1400" dirty="0">
                <a:solidFill>
                  <a:schemeClr val="tx1"/>
                </a:solidFill>
              </a:rPr>
              <a:t>Diagnose the gap between v1 and v2 and close it deliberately</a:t>
            </a:r>
            <a:endParaRPr lang="en-US" sz="1400" dirty="0">
              <a:solidFill>
                <a:schemeClr val="tx1"/>
              </a:solidFill>
            </a:endParaRPr>
          </a:p>
        </p:txBody>
      </p:sp>
    </p:spTree>
    <p:extLst>
      <p:ext uri="{BB962C8B-B14F-4D97-AF65-F5344CB8AC3E}">
        <p14:creationId xmlns:p14="http://schemas.microsoft.com/office/powerpoint/2010/main" val="582663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490DA318-E551-88A3-EF5C-4BA0D01DDF1A}"/>
            </a:ext>
          </a:extLst>
        </p:cNvPr>
        <p:cNvGrpSpPr/>
        <p:nvPr/>
      </p:nvGrpSpPr>
      <p:grpSpPr>
        <a:xfrm>
          <a:off x="0" y="0"/>
          <a:ext cx="0" cy="0"/>
          <a:chOff x="0" y="0"/>
          <a:chExt cx="0" cy="0"/>
        </a:xfrm>
      </p:grpSpPr>
      <p:sp>
        <p:nvSpPr>
          <p:cNvPr id="11" name="Shape 4">
            <a:extLst>
              <a:ext uri="{FF2B5EF4-FFF2-40B4-BE49-F238E27FC236}">
                <a16:creationId xmlns:a16="http://schemas.microsoft.com/office/drawing/2014/main" id="{D5534568-6310-DB71-CBB5-56559DF75AA2}"/>
              </a:ext>
            </a:extLst>
          </p:cNvPr>
          <p:cNvSpPr/>
          <p:nvPr/>
        </p:nvSpPr>
        <p:spPr>
          <a:xfrm>
            <a:off x="549434" y="4733413"/>
            <a:ext cx="11034359" cy="1044399"/>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a:extLst>
              <a:ext uri="{FF2B5EF4-FFF2-40B4-BE49-F238E27FC236}">
                <a16:creationId xmlns:a16="http://schemas.microsoft.com/office/drawing/2014/main" id="{14C93F29-5F15-4C23-4C90-F10A2D6F60D3}"/>
              </a:ext>
            </a:extLst>
          </p:cNvPr>
          <p:cNvSpPr txBox="1">
            <a:spLocks/>
          </p:cNvSpPr>
          <p:nvPr/>
        </p:nvSpPr>
        <p:spPr>
          <a:xfrm>
            <a:off x="494528"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Practice</a:t>
            </a:r>
          </a:p>
        </p:txBody>
      </p:sp>
      <p:sp>
        <p:nvSpPr>
          <p:cNvPr id="9" name="Shape 4">
            <a:extLst>
              <a:ext uri="{FF2B5EF4-FFF2-40B4-BE49-F238E27FC236}">
                <a16:creationId xmlns:a16="http://schemas.microsoft.com/office/drawing/2014/main" id="{56AC568D-39C5-ACA7-C275-2B48F5ED432D}"/>
              </a:ext>
            </a:extLst>
          </p:cNvPr>
          <p:cNvSpPr/>
          <p:nvPr/>
        </p:nvSpPr>
        <p:spPr>
          <a:xfrm>
            <a:off x="549434" y="2368904"/>
            <a:ext cx="11034359" cy="1044399"/>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4">
            <a:extLst>
              <a:ext uri="{FF2B5EF4-FFF2-40B4-BE49-F238E27FC236}">
                <a16:creationId xmlns:a16="http://schemas.microsoft.com/office/drawing/2014/main" id="{D5BF6038-C94F-66D7-68A7-60FED72861E2}"/>
              </a:ext>
            </a:extLst>
          </p:cNvPr>
          <p:cNvSpPr/>
          <p:nvPr/>
        </p:nvSpPr>
        <p:spPr>
          <a:xfrm>
            <a:off x="549434" y="1190800"/>
            <a:ext cx="11034359" cy="1044399"/>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4">
            <a:extLst>
              <a:ext uri="{FF2B5EF4-FFF2-40B4-BE49-F238E27FC236}">
                <a16:creationId xmlns:a16="http://schemas.microsoft.com/office/drawing/2014/main" id="{311ABCD8-1EC5-2554-2F98-AD50F7EE9EC2}"/>
              </a:ext>
            </a:extLst>
          </p:cNvPr>
          <p:cNvSpPr/>
          <p:nvPr/>
        </p:nvSpPr>
        <p:spPr>
          <a:xfrm>
            <a:off x="549434" y="3541922"/>
            <a:ext cx="11034359" cy="1044399"/>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93BF7075-C3A9-DF21-3E3B-7A74A12A691D}"/>
              </a:ext>
            </a:extLst>
          </p:cNvPr>
          <p:cNvSpPr txBox="1"/>
          <p:nvPr/>
        </p:nvSpPr>
        <p:spPr bwMode="auto">
          <a:xfrm>
            <a:off x="725436" y="1405223"/>
            <a:ext cx="9785131" cy="615553"/>
          </a:xfrm>
          <a:prstGeom prst="rect">
            <a:avLst/>
          </a:prstGeom>
        </p:spPr>
        <p:txBody>
          <a:bodyPr wrap="square" rtlCol="0">
            <a:spAutoFit/>
          </a:bodyPr>
          <a:lstStyle/>
          <a:p>
            <a:r>
              <a:rPr lang="en-IN" b="1" dirty="0">
                <a:solidFill>
                  <a:schemeClr val="accent1"/>
                </a:solidFill>
              </a:rPr>
              <a:t>Task 1</a:t>
            </a:r>
            <a:br>
              <a:rPr lang="en-IN" dirty="0"/>
            </a:br>
            <a:r>
              <a:rPr lang="en-IN" sz="1600" dirty="0"/>
              <a:t>Pick one small utility you need. Write a scaffold prompt using the template. Generate v1. Run it.</a:t>
            </a:r>
          </a:p>
        </p:txBody>
      </p:sp>
      <p:sp>
        <p:nvSpPr>
          <p:cNvPr id="4" name="TextBox 3">
            <a:extLst>
              <a:ext uri="{FF2B5EF4-FFF2-40B4-BE49-F238E27FC236}">
                <a16:creationId xmlns:a16="http://schemas.microsoft.com/office/drawing/2014/main" id="{BE96DCA4-B74C-B82E-DF49-18A8C6CC9354}"/>
              </a:ext>
            </a:extLst>
          </p:cNvPr>
          <p:cNvSpPr txBox="1"/>
          <p:nvPr/>
        </p:nvSpPr>
        <p:spPr bwMode="auto">
          <a:xfrm>
            <a:off x="725436" y="2583327"/>
            <a:ext cx="9785131" cy="615553"/>
          </a:xfrm>
          <a:prstGeom prst="rect">
            <a:avLst/>
          </a:prstGeom>
        </p:spPr>
        <p:txBody>
          <a:bodyPr wrap="square" rtlCol="0">
            <a:spAutoFit/>
          </a:bodyPr>
          <a:lstStyle/>
          <a:p>
            <a:r>
              <a:rPr lang="en-IN" b="1" dirty="0">
                <a:solidFill>
                  <a:schemeClr val="accent1"/>
                </a:solidFill>
              </a:rPr>
              <a:t>Task 2</a:t>
            </a:r>
            <a:br>
              <a:rPr lang="en-IN" dirty="0"/>
            </a:br>
            <a:r>
              <a:rPr lang="en-IN" sz="1600" dirty="0"/>
              <a:t>Review v1 with fresh eyes. Identify the gaps. Rewrite the prompt. Generate v2. Note what changed.</a:t>
            </a:r>
          </a:p>
        </p:txBody>
      </p:sp>
      <p:sp>
        <p:nvSpPr>
          <p:cNvPr id="7" name="TextBox 6">
            <a:extLst>
              <a:ext uri="{FF2B5EF4-FFF2-40B4-BE49-F238E27FC236}">
                <a16:creationId xmlns:a16="http://schemas.microsoft.com/office/drawing/2014/main" id="{247192F9-B60B-7083-31C9-98D9B912F8C1}"/>
              </a:ext>
            </a:extLst>
          </p:cNvPr>
          <p:cNvSpPr txBox="1"/>
          <p:nvPr/>
        </p:nvSpPr>
        <p:spPr bwMode="auto">
          <a:xfrm>
            <a:off x="725436" y="3633234"/>
            <a:ext cx="9785131" cy="861774"/>
          </a:xfrm>
          <a:prstGeom prst="rect">
            <a:avLst/>
          </a:prstGeom>
        </p:spPr>
        <p:txBody>
          <a:bodyPr wrap="square" rtlCol="0">
            <a:spAutoFit/>
          </a:bodyPr>
          <a:lstStyle/>
          <a:p>
            <a:r>
              <a:rPr lang="en-IN" b="1" dirty="0">
                <a:solidFill>
                  <a:schemeClr val="accent1"/>
                </a:solidFill>
              </a:rPr>
              <a:t>Task 3Write a one-paragraph brief for DischargeFlow in your own words, then compare it with docs/BRIEF.md in the course repo.</a:t>
            </a:r>
            <a:br>
              <a:rPr lang="en-IN" dirty="0"/>
            </a:br>
            <a:r>
              <a:rPr lang="en-IN" sz="1600" dirty="0"/>
              <a:t/>
            </a:r>
          </a:p>
        </p:txBody>
      </p:sp>
      <p:sp>
        <p:nvSpPr>
          <p:cNvPr id="8" name="TextBox 7">
            <a:extLst>
              <a:ext uri="{FF2B5EF4-FFF2-40B4-BE49-F238E27FC236}">
                <a16:creationId xmlns:a16="http://schemas.microsoft.com/office/drawing/2014/main" id="{37A1C476-92E1-29C7-3BFC-5DBBD9C7DBC0}"/>
              </a:ext>
            </a:extLst>
          </p:cNvPr>
          <p:cNvSpPr txBox="1"/>
          <p:nvPr/>
        </p:nvSpPr>
        <p:spPr bwMode="auto">
          <a:xfrm>
            <a:off x="725436" y="4824725"/>
            <a:ext cx="9785131" cy="861774"/>
          </a:xfrm>
          <a:prstGeom prst="rect">
            <a:avLst/>
          </a:prstGeom>
        </p:spPr>
        <p:txBody>
          <a:bodyPr wrap="square" rtlCol="0">
            <a:spAutoFit/>
          </a:bodyPr>
          <a:lstStyle/>
          <a:p>
            <a:r>
              <a:rPr lang="en-IN" b="1" dirty="0">
                <a:solidFill>
                  <a:schemeClr val="accent1"/>
                </a:solidFill>
              </a:rPr>
              <a:t>Task 4</a:t>
            </a:r>
            <a:br>
              <a:rPr lang="en-IN" dirty="0"/>
            </a:br>
            <a:r>
              <a:rPr lang="en-IN" sz="1600" dirty="0"/>
              <a:t>Open Claude Code on a project you already own. Run /init. Read the </a:t>
            </a:r>
            <a:r>
              <a:rPr lang="en-IN" sz="1600" dirty="0" err="1"/>
              <a:t>CLAUDE.md</a:t>
            </a:r>
            <a:r>
              <a:rPr lang="en-IN" sz="1600" dirty="0"/>
              <a:t> it generates. Edit one section to make it more accurate.</a:t>
            </a:r>
          </a:p>
        </p:txBody>
      </p:sp>
    </p:spTree>
    <p:extLst>
      <p:ext uri="{BB962C8B-B14F-4D97-AF65-F5344CB8AC3E}">
        <p14:creationId xmlns:p14="http://schemas.microsoft.com/office/powerpoint/2010/main" val="34713282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35F788E1-EBC6-39DE-6E86-A9FBB117A507}"/>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02B7EB2D-DD56-5456-2369-C71477B48912}"/>
              </a:ext>
            </a:extLst>
          </p:cNvPr>
          <p:cNvSpPr txBox="1">
            <a:spLocks/>
          </p:cNvSpPr>
          <p:nvPr/>
        </p:nvSpPr>
        <p:spPr>
          <a:xfrm>
            <a:off x="540709"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What's Next: Building Your First PoC</a:t>
            </a:r>
          </a:p>
        </p:txBody>
      </p:sp>
      <p:sp>
        <p:nvSpPr>
          <p:cNvPr id="2" name="Shape 4">
            <a:extLst>
              <a:ext uri="{FF2B5EF4-FFF2-40B4-BE49-F238E27FC236}">
                <a16:creationId xmlns:a16="http://schemas.microsoft.com/office/drawing/2014/main" id="{76F73751-11CB-8C10-BD06-EBDB23DB7374}"/>
              </a:ext>
            </a:extLst>
          </p:cNvPr>
          <p:cNvSpPr/>
          <p:nvPr/>
        </p:nvSpPr>
        <p:spPr>
          <a:xfrm>
            <a:off x="605365" y="2059710"/>
            <a:ext cx="5490635" cy="2004290"/>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2099FAD5-2492-6D59-7C27-A5EF2AF8ADC1}"/>
              </a:ext>
            </a:extLst>
          </p:cNvPr>
          <p:cNvSpPr txBox="1"/>
          <p:nvPr/>
        </p:nvSpPr>
        <p:spPr bwMode="auto">
          <a:xfrm>
            <a:off x="679255" y="2323191"/>
            <a:ext cx="5342854" cy="1477328"/>
          </a:xfrm>
          <a:prstGeom prst="rect">
            <a:avLst/>
          </a:prstGeom>
        </p:spPr>
        <p:txBody>
          <a:bodyPr wrap="square" rtlCol="0">
            <a:spAutoFit/>
          </a:bodyPr>
          <a:lstStyle/>
          <a:p>
            <a:pPr marL="285750" indent="-285750">
              <a:buFont typeface="Wingdings" pitchFamily="2" charset="2"/>
              <a:buChar char="Ø"/>
            </a:pPr>
            <a:r>
              <a:rPr lang="en-IN" dirty="0"/>
              <a:t>Scoping and Briefing Your PoC</a:t>
            </a:r>
          </a:p>
          <a:p>
            <a:pPr marL="285750" indent="-285750">
              <a:buFont typeface="Wingdings" pitchFamily="2" charset="2"/>
              <a:buChar char="Ø"/>
            </a:pPr>
            <a:endParaRPr lang="en-IN" dirty="0"/>
          </a:p>
          <a:p>
            <a:pPr marL="285750" indent="-285750">
              <a:buFont typeface="Wingdings" pitchFamily="2" charset="2"/>
              <a:buChar char="Ø"/>
            </a:pPr>
            <a:r>
              <a:rPr lang="en-IN" dirty="0"/>
              <a:t>The Build Loop: From Brief to Running Code</a:t>
            </a:r>
          </a:p>
          <a:p>
            <a:pPr marL="285750" indent="-285750">
              <a:buFont typeface="Wingdings" pitchFamily="2" charset="2"/>
              <a:buChar char="Ø"/>
            </a:pPr>
            <a:endParaRPr lang="en-IN" dirty="0"/>
          </a:p>
          <a:p>
            <a:pPr marL="285750" indent="-285750">
              <a:buFont typeface="Wingdings" pitchFamily="2" charset="2"/>
              <a:buChar char="Ø"/>
            </a:pPr>
            <a:r>
              <a:rPr lang="en-IN" dirty="0"/>
              <a:t>Finishing, Documenting and Stabilising</a:t>
            </a:r>
            <a:endParaRPr lang="en-US" dirty="0"/>
          </a:p>
        </p:txBody>
      </p:sp>
    </p:spTree>
    <p:extLst>
      <p:ext uri="{BB962C8B-B14F-4D97-AF65-F5344CB8AC3E}">
        <p14:creationId xmlns:p14="http://schemas.microsoft.com/office/powerpoint/2010/main" val="14798622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628802"/>
      </p:ext>
    </p:extLst>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FA306A6F-C672-F83D-94F3-F42E6EA02C18}"/>
              </a:ext>
            </a:extLst>
          </p:cNvPr>
          <p:cNvSpPr/>
          <p:nvPr/>
        </p:nvSpPr>
        <p:spPr>
          <a:xfrm>
            <a:off x="489600" y="254400"/>
            <a:ext cx="11216640" cy="633984"/>
          </a:xfrm>
          <a:prstGeom prst="rect">
            <a:avLst/>
          </a:prstGeom>
          <a:noFill/>
          <a:ln/>
        </p:spPr>
        <p:txBody>
          <a:bodyPr wrap="square" lIns="0" tIns="0" rIns="0" bIns="0" rtlCol="0" anchor="ctr"/>
          <a:lstStyle/>
          <a:p>
            <a:r>
              <a:rPr lang="en-US" sz="3750" b="1">
                <a:latin typeface="Open Sans" panose="020B0606030504020204" pitchFamily="34" charset="0"/>
                <a:ea typeface="Open Sans" panose="020B0606030504020204" pitchFamily="34" charset="0"/>
                <a:cs typeface="Open Sans" panose="020B0606030504020204" pitchFamily="34" charset="0"/>
              </a:rPr>
              <a:t>Under the Hood: The Agent Loop</a:t>
            </a:r>
          </a:p>
        </p:txBody>
      </p:sp>
      <p:sp>
        <p:nvSpPr>
          <p:cNvPr id="4" name="Shape 2">
            <a:extLst>
              <a:ext uri="{FF2B5EF4-FFF2-40B4-BE49-F238E27FC236}">
                <a16:creationId xmlns:a16="http://schemas.microsoft.com/office/drawing/2014/main" id="{F26DC8F7-C91F-609A-4353-BDF40D1DEF38}"/>
              </a:ext>
            </a:extLst>
          </p:cNvPr>
          <p:cNvSpPr/>
          <p:nvPr/>
        </p:nvSpPr>
        <p:spPr>
          <a:xfrm>
            <a:off x="512966" y="1744997"/>
            <a:ext cx="2097024" cy="3829009"/>
          </a:xfrm>
          <a:prstGeom prst="roundRect">
            <a:avLst>
              <a:gd name="adj" fmla="val 5814"/>
            </a:avLst>
          </a:prstGeom>
          <a:solidFill>
            <a:srgbClr val="F5F5F5"/>
          </a:solidFill>
          <a:ln w="25400">
            <a:solidFill>
              <a:schemeClr val="accent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Shape 3">
            <a:extLst>
              <a:ext uri="{FF2B5EF4-FFF2-40B4-BE49-F238E27FC236}">
                <a16:creationId xmlns:a16="http://schemas.microsoft.com/office/drawing/2014/main" id="{D3A4E779-4D6C-73C3-2FCE-B36F8F6861A8}"/>
              </a:ext>
            </a:extLst>
          </p:cNvPr>
          <p:cNvSpPr/>
          <p:nvPr/>
        </p:nvSpPr>
        <p:spPr>
          <a:xfrm>
            <a:off x="1281062" y="1981456"/>
            <a:ext cx="560832" cy="560832"/>
          </a:xfrm>
          <a:prstGeom prst="ellipse">
            <a:avLst/>
          </a:prstGeom>
          <a:solidFill>
            <a:schemeClr val="accent2"/>
          </a:solidFill>
          <a:ln w="16933">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a:extLst>
              <a:ext uri="{FF2B5EF4-FFF2-40B4-BE49-F238E27FC236}">
                <a16:creationId xmlns:a16="http://schemas.microsoft.com/office/drawing/2014/main" id="{42B2C5F8-9708-2520-C767-F74FF94A8507}"/>
              </a:ext>
            </a:extLst>
          </p:cNvPr>
          <p:cNvSpPr/>
          <p:nvPr/>
        </p:nvSpPr>
        <p:spPr>
          <a:xfrm>
            <a:off x="1281062" y="1981456"/>
            <a:ext cx="560832" cy="560832"/>
          </a:xfrm>
          <a:prstGeom prst="rect">
            <a:avLst/>
          </a:prstGeom>
          <a:noFill/>
          <a:ln/>
        </p:spPr>
        <p:txBody>
          <a:bodyPr wrap="square" lIns="0" tIns="0" rIns="0" bIns="0" rtlCol="0" anchor="ctr"/>
          <a:lstStyle/>
          <a:p>
            <a:pPr marL="0" indent="0" algn="ctr">
              <a:buNone/>
            </a:pPr>
            <a:r>
              <a:rPr lang="en-US" sz="2150"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215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a:extLst>
              <a:ext uri="{FF2B5EF4-FFF2-40B4-BE49-F238E27FC236}">
                <a16:creationId xmlns:a16="http://schemas.microsoft.com/office/drawing/2014/main" id="{89F2FD95-2A77-849E-6363-F69EC723390A}"/>
              </a:ext>
            </a:extLst>
          </p:cNvPr>
          <p:cNvSpPr/>
          <p:nvPr/>
        </p:nvSpPr>
        <p:spPr>
          <a:xfrm>
            <a:off x="610502" y="2622822"/>
            <a:ext cx="1901952" cy="609600"/>
          </a:xfrm>
          <a:prstGeom prst="rect">
            <a:avLst/>
          </a:prstGeom>
          <a:noFill/>
          <a:ln/>
        </p:spPr>
        <p:txBody>
          <a:bodyPr wrap="square" lIns="0" tIns="0" rIns="0" bIns="0" rtlCol="0" anchor="ctr"/>
          <a:lstStyle/>
          <a:p>
            <a:pPr marL="0" indent="0" algn="ctr">
              <a:buNone/>
            </a:pPr>
            <a:r>
              <a:rPr lang="en-US" sz="1450" b="1">
                <a:solidFill>
                  <a:schemeClr val="accent2"/>
                </a:solidFill>
                <a:latin typeface="Open Sans" panose="020B0606030504020204" pitchFamily="34" charset="0"/>
                <a:ea typeface="Open Sans" panose="020B0606030504020204" pitchFamily="34" charset="0"/>
                <a:cs typeface="Open Sans" panose="020B0606030504020204" pitchFamily="34" charset="0"/>
              </a:rPr>
              <a:t>GATHER</a:t>
            </a:r>
          </a:p>
        </p:txBody>
      </p:sp>
      <p:sp>
        <p:nvSpPr>
          <p:cNvPr id="8" name="Text 6">
            <a:extLst>
              <a:ext uri="{FF2B5EF4-FFF2-40B4-BE49-F238E27FC236}">
                <a16:creationId xmlns:a16="http://schemas.microsoft.com/office/drawing/2014/main" id="{1EA63F9F-2C9C-E219-1482-F7075ABA8355}"/>
              </a:ext>
            </a:extLst>
          </p:cNvPr>
          <p:cNvSpPr/>
          <p:nvPr/>
        </p:nvSpPr>
        <p:spPr>
          <a:xfrm>
            <a:off x="610502" y="3249128"/>
            <a:ext cx="1901952" cy="1890856"/>
          </a:xfrm>
          <a:prstGeom prst="rect">
            <a:avLst/>
          </a:prstGeom>
          <a:noFill/>
          <a:ln/>
        </p:spPr>
        <p:txBody>
          <a:bodyPr wrap="square" lIns="0" tIns="0" rIns="0" bIns="0" rtlCol="0" anchor="t"/>
          <a:lstStyle/>
          <a:p>
            <a:pPr algn="ctr"/>
            <a:r>
              <a:rPr lang="en-IN" sz="1400">
                <a:latin typeface="Open Sans" pitchFamily="2" charset="0"/>
                <a:ea typeface="Open Sans" pitchFamily="2" charset="0"/>
                <a:cs typeface="Open Sans" pitchFamily="2" charset="0"/>
              </a:rPr>
              <a:t>Your prompt, CLAUDE.md and its @imports, and prior turns are assembled into the context window.</a:t>
            </a:r>
            <a:endParaRPr lang="en-US" sz="1400">
              <a:latin typeface="Open Sans" pitchFamily="2" charset="0"/>
              <a:ea typeface="Open Sans" pitchFamily="2" charset="0"/>
              <a:cs typeface="Open Sans" pitchFamily="2" charset="0"/>
            </a:endParaRPr>
          </a:p>
        </p:txBody>
      </p:sp>
      <p:sp>
        <p:nvSpPr>
          <p:cNvPr id="10" name="Shape 8">
            <a:extLst>
              <a:ext uri="{FF2B5EF4-FFF2-40B4-BE49-F238E27FC236}">
                <a16:creationId xmlns:a16="http://schemas.microsoft.com/office/drawing/2014/main" id="{4153DF97-48D1-81C9-A7EC-FB10489AA962}"/>
              </a:ext>
            </a:extLst>
          </p:cNvPr>
          <p:cNvSpPr/>
          <p:nvPr/>
        </p:nvSpPr>
        <p:spPr>
          <a:xfrm>
            <a:off x="2792870" y="1744997"/>
            <a:ext cx="2097024" cy="3829009"/>
          </a:xfrm>
          <a:prstGeom prst="roundRect">
            <a:avLst>
              <a:gd name="adj" fmla="val 5814"/>
            </a:avLst>
          </a:prstGeom>
          <a:solidFill>
            <a:srgbClr val="F5F5F5"/>
          </a:solidFill>
          <a:ln w="2540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9">
            <a:extLst>
              <a:ext uri="{FF2B5EF4-FFF2-40B4-BE49-F238E27FC236}">
                <a16:creationId xmlns:a16="http://schemas.microsoft.com/office/drawing/2014/main" id="{0D17BC0D-3BF4-B8E2-6CD8-C9145123347B}"/>
              </a:ext>
            </a:extLst>
          </p:cNvPr>
          <p:cNvSpPr/>
          <p:nvPr/>
        </p:nvSpPr>
        <p:spPr>
          <a:xfrm>
            <a:off x="3560966" y="1981456"/>
            <a:ext cx="560832" cy="560832"/>
          </a:xfrm>
          <a:prstGeom prst="ellipse">
            <a:avLst/>
          </a:prstGeom>
          <a:solidFill>
            <a:schemeClr val="accent1"/>
          </a:solidFill>
          <a:ln w="16933">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62E6D61F-5970-40C0-9520-A781C8B21EAB}"/>
              </a:ext>
            </a:extLst>
          </p:cNvPr>
          <p:cNvSpPr/>
          <p:nvPr/>
        </p:nvSpPr>
        <p:spPr>
          <a:xfrm>
            <a:off x="3560966" y="1981456"/>
            <a:ext cx="560832" cy="560832"/>
          </a:xfrm>
          <a:prstGeom prst="rect">
            <a:avLst/>
          </a:prstGeom>
          <a:noFill/>
          <a:ln/>
        </p:spPr>
        <p:txBody>
          <a:bodyPr wrap="square" lIns="0" tIns="0" rIns="0" bIns="0" rtlCol="0" anchor="ctr"/>
          <a:lstStyle/>
          <a:p>
            <a:pPr marL="0" indent="0" algn="ctr">
              <a:buNone/>
            </a:pPr>
            <a:r>
              <a:rPr lang="en-US" sz="2150"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215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B32380DD-0492-BAA0-BC63-828BE246DB02}"/>
              </a:ext>
            </a:extLst>
          </p:cNvPr>
          <p:cNvSpPr/>
          <p:nvPr/>
        </p:nvSpPr>
        <p:spPr>
          <a:xfrm>
            <a:off x="2890406" y="2622822"/>
            <a:ext cx="1901952" cy="609600"/>
          </a:xfrm>
          <a:prstGeom prst="rect">
            <a:avLst/>
          </a:prstGeom>
          <a:noFill/>
          <a:ln/>
        </p:spPr>
        <p:txBody>
          <a:bodyPr wrap="square" lIns="0" tIns="0" rIns="0" bIns="0" rtlCol="0" anchor="ctr"/>
          <a:lstStyle/>
          <a:p>
            <a:pPr marL="0" indent="0" algn="ctr">
              <a:buNone/>
            </a:pPr>
            <a:r>
              <a:rPr lang="en-US" sz="1450" b="1">
                <a:solidFill>
                  <a:schemeClr val="accent1"/>
                </a:solidFill>
                <a:latin typeface="Open Sans" panose="020B0606030504020204" pitchFamily="34" charset="0"/>
                <a:ea typeface="Open Sans" panose="020B0606030504020204" pitchFamily="34" charset="0"/>
                <a:cs typeface="Open Sans" panose="020B0606030504020204" pitchFamily="34" charset="0"/>
              </a:rPr>
              <a:t>REASON</a:t>
            </a:r>
          </a:p>
        </p:txBody>
      </p:sp>
      <p:sp>
        <p:nvSpPr>
          <p:cNvPr id="14" name="Text 12">
            <a:extLst>
              <a:ext uri="{FF2B5EF4-FFF2-40B4-BE49-F238E27FC236}">
                <a16:creationId xmlns:a16="http://schemas.microsoft.com/office/drawing/2014/main" id="{5726A930-8FCE-7FED-DDEB-2C8CC22AAAE7}"/>
              </a:ext>
            </a:extLst>
          </p:cNvPr>
          <p:cNvSpPr/>
          <p:nvPr/>
        </p:nvSpPr>
        <p:spPr>
          <a:xfrm>
            <a:off x="2890406" y="3249128"/>
            <a:ext cx="1901952" cy="1890856"/>
          </a:xfrm>
          <a:prstGeom prst="rect">
            <a:avLst/>
          </a:prstGeom>
          <a:noFill/>
          <a:ln/>
        </p:spPr>
        <p:txBody>
          <a:bodyPr wrap="square" lIns="0" tIns="0" rIns="0" bIns="0" rtlCol="0" anchor="t"/>
          <a:lstStyle/>
          <a:p>
            <a:pPr algn="ctr"/>
            <a:r>
              <a:rPr lang="en-IN" sz="1400">
                <a:latin typeface="Open Sans" pitchFamily="2" charset="0"/>
                <a:ea typeface="Open Sans" pitchFamily="2" charset="0"/>
                <a:cs typeface="Open Sans" pitchFamily="2" charset="0"/>
              </a:rPr>
              <a:t>The model plans and emits a tool_use block (Read, Grep, Glob, Edit, Write or Bash) with JSON arguments.</a:t>
            </a:r>
            <a:endParaRPr lang="en-US" sz="1400">
              <a:latin typeface="Open Sans" pitchFamily="2" charset="0"/>
              <a:ea typeface="Open Sans" pitchFamily="2" charset="0"/>
              <a:cs typeface="Open Sans" pitchFamily="2" charset="0"/>
            </a:endParaRPr>
          </a:p>
        </p:txBody>
      </p:sp>
      <p:sp>
        <p:nvSpPr>
          <p:cNvPr id="16" name="Shape 14">
            <a:extLst>
              <a:ext uri="{FF2B5EF4-FFF2-40B4-BE49-F238E27FC236}">
                <a16:creationId xmlns:a16="http://schemas.microsoft.com/office/drawing/2014/main" id="{8C69E38C-A8C9-CC38-234A-8F42DA7C8E99}"/>
              </a:ext>
            </a:extLst>
          </p:cNvPr>
          <p:cNvSpPr/>
          <p:nvPr/>
        </p:nvSpPr>
        <p:spPr>
          <a:xfrm>
            <a:off x="5072774" y="1744997"/>
            <a:ext cx="2097024" cy="3829009"/>
          </a:xfrm>
          <a:prstGeom prst="roundRect">
            <a:avLst>
              <a:gd name="adj" fmla="val 5814"/>
            </a:avLst>
          </a:prstGeom>
          <a:solidFill>
            <a:srgbClr val="F5F5F5"/>
          </a:solidFill>
          <a:ln w="25400">
            <a:solidFill>
              <a:srgbClr val="2E7D3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D9E8C8B3-0B2B-6DD3-7F60-44B1BBBF188D}"/>
              </a:ext>
            </a:extLst>
          </p:cNvPr>
          <p:cNvSpPr/>
          <p:nvPr/>
        </p:nvSpPr>
        <p:spPr>
          <a:xfrm>
            <a:off x="5840870" y="1981456"/>
            <a:ext cx="560832" cy="560832"/>
          </a:xfrm>
          <a:prstGeom prst="ellipse">
            <a:avLst/>
          </a:prstGeom>
          <a:solidFill>
            <a:srgbClr val="00B050"/>
          </a:solidFill>
          <a:ln w="16933">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8482D8CB-5147-98BE-C3EF-CC80B4A8FFB1}"/>
              </a:ext>
            </a:extLst>
          </p:cNvPr>
          <p:cNvSpPr/>
          <p:nvPr/>
        </p:nvSpPr>
        <p:spPr>
          <a:xfrm>
            <a:off x="5840870" y="1981456"/>
            <a:ext cx="560832" cy="560832"/>
          </a:xfrm>
          <a:prstGeom prst="rect">
            <a:avLst/>
          </a:prstGeom>
          <a:noFill/>
          <a:ln/>
        </p:spPr>
        <p:txBody>
          <a:bodyPr wrap="square" lIns="0" tIns="0" rIns="0" bIns="0" rtlCol="0" anchor="ctr"/>
          <a:lstStyle/>
          <a:p>
            <a:pPr marL="0" indent="0" algn="ctr">
              <a:buNone/>
            </a:pPr>
            <a:r>
              <a:rPr lang="en-US" sz="2150"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215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B788BF04-B8D2-5800-E0DB-2354D606D8B9}"/>
              </a:ext>
            </a:extLst>
          </p:cNvPr>
          <p:cNvSpPr/>
          <p:nvPr/>
        </p:nvSpPr>
        <p:spPr>
          <a:xfrm>
            <a:off x="5170310" y="2622822"/>
            <a:ext cx="1901952" cy="609600"/>
          </a:xfrm>
          <a:prstGeom prst="rect">
            <a:avLst/>
          </a:prstGeom>
          <a:noFill/>
          <a:ln/>
        </p:spPr>
        <p:txBody>
          <a:bodyPr wrap="square" lIns="0" tIns="0" rIns="0" bIns="0" rtlCol="0" anchor="ctr"/>
          <a:lstStyle/>
          <a:p>
            <a:pPr marL="0" indent="0" algn="ctr">
              <a:buNone/>
            </a:pPr>
            <a:r>
              <a:rPr lang="en-US" sz="1450" b="1">
                <a:solidFill>
                  <a:srgbClr val="00B050"/>
                </a:solidFill>
                <a:latin typeface="Open Sans" panose="020B0606030504020204" pitchFamily="34" charset="0"/>
                <a:ea typeface="Open Sans" panose="020B0606030504020204" pitchFamily="34" charset="0"/>
                <a:cs typeface="Open Sans" panose="020B0606030504020204" pitchFamily="34" charset="0"/>
              </a:rPr>
              <a:t>GATE</a:t>
            </a:r>
          </a:p>
        </p:txBody>
      </p:sp>
      <p:sp>
        <p:nvSpPr>
          <p:cNvPr id="20" name="Text 18">
            <a:extLst>
              <a:ext uri="{FF2B5EF4-FFF2-40B4-BE49-F238E27FC236}">
                <a16:creationId xmlns:a16="http://schemas.microsoft.com/office/drawing/2014/main" id="{85839D63-567A-EB8D-2029-A7279F768C9F}"/>
              </a:ext>
            </a:extLst>
          </p:cNvPr>
          <p:cNvSpPr/>
          <p:nvPr/>
        </p:nvSpPr>
        <p:spPr>
          <a:xfrm>
            <a:off x="5170310" y="3249128"/>
            <a:ext cx="1901952" cy="1890856"/>
          </a:xfrm>
          <a:prstGeom prst="rect">
            <a:avLst/>
          </a:prstGeom>
          <a:noFill/>
          <a:ln/>
        </p:spPr>
        <p:txBody>
          <a:bodyPr wrap="square" lIns="0" tIns="0" rIns="0" bIns="0" rtlCol="0" anchor="t"/>
          <a:lstStyle/>
          <a:p>
            <a:pPr algn="ctr"/>
            <a:r>
              <a:rPr lang="en-IN" sz="1400">
                <a:latin typeface="Open Sans" pitchFamily="2" charset="0"/>
                <a:ea typeface="Open Sans" pitchFamily="2" charset="0"/>
                <a:cs typeface="Open Sans" pitchFamily="2" charset="0"/>
              </a:rPr>
              <a:t>The permission mode and pre-tool hooks decide: allow, ask you, or block the call.</a:t>
            </a:r>
            <a:br>
              <a:rPr lang="en-IN" sz="1400">
                <a:latin typeface="Open Sans" pitchFamily="2" charset="0"/>
                <a:ea typeface="Open Sans" pitchFamily="2" charset="0"/>
                <a:cs typeface="Open Sans" pitchFamily="2" charset="0"/>
              </a:rPr>
            </a:br>
            <a:r>
              <a:rPr lang="en-IN" sz="1400">
                <a:latin typeface="Open Sans" pitchFamily="2" charset="0"/>
                <a:ea typeface="Open Sans" pitchFamily="2" charset="0"/>
                <a:cs typeface="Open Sans" pitchFamily="2" charset="0"/>
              </a:rPr>
              <a:t/>
            </a:r>
            <a:endParaRPr lang="en-US" sz="1400">
              <a:latin typeface="Open Sans" pitchFamily="2" charset="0"/>
              <a:ea typeface="Open Sans" pitchFamily="2" charset="0"/>
              <a:cs typeface="Open Sans" pitchFamily="2" charset="0"/>
            </a:endParaRPr>
          </a:p>
        </p:txBody>
      </p:sp>
      <p:sp>
        <p:nvSpPr>
          <p:cNvPr id="22" name="Shape 20">
            <a:extLst>
              <a:ext uri="{FF2B5EF4-FFF2-40B4-BE49-F238E27FC236}">
                <a16:creationId xmlns:a16="http://schemas.microsoft.com/office/drawing/2014/main" id="{B3E1EB8A-C9CB-B081-9713-2088868828B0}"/>
              </a:ext>
            </a:extLst>
          </p:cNvPr>
          <p:cNvSpPr/>
          <p:nvPr/>
        </p:nvSpPr>
        <p:spPr>
          <a:xfrm>
            <a:off x="7352678" y="1744997"/>
            <a:ext cx="2097024" cy="3829009"/>
          </a:xfrm>
          <a:prstGeom prst="roundRect">
            <a:avLst>
              <a:gd name="adj" fmla="val 5814"/>
            </a:avLst>
          </a:prstGeom>
          <a:solidFill>
            <a:srgbClr val="F5F5F5"/>
          </a:solidFill>
          <a:ln w="2540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1">
            <a:extLst>
              <a:ext uri="{FF2B5EF4-FFF2-40B4-BE49-F238E27FC236}">
                <a16:creationId xmlns:a16="http://schemas.microsoft.com/office/drawing/2014/main" id="{741C6268-42FC-D881-8C3D-281204924169}"/>
              </a:ext>
            </a:extLst>
          </p:cNvPr>
          <p:cNvSpPr/>
          <p:nvPr/>
        </p:nvSpPr>
        <p:spPr>
          <a:xfrm>
            <a:off x="8120774" y="1981456"/>
            <a:ext cx="560832" cy="560832"/>
          </a:xfrm>
          <a:prstGeom prst="ellipse">
            <a:avLst/>
          </a:prstGeom>
          <a:solidFill>
            <a:schemeClr val="accent3"/>
          </a:solidFill>
          <a:ln w="16933">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a:extLst>
              <a:ext uri="{FF2B5EF4-FFF2-40B4-BE49-F238E27FC236}">
                <a16:creationId xmlns:a16="http://schemas.microsoft.com/office/drawing/2014/main" id="{40BB3FD6-9B06-8EBC-9CF7-EC1C7A4CABE4}"/>
              </a:ext>
            </a:extLst>
          </p:cNvPr>
          <p:cNvSpPr/>
          <p:nvPr/>
        </p:nvSpPr>
        <p:spPr>
          <a:xfrm>
            <a:off x="8120774" y="1981456"/>
            <a:ext cx="560832" cy="560832"/>
          </a:xfrm>
          <a:prstGeom prst="rect">
            <a:avLst/>
          </a:prstGeom>
          <a:noFill/>
          <a:ln/>
        </p:spPr>
        <p:txBody>
          <a:bodyPr wrap="square" lIns="0" tIns="0" rIns="0" bIns="0" rtlCol="0" anchor="ctr"/>
          <a:lstStyle/>
          <a:p>
            <a:pPr marL="0" indent="0" algn="ctr">
              <a:buNone/>
            </a:pPr>
            <a:r>
              <a:rPr lang="en-US" sz="2150"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215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27395BD7-BDC1-153A-49A1-ECB3E7D16287}"/>
              </a:ext>
            </a:extLst>
          </p:cNvPr>
          <p:cNvSpPr/>
          <p:nvPr/>
        </p:nvSpPr>
        <p:spPr>
          <a:xfrm>
            <a:off x="7450214" y="2622822"/>
            <a:ext cx="1901952" cy="609600"/>
          </a:xfrm>
          <a:prstGeom prst="rect">
            <a:avLst/>
          </a:prstGeom>
          <a:noFill/>
          <a:ln/>
        </p:spPr>
        <p:txBody>
          <a:bodyPr wrap="square" lIns="0" tIns="0" rIns="0" bIns="0" rtlCol="0" anchor="ctr"/>
          <a:lstStyle/>
          <a:p>
            <a:pPr marL="0" indent="0" algn="ctr">
              <a:buNone/>
            </a:pPr>
            <a:r>
              <a:rPr lang="en-US" sz="1450" b="1">
                <a:solidFill>
                  <a:schemeClr val="accent3"/>
                </a:solidFill>
                <a:latin typeface="Open Sans" panose="020B0606030504020204" pitchFamily="34" charset="0"/>
                <a:ea typeface="Open Sans" panose="020B0606030504020204" pitchFamily="34" charset="0"/>
                <a:cs typeface="Open Sans" panose="020B0606030504020204" pitchFamily="34" charset="0"/>
              </a:rPr>
              <a:t>ACT</a:t>
            </a:r>
          </a:p>
        </p:txBody>
      </p:sp>
      <p:sp>
        <p:nvSpPr>
          <p:cNvPr id="26" name="Text 24">
            <a:extLst>
              <a:ext uri="{FF2B5EF4-FFF2-40B4-BE49-F238E27FC236}">
                <a16:creationId xmlns:a16="http://schemas.microsoft.com/office/drawing/2014/main" id="{F642D309-5D67-599E-3C28-2705B233F1AB}"/>
              </a:ext>
            </a:extLst>
          </p:cNvPr>
          <p:cNvSpPr/>
          <p:nvPr/>
        </p:nvSpPr>
        <p:spPr>
          <a:xfrm>
            <a:off x="7450214" y="3249128"/>
            <a:ext cx="1901952" cy="1890856"/>
          </a:xfrm>
          <a:prstGeom prst="rect">
            <a:avLst/>
          </a:prstGeom>
          <a:noFill/>
          <a:ln/>
        </p:spPr>
        <p:txBody>
          <a:bodyPr wrap="square" lIns="0" tIns="0" rIns="0" bIns="0" rtlCol="0" anchor="t"/>
          <a:lstStyle/>
          <a:p>
            <a:pPr algn="ctr"/>
            <a:r>
              <a:rPr lang="en-IN" sz="1450">
                <a:latin typeface="Open Sans" pitchFamily="2" charset="0"/>
                <a:ea typeface="Open Sans" pitchFamily="2" charset="0"/>
                <a:cs typeface="Open Sans" pitchFamily="2" charset="0"/>
              </a:rPr>
              <a:t>The tool runs on your machine. Its output returns to the model as a tool_result in context.</a:t>
            </a:r>
            <a:endParaRPr lang="en-US" sz="1450">
              <a:latin typeface="Open Sans" pitchFamily="2" charset="0"/>
              <a:ea typeface="Open Sans" pitchFamily="2" charset="0"/>
              <a:cs typeface="Open Sans" pitchFamily="2" charset="0"/>
            </a:endParaRPr>
          </a:p>
        </p:txBody>
      </p:sp>
      <p:sp>
        <p:nvSpPr>
          <p:cNvPr id="28" name="Shape 26">
            <a:extLst>
              <a:ext uri="{FF2B5EF4-FFF2-40B4-BE49-F238E27FC236}">
                <a16:creationId xmlns:a16="http://schemas.microsoft.com/office/drawing/2014/main" id="{DE055E5B-CE6D-CE28-E687-40BBA659EBA2}"/>
              </a:ext>
            </a:extLst>
          </p:cNvPr>
          <p:cNvSpPr/>
          <p:nvPr/>
        </p:nvSpPr>
        <p:spPr>
          <a:xfrm>
            <a:off x="9632582" y="1744997"/>
            <a:ext cx="2097024" cy="3829009"/>
          </a:xfrm>
          <a:prstGeom prst="roundRect">
            <a:avLst>
              <a:gd name="adj" fmla="val 5814"/>
            </a:avLst>
          </a:prstGeom>
          <a:solidFill>
            <a:srgbClr val="F5F5F5"/>
          </a:solidFill>
          <a:ln w="25400">
            <a:solidFill>
              <a:srgbClr val="00206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7">
            <a:extLst>
              <a:ext uri="{FF2B5EF4-FFF2-40B4-BE49-F238E27FC236}">
                <a16:creationId xmlns:a16="http://schemas.microsoft.com/office/drawing/2014/main" id="{81B10C7A-E862-64E1-5000-F02E85455EDC}"/>
              </a:ext>
            </a:extLst>
          </p:cNvPr>
          <p:cNvSpPr/>
          <p:nvPr/>
        </p:nvSpPr>
        <p:spPr>
          <a:xfrm>
            <a:off x="10400678" y="1981456"/>
            <a:ext cx="560832" cy="560832"/>
          </a:xfrm>
          <a:prstGeom prst="ellipse">
            <a:avLst/>
          </a:prstGeom>
          <a:solidFill>
            <a:srgbClr val="002060"/>
          </a:solidFill>
          <a:ln w="16933">
            <a:noFill/>
            <a:prstDash val="solid"/>
          </a:ln>
        </p:spPr>
        <p:txBody>
          <a:bodyPr/>
          <a:lstStyle/>
          <a:p>
            <a:endParaRPr lang="en-US">
              <a:latin typeface="Open Sans" pitchFamily="2" charset="0"/>
              <a:ea typeface="Open Sans" pitchFamily="2" charset="0"/>
              <a:cs typeface="Open Sans" pitchFamily="2" charset="0"/>
            </a:endParaRPr>
          </a:p>
        </p:txBody>
      </p:sp>
      <p:sp>
        <p:nvSpPr>
          <p:cNvPr id="30" name="Text 28">
            <a:extLst>
              <a:ext uri="{FF2B5EF4-FFF2-40B4-BE49-F238E27FC236}">
                <a16:creationId xmlns:a16="http://schemas.microsoft.com/office/drawing/2014/main" id="{1C2C2C58-CD3C-6EE3-D52F-9E479E9E4C96}"/>
              </a:ext>
            </a:extLst>
          </p:cNvPr>
          <p:cNvSpPr/>
          <p:nvPr/>
        </p:nvSpPr>
        <p:spPr>
          <a:xfrm>
            <a:off x="10400678" y="1981456"/>
            <a:ext cx="560832" cy="560832"/>
          </a:xfrm>
          <a:prstGeom prst="rect">
            <a:avLst/>
          </a:prstGeom>
          <a:noFill/>
          <a:ln/>
        </p:spPr>
        <p:txBody>
          <a:bodyPr wrap="square" lIns="0" tIns="0" rIns="0" bIns="0" rtlCol="0" anchor="ctr"/>
          <a:lstStyle/>
          <a:p>
            <a:pPr marL="0" indent="0" algn="ctr">
              <a:buNone/>
            </a:pPr>
            <a:r>
              <a:rPr lang="en-US" sz="2150"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2150" b="1">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a:extLst>
              <a:ext uri="{FF2B5EF4-FFF2-40B4-BE49-F238E27FC236}">
                <a16:creationId xmlns:a16="http://schemas.microsoft.com/office/drawing/2014/main" id="{66D4DF3E-16C6-4825-678C-B918EC115AD7}"/>
              </a:ext>
            </a:extLst>
          </p:cNvPr>
          <p:cNvSpPr/>
          <p:nvPr/>
        </p:nvSpPr>
        <p:spPr>
          <a:xfrm>
            <a:off x="9730118" y="2622822"/>
            <a:ext cx="1901952" cy="609600"/>
          </a:xfrm>
          <a:prstGeom prst="rect">
            <a:avLst/>
          </a:prstGeom>
          <a:noFill/>
          <a:ln/>
        </p:spPr>
        <p:txBody>
          <a:bodyPr wrap="square" lIns="0" tIns="0" rIns="0" bIns="0" rtlCol="0" anchor="ctr"/>
          <a:lstStyle/>
          <a:p>
            <a:pPr marL="0" indent="0" algn="ctr">
              <a:buNone/>
            </a:pPr>
            <a:r>
              <a:rPr lang="en-US" sz="1450" b="1">
                <a:solidFill>
                  <a:srgbClr val="002060"/>
                </a:solidFill>
                <a:latin typeface="Open Sans" panose="020B0606030504020204" pitchFamily="34" charset="0"/>
                <a:ea typeface="Open Sans" panose="020B0606030504020204" pitchFamily="34" charset="0"/>
                <a:cs typeface="Open Sans" panose="020B0606030504020204" pitchFamily="34" charset="0"/>
              </a:rPr>
              <a:t>LOOP</a:t>
            </a:r>
          </a:p>
        </p:txBody>
      </p:sp>
      <p:sp>
        <p:nvSpPr>
          <p:cNvPr id="32" name="Text 30">
            <a:extLst>
              <a:ext uri="{FF2B5EF4-FFF2-40B4-BE49-F238E27FC236}">
                <a16:creationId xmlns:a16="http://schemas.microsoft.com/office/drawing/2014/main" id="{CF60A68A-F0FF-002F-DEED-C8FBA7CC989D}"/>
              </a:ext>
            </a:extLst>
          </p:cNvPr>
          <p:cNvSpPr/>
          <p:nvPr/>
        </p:nvSpPr>
        <p:spPr>
          <a:xfrm>
            <a:off x="9730118" y="3249128"/>
            <a:ext cx="1901952" cy="1890856"/>
          </a:xfrm>
          <a:prstGeom prst="rect">
            <a:avLst/>
          </a:prstGeom>
          <a:noFill/>
          <a:ln/>
        </p:spPr>
        <p:txBody>
          <a:bodyPr wrap="square" lIns="0" tIns="0" rIns="0" bIns="0" rtlCol="0" anchor="t"/>
          <a:lstStyle/>
          <a:p>
            <a:pPr algn="ctr"/>
            <a:r>
              <a:rPr lang="en-IN" sz="1450">
                <a:latin typeface="Open Sans" pitchFamily="2" charset="0"/>
                <a:ea typeface="Open Sans" pitchFamily="2" charset="0"/>
                <a:cs typeface="Open Sans" pitchFamily="2" charset="0"/>
              </a:rPr>
              <a:t>Repeat until the model replies with no tool call. Long loops fill context; watch /context.</a:t>
            </a:r>
            <a:endParaRPr lang="en-US" sz="1450">
              <a:latin typeface="Open Sans" pitchFamily="2" charset="0"/>
              <a:ea typeface="Open Sans" pitchFamily="2" charset="0"/>
              <a:cs typeface="Open Sans" pitchFamily="2" charset="0"/>
            </a:endParaRPr>
          </a:p>
        </p:txBody>
      </p:sp>
      <p:sp>
        <p:nvSpPr>
          <p:cNvPr id="33" name="TextBox 32">
            <a:extLst>
              <a:ext uri="{FF2B5EF4-FFF2-40B4-BE49-F238E27FC236}">
                <a16:creationId xmlns:a16="http://schemas.microsoft.com/office/drawing/2014/main" id="{6F94E9D6-D29B-8793-8C00-E684E0BE1F94}"/>
              </a:ext>
            </a:extLst>
          </p:cNvPr>
          <p:cNvSpPr txBox="1"/>
          <p:nvPr/>
        </p:nvSpPr>
        <p:spPr>
          <a:xfrm>
            <a:off x="897834" y="5808282"/>
            <a:ext cx="10396329" cy="389850"/>
          </a:xfrm>
          <a:prstGeom prst="rect">
            <a:avLst/>
          </a:prstGeom>
          <a:noFill/>
        </p:spPr>
        <p:txBody>
          <a:bodyPr wrap="square" rtlCol="0">
            <a:spAutoFit/>
          </a:bodyPr>
          <a:lstStyle/>
          <a:p>
            <a:pPr algn="ctr"/>
            <a:r>
              <a:rPr lang="en-IN" sz="1750" b="1">
                <a:latin typeface="Open Sans" panose="020B0606030504020204" pitchFamily="34" charset="0"/>
                <a:ea typeface="Open Sans" panose="020B0606030504020204" pitchFamily="34" charset="0"/>
                <a:cs typeface="Open Sans" panose="020B0606030504020204" pitchFamily="34" charset="0"/>
              </a:rPr>
              <a:t/>
            </a:r>
            <a:r>
              <a:rPr lang="en-IN" sz="1750" i="1">
                <a:solidFill>
                  <a:schemeClr val="tx2"/>
                </a:solidFill>
                <a:latin typeface="Open Sans" pitchFamily="2" charset="0"/>
                <a:ea typeface="Open Sans" pitchFamily="2" charset="0"/>
                <a:cs typeface="Open Sans" pitchFamily="2" charset="0"/>
              </a:rPr>
              <a:t>Everything Claude "knows" about your repo arrived through a tool call you can see. If it did not read it, it is guessing.</a:t>
            </a:r>
            <a:endParaRPr lang="en-US" sz="1750" i="1">
              <a:solidFill>
                <a:schemeClr val="tx2"/>
              </a:solidFill>
              <a:latin typeface="Open Sans" pitchFamily="2" charset="0"/>
              <a:ea typeface="Open Sans" pitchFamily="2" charset="0"/>
              <a:cs typeface="Open Sans" pitchFamily="2" charset="0"/>
            </a:endParaRPr>
          </a:p>
        </p:txBody>
      </p:sp>
      <p:sp>
        <p:nvSpPr>
          <p:cNvPr id="34" name="TextBox 33">
            <a:extLst>
              <a:ext uri="{FF2B5EF4-FFF2-40B4-BE49-F238E27FC236}">
                <a16:creationId xmlns:a16="http://schemas.microsoft.com/office/drawing/2014/main" id="{F96E3954-CE77-0FA8-D672-EAEEFCF151E7}"/>
              </a:ext>
            </a:extLst>
          </p:cNvPr>
          <p:cNvSpPr txBox="1"/>
          <p:nvPr/>
        </p:nvSpPr>
        <p:spPr>
          <a:xfrm>
            <a:off x="489600" y="1027200"/>
            <a:ext cx="11216640" cy="410369"/>
          </a:xfrm>
          <a:prstGeom prst="rect">
            <a:avLst/>
          </a:prstGeom>
          <a:noFill/>
        </p:spPr>
        <p:txBody>
          <a:bodyPr wrap="square" rtlCol="0">
            <a:noAutofit/>
          </a:bodyPr>
          <a:lstStyle/>
          <a:p>
            <a:pPr algn="l"/>
            <a:r>
              <a:rPr lang="en-IN" sz="1850">
                <a:solidFill>
                  <a:schemeClr val="tx2"/>
                </a:solidFill>
                <a:latin typeface="Open Sans" pitchFamily="2" charset="0"/>
                <a:ea typeface="Open Sans" pitchFamily="2" charset="0"/>
                <a:cs typeface="Open Sans" pitchFamily="2" charset="0"/>
              </a:rPr>
              <a:t>Claude Code is a model in a loop with tools. Every action you approve is one iteration.</a:t>
            </a:r>
            <a:endParaRPr lang="en-US" sz="1850">
              <a:solidFill>
                <a:schemeClr val="tx2"/>
              </a:solidFill>
              <a:latin typeface="Open Sans" pitchFamily="2" charset="0"/>
              <a:ea typeface="Open Sans" pitchFamily="2" charset="0"/>
              <a:cs typeface="Open Sans" pitchFamily="2" charset="0"/>
            </a:endParaRPr>
          </a:p>
        </p:txBody>
      </p:sp>
      <p:cxnSp>
        <p:nvCxnSpPr>
          <p:cNvPr id="36" name="Straight Arrow Connector 35">
            <a:extLst>
              <a:ext uri="{FF2B5EF4-FFF2-40B4-BE49-F238E27FC236}">
                <a16:creationId xmlns:a16="http://schemas.microsoft.com/office/drawing/2014/main" id="{6310AA2E-0BC1-3F66-D739-7FE38EF64F56}"/>
              </a:ext>
            </a:extLst>
          </p:cNvPr>
          <p:cNvCxnSpPr>
            <a:cxnSpLocks/>
          </p:cNvCxnSpPr>
          <p:nvPr/>
        </p:nvCxnSpPr>
        <p:spPr>
          <a:xfrm>
            <a:off x="2651650" y="3590461"/>
            <a:ext cx="113038"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6175C2-987D-E8BC-5C62-F5FD0C36E752}"/>
              </a:ext>
            </a:extLst>
          </p:cNvPr>
          <p:cNvCxnSpPr>
            <a:cxnSpLocks/>
          </p:cNvCxnSpPr>
          <p:nvPr/>
        </p:nvCxnSpPr>
        <p:spPr>
          <a:xfrm>
            <a:off x="4918706" y="3584145"/>
            <a:ext cx="113038"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5652E88-3E7B-A626-4195-6C8A502DB81F}"/>
              </a:ext>
            </a:extLst>
          </p:cNvPr>
          <p:cNvCxnSpPr>
            <a:cxnSpLocks/>
          </p:cNvCxnSpPr>
          <p:nvPr/>
        </p:nvCxnSpPr>
        <p:spPr>
          <a:xfrm>
            <a:off x="7210333" y="3584145"/>
            <a:ext cx="113038"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2462479-C07C-FB37-D9A8-EE12598D8311}"/>
              </a:ext>
            </a:extLst>
          </p:cNvPr>
          <p:cNvCxnSpPr>
            <a:cxnSpLocks/>
          </p:cNvCxnSpPr>
          <p:nvPr/>
        </p:nvCxnSpPr>
        <p:spPr>
          <a:xfrm>
            <a:off x="9484376" y="3589097"/>
            <a:ext cx="113038"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A5C4F579-AA11-E146-3811-2DE38DA7DA6E}"/>
              </a:ext>
            </a:extLst>
          </p:cNvPr>
          <p:cNvSpPr/>
          <p:nvPr/>
        </p:nvSpPr>
        <p:spPr>
          <a:xfrm>
            <a:off x="525616" y="268224"/>
            <a:ext cx="11216640" cy="670560"/>
          </a:xfrm>
          <a:prstGeom prst="rect">
            <a:avLst/>
          </a:prstGeom>
          <a:noFill/>
          <a:ln/>
        </p:spPr>
        <p:txBody>
          <a:bodyPr wrap="square" lIns="0" tIns="0" rIns="0" bIns="0" rtlCol="0" anchor="ctr"/>
          <a:lstStyle/>
          <a:p>
            <a:pPr marL="0" indent="0">
              <a:buNone/>
            </a:pPr>
            <a:r>
              <a:rPr lang="en-US" sz="3750" b="1">
                <a:latin typeface="Open Sans" pitchFamily="2" charset="0"/>
                <a:ea typeface="Open Sans" pitchFamily="2" charset="0"/>
                <a:cs typeface="Open Sans" pitchFamily="2" charset="0"/>
              </a:rPr>
              <a:t>Context Engineering</a:t>
            </a:r>
            <a:endParaRPr lang="en-US" sz="375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CB6F957-8F0A-815F-C3D8-376B4980501A}"/>
              </a:ext>
            </a:extLst>
          </p:cNvPr>
          <p:cNvSpPr/>
          <p:nvPr/>
        </p:nvSpPr>
        <p:spPr>
          <a:xfrm>
            <a:off x="525616" y="902208"/>
            <a:ext cx="11216640" cy="560832"/>
          </a:xfrm>
          <a:prstGeom prst="rect">
            <a:avLst/>
          </a:prstGeom>
          <a:noFill/>
          <a:ln/>
        </p:spPr>
        <p:txBody>
          <a:bodyPr wrap="square" lIns="0" tIns="0" rIns="0" bIns="0" rtlCol="0" anchor="t">
            <a:noAutofit/>
          </a:bodyPr>
          <a:lstStyle/>
          <a:p>
            <a:pPr marL="0" indent="0" algn="l">
              <a:buNone/>
            </a:pPr>
            <a:r>
              <a:rPr lang="en-US" sz="1850">
                <a:solidFill>
                  <a:schemeClr val="tx2"/>
                </a:solidFill>
                <a:latin typeface="Open Sans" pitchFamily="2" charset="0"/>
                <a:ea typeface="Open Sans" pitchFamily="2" charset="0"/>
                <a:cs typeface="Open Sans" pitchFamily="2" charset="0"/>
              </a:rPr>
              <a:t>The context window is a token budget. Spend it on the tokens that change the answer.</a:t>
            </a:r>
          </a:p>
        </p:txBody>
      </p:sp>
      <p:sp>
        <p:nvSpPr>
          <p:cNvPr id="5" name="Shape 2">
            <a:extLst>
              <a:ext uri="{FF2B5EF4-FFF2-40B4-BE49-F238E27FC236}">
                <a16:creationId xmlns:a16="http://schemas.microsoft.com/office/drawing/2014/main" id="{C70745E8-6A98-3B95-1B5F-97B9032C6271}"/>
              </a:ext>
            </a:extLst>
          </p:cNvPr>
          <p:cNvSpPr/>
          <p:nvPr/>
        </p:nvSpPr>
        <p:spPr>
          <a:xfrm>
            <a:off x="390144" y="1350004"/>
            <a:ext cx="5510784" cy="1868684"/>
          </a:xfrm>
          <a:prstGeom prst="roundRect">
            <a:avLst>
              <a:gd name="adj" fmla="val 2553"/>
            </a:avLst>
          </a:prstGeom>
          <a:solidFill>
            <a:srgbClr val="F5F5F5"/>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B4C9CCD-F4CB-11B4-EC98-94238644C43E}"/>
              </a:ext>
            </a:extLst>
          </p:cNvPr>
          <p:cNvSpPr/>
          <p:nvPr/>
        </p:nvSpPr>
        <p:spPr>
          <a:xfrm>
            <a:off x="658368" y="1456878"/>
            <a:ext cx="4974336" cy="46329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MEMORY HIERARCHY</a:t>
            </a:r>
            <a:endParaRPr lang="en-US" sz="185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59E624-96CC-1DCB-62CC-3CE87FC3AE07}"/>
              </a:ext>
            </a:extLst>
          </p:cNvPr>
          <p:cNvSpPr/>
          <p:nvPr/>
        </p:nvSpPr>
        <p:spPr>
          <a:xfrm>
            <a:off x="658368" y="1891352"/>
            <a:ext cx="4974336" cy="90664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Project ./CLAUDE.md is shared through git; ~/.claude/CLAUDE.md holds personal defaults</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@path imports pull detail in on demand, e.g. @docs/SPEC.md</a:t>
            </a:r>
          </a:p>
        </p:txBody>
      </p:sp>
      <p:sp>
        <p:nvSpPr>
          <p:cNvPr id="8" name="Shape 5">
            <a:extLst>
              <a:ext uri="{FF2B5EF4-FFF2-40B4-BE49-F238E27FC236}">
                <a16:creationId xmlns:a16="http://schemas.microsoft.com/office/drawing/2014/main" id="{60CDCB1D-9E0E-2B44-BD1A-B10ECC61214F}"/>
              </a:ext>
            </a:extLst>
          </p:cNvPr>
          <p:cNvSpPr/>
          <p:nvPr/>
        </p:nvSpPr>
        <p:spPr>
          <a:xfrm>
            <a:off x="6291072" y="1350004"/>
            <a:ext cx="5510784" cy="1868684"/>
          </a:xfrm>
          <a:prstGeom prst="roundRect">
            <a:avLst>
              <a:gd name="adj" fmla="val 2553"/>
            </a:avLst>
          </a:prstGeom>
          <a:solidFill>
            <a:srgbClr val="F5F5F5"/>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72B4D4F-3B7D-F00C-F53F-289AD2E5CCC8}"/>
              </a:ext>
            </a:extLst>
          </p:cNvPr>
          <p:cNvSpPr/>
          <p:nvPr/>
        </p:nvSpPr>
        <p:spPr>
          <a:xfrm>
            <a:off x="6559296" y="1456878"/>
            <a:ext cx="4974336" cy="46329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WHAT FILLS IT</a:t>
            </a:r>
            <a:endParaRPr lang="en-US" sz="185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3075534D-A8B8-B24A-30AE-6A5E8F57B4B6}"/>
              </a:ext>
            </a:extLst>
          </p:cNvPr>
          <p:cNvSpPr/>
          <p:nvPr/>
        </p:nvSpPr>
        <p:spPr>
          <a:xfrm>
            <a:off x="6559296" y="1891352"/>
            <a:ext cx="5242560" cy="90664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System prompt and tool schemas, including every connected MCP tool</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Memory files, file reads, command output and the conversation itself</a:t>
            </a:r>
          </a:p>
        </p:txBody>
      </p:sp>
      <p:sp>
        <p:nvSpPr>
          <p:cNvPr id="11" name="Shape 2">
            <a:extLst>
              <a:ext uri="{FF2B5EF4-FFF2-40B4-BE49-F238E27FC236}">
                <a16:creationId xmlns:a16="http://schemas.microsoft.com/office/drawing/2014/main" id="{5B38C73E-4DC7-5031-F4A2-C865B06C0B20}"/>
              </a:ext>
            </a:extLst>
          </p:cNvPr>
          <p:cNvSpPr/>
          <p:nvPr/>
        </p:nvSpPr>
        <p:spPr>
          <a:xfrm>
            <a:off x="390144" y="3435925"/>
            <a:ext cx="5510784" cy="2160202"/>
          </a:xfrm>
          <a:prstGeom prst="roundRect">
            <a:avLst>
              <a:gd name="adj" fmla="val 2553"/>
            </a:avLst>
          </a:prstGeom>
          <a:solidFill>
            <a:srgbClr val="F5F5F5"/>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E5E070F2-EA40-BC2A-CE27-02F3BF7CF0E3}"/>
              </a:ext>
            </a:extLst>
          </p:cNvPr>
          <p:cNvSpPr/>
          <p:nvPr/>
        </p:nvSpPr>
        <p:spPr>
          <a:xfrm>
            <a:off x="658368" y="3619562"/>
            <a:ext cx="4974336" cy="46329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MANAGING IT</a:t>
            </a:r>
            <a:endParaRPr lang="en-US" sz="185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145029D4-4BC2-5111-3A00-1835A4DD0C3A}"/>
              </a:ext>
            </a:extLst>
          </p:cNvPr>
          <p:cNvSpPr/>
          <p:nvPr/>
        </p:nvSpPr>
        <p:spPr>
          <a:xfrm>
            <a:off x="658368" y="4054036"/>
            <a:ext cx="4974336" cy="1172649"/>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/context shows usage by category; /cost shows spend</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/compact &lt;focus&gt; summarises and continues; /clear starts from zero</a:t>
            </a:r>
          </a:p>
        </p:txBody>
      </p:sp>
      <p:sp>
        <p:nvSpPr>
          <p:cNvPr id="14" name="Shape 5">
            <a:extLst>
              <a:ext uri="{FF2B5EF4-FFF2-40B4-BE49-F238E27FC236}">
                <a16:creationId xmlns:a16="http://schemas.microsoft.com/office/drawing/2014/main" id="{7DC3A9EF-923C-B111-E8D5-B07764CD447C}"/>
              </a:ext>
            </a:extLst>
          </p:cNvPr>
          <p:cNvSpPr/>
          <p:nvPr/>
        </p:nvSpPr>
        <p:spPr>
          <a:xfrm>
            <a:off x="6291072" y="3435925"/>
            <a:ext cx="5510784" cy="2160202"/>
          </a:xfrm>
          <a:prstGeom prst="roundRect">
            <a:avLst>
              <a:gd name="adj" fmla="val 2553"/>
            </a:avLst>
          </a:prstGeom>
          <a:solidFill>
            <a:srgbClr val="F5F5F5"/>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D8E1E067-7BC2-6859-681C-FF3BF10712B0}"/>
              </a:ext>
            </a:extLst>
          </p:cNvPr>
          <p:cNvSpPr/>
          <p:nvPr/>
        </p:nvSpPr>
        <p:spPr>
          <a:xfrm>
            <a:off x="6559296" y="3619562"/>
            <a:ext cx="4974336" cy="46329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FAILURE MODES</a:t>
            </a:r>
            <a:endParaRPr lang="en-US" sz="185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C8ED702-02AF-298C-9E39-A4AE88A6700D}"/>
              </a:ext>
            </a:extLst>
          </p:cNvPr>
          <p:cNvSpPr/>
          <p:nvPr/>
        </p:nvSpPr>
        <p:spPr>
          <a:xfrm>
            <a:off x="6559296" y="4054036"/>
            <a:ext cx="4974336" cy="1172649"/>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Stale or contradictory CLAUDE.md rules win silently</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Huge tool output (logs, JSON dumps) crowds out the spec: grep, do not cat</a:t>
            </a:r>
          </a:p>
        </p:txBody>
      </p:sp>
      <p:sp>
        <p:nvSpPr>
          <p:cNvPr id="17" name="Shape 8">
            <a:extLst>
              <a:ext uri="{FF2B5EF4-FFF2-40B4-BE49-F238E27FC236}">
                <a16:creationId xmlns:a16="http://schemas.microsoft.com/office/drawing/2014/main" id="{D19EDAE2-62A3-03D1-039F-53ED32B629F1}"/>
              </a:ext>
            </a:extLst>
          </p:cNvPr>
          <p:cNvSpPr/>
          <p:nvPr/>
        </p:nvSpPr>
        <p:spPr>
          <a:xfrm>
            <a:off x="390144" y="5839557"/>
            <a:ext cx="11411712" cy="560832"/>
          </a:xfrm>
          <a:prstGeom prst="roundRect">
            <a:avLst>
              <a:gd name="adj" fmla="val 11905"/>
            </a:avLst>
          </a:prstGeom>
          <a:solidFill>
            <a:schemeClr val="accent6">
              <a:lumMod val="20000"/>
              <a:lumOff val="80000"/>
            </a:schemeClr>
          </a:solidFill>
          <a:ln w="16933">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DBE77A76-D591-4D95-B2FE-147538E522FE}"/>
              </a:ext>
            </a:extLst>
          </p:cNvPr>
          <p:cNvSpPr/>
          <p:nvPr/>
        </p:nvSpPr>
        <p:spPr>
          <a:xfrm>
            <a:off x="658368" y="5862136"/>
            <a:ext cx="10875264" cy="512064"/>
          </a:xfrm>
          <a:prstGeom prst="rect">
            <a:avLst/>
          </a:prstGeom>
          <a:noFill/>
          <a:ln/>
        </p:spPr>
        <p:txBody>
          <a:bodyPr wrap="square" lIns="0" tIns="0" rIns="0" bIns="0" rtlCol="0" anchor="ctr"/>
          <a:lstStyle/>
          <a:p>
            <a:pPr marL="0" indent="0" algn="ctr">
              <a:buNone/>
            </a:pPr>
            <a:r>
              <a:rPr lang="en-US" sz="1600" i="1">
                <a:solidFill>
                  <a:schemeClr val="tx2"/>
                </a:solidFill>
                <a:latin typeface="Open Sans" pitchFamily="2" charset="0"/>
                <a:ea typeface="Open Sans" pitchFamily="2" charset="0"/>
                <a:cs typeface="Open Sans" pitchFamily="2" charset="0"/>
              </a:rPr>
              <a:t>Rule of thumb: a short CLAUDE.md, a detailed SPEC.md via @import, and /compact at natural checkpoints.</a:t>
            </a:r>
            <a:endParaRPr lang="en-US" sz="1600">
              <a:solidFill>
                <a:schemeClr val="tx2"/>
              </a:solidFill>
              <a:latin typeface="Open Sans" pitchFamily="2" charset="0"/>
              <a:ea typeface="Open Sans" pitchFamily="2" charset="0"/>
              <a:cs typeface="Open Sans" pitchFamily="2" charset="0"/>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FA306A6F-C672-F83D-94F3-F42E6EA02C18}"/>
              </a:ext>
            </a:extLst>
          </p:cNvPr>
          <p:cNvSpPr/>
          <p:nvPr/>
        </p:nvSpPr>
        <p:spPr>
          <a:xfrm>
            <a:off x="489600" y="254400"/>
            <a:ext cx="11216640" cy="633984"/>
          </a:xfrm>
          <a:prstGeom prst="rect">
            <a:avLst/>
          </a:prstGeom>
          <a:noFill/>
          <a:ln/>
        </p:spPr>
        <p:txBody>
          <a:bodyPr wrap="square" lIns="0" tIns="0" rIns="0" bIns="0" rtlCol="0" anchor="ctr"/>
          <a:lstStyle/>
          <a:p>
            <a:r>
              <a:rPr lang="en-US" sz="3750" b="1">
                <a:latin typeface="Open Sans" panose="020B0606030504020204" pitchFamily="34" charset="0"/>
                <a:ea typeface="Open Sans" panose="020B0606030504020204" pitchFamily="34" charset="0"/>
                <a:cs typeface="Open Sans" panose="020B0606030504020204" pitchFamily="34" charset="0"/>
              </a:rPr>
              <a:t>Spec-Driven Development</a:t>
            </a:r>
          </a:p>
        </p:txBody>
      </p:sp>
      <p:sp>
        <p:nvSpPr>
          <p:cNvPr id="4" name="Shape 2">
            <a:extLst>
              <a:ext uri="{FF2B5EF4-FFF2-40B4-BE49-F238E27FC236}">
                <a16:creationId xmlns:a16="http://schemas.microsoft.com/office/drawing/2014/main" id="{F26DC8F7-C91F-609A-4353-BDF40D1DEF38}"/>
              </a:ext>
            </a:extLst>
          </p:cNvPr>
          <p:cNvSpPr/>
          <p:nvPr/>
        </p:nvSpPr>
        <p:spPr>
          <a:xfrm>
            <a:off x="512966" y="1744997"/>
            <a:ext cx="2097024" cy="3829009"/>
          </a:xfrm>
          <a:prstGeom prst="roundRect">
            <a:avLst>
              <a:gd name="adj" fmla="val 5814"/>
            </a:avLst>
          </a:prstGeom>
          <a:solidFill>
            <a:srgbClr val="F5F5F5"/>
          </a:solidFill>
          <a:ln w="25400">
            <a:solidFill>
              <a:schemeClr val="accent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Shape 3">
            <a:extLst>
              <a:ext uri="{FF2B5EF4-FFF2-40B4-BE49-F238E27FC236}">
                <a16:creationId xmlns:a16="http://schemas.microsoft.com/office/drawing/2014/main" id="{D3A4E779-4D6C-73C3-2FCE-B36F8F6861A8}"/>
              </a:ext>
            </a:extLst>
          </p:cNvPr>
          <p:cNvSpPr/>
          <p:nvPr/>
        </p:nvSpPr>
        <p:spPr>
          <a:xfrm>
            <a:off x="1281062" y="1981456"/>
            <a:ext cx="560832" cy="560832"/>
          </a:xfrm>
          <a:prstGeom prst="ellipse">
            <a:avLst/>
          </a:prstGeom>
          <a:solidFill>
            <a:schemeClr val="accent2"/>
          </a:solidFill>
          <a:ln w="16933">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a:extLst>
              <a:ext uri="{FF2B5EF4-FFF2-40B4-BE49-F238E27FC236}">
                <a16:creationId xmlns:a16="http://schemas.microsoft.com/office/drawing/2014/main" id="{42B2C5F8-9708-2520-C767-F74FF94A8507}"/>
              </a:ext>
            </a:extLst>
          </p:cNvPr>
          <p:cNvSpPr/>
          <p:nvPr/>
        </p:nvSpPr>
        <p:spPr>
          <a:xfrm>
            <a:off x="1281062" y="1981456"/>
            <a:ext cx="560832" cy="560832"/>
          </a:xfrm>
          <a:prstGeom prst="rect">
            <a:avLst/>
          </a:prstGeom>
          <a:noFill/>
          <a:ln/>
        </p:spPr>
        <p:txBody>
          <a:bodyPr wrap="square" lIns="0" tIns="0" rIns="0" bIns="0" rtlCol="0" anchor="ctr"/>
          <a:lstStyle/>
          <a:p>
            <a:pPr marL="0" indent="0" algn="ctr">
              <a:buNone/>
            </a:pPr>
            <a:r>
              <a:rPr lang="en-US" sz="2150"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215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a:extLst>
              <a:ext uri="{FF2B5EF4-FFF2-40B4-BE49-F238E27FC236}">
                <a16:creationId xmlns:a16="http://schemas.microsoft.com/office/drawing/2014/main" id="{89F2FD95-2A77-849E-6363-F69EC723390A}"/>
              </a:ext>
            </a:extLst>
          </p:cNvPr>
          <p:cNvSpPr/>
          <p:nvPr/>
        </p:nvSpPr>
        <p:spPr>
          <a:xfrm>
            <a:off x="610502" y="2622822"/>
            <a:ext cx="1901952" cy="609600"/>
          </a:xfrm>
          <a:prstGeom prst="rect">
            <a:avLst/>
          </a:prstGeom>
          <a:noFill/>
          <a:ln/>
        </p:spPr>
        <p:txBody>
          <a:bodyPr wrap="square" lIns="0" tIns="0" rIns="0" bIns="0" rtlCol="0" anchor="ctr"/>
          <a:lstStyle/>
          <a:p>
            <a:pPr marL="0" indent="0" algn="ctr">
              <a:buNone/>
            </a:pPr>
            <a:r>
              <a:rPr lang="en-US" sz="1450" b="1">
                <a:solidFill>
                  <a:schemeClr val="accent2"/>
                </a:solidFill>
                <a:latin typeface="Open Sans" panose="020B0606030504020204" pitchFamily="34" charset="0"/>
                <a:ea typeface="Open Sans" panose="020B0606030504020204" pitchFamily="34" charset="0"/>
                <a:cs typeface="Open Sans" panose="020B0606030504020204" pitchFamily="34" charset="0"/>
              </a:rPr>
              <a:t>SPEC</a:t>
            </a:r>
          </a:p>
        </p:txBody>
      </p:sp>
      <p:sp>
        <p:nvSpPr>
          <p:cNvPr id="8" name="Text 6">
            <a:extLst>
              <a:ext uri="{FF2B5EF4-FFF2-40B4-BE49-F238E27FC236}">
                <a16:creationId xmlns:a16="http://schemas.microsoft.com/office/drawing/2014/main" id="{1EA63F9F-2C9C-E219-1482-F7075ABA8355}"/>
              </a:ext>
            </a:extLst>
          </p:cNvPr>
          <p:cNvSpPr/>
          <p:nvPr/>
        </p:nvSpPr>
        <p:spPr>
          <a:xfrm>
            <a:off x="610502" y="3249128"/>
            <a:ext cx="1901952" cy="1890856"/>
          </a:xfrm>
          <a:prstGeom prst="rect">
            <a:avLst/>
          </a:prstGeom>
          <a:noFill/>
          <a:ln/>
        </p:spPr>
        <p:txBody>
          <a:bodyPr wrap="square" lIns="0" tIns="0" rIns="0" bIns="0" rtlCol="0" anchor="t"/>
          <a:lstStyle/>
          <a:p>
            <a:pPr algn="ctr"/>
            <a:r>
              <a:rPr lang="en-IN" sz="1400">
                <a:latin typeface="Open Sans" pitchFamily="2" charset="0"/>
                <a:ea typeface="Open Sans" pitchFamily="2" charset="0"/>
                <a:cs typeface="Open Sans" pitchFamily="2" charset="0"/>
              </a:rPr>
              <a:t>Requirements with IDs and testable acceptance criteria, e.g. FR-10: reviewer = submitter returns 403.</a:t>
            </a:r>
            <a:endParaRPr lang="en-US" sz="1400">
              <a:latin typeface="Open Sans" pitchFamily="2" charset="0"/>
              <a:ea typeface="Open Sans" pitchFamily="2" charset="0"/>
              <a:cs typeface="Open Sans" pitchFamily="2" charset="0"/>
            </a:endParaRPr>
          </a:p>
        </p:txBody>
      </p:sp>
      <p:sp>
        <p:nvSpPr>
          <p:cNvPr id="10" name="Shape 8">
            <a:extLst>
              <a:ext uri="{FF2B5EF4-FFF2-40B4-BE49-F238E27FC236}">
                <a16:creationId xmlns:a16="http://schemas.microsoft.com/office/drawing/2014/main" id="{4153DF97-48D1-81C9-A7EC-FB10489AA962}"/>
              </a:ext>
            </a:extLst>
          </p:cNvPr>
          <p:cNvSpPr/>
          <p:nvPr/>
        </p:nvSpPr>
        <p:spPr>
          <a:xfrm>
            <a:off x="2792870" y="1744997"/>
            <a:ext cx="2097024" cy="3829009"/>
          </a:xfrm>
          <a:prstGeom prst="roundRect">
            <a:avLst>
              <a:gd name="adj" fmla="val 5814"/>
            </a:avLst>
          </a:prstGeom>
          <a:solidFill>
            <a:srgbClr val="F5F5F5"/>
          </a:solidFill>
          <a:ln w="2540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9">
            <a:extLst>
              <a:ext uri="{FF2B5EF4-FFF2-40B4-BE49-F238E27FC236}">
                <a16:creationId xmlns:a16="http://schemas.microsoft.com/office/drawing/2014/main" id="{0D17BC0D-3BF4-B8E2-6CD8-C9145123347B}"/>
              </a:ext>
            </a:extLst>
          </p:cNvPr>
          <p:cNvSpPr/>
          <p:nvPr/>
        </p:nvSpPr>
        <p:spPr>
          <a:xfrm>
            <a:off x="3560966" y="1981456"/>
            <a:ext cx="560832" cy="560832"/>
          </a:xfrm>
          <a:prstGeom prst="ellipse">
            <a:avLst/>
          </a:prstGeom>
          <a:solidFill>
            <a:schemeClr val="accent1"/>
          </a:solidFill>
          <a:ln w="16933">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62E6D61F-5970-40C0-9520-A781C8B21EAB}"/>
              </a:ext>
            </a:extLst>
          </p:cNvPr>
          <p:cNvSpPr/>
          <p:nvPr/>
        </p:nvSpPr>
        <p:spPr>
          <a:xfrm>
            <a:off x="3560966" y="1981456"/>
            <a:ext cx="560832" cy="560832"/>
          </a:xfrm>
          <a:prstGeom prst="rect">
            <a:avLst/>
          </a:prstGeom>
          <a:noFill/>
          <a:ln/>
        </p:spPr>
        <p:txBody>
          <a:bodyPr wrap="square" lIns="0" tIns="0" rIns="0" bIns="0" rtlCol="0" anchor="ctr"/>
          <a:lstStyle/>
          <a:p>
            <a:pPr marL="0" indent="0" algn="ctr">
              <a:buNone/>
            </a:pPr>
            <a:r>
              <a:rPr lang="en-US" sz="2150"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215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B32380DD-0492-BAA0-BC63-828BE246DB02}"/>
              </a:ext>
            </a:extLst>
          </p:cNvPr>
          <p:cNvSpPr/>
          <p:nvPr/>
        </p:nvSpPr>
        <p:spPr>
          <a:xfrm>
            <a:off x="2890406" y="2622822"/>
            <a:ext cx="1901952" cy="609600"/>
          </a:xfrm>
          <a:prstGeom prst="rect">
            <a:avLst/>
          </a:prstGeom>
          <a:noFill/>
          <a:ln/>
        </p:spPr>
        <p:txBody>
          <a:bodyPr wrap="square" lIns="0" tIns="0" rIns="0" bIns="0" rtlCol="0" anchor="ctr"/>
          <a:lstStyle/>
          <a:p>
            <a:pPr marL="0" indent="0" algn="ctr">
              <a:buNone/>
            </a:pPr>
            <a:r>
              <a:rPr lang="en-US" sz="1450" b="1">
                <a:solidFill>
                  <a:schemeClr val="accent1"/>
                </a:solidFill>
                <a:latin typeface="Open Sans" panose="020B0606030504020204" pitchFamily="34" charset="0"/>
                <a:ea typeface="Open Sans" panose="020B0606030504020204" pitchFamily="34" charset="0"/>
                <a:cs typeface="Open Sans" panose="020B0606030504020204" pitchFamily="34" charset="0"/>
              </a:rPr>
              <a:t>PLAN</a:t>
            </a:r>
          </a:p>
        </p:txBody>
      </p:sp>
      <p:sp>
        <p:nvSpPr>
          <p:cNvPr id="14" name="Text 12">
            <a:extLst>
              <a:ext uri="{FF2B5EF4-FFF2-40B4-BE49-F238E27FC236}">
                <a16:creationId xmlns:a16="http://schemas.microsoft.com/office/drawing/2014/main" id="{5726A930-8FCE-7FED-DDEB-2C8CC22AAAE7}"/>
              </a:ext>
            </a:extLst>
          </p:cNvPr>
          <p:cNvSpPr/>
          <p:nvPr/>
        </p:nvSpPr>
        <p:spPr>
          <a:xfrm>
            <a:off x="2890406" y="3249128"/>
            <a:ext cx="1901952" cy="1890856"/>
          </a:xfrm>
          <a:prstGeom prst="rect">
            <a:avLst/>
          </a:prstGeom>
          <a:noFill/>
          <a:ln/>
        </p:spPr>
        <p:txBody>
          <a:bodyPr wrap="square" lIns="0" tIns="0" rIns="0" bIns="0" rtlCol="0" anchor="t"/>
          <a:lstStyle/>
          <a:p>
            <a:pPr algn="ctr"/>
            <a:r>
              <a:rPr lang="en-IN" sz="1400">
                <a:latin typeface="Open Sans" pitchFamily="2" charset="0"/>
                <a:ea typeface="Open Sans" pitchFamily="2" charset="0"/>
                <a:cs typeface="Open Sans" pitchFamily="2" charset="0"/>
              </a:rPr>
              <a:t>Plan mode maps each ID to a module and a test. Gaps become spec questions, not silent guesses.</a:t>
            </a:r>
            <a:endParaRPr lang="en-US" sz="1400">
              <a:latin typeface="Open Sans" pitchFamily="2" charset="0"/>
              <a:ea typeface="Open Sans" pitchFamily="2" charset="0"/>
              <a:cs typeface="Open Sans" pitchFamily="2" charset="0"/>
            </a:endParaRPr>
          </a:p>
        </p:txBody>
      </p:sp>
      <p:sp>
        <p:nvSpPr>
          <p:cNvPr id="16" name="Shape 14">
            <a:extLst>
              <a:ext uri="{FF2B5EF4-FFF2-40B4-BE49-F238E27FC236}">
                <a16:creationId xmlns:a16="http://schemas.microsoft.com/office/drawing/2014/main" id="{8C69E38C-A8C9-CC38-234A-8F42DA7C8E99}"/>
              </a:ext>
            </a:extLst>
          </p:cNvPr>
          <p:cNvSpPr/>
          <p:nvPr/>
        </p:nvSpPr>
        <p:spPr>
          <a:xfrm>
            <a:off x="5072774" y="1744997"/>
            <a:ext cx="2097024" cy="3829009"/>
          </a:xfrm>
          <a:prstGeom prst="roundRect">
            <a:avLst>
              <a:gd name="adj" fmla="val 5814"/>
            </a:avLst>
          </a:prstGeom>
          <a:solidFill>
            <a:srgbClr val="F5F5F5"/>
          </a:solidFill>
          <a:ln w="25400">
            <a:solidFill>
              <a:srgbClr val="2E7D3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D9E8C8B3-0B2B-6DD3-7F60-44B1BBBF188D}"/>
              </a:ext>
            </a:extLst>
          </p:cNvPr>
          <p:cNvSpPr/>
          <p:nvPr/>
        </p:nvSpPr>
        <p:spPr>
          <a:xfrm>
            <a:off x="5840870" y="1981456"/>
            <a:ext cx="560832" cy="560832"/>
          </a:xfrm>
          <a:prstGeom prst="ellipse">
            <a:avLst/>
          </a:prstGeom>
          <a:solidFill>
            <a:srgbClr val="00B050"/>
          </a:solidFill>
          <a:ln w="16933">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8482D8CB-5147-98BE-C3EF-CC80B4A8FFB1}"/>
              </a:ext>
            </a:extLst>
          </p:cNvPr>
          <p:cNvSpPr/>
          <p:nvPr/>
        </p:nvSpPr>
        <p:spPr>
          <a:xfrm>
            <a:off x="5840870" y="1981456"/>
            <a:ext cx="560832" cy="560832"/>
          </a:xfrm>
          <a:prstGeom prst="rect">
            <a:avLst/>
          </a:prstGeom>
          <a:noFill/>
          <a:ln/>
        </p:spPr>
        <p:txBody>
          <a:bodyPr wrap="square" lIns="0" tIns="0" rIns="0" bIns="0" rtlCol="0" anchor="ctr"/>
          <a:lstStyle/>
          <a:p>
            <a:pPr marL="0" indent="0" algn="ctr">
              <a:buNone/>
            </a:pPr>
            <a:r>
              <a:rPr lang="en-US" sz="2150"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215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B788BF04-B8D2-5800-E0DB-2354D606D8B9}"/>
              </a:ext>
            </a:extLst>
          </p:cNvPr>
          <p:cNvSpPr/>
          <p:nvPr/>
        </p:nvSpPr>
        <p:spPr>
          <a:xfrm>
            <a:off x="5170310" y="2622822"/>
            <a:ext cx="1901952" cy="609600"/>
          </a:xfrm>
          <a:prstGeom prst="rect">
            <a:avLst/>
          </a:prstGeom>
          <a:noFill/>
          <a:ln/>
        </p:spPr>
        <p:txBody>
          <a:bodyPr wrap="square" lIns="0" tIns="0" rIns="0" bIns="0" rtlCol="0" anchor="ctr"/>
          <a:lstStyle/>
          <a:p>
            <a:pPr marL="0" indent="0" algn="ctr">
              <a:buNone/>
            </a:pPr>
            <a:r>
              <a:rPr lang="en-US" sz="1450" b="1">
                <a:solidFill>
                  <a:srgbClr val="00B050"/>
                </a:solidFill>
                <a:latin typeface="Open Sans" panose="020B0606030504020204" pitchFamily="34" charset="0"/>
                <a:ea typeface="Open Sans" panose="020B0606030504020204" pitchFamily="34" charset="0"/>
                <a:cs typeface="Open Sans" panose="020B0606030504020204" pitchFamily="34" charset="0"/>
              </a:rPr>
              <a:t>TEST</a:t>
            </a:r>
          </a:p>
        </p:txBody>
      </p:sp>
      <p:sp>
        <p:nvSpPr>
          <p:cNvPr id="20" name="Text 18">
            <a:extLst>
              <a:ext uri="{FF2B5EF4-FFF2-40B4-BE49-F238E27FC236}">
                <a16:creationId xmlns:a16="http://schemas.microsoft.com/office/drawing/2014/main" id="{85839D63-567A-EB8D-2029-A7279F768C9F}"/>
              </a:ext>
            </a:extLst>
          </p:cNvPr>
          <p:cNvSpPr/>
          <p:nvPr/>
        </p:nvSpPr>
        <p:spPr>
          <a:xfrm>
            <a:off x="5170310" y="3249128"/>
            <a:ext cx="1901952" cy="1890856"/>
          </a:xfrm>
          <a:prstGeom prst="rect">
            <a:avLst/>
          </a:prstGeom>
          <a:noFill/>
          <a:ln/>
        </p:spPr>
        <p:txBody>
          <a:bodyPr wrap="square" lIns="0" tIns="0" rIns="0" bIns="0" rtlCol="0" anchor="t"/>
          <a:lstStyle/>
          <a:p>
            <a:pPr algn="ctr"/>
            <a:r>
              <a:rPr lang="en-IN" sz="1400">
                <a:latin typeface="Open Sans" pitchFamily="2" charset="0"/>
                <a:ea typeface="Open Sans" pitchFamily="2" charset="0"/>
                <a:cs typeface="Open Sans" pitchFamily="2" charset="0"/>
              </a:rPr>
              <a:t>Generate tests from the traceability matrix. Every test name cites its requirement ID.</a:t>
            </a:r>
            <a:br>
              <a:rPr lang="en-IN" sz="1400">
                <a:latin typeface="Open Sans" pitchFamily="2" charset="0"/>
                <a:ea typeface="Open Sans" pitchFamily="2" charset="0"/>
                <a:cs typeface="Open Sans" pitchFamily="2" charset="0"/>
              </a:rPr>
            </a:br>
            <a:r>
              <a:rPr lang="en-IN" sz="1400">
                <a:latin typeface="Open Sans" pitchFamily="2" charset="0"/>
                <a:ea typeface="Open Sans" pitchFamily="2" charset="0"/>
                <a:cs typeface="Open Sans" pitchFamily="2" charset="0"/>
              </a:rPr>
              <a:t/>
            </a:r>
            <a:endParaRPr lang="en-US" sz="1400">
              <a:latin typeface="Open Sans" pitchFamily="2" charset="0"/>
              <a:ea typeface="Open Sans" pitchFamily="2" charset="0"/>
              <a:cs typeface="Open Sans" pitchFamily="2" charset="0"/>
            </a:endParaRPr>
          </a:p>
        </p:txBody>
      </p:sp>
      <p:sp>
        <p:nvSpPr>
          <p:cNvPr id="22" name="Shape 20">
            <a:extLst>
              <a:ext uri="{FF2B5EF4-FFF2-40B4-BE49-F238E27FC236}">
                <a16:creationId xmlns:a16="http://schemas.microsoft.com/office/drawing/2014/main" id="{B3E1EB8A-C9CB-B081-9713-2088868828B0}"/>
              </a:ext>
            </a:extLst>
          </p:cNvPr>
          <p:cNvSpPr/>
          <p:nvPr/>
        </p:nvSpPr>
        <p:spPr>
          <a:xfrm>
            <a:off x="7352678" y="1744997"/>
            <a:ext cx="2097024" cy="3829009"/>
          </a:xfrm>
          <a:prstGeom prst="roundRect">
            <a:avLst>
              <a:gd name="adj" fmla="val 5814"/>
            </a:avLst>
          </a:prstGeom>
          <a:solidFill>
            <a:srgbClr val="F5F5F5"/>
          </a:solidFill>
          <a:ln w="2540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1">
            <a:extLst>
              <a:ext uri="{FF2B5EF4-FFF2-40B4-BE49-F238E27FC236}">
                <a16:creationId xmlns:a16="http://schemas.microsoft.com/office/drawing/2014/main" id="{741C6268-42FC-D881-8C3D-281204924169}"/>
              </a:ext>
            </a:extLst>
          </p:cNvPr>
          <p:cNvSpPr/>
          <p:nvPr/>
        </p:nvSpPr>
        <p:spPr>
          <a:xfrm>
            <a:off x="8120774" y="1981456"/>
            <a:ext cx="560832" cy="560832"/>
          </a:xfrm>
          <a:prstGeom prst="ellipse">
            <a:avLst/>
          </a:prstGeom>
          <a:solidFill>
            <a:schemeClr val="accent3"/>
          </a:solidFill>
          <a:ln w="16933">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a:extLst>
              <a:ext uri="{FF2B5EF4-FFF2-40B4-BE49-F238E27FC236}">
                <a16:creationId xmlns:a16="http://schemas.microsoft.com/office/drawing/2014/main" id="{40BB3FD6-9B06-8EBC-9CF7-EC1C7A4CABE4}"/>
              </a:ext>
            </a:extLst>
          </p:cNvPr>
          <p:cNvSpPr/>
          <p:nvPr/>
        </p:nvSpPr>
        <p:spPr>
          <a:xfrm>
            <a:off x="8120774" y="1981456"/>
            <a:ext cx="560832" cy="560832"/>
          </a:xfrm>
          <a:prstGeom prst="rect">
            <a:avLst/>
          </a:prstGeom>
          <a:noFill/>
          <a:ln/>
        </p:spPr>
        <p:txBody>
          <a:bodyPr wrap="square" lIns="0" tIns="0" rIns="0" bIns="0" rtlCol="0" anchor="ctr"/>
          <a:lstStyle/>
          <a:p>
            <a:pPr marL="0" indent="0" algn="ctr">
              <a:buNone/>
            </a:pPr>
            <a:r>
              <a:rPr lang="en-US" sz="2150"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215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27395BD7-BDC1-153A-49A1-ECB3E7D16287}"/>
              </a:ext>
            </a:extLst>
          </p:cNvPr>
          <p:cNvSpPr/>
          <p:nvPr/>
        </p:nvSpPr>
        <p:spPr>
          <a:xfrm>
            <a:off x="7450214" y="2622822"/>
            <a:ext cx="1901952" cy="609600"/>
          </a:xfrm>
          <a:prstGeom prst="rect">
            <a:avLst/>
          </a:prstGeom>
          <a:noFill/>
          <a:ln/>
        </p:spPr>
        <p:txBody>
          <a:bodyPr wrap="square" lIns="0" tIns="0" rIns="0" bIns="0" rtlCol="0" anchor="ctr"/>
          <a:lstStyle/>
          <a:p>
            <a:pPr marL="0" indent="0" algn="ctr">
              <a:buNone/>
            </a:pPr>
            <a:r>
              <a:rPr lang="en-US" sz="1450" b="1">
                <a:solidFill>
                  <a:schemeClr val="accent3"/>
                </a:solidFill>
                <a:latin typeface="Open Sans" panose="020B0606030504020204" pitchFamily="34" charset="0"/>
                <a:ea typeface="Open Sans" panose="020B0606030504020204" pitchFamily="34" charset="0"/>
                <a:cs typeface="Open Sans" panose="020B0606030504020204" pitchFamily="34" charset="0"/>
              </a:rPr>
              <a:t>BUILD</a:t>
            </a:r>
          </a:p>
        </p:txBody>
      </p:sp>
      <p:sp>
        <p:nvSpPr>
          <p:cNvPr id="26" name="Text 24">
            <a:extLst>
              <a:ext uri="{FF2B5EF4-FFF2-40B4-BE49-F238E27FC236}">
                <a16:creationId xmlns:a16="http://schemas.microsoft.com/office/drawing/2014/main" id="{F642D309-5D67-599E-3C28-2705B233F1AB}"/>
              </a:ext>
            </a:extLst>
          </p:cNvPr>
          <p:cNvSpPr/>
          <p:nvPr/>
        </p:nvSpPr>
        <p:spPr>
          <a:xfrm>
            <a:off x="7450214" y="3249128"/>
            <a:ext cx="1901952" cy="1890856"/>
          </a:xfrm>
          <a:prstGeom prst="rect">
            <a:avLst/>
          </a:prstGeom>
          <a:noFill/>
          <a:ln/>
        </p:spPr>
        <p:txBody>
          <a:bodyPr wrap="square" lIns="0" tIns="0" rIns="0" bIns="0" rtlCol="0" anchor="t"/>
          <a:lstStyle/>
          <a:p>
            <a:pPr algn="ctr"/>
            <a:r>
              <a:rPr lang="en-IN" sz="1450">
                <a:latin typeface="Open Sans" pitchFamily="2" charset="0"/>
                <a:ea typeface="Open Sans" pitchFamily="2" charset="0"/>
                <a:cs typeface="Open Sans" pitchFamily="2" charset="0"/>
              </a:rPr>
              <a:t>One requirement per build loop. Prompts cite the ID: "implement FR-04 per SPEC §6".</a:t>
            </a:r>
            <a:endParaRPr lang="en-US" sz="1450">
              <a:latin typeface="Open Sans" pitchFamily="2" charset="0"/>
              <a:ea typeface="Open Sans" pitchFamily="2" charset="0"/>
              <a:cs typeface="Open Sans" pitchFamily="2" charset="0"/>
            </a:endParaRPr>
          </a:p>
        </p:txBody>
      </p:sp>
      <p:sp>
        <p:nvSpPr>
          <p:cNvPr id="28" name="Shape 26">
            <a:extLst>
              <a:ext uri="{FF2B5EF4-FFF2-40B4-BE49-F238E27FC236}">
                <a16:creationId xmlns:a16="http://schemas.microsoft.com/office/drawing/2014/main" id="{DE055E5B-CE6D-CE28-E687-40BBA659EBA2}"/>
              </a:ext>
            </a:extLst>
          </p:cNvPr>
          <p:cNvSpPr/>
          <p:nvPr/>
        </p:nvSpPr>
        <p:spPr>
          <a:xfrm>
            <a:off x="9632582" y="1744997"/>
            <a:ext cx="2097024" cy="3829009"/>
          </a:xfrm>
          <a:prstGeom prst="roundRect">
            <a:avLst>
              <a:gd name="adj" fmla="val 5814"/>
            </a:avLst>
          </a:prstGeom>
          <a:solidFill>
            <a:srgbClr val="F5F5F5"/>
          </a:solidFill>
          <a:ln w="25400">
            <a:solidFill>
              <a:srgbClr val="00206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7">
            <a:extLst>
              <a:ext uri="{FF2B5EF4-FFF2-40B4-BE49-F238E27FC236}">
                <a16:creationId xmlns:a16="http://schemas.microsoft.com/office/drawing/2014/main" id="{81B10C7A-E862-64E1-5000-F02E85455EDC}"/>
              </a:ext>
            </a:extLst>
          </p:cNvPr>
          <p:cNvSpPr/>
          <p:nvPr/>
        </p:nvSpPr>
        <p:spPr>
          <a:xfrm>
            <a:off x="10400678" y="1981456"/>
            <a:ext cx="560832" cy="560832"/>
          </a:xfrm>
          <a:prstGeom prst="ellipse">
            <a:avLst/>
          </a:prstGeom>
          <a:solidFill>
            <a:srgbClr val="002060"/>
          </a:solidFill>
          <a:ln w="16933">
            <a:noFill/>
            <a:prstDash val="solid"/>
          </a:ln>
        </p:spPr>
        <p:txBody>
          <a:bodyPr/>
          <a:lstStyle/>
          <a:p>
            <a:endParaRPr lang="en-US">
              <a:latin typeface="Open Sans" pitchFamily="2" charset="0"/>
              <a:ea typeface="Open Sans" pitchFamily="2" charset="0"/>
              <a:cs typeface="Open Sans" pitchFamily="2" charset="0"/>
            </a:endParaRPr>
          </a:p>
        </p:txBody>
      </p:sp>
      <p:sp>
        <p:nvSpPr>
          <p:cNvPr id="30" name="Text 28">
            <a:extLst>
              <a:ext uri="{FF2B5EF4-FFF2-40B4-BE49-F238E27FC236}">
                <a16:creationId xmlns:a16="http://schemas.microsoft.com/office/drawing/2014/main" id="{1C2C2C58-CD3C-6EE3-D52F-9E479E9E4C96}"/>
              </a:ext>
            </a:extLst>
          </p:cNvPr>
          <p:cNvSpPr/>
          <p:nvPr/>
        </p:nvSpPr>
        <p:spPr>
          <a:xfrm>
            <a:off x="10400678" y="1981456"/>
            <a:ext cx="560832" cy="560832"/>
          </a:xfrm>
          <a:prstGeom prst="rect">
            <a:avLst/>
          </a:prstGeom>
          <a:noFill/>
          <a:ln/>
        </p:spPr>
        <p:txBody>
          <a:bodyPr wrap="square" lIns="0" tIns="0" rIns="0" bIns="0" rtlCol="0" anchor="ctr"/>
          <a:lstStyle/>
          <a:p>
            <a:pPr marL="0" indent="0" algn="ctr">
              <a:buNone/>
            </a:pPr>
            <a:r>
              <a:rPr lang="en-US" sz="2150"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2150" b="1">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a:extLst>
              <a:ext uri="{FF2B5EF4-FFF2-40B4-BE49-F238E27FC236}">
                <a16:creationId xmlns:a16="http://schemas.microsoft.com/office/drawing/2014/main" id="{66D4DF3E-16C6-4825-678C-B918EC115AD7}"/>
              </a:ext>
            </a:extLst>
          </p:cNvPr>
          <p:cNvSpPr/>
          <p:nvPr/>
        </p:nvSpPr>
        <p:spPr>
          <a:xfrm>
            <a:off x="9730118" y="2622822"/>
            <a:ext cx="1901952" cy="609600"/>
          </a:xfrm>
          <a:prstGeom prst="rect">
            <a:avLst/>
          </a:prstGeom>
          <a:noFill/>
          <a:ln/>
        </p:spPr>
        <p:txBody>
          <a:bodyPr wrap="square" lIns="0" tIns="0" rIns="0" bIns="0" rtlCol="0" anchor="ctr"/>
          <a:lstStyle/>
          <a:p>
            <a:pPr marL="0" indent="0" algn="ctr">
              <a:buNone/>
            </a:pPr>
            <a:r>
              <a:rPr lang="en-US" sz="1450" b="1">
                <a:solidFill>
                  <a:srgbClr val="002060"/>
                </a:solidFill>
                <a:latin typeface="Open Sans" panose="020B0606030504020204" pitchFamily="34" charset="0"/>
                <a:ea typeface="Open Sans" panose="020B0606030504020204" pitchFamily="34" charset="0"/>
                <a:cs typeface="Open Sans" panose="020B0606030504020204" pitchFamily="34" charset="0"/>
              </a:rPr>
              <a:t>RECONCILE</a:t>
            </a:r>
          </a:p>
        </p:txBody>
      </p:sp>
      <p:sp>
        <p:nvSpPr>
          <p:cNvPr id="32" name="Text 30">
            <a:extLst>
              <a:ext uri="{FF2B5EF4-FFF2-40B4-BE49-F238E27FC236}">
                <a16:creationId xmlns:a16="http://schemas.microsoft.com/office/drawing/2014/main" id="{CF60A68A-F0FF-002F-DEED-C8FBA7CC989D}"/>
              </a:ext>
            </a:extLst>
          </p:cNvPr>
          <p:cNvSpPr/>
          <p:nvPr/>
        </p:nvSpPr>
        <p:spPr>
          <a:xfrm>
            <a:off x="9730118" y="3249128"/>
            <a:ext cx="1901952" cy="1890856"/>
          </a:xfrm>
          <a:prstGeom prst="rect">
            <a:avLst/>
          </a:prstGeom>
          <a:noFill/>
          <a:ln/>
        </p:spPr>
        <p:txBody>
          <a:bodyPr wrap="square" lIns="0" tIns="0" rIns="0" bIns="0" rtlCol="0" anchor="t"/>
          <a:lstStyle/>
          <a:p>
            <a:pPr algn="ctr"/>
            <a:r>
              <a:rPr lang="en-IN" sz="1450">
                <a:latin typeface="Open Sans" pitchFamily="2" charset="0"/>
                <a:ea typeface="Open Sans" pitchFamily="2" charset="0"/>
                <a:cs typeface="Open Sans" pitchFamily="2" charset="0"/>
              </a:rPr>
              <a:t>Diff spec, code and tests. Every behaviour change lands in the spec changelog first.</a:t>
            </a:r>
            <a:endParaRPr lang="en-US" sz="1450">
              <a:latin typeface="Open Sans" pitchFamily="2" charset="0"/>
              <a:ea typeface="Open Sans" pitchFamily="2" charset="0"/>
              <a:cs typeface="Open Sans" pitchFamily="2" charset="0"/>
            </a:endParaRPr>
          </a:p>
        </p:txBody>
      </p:sp>
      <p:sp>
        <p:nvSpPr>
          <p:cNvPr id="33" name="TextBox 32">
            <a:extLst>
              <a:ext uri="{FF2B5EF4-FFF2-40B4-BE49-F238E27FC236}">
                <a16:creationId xmlns:a16="http://schemas.microsoft.com/office/drawing/2014/main" id="{6F94E9D6-D29B-8793-8C00-E684E0BE1F94}"/>
              </a:ext>
            </a:extLst>
          </p:cNvPr>
          <p:cNvSpPr txBox="1"/>
          <p:nvPr/>
        </p:nvSpPr>
        <p:spPr>
          <a:xfrm>
            <a:off x="897834" y="5808282"/>
            <a:ext cx="10396329" cy="389850"/>
          </a:xfrm>
          <a:prstGeom prst="rect">
            <a:avLst/>
          </a:prstGeom>
          <a:noFill/>
        </p:spPr>
        <p:txBody>
          <a:bodyPr wrap="square" rtlCol="0">
            <a:spAutoFit/>
          </a:bodyPr>
          <a:lstStyle/>
          <a:p>
            <a:pPr algn="ctr"/>
            <a:r>
              <a:rPr lang="en-IN" sz="1750" b="1">
                <a:latin typeface="Open Sans" panose="020B0606030504020204" pitchFamily="34" charset="0"/>
                <a:ea typeface="Open Sans" panose="020B0606030504020204" pitchFamily="34" charset="0"/>
                <a:cs typeface="Open Sans" panose="020B0606030504020204" pitchFamily="34" charset="0"/>
              </a:rPr>
              <a:t/>
            </a:r>
            <a:r>
              <a:rPr lang="en-IN" sz="1750" i="1">
                <a:solidFill>
                  <a:schemeClr val="tx2"/>
                </a:solidFill>
                <a:latin typeface="Open Sans" pitchFamily="2" charset="0"/>
                <a:ea typeface="Open Sans" pitchFamily="2" charset="0"/>
                <a:cs typeface="Open Sans" pitchFamily="2" charset="0"/>
              </a:rPr>
              <a:t>Prompts are disposable. Specs, tests and CLAUDE.md are the durable artefacts that steer every future session.</a:t>
            </a:r>
            <a:endParaRPr lang="en-US" sz="1750" i="1">
              <a:solidFill>
                <a:schemeClr val="tx2"/>
              </a:solidFill>
              <a:latin typeface="Open Sans" pitchFamily="2" charset="0"/>
              <a:ea typeface="Open Sans" pitchFamily="2" charset="0"/>
              <a:cs typeface="Open Sans" pitchFamily="2" charset="0"/>
            </a:endParaRPr>
          </a:p>
        </p:txBody>
      </p:sp>
      <p:sp>
        <p:nvSpPr>
          <p:cNvPr id="34" name="TextBox 33">
            <a:extLst>
              <a:ext uri="{FF2B5EF4-FFF2-40B4-BE49-F238E27FC236}">
                <a16:creationId xmlns:a16="http://schemas.microsoft.com/office/drawing/2014/main" id="{F96E3954-CE77-0FA8-D672-EAEEFCF151E7}"/>
              </a:ext>
            </a:extLst>
          </p:cNvPr>
          <p:cNvSpPr txBox="1"/>
          <p:nvPr/>
        </p:nvSpPr>
        <p:spPr>
          <a:xfrm>
            <a:off x="489600" y="1027200"/>
            <a:ext cx="11216640" cy="410369"/>
          </a:xfrm>
          <a:prstGeom prst="rect">
            <a:avLst/>
          </a:prstGeom>
          <a:noFill/>
        </p:spPr>
        <p:txBody>
          <a:bodyPr wrap="square" rtlCol="0">
            <a:noAutofit/>
          </a:bodyPr>
          <a:lstStyle/>
          <a:p>
            <a:pPr algn="l"/>
            <a:r>
              <a:rPr lang="en-IN" sz="1850">
                <a:solidFill>
                  <a:schemeClr val="tx2"/>
                </a:solidFill>
                <a:latin typeface="Open Sans" pitchFamily="2" charset="0"/>
                <a:ea typeface="Open Sans" pitchFamily="2" charset="0"/>
                <a:cs typeface="Open Sans" pitchFamily="2" charset="0"/>
              </a:rPr>
              <a:t>The spec, not the chat history, is the memory of what was agreed.</a:t>
            </a:r>
            <a:endParaRPr lang="en-US" sz="1850">
              <a:solidFill>
                <a:schemeClr val="tx2"/>
              </a:solidFill>
              <a:latin typeface="Open Sans" pitchFamily="2" charset="0"/>
              <a:ea typeface="Open Sans" pitchFamily="2" charset="0"/>
              <a:cs typeface="Open Sans" pitchFamily="2" charset="0"/>
            </a:endParaRPr>
          </a:p>
        </p:txBody>
      </p:sp>
      <p:cxnSp>
        <p:nvCxnSpPr>
          <p:cNvPr id="36" name="Straight Arrow Connector 35">
            <a:extLst>
              <a:ext uri="{FF2B5EF4-FFF2-40B4-BE49-F238E27FC236}">
                <a16:creationId xmlns:a16="http://schemas.microsoft.com/office/drawing/2014/main" id="{6310AA2E-0BC1-3F66-D739-7FE38EF64F56}"/>
              </a:ext>
            </a:extLst>
          </p:cNvPr>
          <p:cNvCxnSpPr>
            <a:cxnSpLocks/>
          </p:cNvCxnSpPr>
          <p:nvPr/>
        </p:nvCxnSpPr>
        <p:spPr>
          <a:xfrm>
            <a:off x="2651650" y="3590461"/>
            <a:ext cx="113038"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6175C2-987D-E8BC-5C62-F5FD0C36E752}"/>
              </a:ext>
            </a:extLst>
          </p:cNvPr>
          <p:cNvCxnSpPr>
            <a:cxnSpLocks/>
          </p:cNvCxnSpPr>
          <p:nvPr/>
        </p:nvCxnSpPr>
        <p:spPr>
          <a:xfrm>
            <a:off x="4918706" y="3584145"/>
            <a:ext cx="113038"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5652E88-3E7B-A626-4195-6C8A502DB81F}"/>
              </a:ext>
            </a:extLst>
          </p:cNvPr>
          <p:cNvCxnSpPr>
            <a:cxnSpLocks/>
          </p:cNvCxnSpPr>
          <p:nvPr/>
        </p:nvCxnSpPr>
        <p:spPr>
          <a:xfrm>
            <a:off x="7210333" y="3584145"/>
            <a:ext cx="113038"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2462479-C07C-FB37-D9A8-EE12598D8311}"/>
              </a:ext>
            </a:extLst>
          </p:cNvPr>
          <p:cNvCxnSpPr>
            <a:cxnSpLocks/>
          </p:cNvCxnSpPr>
          <p:nvPr/>
        </p:nvCxnSpPr>
        <p:spPr>
          <a:xfrm>
            <a:off x="9484376" y="3589097"/>
            <a:ext cx="113038"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hi 2021 VJ">
  <a:themeElements>
    <a:clrScheme name="Phi Colors">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l">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hi 2021 VJ" id="{702BD01F-BCA0-8640-A2C7-CCAE37195E6C}" vid="{D79650B3-993E-EE45-AF30-840231D4DE29}"/>
    </a:ext>
  </a:extLst>
</a:theme>
</file>

<file path=ppt/theme/theme2.xml><?xml version="1.0" encoding="utf-8"?>
<a:theme xmlns:a="http://schemas.openxmlformats.org/drawingml/2006/main" name="CellStrat CCA">
  <a:themeElements>
    <a:clrScheme name="Phi Design">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5F5F5"/>
        </a:solidFill>
        <a:ln w="6350">
          <a:solidFill>
            <a:srgbClr val="DEDEDE"/>
          </a:solidFill>
          <a:prstDash val="solid"/>
        </a:ln>
        <a:effectLst>
          <a:outerShdw blurRad="63500" dist="25400" dir="2700000" algn="bl" rotWithShape="0">
            <a:srgbClr val="000000">
              <a:alpha val="11000"/>
            </a:srgbClr>
          </a:outerShdw>
        </a:effectLst>
      </a:spPr>
      <a:bodyPr/>
      <a:lstStyle>
        <a:defPPr algn="l">
          <a:defRPr sz="3200">
            <a:latin typeface="Open Sans" panose="020B0606030504020204" pitchFamily="34" charset="0"/>
            <a:ea typeface="Open Sans" panose="020B0606030504020204" pitchFamily="34" charset="0"/>
            <a:cs typeface="Open Sans" panose="020B0606030504020204" pitchFamily="34" charset="0"/>
          </a:defRPr>
        </a:defPPr>
      </a:lst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resentation1" id="{0210B50B-29D0-B849-B35D-819F9ED84FCA}" vid="{BE3D0D1F-83C9-2E46-AA81-4E9634B051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1373</TotalTime>
  <Words>11726</Words>
  <Application>Microsoft Office PowerPoint</Application>
  <PresentationFormat>Widescreen</PresentationFormat>
  <Paragraphs>887</Paragraphs>
  <Slides>46</Slides>
  <Notes>41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46</vt:i4>
      </vt:variant>
    </vt:vector>
  </HeadingPairs>
  <TitlesOfParts>
    <vt:vector size="54" baseType="lpstr">
      <vt:lpstr>Aptos</vt:lpstr>
      <vt:lpstr>Arial</vt:lpstr>
      <vt:lpstr>Calibri</vt:lpstr>
      <vt:lpstr>Open Sans</vt:lpstr>
      <vt:lpstr>Open Sans Semibold</vt:lpstr>
      <vt:lpstr>Wingdings</vt:lpstr>
      <vt:lpstr>Phi 2021 VJ</vt:lpstr>
      <vt:lpstr>CellStrat CCA</vt:lpstr>
      <vt:lpstr>Certification in AI Assisted Coding</vt:lpstr>
      <vt:lpstr>Arjun and His Transformation</vt:lpstr>
      <vt:lpstr>PowerPoint Presentation</vt:lpstr>
      <vt:lpstr>PowerPoint Presentation</vt:lpstr>
      <vt:lpstr>Session Agenda + Timebox</vt:lpstr>
      <vt:lpstr>Learning Outcomes:</vt:lpstr>
      <vt:lpstr>Before We Start</vt:lpstr>
      <vt:lpstr>Meet Your Instructor</vt:lpstr>
      <vt:lpstr>THE AI CODING  LANDSCAPE</vt:lpstr>
      <vt:lpstr>What’s Changed — And What Hasn’t</vt:lpstr>
      <vt:lpstr>PowerPoint Presentation</vt:lpstr>
      <vt:lpstr>The Right Mental Model</vt:lpstr>
      <vt:lpstr>PowerPoint Presentation</vt:lpstr>
      <vt:lpstr>PowerPoint Presentation</vt:lpstr>
      <vt:lpstr>PowerPoint Presentation</vt:lpstr>
      <vt:lpstr>GETTING STARTED WITH  CLAUDE CODE</vt:lpstr>
      <vt:lpstr>PowerPoint Presentation</vt:lpstr>
      <vt:lpstr>PowerPoint Presentation</vt:lpstr>
      <vt:lpstr>That Doesn’t Mean It Has All The Permissions</vt:lpstr>
      <vt:lpstr>Context Is Everything for Coding Assistants</vt:lpstr>
      <vt:lpstr>PowerPoint Presentation</vt:lpstr>
      <vt:lpstr>PowerPoint Presentation</vt:lpstr>
      <vt:lpstr>PowerPoint Presentation</vt:lpstr>
      <vt:lpstr>PowerPoint Presentation</vt:lpstr>
      <vt:lpstr>Key Commands</vt:lpstr>
      <vt:lpstr>PowerPoint Presentation</vt:lpstr>
      <vt:lpstr>PowerPoint Presentation</vt:lpstr>
      <vt:lpstr>PowerPoint Presentation</vt:lpstr>
      <vt:lpstr>PowerPoint Presentation</vt:lpstr>
      <vt:lpstr>PowerPoint Presentation</vt:lpstr>
      <vt:lpstr>PowerPoint Presentation</vt:lpstr>
      <vt:lpstr>PROMPT ENGINEERING FOR  CODE GENERATION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CellStrat</dc:creator>
  <cp:lastModifiedBy>CellStrat</cp:lastModifiedBy>
  <cp:revision>176</cp:revision>
  <dcterms:created xsi:type="dcterms:W3CDTF">2024-10-24T10:07:57Z</dcterms:created>
  <dcterms:modified xsi:type="dcterms:W3CDTF">2026-07-20T09:26:18Z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0x01010006F8A97F61E63A45AE2A7731D2CE03A6</vt:lpwstr>
  </property>
  <property fmtid="{D5CDD505-2E9C-101B-9397-08002B2CF9AE}" pid="3" name="MediaServiceImageTags">
    <vt:lpwstr/>
  </property>
</Properties>
</file>