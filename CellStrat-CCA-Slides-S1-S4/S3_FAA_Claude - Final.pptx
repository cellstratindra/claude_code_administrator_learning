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4.svg" ContentType="image/svg+xml"/>
  <Override PartName="/ppt/media/image16.svg" ContentType="image/svg+xml"/>
  <Override PartName="/ppt/media/image18.svg" ContentType="image/svg+xml"/>
  <Override PartName="/ppt/media/image20.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4"/>
    <p:sldMasterId id="2147483664" r:id="rId5"/>
  </p:sldMasterIdLst>
  <p:notesMasterIdLst>
    <p:notesMasterId r:id="rId58"/>
  </p:notesMasterIdLst>
  <p:sldIdLst>
    <p:sldId id="2147483090" r:id="rId6"/>
    <p:sldId id="257" r:id="rId7"/>
    <p:sldId id="258" r:id="rId8"/>
    <p:sldId id="2147483113" r:id="rId9"/>
    <p:sldId id="2147483114" r:id="rId10"/>
    <p:sldId id="2147483115" r:id="rId11"/>
    <p:sldId id="2147483143" r:id="rId12"/>
    <p:sldId id="2147483116" r:id="rId13"/>
    <p:sldId id="2147483117" r:id="rId14"/>
    <p:sldId id="265" r:id="rId15"/>
    <p:sldId id="2147483118" r:id="rId16"/>
    <p:sldId id="2147483119" r:id="rId17"/>
    <p:sldId id="2147483120" r:id="rId18"/>
    <p:sldId id="2147483110" r:id="rId19"/>
    <p:sldId id="2147483111" r:id="rId20"/>
    <p:sldId id="2147483121" r:id="rId21"/>
    <p:sldId id="2147483152" r:id="rId3"/>
    <p:sldId id="2147483122" r:id="rId22"/>
    <p:sldId id="2147483146" r:id="rId23"/>
    <p:sldId id="2147483123" r:id="rId24"/>
    <p:sldId id="2147483124" r:id="rId25"/>
    <p:sldId id="2147483141" r:id="rId26"/>
    <p:sldId id="2147483144" r:id="rId27"/>
    <p:sldId id="2147483142" r:id="rId28"/>
    <p:sldId id="2147483125" r:id="rId29"/>
    <p:sldId id="2147483126" r:id="rId30"/>
    <p:sldId id="2147483147" r:id="rId31"/>
    <p:sldId id="281" r:id="rId32"/>
    <p:sldId id="2147483127" r:id="rId33"/>
    <p:sldId id="2147483128" r:id="rId34"/>
    <p:sldId id="2147483129" r:id="rId35"/>
    <p:sldId id="2147483130" r:id="rId36"/>
    <p:sldId id="286" r:id="rId37"/>
    <p:sldId id="2147483145" r:id="rId38"/>
    <p:sldId id="2147483131" r:id="rId39"/>
    <p:sldId id="2147483153" r:id="rId2"/>
    <p:sldId id="2147483132" r:id="rId40"/>
    <p:sldId id="2147483133" r:id="rId41"/>
    <p:sldId id="2147483134" r:id="rId42"/>
    <p:sldId id="2147483135" r:id="rId43"/>
    <p:sldId id="2147483136" r:id="rId44"/>
    <p:sldId id="2147483137" r:id="rId45"/>
    <p:sldId id="295" r:id="rId46"/>
    <p:sldId id="2147483138" r:id="rId47"/>
    <p:sldId id="2147483139" r:id="rId48"/>
    <p:sldId id="2147483148" r:id="rId49"/>
    <p:sldId id="2147483140" r:id="rId50"/>
    <p:sldId id="2147483149" r:id="rId51"/>
    <p:sldId id="2147483100" r:id="rId52"/>
    <p:sldId id="2147483150" r:id="rId53"/>
    <p:sldId id="2147483101" r:id="rId54"/>
    <p:sldId id="2147483151" r:id="rId55"/>
    <p:sldId id="2147483102" r:id="rId56"/>
    <p:sldId id="2147483099" r:id="rId5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FEF6"/>
    <a:srgbClr val="FFF2F2"/>
    <a:srgbClr val="FDF2D4"/>
    <a:srgbClr val="F5F5F5"/>
    <a:srgbClr val="FFC4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p:restoredTop sz="94699"/>
  </p:normalViewPr>
  <p:slideViewPr>
    <p:cSldViewPr snapToGrid="0">
      <p:cViewPr varScale="1">
        <p:scale>
          <a:sx n="153" d="100"/>
          <a:sy n="153" d="100"/>
        </p:scale>
        <p:origin x="56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 Type="http://schemas.openxmlformats.org/officeDocument/2006/relationships/slide" Target="slides/slide36.xml"/><Relationship Id="rId3" Type="http://schemas.openxmlformats.org/officeDocument/2006/relationships/slide" Target="slides/slide17.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9525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Confirm the baseline before anything else. If someone is missing any of the three columns, it will become a problem during the labs.</a:t>
            </a:r>
          </a:p>
          <a:p>
            <a:endParaRPr lang="en-IN"/>
          </a:p>
          <a:p>
            <a:r>
              <a:rPr lang="en-IN" b="1"/>
              <a:t>How to do</a:t>
            </a:r>
            <a:br>
              <a:rPr lang="en-IN"/>
            </a:br>
            <a:r>
              <a:rPr lang="en-IN"/>
              <a:t>Walk the three columns at a steady pace. After the third column ask: "Is everyone's PoC committed and accessible on this machine right now?" If someone is not, note it quietly. Do not hold up the room. Plan to pair them with someone during the hands-on sections. If everyone is set, move on immediately.</a:t>
            </a:r>
          </a:p>
          <a:p>
            <a:endParaRPr lang="en-IN"/>
          </a:p>
          <a:p>
            <a:r>
              <a:rPr lang="en-IN" b="1"/>
              <a:t>What to ask</a:t>
            </a:r>
            <a:br>
              <a:rPr lang="en-IN"/>
            </a:br>
            <a:r>
              <a:rPr lang="en-IN"/>
              <a:t>"Quick show of hands — who brought a PoC they are genuinely curious about fixing today?"</a:t>
            </a:r>
          </a:p>
          <a:p>
            <a:endParaRPr lang="en-US"/>
          </a:p>
        </p:txBody>
      </p:sp>
    </p:spTree>
    <p:extLst>
      <p:ext uri="{BB962C8B-B14F-4D97-AF65-F5344CB8AC3E}">
        <p14:creationId xmlns:p14="http://schemas.microsoft.com/office/powerpoint/2010/main" val="3296904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Run this as a live vote. The answer is not revealed yet. The question seeds a tension that Part 1 resolves.</a:t>
            </a:r>
          </a:p>
          <a:p>
            <a:endParaRPr lang="en-IN"/>
          </a:p>
          <a:p>
            <a:r>
              <a:rPr lang="en-IN" b="1"/>
              <a:t>How to do</a:t>
            </a:r>
            <a:br>
              <a:rPr lang="en-IN"/>
            </a:br>
            <a:r>
              <a:rPr lang="en-IN"/>
              <a:t>Read the question aloud: "You asked Claude to fix a bug. The error message went away. What do you do next?" Give 30 seconds for silent voting. Ask for a show of hands per option. Note the split without commenting on it. Then say: "Hold that vote. We are coming back to it at the end of Part 1. The answer will be obvious by then." Read the closing line on screen: "The error disappearing is the beginning of review, not the end of it. That is what Part 1 is about."</a:t>
            </a:r>
          </a:p>
          <a:p>
            <a:endParaRPr lang="en-US"/>
          </a:p>
        </p:txBody>
      </p:sp>
    </p:spTree>
    <p:extLst>
      <p:ext uri="{BB962C8B-B14F-4D97-AF65-F5344CB8AC3E}">
        <p14:creationId xmlns:p14="http://schemas.microsoft.com/office/powerpoint/2010/main" val="4292512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1265190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Walk the rubber duck technique, then the upgraded version. The contrast is the point.</a:t>
            </a:r>
          </a:p>
          <a:p>
            <a:endParaRPr lang="en-IN"/>
          </a:p>
          <a:p>
            <a:r>
              <a:rPr lang="en-IN" b="1"/>
              <a:t>How to do</a:t>
            </a:r>
            <a:br>
              <a:rPr lang="en-IN"/>
            </a:br>
            <a:r>
              <a:rPr lang="en-IN"/>
              <a:t>Point to the left panel: "Rubber duck debugging is a real professional technique. You explain your code out loud to an object on your desk. The act of articulating forces you to slow down, and slowing down reveals the problem." Point to the right panel: "The gap for us is that we did not write it. We cannot explain it without reading it first. So we ask Claude to explain it instead." Read the prompt: "Explain this function line by line. Name the purpose of each step and flag any assumption you are making." Say: "Run this before you trust anything Claude built. It forces Claude to articulate its own logic. If it hedges on a line, that line needs your attention before you ship anything." Read the rule: "If Claude cannot explain a line without hedging, that line needs reviewing.”</a:t>
            </a:r>
          </a:p>
          <a:p>
            <a:endParaRPr lang="en-IN"/>
          </a:p>
          <a:p>
            <a:r>
              <a:rPr lang="en-IN" b="1"/>
              <a:t>Transition</a:t>
            </a:r>
            <a:br>
              <a:rPr lang="en-IN"/>
            </a:br>
            <a:r>
              <a:rPr lang="en-IN"/>
              <a:t>"Now the method that structures the whole process."</a:t>
            </a:r>
          </a:p>
          <a:p>
            <a:endParaRPr lang="en-US"/>
          </a:p>
        </p:txBody>
      </p:sp>
    </p:spTree>
    <p:extLst>
      <p:ext uri="{BB962C8B-B14F-4D97-AF65-F5344CB8AC3E}">
        <p14:creationId xmlns:p14="http://schemas.microsoft.com/office/powerpoint/2010/main" val="494657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1260774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Make the AI failure patterns real and recognisable before introducing the prompt. The three patterns from the curriculum — hallucinated functions, invented endpoints, subtly broken logic — are the reason diagnosis matters.</a:t>
            </a:r>
          </a:p>
          <a:p>
            <a:endParaRPr lang="en-IN"/>
          </a:p>
          <a:p>
            <a:r>
              <a:rPr lang="en-IN" b="1"/>
              <a:t>How to do</a:t>
            </a:r>
            <a:br>
              <a:rPr lang="en-IN"/>
            </a:br>
            <a:r>
              <a:rPr lang="en-IN"/>
              <a:t>Point to the rule box: "AI-generated code fails in specific, recognisable patterns. They all look plausible until you test them. Knowing which pattern you are dealing with changes the fix completely." Read the prompt out loud: "Name the root cause in one sentence. Do not suggest a fix yet." Say: "That last sentence is not optional. If you ask Claude to fix and diagnose at the same time, it will fix first and reason second. That produces a fix that suppresses the symptom without addressing the cause." Walk the three cards: "Hallucinated library functions. Claude names a method that sounds exactly right and does not exist. The code looks correct until you run it. The diagnosis: a library call fails at runtime with a method not found error." "Invented API endpoints. Claude constructs a plausible-sounding endpoint that was never real. The diagnosis: a 404 or auth error on a call you did not write yourself." "Subtly broken logic. No error. Wrong answer. This is the hardest one because nothing announces the failure. The diagnosis: compare actual output against expected output for a known input." Close: "All three of these pass casual review. They pass because the code looks right. Diagnosis before prescription is what catches them.”</a:t>
            </a:r>
          </a:p>
          <a:p>
            <a:endParaRPr lang="en-IN"/>
          </a:p>
          <a:p>
            <a:r>
              <a:rPr lang="en-IN" b="1"/>
              <a:t>What to ask</a:t>
            </a:r>
            <a:br>
              <a:rPr lang="en-IN"/>
            </a:br>
            <a:r>
              <a:rPr lang="en-IN"/>
              <a:t>"Which of these three do you think is most likely to appear in your own PoC? Why?" Let one or two people answer. This surfaces domain-specific thinking.</a:t>
            </a:r>
          </a:p>
          <a:p>
            <a:endParaRPr lang="en-IN"/>
          </a:p>
          <a:p>
            <a:r>
              <a:rPr lang="en-IN" b="1"/>
              <a:t>Transition</a:t>
            </a:r>
            <a:br>
              <a:rPr lang="en-IN"/>
            </a:br>
            <a:r>
              <a:rPr lang="en-IN"/>
              <a:t>"You have the diagnosis. Step 4 is the fix — and the verification."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Land the curriculum point hard: "targeted fix → run and test — repeat." The yellow bar at the bottom is the most important line on the slide. Make sure it lands.</a:t>
            </a:r>
          </a:p>
          <a:p>
            <a:endParaRPr lang="en-IN"/>
          </a:p>
          <a:p>
            <a:r>
              <a:rPr lang="en-IN" b="1"/>
              <a:t>How to do</a:t>
            </a:r>
            <a:br>
              <a:rPr lang="en-IN"/>
            </a:br>
            <a:r>
              <a:rPr lang="en-IN"/>
              <a:t>Read the rule box out loud: "The error disappearing is the beginning of review, not the end of it. A fix that makes the error message go away is a hypothesis. Running the code is what turns it into a verified fix." Walk the four action cards: "Review before accepting. Read the diff. Does it address the root cause from Step 3, or does it just suppress the error message? If you cannot explain the change in one sentence, do not accept it yet." "Accept and run immediately. Press Y and run the code in the same moment. Do not accept and move on without running. The fix is unverified until the code executes." "Confirm the symptom is gone. The original failure should no longer appear. If it does, you are back at Step 2. Describe what is still wrong and repeat the loop." "Check nothing else broke. Run the full output. A fix that solves one thing and silently breaks another is not a fix. It is a trade." Read the yellow bar: "If the symptom is gone and nothing else broke, go to Step 5. If not, return to Step 2 with the new failure." Emphasise: "Return to Step 2. Not Step 1. You already have the reproducible input. What you have now is a new failure message. Paste it with context and go again.”</a:t>
            </a:r>
          </a:p>
          <a:p>
            <a:endParaRPr lang="en-IN"/>
          </a:p>
          <a:p>
            <a:r>
              <a:rPr lang="en-IN" b="1"/>
              <a:t>Transition</a:t>
            </a:r>
            <a:br>
              <a:rPr lang="en-IN"/>
            </a:br>
            <a:r>
              <a:rPr lang="en-IN"/>
              <a:t>"The fix works and nothing else broke. One step left — and it is the one most people skip."</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59ABC-DC30-56BE-4990-A3F9ADC9A5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42277-7368-2C53-4C53-213F4BA9FE6B}"/>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2019C8B-5585-7B27-EEE5-9F61B1E78AFA}"/>
              </a:ext>
            </a:extLst>
          </p:cNvPr>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Run as a live vote. The correct answer is C, and the reasoning is more important than the answer.</a:t>
            </a:r>
          </a:p>
          <a:p>
            <a:endParaRPr lang="en-IN"/>
          </a:p>
          <a:p>
            <a:r>
              <a:rPr lang="en-IN" b="1"/>
              <a:t>What to ask</a:t>
            </a:r>
            <a:br>
              <a:rPr lang="en-IN"/>
            </a:br>
            <a:r>
              <a:rPr lang="en-IN"/>
              <a:t>"Read the review output on screen. Vote: would you accept this PoC for a client handoff?" Take the vote. Then walk the options: "A and D are wrong for the same reason. All Low severity does not mean no problems. It means the review was not deep enough." "B is almost right but still wrong. It assumes Claude found the right things. It did not." "C is the answer. This review is superficial, not because of what it found, but because of what it missed. A PoC handling business data with no mention of input validation, no mention of hardcoded values, and no mention of what happens when the CSV is malformed did not get a real review." Ask: "What issues would you expect to find on a script like this that Claude did not flag?" Let people answer. Use those answers to set up the push prompts on the next slide.</a:t>
            </a:r>
          </a:p>
          <a:p>
            <a:endParaRPr lang="en-IN" b="1"/>
          </a:p>
          <a:p>
            <a:r>
              <a:rPr lang="en-IN" b="1"/>
              <a:t>Transition</a:t>
            </a:r>
            <a:br>
              <a:rPr lang="en-IN"/>
            </a:br>
            <a:r>
              <a:rPr lang="en-IN"/>
              <a:t>"So how do you push Claude when the first review is too gentle?"</a:t>
            </a:r>
          </a:p>
          <a:p>
            <a:endParaRPr lang="en-US"/>
          </a:p>
        </p:txBody>
      </p:sp>
    </p:spTree>
    <p:extLst>
      <p:ext uri="{BB962C8B-B14F-4D97-AF65-F5344CB8AC3E}">
        <p14:creationId xmlns:p14="http://schemas.microsoft.com/office/powerpoint/2010/main" val="3589765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Run as a live vote. The correct answer is C, and the reasoning is more important than the answer.</a:t>
            </a:r>
          </a:p>
          <a:p>
            <a:endParaRPr lang="en-IN"/>
          </a:p>
          <a:p>
            <a:r>
              <a:rPr lang="en-IN" b="1"/>
              <a:t>What to ask</a:t>
            </a:r>
            <a:br>
              <a:rPr lang="en-IN"/>
            </a:br>
            <a:r>
              <a:rPr lang="en-IN"/>
              <a:t>"Read the review output on screen. Vote: would you accept this PoC for a client handoff?" Take the vote. Then walk the options: "A and D are wrong for the same reason. All Low severity does not mean no problems. It means the review was not deep enough." "B is almost right but still wrong. It assumes Claude found the right things. It did not." "C is the answer. This review is superficial, not because of what it found, but because of what it missed. A PoC handling business data with no mention of input validation, no mention of hardcoded values, and no mention of what happens when the CSV is malformed did not get a real review." Ask: "What issues would you expect to find on a script like this that Claude did not flag?" Let people answer. Use those answers to set up the push prompts on the next slide.</a:t>
            </a:r>
          </a:p>
          <a:p>
            <a:endParaRPr lang="en-IN" b="1"/>
          </a:p>
          <a:p>
            <a:r>
              <a:rPr lang="en-IN" b="1"/>
              <a:t>Transition</a:t>
            </a:r>
            <a:br>
              <a:rPr lang="en-IN"/>
            </a:br>
            <a:r>
              <a:rPr lang="en-IN"/>
              <a:t>"So how do you push Claude when the first review is too gentle?"</a:t>
            </a:r>
          </a:p>
          <a:p>
            <a:endParaRPr lang="en-US"/>
          </a:p>
        </p:txBody>
      </p:sp>
    </p:spTree>
    <p:extLst>
      <p:ext uri="{BB962C8B-B14F-4D97-AF65-F5344CB8AC3E}">
        <p14:creationId xmlns:p14="http://schemas.microsoft.com/office/powerpoint/2010/main" val="4106297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Make the urgency of Part 3 real. This bridge slide creates the problem that Part 3 solves.</a:t>
            </a:r>
          </a:p>
          <a:p>
            <a:endParaRPr lang="en-IN"/>
          </a:p>
          <a:p>
            <a:r>
              <a:rPr lang="en-IN" b="1"/>
              <a:t>How to do</a:t>
            </a:r>
            <a:br>
              <a:rPr lang="en-IN"/>
            </a:br>
            <a:r>
              <a:rPr lang="en-IN"/>
              <a:t>Read the title and subtitle: "The fixes are in. The issues are documented. Right now this all exists only on your machine." Walk the three problems: "Not permanent. If your machine fails tonight, everything you did today is gone. A commit makes it permanent." "Not attributable. Nobody knows what changed, when, or why. A commit message creates a record that survives the conversation." "Not </a:t>
            </a:r>
            <a:r>
              <a:rPr lang="en-IN" err="1"/>
              <a:t>handable</a:t>
            </a:r>
            <a:r>
              <a:rPr lang="en-IN"/>
              <a:t>. An engineer picking this up has no idea what you built, what you fixed, or what you chose not to build. A </a:t>
            </a:r>
            <a:r>
              <a:rPr lang="en-IN" err="1"/>
              <a:t>HANDOFF.md</a:t>
            </a:r>
            <a:r>
              <a:rPr lang="en-IN"/>
              <a:t> closes that gap." Read the closer: "Part 3 solves all three, in the same order."</a:t>
            </a:r>
          </a:p>
          <a:p>
            <a:endParaRPr lang="en-US"/>
          </a:p>
        </p:txBody>
      </p:sp>
    </p:spTree>
    <p:extLst>
      <p:ext uri="{BB962C8B-B14F-4D97-AF65-F5344CB8AC3E}">
        <p14:creationId xmlns:p14="http://schemas.microsoft.com/office/powerpoint/2010/main" val="39945092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Preview the three parts of Session 4. End with the bring list read out loud.</a:t>
            </a:r>
          </a:p>
          <a:p>
            <a:endParaRPr lang="en-IN"/>
          </a:p>
          <a:p>
            <a:r>
              <a:rPr lang="en-IN" b="1"/>
              <a:t>How to do</a:t>
            </a:r>
            <a:br>
              <a:rPr lang="en-IN"/>
            </a:br>
            <a:r>
              <a:rPr lang="en-IN"/>
              <a:t>Walk the three parts: "Production gap checklist on your own PoC. Estimate real engineering effort. Make a call: greenlight, rework, or kill." "Data model for your PoC domain, generated and critiqued. You will discover structural decisions you made without realising." "Risks and responsible AI coding. Privacy, security, governance. The risks you have not thought about yet." Read the bring list out loud and point to it: "Your committed PoC. Your </a:t>
            </a:r>
            <a:r>
              <a:rPr lang="en-IN" err="1"/>
              <a:t>HANDOFF.md</a:t>
            </a:r>
            <a:r>
              <a:rPr lang="en-IN"/>
              <a:t>. Your code review findings from today. If any of these are missing, Session 4 starts with recovery instead of building."</a:t>
            </a:r>
          </a:p>
          <a:p>
            <a:endParaRPr lang="en-IN" b="1"/>
          </a:p>
          <a:p>
            <a:r>
              <a:rPr lang="en-IN" b="1"/>
              <a:t>Transition</a:t>
            </a:r>
            <a:br>
              <a:rPr lang="en-IN"/>
            </a:br>
            <a:r>
              <a:rPr lang="en-IN"/>
              <a:t>"Final questions before the knowledge check."</a:t>
            </a:r>
          </a:p>
          <a:p>
            <a:endParaRPr lang="en-US"/>
          </a:p>
        </p:txBody>
      </p:sp>
    </p:spTree>
    <p:extLst>
      <p:ext uri="{BB962C8B-B14F-4D97-AF65-F5344CB8AC3E}">
        <p14:creationId xmlns:p14="http://schemas.microsoft.com/office/powerpoint/2010/main" val="42289267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A8DC6-3762-D141-1A2F-815D62364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4F8343-D909-5FB5-0473-4C1B77568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AD47F9-9F9E-4714-3321-1D001C8001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E070773-9FDC-56BB-F170-E027C656116C}"/>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22541403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EE49A-84EA-71A5-6E79-20EC9CD4B5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31E985-8D2C-87DA-0C8B-00CF7386E5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078DA6-EFA2-7868-C7B4-6F81F24A23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5A406DD-7D9B-0100-B373-F5D42BBA1D05}"/>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1197514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663B2-BD1D-33B2-EC21-BBDDE5AB6B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26AE46-B5B4-E2A0-3DCB-99B39EB2F4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5F3553-050E-A101-1618-BA2DC3A48E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21B24BC-FC14-AEA5-2CAA-551B58F82BAE}"/>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1644595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03D6F-3BA5-23A6-3B8E-300A21C69EE0}"/>
              </a:ext>
            </a:extLst>
          </p:cNvPr>
          <p:cNvSpPr>
            <a:spLocks noGrp="1"/>
          </p:cNvSpPr>
          <p:nvPr>
            <p:ph type="ctrTitle"/>
          </p:nvPr>
        </p:nvSpPr>
        <p:spPr>
          <a:xfrm>
            <a:off x="1143000" y="841375"/>
            <a:ext cx="6858000" cy="17907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4928E85-23DD-06DD-3B79-4DF4AC5F5322}"/>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D622E57-74DF-6E4D-06A4-6F1B0975494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2FA0D93-F4CE-DC2E-FB3C-4CE68BC8EC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1AD5B8-DFEC-431B-CB7D-333F6B0ADB15}"/>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5736367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5C87C-750F-8ADA-C379-243DAD57095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5ABB84D-8353-9C97-343C-17C3B50832D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2B1253E-310F-C14C-E0BF-0FAB4E28F76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0C01F649-3094-B0E1-3136-8E8FCD5ACF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374BCF-1B28-CC91-419B-D6EF725AED50}"/>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357706658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206A8-1F1B-BD8C-83C6-BF0ED33EE8C3}"/>
              </a:ext>
            </a:extLst>
          </p:cNvPr>
          <p:cNvSpPr>
            <a:spLocks noGrp="1"/>
          </p:cNvSpPr>
          <p:nvPr>
            <p:ph type="title"/>
          </p:nvPr>
        </p:nvSpPr>
        <p:spPr>
          <a:xfrm>
            <a:off x="623888" y="1282700"/>
            <a:ext cx="7886700" cy="2139950"/>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4BF3830-592E-4CB4-D12B-351CF89FE6EC}"/>
              </a:ext>
            </a:extLst>
          </p:cNvPr>
          <p:cNvSpPr>
            <a:spLocks noGrp="1"/>
          </p:cNvSpPr>
          <p:nvPr>
            <p:ph type="body" idx="1"/>
          </p:nvPr>
        </p:nvSpPr>
        <p:spPr>
          <a:xfrm>
            <a:off x="623888" y="3441700"/>
            <a:ext cx="7886700" cy="11255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01A352C-6DC6-C87D-16D0-B1DA1AA34BD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DAB6B1A-361F-6E94-8957-89D8E2B063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8ADCA3-8D29-0941-9490-5128D8AB8303}"/>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134586497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FC24E-380E-409B-181A-B70229F6CC9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0A656F5-F294-4BD5-4C48-8A2A5F87019C}"/>
              </a:ext>
            </a:extLst>
          </p:cNvPr>
          <p:cNvSpPr>
            <a:spLocks noGrp="1"/>
          </p:cNvSpPr>
          <p:nvPr>
            <p:ph sz="half" idx="1"/>
          </p:nvPr>
        </p:nvSpPr>
        <p:spPr>
          <a:xfrm>
            <a:off x="628650" y="1370013"/>
            <a:ext cx="3867150" cy="32623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44B7A3F-3395-377B-DB82-CB40A43FB739}"/>
              </a:ext>
            </a:extLst>
          </p:cNvPr>
          <p:cNvSpPr>
            <a:spLocks noGrp="1"/>
          </p:cNvSpPr>
          <p:nvPr>
            <p:ph sz="half" idx="2"/>
          </p:nvPr>
        </p:nvSpPr>
        <p:spPr>
          <a:xfrm>
            <a:off x="4648200" y="1370013"/>
            <a:ext cx="3867150" cy="32623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C30B8D3-CF76-1E0F-1FA9-AB33D8704DB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113EB13-365D-195E-7274-EADCF93418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5C900-3943-F294-8EA7-A8EA9AF4BB72}"/>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339573911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ACBBC-8EBF-929E-0B15-4C6D75B1532C}"/>
              </a:ext>
            </a:extLst>
          </p:cNvPr>
          <p:cNvSpPr>
            <a:spLocks noGrp="1"/>
          </p:cNvSpPr>
          <p:nvPr>
            <p:ph type="title"/>
          </p:nvPr>
        </p:nvSpPr>
        <p:spPr>
          <a:xfrm>
            <a:off x="630238" y="274638"/>
            <a:ext cx="7886700" cy="993775"/>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EAC2D12-221B-3D83-FB14-5A4A2DCF542B}"/>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46D6A35-4E3A-6EEB-D1A9-14C8F8BC96FD}"/>
              </a:ext>
            </a:extLst>
          </p:cNvPr>
          <p:cNvSpPr>
            <a:spLocks noGrp="1"/>
          </p:cNvSpPr>
          <p:nvPr>
            <p:ph sz="half" idx="2"/>
          </p:nvPr>
        </p:nvSpPr>
        <p:spPr>
          <a:xfrm>
            <a:off x="630238" y="1879600"/>
            <a:ext cx="3868737" cy="27622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1A13E71-0DE3-FB42-F717-0615A4E8EB53}"/>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39B4324-E2B2-CD77-E7B9-7DB75DD7D619}"/>
              </a:ext>
            </a:extLst>
          </p:cNvPr>
          <p:cNvSpPr>
            <a:spLocks noGrp="1"/>
          </p:cNvSpPr>
          <p:nvPr>
            <p:ph sz="quarter" idx="4"/>
          </p:nvPr>
        </p:nvSpPr>
        <p:spPr>
          <a:xfrm>
            <a:off x="4629150" y="1879600"/>
            <a:ext cx="3887788" cy="27622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1277ED7-0F9F-6C57-1695-514C10E4DDFF}"/>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74B8AB22-A818-C14C-A794-E9ED36F433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BE6FE9F-1FF4-99F6-5E75-A7A87DA221CE}"/>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67084105"/>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B9223-6247-D545-E140-69822E2EB94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D22832B-D81F-5259-16D0-01DFB22BE321}"/>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B8C6033-138D-E83F-4677-B27D340553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487AF35-65DB-6263-EC95-8A96F3B63BA3}"/>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51788003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C81B68-FA5D-DA85-7CD9-DC5AD45C1E06}"/>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F83DB6E2-FA75-973C-DFAA-F6FC56034B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38D0D56-10B8-3FE0-935C-594AF492FCC1}"/>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214412952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029B4-EA83-7DCD-9AFD-5F50B7518473}"/>
              </a:ext>
            </a:extLst>
          </p:cNvPr>
          <p:cNvSpPr>
            <a:spLocks noGrp="1"/>
          </p:cNvSpPr>
          <p:nvPr>
            <p:ph type="title"/>
          </p:nvPr>
        </p:nvSpPr>
        <p:spPr>
          <a:xfrm>
            <a:off x="630238" y="342900"/>
            <a:ext cx="2949575" cy="120015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75C560D-48D4-4D52-447F-BA0625A1EF5E}"/>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A737E81-B29B-603A-D350-EADFFE794510}"/>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E37DEF9-9221-07E4-CD09-DDC37D732CB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7953D31-3FDF-9483-996C-37BB86B00A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56360E-537B-6040-E822-BA93764E2022}"/>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111685962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75A6D-B7E5-C6F0-A23D-0C61A3D7E68B}"/>
              </a:ext>
            </a:extLst>
          </p:cNvPr>
          <p:cNvSpPr>
            <a:spLocks noGrp="1"/>
          </p:cNvSpPr>
          <p:nvPr>
            <p:ph type="title"/>
          </p:nvPr>
        </p:nvSpPr>
        <p:spPr>
          <a:xfrm>
            <a:off x="630238" y="342900"/>
            <a:ext cx="2949575" cy="120015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746751B-EC55-C43B-70EA-8B6FCE43BC28}"/>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91F48E-AD00-E72E-46F0-C721742407A6}"/>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53FE130-0192-BB3A-3E55-B9EC2EE9E80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964956B0-32FD-2872-FF5C-50152ECF10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1CFF6F-9D95-D396-3091-69C7CD2EF9BE}"/>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85857851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2896B-6122-5FAD-9CDE-D9EEAF46715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3DECC17-895D-265D-1CF6-C98BD970460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942A4F0-C407-C829-FFCB-777987BF152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0190D752-257C-1B1A-2BE6-4527E2990A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5E45F7-01BD-12CE-DBD7-878E4FC9AC46}"/>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136762728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4B6CF2-AAF6-03D2-5CDE-0A59427F0970}"/>
              </a:ext>
            </a:extLst>
          </p:cNvPr>
          <p:cNvSpPr>
            <a:spLocks noGrp="1"/>
          </p:cNvSpPr>
          <p:nvPr>
            <p:ph type="title" orient="vert"/>
          </p:nvPr>
        </p:nvSpPr>
        <p:spPr>
          <a:xfrm>
            <a:off x="6543675" y="274638"/>
            <a:ext cx="1971675" cy="4357687"/>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B6D3906-5F5C-8BD2-62AF-F6D18B65272F}"/>
              </a:ext>
            </a:extLst>
          </p:cNvPr>
          <p:cNvSpPr>
            <a:spLocks noGrp="1"/>
          </p:cNvSpPr>
          <p:nvPr>
            <p:ph type="body" orient="vert" idx="1"/>
          </p:nvPr>
        </p:nvSpPr>
        <p:spPr>
          <a:xfrm>
            <a:off x="628650" y="274638"/>
            <a:ext cx="5762625" cy="435768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192920C-10EA-958A-59A5-C55889E9396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5AD725B-31A6-8BAA-54EF-97408D6EA5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D5CE0F-2E0C-1966-86D5-3C432C0BE362}"/>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239582555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435477" y="1704156"/>
            <a:ext cx="6725419" cy="2423741"/>
          </a:xfrm>
          <a:prstGeom prst="rect">
            <a:avLst/>
          </a:prstGeom>
        </p:spPr>
        <p:txBody>
          <a:bodyPr wrap="square" anchor="b">
            <a:spAutoFit/>
          </a:bodyPr>
          <a:lstStyle>
            <a:lvl1pPr algn="l">
              <a:lnSpc>
                <a:spcPct val="100000"/>
              </a:lnSpc>
              <a:defRPr sz="5100" b="1" i="0">
                <a:solidFill>
                  <a:schemeClr val="tx1"/>
                </a:solidFill>
                <a:latin typeface="+mn-lt"/>
                <a:ea typeface="Open Sans Extrabold" panose="020B0606030504020204" pitchFamily="34" charset="0"/>
                <a:cs typeface="Open Sans Extrabold"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480902" y="4127896"/>
            <a:ext cx="2877741" cy="276999"/>
          </a:xfrm>
          <a:prstGeom prst="rect">
            <a:avLst/>
          </a:prstGeom>
        </p:spPr>
        <p:txBody>
          <a:bodyPr anchor="t">
            <a:spAutoFit/>
          </a:bodyPr>
          <a:lstStyle>
            <a:lvl1pPr marL="0" indent="0" algn="l">
              <a:lnSpc>
                <a:spcPct val="100000"/>
              </a:lnSpc>
              <a:buNone/>
              <a:defRPr sz="1200">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p:ph type="body" sz="quarter" idx="10" hasCustomPrompt="1"/>
          </p:nvPr>
        </p:nvSpPr>
        <p:spPr>
          <a:xfrm>
            <a:off x="7160895" y="4121230"/>
            <a:ext cx="1507332" cy="276999"/>
          </a:xfrm>
          <a:prstGeom prst="rect">
            <a:avLst/>
          </a:prstGeom>
        </p:spPr>
        <p:txBody>
          <a:bodyPr wrap="square" anchor="t">
            <a:spAutoFit/>
          </a:bodyPr>
          <a:lstStyle>
            <a:lvl1pPr marL="0" indent="0" algn="r">
              <a:lnSpc>
                <a:spcPct val="100000"/>
              </a:lnSpc>
              <a:buNone/>
              <a:defRPr sz="1200">
                <a:solidFill>
                  <a:schemeClr val="tx1"/>
                </a:solidFill>
                <a:latin typeface="+mn-lt"/>
              </a:defRPr>
            </a:lvl1pPr>
            <a:lvl2pPr marL="342900" indent="0">
              <a:buNone/>
              <a:defRPr sz="1200">
                <a:solidFill>
                  <a:schemeClr val="tx1"/>
                </a:solidFill>
              </a:defRPr>
            </a:lvl2pPr>
            <a:lvl3pPr marL="685800" indent="0">
              <a:buNone/>
              <a:defRPr sz="1200">
                <a:solidFill>
                  <a:schemeClr val="tx1"/>
                </a:solidFill>
              </a:defRPr>
            </a:lvl3pPr>
            <a:lvl4pPr marL="1028700" indent="0">
              <a:buNone/>
              <a:defRPr sz="1200">
                <a:solidFill>
                  <a:schemeClr val="tx1"/>
                </a:solidFill>
              </a:defRPr>
            </a:lvl4pPr>
            <a:lvl5pPr marL="1371600" indent="0">
              <a:buNone/>
              <a:defRPr sz="1200">
                <a:solidFill>
                  <a:schemeClr val="tx1"/>
                </a:solidFill>
              </a:defRPr>
            </a:lvl5pPr>
          </a:lstStyle>
          <a:p>
            <a:pPr lvl="0"/>
            <a:r>
              <a:rPr lang="en-GB"/>
              <a:t>Date</a:t>
            </a:r>
          </a:p>
        </p:txBody>
      </p:sp>
    </p:spTree>
    <p:extLst>
      <p:ext uri="{BB962C8B-B14F-4D97-AF65-F5344CB8AC3E}">
        <p14:creationId xmlns:p14="http://schemas.microsoft.com/office/powerpoint/2010/main" val="1632696799"/>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2_Title Slide with Client Logo">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435476" y="1704156"/>
            <a:ext cx="6725414" cy="2423741"/>
          </a:xfrm>
          <a:prstGeom prst="rect">
            <a:avLst/>
          </a:prstGeom>
        </p:spPr>
        <p:txBody>
          <a:bodyPr wrap="square" anchor="b">
            <a:spAutoFit/>
          </a:bodyPr>
          <a:lstStyle>
            <a:lvl1pPr algn="l">
              <a:lnSpc>
                <a:spcPct val="100000"/>
              </a:lnSpc>
              <a:defRPr sz="5100" b="1" i="0">
                <a:solidFill>
                  <a:schemeClr val="tx1"/>
                </a:solidFill>
                <a:latin typeface="+mn-lt"/>
                <a:ea typeface="Open Sans Extrabold" panose="020B0606030504020204" pitchFamily="34" charset="0"/>
                <a:cs typeface="Open Sans Extrabold"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480902" y="4127896"/>
            <a:ext cx="2877741" cy="276999"/>
          </a:xfrm>
          <a:prstGeom prst="rect">
            <a:avLst/>
          </a:prstGeom>
        </p:spPr>
        <p:txBody>
          <a:bodyPr anchor="t">
            <a:spAutoFit/>
          </a:bodyPr>
          <a:lstStyle>
            <a:lvl1pPr marL="0" indent="0" algn="l">
              <a:lnSpc>
                <a:spcPct val="100000"/>
              </a:lnSpc>
              <a:buNone/>
              <a:defRPr sz="1200">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Name of Presenter</a:t>
            </a:r>
            <a:endParaRPr lang="en-US"/>
          </a:p>
        </p:txBody>
      </p:sp>
      <p:cxnSp>
        <p:nvCxnSpPr>
          <p:cNvPr id="11" name="Straight Connector 10">
            <a:extLst>
              <a:ext uri="{FF2B5EF4-FFF2-40B4-BE49-F238E27FC236}">
                <a16:creationId xmlns:a16="http://schemas.microsoft.com/office/drawing/2014/main" id="{F23CED41-AC3E-944C-B524-BE6E0EC53EFC}"/>
              </a:ext>
            </a:extLst>
          </p:cNvPr>
          <p:cNvCxnSpPr>
            <a:cxnSpLocks/>
          </p:cNvCxnSpPr>
          <p:nvPr/>
        </p:nvCxnSpPr>
        <p:spPr>
          <a:xfrm>
            <a:off x="2019487" y="397889"/>
            <a:ext cx="0" cy="643689"/>
          </a:xfrm>
          <a:prstGeom prst="line">
            <a:avLst/>
          </a:prstGeom>
          <a:ln w="9525">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0AAB1E61-30C6-4D8B-9EBE-1DA0C53AA45D}"/>
              </a:ext>
            </a:extLst>
          </p:cNvPr>
          <p:cNvSpPr>
            <a:spLocks noGrp="1"/>
          </p:cNvSpPr>
          <p:nvPr>
            <p:ph type="body" sz="quarter" idx="11" hasCustomPrompt="1"/>
          </p:nvPr>
        </p:nvSpPr>
        <p:spPr>
          <a:xfrm>
            <a:off x="2193864" y="582930"/>
            <a:ext cx="1562256" cy="384158"/>
          </a:xfrm>
          <a:prstGeom prst="rect">
            <a:avLst/>
          </a:prstGeom>
        </p:spPr>
        <p:txBody>
          <a:bodyPr anchor="b">
            <a:noAutofit/>
          </a:bodyPr>
          <a:lstStyle>
            <a:lvl1pPr marL="0" indent="0">
              <a:lnSpc>
                <a:spcPct val="100000"/>
              </a:lnSpc>
              <a:buNone/>
              <a:defRPr sz="1050">
                <a:solidFill>
                  <a:schemeClr val="bg1">
                    <a:lumMod val="65000"/>
                  </a:schemeClr>
                </a:solidFill>
              </a:defRPr>
            </a:lvl1pPr>
            <a:lvl5pPr marL="1371600" indent="0">
              <a:buNone/>
              <a:defRPr sz="825"/>
            </a:lvl5pPr>
          </a:lstStyle>
          <a:p>
            <a:pPr lvl="0"/>
            <a:r>
              <a:rPr lang="en-US"/>
              <a:t>Client Logo</a:t>
            </a:r>
          </a:p>
        </p:txBody>
      </p:sp>
      <p:sp>
        <p:nvSpPr>
          <p:cNvPr id="7" name="Text Placeholder 4">
            <a:extLst>
              <a:ext uri="{FF2B5EF4-FFF2-40B4-BE49-F238E27FC236}">
                <a16:creationId xmlns:a16="http://schemas.microsoft.com/office/drawing/2014/main" id="{9F24038D-4B97-4707-91F9-AD8FF199B6EC}"/>
              </a:ext>
            </a:extLst>
          </p:cNvPr>
          <p:cNvSpPr>
            <a:spLocks noGrp="1"/>
          </p:cNvSpPr>
          <p:nvPr>
            <p:ph type="body" sz="quarter" idx="10" hasCustomPrompt="1"/>
          </p:nvPr>
        </p:nvSpPr>
        <p:spPr>
          <a:xfrm>
            <a:off x="7160895" y="4121230"/>
            <a:ext cx="1507332" cy="276999"/>
          </a:xfrm>
          <a:prstGeom prst="rect">
            <a:avLst/>
          </a:prstGeom>
        </p:spPr>
        <p:txBody>
          <a:bodyPr wrap="square" anchor="t">
            <a:spAutoFit/>
          </a:bodyPr>
          <a:lstStyle>
            <a:lvl1pPr marL="0" indent="0" algn="r">
              <a:lnSpc>
                <a:spcPct val="100000"/>
              </a:lnSpc>
              <a:buNone/>
              <a:defRPr sz="1200">
                <a:solidFill>
                  <a:schemeClr val="tx1"/>
                </a:solidFill>
                <a:latin typeface="+mn-lt"/>
              </a:defRPr>
            </a:lvl1pPr>
            <a:lvl2pPr marL="342900" indent="0">
              <a:buNone/>
              <a:defRPr sz="1200">
                <a:solidFill>
                  <a:schemeClr val="tx1"/>
                </a:solidFill>
              </a:defRPr>
            </a:lvl2pPr>
            <a:lvl3pPr marL="685800" indent="0">
              <a:buNone/>
              <a:defRPr sz="1200">
                <a:solidFill>
                  <a:schemeClr val="tx1"/>
                </a:solidFill>
              </a:defRPr>
            </a:lvl3pPr>
            <a:lvl4pPr marL="1028700" indent="0">
              <a:buNone/>
              <a:defRPr sz="1200">
                <a:solidFill>
                  <a:schemeClr val="tx1"/>
                </a:solidFill>
              </a:defRPr>
            </a:lvl4pPr>
            <a:lvl5pPr marL="1371600" indent="0">
              <a:buNone/>
              <a:defRPr sz="1200">
                <a:solidFill>
                  <a:schemeClr val="tx1"/>
                </a:solidFill>
              </a:defRPr>
            </a:lvl5pPr>
          </a:lstStyle>
          <a:p>
            <a:pPr lvl="0"/>
            <a:r>
              <a:rPr lang="en-GB"/>
              <a:t>Date</a:t>
            </a:r>
          </a:p>
        </p:txBody>
      </p:sp>
    </p:spTree>
    <p:extLst>
      <p:ext uri="{BB962C8B-B14F-4D97-AF65-F5344CB8AC3E}">
        <p14:creationId xmlns:p14="http://schemas.microsoft.com/office/powerpoint/2010/main" val="76590052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E15A25E-3D3F-41FA-B15D-E04C54F8F517}"/>
              </a:ext>
            </a:extLst>
          </p:cNvPr>
          <p:cNvSpPr>
            <a:spLocks noGrp="1"/>
          </p:cNvSpPr>
          <p:nvPr>
            <p:ph type="title"/>
          </p:nvPr>
        </p:nvSpPr>
        <p:spPr>
          <a:xfrm>
            <a:off x="454023" y="373999"/>
            <a:ext cx="8141098" cy="507831"/>
          </a:xfrm>
          <a:prstGeom prst="rect">
            <a:avLst/>
          </a:prstGeom>
        </p:spPr>
        <p:txBody>
          <a:bodyPr wrap="square">
            <a:spAutoFit/>
          </a:bodyPr>
          <a:lstStyle>
            <a:lvl1pPr>
              <a:lnSpc>
                <a:spcPct val="100000"/>
              </a:lnSpc>
              <a:defRPr lang="en-IN" sz="2700" b="1" i="0">
                <a:solidFill>
                  <a:schemeClr val="tx1"/>
                </a:solidFill>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44841187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 Grey bkgd.">
    <p:bg>
      <p:bgPr>
        <a:solidFill>
          <a:schemeClr val="bg2">
            <a:alpha val="4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0FA55-B6BE-461E-BEAB-DB74A01BEB0A}"/>
              </a:ext>
            </a:extLst>
          </p:cNvPr>
          <p:cNvSpPr>
            <a:spLocks noGrp="1"/>
          </p:cNvSpPr>
          <p:nvPr>
            <p:ph type="title"/>
          </p:nvPr>
        </p:nvSpPr>
        <p:spPr>
          <a:xfrm>
            <a:off x="454023" y="373999"/>
            <a:ext cx="8141098" cy="507831"/>
          </a:xfrm>
          <a:prstGeom prst="rect">
            <a:avLst/>
          </a:prstGeom>
        </p:spPr>
        <p:txBody>
          <a:bodyPr wrap="square">
            <a:spAutoFit/>
          </a:bodyPr>
          <a:lstStyle>
            <a:lvl1pPr>
              <a:lnSpc>
                <a:spcPct val="100000"/>
              </a:lnSpc>
              <a:defRPr lang="en-IN" sz="270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855017929"/>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Title + Grey bkgd.+card">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98D64106-CBF3-1D40-B902-CBFCE2BFBCC7}"/>
              </a:ext>
            </a:extLst>
          </p:cNvPr>
          <p:cNvSpPr/>
          <p:nvPr/>
        </p:nvSpPr>
        <p:spPr>
          <a:xfrm>
            <a:off x="550533" y="1006079"/>
            <a:ext cx="8044589" cy="3654028"/>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453600" y="375300"/>
            <a:ext cx="8140500" cy="577081"/>
          </a:xfrm>
          <a:prstGeom prst="rect">
            <a:avLst/>
          </a:prstGeom>
        </p:spPr>
        <p:txBody>
          <a:bodyPr>
            <a:spAutoFit/>
          </a:bodyPr>
          <a:lstStyle>
            <a:lvl1pPr>
              <a:lnSpc>
                <a:spcPct val="100000"/>
              </a:lnSpc>
              <a:defRPr sz="3150" b="1">
                <a:latin typeface="+mj-lt"/>
              </a:defRPr>
            </a:lvl1pPr>
          </a:lstStyle>
          <a:p>
            <a:r>
              <a:rPr lang="en-GB"/>
              <a:t>Click to edit Master title style</a:t>
            </a:r>
            <a:endParaRPr lang="en-IN"/>
          </a:p>
        </p:txBody>
      </p:sp>
    </p:spTree>
    <p:extLst>
      <p:ext uri="{BB962C8B-B14F-4D97-AF65-F5344CB8AC3E}">
        <p14:creationId xmlns:p14="http://schemas.microsoft.com/office/powerpoint/2010/main" val="1677972411"/>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Title + Grey bkgd.+grid">
    <p:bg>
      <p:bgPr>
        <a:solidFill>
          <a:schemeClr val="bg2">
            <a:alpha val="4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453600" y="375300"/>
            <a:ext cx="8140500" cy="577081"/>
          </a:xfrm>
          <a:prstGeom prst="rect">
            <a:avLst/>
          </a:prstGeom>
        </p:spPr>
        <p:txBody>
          <a:bodyPr>
            <a:spAutoFit/>
          </a:bodyPr>
          <a:lstStyle>
            <a:lvl1pPr>
              <a:lnSpc>
                <a:spcPct val="100000"/>
              </a:lnSpc>
              <a:defRPr sz="3150" b="1">
                <a:latin typeface="+mj-lt"/>
              </a:defRPr>
            </a:lvl1pPr>
          </a:lstStyle>
          <a:p>
            <a:r>
              <a:rPr lang="en-GB"/>
              <a:t>Click to edit Master title style</a:t>
            </a:r>
            <a:endParaRPr lang="en-IN"/>
          </a:p>
        </p:txBody>
      </p:sp>
      <p:pic>
        <p:nvPicPr>
          <p:cNvPr id="4" name="Graphic 3">
            <a:extLst>
              <a:ext uri="{FF2B5EF4-FFF2-40B4-BE49-F238E27FC236}">
                <a16:creationId xmlns:a16="http://schemas.microsoft.com/office/drawing/2014/main" id="{150FC115-50C9-314C-A766-9B8B69B08C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1350787855"/>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numbered">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533400" y="1099165"/>
            <a:ext cx="348523" cy="3251660"/>
          </a:xfrm>
          <a:prstGeom prst="rect">
            <a:avLst/>
          </a:prstGeom>
        </p:spPr>
        <p:txBody>
          <a:bodyPr vert="horz" lIns="0" tIns="0" rIns="0" bIns="93600" anchor="t" anchorCtr="0">
            <a:spAutoFit/>
          </a:bodyPr>
          <a:lstStyle>
            <a:lvl1pPr marL="0" indent="0">
              <a:lnSpc>
                <a:spcPts val="3600"/>
              </a:lnSpc>
              <a:spcBef>
                <a:spcPts val="0"/>
              </a:spcBef>
              <a:buNone/>
              <a:defRPr sz="1950" b="1" i="0">
                <a:solidFill>
                  <a:schemeClr val="accent2"/>
                </a:solidFill>
                <a:latin typeface="+mn-lt"/>
                <a:ea typeface="Open Sans Extrabold" panose="020B0606030504020204" pitchFamily="34" charset="0"/>
                <a:cs typeface="Open Sans Extrabold" panose="020B0606030504020204" pitchFamily="34" charset="0"/>
              </a:defRPr>
            </a:lvl1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p:txBody>
      </p:sp>
      <p:sp>
        <p:nvSpPr>
          <p:cNvPr id="15" name="Text Placeholder 14">
            <a:extLst>
              <a:ext uri="{FF2B5EF4-FFF2-40B4-BE49-F238E27FC236}">
                <a16:creationId xmlns:a16="http://schemas.microsoft.com/office/drawing/2014/main" id="{9275958B-037F-624D-A93F-C5B2538CEBF0}"/>
              </a:ext>
            </a:extLst>
          </p:cNvPr>
          <p:cNvSpPr>
            <a:spLocks noGrp="1"/>
          </p:cNvSpPr>
          <p:nvPr>
            <p:ph type="body" sz="quarter" idx="17" hasCustomPrompt="1"/>
          </p:nvPr>
        </p:nvSpPr>
        <p:spPr>
          <a:xfrm>
            <a:off x="1124902" y="1099164"/>
            <a:ext cx="7470220" cy="3275321"/>
          </a:xfrm>
          <a:prstGeom prst="rect">
            <a:avLst/>
          </a:prstGeom>
        </p:spPr>
        <p:txBody>
          <a:bodyPr vert="horz" lIns="0" tIns="0" rIns="0" bIns="93600" anchor="t" anchorCtr="0">
            <a:spAutoFit/>
          </a:bodyPr>
          <a:lstStyle>
            <a:lvl1pPr marL="0" marR="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sz="195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p:txBody>
      </p:sp>
      <p:sp>
        <p:nvSpPr>
          <p:cNvPr id="4" name="Title 3">
            <a:extLst>
              <a:ext uri="{FF2B5EF4-FFF2-40B4-BE49-F238E27FC236}">
                <a16:creationId xmlns:a16="http://schemas.microsoft.com/office/drawing/2014/main" id="{2E0149FA-9A01-4DA3-AC47-C5D005EB841B}"/>
              </a:ext>
            </a:extLst>
          </p:cNvPr>
          <p:cNvSpPr>
            <a:spLocks noGrp="1"/>
          </p:cNvSpPr>
          <p:nvPr>
            <p:ph type="title"/>
          </p:nvPr>
        </p:nvSpPr>
        <p:spPr>
          <a:xfrm>
            <a:off x="453600" y="375300"/>
            <a:ext cx="8140500" cy="577081"/>
          </a:xfrm>
          <a:prstGeom prst="rect">
            <a:avLst/>
          </a:prstGeom>
          <a:noFill/>
        </p:spPr>
        <p:txBody>
          <a:bodyPr>
            <a:spAutoFit/>
          </a:bodyPr>
          <a:lstStyle>
            <a:lvl1pPr>
              <a:lnSpc>
                <a:spcPct val="100000"/>
              </a:lnSpc>
              <a:defRPr sz="3150" b="1">
                <a:latin typeface="+mn-lt"/>
              </a:defRPr>
            </a:lvl1pPr>
          </a:lstStyle>
          <a:p>
            <a:r>
              <a:rPr lang="en-GB"/>
              <a:t>Click to edit Master title style</a:t>
            </a:r>
            <a:endParaRPr lang="en-IN"/>
          </a:p>
        </p:txBody>
      </p:sp>
    </p:spTree>
    <p:extLst>
      <p:ext uri="{BB962C8B-B14F-4D97-AF65-F5344CB8AC3E}">
        <p14:creationId xmlns:p14="http://schemas.microsoft.com/office/powerpoint/2010/main" val="1358414486"/>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Agenda with Time">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533400" y="1099164"/>
            <a:ext cx="807027" cy="3275321"/>
          </a:xfrm>
          <a:prstGeom prst="rect">
            <a:avLst/>
          </a:prstGeom>
        </p:spPr>
        <p:txBody>
          <a:bodyPr vert="horz" lIns="0" tIns="0" rIns="0" bIns="93600" anchor="t" anchorCtr="0">
            <a:spAutoFit/>
          </a:bodyPr>
          <a:lstStyle>
            <a:lvl1pPr marL="0" marR="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sz="1950" b="1" i="0">
                <a:solidFill>
                  <a:schemeClr val="accent2"/>
                </a:solidFill>
                <a:latin typeface="+mn-lt"/>
                <a:ea typeface="Open Sans Extrabold" panose="020B0606030504020204" pitchFamily="34" charset="0"/>
                <a:cs typeface="Open Sans Extrabold" panose="020B0606030504020204" pitchFamily="34" charset="0"/>
              </a:defRPr>
            </a:lvl1pPr>
          </a:lstStyle>
          <a:p>
            <a:pPr lvl="0"/>
            <a:r>
              <a:rPr lang="en-US"/>
              <a:t>00.00</a:t>
            </a:r>
          </a:p>
          <a:p>
            <a:pPr lvl="0"/>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p:txBody>
      </p:sp>
      <p:sp>
        <p:nvSpPr>
          <p:cNvPr id="12" name="Text Placeholder 14">
            <a:extLst>
              <a:ext uri="{FF2B5EF4-FFF2-40B4-BE49-F238E27FC236}">
                <a16:creationId xmlns:a16="http://schemas.microsoft.com/office/drawing/2014/main" id="{6CFFBF5E-8958-F744-93AB-76138CD6654E}"/>
              </a:ext>
            </a:extLst>
          </p:cNvPr>
          <p:cNvSpPr>
            <a:spLocks noGrp="1"/>
          </p:cNvSpPr>
          <p:nvPr>
            <p:ph type="body" sz="quarter" idx="19" hasCustomPrompt="1"/>
          </p:nvPr>
        </p:nvSpPr>
        <p:spPr>
          <a:xfrm>
            <a:off x="1512829" y="1099164"/>
            <a:ext cx="7097771" cy="3275321"/>
          </a:xfrm>
          <a:prstGeom prst="rect">
            <a:avLst/>
          </a:prstGeom>
        </p:spPr>
        <p:txBody>
          <a:bodyPr vert="horz" wrap="square" lIns="0" tIns="0" rIns="0" bIns="93600" anchor="t" anchorCtr="0">
            <a:spAutoFit/>
          </a:bodyPr>
          <a:lstStyle>
            <a:lvl1pPr marL="0" marR="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sz="195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p:txBody>
      </p:sp>
      <p:sp>
        <p:nvSpPr>
          <p:cNvPr id="2" name="Title 1">
            <a:extLst>
              <a:ext uri="{FF2B5EF4-FFF2-40B4-BE49-F238E27FC236}">
                <a16:creationId xmlns:a16="http://schemas.microsoft.com/office/drawing/2014/main" id="{3C00D4FC-75AD-41AC-9F2F-072B1ABBFC8E}"/>
              </a:ext>
            </a:extLst>
          </p:cNvPr>
          <p:cNvSpPr>
            <a:spLocks noGrp="1"/>
          </p:cNvSpPr>
          <p:nvPr>
            <p:ph type="title"/>
          </p:nvPr>
        </p:nvSpPr>
        <p:spPr>
          <a:xfrm>
            <a:off x="453600" y="375300"/>
            <a:ext cx="8157000" cy="577081"/>
          </a:xfrm>
          <a:prstGeom prst="rect">
            <a:avLst/>
          </a:prstGeom>
        </p:spPr>
        <p:txBody>
          <a:bodyPr wrap="square">
            <a:spAutoFit/>
          </a:bodyPr>
          <a:lstStyle>
            <a:lvl1pPr>
              <a:lnSpc>
                <a:spcPct val="100000"/>
              </a:lnSpc>
              <a:defRPr sz="3150" b="1">
                <a:latin typeface="+mn-lt"/>
              </a:defRPr>
            </a:lvl1pPr>
          </a:lstStyle>
          <a:p>
            <a:r>
              <a:rPr lang="en-GB"/>
              <a:t>Click to edit Master title style</a:t>
            </a:r>
            <a:endParaRPr lang="en-IN"/>
          </a:p>
        </p:txBody>
      </p:sp>
    </p:spTree>
    <p:extLst>
      <p:ext uri="{BB962C8B-B14F-4D97-AF65-F5344CB8AC3E}">
        <p14:creationId xmlns:p14="http://schemas.microsoft.com/office/powerpoint/2010/main" val="2687022012"/>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hort content + title + body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547789" y="3277790"/>
            <a:ext cx="7566422" cy="184666"/>
          </a:xfrm>
          <a:prstGeom prst="rect">
            <a:avLst/>
          </a:prstGeom>
        </p:spPr>
        <p:txBody>
          <a:bodyPr lIns="0" tIns="0" rIns="0" bIns="0" anchor="t" anchorCtr="0">
            <a:spAutoFit/>
          </a:bodyPr>
          <a:lstStyle>
            <a:lvl1pPr marL="0" indent="0">
              <a:buNone/>
              <a:defRPr lang="en-US" sz="1200" b="0" spc="0" baseline="0" dirty="0">
                <a:latin typeface="+mn-lt"/>
                <a:ea typeface="Open Sans" panose="020B0606030504020204" pitchFamily="34" charset="0"/>
                <a:cs typeface="Open Sans" panose="020B0606030504020204" pitchFamily="34" charset="0"/>
              </a:defRPr>
            </a:lvl1pPr>
          </a:lstStyle>
          <a:p>
            <a:pPr marL="171450" lvl="0" indent="-171450">
              <a:lnSpc>
                <a:spcPct val="100000"/>
              </a:lnSpc>
              <a:spcBef>
                <a:spcPct val="0"/>
              </a:spcBef>
            </a:pPr>
            <a:r>
              <a:rPr lang="en-GB"/>
              <a:t>Short description in three of four lines maximum. Any highlighting to be done in bold or blue</a:t>
            </a:r>
            <a:endParaRPr lang="en-US"/>
          </a:p>
        </p:txBody>
      </p:sp>
      <p:sp>
        <p:nvSpPr>
          <p:cNvPr id="11" name="Text Placeholder 14">
            <a:extLst>
              <a:ext uri="{FF2B5EF4-FFF2-40B4-BE49-F238E27FC236}">
                <a16:creationId xmlns:a16="http://schemas.microsoft.com/office/drawing/2014/main" id="{FC81E2E5-E3CC-D749-8B2B-49ABC850A674}"/>
              </a:ext>
            </a:extLst>
          </p:cNvPr>
          <p:cNvSpPr>
            <a:spLocks noGrp="1"/>
          </p:cNvSpPr>
          <p:nvPr>
            <p:ph type="body" sz="quarter" idx="15" hasCustomPrompt="1"/>
          </p:nvPr>
        </p:nvSpPr>
        <p:spPr>
          <a:xfrm>
            <a:off x="547789" y="483518"/>
            <a:ext cx="7480596" cy="394596"/>
          </a:xfrm>
          <a:prstGeom prst="rect">
            <a:avLst/>
          </a:prstGeom>
        </p:spPr>
        <p:txBody>
          <a:bodyPr vert="horz" lIns="0" tIns="0" rIns="0" bIns="93600" anchor="t" anchorCtr="0">
            <a:spAutoFit/>
          </a:bodyPr>
          <a:lstStyle>
            <a:lvl1pPr marL="0" marR="0" indent="0" algn="l" defTabSz="457189" rtl="0" eaLnBrk="1" fontAlgn="auto" latinLnBrk="0" hangingPunct="1">
              <a:lnSpc>
                <a:spcPct val="100000"/>
              </a:lnSpc>
              <a:spcBef>
                <a:spcPts val="0"/>
              </a:spcBef>
              <a:spcAft>
                <a:spcPts val="0"/>
              </a:spcAft>
              <a:buClrTx/>
              <a:buSzTx/>
              <a:buFont typeface="Arial"/>
              <a:buNone/>
              <a:tabLst/>
              <a:defRPr sz="1950" b="0" i="0" baseline="0">
                <a:solidFill>
                  <a:schemeClr val="tx1"/>
                </a:solidFill>
                <a:latin typeface="+mn-lt"/>
                <a:ea typeface="Open Sans" panose="020B0606030504020204" pitchFamily="34" charset="0"/>
                <a:cs typeface="Open Sans" panose="020B0606030504020204" pitchFamily="34" charset="0"/>
              </a:defRPr>
            </a:lvl1pPr>
          </a:lstStyle>
          <a:p>
            <a:pPr lvl="0"/>
            <a:r>
              <a:rPr lang="en-US"/>
              <a:t>01 | Short content description</a:t>
            </a:r>
          </a:p>
        </p:txBody>
      </p:sp>
      <p:sp>
        <p:nvSpPr>
          <p:cNvPr id="15" name="Titel 7">
            <a:extLst>
              <a:ext uri="{FF2B5EF4-FFF2-40B4-BE49-F238E27FC236}">
                <a16:creationId xmlns:a16="http://schemas.microsoft.com/office/drawing/2014/main" id="{33509BAD-7366-6C49-9E01-5F193794089A}"/>
              </a:ext>
            </a:extLst>
          </p:cNvPr>
          <p:cNvSpPr>
            <a:spLocks noGrp="1"/>
          </p:cNvSpPr>
          <p:nvPr>
            <p:ph type="title" hasCustomPrompt="1"/>
          </p:nvPr>
        </p:nvSpPr>
        <p:spPr>
          <a:xfrm>
            <a:off x="547789" y="1677110"/>
            <a:ext cx="7480596" cy="1454244"/>
          </a:xfrm>
          <a:prstGeom prst="rect">
            <a:avLst/>
          </a:prstGeom>
        </p:spPr>
        <p:txBody>
          <a:bodyPr lIns="0" tIns="0" rIns="0" bIns="0" anchor="t" anchorCtr="0">
            <a:spAutoFit/>
          </a:bodyPr>
          <a:lstStyle>
            <a:lvl1pPr algn="l">
              <a:lnSpc>
                <a:spcPct val="100000"/>
              </a:lnSpc>
              <a:defRPr sz="3150" b="1" i="0" spc="0" baseline="0">
                <a:solidFill>
                  <a:schemeClr val="tx1"/>
                </a:solidFill>
                <a:latin typeface="+mn-lt"/>
                <a:ea typeface="Open Sans Extrabold" panose="020B0606030504020204" pitchFamily="34" charset="0"/>
                <a:cs typeface="Open Sans Extrabold" panose="020B0606030504020204" pitchFamily="34" charset="0"/>
              </a:defRPr>
            </a:lvl1pPr>
          </a:lstStyle>
          <a:p>
            <a:pPr lvl="0"/>
            <a:r>
              <a:rPr lang="en-GB"/>
              <a:t>A Long Title that fits in maximum three lines. This can have insights or call-outs </a:t>
            </a:r>
          </a:p>
        </p:txBody>
      </p:sp>
    </p:spTree>
    <p:extLst>
      <p:ext uri="{BB962C8B-B14F-4D97-AF65-F5344CB8AC3E}">
        <p14:creationId xmlns:p14="http://schemas.microsoft.com/office/powerpoint/2010/main" val="4021557176"/>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 Slide Numbered">
    <p:bg>
      <p:bgPr>
        <a:solidFill>
          <a:srgbClr val="FFC00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213300-E9A2-F949-9B8E-8CA529315D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 name="Text Placeholder 9">
            <a:extLst>
              <a:ext uri="{FF2B5EF4-FFF2-40B4-BE49-F238E27FC236}">
                <a16:creationId xmlns:a16="http://schemas.microsoft.com/office/drawing/2014/main" id="{D5BB2DF0-100F-9842-A143-F7EB4F259A7C}"/>
              </a:ext>
            </a:extLst>
          </p:cNvPr>
          <p:cNvSpPr>
            <a:spLocks noGrp="1"/>
          </p:cNvSpPr>
          <p:nvPr>
            <p:ph type="body" sz="quarter" idx="12" hasCustomPrompt="1"/>
          </p:nvPr>
        </p:nvSpPr>
        <p:spPr>
          <a:xfrm>
            <a:off x="450850" y="1828444"/>
            <a:ext cx="1346200" cy="2631490"/>
          </a:xfrm>
          <a:prstGeom prst="rect">
            <a:avLst/>
          </a:prstGeom>
        </p:spPr>
        <p:txBody>
          <a:bodyPr anchor="b">
            <a:spAutoFit/>
          </a:bodyPr>
          <a:lstStyle>
            <a:lvl1pPr marL="0" indent="0">
              <a:lnSpc>
                <a:spcPct val="100000"/>
              </a:lnSpc>
              <a:buNone/>
              <a:defRPr sz="8250" b="1">
                <a:solidFill>
                  <a:schemeClr val="bg1"/>
                </a:solidFill>
                <a:latin typeface="+mn-lt"/>
              </a:defRPr>
            </a:lvl1pPr>
            <a:lvl2pPr>
              <a:defRPr sz="8250" b="1"/>
            </a:lvl2pPr>
            <a:lvl3pPr>
              <a:defRPr sz="8250" b="1"/>
            </a:lvl3pPr>
            <a:lvl4pPr>
              <a:defRPr sz="8250" b="1"/>
            </a:lvl4pPr>
            <a:lvl5pPr>
              <a:defRPr sz="8250" b="1"/>
            </a:lvl5pPr>
          </a:lstStyle>
          <a:p>
            <a:pPr lvl="0"/>
            <a:r>
              <a:rPr lang="en-GB"/>
              <a:t>00</a:t>
            </a:r>
            <a:endParaRPr lang="en-US"/>
          </a:p>
        </p:txBody>
      </p:sp>
      <p:sp>
        <p:nvSpPr>
          <p:cNvPr id="11" name="Title 1">
            <a:extLst>
              <a:ext uri="{FF2B5EF4-FFF2-40B4-BE49-F238E27FC236}">
                <a16:creationId xmlns:a16="http://schemas.microsoft.com/office/drawing/2014/main" id="{18FE2173-6A2C-48AB-A6E9-5E80F98BCAB4}"/>
              </a:ext>
            </a:extLst>
          </p:cNvPr>
          <p:cNvSpPr>
            <a:spLocks noGrp="1"/>
          </p:cNvSpPr>
          <p:nvPr>
            <p:ph type="title" hasCustomPrompt="1"/>
          </p:nvPr>
        </p:nvSpPr>
        <p:spPr>
          <a:xfrm>
            <a:off x="1797050" y="3233778"/>
            <a:ext cx="6798072" cy="1061829"/>
          </a:xfrm>
          <a:prstGeom prst="rect">
            <a:avLst/>
          </a:prstGeom>
        </p:spPr>
        <p:txBody>
          <a:bodyPr wrap="square" anchor="b">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US"/>
              <a:t>Slide Divider with Title in maximum two lines</a:t>
            </a:r>
          </a:p>
        </p:txBody>
      </p:sp>
    </p:spTree>
    <p:extLst>
      <p:ext uri="{BB962C8B-B14F-4D97-AF65-F5344CB8AC3E}">
        <p14:creationId xmlns:p14="http://schemas.microsoft.com/office/powerpoint/2010/main" val="3542298129"/>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Image/Table + Body + Source/Footno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533400" y="1225447"/>
            <a:ext cx="8053387" cy="2622654"/>
          </a:xfrm>
          <a:prstGeom prst="rect">
            <a:avLst/>
          </a:prstGeom>
        </p:spPr>
        <p:txBody>
          <a:bodyPr/>
          <a:lstStyle>
            <a:lvl1pPr>
              <a:lnSpc>
                <a:spcPct val="100000"/>
              </a:lnSpc>
              <a:spcBef>
                <a:spcPts val="450"/>
              </a:spcBef>
              <a:defRPr sz="1200"/>
            </a:lvl1pPr>
            <a:lvl2pPr marL="360760" indent="-171450">
              <a:lnSpc>
                <a:spcPct val="100000"/>
              </a:lnSpc>
              <a:spcBef>
                <a:spcPts val="450"/>
              </a:spcBef>
              <a:defRPr sz="1200"/>
            </a:lvl2pPr>
            <a:lvl3pPr marL="531019" indent="-171450">
              <a:lnSpc>
                <a:spcPct val="100000"/>
              </a:lnSpc>
              <a:spcBef>
                <a:spcPts val="450"/>
              </a:spcBef>
              <a:defRPr sz="1200"/>
            </a:lvl3pPr>
            <a:lvl4pPr marL="700088" indent="-171450">
              <a:lnSpc>
                <a:spcPct val="100000"/>
              </a:lnSpc>
              <a:spcBef>
                <a:spcPts val="450"/>
              </a:spcBef>
              <a:defRPr sz="1200"/>
            </a:lvl4pPr>
            <a:lvl5pPr marL="847725" indent="-171450">
              <a:lnSpc>
                <a:spcPct val="100000"/>
              </a:lnSpc>
              <a:spcBef>
                <a:spcPts val="45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5" name="Text Placeholder 2">
            <a:extLst>
              <a:ext uri="{FF2B5EF4-FFF2-40B4-BE49-F238E27FC236}">
                <a16:creationId xmlns:a16="http://schemas.microsoft.com/office/drawing/2014/main" id="{C994A5DE-F173-4441-94D5-B98F1DD1FBD0}"/>
              </a:ext>
            </a:extLst>
          </p:cNvPr>
          <p:cNvSpPr>
            <a:spLocks noGrp="1"/>
          </p:cNvSpPr>
          <p:nvPr>
            <p:ph type="body" sz="quarter" idx="13" hasCustomPrompt="1"/>
          </p:nvPr>
        </p:nvSpPr>
        <p:spPr>
          <a:xfrm>
            <a:off x="461962" y="4122468"/>
            <a:ext cx="7566422" cy="276999"/>
          </a:xfrm>
          <a:prstGeom prst="rect">
            <a:avLst/>
          </a:prstGeom>
        </p:spPr>
        <p:txBody>
          <a:bodyPr anchor="b">
            <a:spAutoFit/>
          </a:bodyPr>
          <a:lstStyle>
            <a:lvl1pPr marL="0" indent="0" algn="l">
              <a:lnSpc>
                <a:spcPct val="100000"/>
              </a:lnSpc>
              <a:buNone/>
              <a:defRPr sz="120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in two or three lines maximum. Any highlighting to be done in bold or blue</a:t>
            </a:r>
            <a:endParaRPr lang="en-US"/>
          </a:p>
        </p:txBody>
      </p:sp>
      <p:sp>
        <p:nvSpPr>
          <p:cNvPr id="6" name="Text Placeholder 2">
            <a:extLst>
              <a:ext uri="{FF2B5EF4-FFF2-40B4-BE49-F238E27FC236}">
                <a16:creationId xmlns:a16="http://schemas.microsoft.com/office/drawing/2014/main" id="{2543B27D-BDF0-4ACA-A351-6DBA1A4E22B3}"/>
              </a:ext>
            </a:extLst>
          </p:cNvPr>
          <p:cNvSpPr>
            <a:spLocks noGrp="1"/>
          </p:cNvSpPr>
          <p:nvPr>
            <p:ph type="body" sz="quarter" idx="17" hasCustomPrompt="1"/>
          </p:nvPr>
        </p:nvSpPr>
        <p:spPr>
          <a:xfrm>
            <a:off x="482598" y="4636364"/>
            <a:ext cx="8141495" cy="207749"/>
          </a:xfrm>
          <a:prstGeom prst="rect">
            <a:avLst/>
          </a:prstGeom>
        </p:spPr>
        <p:txBody>
          <a:bodyPr anchor="b" anchorCtr="0">
            <a:spAutoFit/>
          </a:bodyPr>
          <a:lstStyle>
            <a:lvl1pPr marL="0" indent="0">
              <a:lnSpc>
                <a:spcPct val="100000"/>
              </a:lnSpc>
              <a:spcBef>
                <a:spcPts val="0"/>
              </a:spcBef>
              <a:buNone/>
              <a:defRPr sz="750"/>
            </a:lvl1pPr>
            <a:lvl2pPr marL="342900" indent="0">
              <a:buNone/>
              <a:defRPr sz="750"/>
            </a:lvl2pPr>
            <a:lvl3pPr marL="685800" indent="0">
              <a:buNone/>
              <a:defRPr sz="750"/>
            </a:lvl3pPr>
            <a:lvl4pPr marL="1028700" indent="0">
              <a:buNone/>
              <a:defRPr sz="750"/>
            </a:lvl4pPr>
            <a:lvl5pPr marL="1371600" indent="0">
              <a:buNone/>
              <a:defRPr sz="750"/>
            </a:lvl5pPr>
          </a:lstStyle>
          <a:p>
            <a:pPr lvl="0"/>
            <a:r>
              <a:rPr lang="en-US"/>
              <a:t>Source:</a:t>
            </a:r>
            <a:endParaRPr lang="en-IN"/>
          </a:p>
        </p:txBody>
      </p:sp>
      <p:sp>
        <p:nvSpPr>
          <p:cNvPr id="7" name="Text Placeholder 2">
            <a:extLst>
              <a:ext uri="{FF2B5EF4-FFF2-40B4-BE49-F238E27FC236}">
                <a16:creationId xmlns:a16="http://schemas.microsoft.com/office/drawing/2014/main" id="{956E5191-1369-4DED-BE9E-389B43682BB1}"/>
              </a:ext>
            </a:extLst>
          </p:cNvPr>
          <p:cNvSpPr>
            <a:spLocks noGrp="1"/>
          </p:cNvSpPr>
          <p:nvPr>
            <p:ph type="body" sz="quarter" idx="18" hasCustomPrompt="1"/>
          </p:nvPr>
        </p:nvSpPr>
        <p:spPr>
          <a:xfrm>
            <a:off x="482598" y="4451698"/>
            <a:ext cx="8141495" cy="207749"/>
          </a:xfrm>
          <a:prstGeom prst="rect">
            <a:avLst/>
          </a:prstGeom>
        </p:spPr>
        <p:txBody>
          <a:bodyPr anchor="b" anchorCtr="0">
            <a:spAutoFit/>
          </a:bodyPr>
          <a:lstStyle>
            <a:lvl1pPr marL="0" indent="0">
              <a:lnSpc>
                <a:spcPct val="100000"/>
              </a:lnSpc>
              <a:spcBef>
                <a:spcPts val="0"/>
              </a:spcBef>
              <a:buNone/>
              <a:defRPr sz="750"/>
            </a:lvl1pPr>
            <a:lvl2pPr marL="342900" indent="0">
              <a:buNone/>
              <a:defRPr sz="750"/>
            </a:lvl2pPr>
            <a:lvl3pPr marL="685800" indent="0">
              <a:buNone/>
              <a:defRPr sz="750"/>
            </a:lvl3pPr>
            <a:lvl4pPr marL="1028700" indent="0">
              <a:buNone/>
              <a:defRPr sz="750"/>
            </a:lvl4pPr>
            <a:lvl5pPr marL="1371600" indent="0">
              <a:buNone/>
              <a:defRPr sz="750"/>
            </a:lvl5pPr>
          </a:lstStyle>
          <a:p>
            <a:pPr lvl="0"/>
            <a:r>
              <a:rPr lang="en-US"/>
              <a:t>Note/Footnote:</a:t>
            </a:r>
          </a:p>
        </p:txBody>
      </p:sp>
    </p:spTree>
    <p:extLst>
      <p:ext uri="{BB962C8B-B14F-4D97-AF65-F5344CB8AC3E}">
        <p14:creationId xmlns:p14="http://schemas.microsoft.com/office/powerpoint/2010/main" val="218722793"/>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 Sub title +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533400" y="1895167"/>
            <a:ext cx="8053387" cy="2669459"/>
          </a:xfrm>
          <a:prstGeom prst="rect">
            <a:avLst/>
          </a:prstGeom>
        </p:spPr>
        <p:txBody>
          <a:bodyPr/>
          <a:lstStyle>
            <a:lvl1pPr>
              <a:lnSpc>
                <a:spcPct val="100000"/>
              </a:lnSpc>
              <a:spcBef>
                <a:spcPts val="450"/>
              </a:spcBef>
              <a:defRPr sz="1200"/>
            </a:lvl1pPr>
            <a:lvl2pPr marL="360760" indent="-171450">
              <a:lnSpc>
                <a:spcPct val="100000"/>
              </a:lnSpc>
              <a:spcBef>
                <a:spcPts val="450"/>
              </a:spcBef>
              <a:defRPr sz="1200"/>
            </a:lvl2pPr>
            <a:lvl3pPr marL="531019" indent="-171450">
              <a:lnSpc>
                <a:spcPct val="100000"/>
              </a:lnSpc>
              <a:spcBef>
                <a:spcPts val="450"/>
              </a:spcBef>
              <a:defRPr sz="1200"/>
            </a:lvl3pPr>
            <a:lvl4pPr marL="700088" indent="-171450">
              <a:lnSpc>
                <a:spcPct val="100000"/>
              </a:lnSpc>
              <a:spcBef>
                <a:spcPts val="450"/>
              </a:spcBef>
              <a:defRPr sz="1200"/>
            </a:lvl4pPr>
            <a:lvl5pPr marL="847725" indent="-171450">
              <a:lnSpc>
                <a:spcPct val="100000"/>
              </a:lnSpc>
              <a:spcBef>
                <a:spcPts val="45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9" name="Content Placeholder 2">
            <a:extLst>
              <a:ext uri="{FF2B5EF4-FFF2-40B4-BE49-F238E27FC236}">
                <a16:creationId xmlns:a16="http://schemas.microsoft.com/office/drawing/2014/main" id="{F910E947-851C-48B4-83FD-A225938FFF21}"/>
              </a:ext>
            </a:extLst>
          </p:cNvPr>
          <p:cNvSpPr>
            <a:spLocks noGrp="1"/>
          </p:cNvSpPr>
          <p:nvPr>
            <p:ph sz="quarter" idx="19" hasCustomPrompt="1"/>
          </p:nvPr>
        </p:nvSpPr>
        <p:spPr>
          <a:xfrm>
            <a:off x="454023" y="1112663"/>
            <a:ext cx="8053387" cy="692497"/>
          </a:xfrm>
          <a:prstGeom prst="rect">
            <a:avLst/>
          </a:prstGeom>
        </p:spPr>
        <p:txBody>
          <a:bodyPr>
            <a:spAutoFit/>
          </a:bodyPr>
          <a:lstStyle>
            <a:lvl1pPr marL="0" indent="0">
              <a:lnSpc>
                <a:spcPct val="100000"/>
              </a:lnSpc>
              <a:spcBef>
                <a:spcPts val="450"/>
              </a:spcBef>
              <a:buNone/>
              <a:defRPr sz="1950"/>
            </a:lvl1pPr>
            <a:lvl2pPr marL="360760" indent="-171450">
              <a:lnSpc>
                <a:spcPct val="100000"/>
              </a:lnSpc>
              <a:spcBef>
                <a:spcPts val="450"/>
              </a:spcBef>
              <a:defRPr sz="1200"/>
            </a:lvl2pPr>
            <a:lvl3pPr marL="531019" indent="-171450">
              <a:lnSpc>
                <a:spcPct val="100000"/>
              </a:lnSpc>
              <a:spcBef>
                <a:spcPts val="450"/>
              </a:spcBef>
              <a:defRPr sz="1200"/>
            </a:lvl3pPr>
            <a:lvl4pPr marL="700088" indent="-171450">
              <a:lnSpc>
                <a:spcPct val="100000"/>
              </a:lnSpc>
              <a:spcBef>
                <a:spcPts val="450"/>
              </a:spcBef>
              <a:defRPr sz="1200"/>
            </a:lvl4pPr>
            <a:lvl5pPr marL="847725" indent="-171450">
              <a:lnSpc>
                <a:spcPct val="100000"/>
              </a:lnSpc>
              <a:spcBef>
                <a:spcPts val="450"/>
              </a:spcBef>
              <a:defRPr sz="1200"/>
            </a:lvl5pPr>
          </a:lstStyle>
          <a:p>
            <a:pPr lvl="0"/>
            <a:r>
              <a:rPr lang="en-US"/>
              <a:t>Subtitle text to be added here in two lines. The second line is optional in this case.</a:t>
            </a:r>
            <a:endParaRPr lang="en-IN"/>
          </a:p>
        </p:txBody>
      </p:sp>
    </p:spTree>
    <p:extLst>
      <p:ext uri="{BB962C8B-B14F-4D97-AF65-F5344CB8AC3E}">
        <p14:creationId xmlns:p14="http://schemas.microsoft.com/office/powerpoint/2010/main" val="1552789689"/>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ull Bleed Image + 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77B5801-B6B4-44F9-B8F7-3EE389260535}"/>
              </a:ext>
            </a:extLst>
          </p:cNvPr>
          <p:cNvSpPr>
            <a:spLocks noGrp="1"/>
          </p:cNvSpPr>
          <p:nvPr>
            <p:ph type="body" sz="quarter" idx="14" hasCustomPrompt="1"/>
          </p:nvPr>
        </p:nvSpPr>
        <p:spPr>
          <a:xfrm>
            <a:off x="0" y="3124201"/>
            <a:ext cx="3977879" cy="1535906"/>
          </a:xfrm>
          <a:prstGeom prst="rect">
            <a:avLst/>
          </a:prstGeom>
          <a:solidFill>
            <a:schemeClr val="bg1">
              <a:lumMod val="85000"/>
              <a:alpha val="85000"/>
            </a:schemeClr>
          </a:solidFill>
        </p:spPr>
        <p:txBody>
          <a:bodyPr lIns="720000" anchor="ctr"/>
          <a:lstStyle>
            <a:lvl1pPr marL="0" indent="0">
              <a:lnSpc>
                <a:spcPct val="100000"/>
              </a:lnSpc>
              <a:buNone/>
              <a:defRPr sz="2025"/>
            </a:lvl1pPr>
          </a:lstStyle>
          <a:p>
            <a:pPr lvl="0"/>
            <a:r>
              <a:rPr lang="en-US"/>
              <a:t>Add this grey patch in 15% transparency over a full image for text to be visible </a:t>
            </a:r>
            <a:endParaRPr lang="en-IN"/>
          </a:p>
        </p:txBody>
      </p:sp>
      <p:sp>
        <p:nvSpPr>
          <p:cNvPr id="13" name="Picture Placeholder 12">
            <a:extLst>
              <a:ext uri="{FF2B5EF4-FFF2-40B4-BE49-F238E27FC236}">
                <a16:creationId xmlns:a16="http://schemas.microsoft.com/office/drawing/2014/main" id="{6D10EE43-666F-1842-B517-A52976532723}"/>
              </a:ext>
            </a:extLst>
          </p:cNvPr>
          <p:cNvSpPr>
            <a:spLocks noGrp="1"/>
          </p:cNvSpPr>
          <p:nvPr>
            <p:ph type="pic" sz="quarter" idx="13" hasCustomPrompt="1"/>
          </p:nvPr>
        </p:nvSpPr>
        <p:spPr>
          <a:xfrm>
            <a:off x="0" y="0"/>
            <a:ext cx="9144000" cy="4772025"/>
          </a:xfrm>
          <a:prstGeom prst="rect">
            <a:avLst/>
          </a:prstGeom>
        </p:spPr>
        <p:txBody>
          <a:bodyPr/>
          <a:lstStyle>
            <a:lvl1pPr marL="0" indent="0">
              <a:lnSpc>
                <a:spcPct val="100000"/>
              </a:lnSpc>
              <a:buNone/>
              <a:defRPr sz="1200">
                <a:solidFill>
                  <a:srgbClr val="6B6B6B"/>
                </a:solidFill>
                <a:latin typeface="+mn-lt"/>
              </a:defRPr>
            </a:lvl1pPr>
          </a:lstStyle>
          <a:p>
            <a:r>
              <a:rPr lang="en-US"/>
              <a:t>INSERT HI- RES IMAGES</a:t>
            </a:r>
          </a:p>
        </p:txBody>
      </p:sp>
    </p:spTree>
    <p:extLst>
      <p:ext uri="{BB962C8B-B14F-4D97-AF65-F5344CB8AC3E}">
        <p14:creationId xmlns:p14="http://schemas.microsoft.com/office/powerpoint/2010/main" val="3769671342"/>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 Images + Highlight">
    <p:spTree>
      <p:nvGrpSpPr>
        <p:cNvPr id="1" name=""/>
        <p:cNvGrpSpPr/>
        <p:nvPr/>
      </p:nvGrpSpPr>
      <p:grpSpPr>
        <a:xfrm>
          <a:off x="0" y="0"/>
          <a:ext cx="0" cy="0"/>
          <a:chOff x="0" y="0"/>
          <a:chExt cx="0" cy="0"/>
        </a:xfrm>
      </p:grpSpPr>
      <p:sp>
        <p:nvSpPr>
          <p:cNvPr id="6" name="Picture Placeholder 12">
            <a:extLst>
              <a:ext uri="{FF2B5EF4-FFF2-40B4-BE49-F238E27FC236}">
                <a16:creationId xmlns:a16="http://schemas.microsoft.com/office/drawing/2014/main" id="{2DC6E32C-0644-466D-BEF3-88F26564E10C}"/>
              </a:ext>
            </a:extLst>
          </p:cNvPr>
          <p:cNvSpPr>
            <a:spLocks noGrp="1"/>
          </p:cNvSpPr>
          <p:nvPr>
            <p:ph type="pic" sz="quarter" idx="13" hasCustomPrompt="1"/>
          </p:nvPr>
        </p:nvSpPr>
        <p:spPr>
          <a:xfrm>
            <a:off x="0" y="1125"/>
            <a:ext cx="4556760" cy="4770900"/>
          </a:xfrm>
          <a:prstGeom prst="rect">
            <a:avLst/>
          </a:prstGeom>
        </p:spPr>
        <p:txBody>
          <a:bodyPr/>
          <a:lstStyle>
            <a:lvl1pPr marL="0" indent="0">
              <a:lnSpc>
                <a:spcPct val="100000"/>
              </a:lnSpc>
              <a:buNone/>
              <a:defRPr sz="1200">
                <a:solidFill>
                  <a:srgbClr val="6B6B6B"/>
                </a:solidFill>
                <a:latin typeface="+mn-lt"/>
              </a:defRPr>
            </a:lvl1pPr>
          </a:lstStyle>
          <a:p>
            <a:r>
              <a:rPr lang="en-US"/>
              <a:t>INSERT HI- RES IMAGE - 1</a:t>
            </a:r>
          </a:p>
        </p:txBody>
      </p:sp>
      <p:sp>
        <p:nvSpPr>
          <p:cNvPr id="8" name="Text Placeholder 3">
            <a:extLst>
              <a:ext uri="{FF2B5EF4-FFF2-40B4-BE49-F238E27FC236}">
                <a16:creationId xmlns:a16="http://schemas.microsoft.com/office/drawing/2014/main" id="{5D0299D1-B6B7-48BC-BCC9-7379DD7C6835}"/>
              </a:ext>
            </a:extLst>
          </p:cNvPr>
          <p:cNvSpPr>
            <a:spLocks noGrp="1"/>
          </p:cNvSpPr>
          <p:nvPr>
            <p:ph type="body" sz="half" idx="15" hasCustomPrompt="1"/>
          </p:nvPr>
        </p:nvSpPr>
        <p:spPr>
          <a:xfrm>
            <a:off x="0" y="3472674"/>
            <a:ext cx="3840480" cy="877163"/>
          </a:xfrm>
          <a:prstGeom prst="rect">
            <a:avLst/>
          </a:prstGeom>
          <a:solidFill>
            <a:schemeClr val="bg1">
              <a:lumMod val="85000"/>
              <a:alpha val="85000"/>
            </a:schemeClr>
          </a:solidFill>
        </p:spPr>
        <p:txBody>
          <a:bodyPr wrap="square" anchor="ctr">
            <a:spAutoFit/>
          </a:bodyPr>
          <a:lstStyle>
            <a:lvl1pPr marL="471488" indent="0" algn="l">
              <a:lnSpc>
                <a:spcPct val="100000"/>
              </a:lnSpc>
              <a:spcBef>
                <a:spcPts val="0"/>
              </a:spcBef>
              <a:buNone/>
              <a:defRPr sz="510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00%</a:t>
            </a:r>
          </a:p>
        </p:txBody>
      </p:sp>
      <p:sp>
        <p:nvSpPr>
          <p:cNvPr id="9" name="Picture Placeholder 12">
            <a:extLst>
              <a:ext uri="{FF2B5EF4-FFF2-40B4-BE49-F238E27FC236}">
                <a16:creationId xmlns:a16="http://schemas.microsoft.com/office/drawing/2014/main" id="{09957EFD-6026-4496-BDA8-33CA897C691F}"/>
              </a:ext>
            </a:extLst>
          </p:cNvPr>
          <p:cNvSpPr>
            <a:spLocks noGrp="1"/>
          </p:cNvSpPr>
          <p:nvPr>
            <p:ph type="pic" sz="quarter" idx="14" hasCustomPrompt="1"/>
          </p:nvPr>
        </p:nvSpPr>
        <p:spPr>
          <a:xfrm>
            <a:off x="4587820" y="0"/>
            <a:ext cx="4556180" cy="4772025"/>
          </a:xfrm>
          <a:prstGeom prst="rect">
            <a:avLst/>
          </a:prstGeom>
        </p:spPr>
        <p:txBody>
          <a:bodyPr/>
          <a:lstStyle>
            <a:lvl1pPr marL="0" indent="0">
              <a:lnSpc>
                <a:spcPct val="100000"/>
              </a:lnSpc>
              <a:buNone/>
              <a:defRPr sz="1200">
                <a:solidFill>
                  <a:srgbClr val="6B6B6B"/>
                </a:solidFill>
                <a:latin typeface="+mn-lt"/>
              </a:defRPr>
            </a:lvl1pPr>
          </a:lstStyle>
          <a:p>
            <a:r>
              <a:rPr lang="en-US"/>
              <a:t>INSERT HI- RES IMAGE - 2</a:t>
            </a:r>
          </a:p>
        </p:txBody>
      </p:sp>
      <p:sp>
        <p:nvSpPr>
          <p:cNvPr id="7" name="Text Placeholder 3">
            <a:extLst>
              <a:ext uri="{FF2B5EF4-FFF2-40B4-BE49-F238E27FC236}">
                <a16:creationId xmlns:a16="http://schemas.microsoft.com/office/drawing/2014/main" id="{597A81CE-4E6A-415B-B4CD-7C821AF9E204}"/>
              </a:ext>
            </a:extLst>
          </p:cNvPr>
          <p:cNvSpPr>
            <a:spLocks noGrp="1"/>
          </p:cNvSpPr>
          <p:nvPr>
            <p:ph type="body" sz="half" idx="2" hasCustomPrompt="1"/>
          </p:nvPr>
        </p:nvSpPr>
        <p:spPr>
          <a:xfrm>
            <a:off x="2117782" y="3495756"/>
            <a:ext cx="1722698" cy="830997"/>
          </a:xfrm>
          <a:prstGeom prst="rect">
            <a:avLst/>
          </a:prstGeom>
          <a:noFill/>
        </p:spPr>
        <p:txBody>
          <a:bodyPr anchor="ctr">
            <a:spAutoFit/>
          </a:bodyPr>
          <a:lstStyle>
            <a:lvl1pPr marL="0" indent="0">
              <a:lnSpc>
                <a:spcPct val="100000"/>
              </a:lnSpc>
              <a:spcBef>
                <a:spcPts val="0"/>
              </a:spcBef>
              <a:buNone/>
              <a:defRPr sz="1200">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r>
              <a:rPr lang="en-US"/>
              <a:t>Add this grey patch in 15% transparency over a full image for text to be visible </a:t>
            </a:r>
          </a:p>
        </p:txBody>
      </p:sp>
    </p:spTree>
    <p:extLst>
      <p:ext uri="{BB962C8B-B14F-4D97-AF65-F5344CB8AC3E}">
        <p14:creationId xmlns:p14="http://schemas.microsoft.com/office/powerpoint/2010/main" val="1220927554"/>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takeholders chart structure">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1639235" y="872400"/>
            <a:ext cx="6225" cy="35"/>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2" name="Text Placeholder 3">
            <a:extLst>
              <a:ext uri="{FF2B5EF4-FFF2-40B4-BE49-F238E27FC236}">
                <a16:creationId xmlns:a16="http://schemas.microsoft.com/office/drawing/2014/main" id="{5BEAC6F4-2358-8945-9692-77054259F9D5}"/>
              </a:ext>
            </a:extLst>
          </p:cNvPr>
          <p:cNvSpPr>
            <a:spLocks noGrp="1"/>
          </p:cNvSpPr>
          <p:nvPr>
            <p:ph type="body" sz="half" idx="25" hasCustomPrompt="1"/>
          </p:nvPr>
        </p:nvSpPr>
        <p:spPr>
          <a:xfrm>
            <a:off x="456497" y="903032"/>
            <a:ext cx="8146959" cy="392415"/>
          </a:xfrm>
          <a:prstGeom prst="rect">
            <a:avLst/>
          </a:prstGeom>
        </p:spPr>
        <p:txBody>
          <a:bodyPr>
            <a:spAutoFit/>
          </a:bodyPr>
          <a:lstStyle>
            <a:lvl1pPr marL="0" indent="0">
              <a:lnSpc>
                <a:spcPct val="100000"/>
              </a:lnSpc>
              <a:buNone/>
              <a:defRPr sz="1950" b="0">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Title that describes the image.</a:t>
            </a:r>
          </a:p>
        </p:txBody>
      </p:sp>
      <p:sp>
        <p:nvSpPr>
          <p:cNvPr id="30" name="Title 1">
            <a:extLst>
              <a:ext uri="{FF2B5EF4-FFF2-40B4-BE49-F238E27FC236}">
                <a16:creationId xmlns:a16="http://schemas.microsoft.com/office/drawing/2014/main" id="{F274C6F3-7207-4444-B514-67026B20162D}"/>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20" name="Rounded Rectangle 22">
            <a:extLst>
              <a:ext uri="{FF2B5EF4-FFF2-40B4-BE49-F238E27FC236}">
                <a16:creationId xmlns:a16="http://schemas.microsoft.com/office/drawing/2014/main" id="{9107712D-9CD1-4EFB-B209-9B155409C7C1}"/>
              </a:ext>
            </a:extLst>
          </p:cNvPr>
          <p:cNvSpPr/>
          <p:nvPr/>
        </p:nvSpPr>
        <p:spPr>
          <a:xfrm>
            <a:off x="550534" y="2058592"/>
            <a:ext cx="4013132" cy="2601515"/>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solidFill>
                <a:schemeClr val="tx1"/>
              </a:solidFill>
              <a:latin typeface="+mn-lt"/>
              <a:ea typeface="Open Sans" panose="020B0606030504020204" pitchFamily="34" charset="0"/>
              <a:cs typeface="Open Sans" panose="020B0606030504020204" pitchFamily="34" charset="0"/>
            </a:endParaRPr>
          </a:p>
        </p:txBody>
      </p:sp>
      <p:sp>
        <p:nvSpPr>
          <p:cNvPr id="21" name="Rounded Rectangle 23">
            <a:extLst>
              <a:ext uri="{FF2B5EF4-FFF2-40B4-BE49-F238E27FC236}">
                <a16:creationId xmlns:a16="http://schemas.microsoft.com/office/drawing/2014/main" id="{F1E9D45D-3C2A-4064-BE8F-87DD154B2AD2}"/>
              </a:ext>
            </a:extLst>
          </p:cNvPr>
          <p:cNvSpPr/>
          <p:nvPr/>
        </p:nvSpPr>
        <p:spPr>
          <a:xfrm>
            <a:off x="4641838" y="2058592"/>
            <a:ext cx="3966233" cy="2601515"/>
          </a:xfrm>
          <a:prstGeom prst="roundRect">
            <a:avLst>
              <a:gd name="adj" fmla="val 288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solidFill>
                <a:schemeClr val="tx1"/>
              </a:solidFill>
              <a:latin typeface="+mn-lt"/>
              <a:ea typeface="Open Sans" panose="020B0606030504020204" pitchFamily="34" charset="0"/>
              <a:cs typeface="Open Sans" panose="020B0606030504020204" pitchFamily="34" charset="0"/>
            </a:endParaRPr>
          </a:p>
        </p:txBody>
      </p:sp>
      <p:sp>
        <p:nvSpPr>
          <p:cNvPr id="29" name="Text Placeholder 2">
            <a:extLst>
              <a:ext uri="{FF2B5EF4-FFF2-40B4-BE49-F238E27FC236}">
                <a16:creationId xmlns:a16="http://schemas.microsoft.com/office/drawing/2014/main" id="{11400CDA-A3DA-43A3-9170-62364AF260B1}"/>
              </a:ext>
            </a:extLst>
          </p:cNvPr>
          <p:cNvSpPr>
            <a:spLocks noGrp="1"/>
          </p:cNvSpPr>
          <p:nvPr>
            <p:ph type="body" sz="quarter" idx="14"/>
          </p:nvPr>
        </p:nvSpPr>
        <p:spPr>
          <a:xfrm>
            <a:off x="550533" y="1457029"/>
            <a:ext cx="8042934" cy="47691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0000" tIns="46800" rIns="90000" bIns="46800" anchor="ctr">
            <a:no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Click to edit Master text styles</a:t>
            </a:r>
          </a:p>
        </p:txBody>
      </p:sp>
      <p:sp>
        <p:nvSpPr>
          <p:cNvPr id="31" name="Text Placeholder 2">
            <a:extLst>
              <a:ext uri="{FF2B5EF4-FFF2-40B4-BE49-F238E27FC236}">
                <a16:creationId xmlns:a16="http://schemas.microsoft.com/office/drawing/2014/main" id="{1B7598BF-B756-4258-A753-99B23E5D4C24}"/>
              </a:ext>
            </a:extLst>
          </p:cNvPr>
          <p:cNvSpPr>
            <a:spLocks noGrp="1"/>
          </p:cNvSpPr>
          <p:nvPr>
            <p:ph type="body" sz="quarter" idx="26" hasCustomPrompt="1"/>
          </p:nvPr>
        </p:nvSpPr>
        <p:spPr>
          <a:xfrm>
            <a:off x="674200" y="2162190"/>
            <a:ext cx="3766500" cy="279180"/>
          </a:xfrm>
          <a:prstGeom prst="rect">
            <a:avLst/>
          </a:prstGeom>
        </p:spPr>
        <p:txBody>
          <a:bodyPr lIns="90000" tIns="46800" rIns="90000" bIns="46800" anchor="b">
            <a:spAutoFit/>
          </a:bodyPr>
          <a:lstStyle>
            <a:lvl1pPr marL="0" indent="0" algn="l">
              <a:lnSpc>
                <a:spcPct val="100000"/>
              </a:lnSpc>
              <a:buNone/>
              <a:defRPr sz="1200" b="1">
                <a:solidFill>
                  <a:schemeClr val="tx1"/>
                </a:solidFill>
                <a:latin typeface="+mn-lt"/>
                <a:ea typeface="Open Sans Extrabold" panose="020B0606030504020204" pitchFamily="34" charset="0"/>
                <a:cs typeface="Open Sans Extrabold"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Core Team</a:t>
            </a:r>
            <a:endParaRPr lang="en-US"/>
          </a:p>
        </p:txBody>
      </p:sp>
      <p:sp>
        <p:nvSpPr>
          <p:cNvPr id="32" name="Text Placeholder 2">
            <a:extLst>
              <a:ext uri="{FF2B5EF4-FFF2-40B4-BE49-F238E27FC236}">
                <a16:creationId xmlns:a16="http://schemas.microsoft.com/office/drawing/2014/main" id="{BF77EAB8-2662-4077-A02E-83C6B93A6F71}"/>
              </a:ext>
            </a:extLst>
          </p:cNvPr>
          <p:cNvSpPr>
            <a:spLocks noGrp="1"/>
          </p:cNvSpPr>
          <p:nvPr>
            <p:ph type="body" sz="quarter" idx="27" hasCustomPrompt="1"/>
          </p:nvPr>
        </p:nvSpPr>
        <p:spPr>
          <a:xfrm>
            <a:off x="674200" y="2608447"/>
            <a:ext cx="3766500" cy="260713"/>
          </a:xfrm>
          <a:prstGeom prst="rect">
            <a:avLst/>
          </a:prstGeom>
        </p:spPr>
        <p:txBody>
          <a:bodyPr lIns="90000" tIns="46800" rIns="90000" bIns="46800" anchor="t">
            <a:spAutoFit/>
          </a:bodyPr>
          <a:lstStyle>
            <a:lvl1pPr marL="0" marR="0" indent="0" algn="l" defTabSz="685800" rtl="0" eaLnBrk="1" fontAlgn="auto" latinLnBrk="0" hangingPunct="1">
              <a:lnSpc>
                <a:spcPct val="100000"/>
              </a:lnSpc>
              <a:spcBef>
                <a:spcPts val="0"/>
              </a:spcBef>
              <a:spcAft>
                <a:spcPts val="0"/>
              </a:spcAft>
              <a:buClrTx/>
              <a:buSzTx/>
              <a:buFontTx/>
              <a:buNone/>
              <a:tabLst/>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200">
                <a:solidFill>
                  <a:schemeClr val="tx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45" name="Text Placeholder 2">
            <a:extLst>
              <a:ext uri="{FF2B5EF4-FFF2-40B4-BE49-F238E27FC236}">
                <a16:creationId xmlns:a16="http://schemas.microsoft.com/office/drawing/2014/main" id="{C4E93A6C-9403-4660-89BE-FA48C6A679B6}"/>
              </a:ext>
            </a:extLst>
          </p:cNvPr>
          <p:cNvSpPr>
            <a:spLocks noGrp="1"/>
          </p:cNvSpPr>
          <p:nvPr>
            <p:ph type="body" sz="quarter" idx="33" hasCustomPrompt="1"/>
          </p:nvPr>
        </p:nvSpPr>
        <p:spPr>
          <a:xfrm>
            <a:off x="4741705" y="2608447"/>
            <a:ext cx="3766500" cy="279180"/>
          </a:xfrm>
          <a:prstGeom prst="rect">
            <a:avLst/>
          </a:prstGeom>
        </p:spPr>
        <p:txBody>
          <a:bodyPr lIns="90000" tIns="46800" rIns="90000" bIns="46800" anchor="t">
            <a:sp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a:t>
            </a:r>
            <a:endParaRPr lang="en-US"/>
          </a:p>
        </p:txBody>
      </p:sp>
      <p:sp>
        <p:nvSpPr>
          <p:cNvPr id="48" name="Text Placeholder 2">
            <a:extLst>
              <a:ext uri="{FF2B5EF4-FFF2-40B4-BE49-F238E27FC236}">
                <a16:creationId xmlns:a16="http://schemas.microsoft.com/office/drawing/2014/main" id="{D8E11F1F-66BD-4891-BAFE-1A8D9EB5B7E3}"/>
              </a:ext>
            </a:extLst>
          </p:cNvPr>
          <p:cNvSpPr>
            <a:spLocks noGrp="1"/>
          </p:cNvSpPr>
          <p:nvPr>
            <p:ph type="body" sz="quarter" idx="38" hasCustomPrompt="1"/>
          </p:nvPr>
        </p:nvSpPr>
        <p:spPr>
          <a:xfrm>
            <a:off x="4741705" y="2162190"/>
            <a:ext cx="3766500" cy="279180"/>
          </a:xfrm>
          <a:prstGeom prst="rect">
            <a:avLst/>
          </a:prstGeom>
        </p:spPr>
        <p:txBody>
          <a:bodyPr lIns="90000" tIns="46800" rIns="90000" bIns="46800" anchor="b">
            <a:spAutoFit/>
          </a:bodyPr>
          <a:lstStyle>
            <a:lvl1pPr marL="0" indent="0" algn="l">
              <a:lnSpc>
                <a:spcPct val="100000"/>
              </a:lnSpc>
              <a:buNone/>
              <a:defRPr sz="1200" b="1">
                <a:solidFill>
                  <a:schemeClr val="tx1"/>
                </a:solidFill>
                <a:latin typeface="+mn-lt"/>
                <a:ea typeface="Open Sans Extrabold" panose="020B0606030504020204" pitchFamily="34" charset="0"/>
                <a:cs typeface="Open Sans Extrabold"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Supporting Teams &amp; Capabilities</a:t>
            </a:r>
            <a:endParaRPr lang="en-US"/>
          </a:p>
        </p:txBody>
      </p:sp>
    </p:spTree>
    <p:extLst>
      <p:ext uri="{BB962C8B-B14F-4D97-AF65-F5344CB8AC3E}">
        <p14:creationId xmlns:p14="http://schemas.microsoft.com/office/powerpoint/2010/main" val="3584397809"/>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Journey map">
    <p:bg>
      <p:bgPr>
        <a:solidFill>
          <a:schemeClr val="bg2">
            <a:alpha val="40000"/>
          </a:schemeClr>
        </a:solidFill>
        <a:effectLst/>
      </p:bgPr>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A0E14D3D-69D3-49EA-8B61-5F00AF13E2E6}"/>
              </a:ext>
            </a:extLst>
          </p:cNvPr>
          <p:cNvSpPr>
            <a:spLocks noGrp="1"/>
          </p:cNvSpPr>
          <p:nvPr>
            <p:ph type="pic" sz="quarter" idx="76" hasCustomPrompt="1"/>
          </p:nvPr>
        </p:nvSpPr>
        <p:spPr>
          <a:xfrm>
            <a:off x="552705" y="2840746"/>
            <a:ext cx="8142338" cy="142658"/>
          </a:xfrm>
          <a:prstGeom prst="rightArrow">
            <a:avLst/>
          </a:prstGeom>
          <a:solidFill>
            <a:schemeClr val="accent1"/>
          </a:solidFill>
        </p:spPr>
        <p:txBody>
          <a:bodyPr/>
          <a:lstStyle>
            <a:lvl1pPr marL="0" indent="0">
              <a:lnSpc>
                <a:spcPct val="100000"/>
              </a:lnSpc>
              <a:buNone/>
              <a:defRPr/>
            </a:lvl1pPr>
          </a:lstStyle>
          <a:p>
            <a:r>
              <a:rPr lang="en-US"/>
              <a:t> </a:t>
            </a:r>
            <a:endParaRPr lang="en-IN"/>
          </a:p>
        </p:txBody>
      </p:sp>
      <p:sp>
        <p:nvSpPr>
          <p:cNvPr id="84" name="Text Placeholder 2">
            <a:extLst>
              <a:ext uri="{FF2B5EF4-FFF2-40B4-BE49-F238E27FC236}">
                <a16:creationId xmlns:a16="http://schemas.microsoft.com/office/drawing/2014/main" id="{9B26CDF5-5477-479B-915A-5E29865A4099}"/>
              </a:ext>
            </a:extLst>
          </p:cNvPr>
          <p:cNvSpPr>
            <a:spLocks noGrp="1"/>
          </p:cNvSpPr>
          <p:nvPr>
            <p:ph type="body" sz="quarter" idx="84" hasCustomPrompt="1"/>
          </p:nvPr>
        </p:nvSpPr>
        <p:spPr>
          <a:xfrm rot="5400000" flipV="1">
            <a:off x="68271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6" name="Text Placeholder 2">
            <a:extLst>
              <a:ext uri="{FF2B5EF4-FFF2-40B4-BE49-F238E27FC236}">
                <a16:creationId xmlns:a16="http://schemas.microsoft.com/office/drawing/2014/main" id="{F388BF24-09A4-461E-85CF-A1DB9C043B3D}"/>
              </a:ext>
            </a:extLst>
          </p:cNvPr>
          <p:cNvSpPr>
            <a:spLocks noGrp="1"/>
          </p:cNvSpPr>
          <p:nvPr>
            <p:ph type="body" sz="quarter" idx="85" hasCustomPrompt="1"/>
          </p:nvPr>
        </p:nvSpPr>
        <p:spPr>
          <a:xfrm rot="5400000" flipV="1">
            <a:off x="56547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7" name="Text Placeholder 2">
            <a:extLst>
              <a:ext uri="{FF2B5EF4-FFF2-40B4-BE49-F238E27FC236}">
                <a16:creationId xmlns:a16="http://schemas.microsoft.com/office/drawing/2014/main" id="{74937548-7795-4F5B-8764-0F68D8FECCDB}"/>
              </a:ext>
            </a:extLst>
          </p:cNvPr>
          <p:cNvSpPr>
            <a:spLocks noGrp="1"/>
          </p:cNvSpPr>
          <p:nvPr>
            <p:ph type="body" sz="quarter" idx="86" hasCustomPrompt="1"/>
          </p:nvPr>
        </p:nvSpPr>
        <p:spPr>
          <a:xfrm rot="5400000" flipV="1">
            <a:off x="44823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8" name="Text Placeholder 2">
            <a:extLst>
              <a:ext uri="{FF2B5EF4-FFF2-40B4-BE49-F238E27FC236}">
                <a16:creationId xmlns:a16="http://schemas.microsoft.com/office/drawing/2014/main" id="{0DDFA9BB-B827-468F-A168-71ECD5BED92A}"/>
              </a:ext>
            </a:extLst>
          </p:cNvPr>
          <p:cNvSpPr>
            <a:spLocks noGrp="1"/>
          </p:cNvSpPr>
          <p:nvPr>
            <p:ph type="body" sz="quarter" idx="87" hasCustomPrompt="1"/>
          </p:nvPr>
        </p:nvSpPr>
        <p:spPr>
          <a:xfrm rot="5400000" flipV="1">
            <a:off x="33099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9" name="Text Placeholder 2">
            <a:extLst>
              <a:ext uri="{FF2B5EF4-FFF2-40B4-BE49-F238E27FC236}">
                <a16:creationId xmlns:a16="http://schemas.microsoft.com/office/drawing/2014/main" id="{045EBFD7-773A-4D59-B6BA-0EEB9B62B5F0}"/>
              </a:ext>
            </a:extLst>
          </p:cNvPr>
          <p:cNvSpPr>
            <a:spLocks noGrp="1"/>
          </p:cNvSpPr>
          <p:nvPr>
            <p:ph type="body" sz="quarter" idx="88" hasCustomPrompt="1"/>
          </p:nvPr>
        </p:nvSpPr>
        <p:spPr>
          <a:xfrm rot="5400000" flipV="1">
            <a:off x="21375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90" name="Text Placeholder 2">
            <a:extLst>
              <a:ext uri="{FF2B5EF4-FFF2-40B4-BE49-F238E27FC236}">
                <a16:creationId xmlns:a16="http://schemas.microsoft.com/office/drawing/2014/main" id="{5328C5A8-EEB0-489C-9E4E-A15320220786}"/>
              </a:ext>
            </a:extLst>
          </p:cNvPr>
          <p:cNvSpPr>
            <a:spLocks noGrp="1"/>
          </p:cNvSpPr>
          <p:nvPr>
            <p:ph type="body" sz="quarter" idx="89" hasCustomPrompt="1"/>
          </p:nvPr>
        </p:nvSpPr>
        <p:spPr>
          <a:xfrm rot="5400000" flipV="1">
            <a:off x="9651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135" name="Text Placeholder 2">
            <a:extLst>
              <a:ext uri="{FF2B5EF4-FFF2-40B4-BE49-F238E27FC236}">
                <a16:creationId xmlns:a16="http://schemas.microsoft.com/office/drawing/2014/main" id="{37C1E9B7-D5ED-431C-8D45-2FA28C591976}"/>
              </a:ext>
            </a:extLst>
          </p:cNvPr>
          <p:cNvSpPr>
            <a:spLocks noGrp="1"/>
          </p:cNvSpPr>
          <p:nvPr>
            <p:ph type="body" sz="quarter" idx="62" hasCustomPrompt="1"/>
          </p:nvPr>
        </p:nvSpPr>
        <p:spPr>
          <a:xfrm rot="16200000">
            <a:off x="7413322"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77" name="Text Placeholder 2">
            <a:extLst>
              <a:ext uri="{FF2B5EF4-FFF2-40B4-BE49-F238E27FC236}">
                <a16:creationId xmlns:a16="http://schemas.microsoft.com/office/drawing/2014/main" id="{A56FFCCA-D544-4B46-A684-DD8C31990F16}"/>
              </a:ext>
            </a:extLst>
          </p:cNvPr>
          <p:cNvSpPr>
            <a:spLocks noGrp="1"/>
          </p:cNvSpPr>
          <p:nvPr>
            <p:ph type="body" sz="quarter" idx="77" hasCustomPrompt="1"/>
          </p:nvPr>
        </p:nvSpPr>
        <p:spPr>
          <a:xfrm rot="16200000">
            <a:off x="62409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78" name="Text Placeholder 2">
            <a:extLst>
              <a:ext uri="{FF2B5EF4-FFF2-40B4-BE49-F238E27FC236}">
                <a16:creationId xmlns:a16="http://schemas.microsoft.com/office/drawing/2014/main" id="{4CFD27C8-EB49-4E9D-94E9-66A5B78ACBD3}"/>
              </a:ext>
            </a:extLst>
          </p:cNvPr>
          <p:cNvSpPr>
            <a:spLocks noGrp="1"/>
          </p:cNvSpPr>
          <p:nvPr>
            <p:ph type="body" sz="quarter" idx="78" hasCustomPrompt="1"/>
          </p:nvPr>
        </p:nvSpPr>
        <p:spPr>
          <a:xfrm rot="16200000">
            <a:off x="50685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79" name="Text Placeholder 2">
            <a:extLst>
              <a:ext uri="{FF2B5EF4-FFF2-40B4-BE49-F238E27FC236}">
                <a16:creationId xmlns:a16="http://schemas.microsoft.com/office/drawing/2014/main" id="{5D1EB028-1273-4F57-9ADD-A1BDD1FFC194}"/>
              </a:ext>
            </a:extLst>
          </p:cNvPr>
          <p:cNvSpPr>
            <a:spLocks noGrp="1"/>
          </p:cNvSpPr>
          <p:nvPr>
            <p:ph type="body" sz="quarter" idx="79" hasCustomPrompt="1"/>
          </p:nvPr>
        </p:nvSpPr>
        <p:spPr>
          <a:xfrm rot="16200000">
            <a:off x="38961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0" name="Text Placeholder 2">
            <a:extLst>
              <a:ext uri="{FF2B5EF4-FFF2-40B4-BE49-F238E27FC236}">
                <a16:creationId xmlns:a16="http://schemas.microsoft.com/office/drawing/2014/main" id="{0D2DF2C5-1B2A-4A10-8CE6-D121D8C441E1}"/>
              </a:ext>
            </a:extLst>
          </p:cNvPr>
          <p:cNvSpPr>
            <a:spLocks noGrp="1"/>
          </p:cNvSpPr>
          <p:nvPr>
            <p:ph type="body" sz="quarter" idx="80" hasCustomPrompt="1"/>
          </p:nvPr>
        </p:nvSpPr>
        <p:spPr>
          <a:xfrm rot="16200000">
            <a:off x="27237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1" name="Text Placeholder 2">
            <a:extLst>
              <a:ext uri="{FF2B5EF4-FFF2-40B4-BE49-F238E27FC236}">
                <a16:creationId xmlns:a16="http://schemas.microsoft.com/office/drawing/2014/main" id="{A3992E2A-7C4E-4CBE-AA28-62A84555EF94}"/>
              </a:ext>
            </a:extLst>
          </p:cNvPr>
          <p:cNvSpPr>
            <a:spLocks noGrp="1"/>
          </p:cNvSpPr>
          <p:nvPr>
            <p:ph type="body" sz="quarter" idx="81" hasCustomPrompt="1"/>
          </p:nvPr>
        </p:nvSpPr>
        <p:spPr>
          <a:xfrm rot="16200000">
            <a:off x="15513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2" name="Text Placeholder 2">
            <a:extLst>
              <a:ext uri="{FF2B5EF4-FFF2-40B4-BE49-F238E27FC236}">
                <a16:creationId xmlns:a16="http://schemas.microsoft.com/office/drawing/2014/main" id="{B1731A51-8B04-491A-837A-961CFDC775E6}"/>
              </a:ext>
            </a:extLst>
          </p:cNvPr>
          <p:cNvSpPr>
            <a:spLocks noGrp="1"/>
          </p:cNvSpPr>
          <p:nvPr>
            <p:ph type="body" sz="quarter" idx="82" hasCustomPrompt="1"/>
          </p:nvPr>
        </p:nvSpPr>
        <p:spPr>
          <a:xfrm rot="16200000">
            <a:off x="3789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102" name="Text Placeholder 2">
            <a:extLst>
              <a:ext uri="{FF2B5EF4-FFF2-40B4-BE49-F238E27FC236}">
                <a16:creationId xmlns:a16="http://schemas.microsoft.com/office/drawing/2014/main" id="{0E4EF968-8FED-47E0-A4C8-7F9C4EFC243C}"/>
              </a:ext>
            </a:extLst>
          </p:cNvPr>
          <p:cNvSpPr>
            <a:spLocks noGrp="1"/>
          </p:cNvSpPr>
          <p:nvPr>
            <p:ph type="body" sz="quarter" idx="27" hasCustomPrompt="1"/>
          </p:nvPr>
        </p:nvSpPr>
        <p:spPr>
          <a:xfrm>
            <a:off x="525038" y="1354532"/>
            <a:ext cx="1023300" cy="207749"/>
          </a:xfrm>
          <a:prstGeom prst="rect">
            <a:avLst/>
          </a:prstGeom>
        </p:spPr>
        <p:txBody>
          <a:bodyPr wrap="square"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00" name="Text Placeholder 2">
            <a:extLst>
              <a:ext uri="{FF2B5EF4-FFF2-40B4-BE49-F238E27FC236}">
                <a16:creationId xmlns:a16="http://schemas.microsoft.com/office/drawing/2014/main" id="{84F98EE3-3535-4255-A4D2-8C539DE352EE}"/>
              </a:ext>
            </a:extLst>
          </p:cNvPr>
          <p:cNvSpPr>
            <a:spLocks noGrp="1"/>
          </p:cNvSpPr>
          <p:nvPr>
            <p:ph type="body" sz="quarter" idx="53" hasCustomPrompt="1"/>
          </p:nvPr>
        </p:nvSpPr>
        <p:spPr>
          <a:xfrm>
            <a:off x="16974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18" name="Text Placeholder 2">
            <a:extLst>
              <a:ext uri="{FF2B5EF4-FFF2-40B4-BE49-F238E27FC236}">
                <a16:creationId xmlns:a16="http://schemas.microsoft.com/office/drawing/2014/main" id="{B9DD3740-A276-4018-A6FD-821C08C3B9F9}"/>
              </a:ext>
            </a:extLst>
          </p:cNvPr>
          <p:cNvSpPr>
            <a:spLocks noGrp="1"/>
          </p:cNvSpPr>
          <p:nvPr>
            <p:ph type="body" sz="quarter" idx="55" hasCustomPrompt="1"/>
          </p:nvPr>
        </p:nvSpPr>
        <p:spPr>
          <a:xfrm>
            <a:off x="28698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0" name="Text Placeholder 2">
            <a:extLst>
              <a:ext uri="{FF2B5EF4-FFF2-40B4-BE49-F238E27FC236}">
                <a16:creationId xmlns:a16="http://schemas.microsoft.com/office/drawing/2014/main" id="{79B8AC07-DFA8-4C81-80AF-1E1968421F41}"/>
              </a:ext>
            </a:extLst>
          </p:cNvPr>
          <p:cNvSpPr>
            <a:spLocks noGrp="1"/>
          </p:cNvSpPr>
          <p:nvPr>
            <p:ph type="body" sz="quarter" idx="57" hasCustomPrompt="1"/>
          </p:nvPr>
        </p:nvSpPr>
        <p:spPr>
          <a:xfrm>
            <a:off x="40422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2" name="Text Placeholder 2">
            <a:extLst>
              <a:ext uri="{FF2B5EF4-FFF2-40B4-BE49-F238E27FC236}">
                <a16:creationId xmlns:a16="http://schemas.microsoft.com/office/drawing/2014/main" id="{94395EE4-B45F-400E-89D9-6A84163FE3F7}"/>
              </a:ext>
            </a:extLst>
          </p:cNvPr>
          <p:cNvSpPr>
            <a:spLocks noGrp="1"/>
          </p:cNvSpPr>
          <p:nvPr>
            <p:ph type="body" sz="quarter" idx="59" hasCustomPrompt="1"/>
          </p:nvPr>
        </p:nvSpPr>
        <p:spPr>
          <a:xfrm>
            <a:off x="52146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4" name="Text Placeholder 2">
            <a:extLst>
              <a:ext uri="{FF2B5EF4-FFF2-40B4-BE49-F238E27FC236}">
                <a16:creationId xmlns:a16="http://schemas.microsoft.com/office/drawing/2014/main" id="{58720481-F0D4-4498-9EE8-F6B658509853}"/>
              </a:ext>
            </a:extLst>
          </p:cNvPr>
          <p:cNvSpPr>
            <a:spLocks noGrp="1"/>
          </p:cNvSpPr>
          <p:nvPr>
            <p:ph type="body" sz="quarter" idx="61" hasCustomPrompt="1"/>
          </p:nvPr>
        </p:nvSpPr>
        <p:spPr>
          <a:xfrm>
            <a:off x="63870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6" name="Text Placeholder 2">
            <a:extLst>
              <a:ext uri="{FF2B5EF4-FFF2-40B4-BE49-F238E27FC236}">
                <a16:creationId xmlns:a16="http://schemas.microsoft.com/office/drawing/2014/main" id="{4697D74A-B574-42A3-8026-5D4A23529A99}"/>
              </a:ext>
            </a:extLst>
          </p:cNvPr>
          <p:cNvSpPr>
            <a:spLocks noGrp="1"/>
          </p:cNvSpPr>
          <p:nvPr>
            <p:ph type="body" sz="quarter" idx="63" hasCustomPrompt="1"/>
          </p:nvPr>
        </p:nvSpPr>
        <p:spPr>
          <a:xfrm>
            <a:off x="7559440"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8" name="Text Placeholder 2">
            <a:extLst>
              <a:ext uri="{FF2B5EF4-FFF2-40B4-BE49-F238E27FC236}">
                <a16:creationId xmlns:a16="http://schemas.microsoft.com/office/drawing/2014/main" id="{0DFA9A7A-BE5B-4489-A0C0-1D636B9F8E4B}"/>
              </a:ext>
            </a:extLst>
          </p:cNvPr>
          <p:cNvSpPr>
            <a:spLocks noGrp="1"/>
          </p:cNvSpPr>
          <p:nvPr>
            <p:ph type="body" sz="quarter" idx="65" hasCustomPrompt="1"/>
          </p:nvPr>
        </p:nvSpPr>
        <p:spPr>
          <a:xfrm>
            <a:off x="11112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0" name="Text Placeholder 2">
            <a:extLst>
              <a:ext uri="{FF2B5EF4-FFF2-40B4-BE49-F238E27FC236}">
                <a16:creationId xmlns:a16="http://schemas.microsoft.com/office/drawing/2014/main" id="{90A996B7-9484-40EC-A65B-0A2500F54D66}"/>
              </a:ext>
            </a:extLst>
          </p:cNvPr>
          <p:cNvSpPr>
            <a:spLocks noGrp="1"/>
          </p:cNvSpPr>
          <p:nvPr>
            <p:ph type="body" sz="quarter" idx="67" hasCustomPrompt="1"/>
          </p:nvPr>
        </p:nvSpPr>
        <p:spPr>
          <a:xfrm>
            <a:off x="22836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2" name="Text Placeholder 2">
            <a:extLst>
              <a:ext uri="{FF2B5EF4-FFF2-40B4-BE49-F238E27FC236}">
                <a16:creationId xmlns:a16="http://schemas.microsoft.com/office/drawing/2014/main" id="{F9F976D9-BDA0-47D8-881F-0971F9746D52}"/>
              </a:ext>
            </a:extLst>
          </p:cNvPr>
          <p:cNvSpPr>
            <a:spLocks noGrp="1"/>
          </p:cNvSpPr>
          <p:nvPr>
            <p:ph type="body" sz="quarter" idx="69" hasCustomPrompt="1"/>
          </p:nvPr>
        </p:nvSpPr>
        <p:spPr>
          <a:xfrm>
            <a:off x="34560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4" name="Text Placeholder 2">
            <a:extLst>
              <a:ext uri="{FF2B5EF4-FFF2-40B4-BE49-F238E27FC236}">
                <a16:creationId xmlns:a16="http://schemas.microsoft.com/office/drawing/2014/main" id="{337594CA-8522-4C74-BA13-D26784E4BD88}"/>
              </a:ext>
            </a:extLst>
          </p:cNvPr>
          <p:cNvSpPr>
            <a:spLocks noGrp="1"/>
          </p:cNvSpPr>
          <p:nvPr>
            <p:ph type="body" sz="quarter" idx="71" hasCustomPrompt="1"/>
          </p:nvPr>
        </p:nvSpPr>
        <p:spPr>
          <a:xfrm>
            <a:off x="46284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6" name="Text Placeholder 2">
            <a:extLst>
              <a:ext uri="{FF2B5EF4-FFF2-40B4-BE49-F238E27FC236}">
                <a16:creationId xmlns:a16="http://schemas.microsoft.com/office/drawing/2014/main" id="{45EAA12B-9BD5-4940-A66D-EBEAA011C889}"/>
              </a:ext>
            </a:extLst>
          </p:cNvPr>
          <p:cNvSpPr>
            <a:spLocks noGrp="1"/>
          </p:cNvSpPr>
          <p:nvPr>
            <p:ph type="body" sz="quarter" idx="73" hasCustomPrompt="1"/>
          </p:nvPr>
        </p:nvSpPr>
        <p:spPr>
          <a:xfrm>
            <a:off x="58008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8" name="Text Placeholder 2">
            <a:extLst>
              <a:ext uri="{FF2B5EF4-FFF2-40B4-BE49-F238E27FC236}">
                <a16:creationId xmlns:a16="http://schemas.microsoft.com/office/drawing/2014/main" id="{96C5B3B6-A460-489A-ACD8-FADB2CC261F4}"/>
              </a:ext>
            </a:extLst>
          </p:cNvPr>
          <p:cNvSpPr>
            <a:spLocks noGrp="1"/>
          </p:cNvSpPr>
          <p:nvPr>
            <p:ph type="body" sz="quarter" idx="75" hasCustomPrompt="1"/>
          </p:nvPr>
        </p:nvSpPr>
        <p:spPr>
          <a:xfrm>
            <a:off x="69732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56" name="Title 1">
            <a:extLst>
              <a:ext uri="{FF2B5EF4-FFF2-40B4-BE49-F238E27FC236}">
                <a16:creationId xmlns:a16="http://schemas.microsoft.com/office/drawing/2014/main" id="{53E2515F-C5CF-4897-BE5F-E86B2876C356}"/>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941874689"/>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ub Title + Content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3479860" y="483394"/>
            <a:ext cx="5123597" cy="4176713"/>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8" name="Text Placeholder 3">
            <a:extLst>
              <a:ext uri="{FF2B5EF4-FFF2-40B4-BE49-F238E27FC236}">
                <a16:creationId xmlns:a16="http://schemas.microsoft.com/office/drawing/2014/main" id="{C4689938-8426-F245-8F5B-4165AD09FA1B}"/>
              </a:ext>
            </a:extLst>
          </p:cNvPr>
          <p:cNvSpPr>
            <a:spLocks noGrp="1"/>
          </p:cNvSpPr>
          <p:nvPr>
            <p:ph type="body" sz="half" idx="13" hasCustomPrompt="1"/>
          </p:nvPr>
        </p:nvSpPr>
        <p:spPr>
          <a:xfrm>
            <a:off x="466329" y="1478756"/>
            <a:ext cx="2944812" cy="1892826"/>
          </a:xfrm>
          <a:prstGeom prst="rect">
            <a:avLst/>
          </a:prstGeom>
        </p:spPr>
        <p:txBody>
          <a:bodyPr>
            <a:spAutoFit/>
          </a:bodyPr>
          <a:lstStyle>
            <a:lvl1pPr marL="0" indent="0">
              <a:lnSpc>
                <a:spcPct val="100000"/>
              </a:lnSpc>
              <a:buNone/>
              <a:defRPr sz="1950" b="0">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Short Sub Title that describes the image and fits in maximum four lines. Any highlighting to be done in bold or blue</a:t>
            </a:r>
          </a:p>
        </p:txBody>
      </p:sp>
      <p:sp>
        <p:nvSpPr>
          <p:cNvPr id="9" name="Title 1">
            <a:extLst>
              <a:ext uri="{FF2B5EF4-FFF2-40B4-BE49-F238E27FC236}">
                <a16:creationId xmlns:a16="http://schemas.microsoft.com/office/drawing/2014/main" id="{88E9B09B-82CB-4F50-BE65-AAEE816D17B1}"/>
              </a:ext>
            </a:extLst>
          </p:cNvPr>
          <p:cNvSpPr>
            <a:spLocks noGrp="1"/>
          </p:cNvSpPr>
          <p:nvPr>
            <p:ph type="title"/>
          </p:nvPr>
        </p:nvSpPr>
        <p:spPr>
          <a:xfrm>
            <a:off x="461963" y="395770"/>
            <a:ext cx="2944812" cy="692497"/>
          </a:xfrm>
          <a:prstGeom prst="rect">
            <a:avLst/>
          </a:prstGeom>
        </p:spPr>
        <p:txBody>
          <a:bodyPr>
            <a:spAutoFit/>
          </a:bodyPr>
          <a:lstStyle>
            <a:lvl1pPr>
              <a:defRPr lang="en-IN" sz="1950" b="1" i="0" dirty="0">
                <a:latin typeface="+mn-lt"/>
                <a:ea typeface="+mn-ea"/>
                <a:cs typeface="+mn-cs"/>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648000726"/>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 Bullet + Visual">
    <p:spTree>
      <p:nvGrpSpPr>
        <p:cNvPr id="1" name=""/>
        <p:cNvGrpSpPr/>
        <p:nvPr/>
      </p:nvGrpSpPr>
      <p:grpSpPr>
        <a:xfrm>
          <a:off x="0" y="0"/>
          <a:ext cx="0" cy="0"/>
          <a:chOff x="0" y="0"/>
          <a:chExt cx="0" cy="0"/>
        </a:xfrm>
      </p:grpSpPr>
      <p:sp>
        <p:nvSpPr>
          <p:cNvPr id="5" name="Text Placeholder 14">
            <a:extLst>
              <a:ext uri="{FF2B5EF4-FFF2-40B4-BE49-F238E27FC236}">
                <a16:creationId xmlns:a16="http://schemas.microsoft.com/office/drawing/2014/main" id="{DABD7FFA-69E5-41E8-B82E-34B75DFB7888}"/>
              </a:ext>
            </a:extLst>
          </p:cNvPr>
          <p:cNvSpPr>
            <a:spLocks noGrp="1"/>
          </p:cNvSpPr>
          <p:nvPr>
            <p:ph type="body" sz="quarter" idx="15" hasCustomPrompt="1"/>
          </p:nvPr>
        </p:nvSpPr>
        <p:spPr>
          <a:xfrm>
            <a:off x="453628" y="2058591"/>
            <a:ext cx="3403997" cy="1674305"/>
          </a:xfrm>
          <a:prstGeom prst="rect">
            <a:avLst/>
          </a:prstGeom>
        </p:spPr>
        <p:txBody>
          <a:bodyPr wrap="square">
            <a:spAutoFit/>
          </a:bodyPr>
          <a:lstStyle>
            <a:lvl1pPr marL="0" marR="0" indent="0" algn="l" defTabSz="685800" rtl="0" eaLnBrk="1" fontAlgn="auto" latinLnBrk="0" hangingPunct="1">
              <a:lnSpc>
                <a:spcPct val="100000"/>
              </a:lnSpc>
              <a:spcBef>
                <a:spcPts val="750"/>
              </a:spcBef>
              <a:spcAft>
                <a:spcPts val="0"/>
              </a:spcAft>
              <a:buClr>
                <a:schemeClr val="accent4"/>
              </a:buClr>
              <a:buSzTx/>
              <a:buFont typeface="Arial" panose="020B0604020202020204" pitchFamily="34" charset="0"/>
              <a:buNone/>
              <a:tabLst/>
              <a:defRPr sz="1200">
                <a:solidFill>
                  <a:schemeClr val="tx1"/>
                </a:solidFill>
                <a:latin typeface="+mn-lt"/>
              </a:defRPr>
            </a:lvl1pPr>
            <a:lvl2pPr marL="159544" indent="-159544">
              <a:lnSpc>
                <a:spcPct val="100000"/>
              </a:lnSpc>
              <a:buClr>
                <a:schemeClr val="tx1"/>
              </a:buClr>
              <a:defRPr sz="1200">
                <a:solidFill>
                  <a:schemeClr val="tx1"/>
                </a:solidFill>
              </a:defRPr>
            </a:lvl2pPr>
            <a:lvl3pPr marL="358379" indent="-185738">
              <a:lnSpc>
                <a:spcPct val="100000"/>
              </a:lnSpc>
              <a:spcAft>
                <a:spcPts val="0"/>
              </a:spcAft>
              <a:buClr>
                <a:schemeClr val="tx1"/>
              </a:buClr>
              <a:buFont typeface="Arial" panose="020B0604020202020204" pitchFamily="34" charset="0"/>
              <a:buChar char="•"/>
              <a:defRPr sz="1200">
                <a:solidFill>
                  <a:schemeClr val="tx1"/>
                </a:solidFill>
              </a:defRPr>
            </a:lvl3pPr>
            <a:lvl4pPr marL="191700" marR="0" indent="0" algn="l" defTabSz="685800" rtl="0" eaLnBrk="1" fontAlgn="auto" latinLnBrk="0" hangingPunct="1">
              <a:lnSpc>
                <a:spcPct val="100000"/>
              </a:lnSpc>
              <a:spcBef>
                <a:spcPts val="375"/>
              </a:spcBef>
              <a:spcAft>
                <a:spcPts val="0"/>
              </a:spcAft>
              <a:buClr>
                <a:schemeClr val="tx1"/>
              </a:buClr>
              <a:buSzTx/>
              <a:buFont typeface="Arial" panose="020B0604020202020204" pitchFamily="34" charset="0"/>
              <a:buNone/>
              <a:tabLst/>
              <a:defRPr sz="1200">
                <a:solidFill>
                  <a:schemeClr val="tx1"/>
                </a:solidFill>
              </a:defRPr>
            </a:lvl4pPr>
            <a:lvl5pPr marL="348300" indent="-213300">
              <a:lnSpc>
                <a:spcPct val="100000"/>
              </a:lnSpc>
              <a:defRPr sz="1200"/>
            </a:lvl5pPr>
          </a:lstStyle>
          <a:p>
            <a:pPr lvl="0"/>
            <a:r>
              <a:rPr lang="en-GB"/>
              <a:t>Text that needs to go in bullet points need to follow this template</a:t>
            </a:r>
          </a:p>
          <a:p>
            <a:pPr marL="214313" marR="0" lvl="0" indent="-214313" algn="l" defTabSz="685800" rtl="0" eaLnBrk="1" fontAlgn="auto" latinLnBrk="0" hangingPunct="1">
              <a:lnSpc>
                <a:spcPct val="90000"/>
              </a:lnSpc>
              <a:spcBef>
                <a:spcPts val="750"/>
              </a:spcBef>
              <a:spcAft>
                <a:spcPts val="0"/>
              </a:spcAft>
              <a:buClrTx/>
              <a:buSzTx/>
              <a:tabLst/>
              <a:defRPr/>
            </a:pPr>
            <a:r>
              <a:rPr lang="en-GB"/>
              <a:t>First level - Sub text in preferably in one line</a:t>
            </a:r>
          </a:p>
          <a:p>
            <a:pPr lvl="1"/>
            <a:r>
              <a:rPr lang="en-GB"/>
              <a:t>Second level</a:t>
            </a:r>
          </a:p>
          <a:p>
            <a:pPr lvl="2"/>
            <a:r>
              <a:rPr lang="en-GB"/>
              <a:t>Sub- Second level</a:t>
            </a:r>
          </a:p>
          <a:p>
            <a:pPr lvl="1"/>
            <a:r>
              <a:rPr lang="en-GB"/>
              <a:t>Third level</a:t>
            </a:r>
          </a:p>
          <a:p>
            <a:pPr lvl="2"/>
            <a:r>
              <a:rPr lang="en-GB"/>
              <a:t>Sub- Third level</a:t>
            </a:r>
          </a:p>
        </p:txBody>
      </p:sp>
      <p:sp>
        <p:nvSpPr>
          <p:cNvPr id="6" name="Content Placeholder 2">
            <a:extLst>
              <a:ext uri="{FF2B5EF4-FFF2-40B4-BE49-F238E27FC236}">
                <a16:creationId xmlns:a16="http://schemas.microsoft.com/office/drawing/2014/main" id="{B60FAA21-A344-43D4-BDA4-FD3275200231}"/>
              </a:ext>
            </a:extLst>
          </p:cNvPr>
          <p:cNvSpPr>
            <a:spLocks noGrp="1"/>
          </p:cNvSpPr>
          <p:nvPr>
            <p:ph idx="1" hasCustomPrompt="1"/>
          </p:nvPr>
        </p:nvSpPr>
        <p:spPr>
          <a:xfrm>
            <a:off x="3968354" y="483394"/>
            <a:ext cx="4635103" cy="4176713"/>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7" name="Title 1">
            <a:extLst>
              <a:ext uri="{FF2B5EF4-FFF2-40B4-BE49-F238E27FC236}">
                <a16:creationId xmlns:a16="http://schemas.microsoft.com/office/drawing/2014/main" id="{55630796-9AED-4972-A5CF-D6D6E73B6F62}"/>
              </a:ext>
            </a:extLst>
          </p:cNvPr>
          <p:cNvSpPr>
            <a:spLocks noGrp="1"/>
          </p:cNvSpPr>
          <p:nvPr>
            <p:ph type="title" hasCustomPrompt="1"/>
          </p:nvPr>
        </p:nvSpPr>
        <p:spPr>
          <a:xfrm>
            <a:off x="453600" y="353528"/>
            <a:ext cx="3404025" cy="1615827"/>
          </a:xfrm>
          <a:prstGeom prst="rect">
            <a:avLst/>
          </a:prstGeom>
        </p:spPr>
        <p:txBody>
          <a:bodyPr>
            <a:spAutoFit/>
          </a:bodyPr>
          <a:lstStyle>
            <a:lvl1pPr>
              <a:lnSpc>
                <a:spcPct val="100000"/>
              </a:lnSpc>
              <a:defRPr b="1">
                <a:latin typeface="+mn-lt"/>
              </a:defRPr>
            </a:lvl1pPr>
          </a:lstStyle>
          <a:p>
            <a:r>
              <a:rPr lang="en-GB"/>
              <a:t>Title in maximum </a:t>
            </a:r>
            <a:br>
              <a:rPr lang="en-GB"/>
            </a:br>
            <a:r>
              <a:rPr lang="en-GB"/>
              <a:t>three lines</a:t>
            </a:r>
            <a:endParaRPr lang="en-IN"/>
          </a:p>
        </p:txBody>
      </p:sp>
    </p:spTree>
    <p:extLst>
      <p:ext uri="{BB962C8B-B14F-4D97-AF65-F5344CB8AC3E}">
        <p14:creationId xmlns:p14="http://schemas.microsoft.com/office/powerpoint/2010/main" val="195010517"/>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 content + 2 Visual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461963" y="3075385"/>
            <a:ext cx="3515916" cy="1292662"/>
          </a:xfrm>
          <a:prstGeom prst="rect">
            <a:avLst/>
          </a:prstGeom>
        </p:spPr>
        <p:txBody>
          <a:bodyPr anchor="t">
            <a:spAutoFit/>
          </a:bodyPr>
          <a:lstStyle>
            <a:lvl1pPr marL="0" indent="0" algn="l">
              <a:lnSpc>
                <a:spcPct val="100000"/>
              </a:lnSpc>
              <a:buNone/>
              <a:defRPr sz="195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in three of four lines maximum. Any highlighting to be done in bold or blue</a:t>
            </a:r>
            <a:endParaRPr lang="en-US"/>
          </a:p>
        </p:txBody>
      </p:sp>
      <p:sp>
        <p:nvSpPr>
          <p:cNvPr id="13" name="Content Placeholder 2">
            <a:extLst>
              <a:ext uri="{FF2B5EF4-FFF2-40B4-BE49-F238E27FC236}">
                <a16:creationId xmlns:a16="http://schemas.microsoft.com/office/drawing/2014/main" id="{17CE1F37-C7DA-0242-B2C0-160371F28412}"/>
              </a:ext>
            </a:extLst>
          </p:cNvPr>
          <p:cNvSpPr>
            <a:spLocks noGrp="1"/>
          </p:cNvSpPr>
          <p:nvPr>
            <p:ph idx="12" hasCustomPrompt="1"/>
          </p:nvPr>
        </p:nvSpPr>
        <p:spPr>
          <a:xfrm>
            <a:off x="5193506" y="2608030"/>
            <a:ext cx="3409950" cy="2060972"/>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5193506" y="483394"/>
            <a:ext cx="3409950" cy="2060972"/>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8" name="Title 1">
            <a:extLst>
              <a:ext uri="{FF2B5EF4-FFF2-40B4-BE49-F238E27FC236}">
                <a16:creationId xmlns:a16="http://schemas.microsoft.com/office/drawing/2014/main" id="{2301CBD1-44C8-42DF-AEB1-BC9CB069B9B2}"/>
              </a:ext>
            </a:extLst>
          </p:cNvPr>
          <p:cNvSpPr>
            <a:spLocks noGrp="1"/>
          </p:cNvSpPr>
          <p:nvPr>
            <p:ph type="title"/>
          </p:nvPr>
        </p:nvSpPr>
        <p:spPr>
          <a:xfrm>
            <a:off x="454023" y="373999"/>
            <a:ext cx="4320000" cy="1061829"/>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1355741843"/>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 graphs + Highlight">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FC5EC474-5D54-473F-9E3A-41A08DB05227}"/>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13" name="Text Placeholder 6">
            <a:extLst>
              <a:ext uri="{FF2B5EF4-FFF2-40B4-BE49-F238E27FC236}">
                <a16:creationId xmlns:a16="http://schemas.microsoft.com/office/drawing/2014/main" id="{6EC92998-E102-43FB-9F0D-FE0513A0B097}"/>
              </a:ext>
            </a:extLst>
          </p:cNvPr>
          <p:cNvSpPr>
            <a:spLocks noGrp="1"/>
          </p:cNvSpPr>
          <p:nvPr>
            <p:ph type="body" sz="quarter" idx="18" hasCustomPrompt="1"/>
          </p:nvPr>
        </p:nvSpPr>
        <p:spPr>
          <a:xfrm>
            <a:off x="480732" y="4584835"/>
            <a:ext cx="8037865" cy="184666"/>
          </a:xfrm>
          <a:prstGeom prst="rect">
            <a:avLst/>
          </a:prstGeom>
        </p:spPr>
        <p:txBody>
          <a:bodyPr wrap="square" anchor="b">
            <a:spAutoFit/>
          </a:bodyPr>
          <a:lstStyle>
            <a:lvl1pPr marL="0" indent="0" algn="l">
              <a:lnSpc>
                <a:spcPct val="100000"/>
              </a:lnSpc>
              <a:spcBef>
                <a:spcPts val="0"/>
              </a:spcBef>
              <a:buNone/>
              <a:defRPr sz="600">
                <a:solidFill>
                  <a:schemeClr val="bg1">
                    <a:lumMod val="50000"/>
                  </a:schemeClr>
                </a:solidFill>
                <a:latin typeface="+mn-lt"/>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GB"/>
              <a:t>Enter annotations or hyperlinks or websites here</a:t>
            </a:r>
          </a:p>
        </p:txBody>
      </p:sp>
      <p:sp>
        <p:nvSpPr>
          <p:cNvPr id="14" name="Content Placeholder 2">
            <a:extLst>
              <a:ext uri="{FF2B5EF4-FFF2-40B4-BE49-F238E27FC236}">
                <a16:creationId xmlns:a16="http://schemas.microsoft.com/office/drawing/2014/main" id="{0799E852-07DB-4C48-BE1E-6E5A5264B339}"/>
              </a:ext>
            </a:extLst>
          </p:cNvPr>
          <p:cNvSpPr>
            <a:spLocks noGrp="1"/>
          </p:cNvSpPr>
          <p:nvPr>
            <p:ph idx="1" hasCustomPrompt="1"/>
          </p:nvPr>
        </p:nvSpPr>
        <p:spPr>
          <a:xfrm>
            <a:off x="488700" y="1384554"/>
            <a:ext cx="3709920" cy="1891355"/>
          </a:xfrm>
          <a:prstGeom prst="rect">
            <a:avLst/>
          </a:prstGeom>
        </p:spPr>
        <p:txBody>
          <a:bodyPr/>
          <a:lstStyle>
            <a:lvl1pPr marL="0" indent="0">
              <a:lnSpc>
                <a:spcPct val="100000"/>
              </a:lnSpc>
              <a:buNone/>
              <a:defRPr sz="1200">
                <a:solidFill>
                  <a:srgbClr val="6B6B6B"/>
                </a:solidFill>
                <a:latin typeface="+mn-lt"/>
              </a:defRPr>
            </a:lvl1pPr>
          </a:lstStyle>
          <a:p>
            <a:r>
              <a:rPr lang="en-US"/>
              <a:t>INSERT CHART</a:t>
            </a:r>
          </a:p>
        </p:txBody>
      </p:sp>
      <p:sp>
        <p:nvSpPr>
          <p:cNvPr id="16" name="Content Placeholder 2">
            <a:extLst>
              <a:ext uri="{FF2B5EF4-FFF2-40B4-BE49-F238E27FC236}">
                <a16:creationId xmlns:a16="http://schemas.microsoft.com/office/drawing/2014/main" id="{62BA6F40-D5C2-4C17-B2BB-13A1683A1A7B}"/>
              </a:ext>
            </a:extLst>
          </p:cNvPr>
          <p:cNvSpPr>
            <a:spLocks noGrp="1"/>
          </p:cNvSpPr>
          <p:nvPr>
            <p:ph idx="14" hasCustomPrompt="1"/>
          </p:nvPr>
        </p:nvSpPr>
        <p:spPr>
          <a:xfrm>
            <a:off x="4808677" y="1384554"/>
            <a:ext cx="3709920" cy="1891355"/>
          </a:xfrm>
          <a:prstGeom prst="rect">
            <a:avLst/>
          </a:prstGeom>
        </p:spPr>
        <p:txBody>
          <a:bodyPr/>
          <a:lstStyle>
            <a:lvl1pPr marL="0" indent="0">
              <a:lnSpc>
                <a:spcPct val="100000"/>
              </a:lnSpc>
              <a:buNone/>
              <a:defRPr sz="1200">
                <a:solidFill>
                  <a:srgbClr val="6B6B6B"/>
                </a:solidFill>
                <a:latin typeface="+mn-lt"/>
              </a:defRPr>
            </a:lvl1pPr>
          </a:lstStyle>
          <a:p>
            <a:r>
              <a:rPr lang="en-US"/>
              <a:t>INSERT CHART</a:t>
            </a:r>
          </a:p>
        </p:txBody>
      </p:sp>
      <p:sp>
        <p:nvSpPr>
          <p:cNvPr id="22" name="Text Placeholder 2">
            <a:extLst>
              <a:ext uri="{FF2B5EF4-FFF2-40B4-BE49-F238E27FC236}">
                <a16:creationId xmlns:a16="http://schemas.microsoft.com/office/drawing/2014/main" id="{E6F2106F-239F-421B-9DAB-8226991E879A}"/>
              </a:ext>
            </a:extLst>
          </p:cNvPr>
          <p:cNvSpPr>
            <a:spLocks noGrp="1"/>
          </p:cNvSpPr>
          <p:nvPr>
            <p:ph type="body" sz="quarter" idx="15" hasCustomPrompt="1"/>
          </p:nvPr>
        </p:nvSpPr>
        <p:spPr>
          <a:xfrm>
            <a:off x="4805874" y="3511387"/>
            <a:ext cx="3715200" cy="392415"/>
          </a:xfrm>
          <a:prstGeom prst="rect">
            <a:avLst/>
          </a:prstGeom>
        </p:spPr>
        <p:txBody>
          <a:bodyPr anchor="b">
            <a:spAutoFit/>
          </a:bodyPr>
          <a:lstStyle>
            <a:lvl1pPr marL="0" indent="0" algn="l">
              <a:lnSpc>
                <a:spcPct val="100000"/>
              </a:lnSpc>
              <a:buNone/>
              <a:defRPr sz="195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Insight highlight</a:t>
            </a:r>
            <a:endParaRPr lang="en-US"/>
          </a:p>
        </p:txBody>
      </p:sp>
      <p:sp>
        <p:nvSpPr>
          <p:cNvPr id="23" name="Text Placeholder 2">
            <a:extLst>
              <a:ext uri="{FF2B5EF4-FFF2-40B4-BE49-F238E27FC236}">
                <a16:creationId xmlns:a16="http://schemas.microsoft.com/office/drawing/2014/main" id="{0B6A52CA-AF91-4DF6-8C12-8A93EEFACDA9}"/>
              </a:ext>
            </a:extLst>
          </p:cNvPr>
          <p:cNvSpPr>
            <a:spLocks noGrp="1"/>
          </p:cNvSpPr>
          <p:nvPr>
            <p:ph type="body" sz="quarter" idx="13" hasCustomPrompt="1"/>
          </p:nvPr>
        </p:nvSpPr>
        <p:spPr>
          <a:xfrm>
            <a:off x="485897" y="3511387"/>
            <a:ext cx="3715200" cy="392415"/>
          </a:xfrm>
          <a:prstGeom prst="rect">
            <a:avLst/>
          </a:prstGeom>
        </p:spPr>
        <p:txBody>
          <a:bodyPr anchor="b">
            <a:spAutoFit/>
          </a:bodyPr>
          <a:lstStyle>
            <a:lvl1pPr marL="0" indent="0" algn="l">
              <a:lnSpc>
                <a:spcPct val="100000"/>
              </a:lnSpc>
              <a:buNone/>
              <a:defRPr sz="195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Insight highlight</a:t>
            </a:r>
            <a:endParaRPr lang="en-US"/>
          </a:p>
        </p:txBody>
      </p:sp>
      <p:sp>
        <p:nvSpPr>
          <p:cNvPr id="24" name="Text Placeholder 6">
            <a:extLst>
              <a:ext uri="{FF2B5EF4-FFF2-40B4-BE49-F238E27FC236}">
                <a16:creationId xmlns:a16="http://schemas.microsoft.com/office/drawing/2014/main" id="{F8C68E73-4694-4068-A989-F6E6EAB35B26}"/>
              </a:ext>
            </a:extLst>
          </p:cNvPr>
          <p:cNvSpPr>
            <a:spLocks noGrp="1"/>
          </p:cNvSpPr>
          <p:nvPr>
            <p:ph type="body" sz="quarter" idx="16" hasCustomPrompt="1"/>
          </p:nvPr>
        </p:nvSpPr>
        <p:spPr>
          <a:xfrm>
            <a:off x="485897" y="3965788"/>
            <a:ext cx="3715200" cy="276999"/>
          </a:xfrm>
          <a:prstGeom prst="rect">
            <a:avLst/>
          </a:prstGeom>
        </p:spPr>
        <p:txBody>
          <a:bodyPr anchor="t">
            <a:spAutoFit/>
          </a:bodyPr>
          <a:lstStyle>
            <a:lvl1pPr marL="0" indent="0" algn="l">
              <a:lnSpc>
                <a:spcPct val="100000"/>
              </a:lnSpc>
              <a:spcBef>
                <a:spcPts val="0"/>
              </a:spcBef>
              <a:buNone/>
              <a:defRPr sz="1200">
                <a:latin typeface="+mn-lt"/>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GB"/>
              <a:t>Enter body text here</a:t>
            </a:r>
          </a:p>
        </p:txBody>
      </p:sp>
      <p:sp>
        <p:nvSpPr>
          <p:cNvPr id="25" name="Text Placeholder 6">
            <a:extLst>
              <a:ext uri="{FF2B5EF4-FFF2-40B4-BE49-F238E27FC236}">
                <a16:creationId xmlns:a16="http://schemas.microsoft.com/office/drawing/2014/main" id="{D97D5BBB-3C42-4532-BBD4-50DFB00BA9D0}"/>
              </a:ext>
            </a:extLst>
          </p:cNvPr>
          <p:cNvSpPr>
            <a:spLocks noGrp="1"/>
          </p:cNvSpPr>
          <p:nvPr>
            <p:ph type="body" sz="quarter" idx="17" hasCustomPrompt="1"/>
          </p:nvPr>
        </p:nvSpPr>
        <p:spPr>
          <a:xfrm>
            <a:off x="4805874" y="3965788"/>
            <a:ext cx="3715200" cy="276999"/>
          </a:xfrm>
          <a:prstGeom prst="rect">
            <a:avLst/>
          </a:prstGeom>
        </p:spPr>
        <p:txBody>
          <a:bodyPr anchor="t">
            <a:spAutoFit/>
          </a:bodyPr>
          <a:lstStyle>
            <a:lvl1pPr marL="0" indent="0" algn="l">
              <a:lnSpc>
                <a:spcPct val="100000"/>
              </a:lnSpc>
              <a:spcBef>
                <a:spcPts val="0"/>
              </a:spcBef>
              <a:buNone/>
              <a:defRPr sz="1200">
                <a:latin typeface="+mn-lt"/>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GB"/>
              <a:t>Enter body text here</a:t>
            </a:r>
          </a:p>
        </p:txBody>
      </p:sp>
    </p:spTree>
    <p:extLst>
      <p:ext uri="{BB962C8B-B14F-4D97-AF65-F5344CB8AC3E}">
        <p14:creationId xmlns:p14="http://schemas.microsoft.com/office/powerpoint/2010/main" val="1429084286"/>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ard horizontal layout">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1639235" y="872400"/>
            <a:ext cx="6225" cy="35"/>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3" name="Title 1">
            <a:extLst>
              <a:ext uri="{FF2B5EF4-FFF2-40B4-BE49-F238E27FC236}">
                <a16:creationId xmlns:a16="http://schemas.microsoft.com/office/drawing/2014/main" id="{3AC1F3C0-0D2C-42BA-AE4B-0D8BAA8BAAA1}"/>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25" name="Text Placeholder 2">
            <a:extLst>
              <a:ext uri="{FF2B5EF4-FFF2-40B4-BE49-F238E27FC236}">
                <a16:creationId xmlns:a16="http://schemas.microsoft.com/office/drawing/2014/main" id="{DDCB3788-B640-4E0C-8D72-5AE250E17347}"/>
              </a:ext>
            </a:extLst>
          </p:cNvPr>
          <p:cNvSpPr>
            <a:spLocks noGrp="1"/>
          </p:cNvSpPr>
          <p:nvPr>
            <p:ph type="body" sz="quarter" idx="26" hasCustomPrompt="1"/>
          </p:nvPr>
        </p:nvSpPr>
        <p:spPr>
          <a:xfrm>
            <a:off x="534591" y="1121229"/>
            <a:ext cx="2025000" cy="1134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350"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1</a:t>
            </a:r>
            <a:endParaRPr lang="en-US"/>
          </a:p>
        </p:txBody>
      </p:sp>
      <p:sp>
        <p:nvSpPr>
          <p:cNvPr id="27" name="Text Placeholder 2">
            <a:extLst>
              <a:ext uri="{FF2B5EF4-FFF2-40B4-BE49-F238E27FC236}">
                <a16:creationId xmlns:a16="http://schemas.microsoft.com/office/drawing/2014/main" id="{103C16C2-B4D8-41F9-81B8-E71F2940694C}"/>
              </a:ext>
            </a:extLst>
          </p:cNvPr>
          <p:cNvSpPr>
            <a:spLocks noGrp="1"/>
          </p:cNvSpPr>
          <p:nvPr>
            <p:ph type="body" sz="quarter" idx="37" hasCustomPrompt="1"/>
          </p:nvPr>
        </p:nvSpPr>
        <p:spPr>
          <a:xfrm>
            <a:off x="534591" y="2321479"/>
            <a:ext cx="2025000" cy="1134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350"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2</a:t>
            </a:r>
            <a:endParaRPr lang="en-US"/>
          </a:p>
        </p:txBody>
      </p:sp>
      <p:sp>
        <p:nvSpPr>
          <p:cNvPr id="30" name="Text Placeholder 2">
            <a:extLst>
              <a:ext uri="{FF2B5EF4-FFF2-40B4-BE49-F238E27FC236}">
                <a16:creationId xmlns:a16="http://schemas.microsoft.com/office/drawing/2014/main" id="{AF91E91A-6668-489F-B084-A6DE167813D9}"/>
              </a:ext>
            </a:extLst>
          </p:cNvPr>
          <p:cNvSpPr>
            <a:spLocks noGrp="1"/>
          </p:cNvSpPr>
          <p:nvPr>
            <p:ph type="body" sz="quarter" idx="39" hasCustomPrompt="1"/>
          </p:nvPr>
        </p:nvSpPr>
        <p:spPr>
          <a:xfrm>
            <a:off x="534591" y="3521729"/>
            <a:ext cx="2025000" cy="1134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350" b="1">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3</a:t>
            </a:r>
            <a:endParaRPr lang="en-US"/>
          </a:p>
        </p:txBody>
      </p:sp>
      <p:sp>
        <p:nvSpPr>
          <p:cNvPr id="35" name="Text Placeholder 2">
            <a:extLst>
              <a:ext uri="{FF2B5EF4-FFF2-40B4-BE49-F238E27FC236}">
                <a16:creationId xmlns:a16="http://schemas.microsoft.com/office/drawing/2014/main" id="{8089179D-B2A0-4A15-A6DF-CF99DC9C5D99}"/>
              </a:ext>
            </a:extLst>
          </p:cNvPr>
          <p:cNvSpPr>
            <a:spLocks noGrp="1"/>
          </p:cNvSpPr>
          <p:nvPr>
            <p:ph type="body" sz="quarter" idx="41" hasCustomPrompt="1"/>
          </p:nvPr>
        </p:nvSpPr>
        <p:spPr>
          <a:xfrm>
            <a:off x="2651032" y="1121229"/>
            <a:ext cx="5934240" cy="1134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35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Text in maximum 3 lines</a:t>
            </a:r>
          </a:p>
        </p:txBody>
      </p:sp>
      <p:sp>
        <p:nvSpPr>
          <p:cNvPr id="36" name="Text Placeholder 2">
            <a:extLst>
              <a:ext uri="{FF2B5EF4-FFF2-40B4-BE49-F238E27FC236}">
                <a16:creationId xmlns:a16="http://schemas.microsoft.com/office/drawing/2014/main" id="{B7EAB319-3FDE-498E-AA33-CDBFDCDB7E66}"/>
              </a:ext>
            </a:extLst>
          </p:cNvPr>
          <p:cNvSpPr>
            <a:spLocks noGrp="1"/>
          </p:cNvSpPr>
          <p:nvPr>
            <p:ph type="body" sz="quarter" idx="42" hasCustomPrompt="1"/>
          </p:nvPr>
        </p:nvSpPr>
        <p:spPr>
          <a:xfrm>
            <a:off x="2651032" y="2321479"/>
            <a:ext cx="5934240" cy="1134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35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Text in maximum 3 lines</a:t>
            </a:r>
          </a:p>
        </p:txBody>
      </p:sp>
      <p:sp>
        <p:nvSpPr>
          <p:cNvPr id="37" name="Text Placeholder 2">
            <a:extLst>
              <a:ext uri="{FF2B5EF4-FFF2-40B4-BE49-F238E27FC236}">
                <a16:creationId xmlns:a16="http://schemas.microsoft.com/office/drawing/2014/main" id="{743B7E32-F244-4B56-AC4B-5E0E39764812}"/>
              </a:ext>
            </a:extLst>
          </p:cNvPr>
          <p:cNvSpPr>
            <a:spLocks noGrp="1"/>
          </p:cNvSpPr>
          <p:nvPr>
            <p:ph type="body" sz="quarter" idx="43" hasCustomPrompt="1"/>
          </p:nvPr>
        </p:nvSpPr>
        <p:spPr>
          <a:xfrm>
            <a:off x="2651032" y="3521729"/>
            <a:ext cx="5934240" cy="1134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35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Text in maximum 3 lines</a:t>
            </a:r>
          </a:p>
        </p:txBody>
      </p:sp>
    </p:spTree>
    <p:extLst>
      <p:ext uri="{BB962C8B-B14F-4D97-AF65-F5344CB8AC3E}">
        <p14:creationId xmlns:p14="http://schemas.microsoft.com/office/powerpoint/2010/main" val="3630505455"/>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2 cards">
    <p:bg>
      <p:bgPr>
        <a:solidFill>
          <a:schemeClr val="bg2">
            <a:alpha val="40000"/>
          </a:schemeClr>
        </a:solidFill>
        <a:effectLst/>
      </p:bgPr>
    </p:bg>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4F6E4A95-165C-5040-B76F-D5419E1A0D2A}"/>
              </a:ext>
            </a:extLst>
          </p:cNvPr>
          <p:cNvSpPr/>
          <p:nvPr/>
        </p:nvSpPr>
        <p:spPr>
          <a:xfrm>
            <a:off x="550534" y="1478756"/>
            <a:ext cx="3966233"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4" name="Rounded Rectangle 23">
            <a:extLst>
              <a:ext uri="{FF2B5EF4-FFF2-40B4-BE49-F238E27FC236}">
                <a16:creationId xmlns:a16="http://schemas.microsoft.com/office/drawing/2014/main" id="{58A2D04A-6C44-4145-81D0-1AB218484459}"/>
              </a:ext>
            </a:extLst>
          </p:cNvPr>
          <p:cNvSpPr/>
          <p:nvPr/>
        </p:nvSpPr>
        <p:spPr>
          <a:xfrm>
            <a:off x="4618037" y="1478756"/>
            <a:ext cx="3966233"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6" name="Text Placeholder 2">
            <a:extLst>
              <a:ext uri="{FF2B5EF4-FFF2-40B4-BE49-F238E27FC236}">
                <a16:creationId xmlns:a16="http://schemas.microsoft.com/office/drawing/2014/main" id="{72AFDBBF-EDC4-6148-9022-57EB4425C5F2}"/>
              </a:ext>
            </a:extLst>
          </p:cNvPr>
          <p:cNvSpPr>
            <a:spLocks noGrp="1"/>
          </p:cNvSpPr>
          <p:nvPr>
            <p:ph type="body" sz="quarter" idx="16" hasCustomPrompt="1"/>
          </p:nvPr>
        </p:nvSpPr>
        <p:spPr>
          <a:xfrm>
            <a:off x="4711613" y="1619887"/>
            <a:ext cx="3761636"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one line</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644110" y="1619887"/>
            <a:ext cx="3761636"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one line</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644129" y="2114312"/>
            <a:ext cx="3761184" cy="1200329"/>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
        <p:nvSpPr>
          <p:cNvPr id="12" name="Title 1">
            <a:extLst>
              <a:ext uri="{FF2B5EF4-FFF2-40B4-BE49-F238E27FC236}">
                <a16:creationId xmlns:a16="http://schemas.microsoft.com/office/drawing/2014/main" id="{A4208F43-5ED5-4F0B-8C92-B60C9EBCE152}"/>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9" name="Text Placeholder 13">
            <a:extLst>
              <a:ext uri="{FF2B5EF4-FFF2-40B4-BE49-F238E27FC236}">
                <a16:creationId xmlns:a16="http://schemas.microsoft.com/office/drawing/2014/main" id="{D093CA32-3824-4AEC-BAA2-3AD477C44622}"/>
              </a:ext>
            </a:extLst>
          </p:cNvPr>
          <p:cNvSpPr>
            <a:spLocks noGrp="1"/>
          </p:cNvSpPr>
          <p:nvPr>
            <p:ph type="body" sz="quarter" idx="19" hasCustomPrompt="1"/>
          </p:nvPr>
        </p:nvSpPr>
        <p:spPr>
          <a:xfrm>
            <a:off x="4711613" y="2114312"/>
            <a:ext cx="3761184" cy="1200329"/>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Tree>
    <p:extLst>
      <p:ext uri="{BB962C8B-B14F-4D97-AF65-F5344CB8AC3E}">
        <p14:creationId xmlns:p14="http://schemas.microsoft.com/office/powerpoint/2010/main" val="222871377"/>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3 cards">
    <p:bg>
      <p:bgPr>
        <a:solidFill>
          <a:schemeClr val="bg2">
            <a:alpha val="40000"/>
          </a:schemeClr>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68C864F8-CC83-446D-8CD0-6FB8DDA66FB3}"/>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30" name="Rounded Rectangle 16">
            <a:extLst>
              <a:ext uri="{FF2B5EF4-FFF2-40B4-BE49-F238E27FC236}">
                <a16:creationId xmlns:a16="http://schemas.microsoft.com/office/drawing/2014/main" id="{26A9BF2E-939C-41BF-9350-64DA0A2C9415}"/>
              </a:ext>
            </a:extLst>
          </p:cNvPr>
          <p:cNvSpPr/>
          <p:nvPr/>
        </p:nvSpPr>
        <p:spPr>
          <a:xfrm>
            <a:off x="3296221" y="1478756"/>
            <a:ext cx="2557982"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1" name="Text Placeholder 2">
            <a:extLst>
              <a:ext uri="{FF2B5EF4-FFF2-40B4-BE49-F238E27FC236}">
                <a16:creationId xmlns:a16="http://schemas.microsoft.com/office/drawing/2014/main" id="{DF130D2E-C413-438C-86A3-381F6D4B2F31}"/>
              </a:ext>
            </a:extLst>
          </p:cNvPr>
          <p:cNvSpPr>
            <a:spLocks noGrp="1"/>
          </p:cNvSpPr>
          <p:nvPr>
            <p:ph type="body" sz="quarter" idx="19" hasCustomPrompt="1"/>
          </p:nvPr>
        </p:nvSpPr>
        <p:spPr>
          <a:xfrm>
            <a:off x="3386161" y="1577500"/>
            <a:ext cx="2294912" cy="692497"/>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 two lines</a:t>
            </a:r>
            <a:endParaRPr lang="en-US"/>
          </a:p>
        </p:txBody>
      </p:sp>
      <p:sp>
        <p:nvSpPr>
          <p:cNvPr id="32" name="Text Placeholder 13">
            <a:extLst>
              <a:ext uri="{FF2B5EF4-FFF2-40B4-BE49-F238E27FC236}">
                <a16:creationId xmlns:a16="http://schemas.microsoft.com/office/drawing/2014/main" id="{0CAD4D6D-121A-48D2-B58C-3502E9124B74}"/>
              </a:ext>
            </a:extLst>
          </p:cNvPr>
          <p:cNvSpPr>
            <a:spLocks noGrp="1"/>
          </p:cNvSpPr>
          <p:nvPr>
            <p:ph type="body" sz="quarter" idx="20" hasCustomPrompt="1"/>
          </p:nvPr>
        </p:nvSpPr>
        <p:spPr>
          <a:xfrm>
            <a:off x="3386162" y="2325066"/>
            <a:ext cx="2294890" cy="1569660"/>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4" name="Rounded Rectangle 11">
            <a:extLst>
              <a:ext uri="{FF2B5EF4-FFF2-40B4-BE49-F238E27FC236}">
                <a16:creationId xmlns:a16="http://schemas.microsoft.com/office/drawing/2014/main" id="{AEB82AF5-8A2C-4A53-81D2-312F9A7972BC}"/>
              </a:ext>
            </a:extLst>
          </p:cNvPr>
          <p:cNvSpPr/>
          <p:nvPr/>
        </p:nvSpPr>
        <p:spPr>
          <a:xfrm>
            <a:off x="545306" y="1478756"/>
            <a:ext cx="2557982"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5" name="Text Placeholder 2">
            <a:extLst>
              <a:ext uri="{FF2B5EF4-FFF2-40B4-BE49-F238E27FC236}">
                <a16:creationId xmlns:a16="http://schemas.microsoft.com/office/drawing/2014/main" id="{C4BF43E2-7B80-4FFF-91BE-9326EB09F6BC}"/>
              </a:ext>
            </a:extLst>
          </p:cNvPr>
          <p:cNvSpPr>
            <a:spLocks noGrp="1"/>
          </p:cNvSpPr>
          <p:nvPr>
            <p:ph type="body" sz="quarter" idx="14" hasCustomPrompt="1"/>
          </p:nvPr>
        </p:nvSpPr>
        <p:spPr>
          <a:xfrm>
            <a:off x="624004" y="1577500"/>
            <a:ext cx="2294912" cy="692497"/>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 two lines</a:t>
            </a:r>
            <a:endParaRPr lang="en-US"/>
          </a:p>
        </p:txBody>
      </p:sp>
      <p:sp>
        <p:nvSpPr>
          <p:cNvPr id="36" name="Text Placeholder 13">
            <a:extLst>
              <a:ext uri="{FF2B5EF4-FFF2-40B4-BE49-F238E27FC236}">
                <a16:creationId xmlns:a16="http://schemas.microsoft.com/office/drawing/2014/main" id="{8D3252AC-30AF-4915-9390-47EF6E7E526E}"/>
              </a:ext>
            </a:extLst>
          </p:cNvPr>
          <p:cNvSpPr>
            <a:spLocks noGrp="1"/>
          </p:cNvSpPr>
          <p:nvPr>
            <p:ph type="body" sz="quarter" idx="18" hasCustomPrompt="1"/>
          </p:nvPr>
        </p:nvSpPr>
        <p:spPr>
          <a:xfrm>
            <a:off x="624004" y="2325066"/>
            <a:ext cx="2294890" cy="1569660"/>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7" name="Rounded Rectangle 15">
            <a:extLst>
              <a:ext uri="{FF2B5EF4-FFF2-40B4-BE49-F238E27FC236}">
                <a16:creationId xmlns:a16="http://schemas.microsoft.com/office/drawing/2014/main" id="{4792AB79-EEE5-4FAC-B89D-5544B31C9B31}"/>
              </a:ext>
            </a:extLst>
          </p:cNvPr>
          <p:cNvSpPr/>
          <p:nvPr/>
        </p:nvSpPr>
        <p:spPr>
          <a:xfrm>
            <a:off x="6047137" y="1478756"/>
            <a:ext cx="2557982"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8" name="Text Placeholder 2">
            <a:extLst>
              <a:ext uri="{FF2B5EF4-FFF2-40B4-BE49-F238E27FC236}">
                <a16:creationId xmlns:a16="http://schemas.microsoft.com/office/drawing/2014/main" id="{EA57752D-BEFB-4BBD-B333-56BAFD1F04C6}"/>
              </a:ext>
            </a:extLst>
          </p:cNvPr>
          <p:cNvSpPr>
            <a:spLocks noGrp="1"/>
          </p:cNvSpPr>
          <p:nvPr>
            <p:ph type="body" sz="quarter" idx="21" hasCustomPrompt="1"/>
          </p:nvPr>
        </p:nvSpPr>
        <p:spPr>
          <a:xfrm>
            <a:off x="6125835" y="1577500"/>
            <a:ext cx="2294912" cy="692497"/>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 two lines</a:t>
            </a:r>
            <a:endParaRPr lang="en-US"/>
          </a:p>
        </p:txBody>
      </p:sp>
      <p:sp>
        <p:nvSpPr>
          <p:cNvPr id="39" name="Text Placeholder 13">
            <a:extLst>
              <a:ext uri="{FF2B5EF4-FFF2-40B4-BE49-F238E27FC236}">
                <a16:creationId xmlns:a16="http://schemas.microsoft.com/office/drawing/2014/main" id="{F6E44EEB-A30C-4411-8788-3DD526977077}"/>
              </a:ext>
            </a:extLst>
          </p:cNvPr>
          <p:cNvSpPr>
            <a:spLocks noGrp="1"/>
          </p:cNvSpPr>
          <p:nvPr>
            <p:ph type="body" sz="quarter" idx="22" hasCustomPrompt="1"/>
          </p:nvPr>
        </p:nvSpPr>
        <p:spPr>
          <a:xfrm>
            <a:off x="6125835" y="2325066"/>
            <a:ext cx="2294890" cy="1569660"/>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Tree>
    <p:extLst>
      <p:ext uri="{BB962C8B-B14F-4D97-AF65-F5344CB8AC3E}">
        <p14:creationId xmlns:p14="http://schemas.microsoft.com/office/powerpoint/2010/main" val="4054843050"/>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4 cards">
    <p:bg>
      <p:bgPr>
        <a:solidFill>
          <a:schemeClr val="bg2">
            <a:alpha val="40000"/>
          </a:schemeClr>
        </a:solidFill>
        <a:effectLst/>
      </p:bgPr>
    </p:bg>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E76C2E72-5089-B443-B7F9-E689DB0766B3}"/>
              </a:ext>
            </a:extLst>
          </p:cNvPr>
          <p:cNvSpPr/>
          <p:nvPr/>
        </p:nvSpPr>
        <p:spPr>
          <a:xfrm>
            <a:off x="534592" y="1528763"/>
            <a:ext cx="1960520"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5" name="Rounded Rectangle 24">
            <a:extLst>
              <a:ext uri="{FF2B5EF4-FFF2-40B4-BE49-F238E27FC236}">
                <a16:creationId xmlns:a16="http://schemas.microsoft.com/office/drawing/2014/main" id="{E082C6D0-04B4-4C4A-B8F4-A2322184414F}"/>
              </a:ext>
            </a:extLst>
          </p:cNvPr>
          <p:cNvSpPr/>
          <p:nvPr/>
        </p:nvSpPr>
        <p:spPr>
          <a:xfrm>
            <a:off x="2572537" y="1528763"/>
            <a:ext cx="1960520"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8" name="Rounded Rectangle 27">
            <a:extLst>
              <a:ext uri="{FF2B5EF4-FFF2-40B4-BE49-F238E27FC236}">
                <a16:creationId xmlns:a16="http://schemas.microsoft.com/office/drawing/2014/main" id="{9AFEE3B1-DBFF-9149-9A70-602B0BDC7C68}"/>
              </a:ext>
            </a:extLst>
          </p:cNvPr>
          <p:cNvSpPr/>
          <p:nvPr/>
        </p:nvSpPr>
        <p:spPr>
          <a:xfrm>
            <a:off x="4601496" y="1528763"/>
            <a:ext cx="1960520"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1" name="Rounded Rectangle 30">
            <a:extLst>
              <a:ext uri="{FF2B5EF4-FFF2-40B4-BE49-F238E27FC236}">
                <a16:creationId xmlns:a16="http://schemas.microsoft.com/office/drawing/2014/main" id="{04654EF6-85F9-BD4A-83BB-9AFC9B2E95B9}"/>
              </a:ext>
            </a:extLst>
          </p:cNvPr>
          <p:cNvSpPr/>
          <p:nvPr/>
        </p:nvSpPr>
        <p:spPr>
          <a:xfrm>
            <a:off x="6634603" y="1528763"/>
            <a:ext cx="1960520"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626206" y="1612713"/>
            <a:ext cx="1777291" cy="646331"/>
          </a:xfrm>
          <a:prstGeom prst="rect">
            <a:avLst/>
          </a:prstGeom>
        </p:spPr>
        <p:txBody>
          <a:bodyPr anchor="b">
            <a:spAutoFit/>
          </a:bodyPr>
          <a:lstStyle>
            <a:lvl1pPr marL="0" indent="0" algn="l">
              <a:lnSpc>
                <a:spcPct val="100000"/>
              </a:lnSpc>
              <a:buNone/>
              <a:defRPr sz="18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two lines</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626217" y="2314113"/>
            <a:ext cx="1777268" cy="1015663"/>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19" name="Text Placeholder 2">
            <a:extLst>
              <a:ext uri="{FF2B5EF4-FFF2-40B4-BE49-F238E27FC236}">
                <a16:creationId xmlns:a16="http://schemas.microsoft.com/office/drawing/2014/main" id="{34A9FF0C-3BAE-2142-9B47-4AFF32473A3F}"/>
              </a:ext>
            </a:extLst>
          </p:cNvPr>
          <p:cNvSpPr>
            <a:spLocks noGrp="1"/>
          </p:cNvSpPr>
          <p:nvPr>
            <p:ph type="body" sz="quarter" idx="19" hasCustomPrompt="1"/>
          </p:nvPr>
        </p:nvSpPr>
        <p:spPr>
          <a:xfrm>
            <a:off x="2664152" y="1612713"/>
            <a:ext cx="1777291" cy="646331"/>
          </a:xfrm>
          <a:prstGeom prst="rect">
            <a:avLst/>
          </a:prstGeom>
        </p:spPr>
        <p:txBody>
          <a:bodyPr anchor="b">
            <a:spAutoFit/>
          </a:bodyPr>
          <a:lstStyle>
            <a:lvl1pPr marL="0" indent="0" algn="l">
              <a:lnSpc>
                <a:spcPct val="100000"/>
              </a:lnSpc>
              <a:buNone/>
              <a:defRPr sz="18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two lines</a:t>
            </a:r>
            <a:endParaRPr lang="en-US"/>
          </a:p>
        </p:txBody>
      </p:sp>
      <p:sp>
        <p:nvSpPr>
          <p:cNvPr id="20" name="Text Placeholder 13">
            <a:extLst>
              <a:ext uri="{FF2B5EF4-FFF2-40B4-BE49-F238E27FC236}">
                <a16:creationId xmlns:a16="http://schemas.microsoft.com/office/drawing/2014/main" id="{4526AB58-817C-DC46-9C5B-C6C8A4FF4056}"/>
              </a:ext>
            </a:extLst>
          </p:cNvPr>
          <p:cNvSpPr>
            <a:spLocks noGrp="1"/>
          </p:cNvSpPr>
          <p:nvPr>
            <p:ph type="body" sz="quarter" idx="20" hasCustomPrompt="1"/>
          </p:nvPr>
        </p:nvSpPr>
        <p:spPr>
          <a:xfrm>
            <a:off x="2664163" y="2314113"/>
            <a:ext cx="1777268" cy="1015663"/>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21" name="Text Placeholder 2">
            <a:extLst>
              <a:ext uri="{FF2B5EF4-FFF2-40B4-BE49-F238E27FC236}">
                <a16:creationId xmlns:a16="http://schemas.microsoft.com/office/drawing/2014/main" id="{0498259F-A942-8C44-B339-590E6B1B14D1}"/>
              </a:ext>
            </a:extLst>
          </p:cNvPr>
          <p:cNvSpPr>
            <a:spLocks noGrp="1"/>
          </p:cNvSpPr>
          <p:nvPr>
            <p:ph type="body" sz="quarter" idx="21" hasCustomPrompt="1"/>
          </p:nvPr>
        </p:nvSpPr>
        <p:spPr>
          <a:xfrm>
            <a:off x="4693110" y="1612713"/>
            <a:ext cx="1777291" cy="646331"/>
          </a:xfrm>
          <a:prstGeom prst="rect">
            <a:avLst/>
          </a:prstGeom>
        </p:spPr>
        <p:txBody>
          <a:bodyPr anchor="b">
            <a:spAutoFit/>
          </a:bodyPr>
          <a:lstStyle>
            <a:lvl1pPr marL="0" indent="0" algn="l">
              <a:lnSpc>
                <a:spcPct val="100000"/>
              </a:lnSpc>
              <a:buNone/>
              <a:defRPr sz="18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two lines</a:t>
            </a:r>
            <a:endParaRPr lang="en-US"/>
          </a:p>
        </p:txBody>
      </p:sp>
      <p:sp>
        <p:nvSpPr>
          <p:cNvPr id="22" name="Text Placeholder 13">
            <a:extLst>
              <a:ext uri="{FF2B5EF4-FFF2-40B4-BE49-F238E27FC236}">
                <a16:creationId xmlns:a16="http://schemas.microsoft.com/office/drawing/2014/main" id="{AA1F0924-098C-2C40-883B-43B65B44D7F0}"/>
              </a:ext>
            </a:extLst>
          </p:cNvPr>
          <p:cNvSpPr>
            <a:spLocks noGrp="1"/>
          </p:cNvSpPr>
          <p:nvPr>
            <p:ph type="body" sz="quarter" idx="22" hasCustomPrompt="1"/>
          </p:nvPr>
        </p:nvSpPr>
        <p:spPr>
          <a:xfrm>
            <a:off x="4693121" y="2314113"/>
            <a:ext cx="1777268" cy="1015663"/>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23" name="Text Placeholder 2">
            <a:extLst>
              <a:ext uri="{FF2B5EF4-FFF2-40B4-BE49-F238E27FC236}">
                <a16:creationId xmlns:a16="http://schemas.microsoft.com/office/drawing/2014/main" id="{DE577571-274C-A94F-AF4E-4A72174E3ABF}"/>
              </a:ext>
            </a:extLst>
          </p:cNvPr>
          <p:cNvSpPr>
            <a:spLocks noGrp="1"/>
          </p:cNvSpPr>
          <p:nvPr>
            <p:ph type="body" sz="quarter" idx="23" hasCustomPrompt="1"/>
          </p:nvPr>
        </p:nvSpPr>
        <p:spPr>
          <a:xfrm>
            <a:off x="6726217" y="1612713"/>
            <a:ext cx="1777291" cy="646331"/>
          </a:xfrm>
          <a:prstGeom prst="rect">
            <a:avLst/>
          </a:prstGeom>
        </p:spPr>
        <p:txBody>
          <a:bodyPr anchor="b">
            <a:spAutoFit/>
          </a:bodyPr>
          <a:lstStyle>
            <a:lvl1pPr marL="0" indent="0" algn="l">
              <a:lnSpc>
                <a:spcPct val="100000"/>
              </a:lnSpc>
              <a:buNone/>
              <a:defRPr sz="18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two lines</a:t>
            </a:r>
            <a:endParaRPr lang="en-US"/>
          </a:p>
        </p:txBody>
      </p:sp>
      <p:sp>
        <p:nvSpPr>
          <p:cNvPr id="24" name="Text Placeholder 13">
            <a:extLst>
              <a:ext uri="{FF2B5EF4-FFF2-40B4-BE49-F238E27FC236}">
                <a16:creationId xmlns:a16="http://schemas.microsoft.com/office/drawing/2014/main" id="{9B5B9A6F-E17B-984B-B995-324A217E33FE}"/>
              </a:ext>
            </a:extLst>
          </p:cNvPr>
          <p:cNvSpPr>
            <a:spLocks noGrp="1"/>
          </p:cNvSpPr>
          <p:nvPr>
            <p:ph type="body" sz="quarter" idx="24" hasCustomPrompt="1"/>
          </p:nvPr>
        </p:nvSpPr>
        <p:spPr>
          <a:xfrm>
            <a:off x="6726228" y="2314113"/>
            <a:ext cx="1777268" cy="1015663"/>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26" name="Title 1">
            <a:extLst>
              <a:ext uri="{FF2B5EF4-FFF2-40B4-BE49-F238E27FC236}">
                <a16:creationId xmlns:a16="http://schemas.microsoft.com/office/drawing/2014/main" id="{473198A7-04CB-4634-82ED-C7D465DF1C45}"/>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507154247"/>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5 cards">
    <p:bg>
      <p:bgPr>
        <a:solidFill>
          <a:schemeClr val="bg2">
            <a:alpha val="40000"/>
          </a:schemeClr>
        </a:solidFill>
        <a:effectLst/>
      </p:bgPr>
    </p:bg>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39112710-93EC-4A43-A143-6D58C784FF93}"/>
              </a:ext>
            </a:extLst>
          </p:cNvPr>
          <p:cNvSpPr/>
          <p:nvPr/>
        </p:nvSpPr>
        <p:spPr>
          <a:xfrm>
            <a:off x="533400"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34" name="Rounded Rectangle 33">
            <a:extLst>
              <a:ext uri="{FF2B5EF4-FFF2-40B4-BE49-F238E27FC236}">
                <a16:creationId xmlns:a16="http://schemas.microsoft.com/office/drawing/2014/main" id="{96E6FCCD-FDE0-2141-961A-355E07354DD0}"/>
              </a:ext>
            </a:extLst>
          </p:cNvPr>
          <p:cNvSpPr/>
          <p:nvPr/>
        </p:nvSpPr>
        <p:spPr>
          <a:xfrm>
            <a:off x="2157538"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37" name="Rounded Rectangle 36">
            <a:extLst>
              <a:ext uri="{FF2B5EF4-FFF2-40B4-BE49-F238E27FC236}">
                <a16:creationId xmlns:a16="http://schemas.microsoft.com/office/drawing/2014/main" id="{7CA1BEC8-6A59-CF4A-A1DE-2992DA6DE8E6}"/>
              </a:ext>
            </a:extLst>
          </p:cNvPr>
          <p:cNvSpPr/>
          <p:nvPr/>
        </p:nvSpPr>
        <p:spPr>
          <a:xfrm>
            <a:off x="3781676"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40" name="Rounded Rectangle 39">
            <a:extLst>
              <a:ext uri="{FF2B5EF4-FFF2-40B4-BE49-F238E27FC236}">
                <a16:creationId xmlns:a16="http://schemas.microsoft.com/office/drawing/2014/main" id="{8E47931E-3171-5F4D-AF57-F522EBE78F9C}"/>
              </a:ext>
            </a:extLst>
          </p:cNvPr>
          <p:cNvSpPr/>
          <p:nvPr/>
        </p:nvSpPr>
        <p:spPr>
          <a:xfrm>
            <a:off x="5405813"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43" name="Rounded Rectangle 42">
            <a:extLst>
              <a:ext uri="{FF2B5EF4-FFF2-40B4-BE49-F238E27FC236}">
                <a16:creationId xmlns:a16="http://schemas.microsoft.com/office/drawing/2014/main" id="{3492EAE1-3C78-DE47-92C4-503042C68CC1}"/>
              </a:ext>
            </a:extLst>
          </p:cNvPr>
          <p:cNvSpPr/>
          <p:nvPr/>
        </p:nvSpPr>
        <p:spPr>
          <a:xfrm>
            <a:off x="7029950"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613959"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613959"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24" name="Text Placeholder 2">
            <a:extLst>
              <a:ext uri="{FF2B5EF4-FFF2-40B4-BE49-F238E27FC236}">
                <a16:creationId xmlns:a16="http://schemas.microsoft.com/office/drawing/2014/main" id="{E995B304-7A90-8741-990F-A8C42EE76A1C}"/>
              </a:ext>
            </a:extLst>
          </p:cNvPr>
          <p:cNvSpPr>
            <a:spLocks noGrp="1"/>
          </p:cNvSpPr>
          <p:nvPr>
            <p:ph type="body" sz="quarter" idx="15" hasCustomPrompt="1"/>
          </p:nvPr>
        </p:nvSpPr>
        <p:spPr>
          <a:xfrm>
            <a:off x="2238097"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25" name="Text Placeholder 2">
            <a:extLst>
              <a:ext uri="{FF2B5EF4-FFF2-40B4-BE49-F238E27FC236}">
                <a16:creationId xmlns:a16="http://schemas.microsoft.com/office/drawing/2014/main" id="{7531DAAE-FE72-714F-AA22-B72AD73548F2}"/>
              </a:ext>
            </a:extLst>
          </p:cNvPr>
          <p:cNvSpPr>
            <a:spLocks noGrp="1"/>
          </p:cNvSpPr>
          <p:nvPr>
            <p:ph type="body" sz="quarter" idx="16" hasCustomPrompt="1"/>
          </p:nvPr>
        </p:nvSpPr>
        <p:spPr>
          <a:xfrm>
            <a:off x="2238097"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26" name="Text Placeholder 2">
            <a:extLst>
              <a:ext uri="{FF2B5EF4-FFF2-40B4-BE49-F238E27FC236}">
                <a16:creationId xmlns:a16="http://schemas.microsoft.com/office/drawing/2014/main" id="{72CB5D55-B826-C841-BAB8-4BE94A3E58AF}"/>
              </a:ext>
            </a:extLst>
          </p:cNvPr>
          <p:cNvSpPr>
            <a:spLocks noGrp="1"/>
          </p:cNvSpPr>
          <p:nvPr>
            <p:ph type="body" sz="quarter" idx="17" hasCustomPrompt="1"/>
          </p:nvPr>
        </p:nvSpPr>
        <p:spPr>
          <a:xfrm>
            <a:off x="3862235"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27" name="Text Placeholder 2">
            <a:extLst>
              <a:ext uri="{FF2B5EF4-FFF2-40B4-BE49-F238E27FC236}">
                <a16:creationId xmlns:a16="http://schemas.microsoft.com/office/drawing/2014/main" id="{EB0E953D-2181-B14D-B81B-DE2760F52E45}"/>
              </a:ext>
            </a:extLst>
          </p:cNvPr>
          <p:cNvSpPr>
            <a:spLocks noGrp="1"/>
          </p:cNvSpPr>
          <p:nvPr>
            <p:ph type="body" sz="quarter" idx="18" hasCustomPrompt="1"/>
          </p:nvPr>
        </p:nvSpPr>
        <p:spPr>
          <a:xfrm>
            <a:off x="3862235"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28" name="Text Placeholder 2">
            <a:extLst>
              <a:ext uri="{FF2B5EF4-FFF2-40B4-BE49-F238E27FC236}">
                <a16:creationId xmlns:a16="http://schemas.microsoft.com/office/drawing/2014/main" id="{78CD5C4A-1D40-4D41-979E-E0BF5D00A6C7}"/>
              </a:ext>
            </a:extLst>
          </p:cNvPr>
          <p:cNvSpPr>
            <a:spLocks noGrp="1"/>
          </p:cNvSpPr>
          <p:nvPr>
            <p:ph type="body" sz="quarter" idx="19" hasCustomPrompt="1"/>
          </p:nvPr>
        </p:nvSpPr>
        <p:spPr>
          <a:xfrm>
            <a:off x="5486373"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29" name="Text Placeholder 2">
            <a:extLst>
              <a:ext uri="{FF2B5EF4-FFF2-40B4-BE49-F238E27FC236}">
                <a16:creationId xmlns:a16="http://schemas.microsoft.com/office/drawing/2014/main" id="{A07A4B7E-C23A-C848-AAEF-294D2D1AFBD8}"/>
              </a:ext>
            </a:extLst>
          </p:cNvPr>
          <p:cNvSpPr>
            <a:spLocks noGrp="1"/>
          </p:cNvSpPr>
          <p:nvPr>
            <p:ph type="body" sz="quarter" idx="20" hasCustomPrompt="1"/>
          </p:nvPr>
        </p:nvSpPr>
        <p:spPr>
          <a:xfrm>
            <a:off x="5486373"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30" name="Text Placeholder 2">
            <a:extLst>
              <a:ext uri="{FF2B5EF4-FFF2-40B4-BE49-F238E27FC236}">
                <a16:creationId xmlns:a16="http://schemas.microsoft.com/office/drawing/2014/main" id="{E16C5C97-4A3F-6D45-820F-5ACFFA7EBA52}"/>
              </a:ext>
            </a:extLst>
          </p:cNvPr>
          <p:cNvSpPr>
            <a:spLocks noGrp="1"/>
          </p:cNvSpPr>
          <p:nvPr>
            <p:ph type="body" sz="quarter" idx="21" hasCustomPrompt="1"/>
          </p:nvPr>
        </p:nvSpPr>
        <p:spPr>
          <a:xfrm>
            <a:off x="7110510"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31" name="Text Placeholder 2">
            <a:extLst>
              <a:ext uri="{FF2B5EF4-FFF2-40B4-BE49-F238E27FC236}">
                <a16:creationId xmlns:a16="http://schemas.microsoft.com/office/drawing/2014/main" id="{5AA87B6F-02A5-1544-A70B-698D2E5B0558}"/>
              </a:ext>
            </a:extLst>
          </p:cNvPr>
          <p:cNvSpPr>
            <a:spLocks noGrp="1"/>
          </p:cNvSpPr>
          <p:nvPr>
            <p:ph type="body" sz="quarter" idx="22" hasCustomPrompt="1"/>
          </p:nvPr>
        </p:nvSpPr>
        <p:spPr>
          <a:xfrm>
            <a:off x="7110510"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22" name="Title 1">
            <a:extLst>
              <a:ext uri="{FF2B5EF4-FFF2-40B4-BE49-F238E27FC236}">
                <a16:creationId xmlns:a16="http://schemas.microsoft.com/office/drawing/2014/main" id="{26778A26-3C32-4323-A61B-8DB36072A9D6}"/>
              </a:ext>
            </a:extLst>
          </p:cNvPr>
          <p:cNvSpPr>
            <a:spLocks noGrp="1"/>
          </p:cNvSpPr>
          <p:nvPr>
            <p:ph type="title"/>
          </p:nvPr>
        </p:nvSpPr>
        <p:spPr>
          <a:xfrm>
            <a:off x="454023" y="373999"/>
            <a:ext cx="8141098" cy="577081"/>
          </a:xfrm>
          <a:prstGeom prst="rect">
            <a:avLst/>
          </a:prstGeom>
        </p:spPr>
        <p:txBody>
          <a:bodyPr wrap="square" anchor="t">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581169052"/>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6 cards">
    <p:bg>
      <p:bgPr>
        <a:solidFill>
          <a:schemeClr val="bg2">
            <a:alpha val="40000"/>
          </a:schemeClr>
        </a:solidFill>
        <a:effectLst/>
      </p:bgPr>
    </p:bg>
    <p:spTree>
      <p:nvGrpSpPr>
        <p:cNvPr id="1" name=""/>
        <p:cNvGrpSpPr/>
        <p:nvPr/>
      </p:nvGrpSpPr>
      <p:grpSpPr>
        <a:xfrm>
          <a:off x="0" y="0"/>
          <a:ext cx="0" cy="0"/>
          <a:chOff x="0" y="0"/>
          <a:chExt cx="0" cy="0"/>
        </a:xfrm>
      </p:grpSpPr>
      <p:sp>
        <p:nvSpPr>
          <p:cNvPr id="26" name="Rounded Rectangle 25">
            <a:extLst>
              <a:ext uri="{FF2B5EF4-FFF2-40B4-BE49-F238E27FC236}">
                <a16:creationId xmlns:a16="http://schemas.microsoft.com/office/drawing/2014/main" id="{3F8D3419-B8FB-DD4F-AA34-154EA631B9DC}"/>
              </a:ext>
            </a:extLst>
          </p:cNvPr>
          <p:cNvSpPr/>
          <p:nvPr/>
        </p:nvSpPr>
        <p:spPr>
          <a:xfrm>
            <a:off x="3288506" y="1480327"/>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7" name="Rounded Rectangle 26">
            <a:extLst>
              <a:ext uri="{FF2B5EF4-FFF2-40B4-BE49-F238E27FC236}">
                <a16:creationId xmlns:a16="http://schemas.microsoft.com/office/drawing/2014/main" id="{48526222-E811-6645-9D04-A0AF7431982A}"/>
              </a:ext>
            </a:extLst>
          </p:cNvPr>
          <p:cNvSpPr/>
          <p:nvPr/>
        </p:nvSpPr>
        <p:spPr>
          <a:xfrm>
            <a:off x="6038775" y="1480327"/>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9" name="Rounded Rectangle 28">
            <a:extLst>
              <a:ext uri="{FF2B5EF4-FFF2-40B4-BE49-F238E27FC236}">
                <a16:creationId xmlns:a16="http://schemas.microsoft.com/office/drawing/2014/main" id="{8FFA1DFF-6593-E241-B48A-BD1E74935819}"/>
              </a:ext>
            </a:extLst>
          </p:cNvPr>
          <p:cNvSpPr/>
          <p:nvPr/>
        </p:nvSpPr>
        <p:spPr>
          <a:xfrm>
            <a:off x="545306" y="3127662"/>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0" name="Text Placeholder 2">
            <a:extLst>
              <a:ext uri="{FF2B5EF4-FFF2-40B4-BE49-F238E27FC236}">
                <a16:creationId xmlns:a16="http://schemas.microsoft.com/office/drawing/2014/main" id="{BCC5A599-7A69-BF4C-A01A-3AF4515ACB37}"/>
              </a:ext>
            </a:extLst>
          </p:cNvPr>
          <p:cNvSpPr>
            <a:spLocks noGrp="1"/>
          </p:cNvSpPr>
          <p:nvPr>
            <p:ph type="body" sz="quarter" idx="23" hasCustomPrompt="1"/>
          </p:nvPr>
        </p:nvSpPr>
        <p:spPr>
          <a:xfrm>
            <a:off x="632807" y="3163571"/>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32" name="Text Placeholder 13">
            <a:extLst>
              <a:ext uri="{FF2B5EF4-FFF2-40B4-BE49-F238E27FC236}">
                <a16:creationId xmlns:a16="http://schemas.microsoft.com/office/drawing/2014/main" id="{428B7788-3E4F-824C-B16A-5B2E1595EF79}"/>
              </a:ext>
            </a:extLst>
          </p:cNvPr>
          <p:cNvSpPr>
            <a:spLocks noGrp="1"/>
          </p:cNvSpPr>
          <p:nvPr>
            <p:ph type="body" sz="quarter" idx="24" hasCustomPrompt="1"/>
          </p:nvPr>
        </p:nvSpPr>
        <p:spPr>
          <a:xfrm>
            <a:off x="644128" y="3618547"/>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4" name="Rounded Rectangle 33">
            <a:extLst>
              <a:ext uri="{FF2B5EF4-FFF2-40B4-BE49-F238E27FC236}">
                <a16:creationId xmlns:a16="http://schemas.microsoft.com/office/drawing/2014/main" id="{09546C7B-1047-4B4D-A907-7B12EE3B41C5}"/>
              </a:ext>
            </a:extLst>
          </p:cNvPr>
          <p:cNvSpPr/>
          <p:nvPr/>
        </p:nvSpPr>
        <p:spPr>
          <a:xfrm>
            <a:off x="3288506" y="3127662"/>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5" name="Text Placeholder 2">
            <a:extLst>
              <a:ext uri="{FF2B5EF4-FFF2-40B4-BE49-F238E27FC236}">
                <a16:creationId xmlns:a16="http://schemas.microsoft.com/office/drawing/2014/main" id="{F3DB1F31-41AD-AE49-847C-7A380E3AF4CF}"/>
              </a:ext>
            </a:extLst>
          </p:cNvPr>
          <p:cNvSpPr>
            <a:spLocks noGrp="1"/>
          </p:cNvSpPr>
          <p:nvPr>
            <p:ph type="body" sz="quarter" idx="25" hasCustomPrompt="1"/>
          </p:nvPr>
        </p:nvSpPr>
        <p:spPr>
          <a:xfrm>
            <a:off x="3376007" y="3163571"/>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36" name="Text Placeholder 13">
            <a:extLst>
              <a:ext uri="{FF2B5EF4-FFF2-40B4-BE49-F238E27FC236}">
                <a16:creationId xmlns:a16="http://schemas.microsoft.com/office/drawing/2014/main" id="{81164B21-23EB-EF40-900E-5BDADBE458CB}"/>
              </a:ext>
            </a:extLst>
          </p:cNvPr>
          <p:cNvSpPr>
            <a:spLocks noGrp="1"/>
          </p:cNvSpPr>
          <p:nvPr>
            <p:ph type="body" sz="quarter" idx="26" hasCustomPrompt="1"/>
          </p:nvPr>
        </p:nvSpPr>
        <p:spPr>
          <a:xfrm>
            <a:off x="3387328" y="3618547"/>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7" name="Rounded Rectangle 36">
            <a:extLst>
              <a:ext uri="{FF2B5EF4-FFF2-40B4-BE49-F238E27FC236}">
                <a16:creationId xmlns:a16="http://schemas.microsoft.com/office/drawing/2014/main" id="{DA41FCA4-42DE-B84D-B9EA-F58C34C4EB6B}"/>
              </a:ext>
            </a:extLst>
          </p:cNvPr>
          <p:cNvSpPr/>
          <p:nvPr/>
        </p:nvSpPr>
        <p:spPr>
          <a:xfrm>
            <a:off x="6038775" y="3127662"/>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8" name="Text Placeholder 2">
            <a:extLst>
              <a:ext uri="{FF2B5EF4-FFF2-40B4-BE49-F238E27FC236}">
                <a16:creationId xmlns:a16="http://schemas.microsoft.com/office/drawing/2014/main" id="{3E05BB9B-1C80-F64C-93F4-B72F86189BB6}"/>
              </a:ext>
            </a:extLst>
          </p:cNvPr>
          <p:cNvSpPr>
            <a:spLocks noGrp="1"/>
          </p:cNvSpPr>
          <p:nvPr>
            <p:ph type="body" sz="quarter" idx="27" hasCustomPrompt="1"/>
          </p:nvPr>
        </p:nvSpPr>
        <p:spPr>
          <a:xfrm>
            <a:off x="6126276" y="3163571"/>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39" name="Text Placeholder 13">
            <a:extLst>
              <a:ext uri="{FF2B5EF4-FFF2-40B4-BE49-F238E27FC236}">
                <a16:creationId xmlns:a16="http://schemas.microsoft.com/office/drawing/2014/main" id="{B0A1DFCD-C101-6C46-8B94-AF8628244711}"/>
              </a:ext>
            </a:extLst>
          </p:cNvPr>
          <p:cNvSpPr>
            <a:spLocks noGrp="1"/>
          </p:cNvSpPr>
          <p:nvPr>
            <p:ph type="body" sz="quarter" idx="28" hasCustomPrompt="1"/>
          </p:nvPr>
        </p:nvSpPr>
        <p:spPr>
          <a:xfrm>
            <a:off x="6137598" y="3618547"/>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40" name="Rounded Rectangle 39">
            <a:extLst>
              <a:ext uri="{FF2B5EF4-FFF2-40B4-BE49-F238E27FC236}">
                <a16:creationId xmlns:a16="http://schemas.microsoft.com/office/drawing/2014/main" id="{084CA5E0-F916-F94A-A4F7-CA5867FFF468}"/>
              </a:ext>
            </a:extLst>
          </p:cNvPr>
          <p:cNvSpPr/>
          <p:nvPr/>
        </p:nvSpPr>
        <p:spPr>
          <a:xfrm>
            <a:off x="545306" y="1480327"/>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41" name="Text Placeholder 2">
            <a:extLst>
              <a:ext uri="{FF2B5EF4-FFF2-40B4-BE49-F238E27FC236}">
                <a16:creationId xmlns:a16="http://schemas.microsoft.com/office/drawing/2014/main" id="{FB498EF0-EEC4-F146-845C-C2D72D9E8EA7}"/>
              </a:ext>
            </a:extLst>
          </p:cNvPr>
          <p:cNvSpPr>
            <a:spLocks noGrp="1"/>
          </p:cNvSpPr>
          <p:nvPr>
            <p:ph type="body" sz="quarter" idx="14" hasCustomPrompt="1"/>
          </p:nvPr>
        </p:nvSpPr>
        <p:spPr>
          <a:xfrm>
            <a:off x="632807" y="1516237"/>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42" name="Text Placeholder 13">
            <a:extLst>
              <a:ext uri="{FF2B5EF4-FFF2-40B4-BE49-F238E27FC236}">
                <a16:creationId xmlns:a16="http://schemas.microsoft.com/office/drawing/2014/main" id="{79A67EA1-6BCB-5A43-963F-E15F65923E78}"/>
              </a:ext>
            </a:extLst>
          </p:cNvPr>
          <p:cNvSpPr>
            <a:spLocks noGrp="1"/>
          </p:cNvSpPr>
          <p:nvPr>
            <p:ph type="body" sz="quarter" idx="18" hasCustomPrompt="1"/>
          </p:nvPr>
        </p:nvSpPr>
        <p:spPr>
          <a:xfrm>
            <a:off x="644128" y="1971212"/>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43" name="Text Placeholder 2">
            <a:extLst>
              <a:ext uri="{FF2B5EF4-FFF2-40B4-BE49-F238E27FC236}">
                <a16:creationId xmlns:a16="http://schemas.microsoft.com/office/drawing/2014/main" id="{32980E6D-0D3C-3C44-B752-A28A21BED5A4}"/>
              </a:ext>
            </a:extLst>
          </p:cNvPr>
          <p:cNvSpPr>
            <a:spLocks noGrp="1"/>
          </p:cNvSpPr>
          <p:nvPr>
            <p:ph type="body" sz="quarter" idx="19" hasCustomPrompt="1"/>
          </p:nvPr>
        </p:nvSpPr>
        <p:spPr>
          <a:xfrm>
            <a:off x="3376007" y="1516237"/>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44" name="Text Placeholder 13">
            <a:extLst>
              <a:ext uri="{FF2B5EF4-FFF2-40B4-BE49-F238E27FC236}">
                <a16:creationId xmlns:a16="http://schemas.microsoft.com/office/drawing/2014/main" id="{02354588-70BC-224B-AE50-5093D92BA564}"/>
              </a:ext>
            </a:extLst>
          </p:cNvPr>
          <p:cNvSpPr>
            <a:spLocks noGrp="1"/>
          </p:cNvSpPr>
          <p:nvPr>
            <p:ph type="body" sz="quarter" idx="20" hasCustomPrompt="1"/>
          </p:nvPr>
        </p:nvSpPr>
        <p:spPr>
          <a:xfrm>
            <a:off x="3387328" y="1971212"/>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45" name="Text Placeholder 2">
            <a:extLst>
              <a:ext uri="{FF2B5EF4-FFF2-40B4-BE49-F238E27FC236}">
                <a16:creationId xmlns:a16="http://schemas.microsoft.com/office/drawing/2014/main" id="{3CE21FEB-540A-DE43-8666-63B85B077C1B}"/>
              </a:ext>
            </a:extLst>
          </p:cNvPr>
          <p:cNvSpPr>
            <a:spLocks noGrp="1"/>
          </p:cNvSpPr>
          <p:nvPr>
            <p:ph type="body" sz="quarter" idx="21" hasCustomPrompt="1"/>
          </p:nvPr>
        </p:nvSpPr>
        <p:spPr>
          <a:xfrm>
            <a:off x="6126276" y="1516237"/>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46" name="Text Placeholder 13">
            <a:extLst>
              <a:ext uri="{FF2B5EF4-FFF2-40B4-BE49-F238E27FC236}">
                <a16:creationId xmlns:a16="http://schemas.microsoft.com/office/drawing/2014/main" id="{9FB74C92-5EA4-B843-A476-AC4B9F95E9BD}"/>
              </a:ext>
            </a:extLst>
          </p:cNvPr>
          <p:cNvSpPr>
            <a:spLocks noGrp="1"/>
          </p:cNvSpPr>
          <p:nvPr>
            <p:ph type="body" sz="quarter" idx="22" hasCustomPrompt="1"/>
          </p:nvPr>
        </p:nvSpPr>
        <p:spPr>
          <a:xfrm>
            <a:off x="6137598" y="1971212"/>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24" name="Title 1">
            <a:extLst>
              <a:ext uri="{FF2B5EF4-FFF2-40B4-BE49-F238E27FC236}">
                <a16:creationId xmlns:a16="http://schemas.microsoft.com/office/drawing/2014/main" id="{91963E8D-2FF2-4001-9B8D-7FE754685AF9}"/>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2358465468"/>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Product Logo + Subtitle + Image  ">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4031456" y="483394"/>
            <a:ext cx="4572000" cy="4176713"/>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4" name="Text Placeholder 3">
            <a:extLst>
              <a:ext uri="{FF2B5EF4-FFF2-40B4-BE49-F238E27FC236}">
                <a16:creationId xmlns:a16="http://schemas.microsoft.com/office/drawing/2014/main" id="{2B123F89-7EFA-469E-85C4-C2C4535BDDE0}"/>
              </a:ext>
            </a:extLst>
          </p:cNvPr>
          <p:cNvSpPr>
            <a:spLocks noGrp="1"/>
          </p:cNvSpPr>
          <p:nvPr>
            <p:ph type="body" sz="quarter" idx="14" hasCustomPrompt="1"/>
          </p:nvPr>
        </p:nvSpPr>
        <p:spPr>
          <a:xfrm>
            <a:off x="466329" y="1478757"/>
            <a:ext cx="2944812" cy="1292662"/>
          </a:xfrm>
          <a:prstGeom prst="rect">
            <a:avLst/>
          </a:prstGeom>
        </p:spPr>
        <p:txBody>
          <a:bodyPr>
            <a:spAutoFit/>
          </a:bodyPr>
          <a:lstStyle>
            <a:lvl1pPr marL="0" indent="0" algn="l">
              <a:lnSpc>
                <a:spcPct val="100000"/>
              </a:lnSpc>
              <a:buNone/>
              <a:defRPr sz="1950"/>
            </a:lvl1pPr>
            <a:lvl2pPr marL="342900" indent="0">
              <a:buNone/>
              <a:defRPr/>
            </a:lvl2pPr>
            <a:lvl3pPr marL="685800" indent="0">
              <a:buNone/>
              <a:defRPr/>
            </a:lvl3pPr>
            <a:lvl4pPr marL="1028700" indent="0">
              <a:buNone/>
              <a:defRPr/>
            </a:lvl4pPr>
            <a:lvl5pPr marL="1371600" indent="0">
              <a:buNone/>
              <a:defRPr/>
            </a:lvl5pPr>
          </a:lstStyle>
          <a:p>
            <a:pPr lvl="0"/>
            <a:r>
              <a:rPr lang="en-US"/>
              <a:t>Short Sub Title that describes the image and fits in maximum four lines</a:t>
            </a:r>
            <a:endParaRPr lang="en-IN"/>
          </a:p>
        </p:txBody>
      </p:sp>
      <p:sp>
        <p:nvSpPr>
          <p:cNvPr id="5" name="Text Placeholder 7">
            <a:extLst>
              <a:ext uri="{FF2B5EF4-FFF2-40B4-BE49-F238E27FC236}">
                <a16:creationId xmlns:a16="http://schemas.microsoft.com/office/drawing/2014/main" id="{403ABB45-0CC5-4414-B609-0F6CDC509A38}"/>
              </a:ext>
            </a:extLst>
          </p:cNvPr>
          <p:cNvSpPr>
            <a:spLocks noGrp="1"/>
          </p:cNvSpPr>
          <p:nvPr>
            <p:ph type="body" sz="quarter" idx="11" hasCustomPrompt="1"/>
          </p:nvPr>
        </p:nvSpPr>
        <p:spPr>
          <a:xfrm>
            <a:off x="466329" y="460311"/>
            <a:ext cx="2276871" cy="507831"/>
          </a:xfrm>
          <a:prstGeom prst="rect">
            <a:avLst/>
          </a:prstGeom>
        </p:spPr>
        <p:txBody>
          <a:bodyPr wrap="square" anchor="b">
            <a:spAutoFit/>
          </a:bodyPr>
          <a:lstStyle>
            <a:lvl1pPr marL="0" indent="0">
              <a:lnSpc>
                <a:spcPct val="100000"/>
              </a:lnSpc>
              <a:spcBef>
                <a:spcPts val="0"/>
              </a:spcBef>
              <a:buNone/>
              <a:defRPr sz="1350">
                <a:solidFill>
                  <a:schemeClr val="bg1">
                    <a:lumMod val="65000"/>
                  </a:schemeClr>
                </a:solidFill>
              </a:defRPr>
            </a:lvl1pPr>
            <a:lvl5pPr marL="1371600" indent="0">
              <a:buNone/>
              <a:defRPr sz="825"/>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3851713204"/>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Product Logo +Subtitle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2276476" y="1478756"/>
            <a:ext cx="6326981" cy="3181350"/>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8" name="Text Placeholder 7">
            <a:extLst>
              <a:ext uri="{FF2B5EF4-FFF2-40B4-BE49-F238E27FC236}">
                <a16:creationId xmlns:a16="http://schemas.microsoft.com/office/drawing/2014/main" id="{974E908D-F0C8-43B8-88EE-AF9BBE439300}"/>
              </a:ext>
            </a:extLst>
          </p:cNvPr>
          <p:cNvSpPr>
            <a:spLocks noGrp="1"/>
          </p:cNvSpPr>
          <p:nvPr>
            <p:ph type="body" sz="quarter" idx="11" hasCustomPrompt="1"/>
          </p:nvPr>
        </p:nvSpPr>
        <p:spPr>
          <a:xfrm>
            <a:off x="466329" y="460311"/>
            <a:ext cx="2276871" cy="507831"/>
          </a:xfrm>
          <a:prstGeom prst="rect">
            <a:avLst/>
          </a:prstGeom>
        </p:spPr>
        <p:txBody>
          <a:bodyPr wrap="square" anchor="b">
            <a:spAutoFit/>
          </a:bodyPr>
          <a:lstStyle>
            <a:lvl1pPr marL="0" indent="0">
              <a:lnSpc>
                <a:spcPct val="100000"/>
              </a:lnSpc>
              <a:spcBef>
                <a:spcPts val="0"/>
              </a:spcBef>
              <a:buNone/>
              <a:defRPr sz="1350">
                <a:solidFill>
                  <a:schemeClr val="bg1">
                    <a:lumMod val="65000"/>
                  </a:schemeClr>
                </a:solidFill>
              </a:defRPr>
            </a:lvl1pPr>
            <a:lvl5pPr marL="1371600" indent="0">
              <a:buNone/>
              <a:defRPr sz="825"/>
            </a:lvl5pPr>
          </a:lstStyle>
          <a:p>
            <a:pPr lvl="0"/>
            <a:r>
              <a:rPr lang="en-US"/>
              <a:t>Space to add respective</a:t>
            </a:r>
            <a:br>
              <a:rPr lang="en-US"/>
            </a:br>
            <a:r>
              <a:rPr lang="en-US"/>
              <a:t>Product logo, e.g., Cuddle</a:t>
            </a:r>
          </a:p>
        </p:txBody>
      </p:sp>
      <p:sp>
        <p:nvSpPr>
          <p:cNvPr id="5" name="Text Placeholder 3">
            <a:extLst>
              <a:ext uri="{FF2B5EF4-FFF2-40B4-BE49-F238E27FC236}">
                <a16:creationId xmlns:a16="http://schemas.microsoft.com/office/drawing/2014/main" id="{325C07C5-6398-42F9-BB80-665B2901EE3A}"/>
              </a:ext>
            </a:extLst>
          </p:cNvPr>
          <p:cNvSpPr>
            <a:spLocks noGrp="1"/>
          </p:cNvSpPr>
          <p:nvPr>
            <p:ph type="body" sz="quarter" idx="14" hasCustomPrompt="1"/>
          </p:nvPr>
        </p:nvSpPr>
        <p:spPr>
          <a:xfrm>
            <a:off x="466329" y="1478756"/>
            <a:ext cx="1705371" cy="1292662"/>
          </a:xfrm>
          <a:prstGeom prst="rect">
            <a:avLst/>
          </a:prstGeom>
        </p:spPr>
        <p:txBody>
          <a:bodyPr wrap="square">
            <a:spAutoFit/>
          </a:bodyPr>
          <a:lstStyle>
            <a:lvl1pPr marL="0" indent="0" algn="l">
              <a:lnSpc>
                <a:spcPct val="100000"/>
              </a:lnSpc>
              <a:buNone/>
              <a:defRPr sz="1950"/>
            </a:lvl1pPr>
            <a:lvl2pPr marL="342900" indent="0">
              <a:buNone/>
              <a:defRPr/>
            </a:lvl2pPr>
            <a:lvl3pPr marL="685800" indent="0">
              <a:buNone/>
              <a:defRPr/>
            </a:lvl3pPr>
            <a:lvl4pPr marL="1028700" indent="0">
              <a:buNone/>
              <a:defRPr/>
            </a:lvl4pPr>
            <a:lvl5pPr marL="1371600" indent="0">
              <a:buNone/>
              <a:defRPr/>
            </a:lvl5pPr>
          </a:lstStyle>
          <a:p>
            <a:pPr lvl="0"/>
            <a:r>
              <a:rPr lang="en-US"/>
              <a:t>Sub Title that describes the image</a:t>
            </a:r>
            <a:endParaRPr lang="en-IN"/>
          </a:p>
        </p:txBody>
      </p:sp>
    </p:spTree>
    <p:extLst>
      <p:ext uri="{BB962C8B-B14F-4D97-AF65-F5344CB8AC3E}">
        <p14:creationId xmlns:p14="http://schemas.microsoft.com/office/powerpoint/2010/main" val="2761842082"/>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Product Logo + Image + Subtitle">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533401" y="1672467"/>
            <a:ext cx="8070056" cy="2987639"/>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11" name="Title 1">
            <a:extLst>
              <a:ext uri="{FF2B5EF4-FFF2-40B4-BE49-F238E27FC236}">
                <a16:creationId xmlns:a16="http://schemas.microsoft.com/office/drawing/2014/main" id="{E10CC725-6E89-4083-B26D-E98DE4D4B5F8}"/>
              </a:ext>
            </a:extLst>
          </p:cNvPr>
          <p:cNvSpPr>
            <a:spLocks noGrp="1"/>
          </p:cNvSpPr>
          <p:nvPr>
            <p:ph type="title" hasCustomPrompt="1"/>
          </p:nvPr>
        </p:nvSpPr>
        <p:spPr>
          <a:xfrm>
            <a:off x="466329" y="1214572"/>
            <a:ext cx="8137127" cy="392415"/>
          </a:xfrm>
          <a:prstGeom prst="rect">
            <a:avLst/>
          </a:prstGeom>
        </p:spPr>
        <p:txBody>
          <a:bodyPr wrap="square">
            <a:spAutoFit/>
          </a:bodyPr>
          <a:lstStyle>
            <a:lvl1pPr>
              <a:defRPr lang="en-IN" sz="1950" b="0" i="0" dirty="0">
                <a:latin typeface="+mn-lt"/>
                <a:ea typeface="+mn-ea"/>
                <a:cs typeface="+mn-cs"/>
              </a:defRPr>
            </a:lvl1pPr>
          </a:lstStyle>
          <a:p>
            <a:pPr marL="0" lvl="0" indent="0">
              <a:lnSpc>
                <a:spcPct val="100000"/>
              </a:lnSpc>
              <a:spcBef>
                <a:spcPts val="750"/>
              </a:spcBef>
              <a:buFont typeface="Arial" panose="020B0604020202020204" pitchFamily="34" charset="0"/>
            </a:pPr>
            <a:r>
              <a:rPr lang="en-US"/>
              <a:t>Sub Title that describes the image.</a:t>
            </a:r>
          </a:p>
        </p:txBody>
      </p:sp>
      <p:sp>
        <p:nvSpPr>
          <p:cNvPr id="8" name="Text Placeholder 7">
            <a:extLst>
              <a:ext uri="{FF2B5EF4-FFF2-40B4-BE49-F238E27FC236}">
                <a16:creationId xmlns:a16="http://schemas.microsoft.com/office/drawing/2014/main" id="{34DD6C36-E4DD-4B7E-9561-6D5EC33E1BA7}"/>
              </a:ext>
            </a:extLst>
          </p:cNvPr>
          <p:cNvSpPr>
            <a:spLocks noGrp="1"/>
          </p:cNvSpPr>
          <p:nvPr>
            <p:ph type="body" sz="quarter" idx="11" hasCustomPrompt="1"/>
          </p:nvPr>
        </p:nvSpPr>
        <p:spPr>
          <a:xfrm>
            <a:off x="466329" y="460311"/>
            <a:ext cx="2276871" cy="507831"/>
          </a:xfrm>
          <a:prstGeom prst="rect">
            <a:avLst/>
          </a:prstGeom>
        </p:spPr>
        <p:txBody>
          <a:bodyPr wrap="square" anchor="b">
            <a:spAutoFit/>
          </a:bodyPr>
          <a:lstStyle>
            <a:lvl1pPr marL="0" indent="0">
              <a:lnSpc>
                <a:spcPct val="100000"/>
              </a:lnSpc>
              <a:spcBef>
                <a:spcPts val="0"/>
              </a:spcBef>
              <a:buNone/>
              <a:defRPr sz="1350">
                <a:solidFill>
                  <a:schemeClr val="bg1">
                    <a:lumMod val="65000"/>
                  </a:schemeClr>
                </a:solidFill>
              </a:defRPr>
            </a:lvl1pPr>
            <a:lvl5pPr marL="1371600" indent="0">
              <a:buNone/>
              <a:defRPr sz="825"/>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3410299264"/>
      </p:ext>
    </p:extLst>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ase study ">
    <p:bg>
      <p:bgPr>
        <a:solidFill>
          <a:schemeClr val="bg2">
            <a:alpha val="40000"/>
          </a:schemeClr>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533400" y="1233808"/>
            <a:ext cx="2283619" cy="3429869"/>
          </a:xfrm>
          <a:prstGeom prst="roundRect">
            <a:avLst>
              <a:gd name="adj" fmla="val 4672"/>
            </a:avLst>
          </a:prstGeom>
          <a:solidFill>
            <a:schemeClr val="bg1"/>
          </a:solidFill>
        </p:spPr>
        <p:txBody>
          <a:bodyPr/>
          <a:lstStyle>
            <a:lvl1pPr marL="0" indent="0">
              <a:lnSpc>
                <a:spcPct val="100000"/>
              </a:lnSpc>
              <a:buFont typeface="Arial" panose="020B0604020202020204" pitchFamily="34" charset="0"/>
              <a:buNone/>
              <a:defRPr sz="1200">
                <a:latin typeface="+mn-lt"/>
              </a:defRPr>
            </a:lvl1pPr>
          </a:lstStyle>
          <a:p>
            <a:r>
              <a:rPr lang="en-US"/>
              <a:t>Insert Picture / Graphic</a:t>
            </a:r>
          </a:p>
        </p:txBody>
      </p:sp>
      <p:sp>
        <p:nvSpPr>
          <p:cNvPr id="16" name="Rounded Rectangle 15">
            <a:extLst>
              <a:ext uri="{FF2B5EF4-FFF2-40B4-BE49-F238E27FC236}">
                <a16:creationId xmlns:a16="http://schemas.microsoft.com/office/drawing/2014/main" id="{AB0FD3F0-CADA-2A43-A855-218DC961FA55}"/>
              </a:ext>
            </a:extLst>
          </p:cNvPr>
          <p:cNvSpPr/>
          <p:nvPr/>
        </p:nvSpPr>
        <p:spPr>
          <a:xfrm>
            <a:off x="2884823" y="1233808"/>
            <a:ext cx="2835000" cy="3429869"/>
          </a:xfrm>
          <a:prstGeom prst="roundRect">
            <a:avLst>
              <a:gd name="adj" fmla="val 3933"/>
            </a:avLst>
          </a:prstGeom>
          <a:solidFill>
            <a:srgbClr val="FFFFFF"/>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AFFFF"/>
              </a:solidFill>
              <a:effectLst/>
              <a:uLnTx/>
              <a:uFillTx/>
              <a:latin typeface="+mn-lt"/>
              <a:ea typeface="+mn-ea"/>
              <a:cs typeface="+mn-cs"/>
            </a:endParaRP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2925164" y="1305662"/>
            <a:ext cx="2695638"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1</a:t>
            </a:r>
          </a:p>
        </p:txBody>
      </p:sp>
      <p:sp>
        <p:nvSpPr>
          <p:cNvPr id="28" name="Rounded Rectangle 27">
            <a:extLst>
              <a:ext uri="{FF2B5EF4-FFF2-40B4-BE49-F238E27FC236}">
                <a16:creationId xmlns:a16="http://schemas.microsoft.com/office/drawing/2014/main" id="{23297810-B42F-4E43-AAF0-9C880E9E5776}"/>
              </a:ext>
            </a:extLst>
          </p:cNvPr>
          <p:cNvSpPr/>
          <p:nvPr/>
        </p:nvSpPr>
        <p:spPr>
          <a:xfrm>
            <a:off x="5787628" y="1233808"/>
            <a:ext cx="2835000" cy="3429869"/>
          </a:xfrm>
          <a:prstGeom prst="roundRect">
            <a:avLst>
              <a:gd name="adj" fmla="val 2891"/>
            </a:avLst>
          </a:prstGeom>
          <a:solidFill>
            <a:srgbClr val="FFFFFF"/>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AFFFF"/>
              </a:solidFill>
              <a:effectLst/>
              <a:uLnTx/>
              <a:uFillTx/>
              <a:latin typeface="+mn-lt"/>
              <a:ea typeface="+mn-ea"/>
              <a:cs typeface="+mn-cs"/>
            </a:endParaRPr>
          </a:p>
        </p:txBody>
      </p:sp>
      <p:sp>
        <p:nvSpPr>
          <p:cNvPr id="30" name="Text Placeholder 3">
            <a:extLst>
              <a:ext uri="{FF2B5EF4-FFF2-40B4-BE49-F238E27FC236}">
                <a16:creationId xmlns:a16="http://schemas.microsoft.com/office/drawing/2014/main" id="{7B936880-5BF6-594A-8BAD-B4D73AACDF8D}"/>
              </a:ext>
            </a:extLst>
          </p:cNvPr>
          <p:cNvSpPr>
            <a:spLocks noGrp="1"/>
          </p:cNvSpPr>
          <p:nvPr>
            <p:ph type="body" sz="half" idx="16" hasCustomPrompt="1"/>
          </p:nvPr>
        </p:nvSpPr>
        <p:spPr>
          <a:xfrm>
            <a:off x="5827969" y="1305662"/>
            <a:ext cx="2666387"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2</a:t>
            </a:r>
          </a:p>
        </p:txBody>
      </p:sp>
      <p:sp>
        <p:nvSpPr>
          <p:cNvPr id="31" name="Text Placeholder 13">
            <a:extLst>
              <a:ext uri="{FF2B5EF4-FFF2-40B4-BE49-F238E27FC236}">
                <a16:creationId xmlns:a16="http://schemas.microsoft.com/office/drawing/2014/main" id="{FCA37391-5567-454B-8A95-829FE162E13F}"/>
              </a:ext>
            </a:extLst>
          </p:cNvPr>
          <p:cNvSpPr>
            <a:spLocks noGrp="1"/>
          </p:cNvSpPr>
          <p:nvPr>
            <p:ph type="body" sz="quarter" idx="18" hasCustomPrompt="1"/>
          </p:nvPr>
        </p:nvSpPr>
        <p:spPr>
          <a:xfrm>
            <a:off x="2925164" y="1791187"/>
            <a:ext cx="2695637" cy="577081"/>
          </a:xfrm>
          <a:prstGeom prst="rect">
            <a:avLst/>
          </a:prstGeom>
        </p:spPr>
        <p:txBody>
          <a:bodyPr wrap="square">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2" name="Text Placeholder 13">
            <a:extLst>
              <a:ext uri="{FF2B5EF4-FFF2-40B4-BE49-F238E27FC236}">
                <a16:creationId xmlns:a16="http://schemas.microsoft.com/office/drawing/2014/main" id="{2AEF9A3F-C3D4-5749-90E3-1547F3B8F260}"/>
              </a:ext>
            </a:extLst>
          </p:cNvPr>
          <p:cNvSpPr>
            <a:spLocks noGrp="1"/>
          </p:cNvSpPr>
          <p:nvPr>
            <p:ph type="body" sz="quarter" idx="19" hasCustomPrompt="1"/>
          </p:nvPr>
        </p:nvSpPr>
        <p:spPr>
          <a:xfrm>
            <a:off x="5827969" y="1791187"/>
            <a:ext cx="2666387" cy="577081"/>
          </a:xfrm>
          <a:prstGeom prst="rect">
            <a:avLst/>
          </a:prstGeom>
        </p:spPr>
        <p:txBody>
          <a:bodyPr wrap="square">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17" name="Title 1">
            <a:extLst>
              <a:ext uri="{FF2B5EF4-FFF2-40B4-BE49-F238E27FC236}">
                <a16:creationId xmlns:a16="http://schemas.microsoft.com/office/drawing/2014/main" id="{0336F1B1-07AE-44D7-B87E-02D7F71C3645}"/>
              </a:ext>
            </a:extLst>
          </p:cNvPr>
          <p:cNvSpPr>
            <a:spLocks noGrp="1"/>
          </p:cNvSpPr>
          <p:nvPr>
            <p:ph type="title"/>
          </p:nvPr>
        </p:nvSpPr>
        <p:spPr>
          <a:xfrm>
            <a:off x="1196340" y="384228"/>
            <a:ext cx="7434142" cy="392415"/>
          </a:xfrm>
          <a:prstGeom prst="rect">
            <a:avLst/>
          </a:prstGeom>
        </p:spPr>
        <p:txBody>
          <a:bodyPr wrap="square" anchor="ctr">
            <a:spAutoFit/>
          </a:bodyPr>
          <a:lstStyle>
            <a:lvl1pPr>
              <a:lnSpc>
                <a:spcPct val="100000"/>
              </a:lnSpc>
              <a:defRPr lang="en-IN" sz="19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grpSp>
        <p:nvGrpSpPr>
          <p:cNvPr id="18" name="Group 17">
            <a:extLst>
              <a:ext uri="{FF2B5EF4-FFF2-40B4-BE49-F238E27FC236}">
                <a16:creationId xmlns:a16="http://schemas.microsoft.com/office/drawing/2014/main" id="{691BF75A-D0A4-4185-9701-031ACC826FD3}"/>
              </a:ext>
            </a:extLst>
          </p:cNvPr>
          <p:cNvGrpSpPr/>
          <p:nvPr/>
        </p:nvGrpSpPr>
        <p:grpSpPr>
          <a:xfrm>
            <a:off x="538082" y="311354"/>
            <a:ext cx="597890" cy="538163"/>
            <a:chOff x="644873" y="545729"/>
            <a:chExt cx="797186" cy="717551"/>
          </a:xfrm>
        </p:grpSpPr>
        <p:sp>
          <p:nvSpPr>
            <p:cNvPr id="19" name="Rectangle: Rounded Corners 18">
              <a:extLst>
                <a:ext uri="{FF2B5EF4-FFF2-40B4-BE49-F238E27FC236}">
                  <a16:creationId xmlns:a16="http://schemas.microsoft.com/office/drawing/2014/main" id="{61A1FB06-2971-449C-BE12-C3834072DB9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latin typeface="+mn-lt"/>
              </a:endParaRPr>
            </a:p>
          </p:txBody>
        </p:sp>
        <p:pic>
          <p:nvPicPr>
            <p:cNvPr id="20" name="Graphic 24">
              <a:extLst>
                <a:ext uri="{FF2B5EF4-FFF2-40B4-BE49-F238E27FC236}">
                  <a16:creationId xmlns:a16="http://schemas.microsoft.com/office/drawing/2014/main" id="{08ABD3B6-14ED-4371-A7B8-7D60D76F0123}"/>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954234627"/>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ase study continuation">
    <p:bg>
      <p:bgPr>
        <a:solidFill>
          <a:schemeClr val="bg2">
            <a:alpha val="40000"/>
          </a:schemeClr>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1ADC7FFF-64D4-054B-B83A-FCCD216E7154}"/>
              </a:ext>
            </a:extLst>
          </p:cNvPr>
          <p:cNvSpPr/>
          <p:nvPr/>
        </p:nvSpPr>
        <p:spPr>
          <a:xfrm>
            <a:off x="536419" y="486727"/>
            <a:ext cx="3976688" cy="2057639"/>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15" name="Rounded Rectangle 14">
            <a:extLst>
              <a:ext uri="{FF2B5EF4-FFF2-40B4-BE49-F238E27FC236}">
                <a16:creationId xmlns:a16="http://schemas.microsoft.com/office/drawing/2014/main" id="{9518A8F8-E3DA-BF48-9557-22BE8356F5E8}"/>
              </a:ext>
            </a:extLst>
          </p:cNvPr>
          <p:cNvSpPr/>
          <p:nvPr/>
        </p:nvSpPr>
        <p:spPr>
          <a:xfrm>
            <a:off x="536419" y="2601277"/>
            <a:ext cx="3976688" cy="20574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18" name="Rounded Rectangle 17">
            <a:extLst>
              <a:ext uri="{FF2B5EF4-FFF2-40B4-BE49-F238E27FC236}">
                <a16:creationId xmlns:a16="http://schemas.microsoft.com/office/drawing/2014/main" id="{741C1DAA-C674-5E44-BA02-3C1C16913FF4}"/>
              </a:ext>
            </a:extLst>
          </p:cNvPr>
          <p:cNvSpPr/>
          <p:nvPr/>
        </p:nvSpPr>
        <p:spPr>
          <a:xfrm>
            <a:off x="4591541" y="2601277"/>
            <a:ext cx="3976688" cy="20574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32" name="Text Placeholder 13">
            <a:extLst>
              <a:ext uri="{FF2B5EF4-FFF2-40B4-BE49-F238E27FC236}">
                <a16:creationId xmlns:a16="http://schemas.microsoft.com/office/drawing/2014/main" id="{A5D640D8-F686-C042-81BE-C77EE1652A8F}"/>
              </a:ext>
            </a:extLst>
          </p:cNvPr>
          <p:cNvSpPr>
            <a:spLocks noGrp="1"/>
          </p:cNvSpPr>
          <p:nvPr>
            <p:ph type="body" sz="quarter" idx="22" hasCustomPrompt="1"/>
          </p:nvPr>
        </p:nvSpPr>
        <p:spPr>
          <a:xfrm>
            <a:off x="630548" y="1111172"/>
            <a:ext cx="3798587" cy="415498"/>
          </a:xfrm>
          <a:prstGeom prst="rect">
            <a:avLst/>
          </a:prstGeom>
        </p:spPr>
        <p:txBody>
          <a:bodyPr anchor="t">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3" name="Text Placeholder 13">
            <a:extLst>
              <a:ext uri="{FF2B5EF4-FFF2-40B4-BE49-F238E27FC236}">
                <a16:creationId xmlns:a16="http://schemas.microsoft.com/office/drawing/2014/main" id="{82BD860B-B439-8942-977F-6323060861B4}"/>
              </a:ext>
            </a:extLst>
          </p:cNvPr>
          <p:cNvSpPr>
            <a:spLocks noGrp="1"/>
          </p:cNvSpPr>
          <p:nvPr>
            <p:ph type="body" sz="quarter" idx="23" hasCustomPrompt="1"/>
          </p:nvPr>
        </p:nvSpPr>
        <p:spPr>
          <a:xfrm>
            <a:off x="630548" y="3231634"/>
            <a:ext cx="3798587" cy="415498"/>
          </a:xfrm>
          <a:prstGeom prst="rect">
            <a:avLst/>
          </a:prstGeom>
        </p:spPr>
        <p:txBody>
          <a:bodyPr anchor="t">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4" name="Text Placeholder 13">
            <a:extLst>
              <a:ext uri="{FF2B5EF4-FFF2-40B4-BE49-F238E27FC236}">
                <a16:creationId xmlns:a16="http://schemas.microsoft.com/office/drawing/2014/main" id="{93AB9F4F-57DE-4942-8FFC-B506FA460B1B}"/>
              </a:ext>
            </a:extLst>
          </p:cNvPr>
          <p:cNvSpPr>
            <a:spLocks noGrp="1"/>
          </p:cNvSpPr>
          <p:nvPr>
            <p:ph type="body" sz="quarter" idx="24" hasCustomPrompt="1"/>
          </p:nvPr>
        </p:nvSpPr>
        <p:spPr>
          <a:xfrm>
            <a:off x="4685670" y="3231634"/>
            <a:ext cx="3798587" cy="415498"/>
          </a:xfrm>
          <a:prstGeom prst="rect">
            <a:avLst/>
          </a:prstGeom>
        </p:spPr>
        <p:txBody>
          <a:bodyPr anchor="t">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4591541" y="486966"/>
            <a:ext cx="3976688" cy="2057400"/>
          </a:xfrm>
          <a:prstGeom prst="roundRect">
            <a:avLst>
              <a:gd name="adj" fmla="val 3541"/>
            </a:avLst>
          </a:prstGeom>
          <a:solidFill>
            <a:schemeClr val="bg1"/>
          </a:solidFill>
        </p:spPr>
        <p:txBody>
          <a:bodyPr/>
          <a:lstStyle>
            <a:lvl1pPr marL="0" indent="0">
              <a:lnSpc>
                <a:spcPct val="100000"/>
              </a:lnSpc>
              <a:buFont typeface="Arial" panose="020B0604020202020204" pitchFamily="34" charset="0"/>
              <a:buNone/>
              <a:defRPr sz="1200">
                <a:latin typeface="+mn-lt"/>
              </a:defRPr>
            </a:lvl1pPr>
          </a:lstStyle>
          <a:p>
            <a:r>
              <a:rPr lang="en-US"/>
              <a:t>Insert Picture / Architecture</a:t>
            </a: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630548" y="573335"/>
            <a:ext cx="3798587"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1</a:t>
            </a:r>
          </a:p>
        </p:txBody>
      </p:sp>
      <p:sp>
        <p:nvSpPr>
          <p:cNvPr id="22" name="Text Placeholder 3">
            <a:extLst>
              <a:ext uri="{FF2B5EF4-FFF2-40B4-BE49-F238E27FC236}">
                <a16:creationId xmlns:a16="http://schemas.microsoft.com/office/drawing/2014/main" id="{BB3941A8-BFDA-994C-8AF2-7C35E145566F}"/>
              </a:ext>
            </a:extLst>
          </p:cNvPr>
          <p:cNvSpPr>
            <a:spLocks noGrp="1"/>
          </p:cNvSpPr>
          <p:nvPr>
            <p:ph type="body" sz="half" idx="19" hasCustomPrompt="1"/>
          </p:nvPr>
        </p:nvSpPr>
        <p:spPr>
          <a:xfrm>
            <a:off x="630548" y="2697102"/>
            <a:ext cx="3798587"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2</a:t>
            </a:r>
          </a:p>
        </p:txBody>
      </p:sp>
      <p:sp>
        <p:nvSpPr>
          <p:cNvPr id="31" name="Text Placeholder 3">
            <a:extLst>
              <a:ext uri="{FF2B5EF4-FFF2-40B4-BE49-F238E27FC236}">
                <a16:creationId xmlns:a16="http://schemas.microsoft.com/office/drawing/2014/main" id="{F28D07AB-DC67-684B-B587-A42D95B261D7}"/>
              </a:ext>
            </a:extLst>
          </p:cNvPr>
          <p:cNvSpPr>
            <a:spLocks noGrp="1"/>
          </p:cNvSpPr>
          <p:nvPr>
            <p:ph type="body" sz="half" idx="21" hasCustomPrompt="1"/>
          </p:nvPr>
        </p:nvSpPr>
        <p:spPr>
          <a:xfrm>
            <a:off x="4685670" y="2697102"/>
            <a:ext cx="3798587"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3</a:t>
            </a:r>
          </a:p>
        </p:txBody>
      </p:sp>
    </p:spTree>
    <p:extLst>
      <p:ext uri="{BB962C8B-B14F-4D97-AF65-F5344CB8AC3E}">
        <p14:creationId xmlns:p14="http://schemas.microsoft.com/office/powerpoint/2010/main" val="4066760465"/>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ase study blank">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8B8B1CD-FDA0-4656-842E-5BC6BE592A2B}"/>
              </a:ext>
            </a:extLst>
          </p:cNvPr>
          <p:cNvSpPr>
            <a:spLocks noGrp="1"/>
          </p:cNvSpPr>
          <p:nvPr>
            <p:ph type="title"/>
          </p:nvPr>
        </p:nvSpPr>
        <p:spPr>
          <a:xfrm>
            <a:off x="1196340" y="384228"/>
            <a:ext cx="7434142" cy="392415"/>
          </a:xfrm>
          <a:prstGeom prst="rect">
            <a:avLst/>
          </a:prstGeom>
        </p:spPr>
        <p:txBody>
          <a:bodyPr wrap="square" anchor="ctr">
            <a:spAutoFit/>
          </a:bodyPr>
          <a:lstStyle>
            <a:lvl1pPr>
              <a:lnSpc>
                <a:spcPct val="100000"/>
              </a:lnSpc>
              <a:defRPr lang="en-IN" sz="19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grpSp>
        <p:nvGrpSpPr>
          <p:cNvPr id="7" name="Group 6">
            <a:extLst>
              <a:ext uri="{FF2B5EF4-FFF2-40B4-BE49-F238E27FC236}">
                <a16:creationId xmlns:a16="http://schemas.microsoft.com/office/drawing/2014/main" id="{E1FCAE3B-8C74-4DFB-B8E8-0A8A42F5508D}"/>
              </a:ext>
            </a:extLst>
          </p:cNvPr>
          <p:cNvGrpSpPr/>
          <p:nvPr/>
        </p:nvGrpSpPr>
        <p:grpSpPr>
          <a:xfrm>
            <a:off x="538082" y="311354"/>
            <a:ext cx="597890" cy="538163"/>
            <a:chOff x="644873" y="545729"/>
            <a:chExt cx="797186" cy="717551"/>
          </a:xfrm>
        </p:grpSpPr>
        <p:sp>
          <p:nvSpPr>
            <p:cNvPr id="8" name="Rectangle: Rounded Corners 7">
              <a:extLst>
                <a:ext uri="{FF2B5EF4-FFF2-40B4-BE49-F238E27FC236}">
                  <a16:creationId xmlns:a16="http://schemas.microsoft.com/office/drawing/2014/main" id="{FC41C30E-7AAD-46DD-9E01-3D7B0ED290A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latin typeface="+mn-lt"/>
              </a:endParaRPr>
            </a:p>
          </p:txBody>
        </p:sp>
        <p:pic>
          <p:nvPicPr>
            <p:cNvPr id="9" name="Graphic 24">
              <a:extLst>
                <a:ext uri="{FF2B5EF4-FFF2-40B4-BE49-F238E27FC236}">
                  <a16:creationId xmlns:a16="http://schemas.microsoft.com/office/drawing/2014/main" id="{B051F9DC-86F3-42DD-8409-02013402BF3F}"/>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2175959843"/>
      </p:ext>
    </p:extLst>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Engagement Model">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8">
            <a:extLst>
              <a:ext uri="{FF2B5EF4-FFF2-40B4-BE49-F238E27FC236}">
                <a16:creationId xmlns:a16="http://schemas.microsoft.com/office/drawing/2014/main" id="{FAF27359-B05D-4355-8F09-EC1B22D472EA}"/>
              </a:ext>
            </a:extLst>
          </p:cNvPr>
          <p:cNvSpPr/>
          <p:nvPr/>
        </p:nvSpPr>
        <p:spPr>
          <a:xfrm>
            <a:off x="550533" y="1006079"/>
            <a:ext cx="8044589" cy="3654028"/>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pic>
        <p:nvPicPr>
          <p:cNvPr id="10" name="Picture 8" descr="pasted-image.pdf">
            <a:extLst>
              <a:ext uri="{FF2B5EF4-FFF2-40B4-BE49-F238E27FC236}">
                <a16:creationId xmlns:a16="http://schemas.microsoft.com/office/drawing/2014/main" id="{847C4804-25FF-4E4D-A750-2866A85069C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0454" y="1195846"/>
            <a:ext cx="918965" cy="193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7">
            <a:extLst>
              <a:ext uri="{FF2B5EF4-FFF2-40B4-BE49-F238E27FC236}">
                <a16:creationId xmlns:a16="http://schemas.microsoft.com/office/drawing/2014/main" id="{3F7EBD02-0E9E-4C16-A191-F287F79CA41D}"/>
              </a:ext>
            </a:extLst>
          </p:cNvPr>
          <p:cNvSpPr>
            <a:spLocks noGrp="1"/>
          </p:cNvSpPr>
          <p:nvPr>
            <p:ph type="body" sz="quarter" idx="11" hasCustomPrompt="1"/>
          </p:nvPr>
        </p:nvSpPr>
        <p:spPr>
          <a:xfrm>
            <a:off x="4927013" y="1195846"/>
            <a:ext cx="1062887" cy="507831"/>
          </a:xfrm>
          <a:prstGeom prst="rect">
            <a:avLst/>
          </a:prstGeom>
        </p:spPr>
        <p:txBody>
          <a:bodyPr wrap="square">
            <a:spAutoFit/>
          </a:bodyPr>
          <a:lstStyle>
            <a:lvl1pPr marL="0" indent="0">
              <a:lnSpc>
                <a:spcPct val="100000"/>
              </a:lnSpc>
              <a:buNone/>
              <a:defRPr sz="1350"/>
            </a:lvl1pPr>
            <a:lvl5pPr marL="1371600" indent="0">
              <a:buNone/>
              <a:defRPr sz="825"/>
            </a:lvl5pPr>
          </a:lstStyle>
          <a:p>
            <a:pPr lvl="0"/>
            <a:r>
              <a:rPr lang="en-US"/>
              <a:t>Client Logo</a:t>
            </a:r>
          </a:p>
        </p:txBody>
      </p:sp>
      <p:sp>
        <p:nvSpPr>
          <p:cNvPr id="9" name="Title 1">
            <a:extLst>
              <a:ext uri="{FF2B5EF4-FFF2-40B4-BE49-F238E27FC236}">
                <a16:creationId xmlns:a16="http://schemas.microsoft.com/office/drawing/2014/main" id="{78E77AAB-E79E-4F03-BA3D-B669B5E75A5A}"/>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457955405"/>
      </p:ext>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eam profile - 4 picture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700A166-0BD3-47A9-A0E9-AE7D1F956088}"/>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11" name="Text Placeholder 2">
            <a:extLst>
              <a:ext uri="{FF2B5EF4-FFF2-40B4-BE49-F238E27FC236}">
                <a16:creationId xmlns:a16="http://schemas.microsoft.com/office/drawing/2014/main" id="{910495AC-282D-4204-9498-121084FBA8B9}"/>
              </a:ext>
            </a:extLst>
          </p:cNvPr>
          <p:cNvSpPr>
            <a:spLocks noGrp="1"/>
          </p:cNvSpPr>
          <p:nvPr>
            <p:ph type="body" sz="quarter" idx="13" hasCustomPrompt="1"/>
          </p:nvPr>
        </p:nvSpPr>
        <p:spPr>
          <a:xfrm>
            <a:off x="453600" y="3240420"/>
            <a:ext cx="1603800" cy="276999"/>
          </a:xfrm>
          <a:prstGeom prst="rect">
            <a:avLst/>
          </a:prstGeom>
        </p:spPr>
        <p:txBody>
          <a:bodyPr anchor="b">
            <a:spAutoFit/>
          </a:bodyPr>
          <a:lstStyle>
            <a:lvl1pPr marL="0" indent="0" algn="l">
              <a:lnSpc>
                <a:spcPct val="100000"/>
              </a:lnSpc>
              <a:buNone/>
              <a:defRPr sz="120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Name</a:t>
            </a:r>
            <a:endParaRPr lang="en-US"/>
          </a:p>
        </p:txBody>
      </p:sp>
      <p:sp>
        <p:nvSpPr>
          <p:cNvPr id="12" name="Text Placeholder 2">
            <a:extLst>
              <a:ext uri="{FF2B5EF4-FFF2-40B4-BE49-F238E27FC236}">
                <a16:creationId xmlns:a16="http://schemas.microsoft.com/office/drawing/2014/main" id="{575F9165-A1E1-4467-90AB-8B52D75ABAC1}"/>
              </a:ext>
            </a:extLst>
          </p:cNvPr>
          <p:cNvSpPr>
            <a:spLocks noGrp="1"/>
          </p:cNvSpPr>
          <p:nvPr>
            <p:ph type="body" sz="quarter" idx="15" hasCustomPrompt="1"/>
          </p:nvPr>
        </p:nvSpPr>
        <p:spPr>
          <a:xfrm>
            <a:off x="453600" y="3598627"/>
            <a:ext cx="1603800" cy="276999"/>
          </a:xfrm>
          <a:prstGeom prst="rect">
            <a:avLst/>
          </a:prstGeom>
        </p:spPr>
        <p:txBody>
          <a:bodyPr anchor="t">
            <a:spAutoFit/>
          </a:bodyPr>
          <a:lstStyle>
            <a:lvl1pPr marL="0" indent="0" algn="l">
              <a:lnSpc>
                <a:spcPct val="100000"/>
              </a:lnSpc>
              <a:buNone/>
              <a:defRPr sz="1200" b="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Designation</a:t>
            </a:r>
            <a:endParaRPr lang="en-US"/>
          </a:p>
        </p:txBody>
      </p:sp>
      <p:sp>
        <p:nvSpPr>
          <p:cNvPr id="13" name="Text Placeholder 2">
            <a:extLst>
              <a:ext uri="{FF2B5EF4-FFF2-40B4-BE49-F238E27FC236}">
                <a16:creationId xmlns:a16="http://schemas.microsoft.com/office/drawing/2014/main" id="{8973D04A-22DF-4D73-A661-04A169E546A7}"/>
              </a:ext>
            </a:extLst>
          </p:cNvPr>
          <p:cNvSpPr>
            <a:spLocks noGrp="1"/>
          </p:cNvSpPr>
          <p:nvPr>
            <p:ph type="body" sz="quarter" idx="16" hasCustomPrompt="1"/>
          </p:nvPr>
        </p:nvSpPr>
        <p:spPr>
          <a:xfrm>
            <a:off x="2629800" y="3240420"/>
            <a:ext cx="1603800" cy="276999"/>
          </a:xfrm>
          <a:prstGeom prst="rect">
            <a:avLst/>
          </a:prstGeom>
        </p:spPr>
        <p:txBody>
          <a:bodyPr anchor="b">
            <a:spAutoFit/>
          </a:bodyPr>
          <a:lstStyle>
            <a:lvl1pPr marL="0" indent="0" algn="l">
              <a:lnSpc>
                <a:spcPct val="100000"/>
              </a:lnSpc>
              <a:buNone/>
              <a:defRPr sz="120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Name</a:t>
            </a:r>
            <a:endParaRPr lang="en-US"/>
          </a:p>
        </p:txBody>
      </p:sp>
      <p:sp>
        <p:nvSpPr>
          <p:cNvPr id="15" name="Text Placeholder 2">
            <a:extLst>
              <a:ext uri="{FF2B5EF4-FFF2-40B4-BE49-F238E27FC236}">
                <a16:creationId xmlns:a16="http://schemas.microsoft.com/office/drawing/2014/main" id="{9F4A8D6C-5106-480D-8F98-7C4599774806}"/>
              </a:ext>
            </a:extLst>
          </p:cNvPr>
          <p:cNvSpPr>
            <a:spLocks noGrp="1"/>
          </p:cNvSpPr>
          <p:nvPr>
            <p:ph type="body" sz="quarter" idx="17" hasCustomPrompt="1"/>
          </p:nvPr>
        </p:nvSpPr>
        <p:spPr>
          <a:xfrm>
            <a:off x="2629800" y="3598627"/>
            <a:ext cx="1603800" cy="276999"/>
          </a:xfrm>
          <a:prstGeom prst="rect">
            <a:avLst/>
          </a:prstGeom>
        </p:spPr>
        <p:txBody>
          <a:bodyPr anchor="t">
            <a:spAutoFit/>
          </a:bodyPr>
          <a:lstStyle>
            <a:lvl1pPr marL="0" indent="0" algn="l">
              <a:lnSpc>
                <a:spcPct val="100000"/>
              </a:lnSpc>
              <a:buNone/>
              <a:defRPr sz="1200" b="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Designation</a:t>
            </a:r>
            <a:endParaRPr lang="en-US"/>
          </a:p>
        </p:txBody>
      </p:sp>
      <p:sp>
        <p:nvSpPr>
          <p:cNvPr id="16" name="Text Placeholder 2">
            <a:extLst>
              <a:ext uri="{FF2B5EF4-FFF2-40B4-BE49-F238E27FC236}">
                <a16:creationId xmlns:a16="http://schemas.microsoft.com/office/drawing/2014/main" id="{69EEA2FF-9BB2-4F6B-9BB5-5EAE344BDA6C}"/>
              </a:ext>
            </a:extLst>
          </p:cNvPr>
          <p:cNvSpPr>
            <a:spLocks noGrp="1"/>
          </p:cNvSpPr>
          <p:nvPr>
            <p:ph type="body" sz="quarter" idx="18" hasCustomPrompt="1"/>
          </p:nvPr>
        </p:nvSpPr>
        <p:spPr>
          <a:xfrm>
            <a:off x="4806000" y="3240420"/>
            <a:ext cx="1603800" cy="276999"/>
          </a:xfrm>
          <a:prstGeom prst="rect">
            <a:avLst/>
          </a:prstGeom>
        </p:spPr>
        <p:txBody>
          <a:bodyPr anchor="b">
            <a:spAutoFit/>
          </a:bodyPr>
          <a:lstStyle>
            <a:lvl1pPr marL="0" indent="0" algn="l">
              <a:lnSpc>
                <a:spcPct val="100000"/>
              </a:lnSpc>
              <a:buNone/>
              <a:defRPr sz="120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Name</a:t>
            </a:r>
            <a:endParaRPr lang="en-US"/>
          </a:p>
        </p:txBody>
      </p:sp>
      <p:sp>
        <p:nvSpPr>
          <p:cNvPr id="17" name="Text Placeholder 2">
            <a:extLst>
              <a:ext uri="{FF2B5EF4-FFF2-40B4-BE49-F238E27FC236}">
                <a16:creationId xmlns:a16="http://schemas.microsoft.com/office/drawing/2014/main" id="{61EE2008-2F92-4E81-83EB-843A870920A7}"/>
              </a:ext>
            </a:extLst>
          </p:cNvPr>
          <p:cNvSpPr>
            <a:spLocks noGrp="1"/>
          </p:cNvSpPr>
          <p:nvPr>
            <p:ph type="body" sz="quarter" idx="19" hasCustomPrompt="1"/>
          </p:nvPr>
        </p:nvSpPr>
        <p:spPr>
          <a:xfrm>
            <a:off x="4806000" y="3598627"/>
            <a:ext cx="1603800" cy="276999"/>
          </a:xfrm>
          <a:prstGeom prst="rect">
            <a:avLst/>
          </a:prstGeom>
        </p:spPr>
        <p:txBody>
          <a:bodyPr anchor="t">
            <a:spAutoFit/>
          </a:bodyPr>
          <a:lstStyle>
            <a:lvl1pPr marL="0" indent="0" algn="l">
              <a:lnSpc>
                <a:spcPct val="100000"/>
              </a:lnSpc>
              <a:buNone/>
              <a:defRPr sz="1200" b="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Designation</a:t>
            </a:r>
            <a:endParaRPr lang="en-US"/>
          </a:p>
        </p:txBody>
      </p:sp>
      <p:sp>
        <p:nvSpPr>
          <p:cNvPr id="18" name="Text Placeholder 2">
            <a:extLst>
              <a:ext uri="{FF2B5EF4-FFF2-40B4-BE49-F238E27FC236}">
                <a16:creationId xmlns:a16="http://schemas.microsoft.com/office/drawing/2014/main" id="{E1BC066D-D49E-490B-91B0-8BFBD1493881}"/>
              </a:ext>
            </a:extLst>
          </p:cNvPr>
          <p:cNvSpPr>
            <a:spLocks noGrp="1"/>
          </p:cNvSpPr>
          <p:nvPr>
            <p:ph type="body" sz="quarter" idx="20" hasCustomPrompt="1"/>
          </p:nvPr>
        </p:nvSpPr>
        <p:spPr>
          <a:xfrm>
            <a:off x="6982200" y="3240420"/>
            <a:ext cx="1603800" cy="276999"/>
          </a:xfrm>
          <a:prstGeom prst="rect">
            <a:avLst/>
          </a:prstGeom>
        </p:spPr>
        <p:txBody>
          <a:bodyPr anchor="b">
            <a:spAutoFit/>
          </a:bodyPr>
          <a:lstStyle>
            <a:lvl1pPr marL="0" indent="0" algn="l">
              <a:lnSpc>
                <a:spcPct val="100000"/>
              </a:lnSpc>
              <a:buNone/>
              <a:defRPr sz="120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Name</a:t>
            </a:r>
            <a:endParaRPr lang="en-US"/>
          </a:p>
        </p:txBody>
      </p:sp>
      <p:sp>
        <p:nvSpPr>
          <p:cNvPr id="19" name="Text Placeholder 2">
            <a:extLst>
              <a:ext uri="{FF2B5EF4-FFF2-40B4-BE49-F238E27FC236}">
                <a16:creationId xmlns:a16="http://schemas.microsoft.com/office/drawing/2014/main" id="{856E1F5E-5F64-4E8A-BF08-F6A1BCB0695C}"/>
              </a:ext>
            </a:extLst>
          </p:cNvPr>
          <p:cNvSpPr>
            <a:spLocks noGrp="1"/>
          </p:cNvSpPr>
          <p:nvPr>
            <p:ph type="body" sz="quarter" idx="21" hasCustomPrompt="1"/>
          </p:nvPr>
        </p:nvSpPr>
        <p:spPr>
          <a:xfrm>
            <a:off x="6982200" y="3598627"/>
            <a:ext cx="1603800" cy="276999"/>
          </a:xfrm>
          <a:prstGeom prst="rect">
            <a:avLst/>
          </a:prstGeom>
        </p:spPr>
        <p:txBody>
          <a:bodyPr anchor="t">
            <a:spAutoFit/>
          </a:bodyPr>
          <a:lstStyle>
            <a:lvl1pPr marL="0" indent="0" algn="l">
              <a:lnSpc>
                <a:spcPct val="100000"/>
              </a:lnSpc>
              <a:buNone/>
              <a:defRPr sz="1200" b="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Designation</a:t>
            </a:r>
            <a:endParaRPr lang="en-US"/>
          </a:p>
        </p:txBody>
      </p:sp>
      <p:sp>
        <p:nvSpPr>
          <p:cNvPr id="32" name="Picture Placeholder 12">
            <a:extLst>
              <a:ext uri="{FF2B5EF4-FFF2-40B4-BE49-F238E27FC236}">
                <a16:creationId xmlns:a16="http://schemas.microsoft.com/office/drawing/2014/main" id="{CBFB457F-60E3-43EF-B593-882BACB2F310}"/>
              </a:ext>
            </a:extLst>
          </p:cNvPr>
          <p:cNvSpPr>
            <a:spLocks noGrp="1"/>
          </p:cNvSpPr>
          <p:nvPr>
            <p:ph type="pic" sz="quarter" idx="26" hasCustomPrompt="1"/>
          </p:nvPr>
        </p:nvSpPr>
        <p:spPr>
          <a:xfrm>
            <a:off x="675666"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
        <p:nvSpPr>
          <p:cNvPr id="33" name="Picture Placeholder 12">
            <a:extLst>
              <a:ext uri="{FF2B5EF4-FFF2-40B4-BE49-F238E27FC236}">
                <a16:creationId xmlns:a16="http://schemas.microsoft.com/office/drawing/2014/main" id="{B84A6687-418A-46AE-B213-7D943209C6F8}"/>
              </a:ext>
            </a:extLst>
          </p:cNvPr>
          <p:cNvSpPr>
            <a:spLocks noGrp="1"/>
          </p:cNvSpPr>
          <p:nvPr>
            <p:ph type="pic" sz="quarter" idx="27" hasCustomPrompt="1"/>
          </p:nvPr>
        </p:nvSpPr>
        <p:spPr>
          <a:xfrm>
            <a:off x="2851200"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
        <p:nvSpPr>
          <p:cNvPr id="34" name="Picture Placeholder 12">
            <a:extLst>
              <a:ext uri="{FF2B5EF4-FFF2-40B4-BE49-F238E27FC236}">
                <a16:creationId xmlns:a16="http://schemas.microsoft.com/office/drawing/2014/main" id="{8B6C4EAA-626F-4A76-AD74-FA19C19D0B35}"/>
              </a:ext>
            </a:extLst>
          </p:cNvPr>
          <p:cNvSpPr>
            <a:spLocks noGrp="1"/>
          </p:cNvSpPr>
          <p:nvPr>
            <p:ph type="pic" sz="quarter" idx="28" hasCustomPrompt="1"/>
          </p:nvPr>
        </p:nvSpPr>
        <p:spPr>
          <a:xfrm>
            <a:off x="5027400"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
        <p:nvSpPr>
          <p:cNvPr id="35" name="Picture Placeholder 12">
            <a:extLst>
              <a:ext uri="{FF2B5EF4-FFF2-40B4-BE49-F238E27FC236}">
                <a16:creationId xmlns:a16="http://schemas.microsoft.com/office/drawing/2014/main" id="{04E769F0-5E4B-4E9B-AAC2-EFA27CC86476}"/>
              </a:ext>
            </a:extLst>
          </p:cNvPr>
          <p:cNvSpPr>
            <a:spLocks noGrp="1"/>
          </p:cNvSpPr>
          <p:nvPr>
            <p:ph type="pic" sz="quarter" idx="29" hasCustomPrompt="1"/>
          </p:nvPr>
        </p:nvSpPr>
        <p:spPr>
          <a:xfrm>
            <a:off x="7203600"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Tree>
    <p:extLst>
      <p:ext uri="{BB962C8B-B14F-4D97-AF65-F5344CB8AC3E}">
        <p14:creationId xmlns:p14="http://schemas.microsoft.com/office/powerpoint/2010/main" val="656556040"/>
      </p:ext>
    </p:extLst>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eam profile - Individual">
    <p:bg>
      <p:bgPr>
        <a:solidFill>
          <a:schemeClr val="bg2">
            <a:alpha val="40000"/>
          </a:schemeClr>
        </a:solidFill>
        <a:effectLst/>
      </p:bgPr>
    </p:bg>
    <p:spTree>
      <p:nvGrpSpPr>
        <p:cNvPr id="1" name=""/>
        <p:cNvGrpSpPr/>
        <p:nvPr/>
      </p:nvGrpSpPr>
      <p:grpSpPr>
        <a:xfrm>
          <a:off x="0" y="0"/>
          <a:ext cx="0" cy="0"/>
          <a:chOff x="0" y="0"/>
          <a:chExt cx="0" cy="0"/>
        </a:xfrm>
      </p:grpSpPr>
      <p:sp>
        <p:nvSpPr>
          <p:cNvPr id="38" name="Text Placeholder 3">
            <a:extLst>
              <a:ext uri="{FF2B5EF4-FFF2-40B4-BE49-F238E27FC236}">
                <a16:creationId xmlns:a16="http://schemas.microsoft.com/office/drawing/2014/main" id="{824FF929-799B-CC42-AD0A-50DE7C50166F}"/>
              </a:ext>
            </a:extLst>
          </p:cNvPr>
          <p:cNvSpPr>
            <a:spLocks noGrp="1"/>
          </p:cNvSpPr>
          <p:nvPr>
            <p:ph type="body" sz="half" idx="25" hasCustomPrompt="1"/>
          </p:nvPr>
        </p:nvSpPr>
        <p:spPr>
          <a:xfrm>
            <a:off x="456497" y="929343"/>
            <a:ext cx="8146959" cy="392415"/>
          </a:xfrm>
          <a:prstGeom prst="rect">
            <a:avLst/>
          </a:prstGeom>
        </p:spPr>
        <p:txBody>
          <a:bodyPr anchor="t">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Name (Bold) | Designation (Regular)</a:t>
            </a:r>
          </a:p>
        </p:txBody>
      </p:sp>
      <p:sp>
        <p:nvSpPr>
          <p:cNvPr id="20" name="Title 1">
            <a:extLst>
              <a:ext uri="{FF2B5EF4-FFF2-40B4-BE49-F238E27FC236}">
                <a16:creationId xmlns:a16="http://schemas.microsoft.com/office/drawing/2014/main" id="{CCC14BB6-9D64-4D42-8177-26FEBB446B25}"/>
              </a:ext>
            </a:extLst>
          </p:cNvPr>
          <p:cNvSpPr>
            <a:spLocks noGrp="1"/>
          </p:cNvSpPr>
          <p:nvPr>
            <p:ph type="title"/>
          </p:nvPr>
        </p:nvSpPr>
        <p:spPr>
          <a:xfrm>
            <a:off x="454023" y="373999"/>
            <a:ext cx="8141098" cy="577081"/>
          </a:xfrm>
          <a:prstGeom prst="rect">
            <a:avLst/>
          </a:prstGeom>
        </p:spPr>
        <p:txBody>
          <a:bodyPr wrap="square" anchor="t">
            <a:spAutoFit/>
          </a:bodyPr>
          <a:lstStyle>
            <a:lvl1pPr>
              <a:lnSpc>
                <a:spcPct val="100000"/>
              </a:lnSpc>
              <a:defRPr lang="en-IN" sz="31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15" name="Rounded Rectangle 22">
            <a:extLst>
              <a:ext uri="{FF2B5EF4-FFF2-40B4-BE49-F238E27FC236}">
                <a16:creationId xmlns:a16="http://schemas.microsoft.com/office/drawing/2014/main" id="{3B529447-726C-40E4-B6BA-0A911BD533A8}"/>
              </a:ext>
            </a:extLst>
          </p:cNvPr>
          <p:cNvSpPr/>
          <p:nvPr/>
        </p:nvSpPr>
        <p:spPr>
          <a:xfrm>
            <a:off x="2285306" y="1525192"/>
            <a:ext cx="1957500" cy="3134915"/>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14313" marR="0" lvl="0" indent="-214313" algn="ctr" defTabSz="6858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6" name="Text Placeholder 2">
            <a:extLst>
              <a:ext uri="{FF2B5EF4-FFF2-40B4-BE49-F238E27FC236}">
                <a16:creationId xmlns:a16="http://schemas.microsoft.com/office/drawing/2014/main" id="{4989B2EB-AC50-41BF-A86B-8A9FAE74F1B7}"/>
              </a:ext>
            </a:extLst>
          </p:cNvPr>
          <p:cNvSpPr>
            <a:spLocks noGrp="1"/>
          </p:cNvSpPr>
          <p:nvPr>
            <p:ph type="body" sz="quarter" idx="26" hasCustomPrompt="1"/>
          </p:nvPr>
        </p:nvSpPr>
        <p:spPr>
          <a:xfrm>
            <a:off x="2375246" y="1600395"/>
            <a:ext cx="1782000" cy="276999"/>
          </a:xfrm>
          <a:prstGeom prst="rect">
            <a:avLst/>
          </a:prstGeom>
        </p:spPr>
        <p:txBody>
          <a:bodyPr anchor="b">
            <a:spAutoFit/>
          </a:bodyPr>
          <a:lstStyle>
            <a:lvl1pPr marL="0" indent="0" algn="l">
              <a:lnSpc>
                <a:spcPct val="100000"/>
              </a:lnSpc>
              <a:buNone/>
              <a:defRPr sz="1200" b="1">
                <a:solidFill>
                  <a:schemeClr val="tx1"/>
                </a:solidFill>
                <a:latin typeface="+mn-lt"/>
                <a:ea typeface="Open Sans Extrabold" panose="020B0606030504020204" pitchFamily="34" charset="0"/>
                <a:cs typeface="Open Sans Extrabold"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1</a:t>
            </a:r>
            <a:endParaRPr lang="en-US"/>
          </a:p>
        </p:txBody>
      </p:sp>
      <p:sp>
        <p:nvSpPr>
          <p:cNvPr id="17" name="Text Placeholder 2">
            <a:extLst>
              <a:ext uri="{FF2B5EF4-FFF2-40B4-BE49-F238E27FC236}">
                <a16:creationId xmlns:a16="http://schemas.microsoft.com/office/drawing/2014/main" id="{4C1CC606-90DE-4596-91CB-53B9A7B789E2}"/>
              </a:ext>
            </a:extLst>
          </p:cNvPr>
          <p:cNvSpPr>
            <a:spLocks noGrp="1"/>
          </p:cNvSpPr>
          <p:nvPr>
            <p:ph type="body" sz="quarter" idx="36" hasCustomPrompt="1"/>
          </p:nvPr>
        </p:nvSpPr>
        <p:spPr>
          <a:xfrm>
            <a:off x="2375246" y="2058591"/>
            <a:ext cx="1782000" cy="276999"/>
          </a:xfrm>
          <a:prstGeom prst="rect">
            <a:avLst/>
          </a:prstGeom>
        </p:spPr>
        <p:txBody>
          <a:bodyPr anchor="t">
            <a:sp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Text Description</a:t>
            </a:r>
            <a:endParaRPr lang="en-US"/>
          </a:p>
        </p:txBody>
      </p:sp>
      <p:sp>
        <p:nvSpPr>
          <p:cNvPr id="18" name="Rounded Rectangle 40">
            <a:extLst>
              <a:ext uri="{FF2B5EF4-FFF2-40B4-BE49-F238E27FC236}">
                <a16:creationId xmlns:a16="http://schemas.microsoft.com/office/drawing/2014/main" id="{EC8FD91C-0DAF-411D-AD4D-B074FD824683}"/>
              </a:ext>
            </a:extLst>
          </p:cNvPr>
          <p:cNvSpPr/>
          <p:nvPr/>
        </p:nvSpPr>
        <p:spPr>
          <a:xfrm>
            <a:off x="6637622" y="1525192"/>
            <a:ext cx="1957500" cy="3134915"/>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14313" marR="0" lvl="0" indent="-214313" algn="ctr" defTabSz="6858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9" name="Text Placeholder 2">
            <a:extLst>
              <a:ext uri="{FF2B5EF4-FFF2-40B4-BE49-F238E27FC236}">
                <a16:creationId xmlns:a16="http://schemas.microsoft.com/office/drawing/2014/main" id="{1B8A1763-AFD6-46FE-A164-BECAD744ACC3}"/>
              </a:ext>
            </a:extLst>
          </p:cNvPr>
          <p:cNvSpPr>
            <a:spLocks noGrp="1"/>
          </p:cNvSpPr>
          <p:nvPr>
            <p:ph type="body" sz="quarter" idx="37" hasCustomPrompt="1"/>
          </p:nvPr>
        </p:nvSpPr>
        <p:spPr>
          <a:xfrm>
            <a:off x="6727562" y="1600395"/>
            <a:ext cx="1782000" cy="276999"/>
          </a:xfrm>
          <a:prstGeom prst="rect">
            <a:avLst/>
          </a:prstGeom>
        </p:spPr>
        <p:txBody>
          <a:bodyPr anchor="b">
            <a:spAutoFit/>
          </a:bodyPr>
          <a:lstStyle>
            <a:lvl1pPr marL="0" indent="0" algn="l">
              <a:lnSpc>
                <a:spcPct val="100000"/>
              </a:lnSpc>
              <a:buNone/>
              <a:defRPr sz="1200" b="1">
                <a:solidFill>
                  <a:schemeClr val="tx1"/>
                </a:solidFill>
                <a:latin typeface="+mn-lt"/>
                <a:ea typeface="Open Sans Extrabold" panose="020B0606030504020204" pitchFamily="34" charset="0"/>
                <a:cs typeface="Open Sans Extrabold"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3</a:t>
            </a:r>
            <a:endParaRPr lang="en-US"/>
          </a:p>
        </p:txBody>
      </p:sp>
      <p:sp>
        <p:nvSpPr>
          <p:cNvPr id="21" name="Text Placeholder 2">
            <a:extLst>
              <a:ext uri="{FF2B5EF4-FFF2-40B4-BE49-F238E27FC236}">
                <a16:creationId xmlns:a16="http://schemas.microsoft.com/office/drawing/2014/main" id="{B863CDCC-69A3-4812-84D1-A4F5EA461831}"/>
              </a:ext>
            </a:extLst>
          </p:cNvPr>
          <p:cNvSpPr>
            <a:spLocks noGrp="1"/>
          </p:cNvSpPr>
          <p:nvPr>
            <p:ph type="body" sz="quarter" idx="38" hasCustomPrompt="1"/>
          </p:nvPr>
        </p:nvSpPr>
        <p:spPr>
          <a:xfrm>
            <a:off x="6727562" y="2058591"/>
            <a:ext cx="1782000" cy="276999"/>
          </a:xfrm>
          <a:prstGeom prst="rect">
            <a:avLst/>
          </a:prstGeom>
        </p:spPr>
        <p:txBody>
          <a:bodyPr anchor="t">
            <a:sp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Text Description</a:t>
            </a:r>
            <a:endParaRPr lang="en-US"/>
          </a:p>
        </p:txBody>
      </p:sp>
      <p:sp>
        <p:nvSpPr>
          <p:cNvPr id="22" name="Rounded Rectangle 45">
            <a:extLst>
              <a:ext uri="{FF2B5EF4-FFF2-40B4-BE49-F238E27FC236}">
                <a16:creationId xmlns:a16="http://schemas.microsoft.com/office/drawing/2014/main" id="{4E81CAD9-27E6-487A-99E3-9EE1B2201DA6}"/>
              </a:ext>
            </a:extLst>
          </p:cNvPr>
          <p:cNvSpPr/>
          <p:nvPr/>
        </p:nvSpPr>
        <p:spPr>
          <a:xfrm>
            <a:off x="4461464" y="1525192"/>
            <a:ext cx="1957500" cy="3134915"/>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14313" marR="0" lvl="0" indent="-214313" algn="ctr" defTabSz="6858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24" name="Text Placeholder 2">
            <a:extLst>
              <a:ext uri="{FF2B5EF4-FFF2-40B4-BE49-F238E27FC236}">
                <a16:creationId xmlns:a16="http://schemas.microsoft.com/office/drawing/2014/main" id="{419715FF-EF9F-4D12-9905-947EA6639F53}"/>
              </a:ext>
            </a:extLst>
          </p:cNvPr>
          <p:cNvSpPr>
            <a:spLocks noGrp="1"/>
          </p:cNvSpPr>
          <p:nvPr>
            <p:ph type="body" sz="quarter" idx="39" hasCustomPrompt="1"/>
          </p:nvPr>
        </p:nvSpPr>
        <p:spPr>
          <a:xfrm>
            <a:off x="4551404" y="1600395"/>
            <a:ext cx="1782000" cy="276999"/>
          </a:xfrm>
          <a:prstGeom prst="rect">
            <a:avLst/>
          </a:prstGeom>
        </p:spPr>
        <p:txBody>
          <a:bodyPr anchor="b">
            <a:spAutoFit/>
          </a:bodyPr>
          <a:lstStyle>
            <a:lvl1pPr marL="0" indent="0" algn="l">
              <a:lnSpc>
                <a:spcPct val="100000"/>
              </a:lnSpc>
              <a:buNone/>
              <a:defRPr sz="1200" b="1">
                <a:solidFill>
                  <a:schemeClr val="tx1"/>
                </a:solidFill>
                <a:latin typeface="+mn-lt"/>
                <a:ea typeface="Open Sans Extrabold" panose="020B0606030504020204" pitchFamily="34" charset="0"/>
                <a:cs typeface="Open Sans Extrabold"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2</a:t>
            </a:r>
            <a:endParaRPr lang="en-US"/>
          </a:p>
        </p:txBody>
      </p:sp>
      <p:sp>
        <p:nvSpPr>
          <p:cNvPr id="25" name="Text Placeholder 2">
            <a:extLst>
              <a:ext uri="{FF2B5EF4-FFF2-40B4-BE49-F238E27FC236}">
                <a16:creationId xmlns:a16="http://schemas.microsoft.com/office/drawing/2014/main" id="{0DE2BCCD-A7D1-45CC-A565-19E8F5888844}"/>
              </a:ext>
            </a:extLst>
          </p:cNvPr>
          <p:cNvSpPr>
            <a:spLocks noGrp="1"/>
          </p:cNvSpPr>
          <p:nvPr>
            <p:ph type="body" sz="quarter" idx="40" hasCustomPrompt="1"/>
          </p:nvPr>
        </p:nvSpPr>
        <p:spPr>
          <a:xfrm>
            <a:off x="4551404" y="2058591"/>
            <a:ext cx="1782000" cy="276999"/>
          </a:xfrm>
          <a:prstGeom prst="rect">
            <a:avLst/>
          </a:prstGeom>
        </p:spPr>
        <p:txBody>
          <a:bodyPr anchor="t">
            <a:sp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Text Description</a:t>
            </a:r>
            <a:endParaRPr lang="en-US"/>
          </a:p>
        </p:txBody>
      </p:sp>
      <p:sp>
        <p:nvSpPr>
          <p:cNvPr id="23" name="Picture Placeholder 12">
            <a:extLst>
              <a:ext uri="{FF2B5EF4-FFF2-40B4-BE49-F238E27FC236}">
                <a16:creationId xmlns:a16="http://schemas.microsoft.com/office/drawing/2014/main" id="{397B0893-417B-4DE0-B1BD-2B1BD471F523}"/>
              </a:ext>
            </a:extLst>
          </p:cNvPr>
          <p:cNvSpPr>
            <a:spLocks noGrp="1"/>
          </p:cNvSpPr>
          <p:nvPr>
            <p:ph type="pic" sz="quarter" idx="41" hasCustomPrompt="1"/>
          </p:nvPr>
        </p:nvSpPr>
        <p:spPr>
          <a:xfrm>
            <a:off x="675666"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Tree>
    <p:extLst>
      <p:ext uri="{BB962C8B-B14F-4D97-AF65-F5344CB8AC3E}">
        <p14:creationId xmlns:p14="http://schemas.microsoft.com/office/powerpoint/2010/main" val="1742767418"/>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 KPI + Chart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533399" y="476902"/>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KPI Title in maximum two lines (Delete unused arrow)</a:t>
            </a:r>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893584" y="1044189"/>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533398" y="1529858"/>
            <a:ext cx="8061724" cy="3130248"/>
          </a:xfrm>
          <a:prstGeom prst="roundRect">
            <a:avLst>
              <a:gd name="adj" fmla="val 246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2870598" y="476902"/>
            <a:ext cx="5730475" cy="999473"/>
          </a:xfrm>
          <a:prstGeom prst="roundRect">
            <a:avLst>
              <a:gd name="adj" fmla="val 7772"/>
            </a:avLst>
          </a:prstGeom>
          <a:solidFill>
            <a:schemeClr val="bg1">
              <a:lumMod val="85000"/>
            </a:schemeClr>
          </a:solidFill>
        </p:spPr>
        <p:txBody>
          <a:bodyPr wrap="square" anchor="ctr">
            <a:noAutofit/>
          </a:bodyPr>
          <a:lstStyle>
            <a:lvl1pPr marL="10800" indent="0" algn="l">
              <a:lnSpc>
                <a:spcPct val="100000"/>
              </a:lnSpc>
              <a:spcBef>
                <a:spcPts val="0"/>
              </a:spcBef>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two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703831" y="1097462"/>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703831" y="1237573"/>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Tree>
    <p:extLst>
      <p:ext uri="{BB962C8B-B14F-4D97-AF65-F5344CB8AC3E}">
        <p14:creationId xmlns:p14="http://schemas.microsoft.com/office/powerpoint/2010/main" val="3057960014"/>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 KPI + Chart + Table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533399" y="476902"/>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KPI Title in maximum two lines (Delete unused arrow)</a:t>
            </a:r>
          </a:p>
          <a:p>
            <a:pPr lvl="0"/>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893584" y="1044189"/>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533399" y="1529858"/>
            <a:ext cx="4001400" cy="3130248"/>
          </a:xfrm>
          <a:prstGeom prst="roundRect">
            <a:avLst>
              <a:gd name="adj" fmla="val 246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19" name="Text Placeholder 2">
            <a:extLst>
              <a:ext uri="{FF2B5EF4-FFF2-40B4-BE49-F238E27FC236}">
                <a16:creationId xmlns:a16="http://schemas.microsoft.com/office/drawing/2014/main" id="{5B436396-7387-4332-BF8F-0A614F03B93A}"/>
              </a:ext>
            </a:extLst>
          </p:cNvPr>
          <p:cNvSpPr>
            <a:spLocks noGrp="1"/>
          </p:cNvSpPr>
          <p:nvPr>
            <p:ph type="body" sz="quarter" idx="33" hasCustomPrompt="1"/>
          </p:nvPr>
        </p:nvSpPr>
        <p:spPr>
          <a:xfrm>
            <a:off x="4599672" y="1529858"/>
            <a:ext cx="4001400" cy="3130248"/>
          </a:xfrm>
          <a:prstGeom prst="roundRect">
            <a:avLst>
              <a:gd name="adj" fmla="val 317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Insert Table</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2870598" y="476902"/>
            <a:ext cx="5730475" cy="999473"/>
          </a:xfrm>
          <a:prstGeom prst="roundRect">
            <a:avLst>
              <a:gd name="adj" fmla="val 7772"/>
            </a:avLst>
          </a:prstGeom>
          <a:solidFill>
            <a:schemeClr val="bg1">
              <a:lumMod val="85000"/>
            </a:schemeClr>
          </a:solidFill>
        </p:spPr>
        <p:txBody>
          <a:bodyPr wrap="square" anchor="ctr">
            <a:noAutofit/>
          </a:bodyPr>
          <a:lstStyle>
            <a:lvl1pPr marL="10800" indent="0" algn="l">
              <a:lnSpc>
                <a:spcPct val="100000"/>
              </a:lnSpc>
              <a:spcBef>
                <a:spcPts val="0"/>
              </a:spcBef>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three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703831" y="1097462"/>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703831" y="1237573"/>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Tree>
    <p:extLst>
      <p:ext uri="{BB962C8B-B14F-4D97-AF65-F5344CB8AC3E}">
        <p14:creationId xmlns:p14="http://schemas.microsoft.com/office/powerpoint/2010/main" val="3698930723"/>
      </p:ext>
    </p:extLst>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2KPIs + Insight + chart">
    <p:bg>
      <p:bgPr>
        <a:solidFill>
          <a:schemeClr val="bg2">
            <a:alpha val="40000"/>
          </a:schemeClr>
        </a:solidFill>
        <a:effectLst/>
      </p:bgPr>
    </p:bg>
    <p:spTree>
      <p:nvGrpSpPr>
        <p:cNvPr id="1" name=""/>
        <p:cNvGrpSpPr/>
        <p:nvPr/>
      </p:nvGrpSpPr>
      <p:grpSpPr>
        <a:xfrm>
          <a:off x="0" y="0"/>
          <a:ext cx="0" cy="0"/>
          <a:chOff x="0" y="0"/>
          <a:chExt cx="0" cy="0"/>
        </a:xfrm>
      </p:grpSpPr>
      <p:sp>
        <p:nvSpPr>
          <p:cNvPr id="29" name="Text Placeholder 2">
            <a:extLst>
              <a:ext uri="{FF2B5EF4-FFF2-40B4-BE49-F238E27FC236}">
                <a16:creationId xmlns:a16="http://schemas.microsoft.com/office/drawing/2014/main" id="{9AC613AD-8235-4A79-9642-52D062C164AA}"/>
              </a:ext>
            </a:extLst>
          </p:cNvPr>
          <p:cNvSpPr>
            <a:spLocks noGrp="1"/>
          </p:cNvSpPr>
          <p:nvPr>
            <p:ph type="body" sz="quarter" idx="14" hasCustomPrompt="1"/>
          </p:nvPr>
        </p:nvSpPr>
        <p:spPr>
          <a:xfrm>
            <a:off x="533399" y="476902"/>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KPI Title in maximum two lines (Delete unused arrow)</a:t>
            </a:r>
          </a:p>
        </p:txBody>
      </p:sp>
      <p:sp>
        <p:nvSpPr>
          <p:cNvPr id="30" name="Text Placeholder 2">
            <a:extLst>
              <a:ext uri="{FF2B5EF4-FFF2-40B4-BE49-F238E27FC236}">
                <a16:creationId xmlns:a16="http://schemas.microsoft.com/office/drawing/2014/main" id="{C0563764-0DA7-4CFF-8301-A953289685C4}"/>
              </a:ext>
            </a:extLst>
          </p:cNvPr>
          <p:cNvSpPr>
            <a:spLocks noGrp="1"/>
          </p:cNvSpPr>
          <p:nvPr>
            <p:ph type="body" sz="quarter" idx="21" hasCustomPrompt="1"/>
          </p:nvPr>
        </p:nvSpPr>
        <p:spPr>
          <a:xfrm>
            <a:off x="2873591" y="476902"/>
            <a:ext cx="2278857" cy="999473"/>
          </a:xfrm>
          <a:prstGeom prst="roundRect">
            <a:avLst>
              <a:gd name="adj" fmla="val 8090"/>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KPI Title in maximum two lines (Delete unused arrow)</a:t>
            </a:r>
          </a:p>
        </p:txBody>
      </p:sp>
      <p:sp>
        <p:nvSpPr>
          <p:cNvPr id="24" name="Text Placeholder 2">
            <a:extLst>
              <a:ext uri="{FF2B5EF4-FFF2-40B4-BE49-F238E27FC236}">
                <a16:creationId xmlns:a16="http://schemas.microsoft.com/office/drawing/2014/main" id="{B7CDD66C-B2F6-4749-AE42-AEC20A5F48F8}"/>
              </a:ext>
            </a:extLst>
          </p:cNvPr>
          <p:cNvSpPr>
            <a:spLocks noGrp="1"/>
          </p:cNvSpPr>
          <p:nvPr>
            <p:ph type="body" sz="quarter" idx="19" hasCustomPrompt="1"/>
          </p:nvPr>
        </p:nvSpPr>
        <p:spPr>
          <a:xfrm>
            <a:off x="893584" y="1044189"/>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32" name="Text Placeholder 2">
            <a:extLst>
              <a:ext uri="{FF2B5EF4-FFF2-40B4-BE49-F238E27FC236}">
                <a16:creationId xmlns:a16="http://schemas.microsoft.com/office/drawing/2014/main" id="{41DBA1B1-CCCD-47AC-9977-51C5A1090B02}"/>
              </a:ext>
            </a:extLst>
          </p:cNvPr>
          <p:cNvSpPr>
            <a:spLocks noGrp="1"/>
          </p:cNvSpPr>
          <p:nvPr>
            <p:ph type="body" sz="quarter" idx="30" hasCustomPrompt="1"/>
          </p:nvPr>
        </p:nvSpPr>
        <p:spPr>
          <a:xfrm>
            <a:off x="3233776" y="1044189"/>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33" name="Text Placeholder 2">
            <a:extLst>
              <a:ext uri="{FF2B5EF4-FFF2-40B4-BE49-F238E27FC236}">
                <a16:creationId xmlns:a16="http://schemas.microsoft.com/office/drawing/2014/main" id="{081ABFB0-EF3F-4F37-8A1C-C2879001CF11}"/>
              </a:ext>
            </a:extLst>
          </p:cNvPr>
          <p:cNvSpPr>
            <a:spLocks noGrp="1"/>
          </p:cNvSpPr>
          <p:nvPr>
            <p:ph type="body" sz="quarter" idx="31" hasCustomPrompt="1"/>
          </p:nvPr>
        </p:nvSpPr>
        <p:spPr>
          <a:xfrm>
            <a:off x="703831" y="1104837"/>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34" name="Text Placeholder 2">
            <a:extLst>
              <a:ext uri="{FF2B5EF4-FFF2-40B4-BE49-F238E27FC236}">
                <a16:creationId xmlns:a16="http://schemas.microsoft.com/office/drawing/2014/main" id="{4487B58C-9A6E-4D70-858F-B041D458DF29}"/>
              </a:ext>
            </a:extLst>
          </p:cNvPr>
          <p:cNvSpPr>
            <a:spLocks noGrp="1"/>
          </p:cNvSpPr>
          <p:nvPr>
            <p:ph type="body" sz="quarter" idx="32" hasCustomPrompt="1"/>
          </p:nvPr>
        </p:nvSpPr>
        <p:spPr>
          <a:xfrm flipV="1">
            <a:off x="3007547" y="1244947"/>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5" name="Text Placeholder 2">
            <a:extLst>
              <a:ext uri="{FF2B5EF4-FFF2-40B4-BE49-F238E27FC236}">
                <a16:creationId xmlns:a16="http://schemas.microsoft.com/office/drawing/2014/main" id="{A1F59B7B-92F7-4E94-A5F5-8BF72D3C9249}"/>
              </a:ext>
            </a:extLst>
          </p:cNvPr>
          <p:cNvSpPr>
            <a:spLocks noGrp="1"/>
          </p:cNvSpPr>
          <p:nvPr>
            <p:ph type="body" sz="quarter" idx="22" hasCustomPrompt="1"/>
          </p:nvPr>
        </p:nvSpPr>
        <p:spPr>
          <a:xfrm>
            <a:off x="5213784" y="476902"/>
            <a:ext cx="3387289" cy="999473"/>
          </a:xfrm>
          <a:prstGeom prst="roundRect">
            <a:avLst>
              <a:gd name="adj" fmla="val 8993"/>
            </a:avLst>
          </a:prstGeom>
          <a:solidFill>
            <a:schemeClr val="bg1">
              <a:lumMod val="85000"/>
            </a:schemeClr>
          </a:solidFill>
        </p:spPr>
        <p:txBody>
          <a:bodyPr anchor="ctr">
            <a:noAutofit/>
          </a:bodyPr>
          <a:lstStyle>
            <a:lvl1pPr marL="10800" indent="0" algn="l">
              <a:lnSpc>
                <a:spcPct val="100000"/>
              </a:lnSpc>
              <a:spcBef>
                <a:spcPts val="0"/>
              </a:spcBef>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four lines</a:t>
            </a:r>
            <a:endParaRPr lang="en-US"/>
          </a:p>
        </p:txBody>
      </p:sp>
      <p:sp>
        <p:nvSpPr>
          <p:cNvPr id="19" name="Text Placeholder 2">
            <a:extLst>
              <a:ext uri="{FF2B5EF4-FFF2-40B4-BE49-F238E27FC236}">
                <a16:creationId xmlns:a16="http://schemas.microsoft.com/office/drawing/2014/main" id="{001620DB-988A-43D0-9AFF-640BE1F8A9D7}"/>
              </a:ext>
            </a:extLst>
          </p:cNvPr>
          <p:cNvSpPr>
            <a:spLocks noGrp="1"/>
          </p:cNvSpPr>
          <p:nvPr>
            <p:ph type="body" sz="quarter" idx="29" hasCustomPrompt="1"/>
          </p:nvPr>
        </p:nvSpPr>
        <p:spPr>
          <a:xfrm>
            <a:off x="533400" y="1529860"/>
            <a:ext cx="8067673" cy="3130247"/>
          </a:xfrm>
          <a:prstGeom prst="roundRect">
            <a:avLst>
              <a:gd name="adj" fmla="val 3430"/>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10" name="Text Placeholder 2">
            <a:extLst>
              <a:ext uri="{FF2B5EF4-FFF2-40B4-BE49-F238E27FC236}">
                <a16:creationId xmlns:a16="http://schemas.microsoft.com/office/drawing/2014/main" id="{1D9909DD-F223-4431-8E15-DC413D95670E}"/>
              </a:ext>
            </a:extLst>
          </p:cNvPr>
          <p:cNvSpPr>
            <a:spLocks noGrp="1"/>
          </p:cNvSpPr>
          <p:nvPr>
            <p:ph type="body" sz="quarter" idx="33" hasCustomPrompt="1"/>
          </p:nvPr>
        </p:nvSpPr>
        <p:spPr>
          <a:xfrm>
            <a:off x="3007547" y="1104837"/>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1" name="Text Placeholder 2">
            <a:extLst>
              <a:ext uri="{FF2B5EF4-FFF2-40B4-BE49-F238E27FC236}">
                <a16:creationId xmlns:a16="http://schemas.microsoft.com/office/drawing/2014/main" id="{39764314-F0BB-4810-BAD9-EE48461D49C7}"/>
              </a:ext>
            </a:extLst>
          </p:cNvPr>
          <p:cNvSpPr>
            <a:spLocks noGrp="1"/>
          </p:cNvSpPr>
          <p:nvPr>
            <p:ph type="body" sz="quarter" idx="34" hasCustomPrompt="1"/>
          </p:nvPr>
        </p:nvSpPr>
        <p:spPr>
          <a:xfrm flipV="1">
            <a:off x="703831" y="1244947"/>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Tree>
    <p:extLst>
      <p:ext uri="{BB962C8B-B14F-4D97-AF65-F5344CB8AC3E}">
        <p14:creationId xmlns:p14="http://schemas.microsoft.com/office/powerpoint/2010/main" val="3786684899"/>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2 KPI + Chart + Table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0227ED67-A913-4C02-A8B1-C4D8A92EF4F4}"/>
              </a:ext>
            </a:extLst>
          </p:cNvPr>
          <p:cNvSpPr>
            <a:spLocks noGrp="1"/>
          </p:cNvSpPr>
          <p:nvPr>
            <p:ph type="body" sz="quarter" idx="37" hasCustomPrompt="1"/>
          </p:nvPr>
        </p:nvSpPr>
        <p:spPr>
          <a:xfrm>
            <a:off x="2873591" y="979477"/>
            <a:ext cx="2278857" cy="999473"/>
          </a:xfrm>
          <a:prstGeom prst="roundRect">
            <a:avLst>
              <a:gd name="adj" fmla="val 7137"/>
            </a:avLst>
          </a:prstGeom>
          <a:solidFill>
            <a:schemeClr val="bg1"/>
          </a:solidFill>
        </p:spPr>
        <p:txBody>
          <a:bodyPr anchor="t">
            <a:no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0" name="Text Placeholder 2">
            <a:extLst>
              <a:ext uri="{FF2B5EF4-FFF2-40B4-BE49-F238E27FC236}">
                <a16:creationId xmlns:a16="http://schemas.microsoft.com/office/drawing/2014/main" id="{95680F84-7CA0-4A76-A066-EE3509ABFAA5}"/>
              </a:ext>
            </a:extLst>
          </p:cNvPr>
          <p:cNvSpPr>
            <a:spLocks noGrp="1"/>
          </p:cNvSpPr>
          <p:nvPr>
            <p:ph type="body" sz="quarter" idx="35" hasCustomPrompt="1"/>
          </p:nvPr>
        </p:nvSpPr>
        <p:spPr>
          <a:xfrm>
            <a:off x="533399" y="979477"/>
            <a:ext cx="2278857" cy="999473"/>
          </a:xfrm>
          <a:prstGeom prst="roundRect">
            <a:avLst>
              <a:gd name="adj" fmla="val 7137"/>
            </a:avLst>
          </a:prstGeom>
          <a:solidFill>
            <a:schemeClr val="bg1"/>
          </a:solidFill>
        </p:spPr>
        <p:txBody>
          <a:bodyPr anchor="t">
            <a:no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2" name="Text Placeholder 2">
            <a:extLst>
              <a:ext uri="{FF2B5EF4-FFF2-40B4-BE49-F238E27FC236}">
                <a16:creationId xmlns:a16="http://schemas.microsoft.com/office/drawing/2014/main" id="{2B5ACE8A-00AB-4751-B44E-BC98A2C47FDF}"/>
              </a:ext>
            </a:extLst>
          </p:cNvPr>
          <p:cNvSpPr>
            <a:spLocks noGrp="1"/>
          </p:cNvSpPr>
          <p:nvPr>
            <p:ph type="body" sz="quarter" idx="36" hasCustomPrompt="1"/>
          </p:nvPr>
        </p:nvSpPr>
        <p:spPr>
          <a:xfrm>
            <a:off x="5213784" y="979477"/>
            <a:ext cx="3387289" cy="999473"/>
          </a:xfrm>
          <a:prstGeom prst="roundRect">
            <a:avLst>
              <a:gd name="adj" fmla="val 8993"/>
            </a:avLst>
          </a:prstGeom>
          <a:solidFill>
            <a:schemeClr val="bg1">
              <a:lumMod val="85000"/>
            </a:schemeClr>
          </a:solidFill>
        </p:spPr>
        <p:txBody>
          <a:bodyPr anchor="ctr">
            <a:noAutofit/>
          </a:bodyPr>
          <a:lstStyle>
            <a:lvl1pPr marL="10800" indent="0" algn="l">
              <a:lnSpc>
                <a:spcPct val="100000"/>
              </a:lnSpc>
              <a:spcBef>
                <a:spcPts val="0"/>
              </a:spcBef>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four lines</a:t>
            </a:r>
            <a:endParaRPr lang="en-US"/>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454023" y="395770"/>
            <a:ext cx="8141098" cy="392415"/>
          </a:xfrm>
          <a:prstGeom prst="rect">
            <a:avLst/>
          </a:prstGeom>
        </p:spPr>
        <p:txBody>
          <a:bodyPr wrap="square" anchor="t">
            <a:spAutoFit/>
          </a:bodyPr>
          <a:lstStyle>
            <a:lvl1pPr>
              <a:lnSpc>
                <a:spcPct val="100000"/>
              </a:lnSpc>
              <a:defRPr lang="en-IN" sz="19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893584" y="1559244"/>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3233776" y="1559244"/>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13" name="Text Placeholder 2">
            <a:extLst>
              <a:ext uri="{FF2B5EF4-FFF2-40B4-BE49-F238E27FC236}">
                <a16:creationId xmlns:a16="http://schemas.microsoft.com/office/drawing/2014/main" id="{E6134188-DB8A-4DF9-87F8-34A8BEDCA7FC}"/>
              </a:ext>
            </a:extLst>
          </p:cNvPr>
          <p:cNvSpPr>
            <a:spLocks noGrp="1"/>
          </p:cNvSpPr>
          <p:nvPr>
            <p:ph type="body" sz="quarter" idx="41" hasCustomPrompt="1"/>
          </p:nvPr>
        </p:nvSpPr>
        <p:spPr>
          <a:xfrm>
            <a:off x="2998975" y="1624558"/>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4" name="Text Placeholder 2">
            <a:extLst>
              <a:ext uri="{FF2B5EF4-FFF2-40B4-BE49-F238E27FC236}">
                <a16:creationId xmlns:a16="http://schemas.microsoft.com/office/drawing/2014/main" id="{D5941F27-B6F5-4E44-8310-0328CB9A3F91}"/>
              </a:ext>
            </a:extLst>
          </p:cNvPr>
          <p:cNvSpPr>
            <a:spLocks noGrp="1"/>
          </p:cNvSpPr>
          <p:nvPr>
            <p:ph type="body" sz="quarter" idx="42" hasCustomPrompt="1"/>
          </p:nvPr>
        </p:nvSpPr>
        <p:spPr>
          <a:xfrm flipV="1">
            <a:off x="2998975" y="1764669"/>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6" name="Text Placeholder 2">
            <a:extLst>
              <a:ext uri="{FF2B5EF4-FFF2-40B4-BE49-F238E27FC236}">
                <a16:creationId xmlns:a16="http://schemas.microsoft.com/office/drawing/2014/main" id="{015AA8D5-E7C5-48A7-860E-F1C92F07CF88}"/>
              </a:ext>
            </a:extLst>
          </p:cNvPr>
          <p:cNvSpPr>
            <a:spLocks noGrp="1"/>
          </p:cNvSpPr>
          <p:nvPr>
            <p:ph type="body" sz="quarter" idx="31" hasCustomPrompt="1"/>
          </p:nvPr>
        </p:nvSpPr>
        <p:spPr>
          <a:xfrm>
            <a:off x="678010" y="1623138"/>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8" name="Text Placeholder 2">
            <a:extLst>
              <a:ext uri="{FF2B5EF4-FFF2-40B4-BE49-F238E27FC236}">
                <a16:creationId xmlns:a16="http://schemas.microsoft.com/office/drawing/2014/main" id="{A31D3082-BA96-40FA-85B8-3D8F90E67B79}"/>
              </a:ext>
            </a:extLst>
          </p:cNvPr>
          <p:cNvSpPr>
            <a:spLocks noGrp="1"/>
          </p:cNvSpPr>
          <p:nvPr>
            <p:ph type="body" sz="quarter" idx="43" hasCustomPrompt="1"/>
          </p:nvPr>
        </p:nvSpPr>
        <p:spPr>
          <a:xfrm flipV="1">
            <a:off x="678010" y="1763248"/>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5" name="Text Placeholder 2">
            <a:extLst>
              <a:ext uri="{FF2B5EF4-FFF2-40B4-BE49-F238E27FC236}">
                <a16:creationId xmlns:a16="http://schemas.microsoft.com/office/drawing/2014/main" id="{1CB3C3F8-03F6-41D1-BC35-CE9BDCFD64DE}"/>
              </a:ext>
            </a:extLst>
          </p:cNvPr>
          <p:cNvSpPr>
            <a:spLocks noGrp="1"/>
          </p:cNvSpPr>
          <p:nvPr>
            <p:ph type="body" sz="quarter" idx="32" hasCustomPrompt="1"/>
          </p:nvPr>
        </p:nvSpPr>
        <p:spPr>
          <a:xfrm>
            <a:off x="533399" y="2040370"/>
            <a:ext cx="4001400" cy="2619736"/>
          </a:xfrm>
          <a:prstGeom prst="roundRect">
            <a:avLst>
              <a:gd name="adj" fmla="val 246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2C63D07C-8DA6-4872-BED2-04DD278713B4}"/>
              </a:ext>
            </a:extLst>
          </p:cNvPr>
          <p:cNvSpPr>
            <a:spLocks noGrp="1"/>
          </p:cNvSpPr>
          <p:nvPr>
            <p:ph type="body" sz="quarter" idx="44" hasCustomPrompt="1"/>
          </p:nvPr>
        </p:nvSpPr>
        <p:spPr>
          <a:xfrm>
            <a:off x="4599672" y="2040370"/>
            <a:ext cx="4001400" cy="2619736"/>
          </a:xfrm>
          <a:prstGeom prst="roundRect">
            <a:avLst>
              <a:gd name="adj" fmla="val 317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Insert Table</a:t>
            </a:r>
          </a:p>
        </p:txBody>
      </p:sp>
    </p:spTree>
    <p:extLst>
      <p:ext uri="{BB962C8B-B14F-4D97-AF65-F5344CB8AC3E}">
        <p14:creationId xmlns:p14="http://schemas.microsoft.com/office/powerpoint/2010/main" val="2568260844"/>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2 KPI + Chart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1CF79DE6-489F-4295-A9F8-2AC173EAE383}"/>
              </a:ext>
            </a:extLst>
          </p:cNvPr>
          <p:cNvSpPr>
            <a:spLocks noGrp="1"/>
          </p:cNvSpPr>
          <p:nvPr>
            <p:ph type="body" sz="quarter" idx="38" hasCustomPrompt="1"/>
          </p:nvPr>
        </p:nvSpPr>
        <p:spPr>
          <a:xfrm>
            <a:off x="2873591" y="979477"/>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KPI Title in maximum two lines (Delete unused arrow)</a:t>
            </a:r>
            <a:endParaRPr lang="en-US"/>
          </a:p>
        </p:txBody>
      </p:sp>
      <p:sp>
        <p:nvSpPr>
          <p:cNvPr id="16" name="Text Placeholder 2">
            <a:extLst>
              <a:ext uri="{FF2B5EF4-FFF2-40B4-BE49-F238E27FC236}">
                <a16:creationId xmlns:a16="http://schemas.microsoft.com/office/drawing/2014/main" id="{C7071110-F302-4469-BCA4-6E70028B0AA7}"/>
              </a:ext>
            </a:extLst>
          </p:cNvPr>
          <p:cNvSpPr>
            <a:spLocks noGrp="1"/>
          </p:cNvSpPr>
          <p:nvPr>
            <p:ph type="body" sz="quarter" idx="35" hasCustomPrompt="1"/>
          </p:nvPr>
        </p:nvSpPr>
        <p:spPr>
          <a:xfrm>
            <a:off x="533399" y="979477"/>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KPI Title in maximum two lines (Delete unused arrow)</a:t>
            </a:r>
            <a:endParaRPr lang="en-US"/>
          </a:p>
        </p:txBody>
      </p:sp>
      <p:sp>
        <p:nvSpPr>
          <p:cNvPr id="19" name="Text Placeholder 2">
            <a:extLst>
              <a:ext uri="{FF2B5EF4-FFF2-40B4-BE49-F238E27FC236}">
                <a16:creationId xmlns:a16="http://schemas.microsoft.com/office/drawing/2014/main" id="{FD9FF712-8955-4640-BEE9-B35894011E84}"/>
              </a:ext>
            </a:extLst>
          </p:cNvPr>
          <p:cNvSpPr>
            <a:spLocks noGrp="1"/>
          </p:cNvSpPr>
          <p:nvPr>
            <p:ph type="body" sz="quarter" idx="36" hasCustomPrompt="1"/>
          </p:nvPr>
        </p:nvSpPr>
        <p:spPr>
          <a:xfrm>
            <a:off x="5213784" y="979477"/>
            <a:ext cx="3387289" cy="999473"/>
          </a:xfrm>
          <a:prstGeom prst="roundRect">
            <a:avLst>
              <a:gd name="adj" fmla="val 8993"/>
            </a:avLst>
          </a:prstGeom>
          <a:solidFill>
            <a:schemeClr val="bg1">
              <a:lumMod val="85000"/>
            </a:schemeClr>
          </a:solidFill>
        </p:spPr>
        <p:txBody>
          <a:bodyPr anchor="ctr">
            <a:noAutofit/>
          </a:bodyPr>
          <a:lstStyle>
            <a:lvl1pPr marL="10800" indent="0" algn="l">
              <a:lnSpc>
                <a:spcPct val="100000"/>
              </a:lnSpc>
              <a:spcBef>
                <a:spcPts val="0"/>
              </a:spcBef>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four lines</a:t>
            </a:r>
            <a:endParaRPr lang="en-US"/>
          </a:p>
        </p:txBody>
      </p:sp>
      <p:sp>
        <p:nvSpPr>
          <p:cNvPr id="15" name="Text Placeholder 2">
            <a:extLst>
              <a:ext uri="{FF2B5EF4-FFF2-40B4-BE49-F238E27FC236}">
                <a16:creationId xmlns:a16="http://schemas.microsoft.com/office/drawing/2014/main" id="{9E5A48BC-DC4F-4ACA-8BFB-82DF79BF4A9E}"/>
              </a:ext>
            </a:extLst>
          </p:cNvPr>
          <p:cNvSpPr>
            <a:spLocks noGrp="1"/>
          </p:cNvSpPr>
          <p:nvPr>
            <p:ph type="body" sz="quarter" idx="33" hasCustomPrompt="1"/>
          </p:nvPr>
        </p:nvSpPr>
        <p:spPr>
          <a:xfrm>
            <a:off x="533399" y="2040371"/>
            <a:ext cx="8061722" cy="2619735"/>
          </a:xfrm>
          <a:prstGeom prst="roundRect">
            <a:avLst>
              <a:gd name="adj" fmla="val 246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454023" y="395770"/>
            <a:ext cx="8141098" cy="392415"/>
          </a:xfrm>
          <a:prstGeom prst="rect">
            <a:avLst/>
          </a:prstGeom>
        </p:spPr>
        <p:txBody>
          <a:bodyPr wrap="square" anchor="t">
            <a:spAutoFit/>
          </a:bodyPr>
          <a:lstStyle>
            <a:lvl1pPr>
              <a:lnSpc>
                <a:spcPct val="100000"/>
              </a:lnSpc>
              <a:defRPr lang="en-IN" sz="1950" b="1" i="0">
                <a:latin typeface="+mn-lt"/>
                <a:ea typeface="Open Sans Extrabold" panose="020B0606030504020204" pitchFamily="34" charset="0"/>
                <a:cs typeface="Open Sans Extrabold"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893584" y="1559244"/>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3233776" y="1559244"/>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11" name="Text Placeholder 2">
            <a:extLst>
              <a:ext uri="{FF2B5EF4-FFF2-40B4-BE49-F238E27FC236}">
                <a16:creationId xmlns:a16="http://schemas.microsoft.com/office/drawing/2014/main" id="{34B3935D-25DE-4CF1-9411-C911A59E6897}"/>
              </a:ext>
            </a:extLst>
          </p:cNvPr>
          <p:cNvSpPr>
            <a:spLocks noGrp="1"/>
          </p:cNvSpPr>
          <p:nvPr>
            <p:ph type="body" sz="quarter" idx="31" hasCustomPrompt="1"/>
          </p:nvPr>
        </p:nvSpPr>
        <p:spPr>
          <a:xfrm>
            <a:off x="678010" y="1623138"/>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2" name="Text Placeholder 2">
            <a:extLst>
              <a:ext uri="{FF2B5EF4-FFF2-40B4-BE49-F238E27FC236}">
                <a16:creationId xmlns:a16="http://schemas.microsoft.com/office/drawing/2014/main" id="{ACE0E8C8-A862-4F77-BD30-287974C85C87}"/>
              </a:ext>
            </a:extLst>
          </p:cNvPr>
          <p:cNvSpPr>
            <a:spLocks noGrp="1"/>
          </p:cNvSpPr>
          <p:nvPr>
            <p:ph type="body" sz="quarter" idx="32" hasCustomPrompt="1"/>
          </p:nvPr>
        </p:nvSpPr>
        <p:spPr>
          <a:xfrm flipV="1">
            <a:off x="3007547" y="1763248"/>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3" name="Text Placeholder 2">
            <a:extLst>
              <a:ext uri="{FF2B5EF4-FFF2-40B4-BE49-F238E27FC236}">
                <a16:creationId xmlns:a16="http://schemas.microsoft.com/office/drawing/2014/main" id="{480E203D-96C0-4E30-8CCA-4B1C46536594}"/>
              </a:ext>
            </a:extLst>
          </p:cNvPr>
          <p:cNvSpPr>
            <a:spLocks noGrp="1"/>
          </p:cNvSpPr>
          <p:nvPr>
            <p:ph type="body" sz="quarter" idx="37" hasCustomPrompt="1"/>
          </p:nvPr>
        </p:nvSpPr>
        <p:spPr>
          <a:xfrm>
            <a:off x="3007547" y="1623138"/>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4" name="Text Placeholder 2">
            <a:extLst>
              <a:ext uri="{FF2B5EF4-FFF2-40B4-BE49-F238E27FC236}">
                <a16:creationId xmlns:a16="http://schemas.microsoft.com/office/drawing/2014/main" id="{E9060D44-04A5-496A-8472-D89D3962E2FD}"/>
              </a:ext>
            </a:extLst>
          </p:cNvPr>
          <p:cNvSpPr>
            <a:spLocks noGrp="1"/>
          </p:cNvSpPr>
          <p:nvPr>
            <p:ph type="body" sz="quarter" idx="34" hasCustomPrompt="1"/>
          </p:nvPr>
        </p:nvSpPr>
        <p:spPr>
          <a:xfrm flipV="1">
            <a:off x="678010" y="1763248"/>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Tree>
    <p:extLst>
      <p:ext uri="{BB962C8B-B14F-4D97-AF65-F5344CB8AC3E}">
        <p14:creationId xmlns:p14="http://schemas.microsoft.com/office/powerpoint/2010/main" val="4129281986"/>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alpha val="40000"/>
          </a:schemeClr>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76445B9-FF81-4E47-A45B-590DC428B361}"/>
              </a:ext>
            </a:extLst>
          </p:cNvPr>
          <p:cNvGrpSpPr/>
          <p:nvPr/>
        </p:nvGrpSpPr>
        <p:grpSpPr>
          <a:xfrm>
            <a:off x="548878" y="1130689"/>
            <a:ext cx="1091466" cy="634367"/>
            <a:chOff x="7946718" y="2965722"/>
            <a:chExt cx="1455288" cy="845823"/>
          </a:xfrm>
          <a:solidFill>
            <a:schemeClr val="accent4"/>
          </a:solidFill>
        </p:grpSpPr>
        <p:sp>
          <p:nvSpPr>
            <p:cNvPr id="8" name="TextBox 7">
              <a:extLst>
                <a:ext uri="{FF2B5EF4-FFF2-40B4-BE49-F238E27FC236}">
                  <a16:creationId xmlns:a16="http://schemas.microsoft.com/office/drawing/2014/main" id="{0E08AC23-D07F-4E5A-9DA0-FBB0C09B0E8F}"/>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Extrabold"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chemeClr val="tx1"/>
                </a:solidFill>
                <a:latin typeface="+mn-lt"/>
              </a:endParaRPr>
            </a:p>
          </p:txBody>
        </p:sp>
        <p:sp>
          <p:nvSpPr>
            <p:cNvPr id="10" name="TextBox 9">
              <a:extLst>
                <a:ext uri="{FF2B5EF4-FFF2-40B4-BE49-F238E27FC236}">
                  <a16:creationId xmlns:a16="http://schemas.microsoft.com/office/drawing/2014/main" id="{6C374CEA-CE97-4473-9FCF-AC562A1AF22E}"/>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Extrabold"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chemeClr val="tx1"/>
                </a:solidFill>
                <a:latin typeface="+mn-lt"/>
              </a:endParaRPr>
            </a:p>
          </p:txBody>
        </p:sp>
      </p:grpSp>
      <p:sp>
        <p:nvSpPr>
          <p:cNvPr id="14" name="Text Placeholder 4">
            <a:extLst>
              <a:ext uri="{FF2B5EF4-FFF2-40B4-BE49-F238E27FC236}">
                <a16:creationId xmlns:a16="http://schemas.microsoft.com/office/drawing/2014/main" id="{0D6DD118-6375-439A-BC1B-899B6DC48BBC}"/>
              </a:ext>
            </a:extLst>
          </p:cNvPr>
          <p:cNvSpPr>
            <a:spLocks noGrp="1"/>
          </p:cNvSpPr>
          <p:nvPr>
            <p:ph type="body" sz="quarter" idx="15" hasCustomPrompt="1"/>
          </p:nvPr>
        </p:nvSpPr>
        <p:spPr>
          <a:xfrm>
            <a:off x="776841" y="652975"/>
            <a:ext cx="7812881" cy="392415"/>
          </a:xfrm>
          <a:prstGeom prst="rect">
            <a:avLst/>
          </a:prstGeom>
        </p:spPr>
        <p:txBody>
          <a:bodyPr anchor="t">
            <a:spAutoFit/>
          </a:bodyPr>
          <a:lstStyle>
            <a:lvl1pPr marL="0" indent="0" algn="l">
              <a:lnSpc>
                <a:spcPct val="100000"/>
              </a:lnSpc>
              <a:spcBef>
                <a:spcPts val="0"/>
              </a:spcBef>
              <a:buNone/>
              <a:defRPr sz="1950" b="0" i="0">
                <a:solidFill>
                  <a:schemeClr val="tx1"/>
                </a:solidFill>
                <a:latin typeface="+mn-lt"/>
                <a:ea typeface="Open Sans Semibold" panose="020B0606030504020204" pitchFamily="34" charset="0"/>
                <a:cs typeface="Open Sans Semibold" panose="020B0606030504020204" pitchFamily="34" charset="0"/>
              </a:defRPr>
            </a:lvl1pPr>
            <a:lvl2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
        <p:nvSpPr>
          <p:cNvPr id="15" name="Text Placeholder 4">
            <a:extLst>
              <a:ext uri="{FF2B5EF4-FFF2-40B4-BE49-F238E27FC236}">
                <a16:creationId xmlns:a16="http://schemas.microsoft.com/office/drawing/2014/main" id="{B4ECFA27-67F6-46A2-81A9-B46702AEDC06}"/>
              </a:ext>
            </a:extLst>
          </p:cNvPr>
          <p:cNvSpPr>
            <a:spLocks noGrp="1"/>
          </p:cNvSpPr>
          <p:nvPr>
            <p:ph type="body" sz="quarter" idx="13" hasCustomPrompt="1"/>
          </p:nvPr>
        </p:nvSpPr>
        <p:spPr>
          <a:xfrm>
            <a:off x="782242" y="1284317"/>
            <a:ext cx="7812881" cy="3291634"/>
          </a:xfrm>
          <a:prstGeom prst="rect">
            <a:avLst/>
          </a:prstGeom>
        </p:spPr>
        <p:txBody>
          <a:bodyPr tIns="288000" anchor="t" anchorCtr="0">
            <a:spAutoFit/>
          </a:bodyPr>
          <a:lstStyle>
            <a:lvl1pPr marL="0" indent="0">
              <a:lnSpc>
                <a:spcPct val="100000"/>
              </a:lnSpc>
              <a:spcBef>
                <a:spcPts val="0"/>
              </a:spcBef>
              <a:buNone/>
              <a:defRPr sz="4800" b="1" i="0">
                <a:solidFill>
                  <a:schemeClr val="tx1"/>
                </a:solidFill>
                <a:latin typeface="+mn-lt"/>
                <a:ea typeface="Open Sans Semibold" panose="020B0606030504020204" pitchFamily="34" charset="0"/>
                <a:cs typeface="Open Sans Semibold" panose="020B0606030504020204" pitchFamily="34" charset="0"/>
              </a:defRPr>
            </a:lvl1pPr>
            <a:lvl2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Tree>
    <p:extLst>
      <p:ext uri="{BB962C8B-B14F-4D97-AF65-F5344CB8AC3E}">
        <p14:creationId xmlns:p14="http://schemas.microsoft.com/office/powerpoint/2010/main" val="1731763742"/>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Quote + Dark bkgd.">
    <p:bg>
      <p:bgPr>
        <a:solidFill>
          <a:schemeClr val="tx1"/>
        </a:solidFill>
        <a:effectLst/>
      </p:bgPr>
    </p:bg>
    <p:spTree>
      <p:nvGrpSpPr>
        <p:cNvPr id="1" name=""/>
        <p:cNvGrpSpPr/>
        <p:nvPr/>
      </p:nvGrpSpPr>
      <p:grpSpPr>
        <a:xfrm>
          <a:off x="0" y="0"/>
          <a:ext cx="0" cy="0"/>
          <a:chOff x="0" y="0"/>
          <a:chExt cx="0" cy="0"/>
        </a:xfrm>
      </p:grpSpPr>
      <p:pic>
        <p:nvPicPr>
          <p:cNvPr id="13" name="Picture 12" descr="A close up of a logo&#10;&#10;Description generated with very high confidence">
            <a:extLst>
              <a:ext uri="{FF2B5EF4-FFF2-40B4-BE49-F238E27FC236}">
                <a16:creationId xmlns:a16="http://schemas.microsoft.com/office/drawing/2014/main" id="{C49040EA-FE23-4B53-8BE5-BD8E2C4178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7896" y="4917668"/>
            <a:ext cx="514608" cy="110400"/>
          </a:xfrm>
          <a:prstGeom prst="rect">
            <a:avLst/>
          </a:prstGeom>
        </p:spPr>
      </p:pic>
      <p:sp>
        <p:nvSpPr>
          <p:cNvPr id="14" name="Title 1">
            <a:extLst>
              <a:ext uri="{FF2B5EF4-FFF2-40B4-BE49-F238E27FC236}">
                <a16:creationId xmlns:a16="http://schemas.microsoft.com/office/drawing/2014/main" id="{848B6007-B878-459B-95AA-ADC9B06B3C01}"/>
              </a:ext>
            </a:extLst>
          </p:cNvPr>
          <p:cNvSpPr txBox="1">
            <a:spLocks/>
          </p:cNvSpPr>
          <p:nvPr/>
        </p:nvSpPr>
        <p:spPr>
          <a:xfrm>
            <a:off x="4403800" y="4892437"/>
            <a:ext cx="336401" cy="163991"/>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fld id="{8CDB8CBA-EB11-894E-8631-17E36B7DB51E}" type="slidenum">
              <a:rPr lang="en-US" sz="600" smtClean="0">
                <a:solidFill>
                  <a:schemeClr val="bg1">
                    <a:lumMod val="75000"/>
                  </a:schemeClr>
                </a:solidFill>
                <a:latin typeface="+mn-lt"/>
              </a:rPr>
              <a:pPr>
                <a:lnSpc>
                  <a:spcPct val="100000"/>
                </a:lnSpc>
              </a:pPr>
              <a:t>‹#›</a:t>
            </a:fld>
            <a:endParaRPr lang="en-US" sz="600">
              <a:solidFill>
                <a:schemeClr val="bg1">
                  <a:lumMod val="75000"/>
                </a:schemeClr>
              </a:solidFill>
              <a:latin typeface="+mn-lt"/>
            </a:endParaRPr>
          </a:p>
        </p:txBody>
      </p:sp>
      <p:sp>
        <p:nvSpPr>
          <p:cNvPr id="15" name="Title 1">
            <a:extLst>
              <a:ext uri="{FF2B5EF4-FFF2-40B4-BE49-F238E27FC236}">
                <a16:creationId xmlns:a16="http://schemas.microsoft.com/office/drawing/2014/main" id="{C6629807-3F1E-438A-BAAD-E5AEF947C5F5}"/>
              </a:ext>
            </a:extLst>
          </p:cNvPr>
          <p:cNvSpPr txBox="1">
            <a:spLocks/>
          </p:cNvSpPr>
          <p:nvPr/>
        </p:nvSpPr>
        <p:spPr>
          <a:xfrm>
            <a:off x="489348" y="4892437"/>
            <a:ext cx="2400299" cy="163991"/>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lnSpc>
                <a:spcPct val="100000"/>
              </a:lnSpc>
            </a:pPr>
            <a:r>
              <a:rPr lang="en-US" sz="600">
                <a:solidFill>
                  <a:schemeClr val="bg1">
                    <a:lumMod val="75000"/>
                  </a:schemeClr>
                </a:solidFill>
                <a:latin typeface="+mn-lt"/>
              </a:rPr>
              <a:t>© 2026 CellStrat. All rights reserved | CCA Intensive</a:t>
            </a:r>
          </a:p>
        </p:txBody>
      </p:sp>
      <p:grpSp>
        <p:nvGrpSpPr>
          <p:cNvPr id="10" name="Group 9">
            <a:extLst>
              <a:ext uri="{FF2B5EF4-FFF2-40B4-BE49-F238E27FC236}">
                <a16:creationId xmlns:a16="http://schemas.microsoft.com/office/drawing/2014/main" id="{D4EF20FE-8CE2-47D4-BA67-42C359E87A36}"/>
              </a:ext>
            </a:extLst>
          </p:cNvPr>
          <p:cNvGrpSpPr/>
          <p:nvPr/>
        </p:nvGrpSpPr>
        <p:grpSpPr>
          <a:xfrm>
            <a:off x="548878" y="1130689"/>
            <a:ext cx="1091466" cy="634367"/>
            <a:chOff x="4640712" y="1507584"/>
            <a:chExt cx="1455288" cy="845823"/>
          </a:xfrm>
        </p:grpSpPr>
        <p:sp>
          <p:nvSpPr>
            <p:cNvPr id="16" name="TextBox 15">
              <a:extLst>
                <a:ext uri="{FF2B5EF4-FFF2-40B4-BE49-F238E27FC236}">
                  <a16:creationId xmlns:a16="http://schemas.microsoft.com/office/drawing/2014/main" id="{AC591764-F364-4147-B28C-D6CF0DD6FF88}"/>
                </a:ext>
              </a:extLst>
            </p:cNvPr>
            <p:cNvSpPr txBox="1">
              <a:spLocks/>
            </p:cNvSpPr>
            <p:nvPr userDrawn="1"/>
          </p:nvSpPr>
          <p:spPr>
            <a:xfrm>
              <a:off x="4640712" y="1507584"/>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Extrabold"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rgbClr val="383637"/>
                </a:solidFill>
                <a:latin typeface="+mn-lt"/>
              </a:endParaRPr>
            </a:p>
          </p:txBody>
        </p:sp>
        <p:sp>
          <p:nvSpPr>
            <p:cNvPr id="17" name="TextBox 16">
              <a:extLst>
                <a:ext uri="{FF2B5EF4-FFF2-40B4-BE49-F238E27FC236}">
                  <a16:creationId xmlns:a16="http://schemas.microsoft.com/office/drawing/2014/main" id="{5B56254D-ECCA-4335-A674-D290293E0913}"/>
                </a:ext>
              </a:extLst>
            </p:cNvPr>
            <p:cNvSpPr txBox="1">
              <a:spLocks/>
            </p:cNvSpPr>
            <p:nvPr userDrawn="1"/>
          </p:nvSpPr>
          <p:spPr>
            <a:xfrm>
              <a:off x="5429133" y="1507584"/>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Extrabold"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rgbClr val="383637"/>
                </a:solidFill>
                <a:latin typeface="+mn-lt"/>
              </a:endParaRPr>
            </a:p>
          </p:txBody>
        </p:sp>
      </p:grpSp>
      <p:sp>
        <p:nvSpPr>
          <p:cNvPr id="18" name="Text Placeholder 4">
            <a:extLst>
              <a:ext uri="{FF2B5EF4-FFF2-40B4-BE49-F238E27FC236}">
                <a16:creationId xmlns:a16="http://schemas.microsoft.com/office/drawing/2014/main" id="{539A892A-E0A3-4F85-AC15-00958250E5A0}"/>
              </a:ext>
            </a:extLst>
          </p:cNvPr>
          <p:cNvSpPr>
            <a:spLocks noGrp="1"/>
          </p:cNvSpPr>
          <p:nvPr>
            <p:ph type="body" sz="quarter" idx="13" hasCustomPrompt="1"/>
          </p:nvPr>
        </p:nvSpPr>
        <p:spPr>
          <a:xfrm>
            <a:off x="782242" y="1284317"/>
            <a:ext cx="7812881" cy="3291634"/>
          </a:xfrm>
          <a:prstGeom prst="rect">
            <a:avLst/>
          </a:prstGeom>
        </p:spPr>
        <p:txBody>
          <a:bodyPr tIns="288000" anchor="t" anchorCtr="0">
            <a:spAutoFit/>
          </a:bodyPr>
          <a:lstStyle>
            <a:lvl1pPr marL="0" indent="0">
              <a:lnSpc>
                <a:spcPct val="100000"/>
              </a:lnSpc>
              <a:spcBef>
                <a:spcPts val="0"/>
              </a:spcBef>
              <a:buNone/>
              <a:defRPr sz="4800" b="1" i="0">
                <a:solidFill>
                  <a:srgbClr val="FFFFFF"/>
                </a:solidFill>
                <a:latin typeface="+mn-lt"/>
                <a:ea typeface="Open Sans Semibold" panose="020B0606030504020204" pitchFamily="34" charset="0"/>
                <a:cs typeface="Open Sans Semibold" panose="020B0606030504020204" pitchFamily="34" charset="0"/>
              </a:defRPr>
            </a:lvl1pPr>
            <a:lvl2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
        <p:nvSpPr>
          <p:cNvPr id="19" name="Text Placeholder 4">
            <a:extLst>
              <a:ext uri="{FF2B5EF4-FFF2-40B4-BE49-F238E27FC236}">
                <a16:creationId xmlns:a16="http://schemas.microsoft.com/office/drawing/2014/main" id="{73946CEA-176B-4058-93BA-D0D282E61443}"/>
              </a:ext>
            </a:extLst>
          </p:cNvPr>
          <p:cNvSpPr>
            <a:spLocks noGrp="1"/>
          </p:cNvSpPr>
          <p:nvPr>
            <p:ph type="body" sz="quarter" idx="15" hasCustomPrompt="1"/>
          </p:nvPr>
        </p:nvSpPr>
        <p:spPr>
          <a:xfrm>
            <a:off x="776841" y="652975"/>
            <a:ext cx="7812881" cy="392415"/>
          </a:xfrm>
          <a:prstGeom prst="rect">
            <a:avLst/>
          </a:prstGeom>
        </p:spPr>
        <p:txBody>
          <a:bodyPr anchor="t">
            <a:spAutoFit/>
          </a:bodyPr>
          <a:lstStyle>
            <a:lvl1pPr marL="0" indent="0" algn="l">
              <a:lnSpc>
                <a:spcPct val="100000"/>
              </a:lnSpc>
              <a:spcBef>
                <a:spcPts val="0"/>
              </a:spcBef>
              <a:buNone/>
              <a:defRPr sz="1950" b="0" i="0">
                <a:solidFill>
                  <a:srgbClr val="FFFFFF"/>
                </a:solidFill>
                <a:latin typeface="+mn-lt"/>
                <a:ea typeface="Open Sans Semibold" panose="020B0606030504020204" pitchFamily="34" charset="0"/>
                <a:cs typeface="Open Sans Semibold" panose="020B0606030504020204" pitchFamily="34" charset="0"/>
              </a:defRPr>
            </a:lvl1pPr>
            <a:lvl2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Tree>
    <p:extLst>
      <p:ext uri="{BB962C8B-B14F-4D97-AF65-F5344CB8AC3E}">
        <p14:creationId xmlns:p14="http://schemas.microsoft.com/office/powerpoint/2010/main" val="1178216136"/>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Quote + speaker image">
    <p:bg>
      <p:bgPr>
        <a:solidFill>
          <a:srgbClr val="FFFFFF"/>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19EA7E8-D58C-4823-96CC-7C58457E2C33}"/>
              </a:ext>
            </a:extLst>
          </p:cNvPr>
          <p:cNvGrpSpPr/>
          <p:nvPr/>
        </p:nvGrpSpPr>
        <p:grpSpPr>
          <a:xfrm>
            <a:off x="461360" y="500412"/>
            <a:ext cx="1091466" cy="634367"/>
            <a:chOff x="7946718" y="2965722"/>
            <a:chExt cx="1455288" cy="845823"/>
          </a:xfrm>
          <a:solidFill>
            <a:srgbClr val="D6D6D6"/>
          </a:solidFill>
        </p:grpSpPr>
        <p:sp>
          <p:nvSpPr>
            <p:cNvPr id="10" name="TextBox 9">
              <a:extLst>
                <a:ext uri="{FF2B5EF4-FFF2-40B4-BE49-F238E27FC236}">
                  <a16:creationId xmlns:a16="http://schemas.microsoft.com/office/drawing/2014/main" id="{252B4F35-079E-4266-92C5-94E8876B874B}"/>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Extrabold"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rgbClr val="383637"/>
                </a:solidFill>
                <a:latin typeface="+mn-lt"/>
              </a:endParaRPr>
            </a:p>
          </p:txBody>
        </p:sp>
        <p:sp>
          <p:nvSpPr>
            <p:cNvPr id="11" name="TextBox 10">
              <a:extLst>
                <a:ext uri="{FF2B5EF4-FFF2-40B4-BE49-F238E27FC236}">
                  <a16:creationId xmlns:a16="http://schemas.microsoft.com/office/drawing/2014/main" id="{12BE29EC-219E-4956-B6C5-7099FDB8AC2F}"/>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Extrabold"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Extrabold"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rgbClr val="383637"/>
                </a:solidFill>
                <a:latin typeface="+mn-lt"/>
              </a:endParaRPr>
            </a:p>
          </p:txBody>
        </p:sp>
      </p:grpSp>
      <p:sp>
        <p:nvSpPr>
          <p:cNvPr id="12" name="Picture Placeholder 6">
            <a:extLst>
              <a:ext uri="{FF2B5EF4-FFF2-40B4-BE49-F238E27FC236}">
                <a16:creationId xmlns:a16="http://schemas.microsoft.com/office/drawing/2014/main" id="{C4CCC91B-5611-41BA-BE62-D049438FE5F4}"/>
              </a:ext>
            </a:extLst>
          </p:cNvPr>
          <p:cNvSpPr>
            <a:spLocks noGrp="1"/>
          </p:cNvSpPr>
          <p:nvPr>
            <p:ph type="pic" sz="quarter" idx="14" hasCustomPrompt="1"/>
          </p:nvPr>
        </p:nvSpPr>
        <p:spPr>
          <a:xfrm>
            <a:off x="5164768" y="1"/>
            <a:ext cx="3979232" cy="4660106"/>
          </a:xfrm>
          <a:prstGeom prst="rect">
            <a:avLst/>
          </a:prstGeom>
        </p:spPr>
        <p:txBody>
          <a:bodyPr/>
          <a:lstStyle>
            <a:lvl1pPr marL="0" indent="0">
              <a:lnSpc>
                <a:spcPct val="100000"/>
              </a:lnSpc>
              <a:buNone/>
              <a:defRPr sz="1200">
                <a:solidFill>
                  <a:srgbClr val="6B6B6B"/>
                </a:solidFill>
                <a:latin typeface="+mn-lt"/>
              </a:defRPr>
            </a:lvl1pPr>
          </a:lstStyle>
          <a:p>
            <a:r>
              <a:rPr lang="en-US"/>
              <a:t>INSERT SPEAKER IMAGE ONLY</a:t>
            </a:r>
          </a:p>
        </p:txBody>
      </p:sp>
      <p:sp>
        <p:nvSpPr>
          <p:cNvPr id="13" name="Text Placeholder 16">
            <a:extLst>
              <a:ext uri="{FF2B5EF4-FFF2-40B4-BE49-F238E27FC236}">
                <a16:creationId xmlns:a16="http://schemas.microsoft.com/office/drawing/2014/main" id="{33B46CD2-E3EF-4444-AEB6-327ED5FB15BA}"/>
              </a:ext>
            </a:extLst>
          </p:cNvPr>
          <p:cNvSpPr>
            <a:spLocks noGrp="1"/>
          </p:cNvSpPr>
          <p:nvPr>
            <p:ph type="body" sz="quarter" idx="16" hasCustomPrompt="1"/>
          </p:nvPr>
        </p:nvSpPr>
        <p:spPr>
          <a:xfrm>
            <a:off x="1073944" y="845908"/>
            <a:ext cx="4069556" cy="3462486"/>
          </a:xfrm>
          <a:prstGeom prst="rect">
            <a:avLst/>
          </a:prstGeom>
        </p:spPr>
        <p:txBody>
          <a:bodyPr anchor="t">
            <a:spAutoFit/>
          </a:bodyPr>
          <a:lstStyle>
            <a:lvl1pPr marL="0" indent="0">
              <a:lnSpc>
                <a:spcPct val="100000"/>
              </a:lnSpc>
              <a:spcBef>
                <a:spcPts val="0"/>
              </a:spcBef>
              <a:buNone/>
              <a:defRPr sz="3150" b="1" i="0">
                <a:solidFill>
                  <a:schemeClr val="tx1"/>
                </a:solidFill>
                <a:latin typeface="+mn-lt"/>
                <a:ea typeface="Open Sans Semibold" panose="020B0606030504020204" pitchFamily="34" charset="0"/>
                <a:cs typeface="Open Sans Semibold" panose="020B0606030504020204" pitchFamily="34" charset="0"/>
              </a:defRPr>
            </a:lvl1pPr>
            <a:lvl2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phrase or passage from speech or text that someone has said or written.</a:t>
            </a:r>
            <a:endParaRPr lang="en-US"/>
          </a:p>
        </p:txBody>
      </p:sp>
      <p:sp>
        <p:nvSpPr>
          <p:cNvPr id="18" name="Text Placeholder 16">
            <a:extLst>
              <a:ext uri="{FF2B5EF4-FFF2-40B4-BE49-F238E27FC236}">
                <a16:creationId xmlns:a16="http://schemas.microsoft.com/office/drawing/2014/main" id="{F5851328-40A6-45EA-AF35-C383544429D3}"/>
              </a:ext>
            </a:extLst>
          </p:cNvPr>
          <p:cNvSpPr>
            <a:spLocks noGrp="1"/>
          </p:cNvSpPr>
          <p:nvPr>
            <p:ph type="body" sz="quarter" idx="18" hasCustomPrompt="1"/>
          </p:nvPr>
        </p:nvSpPr>
        <p:spPr>
          <a:xfrm>
            <a:off x="1073944" y="4297593"/>
            <a:ext cx="4069556" cy="392415"/>
          </a:xfrm>
          <a:prstGeom prst="rect">
            <a:avLst/>
          </a:prstGeom>
        </p:spPr>
        <p:txBody>
          <a:bodyPr anchor="t">
            <a:spAutoFit/>
          </a:bodyPr>
          <a:lstStyle>
            <a:lvl1pPr marL="0" indent="0" algn="r">
              <a:lnSpc>
                <a:spcPct val="100000"/>
              </a:lnSpc>
              <a:spcBef>
                <a:spcPts val="0"/>
              </a:spcBef>
              <a:buNone/>
              <a:defRPr sz="1950" b="1" i="0">
                <a:solidFill>
                  <a:schemeClr val="accent4"/>
                </a:solidFill>
                <a:latin typeface="+mn-lt"/>
                <a:ea typeface="Open Sans Semibold" panose="020B0606030504020204" pitchFamily="34" charset="0"/>
                <a:cs typeface="Open Sans Semibold" panose="020B0606030504020204" pitchFamily="34" charset="0"/>
              </a:defRPr>
            </a:lvl1pPr>
            <a:lvl2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 Speaker name</a:t>
            </a:r>
            <a:endParaRPr lang="en-US"/>
          </a:p>
        </p:txBody>
      </p:sp>
    </p:spTree>
    <p:extLst>
      <p:ext uri="{BB962C8B-B14F-4D97-AF65-F5344CB8AC3E}">
        <p14:creationId xmlns:p14="http://schemas.microsoft.com/office/powerpoint/2010/main" val="226336661"/>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Closing Slide/ Thank You">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B712C1D-486A-B749-B52A-C169E419CDA4}"/>
              </a:ext>
            </a:extLst>
          </p:cNvPr>
          <p:cNvSpPr txBox="1">
            <a:spLocks/>
          </p:cNvSpPr>
          <p:nvPr/>
        </p:nvSpPr>
        <p:spPr>
          <a:xfrm>
            <a:off x="435477" y="1946613"/>
            <a:ext cx="3752476" cy="1569660"/>
          </a:xfrm>
          <a:prstGeom prst="rect">
            <a:avLst/>
          </a:prstGeom>
          <a:noFill/>
        </p:spPr>
        <p:txBody>
          <a:bodyPr tIns="0" bIns="0" anchor="t">
            <a:spAutoFit/>
          </a:bodyPr>
          <a:lstStyle>
            <a:lvl1pPr algn="l" defTabSz="914400" rtl="0" eaLnBrk="1" latinLnBrk="0" hangingPunct="1">
              <a:lnSpc>
                <a:spcPct val="90000"/>
              </a:lnSpc>
              <a:spcBef>
                <a:spcPct val="0"/>
              </a:spcBef>
              <a:buNone/>
              <a:defRPr sz="6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a:lnSpc>
                <a:spcPct val="100000"/>
              </a:lnSpc>
            </a:pPr>
            <a:r>
              <a:rPr lang="en-GB" sz="5100"/>
              <a:t>Thank You.</a:t>
            </a:r>
            <a:endParaRPr lang="en-US" sz="5100"/>
          </a:p>
        </p:txBody>
      </p:sp>
      <p:sp>
        <p:nvSpPr>
          <p:cNvPr id="18" name="TextBox 17">
            <a:extLst>
              <a:ext uri="{FF2B5EF4-FFF2-40B4-BE49-F238E27FC236}">
                <a16:creationId xmlns:a16="http://schemas.microsoft.com/office/drawing/2014/main" id="{0FAC5960-9DFE-4FCE-9F3E-7E71D5335D59}"/>
              </a:ext>
            </a:extLst>
          </p:cNvPr>
          <p:cNvSpPr txBox="1"/>
          <p:nvPr/>
        </p:nvSpPr>
        <p:spPr>
          <a:xfrm>
            <a:off x="547218" y="4036859"/>
            <a:ext cx="3269822" cy="646331"/>
          </a:xfrm>
          <a:prstGeom prst="rect">
            <a:avLst/>
          </a:prstGeom>
          <a:noFill/>
        </p:spPr>
        <p:txBody>
          <a:bodyPr wrap="square" rtlCol="0">
            <a:spAutoFit/>
          </a:bodyPr>
          <a:lstStyle/>
          <a:p>
            <a:r>
              <a:rPr lang="en-US" sz="900">
                <a:solidFill>
                  <a:schemeClr val="tx2"/>
                </a:solidFill>
                <a:latin typeface="Open Sans" panose="020B0606030504020204" pitchFamily="34" charset="0"/>
                <a:ea typeface="Open Sans" panose="020B0606030504020204" pitchFamily="34" charset="0"/>
                <a:cs typeface="Open Sans" panose="020B0606030504020204" pitchFamily="34" charset="0"/>
              </a:rPr>
              <a:t>Claude Code Certified Architect (CCA) · a hands-on CellStrat intensive. Build, break, secure, test and ship.</a:t>
            </a:r>
          </a:p>
        </p:txBody>
      </p:sp>
      <p:sp>
        <p:nvSpPr>
          <p:cNvPr id="19" name="TextBox 18">
            <a:extLst>
              <a:ext uri="{FF2B5EF4-FFF2-40B4-BE49-F238E27FC236}">
                <a16:creationId xmlns:a16="http://schemas.microsoft.com/office/drawing/2014/main" id="{436E1585-D766-4B04-A7D7-9B27FF597730}"/>
              </a:ext>
            </a:extLst>
          </p:cNvPr>
          <p:cNvSpPr txBox="1"/>
          <p:nvPr/>
        </p:nvSpPr>
        <p:spPr>
          <a:xfrm>
            <a:off x="7763322" y="4521928"/>
            <a:ext cx="899777" cy="369332"/>
          </a:xfrm>
          <a:prstGeom prst="rect">
            <a:avLst/>
          </a:prstGeom>
          <a:noFill/>
        </p:spPr>
        <p:txBody>
          <a:bodyPr wrap="square" rtlCol="0">
            <a:spAutoFit/>
          </a:bodyPr>
          <a:lstStyle/>
          <a:p>
            <a:r>
              <a:rPr lang="en-US" sz="900" err="1">
                <a:solidFill>
                  <a:srgbClr val="6B6B6B"/>
                </a:solidFill>
                <a:latin typeface="Open Sans" panose="020B0606030504020204" pitchFamily="34" charset="0"/>
                <a:ea typeface="Open Sans" panose="020B0606030504020204" pitchFamily="34" charset="0"/>
                <a:cs typeface="Open Sans" panose="020B0606030504020204" pitchFamily="34" charset="0"/>
              </a:rPr>
              <a:t>CellStrat</a:t>
            </a:r>
            <a:endParaRPr lang="en-US" sz="900">
              <a:solidFill>
                <a:srgbClr val="6B6B6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Freeform 6">
            <a:extLst>
              <a:ext uri="{FF2B5EF4-FFF2-40B4-BE49-F238E27FC236}">
                <a16:creationId xmlns:a16="http://schemas.microsoft.com/office/drawing/2014/main" id="{B6C1155E-5832-4871-A7A9-F568C266B18F}"/>
              </a:ext>
            </a:extLst>
          </p:cNvPr>
          <p:cNvSpPr>
            <a:spLocks noEditPoints="1"/>
          </p:cNvSpPr>
          <p:nvPr/>
        </p:nvSpPr>
        <p:spPr bwMode="auto">
          <a:xfrm>
            <a:off x="6750798" y="4456955"/>
            <a:ext cx="232199" cy="251621"/>
          </a:xfrm>
          <a:custGeom>
            <a:avLst/>
            <a:gdLst>
              <a:gd name="T0" fmla="*/ 6321 w 8634"/>
              <a:gd name="T1" fmla="*/ 3305 h 9592"/>
              <a:gd name="T2" fmla="*/ 6622 w 8634"/>
              <a:gd name="T3" fmla="*/ 3222 h 9592"/>
              <a:gd name="T4" fmla="*/ 6304 w 8634"/>
              <a:gd name="T5" fmla="*/ 3665 h 9592"/>
              <a:gd name="T6" fmla="*/ 5563 w 8634"/>
              <a:gd name="T7" fmla="*/ 5255 h 9592"/>
              <a:gd name="T8" fmla="*/ 4494 w 8634"/>
              <a:gd name="T9" fmla="*/ 5709 h 9592"/>
              <a:gd name="T10" fmla="*/ 3218 w 8634"/>
              <a:gd name="T11" fmla="*/ 5420 h 9592"/>
              <a:gd name="T12" fmla="*/ 3739 w 8634"/>
              <a:gd name="T13" fmla="*/ 5338 h 9592"/>
              <a:gd name="T14" fmla="*/ 4172 w 8634"/>
              <a:gd name="T15" fmla="*/ 5136 h 9592"/>
              <a:gd name="T16" fmla="*/ 3575 w 8634"/>
              <a:gd name="T17" fmla="*/ 4644 h 9592"/>
              <a:gd name="T18" fmla="*/ 3600 w 8634"/>
              <a:gd name="T19" fmla="*/ 4634 h 9592"/>
              <a:gd name="T20" fmla="*/ 3818 w 8634"/>
              <a:gd name="T21" fmla="*/ 4598 h 9592"/>
              <a:gd name="T22" fmla="*/ 3295 w 8634"/>
              <a:gd name="T23" fmla="*/ 3892 h 9592"/>
              <a:gd name="T24" fmla="*/ 3558 w 8634"/>
              <a:gd name="T25" fmla="*/ 3942 h 9592"/>
              <a:gd name="T26" fmla="*/ 3412 w 8634"/>
              <a:gd name="T27" fmla="*/ 3003 h 9592"/>
              <a:gd name="T28" fmla="*/ 3991 w 8634"/>
              <a:gd name="T29" fmla="*/ 3486 h 9592"/>
              <a:gd name="T30" fmla="*/ 4863 w 8634"/>
              <a:gd name="T31" fmla="*/ 3748 h 9592"/>
              <a:gd name="T32" fmla="*/ 6009 w 8634"/>
              <a:gd name="T33" fmla="*/ 3024 h 9592"/>
              <a:gd name="T34" fmla="*/ 6538 w 8634"/>
              <a:gd name="T35" fmla="*/ 2936 h 9592"/>
              <a:gd name="T36" fmla="*/ 6321 w 8634"/>
              <a:gd name="T37" fmla="*/ 3305 h 9592"/>
              <a:gd name="T38" fmla="*/ 8393 w 8634"/>
              <a:gd name="T39" fmla="*/ 4538 h 9592"/>
              <a:gd name="T40" fmla="*/ 3555 w 8634"/>
              <a:gd name="T41" fmla="*/ 990 h 9592"/>
              <a:gd name="T42" fmla="*/ 1699 w 8634"/>
              <a:gd name="T43" fmla="*/ 2664 h 9592"/>
              <a:gd name="T44" fmla="*/ 7236 w 8634"/>
              <a:gd name="T45" fmla="*/ 6930 h 9592"/>
              <a:gd name="T46" fmla="*/ 8393 w 8634"/>
              <a:gd name="T47" fmla="*/ 4538 h 9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34" h="9592">
                <a:moveTo>
                  <a:pt x="6321" y="3305"/>
                </a:moveTo>
                <a:lnTo>
                  <a:pt x="6622" y="3222"/>
                </a:lnTo>
                <a:cubicBezTo>
                  <a:pt x="6520" y="3400"/>
                  <a:pt x="6336" y="3508"/>
                  <a:pt x="6304" y="3665"/>
                </a:cubicBezTo>
                <a:cubicBezTo>
                  <a:pt x="6198" y="4171"/>
                  <a:pt x="6196" y="4748"/>
                  <a:pt x="5563" y="5255"/>
                </a:cubicBezTo>
                <a:cubicBezTo>
                  <a:pt x="5297" y="5468"/>
                  <a:pt x="4960" y="5664"/>
                  <a:pt x="4494" y="5709"/>
                </a:cubicBezTo>
                <a:cubicBezTo>
                  <a:pt x="4093" y="5749"/>
                  <a:pt x="3440" y="5639"/>
                  <a:pt x="3218" y="5420"/>
                </a:cubicBezTo>
                <a:cubicBezTo>
                  <a:pt x="3350" y="5361"/>
                  <a:pt x="3576" y="5384"/>
                  <a:pt x="3739" y="5338"/>
                </a:cubicBezTo>
                <a:cubicBezTo>
                  <a:pt x="3916" y="5289"/>
                  <a:pt x="4054" y="5210"/>
                  <a:pt x="4172" y="5136"/>
                </a:cubicBezTo>
                <a:cubicBezTo>
                  <a:pt x="4013" y="5025"/>
                  <a:pt x="3707" y="5000"/>
                  <a:pt x="3575" y="4644"/>
                </a:cubicBezTo>
                <a:cubicBezTo>
                  <a:pt x="3583" y="4639"/>
                  <a:pt x="3596" y="4626"/>
                  <a:pt x="3600" y="4634"/>
                </a:cubicBezTo>
                <a:lnTo>
                  <a:pt x="3818" y="4598"/>
                </a:lnTo>
                <a:cubicBezTo>
                  <a:pt x="3508" y="4393"/>
                  <a:pt x="3360" y="4352"/>
                  <a:pt x="3295" y="3892"/>
                </a:cubicBezTo>
                <a:lnTo>
                  <a:pt x="3558" y="3942"/>
                </a:lnTo>
                <a:cubicBezTo>
                  <a:pt x="3373" y="3718"/>
                  <a:pt x="3184" y="3367"/>
                  <a:pt x="3412" y="3003"/>
                </a:cubicBezTo>
                <a:cubicBezTo>
                  <a:pt x="3614" y="3174"/>
                  <a:pt x="3609" y="3272"/>
                  <a:pt x="3991" y="3486"/>
                </a:cubicBezTo>
                <a:cubicBezTo>
                  <a:pt x="4253" y="3632"/>
                  <a:pt x="4505" y="3715"/>
                  <a:pt x="4863" y="3748"/>
                </a:cubicBezTo>
                <a:cubicBezTo>
                  <a:pt x="4837" y="3016"/>
                  <a:pt x="5390" y="2650"/>
                  <a:pt x="6009" y="3024"/>
                </a:cubicBezTo>
                <a:cubicBezTo>
                  <a:pt x="6201" y="3141"/>
                  <a:pt x="6311" y="3009"/>
                  <a:pt x="6538" y="2936"/>
                </a:cubicBezTo>
                <a:cubicBezTo>
                  <a:pt x="6481" y="3106"/>
                  <a:pt x="6394" y="3160"/>
                  <a:pt x="6321" y="3305"/>
                </a:cubicBezTo>
                <a:close/>
                <a:moveTo>
                  <a:pt x="8393" y="4538"/>
                </a:moveTo>
                <a:cubicBezTo>
                  <a:pt x="8634" y="2125"/>
                  <a:pt x="6090" y="0"/>
                  <a:pt x="3555" y="990"/>
                </a:cubicBezTo>
                <a:cubicBezTo>
                  <a:pt x="2733" y="1311"/>
                  <a:pt x="2094" y="1889"/>
                  <a:pt x="1699" y="2664"/>
                </a:cubicBezTo>
                <a:cubicBezTo>
                  <a:pt x="0" y="5997"/>
                  <a:pt x="3979" y="9592"/>
                  <a:pt x="7236" y="6930"/>
                </a:cubicBezTo>
                <a:cubicBezTo>
                  <a:pt x="7915" y="6376"/>
                  <a:pt x="8302" y="5446"/>
                  <a:pt x="8393" y="4538"/>
                </a:cubicBezTo>
                <a:close/>
              </a:path>
            </a:pathLst>
          </a:custGeom>
          <a:solidFill>
            <a:srgbClr val="00B0F0"/>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Freeform 11">
            <a:extLst>
              <a:ext uri="{FF2B5EF4-FFF2-40B4-BE49-F238E27FC236}">
                <a16:creationId xmlns:a16="http://schemas.microsoft.com/office/drawing/2014/main" id="{123AD49C-4EAA-4A9F-8D0C-E2B97FC4CB79}"/>
              </a:ext>
            </a:extLst>
          </p:cNvPr>
          <p:cNvSpPr>
            <a:spLocks noEditPoints="1"/>
          </p:cNvSpPr>
          <p:nvPr/>
        </p:nvSpPr>
        <p:spPr bwMode="auto">
          <a:xfrm>
            <a:off x="7040194" y="4472723"/>
            <a:ext cx="201861" cy="197774"/>
          </a:xfrm>
          <a:custGeom>
            <a:avLst/>
            <a:gdLst>
              <a:gd name="T0" fmla="*/ 1829 w 7029"/>
              <a:gd name="T1" fmla="*/ 2378 h 7017"/>
              <a:gd name="T2" fmla="*/ 2499 w 7029"/>
              <a:gd name="T3" fmla="*/ 2376 h 7017"/>
              <a:gd name="T4" fmla="*/ 2495 w 7029"/>
              <a:gd name="T5" fmla="*/ 4751 h 7017"/>
              <a:gd name="T6" fmla="*/ 1829 w 7029"/>
              <a:gd name="T7" fmla="*/ 4741 h 7017"/>
              <a:gd name="T8" fmla="*/ 1829 w 7029"/>
              <a:gd name="T9" fmla="*/ 2378 h 7017"/>
              <a:gd name="T10" fmla="*/ 3807 w 7029"/>
              <a:gd name="T11" fmla="*/ 2623 h 7017"/>
              <a:gd name="T12" fmla="*/ 5220 w 7029"/>
              <a:gd name="T13" fmla="*/ 2756 h 7017"/>
              <a:gd name="T14" fmla="*/ 5359 w 7029"/>
              <a:gd name="T15" fmla="*/ 4751 h 7017"/>
              <a:gd name="T16" fmla="*/ 4688 w 7029"/>
              <a:gd name="T17" fmla="*/ 4739 h 7017"/>
              <a:gd name="T18" fmla="*/ 4688 w 7029"/>
              <a:gd name="T19" fmla="*/ 3585 h 7017"/>
              <a:gd name="T20" fmla="*/ 4216 w 7029"/>
              <a:gd name="T21" fmla="*/ 2871 h 7017"/>
              <a:gd name="T22" fmla="*/ 3788 w 7029"/>
              <a:gd name="T23" fmla="*/ 3621 h 7017"/>
              <a:gd name="T24" fmla="*/ 3788 w 7029"/>
              <a:gd name="T25" fmla="*/ 4750 h 7017"/>
              <a:gd name="T26" fmla="*/ 3119 w 7029"/>
              <a:gd name="T27" fmla="*/ 4746 h 7017"/>
              <a:gd name="T28" fmla="*/ 3123 w 7029"/>
              <a:gd name="T29" fmla="*/ 2377 h 7017"/>
              <a:gd name="T30" fmla="*/ 3807 w 7029"/>
              <a:gd name="T31" fmla="*/ 2623 h 7017"/>
              <a:gd name="T32" fmla="*/ 2078 w 7029"/>
              <a:gd name="T33" fmla="*/ 1430 h 7017"/>
              <a:gd name="T34" fmla="*/ 2300 w 7029"/>
              <a:gd name="T35" fmla="*/ 2167 h 7017"/>
              <a:gd name="T36" fmla="*/ 2078 w 7029"/>
              <a:gd name="T37" fmla="*/ 1430 h 7017"/>
              <a:gd name="T38" fmla="*/ 3018 w 7029"/>
              <a:gd name="T39" fmla="*/ 294 h 7017"/>
              <a:gd name="T40" fmla="*/ 288 w 7029"/>
              <a:gd name="T41" fmla="*/ 3992 h 7017"/>
              <a:gd name="T42" fmla="*/ 4023 w 7029"/>
              <a:gd name="T43" fmla="*/ 6708 h 7017"/>
              <a:gd name="T44" fmla="*/ 6733 w 7029"/>
              <a:gd name="T45" fmla="*/ 3005 h 7017"/>
              <a:gd name="T46" fmla="*/ 3018 w 7029"/>
              <a:gd name="T47" fmla="*/ 294 h 7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29" h="7017">
                <a:moveTo>
                  <a:pt x="1829" y="2378"/>
                </a:moveTo>
                <a:lnTo>
                  <a:pt x="2499" y="2376"/>
                </a:lnTo>
                <a:lnTo>
                  <a:pt x="2495" y="4751"/>
                </a:lnTo>
                <a:lnTo>
                  <a:pt x="1829" y="4741"/>
                </a:lnTo>
                <a:lnTo>
                  <a:pt x="1829" y="2378"/>
                </a:lnTo>
                <a:close/>
                <a:moveTo>
                  <a:pt x="3807" y="2623"/>
                </a:moveTo>
                <a:cubicBezTo>
                  <a:pt x="4148" y="2196"/>
                  <a:pt x="4940" y="2286"/>
                  <a:pt x="5220" y="2756"/>
                </a:cubicBezTo>
                <a:cubicBezTo>
                  <a:pt x="5446" y="3134"/>
                  <a:pt x="5370" y="4239"/>
                  <a:pt x="5359" y="4751"/>
                </a:cubicBezTo>
                <a:lnTo>
                  <a:pt x="4688" y="4739"/>
                </a:lnTo>
                <a:cubicBezTo>
                  <a:pt x="4691" y="4355"/>
                  <a:pt x="4688" y="3970"/>
                  <a:pt x="4688" y="3585"/>
                </a:cubicBezTo>
                <a:cubicBezTo>
                  <a:pt x="4688" y="3207"/>
                  <a:pt x="4670" y="2818"/>
                  <a:pt x="4216" y="2871"/>
                </a:cubicBezTo>
                <a:cubicBezTo>
                  <a:pt x="3845" y="2913"/>
                  <a:pt x="3786" y="3247"/>
                  <a:pt x="3788" y="3621"/>
                </a:cubicBezTo>
                <a:cubicBezTo>
                  <a:pt x="3790" y="3997"/>
                  <a:pt x="3788" y="4374"/>
                  <a:pt x="3788" y="4750"/>
                </a:cubicBezTo>
                <a:lnTo>
                  <a:pt x="3119" y="4746"/>
                </a:lnTo>
                <a:lnTo>
                  <a:pt x="3123" y="2377"/>
                </a:lnTo>
                <a:cubicBezTo>
                  <a:pt x="3927" y="2374"/>
                  <a:pt x="3741" y="2318"/>
                  <a:pt x="3807" y="2623"/>
                </a:cubicBezTo>
                <a:close/>
                <a:moveTo>
                  <a:pt x="2078" y="1430"/>
                </a:moveTo>
                <a:cubicBezTo>
                  <a:pt x="2577" y="1304"/>
                  <a:pt x="2732" y="2029"/>
                  <a:pt x="2300" y="2167"/>
                </a:cubicBezTo>
                <a:cubicBezTo>
                  <a:pt x="1779" y="2333"/>
                  <a:pt x="1529" y="1568"/>
                  <a:pt x="2078" y="1430"/>
                </a:cubicBezTo>
                <a:close/>
                <a:moveTo>
                  <a:pt x="3018" y="294"/>
                </a:moveTo>
                <a:cubicBezTo>
                  <a:pt x="1398" y="540"/>
                  <a:pt x="0" y="2030"/>
                  <a:pt x="288" y="3992"/>
                </a:cubicBezTo>
                <a:cubicBezTo>
                  <a:pt x="525" y="5610"/>
                  <a:pt x="2082" y="7017"/>
                  <a:pt x="4023" y="6708"/>
                </a:cubicBezTo>
                <a:cubicBezTo>
                  <a:pt x="5629" y="6453"/>
                  <a:pt x="7029" y="4935"/>
                  <a:pt x="6733" y="3005"/>
                </a:cubicBezTo>
                <a:cubicBezTo>
                  <a:pt x="6484" y="1382"/>
                  <a:pt x="4950" y="0"/>
                  <a:pt x="3018" y="294"/>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Picture 35">
            <a:extLst>
              <a:ext uri="{FF2B5EF4-FFF2-40B4-BE49-F238E27FC236}">
                <a16:creationId xmlns:a16="http://schemas.microsoft.com/office/drawing/2014/main" id="{B982B858-E814-42A5-B633-8AC8151FA0C2}"/>
              </a:ext>
            </a:extLst>
          </p:cNvPr>
          <p:cNvPicPr>
            <a:picLocks noChangeAspect="1"/>
          </p:cNvPicPr>
          <p:nvPr/>
        </p:nvPicPr>
        <p:blipFill>
          <a:blip r:embed="rId5"/>
          <a:srcRect/>
          <a:stretch/>
        </p:blipFill>
        <p:spPr>
          <a:xfrm>
            <a:off x="572126" y="3596334"/>
            <a:ext cx="1353095" cy="346947"/>
          </a:xfrm>
          <a:prstGeom prst="rect">
            <a:avLst/>
          </a:prstGeom>
        </p:spPr>
      </p:pic>
      <p:pic>
        <p:nvPicPr>
          <p:cNvPr id="37" name="Picture 36" descr="Logo&#10;&#10;Description automatically generated">
            <a:extLst>
              <a:ext uri="{FF2B5EF4-FFF2-40B4-BE49-F238E27FC236}">
                <a16:creationId xmlns:a16="http://schemas.microsoft.com/office/drawing/2014/main" id="{F94D8FD5-CAB5-47A9-976D-DFB774A6BE63}"/>
              </a:ext>
            </a:extLst>
          </p:cNvPr>
          <p:cNvPicPr>
            <a:picLocks noChangeAspect="1"/>
          </p:cNvPicPr>
          <p:nvPr/>
        </p:nvPicPr>
        <p:blipFill>
          <a:blip r:embed="rId6"/>
          <a:stretch>
            <a:fillRect/>
          </a:stretch>
        </p:blipFill>
        <p:spPr>
          <a:xfrm>
            <a:off x="7530370" y="4481906"/>
            <a:ext cx="178200" cy="178200"/>
          </a:xfrm>
          <a:prstGeom prst="rect">
            <a:avLst/>
          </a:prstGeom>
        </p:spPr>
      </p:pic>
      <p:pic>
        <p:nvPicPr>
          <p:cNvPr id="38" name="Picture 37" descr="Icon&#10;&#10;Description automatically generated">
            <a:extLst>
              <a:ext uri="{FF2B5EF4-FFF2-40B4-BE49-F238E27FC236}">
                <a16:creationId xmlns:a16="http://schemas.microsoft.com/office/drawing/2014/main" id="{C546B0A2-978B-4322-9B77-B8BAE7EEE896}"/>
              </a:ext>
            </a:extLst>
          </p:cNvPr>
          <p:cNvPicPr>
            <a:picLocks noChangeAspect="1"/>
          </p:cNvPicPr>
          <p:nvPr/>
        </p:nvPicPr>
        <p:blipFill>
          <a:blip r:embed="rId7"/>
          <a:stretch>
            <a:fillRect/>
          </a:stretch>
        </p:blipFill>
        <p:spPr>
          <a:xfrm>
            <a:off x="7294973" y="4481906"/>
            <a:ext cx="178200" cy="178200"/>
          </a:xfrm>
          <a:prstGeom prst="rect">
            <a:avLst/>
          </a:prstGeom>
        </p:spPr>
      </p:pic>
    </p:spTree>
    <p:extLst>
      <p:ext uri="{BB962C8B-B14F-4D97-AF65-F5344CB8AC3E}">
        <p14:creationId xmlns:p14="http://schemas.microsoft.com/office/powerpoint/2010/main" val="4035606558"/>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6720163"/>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586"/>
      </p:ext>
    </p:extLst>
  </p:cSld>
  <p:clrMapOvr>
    <a:masterClrMapping/>
  </p:clrMapOvr>
  <p:hf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slideLayout" Target="../slideLayouts/slideLayout30.xml"/><Relationship Id="rId20" Type="http://schemas.openxmlformats.org/officeDocument/2006/relationships/slideLayout" Target="../slideLayouts/slideLayout31.xml"/><Relationship Id="rId21" Type="http://schemas.openxmlformats.org/officeDocument/2006/relationships/slideLayout" Target="../slideLayouts/slideLayout32.xml"/><Relationship Id="rId22" Type="http://schemas.openxmlformats.org/officeDocument/2006/relationships/slideLayout" Target="../slideLayouts/slideLayout33.xml"/><Relationship Id="rId23" Type="http://schemas.openxmlformats.org/officeDocument/2006/relationships/slideLayout" Target="../slideLayouts/slideLayout34.xml"/><Relationship Id="rId24" Type="http://schemas.openxmlformats.org/officeDocument/2006/relationships/slideLayout" Target="../slideLayouts/slideLayout35.xml"/><Relationship Id="rId25" Type="http://schemas.openxmlformats.org/officeDocument/2006/relationships/slideLayout" Target="../slideLayouts/slideLayout36.xml"/><Relationship Id="rId26" Type="http://schemas.openxmlformats.org/officeDocument/2006/relationships/slideLayout" Target="../slideLayouts/slideLayout37.xml"/><Relationship Id="rId27" Type="http://schemas.openxmlformats.org/officeDocument/2006/relationships/slideLayout" Target="../slideLayouts/slideLayout38.xml"/><Relationship Id="rId28" Type="http://schemas.openxmlformats.org/officeDocument/2006/relationships/slideLayout" Target="../slideLayouts/slideLayout39.xml"/><Relationship Id="rId29" Type="http://schemas.openxmlformats.org/officeDocument/2006/relationships/slideLayout" Target="../slideLayouts/slideLayout40.xml"/><Relationship Id="rId30" Type="http://schemas.openxmlformats.org/officeDocument/2006/relationships/slideLayout" Target="../slideLayouts/slideLayout41.xml"/><Relationship Id="rId31" Type="http://schemas.openxmlformats.org/officeDocument/2006/relationships/slideLayout" Target="../slideLayouts/slideLayout42.xml"/><Relationship Id="rId32" Type="http://schemas.openxmlformats.org/officeDocument/2006/relationships/slideLayout" Target="../slideLayouts/slideLayout43.xml"/><Relationship Id="rId33" Type="http://schemas.openxmlformats.org/officeDocument/2006/relationships/slideLayout" Target="../slideLayouts/slideLayout44.xml"/><Relationship Id="rId34" Type="http://schemas.openxmlformats.org/officeDocument/2006/relationships/slideLayout" Target="../slideLayouts/slideLayout45.xml"/><Relationship Id="rId35" Type="http://schemas.openxmlformats.org/officeDocument/2006/relationships/slideLayout" Target="../slideLayouts/slideLayout46.xml"/><Relationship Id="rId36" Type="http://schemas.openxmlformats.org/officeDocument/2006/relationships/slideLayout" Target="../slideLayouts/slideLayout47.xml"/><Relationship Id="rId37" Type="http://schemas.openxmlformats.org/officeDocument/2006/relationships/slideLayout" Target="../slideLayouts/slideLayout48.xml"/><Relationship Id="rId38" Type="http://schemas.openxmlformats.org/officeDocument/2006/relationships/slideLayout" Target="../slideLayouts/slideLayout49.xml"/><Relationship Id="rId39" Type="http://schemas.openxmlformats.org/officeDocument/2006/relationships/slideLayout" Target="../slideLayouts/slideLayout50.xml"/><Relationship Id="rId40" Type="http://schemas.openxmlformats.org/officeDocument/2006/relationships/slideLayout" Target="../slideLayouts/slideLayout51.xml"/><Relationship Id="rId41" Type="http://schemas.openxmlformats.org/officeDocument/2006/relationships/slideLayout" Target="../slideLayouts/slideLayout52.xml"/><Relationship Id="rId42" Type="http://schemas.openxmlformats.org/officeDocument/2006/relationships/slideLayout" Target="../slideLayouts/slideLayout53.xml"/><Relationship Id="rId43" Type="http://schemas.openxmlformats.org/officeDocument/2006/relationships/slideLayout" Target="../slideLayouts/slideLayout54.xml"/><Relationship Id="rId44" Type="http://schemas.openxmlformats.org/officeDocument/2006/relationships/slideLayout" Target="../slideLayouts/slideLayout55.xml"/><Relationship Id="rId45" Type="http://schemas.openxmlformats.org/officeDocument/2006/relationships/slideLayout" Target="../slideLayouts/slideLayout56.xml"/><Relationship Id="rId46" Type="http://schemas.openxmlformats.org/officeDocument/2006/relationships/slideLayout" Target="../slideLayouts/slideLayout57.xml"/><Relationship Id="rId47" Type="http://schemas.openxmlformats.org/officeDocument/2006/relationships/theme" Target="../theme/theme2.xml"/><Relationship Id="rId48" Type="http://schemas.openxmlformats.org/officeDocument/2006/relationships/image" Target="../media/image1_cellstrat.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425A41-B384-BE45-5EBF-53DA1A99508D}"/>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F21F026-B779-C806-82F3-BBAB3840240D}"/>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524E19C-E8E1-EF78-86F6-DE4E0B7BF8FD}"/>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2CE320D5-DDC3-8F80-3EF9-0BBEB3F95AB0}"/>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1262585-3DDE-BEFE-A6A1-A69A330BBF20}"/>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722B8769-7D86-D14A-8278-DEF63398E0A9}" type="slidenum">
              <a:rPr lang="en-US" smtClean="0"/>
              <a:t>‹#›</a:t>
            </a:fld>
            <a:endParaRPr lang="en-US"/>
          </a:p>
        </p:txBody>
      </p:sp>
    </p:spTree>
    <p:extLst>
      <p:ext uri="{BB962C8B-B14F-4D97-AF65-F5344CB8AC3E}">
        <p14:creationId xmlns:p14="http://schemas.microsoft.com/office/powerpoint/2010/main" val="172585487"/>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40CAB4F-5315-40D1-8058-A8F38B46EFA8}"/>
              </a:ext>
            </a:extLst>
          </p:cNvPr>
          <p:cNvSpPr txBox="1">
            <a:spLocks/>
          </p:cNvSpPr>
          <p:nvPr/>
        </p:nvSpPr>
        <p:spPr>
          <a:xfrm>
            <a:off x="4403800" y="4892437"/>
            <a:ext cx="336401" cy="163991"/>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fld id="{8CDB8CBA-EB11-894E-8631-17E36B7DB51E}" type="slidenum">
              <a:rPr lang="en-US" sz="600" smtClean="0"/>
              <a:pPr/>
              <a:t>‹#›</a:t>
            </a:fld>
            <a:endParaRPr lang="en-US" sz="600"/>
          </a:p>
        </p:txBody>
      </p:sp>
      <p:sp>
        <p:nvSpPr>
          <p:cNvPr id="5" name="Title 1">
            <a:extLst>
              <a:ext uri="{FF2B5EF4-FFF2-40B4-BE49-F238E27FC236}">
                <a16:creationId xmlns:a16="http://schemas.microsoft.com/office/drawing/2014/main" id="{F24B51A2-DD97-4295-83B2-4725824AC004}"/>
              </a:ext>
            </a:extLst>
          </p:cNvPr>
          <p:cNvSpPr txBox="1">
            <a:spLocks/>
          </p:cNvSpPr>
          <p:nvPr/>
        </p:nvSpPr>
        <p:spPr>
          <a:xfrm>
            <a:off x="489348" y="4892437"/>
            <a:ext cx="2400299" cy="163991"/>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sz="600"/>
              <a:t>© 2026 CellStrat. All rights reserved | CCA Intensive</a:t>
            </a:r>
          </a:p>
        </p:txBody>
      </p:sp>
      <p:pic>
        <p:nvPicPr>
          <p:cNvPr id="6" name="Picture 5">
            <a:extLst>
              <a:ext uri="{FF2B5EF4-FFF2-40B4-BE49-F238E27FC236}">
                <a16:creationId xmlns:a16="http://schemas.microsoft.com/office/drawing/2014/main" id="{34A67515-0D27-4632-837D-002EE0CF30EF}"/>
              </a:ext>
            </a:extLst>
          </p:cNvPr>
          <p:cNvPicPr>
            <a:picLocks noChangeAspect="1"/>
          </p:cNvPicPr>
          <p:nvPr/>
        </p:nvPicPr>
        <p:blipFill rotWithShape="1">
          <a:blip r:embed="rId48">
            <a:extLst>
              <a:ext uri="{28A0092B-C50C-407E-A947-70E740481C1C}">
                <a14:useLocalDpi xmlns:a14="http://schemas.microsoft.com/office/drawing/2010/main" val="0"/>
              </a:ext>
            </a:extLst>
          </a:blip>
          <a:srcRect b="24104"/>
          <a:stretch/>
        </p:blipFill>
        <p:spPr>
          <a:xfrm>
            <a:off x="8087896" y="4917264"/>
            <a:ext cx="514608" cy="112234"/>
          </a:xfrm>
          <a:prstGeom prst="rect">
            <a:avLst/>
          </a:prstGeom>
        </p:spPr>
      </p:pic>
    </p:spTree>
    <p:extLst>
      <p:ext uri="{BB962C8B-B14F-4D97-AF65-F5344CB8AC3E}">
        <p14:creationId xmlns:p14="http://schemas.microsoft.com/office/powerpoint/2010/main" val="531065861"/>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 id="2147483685" r:id="rId21"/>
    <p:sldLayoutId id="2147483686" r:id="rId22"/>
    <p:sldLayoutId id="2147483687" r:id="rId23"/>
    <p:sldLayoutId id="2147483688" r:id="rId24"/>
    <p:sldLayoutId id="2147483689" r:id="rId25"/>
    <p:sldLayoutId id="2147483690" r:id="rId26"/>
    <p:sldLayoutId id="2147483691" r:id="rId27"/>
    <p:sldLayoutId id="2147483692" r:id="rId28"/>
    <p:sldLayoutId id="2147483693" r:id="rId29"/>
    <p:sldLayoutId id="2147483694" r:id="rId30"/>
    <p:sldLayoutId id="2147483695" r:id="rId31"/>
    <p:sldLayoutId id="2147483696" r:id="rId32"/>
    <p:sldLayoutId id="2147483697" r:id="rId33"/>
    <p:sldLayoutId id="2147483698" r:id="rId34"/>
    <p:sldLayoutId id="2147483699" r:id="rId35"/>
    <p:sldLayoutId id="2147483700" r:id="rId36"/>
    <p:sldLayoutId id="2147483701" r:id="rId37"/>
    <p:sldLayoutId id="2147483702" r:id="rId38"/>
    <p:sldLayoutId id="2147483703" r:id="rId39"/>
    <p:sldLayoutId id="2147483704" r:id="rId40"/>
    <p:sldLayoutId id="2147483705" r:id="rId41"/>
    <p:sldLayoutId id="2147483706" r:id="rId42"/>
    <p:sldLayoutId id="2147483707" r:id="rId43"/>
    <p:sldLayoutId id="2147483708" r:id="rId44"/>
    <p:sldLayoutId id="2147483709" r:id="rId45"/>
    <p:sldLayoutId id="2147483710" r:id="rId46"/>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Open Sans" panose="020B0606030504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Open Sans" panose="020B0606030504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Open Sans" panose="020B0606030504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Open Sans" panose="020B06060305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0">
          <p15:clr>
            <a:srgbClr val="F26B43"/>
          </p15:clr>
        </p15:guide>
        <p15:guide id="2" pos="448">
          <p15:clr>
            <a:srgbClr val="F26B43"/>
          </p15:clr>
        </p15:guide>
        <p15:guide id="29" orient="horz" pos="809">
          <p15:clr>
            <a:srgbClr val="F26B43"/>
          </p15:clr>
        </p15:guide>
        <p15:guide id="43" orient="horz" pos="3914">
          <p15:clr>
            <a:srgbClr val="F26B43"/>
          </p15:clr>
        </p15:guide>
        <p15:guide id="44" pos="721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image" Target="../media/image17.png"/><Relationship Id="rId8" Type="http://schemas.openxmlformats.org/officeDocument/2006/relationships/image" Target="../media/image18.svg"/><Relationship Id="rId9" Type="http://schemas.openxmlformats.org/officeDocument/2006/relationships/image" Target="../media/image19.png"/><Relationship Id="rId10" Type="http://schemas.openxmlformats.org/officeDocument/2006/relationships/image" Target="../media/image20.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20365-B7BC-8899-3513-BDF822F2080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13CC98-C233-94D1-8B26-808E93C47D19}"/>
              </a:ext>
            </a:extLst>
          </p:cNvPr>
          <p:cNvSpPr>
            <a:spLocks noGrp="1"/>
          </p:cNvSpPr>
          <p:nvPr>
            <p:ph type="ctrTitle"/>
          </p:nvPr>
        </p:nvSpPr>
        <p:spPr>
          <a:xfrm>
            <a:off x="694800" y="2307979"/>
            <a:ext cx="6775132" cy="1569660"/>
          </a:xfrm>
        </p:spPr>
        <p:txBody>
          <a:bodyPr wrap="square" lIns="91440" tIns="45720" rIns="91440" bIns="45720" anchor="t">
            <a:spAutoFit/>
          </a:bodyPr>
          <a:lstStyle/>
          <a:p>
            <a:pPr algn="l"/>
            <a:r>
              <a:rPr lang="en-IN" sz="4800">
                <a:latin typeface="Open Sans"/>
                <a:ea typeface="Open Sans"/>
                <a:cs typeface="Open Sans"/>
              </a:rPr>
              <a:t>DEBUG, REVIEW &amp; IMPROVE </a:t>
            </a:r>
            <a:r>
              <a:rPr lang="en-IN" sz="4800">
                <a:solidFill>
                  <a:schemeClr val="accent2"/>
                </a:solidFill>
                <a:latin typeface="Open Sans"/>
                <a:ea typeface="Open Sans"/>
                <a:cs typeface="Open Sans"/>
              </a:rPr>
              <a:t>YOUR CODE</a:t>
            </a:r>
            <a:endParaRPr lang="en-US" sz="4800">
              <a:solidFill>
                <a:schemeClr val="accent2"/>
              </a:solidFill>
              <a:latin typeface="Open Sans"/>
              <a:ea typeface="Open Sans"/>
              <a:cs typeface="Open Sans"/>
            </a:endParaRPr>
          </a:p>
        </p:txBody>
      </p:sp>
      <p:sp>
        <p:nvSpPr>
          <p:cNvPr id="5" name="Shape 10">
            <a:extLst>
              <a:ext uri="{FF2B5EF4-FFF2-40B4-BE49-F238E27FC236}">
                <a16:creationId xmlns:a16="http://schemas.microsoft.com/office/drawing/2014/main" id="{D1A2A319-805A-A6E5-04EF-EFF027E090A2}"/>
              </a:ext>
            </a:extLst>
          </p:cNvPr>
          <p:cNvSpPr/>
          <p:nvPr/>
        </p:nvSpPr>
        <p:spPr>
          <a:xfrm>
            <a:off x="694800" y="1622493"/>
            <a:ext cx="2786912" cy="515420"/>
          </a:xfrm>
          <a:prstGeom prst="roundRect">
            <a:avLst>
              <a:gd name="adj" fmla="val 11905"/>
            </a:avLst>
          </a:prstGeom>
          <a:solidFill>
            <a:schemeClr val="accent1"/>
          </a:solidFill>
          <a:ln w="12700">
            <a:noFill/>
            <a:prstDash val="solid"/>
          </a:ln>
        </p:spPr>
        <p:txBody>
          <a:bodyP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itle 2">
            <a:extLst>
              <a:ext uri="{FF2B5EF4-FFF2-40B4-BE49-F238E27FC236}">
                <a16:creationId xmlns:a16="http://schemas.microsoft.com/office/drawing/2014/main" id="{C81D6E02-DB5A-C964-32B1-090C32F51BA4}"/>
              </a:ext>
            </a:extLst>
          </p:cNvPr>
          <p:cNvSpPr txBox="1">
            <a:spLocks/>
          </p:cNvSpPr>
          <p:nvPr/>
        </p:nvSpPr>
        <p:spPr>
          <a:xfrm>
            <a:off x="734022" y="1603204"/>
            <a:ext cx="2703339" cy="584775"/>
          </a:xfrm>
          <a:prstGeom prst="rect">
            <a:avLst/>
          </a:prstGeom>
        </p:spPr>
        <p:txBody>
          <a:bodyPr wrap="square" lIns="91440" tIns="45720" rIns="91440" bIns="45720" anchor="b">
            <a:spAutoFit/>
          </a:bodyPr>
          <a:lstStyle>
            <a:lvl1pPr marL="0" algn="l" defTabSz="685800" rtl="0" eaLnBrk="1" latinLnBrk="0" hangingPunct="1">
              <a:lnSpc>
                <a:spcPct val="100000"/>
              </a:lnSpc>
              <a:spcBef>
                <a:spcPct val="0"/>
              </a:spcBef>
              <a:buNone/>
              <a:defRPr sz="5100" b="1" i="0" kern="1200">
                <a:solidFill>
                  <a:schemeClr val="tx1"/>
                </a:solidFill>
                <a:latin typeface="+mn-lt"/>
                <a:ea typeface="Open Sans" panose="020B0606030504020204" pitchFamily="34" charset="0"/>
                <a:cs typeface="Open Sans" panose="020B0606030504020204" pitchFamily="34" charset="0"/>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algn="ctr"/>
            <a:r>
              <a:rPr lang="en-IN" sz="3200">
                <a:solidFill>
                  <a:schemeClr val="bg1"/>
                </a:solidFill>
                <a:latin typeface="Open Sans"/>
                <a:ea typeface="Open Sans"/>
                <a:cs typeface="Open Sans"/>
              </a:rPr>
              <a:t>Module 4:</a:t>
            </a:r>
            <a:endParaRPr lang="en-US" sz="3200">
              <a:solidFill>
                <a:schemeClr val="bg1"/>
              </a:solidFill>
              <a:latin typeface="Open Sans"/>
              <a:ea typeface="Open Sans"/>
              <a:cs typeface="Open Sans"/>
            </a:endParaRPr>
          </a:p>
        </p:txBody>
      </p:sp>
    </p:spTree>
    <p:extLst>
      <p:ext uri="{BB962C8B-B14F-4D97-AF65-F5344CB8AC3E}">
        <p14:creationId xmlns:p14="http://schemas.microsoft.com/office/powerpoint/2010/main" val="3883918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65760" y="1426464"/>
            <a:ext cx="2724912" cy="384048"/>
          </a:xfrm>
          <a:prstGeom prst="roundRect">
            <a:avLst>
              <a:gd name="adj" fmla="val 11905"/>
            </a:avLst>
          </a:prstGeom>
          <a:solidFill>
            <a:srgbClr val="00206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4"/>
          <p:cNvSpPr/>
          <p:nvPr/>
        </p:nvSpPr>
        <p:spPr>
          <a:xfrm>
            <a:off x="365760" y="1426464"/>
            <a:ext cx="2724912" cy="384048"/>
          </a:xfrm>
          <a:prstGeom prst="rect">
            <a:avLst/>
          </a:prstGeom>
          <a:noFill/>
          <a:ln/>
        </p:spPr>
        <p:txBody>
          <a:bodyPr wrap="square" lIns="0" tIns="0" rIns="0" bIns="0" rtlCol="0" anchor="ctr"/>
          <a:lstStyle/>
          <a:p>
            <a:pPr algn="ctr"/>
            <a:r>
              <a:rPr lang="en-IN" sz="1200" b="1">
                <a:solidFill>
                  <a:schemeClr val="bg1"/>
                </a:solidFill>
                <a:latin typeface="Open Sans" panose="020B0606030504020204" pitchFamily="34" charset="0"/>
                <a:ea typeface="Open Sans" panose="020B0606030504020204" pitchFamily="34" charset="0"/>
                <a:cs typeface="Open Sans" panose="020B0606030504020204" pitchFamily="34" charset="0"/>
              </a:rPr>
              <a:t>SCOPED &amp; BRIEFED</a:t>
            </a:r>
            <a:endParaRPr lang="en-US" sz="12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p:cNvSpPr/>
          <p:nvPr/>
        </p:nvSpPr>
        <p:spPr>
          <a:xfrm>
            <a:off x="365760" y="1828800"/>
            <a:ext cx="2724912" cy="2314277"/>
          </a:xfrm>
          <a:prstGeom prst="roundRect">
            <a:avLst>
              <a:gd name="adj" fmla="val 2685"/>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Shape 10"/>
          <p:cNvSpPr/>
          <p:nvPr/>
        </p:nvSpPr>
        <p:spPr>
          <a:xfrm>
            <a:off x="3218688" y="1426464"/>
            <a:ext cx="2724912" cy="384048"/>
          </a:xfrm>
          <a:prstGeom prst="roundRect">
            <a:avLst>
              <a:gd name="adj" fmla="val 11905"/>
            </a:avLst>
          </a:prstGeom>
          <a:solidFill>
            <a:srgbClr val="1565C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3" name="Text 11"/>
          <p:cNvSpPr/>
          <p:nvPr/>
        </p:nvSpPr>
        <p:spPr>
          <a:xfrm>
            <a:off x="3218688" y="1426464"/>
            <a:ext cx="2724912" cy="384048"/>
          </a:xfrm>
          <a:prstGeom prst="rect">
            <a:avLst/>
          </a:prstGeom>
          <a:noFill/>
          <a:ln/>
        </p:spPr>
        <p:txBody>
          <a:bodyPr wrap="square" lIns="0" tIns="0" rIns="0" bIns="0" rtlCol="0" anchor="ctr"/>
          <a:lstStyle/>
          <a:p>
            <a:pPr algn="ctr"/>
            <a:r>
              <a:rPr lang="en-IN" sz="1200" b="1">
                <a:solidFill>
                  <a:schemeClr val="bg1"/>
                </a:solidFill>
                <a:latin typeface="Open Sans" panose="020B0606030504020204" pitchFamily="34" charset="0"/>
                <a:ea typeface="Open Sans" panose="020B0606030504020204" pitchFamily="34" charset="0"/>
                <a:cs typeface="Open Sans" panose="020B0606030504020204" pitchFamily="34" charset="0"/>
              </a:rPr>
              <a:t>BUILT &amp; RUNNING</a:t>
            </a:r>
            <a:endParaRPr lang="en-US" sz="12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3218688" y="1828800"/>
            <a:ext cx="2724912" cy="2314277"/>
          </a:xfrm>
          <a:prstGeom prst="roundRect">
            <a:avLst>
              <a:gd name="adj" fmla="val 2685"/>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9" name="Shape 17"/>
          <p:cNvSpPr/>
          <p:nvPr/>
        </p:nvSpPr>
        <p:spPr>
          <a:xfrm>
            <a:off x="6071616" y="1426464"/>
            <a:ext cx="2724912" cy="384048"/>
          </a:xfrm>
          <a:prstGeom prst="roundRect">
            <a:avLst>
              <a:gd name="adj" fmla="val 11905"/>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0" name="Text 18"/>
          <p:cNvSpPr/>
          <p:nvPr/>
        </p:nvSpPr>
        <p:spPr>
          <a:xfrm>
            <a:off x="6071616" y="1426464"/>
            <a:ext cx="2724912" cy="384048"/>
          </a:xfrm>
          <a:prstGeom prst="rect">
            <a:avLst/>
          </a:prstGeom>
          <a:noFill/>
          <a:ln/>
        </p:spPr>
        <p:txBody>
          <a:bodyPr wrap="square" lIns="0" tIns="0" rIns="0" bIns="0" rtlCol="0" anchor="ctr"/>
          <a:lstStyle/>
          <a:p>
            <a:pPr algn="ctr"/>
            <a:r>
              <a:rPr lang="en-IN" sz="1200" b="1">
                <a:solidFill>
                  <a:schemeClr val="bg1"/>
                </a:solidFill>
                <a:latin typeface="Open Sans" panose="020B0606030504020204" pitchFamily="34" charset="0"/>
                <a:ea typeface="Open Sans" panose="020B0606030504020204" pitchFamily="34" charset="0"/>
                <a:cs typeface="Open Sans" panose="020B0606030504020204" pitchFamily="34" charset="0"/>
              </a:rPr>
              <a:t>GROUNDED &amp; HARDENED </a:t>
            </a:r>
            <a:endParaRPr lang="en-US" sz="12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p:cNvSpPr/>
          <p:nvPr/>
        </p:nvSpPr>
        <p:spPr>
          <a:xfrm>
            <a:off x="6071616" y="1828800"/>
            <a:ext cx="2724912" cy="2314277"/>
          </a:xfrm>
          <a:prstGeom prst="roundRect">
            <a:avLst>
              <a:gd name="adj" fmla="val 2685"/>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8" name="Text 6"/>
          <p:cNvSpPr/>
          <p:nvPr/>
        </p:nvSpPr>
        <p:spPr>
          <a:xfrm>
            <a:off x="652512" y="1941103"/>
            <a:ext cx="2292394" cy="383593"/>
          </a:xfrm>
          <a:prstGeom prst="rect">
            <a:avLst/>
          </a:prstGeom>
          <a:noFill/>
          <a:ln/>
        </p:spPr>
        <p:txBody>
          <a:bodyPr wrap="square" lIns="0" tIns="0" rIns="0" bIns="0" rtlCol="0" anchor="t"/>
          <a:lstStyle/>
          <a:p>
            <a:r>
              <a:rPr lang="en-IN" sz="1200">
                <a:latin typeface="Open Sans" pitchFamily="2" charset="0"/>
                <a:ea typeface="Open Sans" pitchFamily="2" charset="0"/>
                <a:cs typeface="Open Sans" pitchFamily="2" charset="0"/>
              </a:rPr>
              <a:t>Spec read, gaps closed in SPEC.md</a:t>
            </a:r>
            <a:endParaRPr lang="en-US" sz="1200">
              <a:latin typeface="Open Sans" pitchFamily="2" charset="0"/>
              <a:ea typeface="Open Sans" pitchFamily="2" charset="0"/>
              <a:cs typeface="Open Sans" pitchFamily="2" charset="0"/>
            </a:endParaRPr>
          </a:p>
        </p:txBody>
      </p:sp>
      <p:sp>
        <p:nvSpPr>
          <p:cNvPr id="9" name="Text 7"/>
          <p:cNvSpPr/>
          <p:nvPr/>
        </p:nvSpPr>
        <p:spPr>
          <a:xfrm>
            <a:off x="652512" y="2543588"/>
            <a:ext cx="2292394" cy="383593"/>
          </a:xfrm>
          <a:prstGeom prst="rect">
            <a:avLst/>
          </a:prstGeom>
          <a:noFill/>
          <a:ln/>
        </p:spPr>
        <p:txBody>
          <a:bodyPr wrap="square" lIns="0" tIns="0" rIns="0" bIns="0" rtlCol="0" anchor="t"/>
          <a:lstStyle/>
          <a:p>
            <a:r>
              <a:rPr lang="en-IN" sz="1200" err="1">
                <a:latin typeface="Open Sans" pitchFamily="2" charset="0"/>
                <a:ea typeface="Open Sans" pitchFamily="2" charset="0"/>
                <a:cs typeface="Open Sans" pitchFamily="2" charset="0"/>
              </a:rPr>
              <a:t>CLAUDE.md</a:t>
            </a:r>
            <a:r>
              <a:rPr lang="en-IN" sz="1200">
                <a:latin typeface="Open Sans" pitchFamily="2" charset="0"/>
                <a:ea typeface="Open Sans" pitchFamily="2" charset="0"/>
                <a:cs typeface="Open Sans" pitchFamily="2" charset="0"/>
              </a:rPr>
              <a:t> created and verified</a:t>
            </a:r>
            <a:endParaRPr lang="en-US" sz="1200">
              <a:latin typeface="Open Sans" pitchFamily="2" charset="0"/>
              <a:ea typeface="Open Sans" pitchFamily="2" charset="0"/>
              <a:cs typeface="Open Sans" pitchFamily="2" charset="0"/>
            </a:endParaRPr>
          </a:p>
        </p:txBody>
      </p:sp>
      <p:sp>
        <p:nvSpPr>
          <p:cNvPr id="10" name="Text 8"/>
          <p:cNvSpPr/>
          <p:nvPr/>
        </p:nvSpPr>
        <p:spPr>
          <a:xfrm>
            <a:off x="652512" y="3116730"/>
            <a:ext cx="2292394" cy="383593"/>
          </a:xfrm>
          <a:prstGeom prst="rect">
            <a:avLst/>
          </a:prstGeom>
          <a:noFill/>
          <a:ln/>
        </p:spPr>
        <p:txBody>
          <a:bodyPr wrap="square" lIns="0" tIns="0" rIns="0" bIns="0" rtlCol="0" anchor="t"/>
          <a:lstStyle/>
          <a:p>
            <a:r>
              <a:rPr lang="en-IN" sz="1200">
                <a:latin typeface="Open Sans" pitchFamily="2" charset="0"/>
                <a:ea typeface="Open Sans" pitchFamily="2" charset="0"/>
                <a:cs typeface="Open Sans" pitchFamily="2" charset="0"/>
              </a:rPr>
              <a:t>Problem translated into standing instructions</a:t>
            </a:r>
            <a:endParaRPr lang="en-US" sz="1200">
              <a:latin typeface="Open Sans" pitchFamily="2" charset="0"/>
              <a:ea typeface="Open Sans" pitchFamily="2" charset="0"/>
              <a:cs typeface="Open Sans" pitchFamily="2" charset="0"/>
            </a:endParaRPr>
          </a:p>
        </p:txBody>
      </p:sp>
      <p:sp>
        <p:nvSpPr>
          <p:cNvPr id="11" name="Text 14">
            <a:extLst>
              <a:ext uri="{FF2B5EF4-FFF2-40B4-BE49-F238E27FC236}">
                <a16:creationId xmlns:a16="http://schemas.microsoft.com/office/drawing/2014/main" id="{BB880C91-7CFC-59D2-A886-B9D48DB22732}"/>
              </a:ext>
            </a:extLst>
          </p:cNvPr>
          <p:cNvSpPr/>
          <p:nvPr/>
        </p:nvSpPr>
        <p:spPr>
          <a:xfrm>
            <a:off x="487919" y="1941103"/>
            <a:ext cx="193537"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18" name="Text 14">
            <a:extLst>
              <a:ext uri="{FF2B5EF4-FFF2-40B4-BE49-F238E27FC236}">
                <a16:creationId xmlns:a16="http://schemas.microsoft.com/office/drawing/2014/main" id="{39E51065-9656-4502-2A79-3F307AD5A758}"/>
              </a:ext>
            </a:extLst>
          </p:cNvPr>
          <p:cNvSpPr/>
          <p:nvPr/>
        </p:nvSpPr>
        <p:spPr>
          <a:xfrm>
            <a:off x="487919" y="2518596"/>
            <a:ext cx="193537"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25" name="Text 14">
            <a:extLst>
              <a:ext uri="{FF2B5EF4-FFF2-40B4-BE49-F238E27FC236}">
                <a16:creationId xmlns:a16="http://schemas.microsoft.com/office/drawing/2014/main" id="{6DE3CBE8-C7CC-E5C3-6AA6-B77B369EB701}"/>
              </a:ext>
            </a:extLst>
          </p:cNvPr>
          <p:cNvSpPr/>
          <p:nvPr/>
        </p:nvSpPr>
        <p:spPr>
          <a:xfrm>
            <a:off x="487919" y="3116730"/>
            <a:ext cx="193537"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15" name="Text 13"/>
          <p:cNvSpPr/>
          <p:nvPr/>
        </p:nvSpPr>
        <p:spPr>
          <a:xfrm>
            <a:off x="3513895" y="1938528"/>
            <a:ext cx="2369193" cy="333180"/>
          </a:xfrm>
          <a:prstGeom prst="rect">
            <a:avLst/>
          </a:prstGeom>
          <a:noFill/>
          <a:ln/>
        </p:spPr>
        <p:txBody>
          <a:bodyPr wrap="square" lIns="0" tIns="0" rIns="0" bIns="0" rtlCol="0" anchor="t"/>
          <a:lstStyle/>
          <a:p>
            <a:r>
              <a:rPr lang="en-IN" sz="1200">
                <a:latin typeface="Open Sans" pitchFamily="2" charset="0"/>
                <a:ea typeface="Open Sans" pitchFamily="2" charset="0"/>
                <a:cs typeface="Open Sans" pitchFamily="2" charset="0"/>
              </a:rPr>
              <a:t>Working PoC — core logic runs</a:t>
            </a:r>
            <a:endParaRPr lang="en-US" sz="1200">
              <a:latin typeface="Open Sans" pitchFamily="2" charset="0"/>
              <a:ea typeface="Open Sans" pitchFamily="2" charset="0"/>
              <a:cs typeface="Open Sans" pitchFamily="2" charset="0"/>
            </a:endParaRPr>
          </a:p>
        </p:txBody>
      </p:sp>
      <p:sp>
        <p:nvSpPr>
          <p:cNvPr id="16" name="Text 14"/>
          <p:cNvSpPr/>
          <p:nvPr/>
        </p:nvSpPr>
        <p:spPr>
          <a:xfrm>
            <a:off x="3513895" y="2543588"/>
            <a:ext cx="2369193" cy="333180"/>
          </a:xfrm>
          <a:prstGeom prst="rect">
            <a:avLst/>
          </a:prstGeom>
          <a:noFill/>
          <a:ln/>
        </p:spPr>
        <p:txBody>
          <a:bodyPr wrap="square" lIns="0" tIns="0" rIns="0" bIns="0" rtlCol="0" anchor="t"/>
          <a:lstStyle/>
          <a:p>
            <a:r>
              <a:rPr lang="en-IN" sz="1200">
                <a:latin typeface="Open Sans" pitchFamily="2" charset="0"/>
                <a:ea typeface="Open Sans" pitchFamily="2" charset="0"/>
                <a:cs typeface="Open Sans" pitchFamily="2" charset="0"/>
              </a:rPr>
              <a:t>Build loop applied: prompt → run → fix → repeat</a:t>
            </a:r>
            <a:endParaRPr lang="en-US" sz="1200">
              <a:latin typeface="Open Sans" pitchFamily="2" charset="0"/>
              <a:ea typeface="Open Sans" pitchFamily="2" charset="0"/>
              <a:cs typeface="Open Sans" pitchFamily="2" charset="0"/>
            </a:endParaRPr>
          </a:p>
        </p:txBody>
      </p:sp>
      <p:sp>
        <p:nvSpPr>
          <p:cNvPr id="17" name="Text 15"/>
          <p:cNvSpPr/>
          <p:nvPr/>
        </p:nvSpPr>
        <p:spPr>
          <a:xfrm>
            <a:off x="3513895" y="3116730"/>
            <a:ext cx="2369193" cy="383593"/>
          </a:xfrm>
          <a:prstGeom prst="rect">
            <a:avLst/>
          </a:prstGeom>
          <a:noFill/>
          <a:ln/>
        </p:spPr>
        <p:txBody>
          <a:bodyPr wrap="square" lIns="0" tIns="0" rIns="0" bIns="0" rtlCol="0" anchor="t"/>
          <a:lstStyle/>
          <a:p>
            <a:r>
              <a:rPr lang="en-IN" sz="1200">
                <a:latin typeface="Open Sans" pitchFamily="2" charset="0"/>
                <a:ea typeface="Open Sans" pitchFamily="2" charset="0"/>
                <a:cs typeface="Open Sans" pitchFamily="2" charset="0"/>
              </a:rPr>
              <a:t>Self-review prompt run — blocking risks addressed</a:t>
            </a:r>
            <a:endParaRPr lang="en-US" sz="1200">
              <a:latin typeface="Open Sans" pitchFamily="2" charset="0"/>
              <a:ea typeface="Open Sans" pitchFamily="2" charset="0"/>
              <a:cs typeface="Open Sans" pitchFamily="2" charset="0"/>
            </a:endParaRPr>
          </a:p>
        </p:txBody>
      </p:sp>
      <p:sp>
        <p:nvSpPr>
          <p:cNvPr id="31" name="Text 14">
            <a:extLst>
              <a:ext uri="{FF2B5EF4-FFF2-40B4-BE49-F238E27FC236}">
                <a16:creationId xmlns:a16="http://schemas.microsoft.com/office/drawing/2014/main" id="{A45F0235-1EDE-2E76-1387-94E73CC7A096}"/>
              </a:ext>
            </a:extLst>
          </p:cNvPr>
          <p:cNvSpPr/>
          <p:nvPr/>
        </p:nvSpPr>
        <p:spPr>
          <a:xfrm>
            <a:off x="3331023" y="1941103"/>
            <a:ext cx="190207"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32" name="Text 14">
            <a:extLst>
              <a:ext uri="{FF2B5EF4-FFF2-40B4-BE49-F238E27FC236}">
                <a16:creationId xmlns:a16="http://schemas.microsoft.com/office/drawing/2014/main" id="{69FA650D-FCB1-D193-AA41-738CEDFB2E10}"/>
              </a:ext>
            </a:extLst>
          </p:cNvPr>
          <p:cNvSpPr/>
          <p:nvPr/>
        </p:nvSpPr>
        <p:spPr>
          <a:xfrm>
            <a:off x="3331023" y="2518596"/>
            <a:ext cx="190207"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33" name="Text 14">
            <a:extLst>
              <a:ext uri="{FF2B5EF4-FFF2-40B4-BE49-F238E27FC236}">
                <a16:creationId xmlns:a16="http://schemas.microsoft.com/office/drawing/2014/main" id="{1D617667-4030-C7EA-59ED-37B879D33FCA}"/>
              </a:ext>
            </a:extLst>
          </p:cNvPr>
          <p:cNvSpPr/>
          <p:nvPr/>
        </p:nvSpPr>
        <p:spPr>
          <a:xfrm>
            <a:off x="3331023" y="3116730"/>
            <a:ext cx="190207"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23" name="Text 21"/>
          <p:cNvSpPr/>
          <p:nvPr/>
        </p:nvSpPr>
        <p:spPr>
          <a:xfrm>
            <a:off x="6413231" y="2543588"/>
            <a:ext cx="2441486" cy="205163"/>
          </a:xfrm>
          <a:prstGeom prst="rect">
            <a:avLst/>
          </a:prstGeom>
          <a:noFill/>
          <a:ln/>
        </p:spPr>
        <p:txBody>
          <a:bodyPr wrap="square" lIns="0" tIns="0" rIns="0" bIns="0" rtlCol="0" anchor="t"/>
          <a:lstStyle/>
          <a:p>
            <a:r>
              <a:rPr lang="en-IN" sz="1200">
                <a:latin typeface="Open Sans" pitchFamily="2" charset="0"/>
                <a:ea typeface="Open Sans" pitchFamily="2" charset="0"/>
                <a:cs typeface="Open Sans" pitchFamily="2" charset="0"/>
              </a:rPr>
              <a:t>Prompt injection fenced, PHI masked</a:t>
            </a:r>
            <a:endParaRPr lang="en-US" sz="1200">
              <a:latin typeface="Open Sans" pitchFamily="2" charset="0"/>
              <a:ea typeface="Open Sans" pitchFamily="2" charset="0"/>
              <a:cs typeface="Open Sans" pitchFamily="2" charset="0"/>
            </a:endParaRPr>
          </a:p>
        </p:txBody>
      </p:sp>
      <p:sp>
        <p:nvSpPr>
          <p:cNvPr id="24" name="Text 22"/>
          <p:cNvSpPr/>
          <p:nvPr/>
        </p:nvSpPr>
        <p:spPr>
          <a:xfrm>
            <a:off x="6413231" y="3116730"/>
            <a:ext cx="2441486" cy="658368"/>
          </a:xfrm>
          <a:prstGeom prst="rect">
            <a:avLst/>
          </a:prstGeom>
          <a:noFill/>
          <a:ln/>
        </p:spPr>
        <p:txBody>
          <a:bodyPr wrap="square" lIns="0" tIns="0" rIns="0" bIns="0" rtlCol="0" anchor="t"/>
          <a:lstStyle/>
          <a:p>
            <a:r>
              <a:rPr lang="en-IN" sz="1200">
                <a:latin typeface="Open Sans" pitchFamily="2" charset="0"/>
                <a:ea typeface="Open Sans" pitchFamily="2" charset="0"/>
                <a:cs typeface="Open Sans" pitchFamily="2" charset="0"/>
              </a:rPr>
              <a:t>AI failure returns 503, never 500</a:t>
            </a:r>
            <a:endParaRPr lang="en-US" sz="1200">
              <a:latin typeface="Open Sans" pitchFamily="2" charset="0"/>
              <a:ea typeface="Open Sans" pitchFamily="2" charset="0"/>
              <a:cs typeface="Open Sans" pitchFamily="2" charset="0"/>
            </a:endParaRPr>
          </a:p>
        </p:txBody>
      </p:sp>
      <p:sp>
        <p:nvSpPr>
          <p:cNvPr id="22" name="Text 20"/>
          <p:cNvSpPr/>
          <p:nvPr/>
        </p:nvSpPr>
        <p:spPr>
          <a:xfrm>
            <a:off x="6413230" y="1938528"/>
            <a:ext cx="2078257" cy="386168"/>
          </a:xfrm>
          <a:prstGeom prst="rect">
            <a:avLst/>
          </a:prstGeom>
          <a:noFill/>
          <a:ln/>
        </p:spPr>
        <p:txBody>
          <a:bodyPr wrap="square" lIns="0" tIns="0" rIns="0" bIns="0" rtlCol="0" anchor="t"/>
          <a:lstStyle/>
          <a:p>
            <a:r>
              <a:rPr lang="en-IN" sz="1200">
                <a:latin typeface="Open Sans" pitchFamily="2" charset="0"/>
                <a:ea typeface="Open Sans" pitchFamily="2" charset="0"/>
                <a:cs typeface="Open Sans" pitchFamily="2" charset="0"/>
              </a:rPr>
              <a:t>Claude drafting grounded by RAG</a:t>
            </a:r>
            <a:endParaRPr lang="en-US" sz="1200">
              <a:latin typeface="Open Sans" pitchFamily="2" charset="0"/>
              <a:ea typeface="Open Sans" pitchFamily="2" charset="0"/>
              <a:cs typeface="Open Sans" pitchFamily="2" charset="0"/>
            </a:endParaRPr>
          </a:p>
        </p:txBody>
      </p:sp>
      <p:sp>
        <p:nvSpPr>
          <p:cNvPr id="34" name="Text 14">
            <a:extLst>
              <a:ext uri="{FF2B5EF4-FFF2-40B4-BE49-F238E27FC236}">
                <a16:creationId xmlns:a16="http://schemas.microsoft.com/office/drawing/2014/main" id="{BE10C041-BD4F-6B0B-A75F-1A872B97839E}"/>
              </a:ext>
            </a:extLst>
          </p:cNvPr>
          <p:cNvSpPr/>
          <p:nvPr/>
        </p:nvSpPr>
        <p:spPr>
          <a:xfrm>
            <a:off x="6238806" y="1941103"/>
            <a:ext cx="176285"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35" name="Text 14">
            <a:extLst>
              <a:ext uri="{FF2B5EF4-FFF2-40B4-BE49-F238E27FC236}">
                <a16:creationId xmlns:a16="http://schemas.microsoft.com/office/drawing/2014/main" id="{948DE193-FD06-8470-9AAF-E2578B73889A}"/>
              </a:ext>
            </a:extLst>
          </p:cNvPr>
          <p:cNvSpPr/>
          <p:nvPr/>
        </p:nvSpPr>
        <p:spPr>
          <a:xfrm>
            <a:off x="6238806" y="2518596"/>
            <a:ext cx="176285"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36" name="Text 14">
            <a:extLst>
              <a:ext uri="{FF2B5EF4-FFF2-40B4-BE49-F238E27FC236}">
                <a16:creationId xmlns:a16="http://schemas.microsoft.com/office/drawing/2014/main" id="{9BCFCD38-9E68-3471-9E52-92B84B48BCA2}"/>
              </a:ext>
            </a:extLst>
          </p:cNvPr>
          <p:cNvSpPr/>
          <p:nvPr/>
        </p:nvSpPr>
        <p:spPr>
          <a:xfrm>
            <a:off x="6238806" y="3116730"/>
            <a:ext cx="176285" cy="205163"/>
          </a:xfrm>
          <a:prstGeom prst="rect">
            <a:avLst/>
          </a:prstGeom>
          <a:noFill/>
          <a:ln/>
        </p:spPr>
        <p:txBody>
          <a:bodyPr wrap="square" lIns="0" tIns="0" rIns="0" bIns="0" rtlCol="0" anchor="t"/>
          <a:lstStyle/>
          <a:p>
            <a:r>
              <a:rPr lang="en-US" sz="1400" b="1">
                <a:solidFill>
                  <a:srgbClr val="2E7D32"/>
                </a:solidFill>
                <a:latin typeface="Open Sans Extrabold" pitchFamily="2" charset="0"/>
                <a:ea typeface="Open Sans Extrabold" pitchFamily="2" charset="0"/>
                <a:cs typeface="Open Sans Extrabold" pitchFamily="2" charset="0"/>
              </a:rPr>
              <a:t>✓</a:t>
            </a:r>
            <a:endParaRPr lang="en-US" sz="1400">
              <a:latin typeface="Open Sans" pitchFamily="2" charset="0"/>
              <a:ea typeface="Open Sans" pitchFamily="2" charset="0"/>
              <a:cs typeface="Open Sans" pitchFamily="2" charset="0"/>
            </a:endParaRPr>
          </a:p>
        </p:txBody>
      </p:sp>
      <p:sp>
        <p:nvSpPr>
          <p:cNvPr id="41" name="Text 0">
            <a:extLst>
              <a:ext uri="{FF2B5EF4-FFF2-40B4-BE49-F238E27FC236}">
                <a16:creationId xmlns:a16="http://schemas.microsoft.com/office/drawing/2014/main" id="{A6FD00F6-4D9D-6D00-1E52-3B33F0BE5F37}"/>
              </a:ext>
            </a:extLst>
          </p:cNvPr>
          <p:cNvSpPr/>
          <p:nvPr/>
        </p:nvSpPr>
        <p:spPr>
          <a:xfrm>
            <a:off x="365760" y="190800"/>
            <a:ext cx="8412480" cy="475488"/>
          </a:xfrm>
          <a:prstGeom prst="rect">
            <a:avLst/>
          </a:prstGeom>
          <a:noFill/>
          <a:ln/>
        </p:spPr>
        <p:txBody>
          <a:bodyPr wrap="square" lIns="0" tIns="0" rIns="0" bIns="0" rtlCol="0" anchor="ctr"/>
          <a:lstStyle/>
          <a:p>
            <a:pPr marL="0" indent="0">
              <a:buNone/>
            </a:pPr>
            <a:r>
              <a:rPr lang="en-US" sz="2800" b="1">
                <a:latin typeface="Open Sans" panose="020B0606030504020204" pitchFamily="34" charset="0"/>
                <a:ea typeface="Open Sans" panose="020B0606030504020204" pitchFamily="34" charset="0"/>
                <a:cs typeface="Open Sans" panose="020B0606030504020204" pitchFamily="34" charset="0"/>
              </a:rPr>
              <a:t>Modules 1–3 Recap</a:t>
            </a:r>
          </a:p>
        </p:txBody>
      </p:sp>
      <p:sp>
        <p:nvSpPr>
          <p:cNvPr id="42" name="Text 1">
            <a:extLst>
              <a:ext uri="{FF2B5EF4-FFF2-40B4-BE49-F238E27FC236}">
                <a16:creationId xmlns:a16="http://schemas.microsoft.com/office/drawing/2014/main" id="{C8E4D164-B8C2-3B14-EA8D-205552C06DA5}"/>
              </a:ext>
            </a:extLst>
          </p:cNvPr>
          <p:cNvSpPr/>
          <p:nvPr/>
        </p:nvSpPr>
        <p:spPr>
          <a:xfrm>
            <a:off x="365760" y="770400"/>
            <a:ext cx="8412480" cy="256032"/>
          </a:xfrm>
          <a:prstGeom prst="rect">
            <a:avLst/>
          </a:prstGeom>
          <a:noFill/>
          <a:ln/>
        </p:spPr>
        <p:txBody>
          <a:bodyPr wrap="square" lIns="0" tIns="0" rIns="0" bIns="0" rtlCol="0" anchor="ctr"/>
          <a:lstStyle/>
          <a:p>
            <a:pPr marL="0" indent="0">
              <a:buNone/>
            </a:pPr>
            <a:r>
              <a:rPr lang="en-US" sz="1400">
                <a:solidFill>
                  <a:srgbClr val="757575"/>
                </a:solidFill>
                <a:latin typeface="Open Sans" panose="020B0606030504020204" pitchFamily="34" charset="0"/>
                <a:ea typeface="Open Sans" panose="020B0606030504020204" pitchFamily="34" charset="0"/>
                <a:cs typeface="Open Sans" panose="020B0606030504020204" pitchFamily="34" charset="0"/>
              </a:rPr>
              <a:t>What You Came In With</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43" name="Shape 2">
            <a:extLst>
              <a:ext uri="{FF2B5EF4-FFF2-40B4-BE49-F238E27FC236}">
                <a16:creationId xmlns:a16="http://schemas.microsoft.com/office/drawing/2014/main" id="{82FBC5F6-9093-557B-A494-6CF435E39F42}"/>
              </a:ext>
            </a:extLst>
          </p:cNvPr>
          <p:cNvSpPr/>
          <p:nvPr/>
        </p:nvSpPr>
        <p:spPr>
          <a:xfrm>
            <a:off x="365760" y="1197864"/>
            <a:ext cx="8412480" cy="0"/>
          </a:xfrm>
          <a:prstGeom prst="line">
            <a:avLst/>
          </a:prstGeom>
          <a:noFill/>
          <a:ln w="12700">
            <a:solidFill>
              <a:srgbClr val="DEDEDE"/>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 name="Slide Number Placeholder 1">
            <a:extLst>
              <a:ext uri="{FF2B5EF4-FFF2-40B4-BE49-F238E27FC236}">
                <a16:creationId xmlns:a16="http://schemas.microsoft.com/office/drawing/2014/main" id="{F4056356-3616-898F-7204-1F570AF1C8AD}"/>
              </a:ext>
            </a:extLst>
          </p:cNvPr>
          <p:cNvSpPr>
            <a:spLocks noGrp="1"/>
          </p:cNvSpPr>
          <p:nvPr>
            <p:ph type="sldNum" sz="quarter" idx="12"/>
          </p:nvPr>
        </p:nvSpPr>
        <p:spPr/>
        <p:txBody>
          <a:bodyPr/>
          <a:lstStyle/>
          <a:p>
            <a:r>
              <a:rPr lang="en-US" dirty="0">
                <a:solidFill>
                  <a:schemeClr val="bg1"/>
                </a:solidFil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3F935-EC2D-185D-DA65-42CC08B78A9A}"/>
            </a:ext>
          </a:extLst>
        </p:cNvPr>
        <p:cNvGrpSpPr/>
        <p:nvPr/>
      </p:nvGrpSpPr>
      <p:grpSpPr>
        <a:xfrm>
          <a:off x="0" y="0"/>
          <a:ext cx="0" cy="0"/>
          <a:chOff x="0" y="0"/>
          <a:chExt cx="0" cy="0"/>
        </a:xfrm>
      </p:grpSpPr>
      <p:sp>
        <p:nvSpPr>
          <p:cNvPr id="12" name="Shape 2">
            <a:extLst>
              <a:ext uri="{FF2B5EF4-FFF2-40B4-BE49-F238E27FC236}">
                <a16:creationId xmlns:a16="http://schemas.microsoft.com/office/drawing/2014/main" id="{BC8BC2DE-794E-E8DD-B52C-5138DCC3E983}"/>
              </a:ext>
            </a:extLst>
          </p:cNvPr>
          <p:cNvSpPr/>
          <p:nvPr/>
        </p:nvSpPr>
        <p:spPr>
          <a:xfrm>
            <a:off x="459741" y="1851577"/>
            <a:ext cx="5373792" cy="1591531"/>
          </a:xfrm>
          <a:prstGeom prst="roundRect">
            <a:avLst>
              <a:gd name="adj" fmla="val 678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p>
        </p:txBody>
      </p:sp>
      <p:sp>
        <p:nvSpPr>
          <p:cNvPr id="2" name="Shape 0">
            <a:extLst>
              <a:ext uri="{FF2B5EF4-FFF2-40B4-BE49-F238E27FC236}">
                <a16:creationId xmlns:a16="http://schemas.microsoft.com/office/drawing/2014/main" id="{63BDEA10-FA05-478B-854A-5766FE17EDD9}"/>
              </a:ext>
            </a:extLst>
          </p:cNvPr>
          <p:cNvSpPr/>
          <p:nvPr/>
        </p:nvSpPr>
        <p:spPr>
          <a:xfrm>
            <a:off x="7982464" y="109728"/>
            <a:ext cx="978655" cy="347472"/>
          </a:xfrm>
          <a:prstGeom prst="roundRect">
            <a:avLst>
              <a:gd name="adj" fmla="val 13158"/>
            </a:avLst>
          </a:prstGeom>
          <a:solidFill>
            <a:schemeClr val="accent2"/>
          </a:solidFill>
          <a:ln w="12700">
            <a:noFill/>
            <a:prstDash val="solid"/>
          </a:ln>
        </p:spPr>
        <p:txBody>
          <a:bodyPr/>
          <a:lstStyle/>
          <a:p>
            <a:endParaRPr lang="en-US"/>
          </a:p>
        </p:txBody>
      </p:sp>
      <p:sp>
        <p:nvSpPr>
          <p:cNvPr id="3" name="Text 1">
            <a:extLst>
              <a:ext uri="{FF2B5EF4-FFF2-40B4-BE49-F238E27FC236}">
                <a16:creationId xmlns:a16="http://schemas.microsoft.com/office/drawing/2014/main" id="{1197C855-03DF-263D-DFF2-449128D99C9D}"/>
              </a:ext>
            </a:extLst>
          </p:cNvPr>
          <p:cNvSpPr/>
          <p:nvPr/>
        </p:nvSpPr>
        <p:spPr>
          <a:xfrm>
            <a:off x="7982464" y="109728"/>
            <a:ext cx="978655" cy="347472"/>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MCQ</a:t>
            </a:r>
            <a:endParaRPr lang="en-US" sz="900"/>
          </a:p>
        </p:txBody>
      </p:sp>
      <p:sp>
        <p:nvSpPr>
          <p:cNvPr id="4" name="Text 2">
            <a:extLst>
              <a:ext uri="{FF2B5EF4-FFF2-40B4-BE49-F238E27FC236}">
                <a16:creationId xmlns:a16="http://schemas.microsoft.com/office/drawing/2014/main" id="{22898589-EC91-9A66-85AF-BCFC2C291A08}"/>
              </a:ext>
            </a:extLst>
          </p:cNvPr>
          <p:cNvSpPr/>
          <p:nvPr/>
        </p:nvSpPr>
        <p:spPr>
          <a:xfrm>
            <a:off x="382386" y="106107"/>
            <a:ext cx="6899821" cy="685800"/>
          </a:xfrm>
          <a:prstGeom prst="rect">
            <a:avLst/>
          </a:prstGeom>
          <a:noFill/>
          <a:ln/>
        </p:spPr>
        <p:txBody>
          <a:bodyPr wrap="square" lIns="0" tIns="0" rIns="0" bIns="0" rtlCol="0" anchor="ctr"/>
          <a:lstStyle/>
          <a:p>
            <a:r>
              <a:rPr lang="en-IN" sz="2800" b="1">
                <a:latin typeface="Open Sans" panose="020B0606030504020204" pitchFamily="34" charset="0"/>
                <a:ea typeface="Open Sans" panose="020B0606030504020204" pitchFamily="34" charset="0"/>
                <a:cs typeface="Open Sans" panose="020B0606030504020204" pitchFamily="34" charset="0"/>
              </a:rPr>
              <a:t>Before We Debug</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Box 18">
            <a:extLst>
              <a:ext uri="{FF2B5EF4-FFF2-40B4-BE49-F238E27FC236}">
                <a16:creationId xmlns:a16="http://schemas.microsoft.com/office/drawing/2014/main" id="{B5BB2176-8F8F-987E-8CB2-F0C3758F6B09}"/>
              </a:ext>
            </a:extLst>
          </p:cNvPr>
          <p:cNvSpPr txBox="1"/>
          <p:nvPr/>
        </p:nvSpPr>
        <p:spPr>
          <a:xfrm>
            <a:off x="376445" y="1439625"/>
            <a:ext cx="6152646" cy="276999"/>
          </a:xfrm>
          <a:prstGeom prst="rect">
            <a:avLst/>
          </a:prstGeom>
          <a:noFill/>
        </p:spPr>
        <p:txBody>
          <a:bodyPr wrap="none" rtlCol="0">
            <a:spAutoFit/>
          </a:bodyPr>
          <a:lstStyle/>
          <a:p>
            <a:r>
              <a:rPr lang="en-IN" sz="1200">
                <a:solidFill>
                  <a:schemeClr val="tx2"/>
                </a:solidFill>
                <a:latin typeface="Open Sans" pitchFamily="2" charset="0"/>
                <a:ea typeface="Open Sans" pitchFamily="2" charset="0"/>
                <a:cs typeface="Open Sans" pitchFamily="2" charset="0"/>
              </a:rPr>
              <a:t>You asked Claude to fix a bug. The error message went away. What do you do next?</a:t>
            </a:r>
            <a:endParaRPr lang="en-US" sz="1200">
              <a:solidFill>
                <a:schemeClr val="tx2"/>
              </a:solidFill>
              <a:latin typeface="Open Sans" pitchFamily="2" charset="0"/>
              <a:ea typeface="Open Sans" pitchFamily="2" charset="0"/>
              <a:cs typeface="Open Sans" pitchFamily="2" charset="0"/>
            </a:endParaRPr>
          </a:p>
        </p:txBody>
      </p:sp>
      <p:grpSp>
        <p:nvGrpSpPr>
          <p:cNvPr id="8" name="Group 7">
            <a:extLst>
              <a:ext uri="{FF2B5EF4-FFF2-40B4-BE49-F238E27FC236}">
                <a16:creationId xmlns:a16="http://schemas.microsoft.com/office/drawing/2014/main" id="{7279325C-D3E2-809A-DD8F-708B70B6CE9B}"/>
              </a:ext>
            </a:extLst>
          </p:cNvPr>
          <p:cNvGrpSpPr/>
          <p:nvPr/>
        </p:nvGrpSpPr>
        <p:grpSpPr>
          <a:xfrm>
            <a:off x="521455" y="2035880"/>
            <a:ext cx="5250155" cy="1241691"/>
            <a:chOff x="643375" y="2239033"/>
            <a:chExt cx="5250155" cy="1241691"/>
          </a:xfrm>
        </p:grpSpPr>
        <p:sp>
          <p:nvSpPr>
            <p:cNvPr id="24" name="TextBox 23">
              <a:extLst>
                <a:ext uri="{FF2B5EF4-FFF2-40B4-BE49-F238E27FC236}">
                  <a16:creationId xmlns:a16="http://schemas.microsoft.com/office/drawing/2014/main" id="{6FA2EC1E-2593-BE99-2F3C-77682753B91E}"/>
                </a:ext>
              </a:extLst>
            </p:cNvPr>
            <p:cNvSpPr txBox="1"/>
            <p:nvPr/>
          </p:nvSpPr>
          <p:spPr>
            <a:xfrm>
              <a:off x="643375" y="2239033"/>
              <a:ext cx="3791423" cy="276999"/>
            </a:xfrm>
            <a:prstGeom prst="rect">
              <a:avLst/>
            </a:prstGeom>
            <a:noFill/>
          </p:spPr>
          <p:txBody>
            <a:bodyPr wrap="none" rtlCol="0">
              <a:spAutoFit/>
            </a:bodyPr>
            <a:lstStyle/>
            <a:p>
              <a:r>
                <a:rPr lang="en-IN" sz="1200">
                  <a:solidFill>
                    <a:schemeClr val="tx2"/>
                  </a:solidFill>
                  <a:latin typeface="Open Sans" pitchFamily="2" charset="0"/>
                  <a:ea typeface="Open Sans" pitchFamily="2" charset="0"/>
                  <a:cs typeface="Open Sans" pitchFamily="2" charset="0"/>
                </a:rPr>
                <a:t>A. Commit it — if the error is gone, the bug is fixed</a:t>
              </a:r>
              <a:endParaRPr lang="en-US" sz="1200">
                <a:solidFill>
                  <a:schemeClr val="tx2"/>
                </a:solidFill>
                <a:latin typeface="Open Sans" pitchFamily="2" charset="0"/>
                <a:ea typeface="Open Sans" pitchFamily="2" charset="0"/>
                <a:cs typeface="Open Sans" pitchFamily="2" charset="0"/>
              </a:endParaRPr>
            </a:p>
          </p:txBody>
        </p:sp>
        <p:sp>
          <p:nvSpPr>
            <p:cNvPr id="25" name="TextBox 24">
              <a:extLst>
                <a:ext uri="{FF2B5EF4-FFF2-40B4-BE49-F238E27FC236}">
                  <a16:creationId xmlns:a16="http://schemas.microsoft.com/office/drawing/2014/main" id="{D1EE0C23-D5E8-4504-6473-4F1B8BF72D1D}"/>
                </a:ext>
              </a:extLst>
            </p:cNvPr>
            <p:cNvSpPr txBox="1"/>
            <p:nvPr/>
          </p:nvSpPr>
          <p:spPr>
            <a:xfrm>
              <a:off x="643375" y="2554501"/>
              <a:ext cx="3215945" cy="276999"/>
            </a:xfrm>
            <a:prstGeom prst="rect">
              <a:avLst/>
            </a:prstGeom>
            <a:noFill/>
          </p:spPr>
          <p:txBody>
            <a:bodyPr wrap="none" rtlCol="0">
              <a:spAutoFit/>
            </a:bodyPr>
            <a:lstStyle/>
            <a:p>
              <a:r>
                <a:rPr lang="en-IN" sz="1200">
                  <a:solidFill>
                    <a:schemeClr val="tx2"/>
                  </a:solidFill>
                  <a:latin typeface="Open Sans" pitchFamily="2" charset="0"/>
                  <a:ea typeface="Open Sans" pitchFamily="2" charset="0"/>
                  <a:cs typeface="Open Sans" pitchFamily="2" charset="0"/>
                </a:rPr>
                <a:t>B. Run the full test suite — results don't lie</a:t>
              </a:r>
              <a:endParaRPr lang="en-US" sz="1200">
                <a:solidFill>
                  <a:schemeClr val="tx2"/>
                </a:solidFill>
                <a:latin typeface="Open Sans" pitchFamily="2" charset="0"/>
                <a:ea typeface="Open Sans" pitchFamily="2" charset="0"/>
                <a:cs typeface="Open Sans" pitchFamily="2" charset="0"/>
              </a:endParaRPr>
            </a:p>
          </p:txBody>
        </p:sp>
        <p:sp>
          <p:nvSpPr>
            <p:cNvPr id="26" name="TextBox 25">
              <a:extLst>
                <a:ext uri="{FF2B5EF4-FFF2-40B4-BE49-F238E27FC236}">
                  <a16:creationId xmlns:a16="http://schemas.microsoft.com/office/drawing/2014/main" id="{9E94AC16-0D6F-E98F-BC0C-6C08D8DBE75D}"/>
                </a:ext>
              </a:extLst>
            </p:cNvPr>
            <p:cNvSpPr txBox="1"/>
            <p:nvPr/>
          </p:nvSpPr>
          <p:spPr>
            <a:xfrm>
              <a:off x="643375" y="2888257"/>
              <a:ext cx="5250155" cy="276999"/>
            </a:xfrm>
            <a:prstGeom prst="rect">
              <a:avLst/>
            </a:prstGeom>
            <a:noFill/>
          </p:spPr>
          <p:txBody>
            <a:bodyPr wrap="none" rtlCol="0">
              <a:spAutoFit/>
            </a:bodyPr>
            <a:lstStyle/>
            <a:p>
              <a:r>
                <a:rPr lang="en-IN" sz="1200">
                  <a:latin typeface="Open Sans" pitchFamily="2" charset="0"/>
                  <a:ea typeface="Open Sans" pitchFamily="2" charset="0"/>
                  <a:cs typeface="Open Sans" pitchFamily="2" charset="0"/>
                </a:rPr>
                <a:t>C. Read the diff — the fix might have moved the problem, not solved it </a:t>
              </a:r>
              <a:endParaRPr lang="en-US" sz="1200">
                <a:latin typeface="Open Sans" pitchFamily="2" charset="0"/>
                <a:ea typeface="Open Sans" pitchFamily="2" charset="0"/>
                <a:cs typeface="Open Sans" pitchFamily="2" charset="0"/>
              </a:endParaRPr>
            </a:p>
          </p:txBody>
        </p:sp>
        <p:sp>
          <p:nvSpPr>
            <p:cNvPr id="27" name="TextBox 26">
              <a:extLst>
                <a:ext uri="{FF2B5EF4-FFF2-40B4-BE49-F238E27FC236}">
                  <a16:creationId xmlns:a16="http://schemas.microsoft.com/office/drawing/2014/main" id="{1825FEF5-1953-323B-79D9-1D530838A55F}"/>
                </a:ext>
              </a:extLst>
            </p:cNvPr>
            <p:cNvSpPr txBox="1"/>
            <p:nvPr/>
          </p:nvSpPr>
          <p:spPr>
            <a:xfrm>
              <a:off x="643375" y="3203725"/>
              <a:ext cx="3087705" cy="276999"/>
            </a:xfrm>
            <a:prstGeom prst="rect">
              <a:avLst/>
            </a:prstGeom>
            <a:noFill/>
          </p:spPr>
          <p:txBody>
            <a:bodyPr wrap="none" rtlCol="0">
              <a:spAutoFit/>
            </a:bodyPr>
            <a:lstStyle/>
            <a:p>
              <a:r>
                <a:rPr lang="en-IN" sz="1200">
                  <a:solidFill>
                    <a:schemeClr val="tx2"/>
                  </a:solidFill>
                  <a:latin typeface="Open Sans" pitchFamily="2" charset="0"/>
                  <a:ea typeface="Open Sans" pitchFamily="2" charset="0"/>
                  <a:cs typeface="Open Sans" pitchFamily="2" charset="0"/>
                </a:rPr>
                <a:t>D. Ask Claude to explain what it changed</a:t>
              </a:r>
              <a:endParaRPr lang="en-US" sz="1200">
                <a:solidFill>
                  <a:schemeClr val="tx2"/>
                </a:solidFill>
                <a:latin typeface="Open Sans" pitchFamily="2" charset="0"/>
                <a:ea typeface="Open Sans" pitchFamily="2" charset="0"/>
                <a:cs typeface="Open Sans" pitchFamily="2" charset="0"/>
              </a:endParaRPr>
            </a:p>
          </p:txBody>
        </p:sp>
      </p:grpSp>
      <p:sp>
        <p:nvSpPr>
          <p:cNvPr id="30" name="TextBox 29">
            <a:extLst>
              <a:ext uri="{FF2B5EF4-FFF2-40B4-BE49-F238E27FC236}">
                <a16:creationId xmlns:a16="http://schemas.microsoft.com/office/drawing/2014/main" id="{97F2B4C0-7C3A-BA15-12A1-A553CF9543A7}"/>
              </a:ext>
            </a:extLst>
          </p:cNvPr>
          <p:cNvSpPr txBox="1"/>
          <p:nvPr/>
        </p:nvSpPr>
        <p:spPr>
          <a:xfrm>
            <a:off x="376445" y="3684704"/>
            <a:ext cx="7129400" cy="276999"/>
          </a:xfrm>
          <a:prstGeom prst="rect">
            <a:avLst/>
          </a:prstGeom>
          <a:noFill/>
        </p:spPr>
        <p:txBody>
          <a:bodyPr wrap="square" rtlCol="0">
            <a:spAutoFit/>
          </a:bodyPr>
          <a:lstStyle/>
          <a:p>
            <a:r>
              <a:rPr lang="en-IN" sz="1200">
                <a:solidFill>
                  <a:schemeClr val="tx2"/>
                </a:solidFill>
                <a:latin typeface="Open Sans" pitchFamily="2" charset="0"/>
                <a:ea typeface="Open Sans" pitchFamily="2" charset="0"/>
                <a:cs typeface="Open Sans" pitchFamily="2" charset="0"/>
              </a:rPr>
              <a:t>The error disappearing is the beginning of review — not the end of it. That is what Part 1 is about.</a:t>
            </a:r>
            <a:endParaRPr lang="en-US" sz="1200">
              <a:solidFill>
                <a:schemeClr val="tx2"/>
              </a:solidFill>
              <a:latin typeface="Open Sans" pitchFamily="2" charset="0"/>
              <a:ea typeface="Open Sans" pitchFamily="2" charset="0"/>
              <a:cs typeface="Open Sans" pitchFamily="2" charset="0"/>
            </a:endParaRPr>
          </a:p>
        </p:txBody>
      </p:sp>
      <p:sp>
        <p:nvSpPr>
          <p:cNvPr id="5" name="TextBox 4">
            <a:extLst>
              <a:ext uri="{FF2B5EF4-FFF2-40B4-BE49-F238E27FC236}">
                <a16:creationId xmlns:a16="http://schemas.microsoft.com/office/drawing/2014/main" id="{C531F104-C8EA-D7B0-7634-DE1D8EB1E4DC}"/>
              </a:ext>
            </a:extLst>
          </p:cNvPr>
          <p:cNvSpPr txBox="1"/>
          <p:nvPr/>
        </p:nvSpPr>
        <p:spPr>
          <a:xfrm>
            <a:off x="376445" y="1154041"/>
            <a:ext cx="1226618" cy="276999"/>
          </a:xfrm>
          <a:prstGeom prst="rect">
            <a:avLst/>
          </a:prstGeom>
          <a:noFill/>
        </p:spPr>
        <p:txBody>
          <a:bodyPr wrap="none" rtlCol="0">
            <a:spAutoFit/>
          </a:bodyPr>
          <a:lstStyle/>
          <a:p>
            <a:r>
              <a:rPr lang="en-IN" sz="1200" b="1">
                <a:latin typeface="Open Sans" panose="020B0606030504020204" pitchFamily="34" charset="0"/>
                <a:ea typeface="Open Sans" panose="020B0606030504020204" pitchFamily="34" charset="0"/>
                <a:cs typeface="Open Sans" panose="020B0606030504020204" pitchFamily="34" charset="0"/>
              </a:rPr>
              <a:t>The question:</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15" name="TextBox 14">
            <a:extLst>
              <a:ext uri="{FF2B5EF4-FFF2-40B4-BE49-F238E27FC236}">
                <a16:creationId xmlns:a16="http://schemas.microsoft.com/office/drawing/2014/main" id="{F48BF94E-C338-0761-BC2B-56CECEA95F59}"/>
              </a:ext>
            </a:extLst>
          </p:cNvPr>
          <p:cNvSpPr txBox="1"/>
          <p:nvPr/>
        </p:nvSpPr>
        <p:spPr>
          <a:xfrm>
            <a:off x="321480" y="770400"/>
            <a:ext cx="2628077" cy="307777"/>
          </a:xfrm>
          <a:prstGeom prst="rect">
            <a:avLst/>
          </a:prstGeom>
          <a:noFill/>
        </p:spPr>
        <p:txBody>
          <a:bodyPr wrap="square" rtlCol="0">
            <a:spAutoFit/>
          </a:bodyPr>
          <a:lstStyle/>
          <a:p>
            <a: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t>One question. Vote honestly.</a:t>
            </a:r>
            <a:endPar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Slide Number Placeholder 5">
            <a:extLst>
              <a:ext uri="{FF2B5EF4-FFF2-40B4-BE49-F238E27FC236}">
                <a16:creationId xmlns:a16="http://schemas.microsoft.com/office/drawing/2014/main" id="{5C216E6B-5394-2F5D-EDD2-92A508D36FB5}"/>
              </a:ext>
            </a:extLst>
          </p:cNvPr>
          <p:cNvSpPr>
            <a:spLocks noGrp="1"/>
          </p:cNvSpPr>
          <p:nvPr>
            <p:ph type="sldNum" sz="quarter" idx="12"/>
          </p:nvPr>
        </p:nvSpPr>
        <p:spPr/>
        <p:txBody>
          <a:bodyPr/>
          <a:lstStyle/>
          <a:p>
            <a:fld id="{C1FF6DA9-008F-8B48-92A6-B652298478BF}" type="slidenum">
              <a:rPr lang="en-US" smtClean="0">
                <a:solidFill>
                  <a:schemeClr val="bg1"/>
                </a:solidFill>
              </a:rPr>
              <a:t>3</a:t>
            </a:fld>
            <a:endParaRPr lang="en-US"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9C9C588F-EF4C-0DEB-FAFC-6F4942245C08}"/>
              </a:ext>
            </a:extLst>
          </p:cNvPr>
          <p:cNvSpPr/>
          <p:nvPr/>
        </p:nvSpPr>
        <p:spPr>
          <a:xfrm>
            <a:off x="393608" y="191384"/>
            <a:ext cx="8321040" cy="475488"/>
          </a:xfrm>
          <a:prstGeom prst="rect">
            <a:avLst/>
          </a:prstGeom>
          <a:noFill/>
          <a:ln/>
        </p:spPr>
        <p:txBody>
          <a:bodyPr wrap="square" lIns="0" tIns="0" rIns="0" bIns="0" rtlCol="0" anchor="ctr"/>
          <a:lstStyle/>
          <a:p>
            <a:pPr marL="0" indent="0" algn="l">
              <a:buNone/>
            </a:pPr>
            <a:r>
              <a:rPr lang="en-US" sz="2800" b="1">
                <a:latin typeface="Open Sans" panose="020B0606030504020204" pitchFamily="34" charset="0"/>
                <a:ea typeface="Open Sans" panose="020B0606030504020204" pitchFamily="34" charset="0"/>
                <a:cs typeface="Open Sans" panose="020B0606030504020204" pitchFamily="34" charset="0"/>
              </a:rPr>
              <a:t>What You Will Do Today</a:t>
            </a:r>
          </a:p>
        </p:txBody>
      </p:sp>
      <p:sp>
        <p:nvSpPr>
          <p:cNvPr id="4" name="Shape 1">
            <a:extLst>
              <a:ext uri="{FF2B5EF4-FFF2-40B4-BE49-F238E27FC236}">
                <a16:creationId xmlns:a16="http://schemas.microsoft.com/office/drawing/2014/main" id="{C4A2D28F-C87E-6CE8-B762-A09DB8BE000B}"/>
              </a:ext>
            </a:extLst>
          </p:cNvPr>
          <p:cNvSpPr/>
          <p:nvPr/>
        </p:nvSpPr>
        <p:spPr>
          <a:xfrm>
            <a:off x="347472" y="947877"/>
            <a:ext cx="1993392" cy="3247745"/>
          </a:xfrm>
          <a:prstGeom prst="roundRect">
            <a:avLst>
              <a:gd name="adj" fmla="val 5505"/>
            </a:avLst>
          </a:prstGeom>
          <a:solidFill>
            <a:srgbClr val="F5F5F5"/>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5">
            <a:extLst>
              <a:ext uri="{FF2B5EF4-FFF2-40B4-BE49-F238E27FC236}">
                <a16:creationId xmlns:a16="http://schemas.microsoft.com/office/drawing/2014/main" id="{50F8138C-AA0D-95F5-D43F-4F6F44BD2B87}"/>
              </a:ext>
            </a:extLst>
          </p:cNvPr>
          <p:cNvSpPr/>
          <p:nvPr/>
        </p:nvSpPr>
        <p:spPr>
          <a:xfrm>
            <a:off x="457200" y="2070248"/>
            <a:ext cx="1773936" cy="320040"/>
          </a:xfrm>
          <a:prstGeom prst="rect">
            <a:avLst/>
          </a:prstGeom>
          <a:noFill/>
          <a:ln/>
        </p:spPr>
        <p:txBody>
          <a:bodyPr wrap="square" lIns="0" tIns="0" rIns="0" bIns="0" rtlCol="0" anchor="t" anchorCtr="0"/>
          <a:lstStyle/>
          <a:p>
            <a:pPr marL="0" indent="0" algn="ctr">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Debugged PoC</a:t>
            </a:r>
          </a:p>
        </p:txBody>
      </p:sp>
      <p:sp>
        <p:nvSpPr>
          <p:cNvPr id="7" name="Text 6">
            <a:extLst>
              <a:ext uri="{FF2B5EF4-FFF2-40B4-BE49-F238E27FC236}">
                <a16:creationId xmlns:a16="http://schemas.microsoft.com/office/drawing/2014/main" id="{DB704D3F-1BDF-3C74-9B46-5B18FBA04862}"/>
              </a:ext>
            </a:extLst>
          </p:cNvPr>
          <p:cNvSpPr/>
          <p:nvPr/>
        </p:nvSpPr>
        <p:spPr>
          <a:xfrm>
            <a:off x="475488" y="2590360"/>
            <a:ext cx="1737360" cy="982980"/>
          </a:xfrm>
          <a:prstGeom prst="rect">
            <a:avLst/>
          </a:prstGeom>
          <a:noFill/>
          <a:ln/>
        </p:spPr>
        <p:txBody>
          <a:bodyPr wrap="square" lIns="0" tIns="0" rIns="0" bIns="0" rtlCol="0" anchor="t"/>
          <a:lstStyle/>
          <a:p>
            <a:pPr marL="0" indent="0" algn="ctr">
              <a:buNone/>
            </a:pPr>
            <a:r>
              <a:rPr lang="en-US" sz="1200">
                <a:solidFill>
                  <a:schemeClr val="tx2"/>
                </a:solidFill>
                <a:latin typeface="Open Sans" pitchFamily="2" charset="0"/>
                <a:ea typeface="Open Sans" pitchFamily="2" charset="0"/>
                <a:cs typeface="Open Sans" pitchFamily="2" charset="0"/>
              </a:rPr>
              <a:t>Your DischargeFlow PoC, with every bug found, root cause named, and a regression test locking each fix in place</a:t>
            </a:r>
          </a:p>
        </p:txBody>
      </p:sp>
      <p:sp>
        <p:nvSpPr>
          <p:cNvPr id="8" name="Shape 7">
            <a:extLst>
              <a:ext uri="{FF2B5EF4-FFF2-40B4-BE49-F238E27FC236}">
                <a16:creationId xmlns:a16="http://schemas.microsoft.com/office/drawing/2014/main" id="{A668FC5B-DC30-93E0-7742-4B020400D6A3}"/>
              </a:ext>
            </a:extLst>
          </p:cNvPr>
          <p:cNvSpPr/>
          <p:nvPr/>
        </p:nvSpPr>
        <p:spPr>
          <a:xfrm>
            <a:off x="2496312" y="947877"/>
            <a:ext cx="1993392" cy="3247745"/>
          </a:xfrm>
          <a:prstGeom prst="roundRect">
            <a:avLst>
              <a:gd name="adj" fmla="val 5505"/>
            </a:avLst>
          </a:prstGeom>
          <a:solidFill>
            <a:srgbClr val="F5F5F5"/>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10" name="Text 11">
            <a:extLst>
              <a:ext uri="{FF2B5EF4-FFF2-40B4-BE49-F238E27FC236}">
                <a16:creationId xmlns:a16="http://schemas.microsoft.com/office/drawing/2014/main" id="{09E84199-BAA1-FEDF-64E0-D3499FB15397}"/>
              </a:ext>
            </a:extLst>
          </p:cNvPr>
          <p:cNvSpPr/>
          <p:nvPr/>
        </p:nvSpPr>
        <p:spPr>
          <a:xfrm>
            <a:off x="2606040" y="2070248"/>
            <a:ext cx="1773936" cy="473043"/>
          </a:xfrm>
          <a:prstGeom prst="rect">
            <a:avLst/>
          </a:prstGeom>
          <a:noFill/>
          <a:ln/>
        </p:spPr>
        <p:txBody>
          <a:bodyPr wrap="square" lIns="0" tIns="0" rIns="0" bIns="0" rtlCol="0" anchor="t" anchorCtr="0"/>
          <a:lstStyle/>
          <a:p>
            <a:pPr marL="0" indent="0" algn="ctr">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Code Review </a:t>
            </a:r>
          </a:p>
          <a:p>
            <a:pPr marL="0" indent="0" algn="ctr">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Report</a:t>
            </a:r>
          </a:p>
        </p:txBody>
      </p:sp>
      <p:sp>
        <p:nvSpPr>
          <p:cNvPr id="11" name="Text 12">
            <a:extLst>
              <a:ext uri="{FF2B5EF4-FFF2-40B4-BE49-F238E27FC236}">
                <a16:creationId xmlns:a16="http://schemas.microsoft.com/office/drawing/2014/main" id="{CD9A7D21-81B6-ED7C-4B1C-21558F0C2529}"/>
              </a:ext>
            </a:extLst>
          </p:cNvPr>
          <p:cNvSpPr/>
          <p:nvPr/>
        </p:nvSpPr>
        <p:spPr>
          <a:xfrm>
            <a:off x="2624328" y="2590360"/>
            <a:ext cx="1737360" cy="982980"/>
          </a:xfrm>
          <a:prstGeom prst="rect">
            <a:avLst/>
          </a:prstGeom>
          <a:noFill/>
          <a:ln/>
        </p:spPr>
        <p:txBody>
          <a:bodyPr wrap="square" lIns="0" tIns="0" rIns="0" bIns="0" rtlCol="0" anchor="t"/>
          <a:lstStyle/>
          <a:p>
            <a:pPr marL="0" indent="0" algn="ctr">
              <a:buNone/>
            </a:pPr>
            <a:r>
              <a:rPr lang="en-US" sz="1200">
                <a:solidFill>
                  <a:schemeClr val="tx2"/>
                </a:solidFill>
                <a:latin typeface="Open Sans" pitchFamily="2" charset="0"/>
                <a:ea typeface="Open Sans" pitchFamily="2" charset="0"/>
                <a:cs typeface="Open Sans" pitchFamily="2" charset="0"/>
              </a:rPr>
              <a:t>A severity-ranked list of issues in your own PoC, with all Critical and High items fixed and re-verified</a:t>
            </a:r>
          </a:p>
        </p:txBody>
      </p:sp>
      <p:sp>
        <p:nvSpPr>
          <p:cNvPr id="12" name="Shape 13">
            <a:extLst>
              <a:ext uri="{FF2B5EF4-FFF2-40B4-BE49-F238E27FC236}">
                <a16:creationId xmlns:a16="http://schemas.microsoft.com/office/drawing/2014/main" id="{9565AA10-2A99-F28B-58B0-D55BF33C78FC}"/>
              </a:ext>
            </a:extLst>
          </p:cNvPr>
          <p:cNvSpPr/>
          <p:nvPr/>
        </p:nvSpPr>
        <p:spPr>
          <a:xfrm>
            <a:off x="4645152" y="947877"/>
            <a:ext cx="1993392" cy="3247745"/>
          </a:xfrm>
          <a:prstGeom prst="roundRect">
            <a:avLst>
              <a:gd name="adj" fmla="val 5505"/>
            </a:avLst>
          </a:prstGeom>
          <a:solidFill>
            <a:srgbClr val="F5F5F5"/>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14" name="Text 17">
            <a:extLst>
              <a:ext uri="{FF2B5EF4-FFF2-40B4-BE49-F238E27FC236}">
                <a16:creationId xmlns:a16="http://schemas.microsoft.com/office/drawing/2014/main" id="{858F5A0A-752D-7AF1-4CA6-D034C22D1712}"/>
              </a:ext>
            </a:extLst>
          </p:cNvPr>
          <p:cNvSpPr/>
          <p:nvPr/>
        </p:nvSpPr>
        <p:spPr>
          <a:xfrm>
            <a:off x="4754880" y="2070248"/>
            <a:ext cx="1773936" cy="320040"/>
          </a:xfrm>
          <a:prstGeom prst="rect">
            <a:avLst/>
          </a:prstGeom>
          <a:noFill/>
          <a:ln/>
        </p:spPr>
        <p:txBody>
          <a:bodyPr wrap="square" lIns="0" tIns="0" rIns="0" bIns="0" rtlCol="0" anchor="t" anchorCtr="0"/>
          <a:lstStyle/>
          <a:p>
            <a:pPr marL="0" indent="0" algn="ctr">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Clean Git Branch</a:t>
            </a:r>
          </a:p>
        </p:txBody>
      </p:sp>
      <p:sp>
        <p:nvSpPr>
          <p:cNvPr id="15" name="Text 18">
            <a:extLst>
              <a:ext uri="{FF2B5EF4-FFF2-40B4-BE49-F238E27FC236}">
                <a16:creationId xmlns:a16="http://schemas.microsoft.com/office/drawing/2014/main" id="{B0666827-AB5C-191E-229C-8E1D57E706D9}"/>
              </a:ext>
            </a:extLst>
          </p:cNvPr>
          <p:cNvSpPr/>
          <p:nvPr/>
        </p:nvSpPr>
        <p:spPr>
          <a:xfrm>
            <a:off x="4793742" y="2590360"/>
            <a:ext cx="1696212" cy="982980"/>
          </a:xfrm>
          <a:prstGeom prst="rect">
            <a:avLst/>
          </a:prstGeom>
          <a:noFill/>
          <a:ln/>
        </p:spPr>
        <p:txBody>
          <a:bodyPr wrap="square" lIns="0" tIns="0" rIns="0" bIns="0" rtlCol="0" anchor="t"/>
          <a:lstStyle/>
          <a:p>
            <a:pPr marL="0" indent="0" algn="ctr">
              <a:buNone/>
            </a:pPr>
            <a:r>
              <a:rPr lang="en-US" sz="1200">
                <a:solidFill>
                  <a:schemeClr val="tx2"/>
                </a:solidFill>
                <a:latin typeface="Open Sans" pitchFamily="2" charset="0"/>
                <a:ea typeface="Open Sans" pitchFamily="2" charset="0"/>
                <a:cs typeface="Open Sans" pitchFamily="2" charset="0"/>
              </a:rPr>
              <a:t>Your reviewed PoC committed to a dedicated branch, with a commit message that tells the next person exactly what changed and why</a:t>
            </a:r>
          </a:p>
        </p:txBody>
      </p:sp>
      <p:sp>
        <p:nvSpPr>
          <p:cNvPr id="16" name="Shape 19">
            <a:extLst>
              <a:ext uri="{FF2B5EF4-FFF2-40B4-BE49-F238E27FC236}">
                <a16:creationId xmlns:a16="http://schemas.microsoft.com/office/drawing/2014/main" id="{0F491945-D561-2140-A40C-E300B23A1570}"/>
              </a:ext>
            </a:extLst>
          </p:cNvPr>
          <p:cNvSpPr/>
          <p:nvPr/>
        </p:nvSpPr>
        <p:spPr>
          <a:xfrm>
            <a:off x="6793992" y="947877"/>
            <a:ext cx="1993392" cy="3247745"/>
          </a:xfrm>
          <a:prstGeom prst="roundRect">
            <a:avLst>
              <a:gd name="adj" fmla="val 5505"/>
            </a:avLst>
          </a:prstGeom>
          <a:solidFill>
            <a:srgbClr val="F5F5F5"/>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18" name="Text 23">
            <a:extLst>
              <a:ext uri="{FF2B5EF4-FFF2-40B4-BE49-F238E27FC236}">
                <a16:creationId xmlns:a16="http://schemas.microsoft.com/office/drawing/2014/main" id="{4E7FCAF5-1869-12E0-BEBE-7F932C334BC1}"/>
              </a:ext>
            </a:extLst>
          </p:cNvPr>
          <p:cNvSpPr/>
          <p:nvPr/>
        </p:nvSpPr>
        <p:spPr>
          <a:xfrm>
            <a:off x="6903720" y="2070248"/>
            <a:ext cx="1773936" cy="320040"/>
          </a:xfrm>
          <a:prstGeom prst="rect">
            <a:avLst/>
          </a:prstGeom>
          <a:noFill/>
          <a:ln/>
        </p:spPr>
        <p:txBody>
          <a:bodyPr wrap="square" lIns="0" tIns="0" rIns="0" bIns="0" rtlCol="0" anchor="t" anchorCtr="0"/>
          <a:lstStyle/>
          <a:p>
            <a:pPr marL="0" indent="0" algn="ctr">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HANDOFF.md</a:t>
            </a:r>
          </a:p>
        </p:txBody>
      </p:sp>
      <p:sp>
        <p:nvSpPr>
          <p:cNvPr id="19" name="Text 24">
            <a:extLst>
              <a:ext uri="{FF2B5EF4-FFF2-40B4-BE49-F238E27FC236}">
                <a16:creationId xmlns:a16="http://schemas.microsoft.com/office/drawing/2014/main" id="{ACD28E64-BDFA-D1DA-7ACA-A6DDE28C0AF5}"/>
              </a:ext>
            </a:extLst>
          </p:cNvPr>
          <p:cNvSpPr/>
          <p:nvPr/>
        </p:nvSpPr>
        <p:spPr>
          <a:xfrm>
            <a:off x="6922008" y="2590360"/>
            <a:ext cx="1737360" cy="982980"/>
          </a:xfrm>
          <a:prstGeom prst="rect">
            <a:avLst/>
          </a:prstGeom>
          <a:noFill/>
          <a:ln/>
        </p:spPr>
        <p:txBody>
          <a:bodyPr wrap="square" lIns="0" tIns="0" rIns="0" bIns="0" rtlCol="0" anchor="t"/>
          <a:lstStyle/>
          <a:p>
            <a:pPr marL="0" indent="0" algn="ctr">
              <a:buNone/>
            </a:pPr>
            <a:r>
              <a:rPr lang="en-US" sz="1200">
                <a:solidFill>
                  <a:schemeClr val="tx2"/>
                </a:solidFill>
                <a:latin typeface="Open Sans" pitchFamily="2" charset="0"/>
                <a:ea typeface="Open Sans" pitchFamily="2" charset="0"/>
                <a:cs typeface="Open Sans" pitchFamily="2" charset="0"/>
              </a:rPr>
              <a:t>A one-page technical overview of your PoC, committed to Git and ready for an engineer to pick up without a briefing</a:t>
            </a:r>
          </a:p>
        </p:txBody>
      </p:sp>
      <p:sp>
        <p:nvSpPr>
          <p:cNvPr id="20" name="Text 25">
            <a:extLst>
              <a:ext uri="{FF2B5EF4-FFF2-40B4-BE49-F238E27FC236}">
                <a16:creationId xmlns:a16="http://schemas.microsoft.com/office/drawing/2014/main" id="{5CA87565-6CFB-8A7B-F053-5F9DE96B9E48}"/>
              </a:ext>
            </a:extLst>
          </p:cNvPr>
          <p:cNvSpPr/>
          <p:nvPr/>
        </p:nvSpPr>
        <p:spPr>
          <a:xfrm>
            <a:off x="347472" y="4319384"/>
            <a:ext cx="8449056" cy="320040"/>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One module. Same PoC. A completely different level of trust.</a:t>
            </a:r>
            <a:endParaRPr lang="en-US" sz="1200">
              <a:solidFill>
                <a:schemeClr val="tx2"/>
              </a:solidFill>
              <a:latin typeface="Open Sans" pitchFamily="2" charset="0"/>
              <a:ea typeface="Open Sans" pitchFamily="2" charset="0"/>
              <a:cs typeface="Open Sans" pitchFamily="2" charset="0"/>
            </a:endParaRPr>
          </a:p>
        </p:txBody>
      </p:sp>
      <p:pic>
        <p:nvPicPr>
          <p:cNvPr id="29" name="Graphic 28">
            <a:extLst>
              <a:ext uri="{FF2B5EF4-FFF2-40B4-BE49-F238E27FC236}">
                <a16:creationId xmlns:a16="http://schemas.microsoft.com/office/drawing/2014/main" id="{735ABDAA-4E1E-F739-19DF-EDD4F81621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4464" y="771267"/>
            <a:ext cx="1503940" cy="1503940"/>
          </a:xfrm>
          <a:prstGeom prst="rect">
            <a:avLst/>
          </a:prstGeom>
        </p:spPr>
      </p:pic>
      <p:pic>
        <p:nvPicPr>
          <p:cNvPr id="38" name="Graphic 37">
            <a:extLst>
              <a:ext uri="{FF2B5EF4-FFF2-40B4-BE49-F238E27FC236}">
                <a16:creationId xmlns:a16="http://schemas.microsoft.com/office/drawing/2014/main" id="{80814D2F-EB16-7485-3B6B-72440A2775A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36214" y="1282912"/>
            <a:ext cx="480650" cy="480650"/>
          </a:xfrm>
          <a:prstGeom prst="rect">
            <a:avLst/>
          </a:prstGeom>
        </p:spPr>
      </p:pic>
      <p:pic>
        <p:nvPicPr>
          <p:cNvPr id="41" name="Graphic 40">
            <a:extLst>
              <a:ext uri="{FF2B5EF4-FFF2-40B4-BE49-F238E27FC236}">
                <a16:creationId xmlns:a16="http://schemas.microsoft.com/office/drawing/2014/main" id="{8D081C77-BD78-7482-CD65-489486D8846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39840" y="1269578"/>
            <a:ext cx="507319" cy="507319"/>
          </a:xfrm>
          <a:prstGeom prst="rect">
            <a:avLst/>
          </a:prstGeom>
        </p:spPr>
      </p:pic>
      <p:pic>
        <p:nvPicPr>
          <p:cNvPr id="44" name="Graphic 43">
            <a:extLst>
              <a:ext uri="{FF2B5EF4-FFF2-40B4-BE49-F238E27FC236}">
                <a16:creationId xmlns:a16="http://schemas.microsoft.com/office/drawing/2014/main" id="{452B7E03-5880-2B2C-964B-06CE1987D3D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66076" y="1260009"/>
            <a:ext cx="526457" cy="526457"/>
          </a:xfrm>
          <a:prstGeom prst="rect">
            <a:avLst/>
          </a:prstGeom>
        </p:spPr>
      </p:pic>
    </p:spTree>
    <p:extLst>
      <p:ext uri="{BB962C8B-B14F-4D97-AF65-F5344CB8AC3E}">
        <p14:creationId xmlns:p14="http://schemas.microsoft.com/office/powerpoint/2010/main" val="2727900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0D09F255-886A-95F9-CD4B-E5D8E5D11631}"/>
              </a:ext>
            </a:extLst>
          </p:cNvPr>
          <p:cNvSpPr/>
          <p:nvPr/>
        </p:nvSpPr>
        <p:spPr>
          <a:xfrm>
            <a:off x="1097280" y="1224669"/>
            <a:ext cx="7680960" cy="658368"/>
          </a:xfrm>
          <a:prstGeom prst="rect">
            <a:avLst/>
          </a:prstGeom>
          <a:noFill/>
          <a:ln/>
        </p:spPr>
        <p:txBody>
          <a:bodyPr wrap="square" lIns="0" tIns="0" rIns="0" bIns="0" rtlCol="0" anchor="ctr"/>
          <a:lstStyle/>
          <a:p>
            <a:r>
              <a:rPr lang="en-IN" sz="1400">
                <a:solidFill>
                  <a:schemeClr val="tx2"/>
                </a:solidFill>
                <a:latin typeface="Open Sans" pitchFamily="2" charset="0"/>
                <a:ea typeface="Open Sans" pitchFamily="2" charset="0"/>
                <a:cs typeface="Open Sans" pitchFamily="2" charset="0"/>
              </a:rPr>
              <a:t>Apply the 5-step debugging loop to diagnose and fix issues in AI-generated code using Claude Code</a:t>
            </a:r>
            <a:endParaRPr lang="en-US" sz="1400">
              <a:solidFill>
                <a:schemeClr val="tx2"/>
              </a:solidFill>
              <a:latin typeface="Open Sans" pitchFamily="2" charset="0"/>
              <a:ea typeface="Open Sans" pitchFamily="2" charset="0"/>
              <a:cs typeface="Open Sans" pitchFamily="2" charset="0"/>
            </a:endParaRPr>
          </a:p>
        </p:txBody>
      </p:sp>
      <p:sp>
        <p:nvSpPr>
          <p:cNvPr id="7" name="Shape 4">
            <a:extLst>
              <a:ext uri="{FF2B5EF4-FFF2-40B4-BE49-F238E27FC236}">
                <a16:creationId xmlns:a16="http://schemas.microsoft.com/office/drawing/2014/main" id="{7C96162F-B907-3FAA-E584-5D6D342BA5A6}"/>
              </a:ext>
            </a:extLst>
          </p:cNvPr>
          <p:cNvSpPr/>
          <p:nvPr/>
        </p:nvSpPr>
        <p:spPr>
          <a:xfrm>
            <a:off x="486872" y="1957265"/>
            <a:ext cx="8199928" cy="0"/>
          </a:xfrm>
          <a:prstGeom prst="line">
            <a:avLst/>
          </a:prstGeom>
          <a:noFill/>
          <a:ln w="6350">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58E66EE8-8440-61B1-B65E-1E88F2C7E0FA}"/>
              </a:ext>
            </a:extLst>
          </p:cNvPr>
          <p:cNvSpPr/>
          <p:nvPr/>
        </p:nvSpPr>
        <p:spPr>
          <a:xfrm>
            <a:off x="1097280" y="2018928"/>
            <a:ext cx="7680960" cy="658368"/>
          </a:xfrm>
          <a:prstGeom prst="rect">
            <a:avLst/>
          </a:prstGeom>
          <a:noFill/>
          <a:ln/>
        </p:spPr>
        <p:txBody>
          <a:bodyPr wrap="square" lIns="0" tIns="0" rIns="0" bIns="0" rtlCol="0" anchor="ctr"/>
          <a:lstStyle/>
          <a:p>
            <a:r>
              <a:rPr lang="en-IN" sz="1400">
                <a:solidFill>
                  <a:schemeClr val="tx2"/>
                </a:solidFill>
                <a:latin typeface="Open Sans" pitchFamily="2" charset="0"/>
                <a:ea typeface="Open Sans" pitchFamily="2" charset="0"/>
                <a:cs typeface="Open Sans" pitchFamily="2" charset="0"/>
              </a:rPr>
              <a:t>Evaluate your own PoC using a structured review prompt and apply severity-ranked fixes</a:t>
            </a:r>
            <a:endParaRPr lang="en-US" sz="1400">
              <a:solidFill>
                <a:schemeClr val="tx2"/>
              </a:solidFill>
              <a:latin typeface="Open Sans" pitchFamily="2" charset="0"/>
              <a:ea typeface="Open Sans" pitchFamily="2" charset="0"/>
              <a:cs typeface="Open Sans" pitchFamily="2" charset="0"/>
            </a:endParaRPr>
          </a:p>
        </p:txBody>
      </p:sp>
      <p:sp>
        <p:nvSpPr>
          <p:cNvPr id="10" name="Shape 7">
            <a:extLst>
              <a:ext uri="{FF2B5EF4-FFF2-40B4-BE49-F238E27FC236}">
                <a16:creationId xmlns:a16="http://schemas.microsoft.com/office/drawing/2014/main" id="{0CC668C9-439E-FABA-E782-FE0033D407B7}"/>
              </a:ext>
            </a:extLst>
          </p:cNvPr>
          <p:cNvSpPr/>
          <p:nvPr/>
        </p:nvSpPr>
        <p:spPr>
          <a:xfrm>
            <a:off x="486872" y="2843157"/>
            <a:ext cx="8199928" cy="0"/>
          </a:xfrm>
          <a:prstGeom prst="line">
            <a:avLst/>
          </a:prstGeom>
          <a:noFill/>
          <a:ln w="6350">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1A173A05-D722-3631-2923-B32333E1134C}"/>
              </a:ext>
            </a:extLst>
          </p:cNvPr>
          <p:cNvSpPr/>
          <p:nvPr/>
        </p:nvSpPr>
        <p:spPr>
          <a:xfrm>
            <a:off x="1097280" y="2900570"/>
            <a:ext cx="7680960" cy="658368"/>
          </a:xfrm>
          <a:prstGeom prst="rect">
            <a:avLst/>
          </a:prstGeom>
          <a:noFill/>
          <a:ln/>
        </p:spPr>
        <p:txBody>
          <a:bodyPr wrap="square" lIns="0" tIns="0" rIns="0" bIns="0" rtlCol="0" anchor="ctr"/>
          <a:lstStyle/>
          <a:p>
            <a:r>
              <a:rPr lang="en-IN" sz="1400">
                <a:solidFill>
                  <a:schemeClr val="tx2"/>
                </a:solidFill>
                <a:latin typeface="Open Sans" pitchFamily="2" charset="0"/>
                <a:ea typeface="Open Sans" pitchFamily="2" charset="0"/>
                <a:cs typeface="Open Sans" pitchFamily="2" charset="0"/>
              </a:rPr>
              <a:t>Commit reviewed code to Git using Claude Code-generated commit messages and branch names</a:t>
            </a:r>
            <a:endParaRPr lang="en-US" sz="1400">
              <a:solidFill>
                <a:schemeClr val="tx2"/>
              </a:solidFill>
              <a:latin typeface="Open Sans" pitchFamily="2" charset="0"/>
              <a:ea typeface="Open Sans" pitchFamily="2" charset="0"/>
              <a:cs typeface="Open Sans" pitchFamily="2" charset="0"/>
            </a:endParaRPr>
          </a:p>
        </p:txBody>
      </p:sp>
      <p:sp>
        <p:nvSpPr>
          <p:cNvPr id="13" name="Shape 10">
            <a:extLst>
              <a:ext uri="{FF2B5EF4-FFF2-40B4-BE49-F238E27FC236}">
                <a16:creationId xmlns:a16="http://schemas.microsoft.com/office/drawing/2014/main" id="{502A980A-4F29-7522-B6CD-AE0A5F12919A}"/>
              </a:ext>
            </a:extLst>
          </p:cNvPr>
          <p:cNvSpPr/>
          <p:nvPr/>
        </p:nvSpPr>
        <p:spPr>
          <a:xfrm>
            <a:off x="486872" y="3730125"/>
            <a:ext cx="8199928" cy="0"/>
          </a:xfrm>
          <a:prstGeom prst="line">
            <a:avLst/>
          </a:prstGeom>
          <a:noFill/>
          <a:ln w="6350">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91477E6A-DD87-96DC-4166-48F55F993F3B}"/>
              </a:ext>
            </a:extLst>
          </p:cNvPr>
          <p:cNvSpPr/>
          <p:nvPr/>
        </p:nvSpPr>
        <p:spPr>
          <a:xfrm>
            <a:off x="1097280" y="3799205"/>
            <a:ext cx="7680960" cy="658368"/>
          </a:xfrm>
          <a:prstGeom prst="rect">
            <a:avLst/>
          </a:prstGeom>
          <a:noFill/>
          <a:ln/>
        </p:spPr>
        <p:txBody>
          <a:bodyPr wrap="square" lIns="0" tIns="0" rIns="0" bIns="0" rtlCol="0" anchor="ctr"/>
          <a:lstStyle/>
          <a:p>
            <a:r>
              <a:rPr lang="en-IN" sz="1400">
                <a:solidFill>
                  <a:schemeClr val="tx2"/>
                </a:solidFill>
                <a:latin typeface="Open Sans" pitchFamily="2" charset="0"/>
                <a:ea typeface="Open Sans" pitchFamily="2" charset="0"/>
                <a:cs typeface="Open Sans" pitchFamily="2" charset="0"/>
              </a:rPr>
              <a:t>Generate a one-page technical overview of a completed PoC using Claude Code</a:t>
            </a:r>
            <a:endParaRPr lang="en-US" sz="1400">
              <a:solidFill>
                <a:schemeClr val="tx2"/>
              </a:solidFill>
              <a:latin typeface="Open Sans" pitchFamily="2" charset="0"/>
              <a:ea typeface="Open Sans" pitchFamily="2" charset="0"/>
              <a:cs typeface="Open Sans" pitchFamily="2" charset="0"/>
            </a:endParaRPr>
          </a:p>
        </p:txBody>
      </p:sp>
      <p:sp>
        <p:nvSpPr>
          <p:cNvPr id="41" name="Shape 5">
            <a:extLst>
              <a:ext uri="{FF2B5EF4-FFF2-40B4-BE49-F238E27FC236}">
                <a16:creationId xmlns:a16="http://schemas.microsoft.com/office/drawing/2014/main" id="{AE310583-B913-23AD-1850-7042F6F31C94}"/>
              </a:ext>
            </a:extLst>
          </p:cNvPr>
          <p:cNvSpPr/>
          <p:nvPr/>
        </p:nvSpPr>
        <p:spPr>
          <a:xfrm>
            <a:off x="434340" y="1302393"/>
            <a:ext cx="502920" cy="502920"/>
          </a:xfrm>
          <a:prstGeom prst="ellipse">
            <a:avLst/>
          </a:prstGeom>
          <a:solidFill>
            <a:schemeClr val="accent2"/>
          </a:solidFill>
          <a:ln/>
        </p:spPr>
        <p:txBody>
          <a:bodyPr/>
          <a:lstStyle/>
          <a:p>
            <a:endParaRPr lang="en-IN" b="1">
              <a:latin typeface="Open Sans" panose="020B0606030504020204" pitchFamily="34" charset="0"/>
              <a:ea typeface="Open Sans" panose="020B0606030504020204" pitchFamily="34" charset="0"/>
              <a:cs typeface="Open Sans" panose="020B0606030504020204" pitchFamily="34" charset="0"/>
            </a:endParaRPr>
          </a:p>
        </p:txBody>
      </p:sp>
      <p:sp>
        <p:nvSpPr>
          <p:cNvPr id="42" name="Text 2">
            <a:extLst>
              <a:ext uri="{FF2B5EF4-FFF2-40B4-BE49-F238E27FC236}">
                <a16:creationId xmlns:a16="http://schemas.microsoft.com/office/drawing/2014/main" id="{9A4DA1F7-CEF5-3194-F773-869B93643279}"/>
              </a:ext>
            </a:extLst>
          </p:cNvPr>
          <p:cNvSpPr/>
          <p:nvPr/>
        </p:nvSpPr>
        <p:spPr>
          <a:xfrm>
            <a:off x="365760" y="1237205"/>
            <a:ext cx="640080" cy="658368"/>
          </a:xfrm>
          <a:prstGeom prst="rect">
            <a:avLst/>
          </a:prstGeom>
          <a:noFill/>
          <a:ln/>
        </p:spPr>
        <p:txBody>
          <a:bodyPr wrap="square" lIns="0" tIns="0" rIns="0" bIns="0" rtlCol="0" anchor="ctr"/>
          <a:lstStyle/>
          <a:p>
            <a:pPr marL="0" indent="0" algn="ctr">
              <a:buNone/>
            </a:pPr>
            <a:r>
              <a:rPr lang="en-US" sz="1400" b="1">
                <a:solidFill>
                  <a:schemeClr val="bg1"/>
                </a:solidFill>
                <a:latin typeface="Open Sans Extrabold" panose="020B0606030504020204" pitchFamily="34" charset="0"/>
                <a:ea typeface="Open Sans Extrabold" panose="020B0606030504020204" pitchFamily="34" charset="0"/>
                <a:cs typeface="Open Sans Extrabold" panose="020B0606030504020204" pitchFamily="34" charset="0"/>
              </a:rPr>
              <a:t>01</a:t>
            </a:r>
            <a:endParaRPr lang="en-US" sz="14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3" name="Shape 5">
            <a:extLst>
              <a:ext uri="{FF2B5EF4-FFF2-40B4-BE49-F238E27FC236}">
                <a16:creationId xmlns:a16="http://schemas.microsoft.com/office/drawing/2014/main" id="{19C1FBF4-CAB8-2FCA-E5A2-5BF47C9EBD28}"/>
              </a:ext>
            </a:extLst>
          </p:cNvPr>
          <p:cNvSpPr/>
          <p:nvPr/>
        </p:nvSpPr>
        <p:spPr>
          <a:xfrm>
            <a:off x="434340" y="2096652"/>
            <a:ext cx="502920" cy="502920"/>
          </a:xfrm>
          <a:prstGeom prst="ellipse">
            <a:avLst/>
          </a:prstGeom>
          <a:solidFill>
            <a:schemeClr val="accent2"/>
          </a:solidFill>
          <a:ln/>
        </p:spPr>
        <p:txBody>
          <a:bodyPr/>
          <a:lstStyle/>
          <a:p>
            <a:endParaRPr lang="en-IN"/>
          </a:p>
        </p:txBody>
      </p:sp>
      <p:sp>
        <p:nvSpPr>
          <p:cNvPr id="44" name="Text 5">
            <a:extLst>
              <a:ext uri="{FF2B5EF4-FFF2-40B4-BE49-F238E27FC236}">
                <a16:creationId xmlns:a16="http://schemas.microsoft.com/office/drawing/2014/main" id="{B3A380FE-731A-C415-C0E5-DC5C2388C8E7}"/>
              </a:ext>
            </a:extLst>
          </p:cNvPr>
          <p:cNvSpPr/>
          <p:nvPr/>
        </p:nvSpPr>
        <p:spPr>
          <a:xfrm>
            <a:off x="365760" y="2018928"/>
            <a:ext cx="640080" cy="658368"/>
          </a:xfrm>
          <a:prstGeom prst="rect">
            <a:avLst/>
          </a:prstGeom>
          <a:noFill/>
          <a:ln/>
        </p:spPr>
        <p:txBody>
          <a:bodyPr wrap="square" lIns="0" tIns="0" rIns="0" bIns="0" rtlCol="0" anchor="ctr"/>
          <a:lstStyle/>
          <a:p>
            <a:pPr marL="0" indent="0" algn="ctr">
              <a:buNone/>
            </a:pPr>
            <a:r>
              <a:rPr lang="en-US" sz="1400" b="1">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5" name="Shape 5">
            <a:extLst>
              <a:ext uri="{FF2B5EF4-FFF2-40B4-BE49-F238E27FC236}">
                <a16:creationId xmlns:a16="http://schemas.microsoft.com/office/drawing/2014/main" id="{68297C34-CDD9-EBF6-F5F0-A5D9569EBD3B}"/>
              </a:ext>
            </a:extLst>
          </p:cNvPr>
          <p:cNvSpPr/>
          <p:nvPr/>
        </p:nvSpPr>
        <p:spPr>
          <a:xfrm>
            <a:off x="434340" y="2978294"/>
            <a:ext cx="502920" cy="502920"/>
          </a:xfrm>
          <a:prstGeom prst="ellipse">
            <a:avLst/>
          </a:prstGeom>
          <a:solidFill>
            <a:schemeClr val="accent2"/>
          </a:solidFill>
          <a:ln/>
        </p:spPr>
        <p:txBody>
          <a:bodyPr/>
          <a:lstStyle/>
          <a:p>
            <a:endParaRPr lang="en-IN" b="1">
              <a:latin typeface="Open Sans" panose="020B0606030504020204" pitchFamily="34" charset="0"/>
              <a:ea typeface="Open Sans" panose="020B0606030504020204" pitchFamily="34" charset="0"/>
              <a:cs typeface="Open Sans" panose="020B0606030504020204" pitchFamily="34" charset="0"/>
            </a:endParaRPr>
          </a:p>
        </p:txBody>
      </p:sp>
      <p:sp>
        <p:nvSpPr>
          <p:cNvPr id="46" name="Text 8">
            <a:extLst>
              <a:ext uri="{FF2B5EF4-FFF2-40B4-BE49-F238E27FC236}">
                <a16:creationId xmlns:a16="http://schemas.microsoft.com/office/drawing/2014/main" id="{AC1E16A5-F31F-20DF-DCA5-FEBA45371FF2}"/>
              </a:ext>
            </a:extLst>
          </p:cNvPr>
          <p:cNvSpPr/>
          <p:nvPr/>
        </p:nvSpPr>
        <p:spPr>
          <a:xfrm>
            <a:off x="365760" y="2900570"/>
            <a:ext cx="640080" cy="658368"/>
          </a:xfrm>
          <a:prstGeom prst="rect">
            <a:avLst/>
          </a:prstGeom>
          <a:noFill/>
          <a:ln/>
        </p:spPr>
        <p:txBody>
          <a:bodyPr wrap="square" lIns="0" tIns="0" rIns="0" bIns="0" rtlCol="0" anchor="ctr"/>
          <a:lstStyle/>
          <a:p>
            <a:pPr marL="0" indent="0" algn="ctr">
              <a:buNone/>
            </a:pPr>
            <a:r>
              <a:rPr lang="en-US" sz="1400" b="1">
                <a:solidFill>
                  <a:schemeClr val="bg1"/>
                </a:solidFill>
                <a:latin typeface="Open Sans Extrabold" panose="020B0606030504020204" pitchFamily="34" charset="0"/>
                <a:ea typeface="Open Sans Extrabold" panose="020B0606030504020204" pitchFamily="34" charset="0"/>
                <a:cs typeface="Open Sans Extrabold" panose="020B0606030504020204" pitchFamily="34" charset="0"/>
              </a:rPr>
              <a:t>03</a:t>
            </a:r>
            <a:endParaRPr lang="en-US" sz="14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7" name="Shape 5">
            <a:extLst>
              <a:ext uri="{FF2B5EF4-FFF2-40B4-BE49-F238E27FC236}">
                <a16:creationId xmlns:a16="http://schemas.microsoft.com/office/drawing/2014/main" id="{B725073A-D880-171F-F280-7CF7075965CB}"/>
              </a:ext>
            </a:extLst>
          </p:cNvPr>
          <p:cNvSpPr/>
          <p:nvPr/>
        </p:nvSpPr>
        <p:spPr>
          <a:xfrm>
            <a:off x="434340" y="3876929"/>
            <a:ext cx="502920" cy="502920"/>
          </a:xfrm>
          <a:prstGeom prst="ellipse">
            <a:avLst/>
          </a:prstGeom>
          <a:solidFill>
            <a:schemeClr val="accent2"/>
          </a:solidFill>
          <a:ln/>
        </p:spPr>
        <p:txBody>
          <a:bodyPr/>
          <a:lstStyle/>
          <a:p>
            <a:endParaRPr lang="en-IN"/>
          </a:p>
        </p:txBody>
      </p:sp>
      <p:sp>
        <p:nvSpPr>
          <p:cNvPr id="48" name="Text 11">
            <a:extLst>
              <a:ext uri="{FF2B5EF4-FFF2-40B4-BE49-F238E27FC236}">
                <a16:creationId xmlns:a16="http://schemas.microsoft.com/office/drawing/2014/main" id="{B49D8A4F-D3FD-30A1-D9A2-1FCE626E614F}"/>
              </a:ext>
            </a:extLst>
          </p:cNvPr>
          <p:cNvSpPr/>
          <p:nvPr/>
        </p:nvSpPr>
        <p:spPr>
          <a:xfrm>
            <a:off x="365760" y="3799205"/>
            <a:ext cx="640080" cy="658368"/>
          </a:xfrm>
          <a:prstGeom prst="rect">
            <a:avLst/>
          </a:prstGeom>
          <a:noFill/>
          <a:ln/>
        </p:spPr>
        <p:txBody>
          <a:bodyPr wrap="square" lIns="0" tIns="0" rIns="0" bIns="0" rtlCol="0" anchor="ctr"/>
          <a:lstStyle/>
          <a:p>
            <a:pPr marL="0" indent="0" algn="ctr">
              <a:buNone/>
            </a:pPr>
            <a:r>
              <a:rPr lang="en-US" sz="14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p>
        </p:txBody>
      </p:sp>
      <p:sp>
        <p:nvSpPr>
          <p:cNvPr id="53" name="Text 0">
            <a:extLst>
              <a:ext uri="{FF2B5EF4-FFF2-40B4-BE49-F238E27FC236}">
                <a16:creationId xmlns:a16="http://schemas.microsoft.com/office/drawing/2014/main" id="{44ACD1A8-7752-DDFD-0427-C56C85467EE3}"/>
              </a:ext>
            </a:extLst>
          </p:cNvPr>
          <p:cNvSpPr/>
          <p:nvPr/>
        </p:nvSpPr>
        <p:spPr>
          <a:xfrm>
            <a:off x="365760" y="190800"/>
            <a:ext cx="8412480" cy="475488"/>
          </a:xfrm>
          <a:prstGeom prst="rect">
            <a:avLst/>
          </a:prstGeom>
          <a:noFill/>
          <a:ln/>
        </p:spPr>
        <p:txBody>
          <a:bodyPr wrap="square" lIns="0" tIns="0" rIns="0" bIns="0" rtlCol="0" anchor="ctr"/>
          <a:lstStyle/>
          <a:p>
            <a:pPr marL="0" indent="0">
              <a:buNone/>
            </a:pPr>
            <a:r>
              <a:rPr lang="en-US" sz="2800" b="1">
                <a:latin typeface="Open Sans" panose="020B0606030504020204" pitchFamily="34" charset="0"/>
                <a:ea typeface="Open Sans" panose="020B0606030504020204" pitchFamily="34" charset="0"/>
                <a:cs typeface="Open Sans" panose="020B0606030504020204" pitchFamily="34" charset="0"/>
              </a:rPr>
              <a:t>Learning Outcomes</a:t>
            </a:r>
          </a:p>
        </p:txBody>
      </p:sp>
      <p:sp>
        <p:nvSpPr>
          <p:cNvPr id="54" name="Text 1">
            <a:extLst>
              <a:ext uri="{FF2B5EF4-FFF2-40B4-BE49-F238E27FC236}">
                <a16:creationId xmlns:a16="http://schemas.microsoft.com/office/drawing/2014/main" id="{75B16A6E-AC65-A76F-5879-DB201787957C}"/>
              </a:ext>
            </a:extLst>
          </p:cNvPr>
          <p:cNvSpPr/>
          <p:nvPr/>
        </p:nvSpPr>
        <p:spPr>
          <a:xfrm>
            <a:off x="365760" y="770400"/>
            <a:ext cx="8412480" cy="256032"/>
          </a:xfrm>
          <a:prstGeom prst="rect">
            <a:avLst/>
          </a:prstGeom>
          <a:noFill/>
          <a:ln/>
        </p:spPr>
        <p:txBody>
          <a:bodyPr wrap="square" lIns="0" tIns="0" rIns="0" bIns="0" rtlCol="0" anchor="ctr"/>
          <a:lstStyle/>
          <a:p>
            <a:pPr marL="0" indent="0">
              <a:buNone/>
            </a:pPr>
            <a:r>
              <a:rPr lang="en-US" sz="1400">
                <a:solidFill>
                  <a:srgbClr val="757575"/>
                </a:solidFill>
                <a:latin typeface="Open Sans" panose="020B0606030504020204" pitchFamily="34" charset="0"/>
                <a:ea typeface="Open Sans" panose="020B0606030504020204" pitchFamily="34" charset="0"/>
                <a:cs typeface="Open Sans" panose="020B0606030504020204" pitchFamily="34" charset="0"/>
              </a:rPr>
              <a:t>By the end of this module, you will be able to:</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756050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6AD87B94-1DA9-7B7D-2517-72A1A9604BB2}"/>
              </a:ext>
            </a:extLst>
          </p:cNvPr>
          <p:cNvSpPr/>
          <p:nvPr/>
        </p:nvSpPr>
        <p:spPr>
          <a:xfrm>
            <a:off x="367200" y="190800"/>
            <a:ext cx="8412480" cy="475488"/>
          </a:xfrm>
          <a:prstGeom prst="rect">
            <a:avLst/>
          </a:prstGeom>
          <a:noFill/>
          <a:ln/>
        </p:spPr>
        <p:txBody>
          <a:bodyPr wrap="square" lIns="0" tIns="0" rIns="0" bIns="0" rtlCol="0" anchor="ctr"/>
          <a:lstStyle/>
          <a:p>
            <a:pPr marL="0" indent="0">
              <a:buNone/>
            </a:pPr>
            <a:r>
              <a:rPr lang="en-US" sz="2800" b="1">
                <a:latin typeface="Open Sans" panose="020B0606030504020204" pitchFamily="34" charset="0"/>
                <a:ea typeface="Open Sans" panose="020B0606030504020204" pitchFamily="34" charset="0"/>
                <a:cs typeface="Open Sans" panose="020B0606030504020204" pitchFamily="34" charset="0"/>
              </a:rPr>
              <a:t>Today's Agenda</a:t>
            </a:r>
          </a:p>
        </p:txBody>
      </p:sp>
      <p:sp>
        <p:nvSpPr>
          <p:cNvPr id="38" name="Shape 5">
            <a:extLst>
              <a:ext uri="{FF2B5EF4-FFF2-40B4-BE49-F238E27FC236}">
                <a16:creationId xmlns:a16="http://schemas.microsoft.com/office/drawing/2014/main" id="{5F86781E-A701-D5D3-03D9-30F8D4699D6C}"/>
              </a:ext>
            </a:extLst>
          </p:cNvPr>
          <p:cNvSpPr/>
          <p:nvPr/>
        </p:nvSpPr>
        <p:spPr>
          <a:xfrm>
            <a:off x="367200" y="1093895"/>
            <a:ext cx="2582477" cy="2971800"/>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9" name="Rounded Rectangle 38">
            <a:extLst>
              <a:ext uri="{FF2B5EF4-FFF2-40B4-BE49-F238E27FC236}">
                <a16:creationId xmlns:a16="http://schemas.microsoft.com/office/drawing/2014/main" id="{D323428B-8164-9A9E-4A44-A9F41D6CA1F6}"/>
              </a:ext>
            </a:extLst>
          </p:cNvPr>
          <p:cNvSpPr/>
          <p:nvPr/>
        </p:nvSpPr>
        <p:spPr>
          <a:xfrm>
            <a:off x="381949" y="1161566"/>
            <a:ext cx="2508736" cy="2810665"/>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400" b="1">
              <a:solidFill>
                <a:schemeClr val="tx1"/>
              </a:solidFill>
            </a:endParaRPr>
          </a:p>
          <a:p>
            <a:r>
              <a:rPr lang="en-IN" sz="1400" b="1">
                <a:solidFill>
                  <a:schemeClr val="accent2"/>
                </a:solidFill>
              </a:rPr>
              <a:t>PART 1                   ~ 35 min</a:t>
            </a:r>
          </a:p>
          <a:p>
            <a:endParaRPr lang="en-IN" sz="1400">
              <a:solidFill>
                <a:schemeClr val="tx1"/>
              </a:solidFill>
            </a:endParaRPr>
          </a:p>
          <a:p>
            <a:endParaRPr lang="en-IN" sz="1400">
              <a:solidFill>
                <a:schemeClr val="tx1"/>
              </a:solidFill>
            </a:endParaRPr>
          </a:p>
          <a:p>
            <a:pPr marL="285750" indent="-285750">
              <a:buFont typeface="Arial" panose="020B0604020202020204" pitchFamily="34" charset="0"/>
              <a:buChar char="•"/>
            </a:pPr>
            <a: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t>AI-Assisted Debugging</a:t>
            </a:r>
            <a:b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br>
            <a:endPar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IN" sz="1400">
                <a:solidFill>
                  <a:schemeClr val="tx2"/>
                </a:solidFill>
                <a:latin typeface="Open Sans" pitchFamily="2" charset="0"/>
                <a:ea typeface="Open Sans" pitchFamily="2" charset="0"/>
                <a:cs typeface="Open Sans" pitchFamily="2" charset="0"/>
              </a:rPr>
              <a:t>Debugging loop · Broken project lab · Critical reading habits</a:t>
            </a:r>
            <a:endParaRPr lang="en-US" sz="1400">
              <a:solidFill>
                <a:schemeClr val="tx2"/>
              </a:solidFill>
              <a:latin typeface="Open Sans" pitchFamily="2" charset="0"/>
              <a:ea typeface="Open Sans" pitchFamily="2" charset="0"/>
              <a:cs typeface="Open Sans" pitchFamily="2" charset="0"/>
            </a:endParaRPr>
          </a:p>
        </p:txBody>
      </p:sp>
      <p:sp>
        <p:nvSpPr>
          <p:cNvPr id="40" name="Shape 5">
            <a:extLst>
              <a:ext uri="{FF2B5EF4-FFF2-40B4-BE49-F238E27FC236}">
                <a16:creationId xmlns:a16="http://schemas.microsoft.com/office/drawing/2014/main" id="{08F369F1-971C-3174-0564-8DF87D5F02D2}"/>
              </a:ext>
            </a:extLst>
          </p:cNvPr>
          <p:cNvSpPr/>
          <p:nvPr/>
        </p:nvSpPr>
        <p:spPr>
          <a:xfrm>
            <a:off x="3310151" y="1093895"/>
            <a:ext cx="2582477" cy="2971800"/>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1" name="Rounded Rectangle 40">
            <a:extLst>
              <a:ext uri="{FF2B5EF4-FFF2-40B4-BE49-F238E27FC236}">
                <a16:creationId xmlns:a16="http://schemas.microsoft.com/office/drawing/2014/main" id="{2CD90691-BC0C-41EE-B3A9-B015C967AE87}"/>
              </a:ext>
            </a:extLst>
          </p:cNvPr>
          <p:cNvSpPr/>
          <p:nvPr/>
        </p:nvSpPr>
        <p:spPr>
          <a:xfrm>
            <a:off x="3324900" y="1161566"/>
            <a:ext cx="2508736" cy="2810665"/>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400" b="1">
              <a:solidFill>
                <a:schemeClr val="tx1"/>
              </a:solidFill>
            </a:endParaRPr>
          </a:p>
          <a:p>
            <a:r>
              <a:rPr lang="en-IN" sz="1400" b="1">
                <a:solidFill>
                  <a:schemeClr val="accent2"/>
                </a:solidFill>
              </a:rPr>
              <a:t>PART 2                   ~ 50 min</a:t>
            </a:r>
          </a:p>
          <a:p>
            <a:endParaRPr lang="en-IN" sz="1400">
              <a:solidFill>
                <a:schemeClr val="tx1"/>
              </a:solidFill>
            </a:endParaRPr>
          </a:p>
          <a:p>
            <a:endParaRPr lang="en-IN" sz="1400">
              <a:solidFill>
                <a:schemeClr val="tx1"/>
              </a:solidFill>
            </a:endParaRPr>
          </a:p>
          <a:p>
            <a:pPr marL="285750" indent="-285750">
              <a:buFont typeface="Arial" panose="020B0604020202020204" pitchFamily="34" charset="0"/>
              <a:buChar char="•"/>
            </a:pPr>
            <a: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t>AI-Assisted Code Review</a:t>
            </a:r>
            <a:b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br>
            <a:endPar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IN" sz="1400">
                <a:solidFill>
                  <a:schemeClr val="tx2"/>
                </a:solidFill>
                <a:latin typeface="Open Sans" pitchFamily="2" charset="0"/>
                <a:ea typeface="Open Sans" pitchFamily="2" charset="0"/>
                <a:cs typeface="Open Sans" pitchFamily="2" charset="0"/>
              </a:rPr>
              <a:t>Review prompt · Severity ranking · Fix and re-verify</a:t>
            </a:r>
            <a:endParaRPr lang="en-US" sz="1300">
              <a:solidFill>
                <a:schemeClr val="tx2"/>
              </a:solidFill>
              <a:latin typeface="Open Sans" pitchFamily="2" charset="0"/>
              <a:ea typeface="Open Sans" pitchFamily="2" charset="0"/>
              <a:cs typeface="Open Sans" pitchFamily="2" charset="0"/>
            </a:endParaRPr>
          </a:p>
        </p:txBody>
      </p:sp>
      <p:sp>
        <p:nvSpPr>
          <p:cNvPr id="42" name="Shape 5">
            <a:extLst>
              <a:ext uri="{FF2B5EF4-FFF2-40B4-BE49-F238E27FC236}">
                <a16:creationId xmlns:a16="http://schemas.microsoft.com/office/drawing/2014/main" id="{BB929D66-03A1-7C41-4D2F-50E6D057EB5B}"/>
              </a:ext>
            </a:extLst>
          </p:cNvPr>
          <p:cNvSpPr/>
          <p:nvPr/>
        </p:nvSpPr>
        <p:spPr>
          <a:xfrm>
            <a:off x="6253102" y="1093895"/>
            <a:ext cx="2582477" cy="2971800"/>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3" name="Rounded Rectangle 42">
            <a:extLst>
              <a:ext uri="{FF2B5EF4-FFF2-40B4-BE49-F238E27FC236}">
                <a16:creationId xmlns:a16="http://schemas.microsoft.com/office/drawing/2014/main" id="{2F2E4775-FFCD-8335-A3EA-A87BF530F271}"/>
              </a:ext>
            </a:extLst>
          </p:cNvPr>
          <p:cNvSpPr/>
          <p:nvPr/>
        </p:nvSpPr>
        <p:spPr>
          <a:xfrm>
            <a:off x="6267851" y="1161566"/>
            <a:ext cx="2508736" cy="2810665"/>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400" b="1">
              <a:solidFill>
                <a:schemeClr val="tx1"/>
              </a:solidFill>
            </a:endParaRPr>
          </a:p>
          <a:p>
            <a:r>
              <a:rPr lang="en-IN" sz="1400" b="1">
                <a:solidFill>
                  <a:schemeClr val="accent2"/>
                </a:solidFill>
              </a:rPr>
              <a:t>PART 3                   ~ 35 min</a:t>
            </a:r>
          </a:p>
          <a:p>
            <a:endParaRPr lang="en-IN" sz="1400">
              <a:solidFill>
                <a:schemeClr val="tx1"/>
              </a:solidFill>
            </a:endParaRPr>
          </a:p>
          <a:p>
            <a:endParaRPr lang="en-IN" sz="1400">
              <a:solidFill>
                <a:schemeClr val="tx2"/>
              </a:solidFill>
            </a:endParaRPr>
          </a:p>
          <a:p>
            <a:pPr marL="285750" indent="-285750">
              <a:buFont typeface="Arial" panose="020B0604020202020204" pitchFamily="34" charset="0"/>
              <a:buChar char="•"/>
            </a:pPr>
            <a: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t>Development Workflows</a:t>
            </a:r>
            <a:b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br>
            <a:endPar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IN" sz="1400">
                <a:solidFill>
                  <a:schemeClr val="tx2"/>
                </a:solidFill>
                <a:latin typeface="Open Sans" pitchFamily="2" charset="0"/>
                <a:ea typeface="Open Sans" pitchFamily="2" charset="0"/>
                <a:cs typeface="Open Sans" pitchFamily="2" charset="0"/>
              </a:rPr>
              <a:t>Git with Claude Code · Commit habits · Technical handoff document</a:t>
            </a:r>
            <a:endParaRPr lang="en-US" sz="13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885655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2">
            <a:extLst>
              <a:ext uri="{FF2B5EF4-FFF2-40B4-BE49-F238E27FC236}">
                <a16:creationId xmlns:a16="http://schemas.microsoft.com/office/drawing/2014/main" id="{54D59776-A5D3-6A1E-2980-5600D0777C4D}"/>
              </a:ext>
            </a:extLst>
          </p:cNvPr>
          <p:cNvSpPr/>
          <p:nvPr/>
        </p:nvSpPr>
        <p:spPr>
          <a:xfrm>
            <a:off x="443315" y="1554481"/>
            <a:ext cx="1463040" cy="1645920"/>
          </a:xfrm>
          <a:prstGeom prst="rect">
            <a:avLst/>
          </a:prstGeom>
          <a:noFill/>
          <a:ln/>
        </p:spPr>
        <p:txBody>
          <a:bodyPr wrap="square" lIns="0" tIns="0" rIns="0" bIns="0" rtlCol="0" anchor="ctr"/>
          <a:lstStyle/>
          <a:p>
            <a:pPr marL="0" indent="0">
              <a:buNone/>
            </a:pPr>
            <a:r>
              <a:rPr lang="en-US" sz="8000" b="1">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7" name="Text 23">
            <a:extLst>
              <a:ext uri="{FF2B5EF4-FFF2-40B4-BE49-F238E27FC236}">
                <a16:creationId xmlns:a16="http://schemas.microsoft.com/office/drawing/2014/main" id="{3923791A-5A43-9055-F290-C6508A38A41F}"/>
              </a:ext>
            </a:extLst>
          </p:cNvPr>
          <p:cNvSpPr/>
          <p:nvPr/>
        </p:nvSpPr>
        <p:spPr>
          <a:xfrm>
            <a:off x="1997795" y="1988821"/>
            <a:ext cx="6949440" cy="777240"/>
          </a:xfrm>
          <a:prstGeom prst="rect">
            <a:avLst/>
          </a:prstGeom>
          <a:noFill/>
          <a:ln/>
        </p:spPr>
        <p:txBody>
          <a:bodyPr wrap="square" lIns="0" tIns="0" rIns="0" bIns="0" rtlCol="0" anchor="ctr"/>
          <a:lstStyle/>
          <a:p>
            <a:pPr marL="0" indent="0">
              <a:buNone/>
            </a:pPr>
            <a:r>
              <a:rPr lang="en-US" sz="4800" b="1">
                <a:solidFill>
                  <a:srgbClr val="2D2D2D"/>
                </a:solidFill>
                <a:latin typeface="Open Sans" panose="020B0606030504020204" pitchFamily="34" charset="0"/>
                <a:ea typeface="Open Sans" panose="020B0606030504020204" pitchFamily="34" charset="0"/>
                <a:cs typeface="Open Sans" panose="020B0606030504020204" pitchFamily="34" charset="0"/>
              </a:rPr>
              <a:t>AI-ASSISTED</a:t>
            </a:r>
          </a:p>
          <a:p>
            <a:r>
              <a:rPr lang="en-US" sz="4800" b="1">
                <a:solidFill>
                  <a:srgbClr val="2D2D2D"/>
                </a:solidFill>
                <a:latin typeface="Open Sans" panose="020B0606030504020204" pitchFamily="34" charset="0"/>
                <a:ea typeface="Open Sans" panose="020B0606030504020204" pitchFamily="34" charset="0"/>
                <a:cs typeface="Open Sans" panose="020B0606030504020204" pitchFamily="34" charset="0"/>
              </a:rPr>
              <a:t>DEBUGGING</a:t>
            </a:r>
            <a:endParaRPr lang="en-US" sz="4800" b="1">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439867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hape 37">
            <a:extLst>
              <a:ext uri="{FF2B5EF4-FFF2-40B4-BE49-F238E27FC236}">
                <a16:creationId xmlns:a16="http://schemas.microsoft.com/office/drawing/2014/main" id="{12BE3209-F556-6621-1D02-A6A7C3C9EA23}"/>
              </a:ext>
            </a:extLst>
          </p:cNvPr>
          <p:cNvSpPr/>
          <p:nvPr/>
        </p:nvSpPr>
        <p:spPr>
          <a:xfrm>
            <a:off x="411480" y="4138401"/>
            <a:ext cx="8321040" cy="347472"/>
          </a:xfrm>
          <a:prstGeom prst="roundRect">
            <a:avLst>
              <a:gd name="adj" fmla="val 21053"/>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 name="Text 1">
            <a:extLst>
              <a:ext uri="{FF2B5EF4-FFF2-40B4-BE49-F238E27FC236}">
                <a16:creationId xmlns:a16="http://schemas.microsoft.com/office/drawing/2014/main" id="{E46F0555-90E9-F6D4-7B9C-B136C7342DDF}"/>
              </a:ext>
            </a:extLst>
          </p:cNvPr>
          <p:cNvSpPr/>
          <p:nvPr/>
        </p:nvSpPr>
        <p:spPr>
          <a:xfrm>
            <a:off x="367200" y="770400"/>
            <a:ext cx="8321040" cy="292608"/>
          </a:xfrm>
          <a:prstGeom prst="rect">
            <a:avLst/>
          </a:prstGeom>
          <a:noFill/>
          <a:ln/>
        </p:spPr>
        <p:txBody>
          <a:bodyPr wrap="square" lIns="0" tIns="0" rIns="0" bIns="0" rtlCol="0" anchor="ctr"/>
          <a:lstStyle/>
          <a:p>
            <a:pPr marL="0" indent="0" algn="l">
              <a:buNone/>
            </a:pPr>
            <a:r>
              <a:rPr lang="en-US" sz="1400" i="1">
                <a:solidFill>
                  <a:schemeClr val="tx2"/>
                </a:solidFill>
                <a:latin typeface="Open Sans" pitchFamily="2" charset="0"/>
                <a:ea typeface="Open Sans" pitchFamily="2" charset="0"/>
                <a:cs typeface="Open Sans" pitchFamily="2" charset="0"/>
              </a:rPr>
              <a:t>That requires a different kind of reading.</a:t>
            </a:r>
            <a:endParaRPr lang="en-US" sz="1400">
              <a:solidFill>
                <a:schemeClr val="tx2"/>
              </a:solidFill>
              <a:latin typeface="Open Sans" pitchFamily="2" charset="0"/>
              <a:ea typeface="Open Sans" pitchFamily="2" charset="0"/>
              <a:cs typeface="Open Sans" pitchFamily="2" charset="0"/>
            </a:endParaRPr>
          </a:p>
        </p:txBody>
      </p:sp>
      <p:sp>
        <p:nvSpPr>
          <p:cNvPr id="5" name="Shape 2">
            <a:extLst>
              <a:ext uri="{FF2B5EF4-FFF2-40B4-BE49-F238E27FC236}">
                <a16:creationId xmlns:a16="http://schemas.microsoft.com/office/drawing/2014/main" id="{17C13018-1E4F-CCCC-6F55-BEEDC20D1ADF}"/>
              </a:ext>
            </a:extLst>
          </p:cNvPr>
          <p:cNvSpPr/>
          <p:nvPr/>
        </p:nvSpPr>
        <p:spPr>
          <a:xfrm>
            <a:off x="411480" y="1650443"/>
            <a:ext cx="3977640" cy="2176272"/>
          </a:xfrm>
          <a:prstGeom prst="roundRect">
            <a:avLst>
              <a:gd name="adj" fmla="val 3571"/>
            </a:avLst>
          </a:prstGeom>
          <a:solidFill>
            <a:srgbClr val="F5F5F5"/>
          </a:solidFill>
          <a:ln w="6350">
            <a:solidFill>
              <a:srgbClr val="DDDDDD"/>
            </a:solidFill>
            <a:prstDash val="solid"/>
          </a:ln>
          <a:effectLst>
            <a:outerShdw blurRad="63500" dist="25400" dir="2700000" algn="bl" rotWithShape="0">
              <a:srgbClr val="000000">
                <a:alpha val="9000"/>
              </a:srgbClr>
            </a:outerShdw>
          </a:effectLst>
        </p:spPr>
        <p:txBody>
          <a:bodyPr/>
          <a:lstStyle/>
          <a:p>
            <a:endParaRPr lang="en-US" sz="1200">
              <a:latin typeface="Open Sans" pitchFamily="2" charset="0"/>
              <a:ea typeface="Open Sans" pitchFamily="2" charset="0"/>
              <a:cs typeface="Open Sans" pitchFamily="2" charset="0"/>
            </a:endParaRPr>
          </a:p>
        </p:txBody>
      </p:sp>
      <p:sp>
        <p:nvSpPr>
          <p:cNvPr id="6" name="Shape 3">
            <a:extLst>
              <a:ext uri="{FF2B5EF4-FFF2-40B4-BE49-F238E27FC236}">
                <a16:creationId xmlns:a16="http://schemas.microsoft.com/office/drawing/2014/main" id="{1E88F579-9825-7895-C88E-750D89F2FD30}"/>
              </a:ext>
            </a:extLst>
          </p:cNvPr>
          <p:cNvSpPr/>
          <p:nvPr/>
        </p:nvSpPr>
        <p:spPr>
          <a:xfrm>
            <a:off x="411480" y="1252219"/>
            <a:ext cx="3977640" cy="384048"/>
          </a:xfrm>
          <a:prstGeom prst="roundRect">
            <a:avLst>
              <a:gd name="adj" fmla="val 23810"/>
            </a:avLst>
          </a:prstGeom>
          <a:solidFill>
            <a:schemeClr val="accent2"/>
          </a:solidFill>
          <a:ln w="12700">
            <a:noFill/>
            <a:prstDash val="solid"/>
          </a:ln>
        </p:spPr>
        <p:txBody>
          <a:bodyPr/>
          <a:lstStyle/>
          <a:p>
            <a:endParaRPr lang="en-US" sz="1200">
              <a:latin typeface="Open Sans" pitchFamily="2" charset="0"/>
              <a:ea typeface="Open Sans" pitchFamily="2" charset="0"/>
              <a:cs typeface="Open Sans" pitchFamily="2" charset="0"/>
            </a:endParaRPr>
          </a:p>
        </p:txBody>
      </p:sp>
      <p:sp>
        <p:nvSpPr>
          <p:cNvPr id="8" name="Text 5">
            <a:extLst>
              <a:ext uri="{FF2B5EF4-FFF2-40B4-BE49-F238E27FC236}">
                <a16:creationId xmlns:a16="http://schemas.microsoft.com/office/drawing/2014/main" id="{4B675E78-1148-176A-551D-8509E1AE1A81}"/>
              </a:ext>
            </a:extLst>
          </p:cNvPr>
          <p:cNvSpPr/>
          <p:nvPr/>
        </p:nvSpPr>
        <p:spPr>
          <a:xfrm>
            <a:off x="548640" y="1316227"/>
            <a:ext cx="3703320" cy="256032"/>
          </a:xfrm>
          <a:prstGeom prst="rect">
            <a:avLst/>
          </a:prstGeom>
          <a:noFill/>
          <a:ln/>
        </p:spPr>
        <p:txBody>
          <a:bodyPr wrap="square" lIns="0" tIns="0" rIns="0" bIns="0" rtlCol="0" anchor="ctr"/>
          <a:lstStyle/>
          <a:p>
            <a:pPr marL="0" indent="0" algn="l">
              <a:buNone/>
            </a:pPr>
            <a:r>
              <a:rPr lang="en-US" sz="1200" b="1" kern="0" spc="80">
                <a:solidFill>
                  <a:srgbClr val="FFFFFF"/>
                </a:solidFill>
                <a:latin typeface="Open Sans" panose="020B0606030504020204" pitchFamily="34" charset="0"/>
                <a:ea typeface="Open Sans" panose="020B0606030504020204" pitchFamily="34" charset="0"/>
                <a:cs typeface="Open Sans" panose="020B0606030504020204" pitchFamily="34" charset="0"/>
              </a:rPr>
              <a:t>WHEN YOU WRITE IT YOURSELF</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9" name="Text 6">
            <a:extLst>
              <a:ext uri="{FF2B5EF4-FFF2-40B4-BE49-F238E27FC236}">
                <a16:creationId xmlns:a16="http://schemas.microsoft.com/office/drawing/2014/main" id="{06880C81-2388-346B-4545-69B93AE8B04F}"/>
              </a:ext>
            </a:extLst>
          </p:cNvPr>
          <p:cNvSpPr/>
          <p:nvPr/>
        </p:nvSpPr>
        <p:spPr>
          <a:xfrm>
            <a:off x="594360" y="1755139"/>
            <a:ext cx="3611880" cy="411480"/>
          </a:xfrm>
          <a:prstGeom prst="rect">
            <a:avLst/>
          </a:prstGeom>
          <a:noFill/>
          <a:ln/>
        </p:spPr>
        <p:txBody>
          <a:bodyPr wrap="square" lIns="0" tIns="0" rIns="0" bIns="0" rtlCol="0" anchor="ctr"/>
          <a:lstStyle/>
          <a:p>
            <a:pPr marL="0" indent="0" algn="l">
              <a:buNone/>
            </a:pPr>
            <a:r>
              <a:rPr lang="en-US" sz="1150">
                <a:solidFill>
                  <a:srgbClr val="555555"/>
                </a:solidFill>
                <a:latin typeface="Open Sans" pitchFamily="2" charset="0"/>
                <a:ea typeface="Open Sans" pitchFamily="2" charset="0"/>
                <a:cs typeface="Open Sans" pitchFamily="2" charset="0"/>
              </a:rPr>
              <a:t>—  You know why every line exists</a:t>
            </a:r>
            <a:endParaRPr lang="en-US" sz="1150">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4BF758FD-6357-889E-6CF7-E81271418800}"/>
              </a:ext>
            </a:extLst>
          </p:cNvPr>
          <p:cNvSpPr/>
          <p:nvPr/>
        </p:nvSpPr>
        <p:spPr>
          <a:xfrm>
            <a:off x="594360" y="2230627"/>
            <a:ext cx="3611880" cy="411480"/>
          </a:xfrm>
          <a:prstGeom prst="rect">
            <a:avLst/>
          </a:prstGeom>
          <a:noFill/>
          <a:ln/>
        </p:spPr>
        <p:txBody>
          <a:bodyPr wrap="square" lIns="0" tIns="0" rIns="0" bIns="0" rtlCol="0" anchor="ctr"/>
          <a:lstStyle/>
          <a:p>
            <a:pPr marL="0" indent="0" algn="l">
              <a:buNone/>
            </a:pPr>
            <a:r>
              <a:rPr lang="en-US" sz="1150">
                <a:solidFill>
                  <a:srgbClr val="555555"/>
                </a:solidFill>
                <a:latin typeface="Open Sans" pitchFamily="2" charset="0"/>
                <a:ea typeface="Open Sans" pitchFamily="2" charset="0"/>
                <a:cs typeface="Open Sans" pitchFamily="2" charset="0"/>
              </a:rPr>
              <a:t>—  You can explain your own decisions</a:t>
            </a:r>
            <a:endParaRPr lang="en-US" sz="1150">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278246F7-CBE0-0E27-EDAF-67538F09CE11}"/>
              </a:ext>
            </a:extLst>
          </p:cNvPr>
          <p:cNvSpPr/>
          <p:nvPr/>
        </p:nvSpPr>
        <p:spPr>
          <a:xfrm>
            <a:off x="594360" y="2706115"/>
            <a:ext cx="3611880" cy="411480"/>
          </a:xfrm>
          <a:prstGeom prst="rect">
            <a:avLst/>
          </a:prstGeom>
          <a:noFill/>
          <a:ln/>
        </p:spPr>
        <p:txBody>
          <a:bodyPr wrap="square" lIns="0" tIns="0" rIns="0" bIns="0" rtlCol="0" anchor="ctr"/>
          <a:lstStyle/>
          <a:p>
            <a:pPr marL="0" indent="0" algn="l">
              <a:buNone/>
            </a:pPr>
            <a:r>
              <a:rPr lang="en-US" sz="1150">
                <a:solidFill>
                  <a:srgbClr val="555555"/>
                </a:solidFill>
                <a:latin typeface="Open Sans" pitchFamily="2" charset="0"/>
                <a:ea typeface="Open Sans" pitchFamily="2" charset="0"/>
                <a:cs typeface="Open Sans" pitchFamily="2" charset="0"/>
              </a:rPr>
              <a:t>—  You know what you chose not to do</a:t>
            </a:r>
            <a:endParaRPr lang="en-US" sz="115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6D53EA1F-EED8-01AF-3188-2F5A41076084}"/>
              </a:ext>
            </a:extLst>
          </p:cNvPr>
          <p:cNvSpPr/>
          <p:nvPr/>
        </p:nvSpPr>
        <p:spPr>
          <a:xfrm>
            <a:off x="594360" y="3181603"/>
            <a:ext cx="3611880" cy="411480"/>
          </a:xfrm>
          <a:prstGeom prst="rect">
            <a:avLst/>
          </a:prstGeom>
          <a:noFill/>
          <a:ln/>
        </p:spPr>
        <p:txBody>
          <a:bodyPr wrap="square" lIns="0" tIns="0" rIns="0" bIns="0" rtlCol="0" anchor="ctr"/>
          <a:lstStyle/>
          <a:p>
            <a:pPr marL="0" indent="0" algn="l">
              <a:buNone/>
            </a:pPr>
            <a:r>
              <a:rPr lang="en-US" sz="1150">
                <a:solidFill>
                  <a:srgbClr val="555555"/>
                </a:solidFill>
                <a:latin typeface="Open Sans" pitchFamily="2" charset="0"/>
                <a:ea typeface="Open Sans" pitchFamily="2" charset="0"/>
                <a:cs typeface="Open Sans" pitchFamily="2" charset="0"/>
              </a:rPr>
              <a:t>—  Bugs feel familiar — they are yours</a:t>
            </a:r>
            <a:endParaRPr lang="en-US" sz="1150">
              <a:latin typeface="Open Sans" pitchFamily="2" charset="0"/>
              <a:ea typeface="Open Sans" pitchFamily="2" charset="0"/>
              <a:cs typeface="Open Sans" pitchFamily="2" charset="0"/>
            </a:endParaRPr>
          </a:p>
        </p:txBody>
      </p:sp>
      <p:sp>
        <p:nvSpPr>
          <p:cNvPr id="13" name="Shape 10">
            <a:extLst>
              <a:ext uri="{FF2B5EF4-FFF2-40B4-BE49-F238E27FC236}">
                <a16:creationId xmlns:a16="http://schemas.microsoft.com/office/drawing/2014/main" id="{5E3ADAA6-2567-4771-43E8-9CEFB3CB06AD}"/>
              </a:ext>
            </a:extLst>
          </p:cNvPr>
          <p:cNvSpPr/>
          <p:nvPr/>
        </p:nvSpPr>
        <p:spPr>
          <a:xfrm>
            <a:off x="4754880" y="1650443"/>
            <a:ext cx="3977640" cy="2176272"/>
          </a:xfrm>
          <a:prstGeom prst="roundRect">
            <a:avLst>
              <a:gd name="adj" fmla="val 3571"/>
            </a:avLst>
          </a:prstGeom>
          <a:solidFill>
            <a:srgbClr val="F5F5F5"/>
          </a:solidFill>
          <a:ln w="12700">
            <a:noFill/>
            <a:prstDash val="solid"/>
          </a:ln>
          <a:effectLst>
            <a:outerShdw blurRad="63500" dist="25400" dir="2700000" algn="bl" rotWithShape="0">
              <a:srgbClr val="000000">
                <a:alpha val="9000"/>
              </a:srgbClr>
            </a:outerShdw>
          </a:effectLst>
        </p:spPr>
        <p:txBody>
          <a:bodyPr/>
          <a:lstStyle/>
          <a:p>
            <a:endParaRPr lang="en-US" sz="1200">
              <a:latin typeface="Open Sans" pitchFamily="2" charset="0"/>
              <a:ea typeface="Open Sans" pitchFamily="2" charset="0"/>
              <a:cs typeface="Open Sans" pitchFamily="2" charset="0"/>
            </a:endParaRPr>
          </a:p>
        </p:txBody>
      </p:sp>
      <p:sp>
        <p:nvSpPr>
          <p:cNvPr id="14" name="Shape 11">
            <a:extLst>
              <a:ext uri="{FF2B5EF4-FFF2-40B4-BE49-F238E27FC236}">
                <a16:creationId xmlns:a16="http://schemas.microsoft.com/office/drawing/2014/main" id="{0368BAE3-1737-13DB-179B-9BCAF8D471C0}"/>
              </a:ext>
            </a:extLst>
          </p:cNvPr>
          <p:cNvSpPr/>
          <p:nvPr/>
        </p:nvSpPr>
        <p:spPr>
          <a:xfrm>
            <a:off x="4754880" y="1252219"/>
            <a:ext cx="3977640" cy="384048"/>
          </a:xfrm>
          <a:prstGeom prst="roundRect">
            <a:avLst>
              <a:gd name="adj" fmla="val 23810"/>
            </a:avLst>
          </a:prstGeom>
          <a:solidFill>
            <a:schemeClr val="accent1"/>
          </a:solidFill>
          <a:ln w="12700">
            <a:noFill/>
            <a:prstDash val="solid"/>
          </a:ln>
        </p:spPr>
        <p:txBody>
          <a:bodyPr/>
          <a:lstStyle/>
          <a:p>
            <a:endParaRPr lang="en-US" sz="1200">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B3E56EA9-3181-893F-83D4-42A9AA4C8F64}"/>
              </a:ext>
            </a:extLst>
          </p:cNvPr>
          <p:cNvSpPr/>
          <p:nvPr/>
        </p:nvSpPr>
        <p:spPr>
          <a:xfrm>
            <a:off x="4892040" y="1316227"/>
            <a:ext cx="3703320" cy="256032"/>
          </a:xfrm>
          <a:prstGeom prst="rect">
            <a:avLst/>
          </a:prstGeom>
          <a:noFill/>
          <a:ln/>
        </p:spPr>
        <p:txBody>
          <a:bodyPr wrap="square" lIns="0" tIns="0" rIns="0" bIns="0" rtlCol="0" anchor="ctr"/>
          <a:lstStyle/>
          <a:p>
            <a:pPr marL="0" indent="0" algn="l">
              <a:buNone/>
            </a:pPr>
            <a:r>
              <a:rPr lang="en-US" sz="1200" b="1" kern="0" spc="80">
                <a:solidFill>
                  <a:srgbClr val="FFFFFF"/>
                </a:solidFill>
                <a:latin typeface="Open Sans" panose="020B0606030504020204" pitchFamily="34" charset="0"/>
                <a:ea typeface="Open Sans" panose="020B0606030504020204" pitchFamily="34" charset="0"/>
                <a:cs typeface="Open Sans" panose="020B0606030504020204" pitchFamily="34" charset="0"/>
              </a:rPr>
              <a:t>WHEN CLAUDE WRITES IT</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4">
            <a:extLst>
              <a:ext uri="{FF2B5EF4-FFF2-40B4-BE49-F238E27FC236}">
                <a16:creationId xmlns:a16="http://schemas.microsoft.com/office/drawing/2014/main" id="{FAF429A6-C8B5-259B-52C2-12FE834DC23E}"/>
              </a:ext>
            </a:extLst>
          </p:cNvPr>
          <p:cNvSpPr/>
          <p:nvPr/>
        </p:nvSpPr>
        <p:spPr>
          <a:xfrm>
            <a:off x="4919472" y="1755139"/>
            <a:ext cx="3611880" cy="411480"/>
          </a:xfrm>
          <a:prstGeom prst="rect">
            <a:avLst/>
          </a:prstGeom>
          <a:noFill/>
          <a:ln/>
        </p:spPr>
        <p:txBody>
          <a:bodyPr wrap="square" lIns="0" tIns="0" rIns="0" bIns="0" rtlCol="0" anchor="ctr"/>
          <a:lstStyle/>
          <a:p>
            <a:pPr marL="0" indent="0" algn="l">
              <a:buNone/>
            </a:pPr>
            <a:r>
              <a:rPr lang="en-US" sz="1150">
                <a:solidFill>
                  <a:srgbClr val="2D2D2D"/>
                </a:solidFill>
                <a:latin typeface="Open Sans" pitchFamily="2" charset="0"/>
                <a:ea typeface="Open Sans" pitchFamily="2" charset="0"/>
                <a:cs typeface="Open Sans" pitchFamily="2" charset="0"/>
              </a:rPr>
              <a:t>—  The code looks correct — but you did not write it</a:t>
            </a:r>
            <a:endParaRPr lang="en-US" sz="1150">
              <a:latin typeface="Open Sans" pitchFamily="2" charset="0"/>
              <a:ea typeface="Open Sans" pitchFamily="2" charset="0"/>
              <a:cs typeface="Open Sans" pitchFamily="2" charset="0"/>
            </a:endParaRPr>
          </a:p>
        </p:txBody>
      </p:sp>
      <p:sp>
        <p:nvSpPr>
          <p:cNvPr id="18" name="Text 15">
            <a:extLst>
              <a:ext uri="{FF2B5EF4-FFF2-40B4-BE49-F238E27FC236}">
                <a16:creationId xmlns:a16="http://schemas.microsoft.com/office/drawing/2014/main" id="{A088F79A-F69C-8EEB-D9A3-69BAD2E343B2}"/>
              </a:ext>
            </a:extLst>
          </p:cNvPr>
          <p:cNvSpPr/>
          <p:nvPr/>
        </p:nvSpPr>
        <p:spPr>
          <a:xfrm>
            <a:off x="4919472" y="2230627"/>
            <a:ext cx="3611880" cy="411480"/>
          </a:xfrm>
          <a:prstGeom prst="rect">
            <a:avLst/>
          </a:prstGeom>
          <a:noFill/>
          <a:ln/>
        </p:spPr>
        <p:txBody>
          <a:bodyPr wrap="square" lIns="0" tIns="0" rIns="0" bIns="0" rtlCol="0" anchor="ctr"/>
          <a:lstStyle/>
          <a:p>
            <a:pPr marL="0" indent="0" algn="l">
              <a:buNone/>
            </a:pPr>
            <a:r>
              <a:rPr lang="en-US" sz="1150">
                <a:solidFill>
                  <a:srgbClr val="2D2D2D"/>
                </a:solidFill>
                <a:latin typeface="Open Sans" pitchFamily="2" charset="0"/>
                <a:ea typeface="Open Sans" pitchFamily="2" charset="0"/>
                <a:cs typeface="Open Sans" pitchFamily="2" charset="0"/>
              </a:rPr>
              <a:t>—  The explanation also came from Claude</a:t>
            </a:r>
            <a:endParaRPr lang="en-US" sz="115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1A3545C5-81E2-3194-03C0-913803BEE880}"/>
              </a:ext>
            </a:extLst>
          </p:cNvPr>
          <p:cNvSpPr/>
          <p:nvPr/>
        </p:nvSpPr>
        <p:spPr>
          <a:xfrm>
            <a:off x="4919472" y="2706115"/>
            <a:ext cx="3611880" cy="411480"/>
          </a:xfrm>
          <a:prstGeom prst="rect">
            <a:avLst/>
          </a:prstGeom>
          <a:noFill/>
          <a:ln/>
        </p:spPr>
        <p:txBody>
          <a:bodyPr wrap="square" lIns="0" tIns="0" rIns="0" bIns="0" rtlCol="0" anchor="ctr"/>
          <a:lstStyle/>
          <a:p>
            <a:pPr marL="0" indent="0" algn="l">
              <a:buNone/>
            </a:pPr>
            <a:r>
              <a:rPr lang="en-US" sz="1150">
                <a:solidFill>
                  <a:srgbClr val="2D2D2D"/>
                </a:solidFill>
                <a:latin typeface="Open Sans" pitchFamily="2" charset="0"/>
                <a:ea typeface="Open Sans" pitchFamily="2" charset="0"/>
                <a:cs typeface="Open Sans" pitchFamily="2" charset="0"/>
              </a:rPr>
              <a:t>—  Silent errors have no obvious signal</a:t>
            </a:r>
            <a:endParaRPr lang="en-US" sz="1150">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7D9A85C7-FAB4-D82F-F69D-4BB8930DEDCE}"/>
              </a:ext>
            </a:extLst>
          </p:cNvPr>
          <p:cNvSpPr/>
          <p:nvPr/>
        </p:nvSpPr>
        <p:spPr>
          <a:xfrm>
            <a:off x="4919472" y="3181603"/>
            <a:ext cx="3611880" cy="411480"/>
          </a:xfrm>
          <a:prstGeom prst="rect">
            <a:avLst/>
          </a:prstGeom>
          <a:noFill/>
          <a:ln/>
        </p:spPr>
        <p:txBody>
          <a:bodyPr wrap="square" lIns="0" tIns="0" rIns="0" bIns="0" rtlCol="0" anchor="ctr"/>
          <a:lstStyle/>
          <a:p>
            <a:pPr marL="0" indent="0" algn="l">
              <a:buNone/>
            </a:pPr>
            <a:r>
              <a:rPr lang="en-US" sz="1150">
                <a:solidFill>
                  <a:srgbClr val="2D2D2D"/>
                </a:solidFill>
                <a:latin typeface="Open Sans" pitchFamily="2" charset="0"/>
                <a:ea typeface="Open Sans" pitchFamily="2" charset="0"/>
                <a:cs typeface="Open Sans" pitchFamily="2" charset="0"/>
              </a:rPr>
              <a:t>—  Trusting it requires active verification</a:t>
            </a:r>
            <a:endParaRPr lang="en-US" sz="1150">
              <a:latin typeface="Open Sans" pitchFamily="2" charset="0"/>
              <a:ea typeface="Open Sans" pitchFamily="2" charset="0"/>
              <a:cs typeface="Open Sans" pitchFamily="2" charset="0"/>
            </a:endParaRPr>
          </a:p>
        </p:txBody>
      </p:sp>
      <p:sp>
        <p:nvSpPr>
          <p:cNvPr id="21" name="Shape 18">
            <a:extLst>
              <a:ext uri="{FF2B5EF4-FFF2-40B4-BE49-F238E27FC236}">
                <a16:creationId xmlns:a16="http://schemas.microsoft.com/office/drawing/2014/main" id="{181F1D29-51F4-BAEA-AE54-C47FE59BB6F8}"/>
              </a:ext>
            </a:extLst>
          </p:cNvPr>
          <p:cNvSpPr/>
          <p:nvPr/>
        </p:nvSpPr>
        <p:spPr>
          <a:xfrm>
            <a:off x="462282" y="3977131"/>
            <a:ext cx="8321039" cy="384048"/>
          </a:xfrm>
          <a:prstGeom prst="roundRect">
            <a:avLst>
              <a:gd name="adj" fmla="val 19048"/>
            </a:avLst>
          </a:prstGeom>
          <a:noFill/>
          <a:ln w="12700">
            <a:noFill/>
            <a:prstDash val="solid"/>
          </a:ln>
        </p:spPr>
        <p:txBody>
          <a:bodyPr/>
          <a:lstStyle/>
          <a:p>
            <a:endParaRPr lang="en-US" sz="1200">
              <a:latin typeface="Open Sans" pitchFamily="2" charset="0"/>
              <a:ea typeface="Open Sans" pitchFamily="2" charset="0"/>
              <a:cs typeface="Open Sans" pitchFamily="2" charset="0"/>
            </a:endParaRPr>
          </a:p>
        </p:txBody>
      </p:sp>
      <p:sp>
        <p:nvSpPr>
          <p:cNvPr id="22" name="Text 19">
            <a:extLst>
              <a:ext uri="{FF2B5EF4-FFF2-40B4-BE49-F238E27FC236}">
                <a16:creationId xmlns:a16="http://schemas.microsoft.com/office/drawing/2014/main" id="{139107C6-A185-8495-3F11-CD519E8C16D5}"/>
              </a:ext>
            </a:extLst>
          </p:cNvPr>
          <p:cNvSpPr/>
          <p:nvPr/>
        </p:nvSpPr>
        <p:spPr>
          <a:xfrm>
            <a:off x="462282" y="4123435"/>
            <a:ext cx="8321040" cy="384048"/>
          </a:xfrm>
          <a:prstGeom prst="rect">
            <a:avLst/>
          </a:prstGeom>
          <a:noFill/>
          <a:ln>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This is why debugging AI-generated code starts with reading — not fixing.</a:t>
            </a:r>
          </a:p>
        </p:txBody>
      </p:sp>
      <p:sp>
        <p:nvSpPr>
          <p:cNvPr id="27" name="Text 0">
            <a:extLst>
              <a:ext uri="{FF2B5EF4-FFF2-40B4-BE49-F238E27FC236}">
                <a16:creationId xmlns:a16="http://schemas.microsoft.com/office/drawing/2014/main" id="{E2010D52-A1CD-D5FC-AFED-DE64BF34FD34}"/>
              </a:ext>
            </a:extLst>
          </p:cNvPr>
          <p:cNvSpPr/>
          <p:nvPr/>
        </p:nvSpPr>
        <p:spPr>
          <a:xfrm>
            <a:off x="367200" y="190800"/>
            <a:ext cx="8321040" cy="502920"/>
          </a:xfrm>
          <a:prstGeom prst="rect">
            <a:avLst/>
          </a:prstGeom>
          <a:noFill/>
          <a:ln/>
        </p:spPr>
        <p:txBody>
          <a:bodyPr wrap="square" lIns="0" tIns="0" rIns="0" bIns="0" rtlCol="0" anchor="ctr"/>
          <a:lstStyle/>
          <a:p>
            <a:pPr marL="0" indent="0" algn="l">
              <a:buNone/>
            </a:pPr>
            <a:r>
              <a:rPr lang="en-US" sz="2600" b="1">
                <a:latin typeface="Open Sans" panose="020B0606030504020204" pitchFamily="34" charset="0"/>
                <a:ea typeface="Open Sans" panose="020B0606030504020204" pitchFamily="34" charset="0"/>
                <a:cs typeface="Open Sans" panose="020B0606030504020204" pitchFamily="34" charset="0"/>
              </a:rPr>
              <a:t>You built it with Claude. Now you need to trust it.</a:t>
            </a:r>
          </a:p>
        </p:txBody>
      </p:sp>
    </p:spTree>
    <p:extLst>
      <p:ext uri="{BB962C8B-B14F-4D97-AF65-F5344CB8AC3E}">
        <p14:creationId xmlns:p14="http://schemas.microsoft.com/office/powerpoint/2010/main" val="3922624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DCFBACF-E7D8-FA72-D108-06C7350D7EF7}"/>
              </a:ext>
            </a:extLst>
          </p:cNvPr>
          <p:cNvSpPr/>
          <p:nvPr/>
        </p:nvSpPr>
        <p:spPr>
          <a:xfrm>
            <a:off x="367200" y="189244"/>
            <a:ext cx="8412480" cy="475488"/>
          </a:xfrm>
          <a:prstGeom prst="rect">
            <a:avLst/>
          </a:prstGeom>
          <a:noFill/>
          <a:ln/>
        </p:spPr>
        <p:txBody>
          <a:bodyPr wrap="square" lIns="0" tIns="0" rIns="0" bIns="0" rtlCol="0" anchor="ctr"/>
          <a:lstStyle/>
          <a:p>
            <a:r>
              <a:rPr lang="en-IN" sz="2800" b="1">
                <a:latin typeface="Open Sans" panose="020B0606030504020204" pitchFamily="34" charset="0"/>
                <a:ea typeface="Open Sans" panose="020B0606030504020204" pitchFamily="34" charset="0"/>
                <a:cs typeface="Open Sans" panose="020B0606030504020204" pitchFamily="34" charset="0"/>
              </a:rPr>
              <a:t>Reading AI-Generated Code Critically</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1">
            <a:extLst>
              <a:ext uri="{FF2B5EF4-FFF2-40B4-BE49-F238E27FC236}">
                <a16:creationId xmlns:a16="http://schemas.microsoft.com/office/drawing/2014/main" id="{A4370B9B-6FCC-639F-BCD8-1D20753D79F0}"/>
              </a:ext>
            </a:extLst>
          </p:cNvPr>
          <p:cNvSpPr/>
          <p:nvPr/>
        </p:nvSpPr>
        <p:spPr>
          <a:xfrm>
            <a:off x="617414" y="1476651"/>
            <a:ext cx="2372424" cy="1275231"/>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2">
            <a:extLst>
              <a:ext uri="{FF2B5EF4-FFF2-40B4-BE49-F238E27FC236}">
                <a16:creationId xmlns:a16="http://schemas.microsoft.com/office/drawing/2014/main" id="{4ECB71CA-2FA4-55F7-A06A-4BAE7A45B00C}"/>
              </a:ext>
            </a:extLst>
          </p:cNvPr>
          <p:cNvSpPr/>
          <p:nvPr/>
        </p:nvSpPr>
        <p:spPr>
          <a:xfrm>
            <a:off x="811362" y="1413797"/>
            <a:ext cx="1984529" cy="620584"/>
          </a:xfrm>
          <a:prstGeom prst="rect">
            <a:avLst/>
          </a:prstGeom>
          <a:noFill/>
          <a:ln/>
        </p:spPr>
        <p:txBody>
          <a:bodyPr wrap="square" lIns="0" tIns="0" rIns="0" bIns="0" rtlCol="0" anchor="ctr"/>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Logic errors</a:t>
            </a:r>
            <a:endPar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Text 3">
            <a:extLst>
              <a:ext uri="{FF2B5EF4-FFF2-40B4-BE49-F238E27FC236}">
                <a16:creationId xmlns:a16="http://schemas.microsoft.com/office/drawing/2014/main" id="{A8FB7854-CA00-D7A0-E7BD-6C2C9E37E363}"/>
              </a:ext>
            </a:extLst>
          </p:cNvPr>
          <p:cNvSpPr/>
          <p:nvPr/>
        </p:nvSpPr>
        <p:spPr>
          <a:xfrm>
            <a:off x="811362" y="1879585"/>
            <a:ext cx="1984529" cy="807038"/>
          </a:xfrm>
          <a:prstGeom prst="rect">
            <a:avLst/>
          </a:prstGeom>
          <a:noFill/>
          <a:ln/>
        </p:spPr>
        <p:txBody>
          <a:bodyPr wrap="square" lIns="0" tIns="0" rIns="0" bIns="0" rtlCol="0" anchor="t" anchorCtr="0"/>
          <a:lstStyle/>
          <a:p>
            <a:r>
              <a:rPr lang="en-IN" sz="1200">
                <a:solidFill>
                  <a:schemeClr val="tx2"/>
                </a:solidFill>
                <a:latin typeface="Open Sans" pitchFamily="2" charset="0"/>
                <a:ea typeface="Open Sans" pitchFamily="2" charset="0"/>
                <a:cs typeface="Open Sans" pitchFamily="2" charset="0"/>
              </a:rPr>
              <a:t>Wrong answers despite clean execution: off-by-one slips, bad conditions, silent miscalculations.</a:t>
            </a:r>
            <a:endParaRPr lang="en-US" sz="1200">
              <a:solidFill>
                <a:schemeClr val="tx2"/>
              </a:solidFill>
              <a:latin typeface="Open Sans" pitchFamily="2" charset="0"/>
              <a:ea typeface="Open Sans" pitchFamily="2" charset="0"/>
              <a:cs typeface="Open Sans" pitchFamily="2" charset="0"/>
            </a:endParaRPr>
          </a:p>
        </p:txBody>
      </p:sp>
      <p:sp>
        <p:nvSpPr>
          <p:cNvPr id="9" name="Shape 4">
            <a:extLst>
              <a:ext uri="{FF2B5EF4-FFF2-40B4-BE49-F238E27FC236}">
                <a16:creationId xmlns:a16="http://schemas.microsoft.com/office/drawing/2014/main" id="{4B8C8EF5-2BC8-06DB-D29E-491BC3BE86F5}"/>
              </a:ext>
            </a:extLst>
          </p:cNvPr>
          <p:cNvSpPr/>
          <p:nvPr/>
        </p:nvSpPr>
        <p:spPr>
          <a:xfrm>
            <a:off x="6154162" y="1476649"/>
            <a:ext cx="2372424" cy="1275231"/>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0" name="Text 5">
            <a:extLst>
              <a:ext uri="{FF2B5EF4-FFF2-40B4-BE49-F238E27FC236}">
                <a16:creationId xmlns:a16="http://schemas.microsoft.com/office/drawing/2014/main" id="{219733BA-5721-4B84-8C4B-607D46D95806}"/>
              </a:ext>
            </a:extLst>
          </p:cNvPr>
          <p:cNvSpPr/>
          <p:nvPr/>
        </p:nvSpPr>
        <p:spPr>
          <a:xfrm>
            <a:off x="6341215" y="1413795"/>
            <a:ext cx="1998319" cy="620584"/>
          </a:xfrm>
          <a:prstGeom prst="rect">
            <a:avLst/>
          </a:prstGeom>
          <a:noFill/>
          <a:ln/>
        </p:spPr>
        <p:txBody>
          <a:bodyPr wrap="square" lIns="0" tIns="0" rIns="0" bIns="0" rtlCol="0" anchor="ctr"/>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False confidence</a:t>
            </a:r>
            <a:endPar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6">
            <a:extLst>
              <a:ext uri="{FF2B5EF4-FFF2-40B4-BE49-F238E27FC236}">
                <a16:creationId xmlns:a16="http://schemas.microsoft.com/office/drawing/2014/main" id="{EA4DE4A2-E2F5-B5EB-1069-40B6FC6807A2}"/>
              </a:ext>
            </a:extLst>
          </p:cNvPr>
          <p:cNvSpPr/>
          <p:nvPr/>
        </p:nvSpPr>
        <p:spPr>
          <a:xfrm>
            <a:off x="6341215" y="1879585"/>
            <a:ext cx="1998319" cy="719438"/>
          </a:xfrm>
          <a:prstGeom prst="rect">
            <a:avLst/>
          </a:prstGeom>
          <a:noFill/>
          <a:ln/>
        </p:spPr>
        <p:txBody>
          <a:bodyPr wrap="square" lIns="0" tIns="0" rIns="0" bIns="0" rtlCol="0" anchor="t" anchorCtr="0"/>
          <a:lstStyle/>
          <a:p>
            <a:r>
              <a:rPr lang="en-IN" sz="1200">
                <a:solidFill>
                  <a:schemeClr val="tx2"/>
                </a:solidFill>
                <a:latin typeface="Open Sans" pitchFamily="2" charset="0"/>
                <a:ea typeface="Open Sans" pitchFamily="2" charset="0"/>
                <a:cs typeface="Open Sans" pitchFamily="2" charset="0"/>
              </a:rPr>
              <a:t>Explanation and code both written by Claude; sounding right is when to read closer.</a:t>
            </a:r>
            <a:endParaRPr lang="en-US" sz="1200">
              <a:solidFill>
                <a:schemeClr val="tx2"/>
              </a:solidFill>
              <a:latin typeface="Open Sans" pitchFamily="2" charset="0"/>
              <a:ea typeface="Open Sans" pitchFamily="2" charset="0"/>
              <a:cs typeface="Open Sans" pitchFamily="2" charset="0"/>
            </a:endParaRPr>
          </a:p>
        </p:txBody>
      </p:sp>
      <p:sp>
        <p:nvSpPr>
          <p:cNvPr id="13" name="Shape 7">
            <a:extLst>
              <a:ext uri="{FF2B5EF4-FFF2-40B4-BE49-F238E27FC236}">
                <a16:creationId xmlns:a16="http://schemas.microsoft.com/office/drawing/2014/main" id="{C68E8015-B1D7-87F6-E952-4507DABD8DB2}"/>
              </a:ext>
            </a:extLst>
          </p:cNvPr>
          <p:cNvSpPr/>
          <p:nvPr/>
        </p:nvSpPr>
        <p:spPr>
          <a:xfrm>
            <a:off x="3385788" y="1476650"/>
            <a:ext cx="2372424" cy="1275231"/>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4" name="Text 8">
            <a:extLst>
              <a:ext uri="{FF2B5EF4-FFF2-40B4-BE49-F238E27FC236}">
                <a16:creationId xmlns:a16="http://schemas.microsoft.com/office/drawing/2014/main" id="{4951A282-C6C3-14A0-91DE-228D1BD6FA8B}"/>
              </a:ext>
            </a:extLst>
          </p:cNvPr>
          <p:cNvSpPr/>
          <p:nvPr/>
        </p:nvSpPr>
        <p:spPr>
          <a:xfrm>
            <a:off x="3730937" y="1413796"/>
            <a:ext cx="1746996" cy="620584"/>
          </a:xfrm>
          <a:prstGeom prst="rect">
            <a:avLst/>
          </a:prstGeom>
          <a:noFill/>
          <a:ln/>
        </p:spPr>
        <p:txBody>
          <a:bodyPr wrap="square" lIns="0" tIns="0" rIns="0" bIns="0" rtlCol="0" anchor="ctr"/>
          <a:lstStyle/>
          <a:p>
            <a:r>
              <a:rPr lang="en-IN"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Missing edge cases</a:t>
            </a:r>
            <a:endPar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9">
            <a:extLst>
              <a:ext uri="{FF2B5EF4-FFF2-40B4-BE49-F238E27FC236}">
                <a16:creationId xmlns:a16="http://schemas.microsoft.com/office/drawing/2014/main" id="{ED8DA43B-5ABA-6B06-2804-B4EE71835976}"/>
              </a:ext>
            </a:extLst>
          </p:cNvPr>
          <p:cNvSpPr/>
          <p:nvPr/>
        </p:nvSpPr>
        <p:spPr>
          <a:xfrm>
            <a:off x="3730937" y="1879585"/>
            <a:ext cx="1665193" cy="807037"/>
          </a:xfrm>
          <a:prstGeom prst="rect">
            <a:avLst/>
          </a:prstGeom>
          <a:noFill/>
          <a:ln/>
        </p:spPr>
        <p:txBody>
          <a:bodyPr wrap="square" lIns="0" tIns="0" rIns="0" bIns="0" rtlCol="0" anchor="t" anchorCtr="0"/>
          <a:lstStyle/>
          <a:p>
            <a:r>
              <a:rPr lang="en-IN" sz="1200">
                <a:solidFill>
                  <a:schemeClr val="tx2"/>
                </a:solidFill>
                <a:latin typeface="Open Sans" pitchFamily="2" charset="0"/>
                <a:ea typeface="Open Sans" pitchFamily="2" charset="0"/>
                <a:cs typeface="Open Sans" pitchFamily="2" charset="0"/>
              </a:rPr>
              <a:t>Solves only the case described, not the one forgotten: nulls, empty lists, edge values.</a:t>
            </a:r>
            <a:endParaRPr lang="en-US" sz="1200">
              <a:solidFill>
                <a:schemeClr val="tx2"/>
              </a:solidFill>
              <a:latin typeface="Open Sans" pitchFamily="2" charset="0"/>
              <a:ea typeface="Open Sans" pitchFamily="2" charset="0"/>
              <a:cs typeface="Open Sans" pitchFamily="2" charset="0"/>
            </a:endParaRPr>
          </a:p>
        </p:txBody>
      </p:sp>
      <p:sp>
        <p:nvSpPr>
          <p:cNvPr id="16" name="TextBox 15">
            <a:extLst>
              <a:ext uri="{FF2B5EF4-FFF2-40B4-BE49-F238E27FC236}">
                <a16:creationId xmlns:a16="http://schemas.microsoft.com/office/drawing/2014/main" id="{05E5671C-FB99-6BA1-01C9-E3122DF52868}"/>
              </a:ext>
            </a:extLst>
          </p:cNvPr>
          <p:cNvSpPr txBox="1"/>
          <p:nvPr/>
        </p:nvSpPr>
        <p:spPr>
          <a:xfrm>
            <a:off x="397764" y="3213209"/>
            <a:ext cx="8348472" cy="276999"/>
          </a:xfrm>
          <a:prstGeom prst="rect">
            <a:avLst/>
          </a:prstGeom>
          <a:noFill/>
        </p:spPr>
        <p:txBody>
          <a:bodyPr wrap="square" rtlCol="0">
            <a:spAutoFit/>
          </a:bodyPr>
          <a:lstStyle/>
          <a:p>
            <a:pPr algn="ctr"/>
            <a:r>
              <a:rPr lang="en-IN" sz="1200" b="1">
                <a:solidFill>
                  <a:schemeClr val="accent2"/>
                </a:solidFill>
                <a:latin typeface="Open Sans Semibold" pitchFamily="2" charset="0"/>
                <a:ea typeface="Open Sans Semibold" pitchFamily="2" charset="0"/>
                <a:cs typeface="Open Sans Semibold" pitchFamily="2" charset="0"/>
              </a:rPr>
              <a:t>THE HABIT: </a:t>
            </a:r>
            <a:r>
              <a:rPr lang="en-IN" sz="1200">
                <a:solidFill>
                  <a:schemeClr val="tx2"/>
                </a:solidFill>
                <a:latin typeface="Open Sans" pitchFamily="2" charset="0"/>
                <a:ea typeface="Open Sans" pitchFamily="2" charset="0"/>
                <a:cs typeface="Open Sans" pitchFamily="2" charset="0"/>
              </a:rPr>
              <a:t>Read every </a:t>
            </a:r>
            <a:r>
              <a:rPr lang="en-IN" sz="1200" b="1">
                <a:latin typeface="Open Sans" panose="020B0606030504020204" pitchFamily="34" charset="0"/>
                <a:ea typeface="Open Sans" panose="020B0606030504020204" pitchFamily="34" charset="0"/>
                <a:cs typeface="Open Sans" panose="020B0606030504020204" pitchFamily="34" charset="0"/>
              </a:rPr>
              <a:t>diff</a:t>
            </a:r>
            <a:r>
              <a:rPr lang="en-IN" sz="1200">
                <a:solidFill>
                  <a:schemeClr val="tx2"/>
                </a:solidFill>
                <a:latin typeface="Open Sans" pitchFamily="2" charset="0"/>
                <a:ea typeface="Open Sans" pitchFamily="2" charset="0"/>
                <a:cs typeface="Open Sans" pitchFamily="2" charset="0"/>
              </a:rPr>
              <a:t> as if you wrote it and someone else is asking you to explain it — line by line.</a:t>
            </a:r>
            <a:endParaRPr lang="en-US" sz="1200">
              <a:solidFill>
                <a:schemeClr val="tx2"/>
              </a:solidFill>
              <a:latin typeface="Open Sans" pitchFamily="2" charset="0"/>
              <a:ea typeface="Open Sans" pitchFamily="2" charset="0"/>
              <a:cs typeface="Open Sans" pitchFamily="2" charset="0"/>
            </a:endParaRPr>
          </a:p>
        </p:txBody>
      </p:sp>
      <p:sp>
        <p:nvSpPr>
          <p:cNvPr id="17" name="TextBox 16">
            <a:extLst>
              <a:ext uri="{FF2B5EF4-FFF2-40B4-BE49-F238E27FC236}">
                <a16:creationId xmlns:a16="http://schemas.microsoft.com/office/drawing/2014/main" id="{3D6E5ACE-3279-7CBB-8145-20391C8127CF}"/>
              </a:ext>
            </a:extLst>
          </p:cNvPr>
          <p:cNvSpPr txBox="1"/>
          <p:nvPr/>
        </p:nvSpPr>
        <p:spPr>
          <a:xfrm>
            <a:off x="303192" y="770400"/>
            <a:ext cx="4689610" cy="307777"/>
          </a:xfrm>
          <a:prstGeom prst="rect">
            <a:avLst/>
          </a:prstGeom>
          <a:noFill/>
        </p:spPr>
        <p:txBody>
          <a:bodyPr wrap="square" rtlCol="0">
            <a:spAutoFit/>
          </a:bodyPr>
          <a:lstStyle/>
          <a:p>
            <a:r>
              <a:rPr lang="en-IN" sz="1400">
                <a:solidFill>
                  <a:schemeClr val="tx2"/>
                </a:solidFill>
                <a:latin typeface="Open Sans" pitchFamily="2" charset="0"/>
                <a:ea typeface="Open Sans" pitchFamily="2" charset="0"/>
                <a:cs typeface="Open Sans" pitchFamily="2" charset="0"/>
              </a:rPr>
              <a:t>Fast and plausible is not the same as fast and correct.</a:t>
            </a:r>
            <a:endParaRPr lang="en-US" sz="1400">
              <a:solidFill>
                <a:schemeClr val="tx2"/>
              </a:solidFill>
              <a:latin typeface="Open Sans" pitchFamily="2" charset="0"/>
              <a:ea typeface="Open Sans" pitchFamily="2" charset="0"/>
              <a:cs typeface="Open Sans" pitchFamily="2" charset="0"/>
            </a:endParaRPr>
          </a:p>
        </p:txBody>
      </p:sp>
      <p:sp>
        <p:nvSpPr>
          <p:cNvPr id="18" name="TextBox 17">
            <a:extLst>
              <a:ext uri="{FF2B5EF4-FFF2-40B4-BE49-F238E27FC236}">
                <a16:creationId xmlns:a16="http://schemas.microsoft.com/office/drawing/2014/main" id="{6A47FDB0-7DD7-1FEC-E5CE-1E27DAB90DA6}"/>
              </a:ext>
            </a:extLst>
          </p:cNvPr>
          <p:cNvSpPr txBox="1"/>
          <p:nvPr/>
        </p:nvSpPr>
        <p:spPr>
          <a:xfrm>
            <a:off x="811494" y="3680587"/>
            <a:ext cx="7521013" cy="461665"/>
          </a:xfrm>
          <a:prstGeom prst="rect">
            <a:avLst/>
          </a:prstGeom>
          <a:noFill/>
        </p:spPr>
        <p:txBody>
          <a:bodyPr wrap="square" rtlCol="0">
            <a:spAutoFit/>
          </a:bodyPr>
          <a:lstStyle/>
          <a:p>
            <a:pPr algn="ctr"/>
            <a:r>
              <a:rPr lang="en-IN" sz="1200" b="1">
                <a:latin typeface="Open Sans" panose="020B0606030504020204" pitchFamily="34" charset="0"/>
                <a:ea typeface="Open Sans" panose="020B0606030504020204" pitchFamily="34" charset="0"/>
                <a:cs typeface="Open Sans" panose="020B0606030504020204" pitchFamily="34" charset="0"/>
              </a:rPr>
              <a:t>A diff is the side-by-side view of exactly what code was added, changed, or deleted, so you can see the difference between the old version and the new one.</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096447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 13">
            <a:extLst>
              <a:ext uri="{FF2B5EF4-FFF2-40B4-BE49-F238E27FC236}">
                <a16:creationId xmlns:a16="http://schemas.microsoft.com/office/drawing/2014/main" id="{DF55F64A-1E4D-54B6-0847-1D23D505DFFE}"/>
              </a:ext>
            </a:extLst>
          </p:cNvPr>
          <p:cNvSpPr/>
          <p:nvPr/>
        </p:nvSpPr>
        <p:spPr>
          <a:xfrm>
            <a:off x="4650131" y="978001"/>
            <a:ext cx="4107981" cy="2221865"/>
          </a:xfrm>
          <a:prstGeom prst="roundRect">
            <a:avLst>
              <a:gd name="adj" fmla="val 3472"/>
            </a:avLst>
          </a:prstGeom>
          <a:solidFill>
            <a:srgbClr val="EAF4EC"/>
          </a:solidFill>
          <a:ln w="12700">
            <a:solidFill>
              <a:srgbClr val="00B05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6">
            <a:extLst>
              <a:ext uri="{FF2B5EF4-FFF2-40B4-BE49-F238E27FC236}">
                <a16:creationId xmlns:a16="http://schemas.microsoft.com/office/drawing/2014/main" id="{F231C259-6118-0F23-F12A-438780E742A7}"/>
              </a:ext>
            </a:extLst>
          </p:cNvPr>
          <p:cNvSpPr/>
          <p:nvPr/>
        </p:nvSpPr>
        <p:spPr>
          <a:xfrm>
            <a:off x="400218" y="978000"/>
            <a:ext cx="4142231" cy="2221865"/>
          </a:xfrm>
          <a:prstGeom prst="roundRect">
            <a:avLst>
              <a:gd name="adj" fmla="val 3472"/>
            </a:avLst>
          </a:prstGeom>
          <a:solidFill>
            <a:schemeClr val="accent6">
              <a:lumMod val="20000"/>
              <a:lumOff val="80000"/>
            </a:schemeClr>
          </a:solidFill>
          <a:ln w="12700">
            <a:solidFill>
              <a:schemeClr val="accent1"/>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 name="Text 0"/>
          <p:cNvSpPr/>
          <p:nvPr/>
        </p:nvSpPr>
        <p:spPr>
          <a:xfrm>
            <a:off x="367200" y="190800"/>
            <a:ext cx="8412480" cy="475488"/>
          </a:xfrm>
          <a:prstGeom prst="rect">
            <a:avLst/>
          </a:prstGeom>
          <a:noFill/>
          <a:ln/>
        </p:spPr>
        <p:txBody>
          <a:bodyPr wrap="square" lIns="0" tIns="0" rIns="0" bIns="0" rtlCol="0" anchor="ctr"/>
          <a:lstStyle/>
          <a:p>
            <a:r>
              <a:rPr lang="en-IN" sz="2800" b="1">
                <a:latin typeface="Open Sans" panose="020B0606030504020204" pitchFamily="34" charset="0"/>
                <a:ea typeface="Open Sans" panose="020B0606030504020204" pitchFamily="34" charset="0"/>
                <a:cs typeface="Open Sans" panose="020B0606030504020204" pitchFamily="34" charset="0"/>
              </a:rPr>
              <a:t>But...How do we read what we did not write</a:t>
            </a:r>
          </a:p>
        </p:txBody>
      </p:sp>
      <p:sp>
        <p:nvSpPr>
          <p:cNvPr id="21" name="Text 19"/>
          <p:cNvSpPr/>
          <p:nvPr/>
        </p:nvSpPr>
        <p:spPr>
          <a:xfrm>
            <a:off x="446779" y="4317380"/>
            <a:ext cx="8250442" cy="256032"/>
          </a:xfrm>
          <a:prstGeom prst="rect">
            <a:avLst/>
          </a:prstGeom>
          <a:noFill/>
          <a:ln/>
        </p:spPr>
        <p:txBody>
          <a:bodyPr wrap="square" lIns="0" tIns="0" rIns="0" bIns="0" rtlCol="0" anchor="ctr"/>
          <a:lstStyle/>
          <a:p>
            <a:pPr algn="ctr"/>
            <a:r>
              <a:rPr lang="en-IN" sz="1200" i="1">
                <a:solidFill>
                  <a:schemeClr val="tx2"/>
                </a:solidFill>
                <a:latin typeface="Open Sans" pitchFamily="2" charset="0"/>
                <a:ea typeface="Open Sans" pitchFamily="2" charset="0"/>
                <a:cs typeface="Open Sans" pitchFamily="2" charset="0"/>
              </a:rPr>
              <a:t>This is not a comprehension aid. It is a verification step. Run it before you trust anything Claude built.</a:t>
            </a:r>
            <a:endParaRPr lang="en-US" sz="1200" i="1">
              <a:solidFill>
                <a:schemeClr val="tx2"/>
              </a:solidFill>
              <a:latin typeface="Open Sans" pitchFamily="2" charset="0"/>
              <a:ea typeface="Open Sans" pitchFamily="2" charset="0"/>
              <a:cs typeface="Open Sans" pitchFamily="2" charset="0"/>
            </a:endParaRPr>
          </a:p>
        </p:txBody>
      </p:sp>
      <p:sp>
        <p:nvSpPr>
          <p:cNvPr id="6" name="Text 4"/>
          <p:cNvSpPr/>
          <p:nvPr/>
        </p:nvSpPr>
        <p:spPr>
          <a:xfrm>
            <a:off x="612416" y="1542038"/>
            <a:ext cx="3827062" cy="1123555"/>
          </a:xfrm>
          <a:prstGeom prst="rect">
            <a:avLst/>
          </a:prstGeom>
          <a:noFill/>
          <a:ln/>
        </p:spPr>
        <p:txBody>
          <a:bodyPr wrap="square" lIns="0" tIns="0" rIns="0" bIns="0" rtlCol="0" anchor="t"/>
          <a:lstStyle/>
          <a:p>
            <a:r>
              <a:rPr lang="en-IN" sz="1050" b="1">
                <a:latin typeface="Open Sans" panose="020B0606030504020204" pitchFamily="34" charset="0"/>
                <a:ea typeface="Open Sans" panose="020B0606030504020204" pitchFamily="34" charset="0"/>
                <a:cs typeface="Open Sans" panose="020B0606030504020204" pitchFamily="34" charset="0"/>
              </a:rPr>
              <a:t>The technique: </a:t>
            </a:r>
            <a:r>
              <a:rPr lang="en-IN" sz="1050">
                <a:solidFill>
                  <a:schemeClr val="tx2"/>
                </a:solidFill>
                <a:latin typeface="Open Sans" pitchFamily="2" charset="0"/>
                <a:ea typeface="Open Sans" pitchFamily="2" charset="0"/>
                <a:cs typeface="Open Sans" pitchFamily="2" charset="0"/>
              </a:rPr>
              <a:t>explain your code to a rubber duck (</a:t>
            </a:r>
            <a:r>
              <a:rPr lang="en-IN" sz="1050" i="1">
                <a:solidFill>
                  <a:schemeClr val="tx2"/>
                </a:solidFill>
                <a:latin typeface="Open Sans" pitchFamily="2" charset="0"/>
                <a:ea typeface="Open Sans" pitchFamily="2" charset="0"/>
                <a:cs typeface="Open Sans" pitchFamily="2" charset="0"/>
              </a:rPr>
              <a:t>any inanimate object</a:t>
            </a:r>
            <a:r>
              <a:rPr lang="en-IN" sz="1050">
                <a:solidFill>
                  <a:schemeClr val="tx2"/>
                </a:solidFill>
                <a:latin typeface="Open Sans" pitchFamily="2" charset="0"/>
                <a:ea typeface="Open Sans" pitchFamily="2" charset="0"/>
                <a:cs typeface="Open Sans" pitchFamily="2" charset="0"/>
              </a:rPr>
              <a:t>) on your desk. The act of articulating the problem reveals the problem.</a:t>
            </a:r>
          </a:p>
          <a:p>
            <a:br>
              <a:rPr lang="en-IN" sz="1050">
                <a:latin typeface="Open Sans" pitchFamily="2" charset="0"/>
                <a:ea typeface="Open Sans" pitchFamily="2" charset="0"/>
                <a:cs typeface="Open Sans" pitchFamily="2" charset="0"/>
              </a:rPr>
            </a:br>
            <a:r>
              <a:rPr lang="en-IN" sz="1050" b="1">
                <a:latin typeface="Open Sans" panose="020B0606030504020204" pitchFamily="34" charset="0"/>
                <a:ea typeface="Open Sans" panose="020B0606030504020204" pitchFamily="34" charset="0"/>
                <a:cs typeface="Open Sans" panose="020B0606030504020204" pitchFamily="34" charset="0"/>
              </a:rPr>
              <a:t>The gap: </a:t>
            </a:r>
            <a:r>
              <a:rPr lang="en-IN" sz="1050">
                <a:solidFill>
                  <a:schemeClr val="tx2"/>
                </a:solidFill>
                <a:latin typeface="Open Sans" pitchFamily="2" charset="0"/>
                <a:ea typeface="Open Sans" pitchFamily="2" charset="0"/>
                <a:cs typeface="Open Sans" pitchFamily="2" charset="0"/>
              </a:rPr>
              <a:t>when you did not write the code yourself, you cannot explain it without reading it first.</a:t>
            </a:r>
            <a:endParaRPr lang="en-US" sz="1050">
              <a:solidFill>
                <a:schemeClr val="tx2"/>
              </a:solidFill>
              <a:latin typeface="Open Sans" pitchFamily="2" charset="0"/>
              <a:ea typeface="Open Sans" pitchFamily="2" charset="0"/>
              <a:cs typeface="Open Sans" pitchFamily="2" charset="0"/>
            </a:endParaRPr>
          </a:p>
        </p:txBody>
      </p:sp>
      <p:sp>
        <p:nvSpPr>
          <p:cNvPr id="26" name="TextBox 25">
            <a:extLst>
              <a:ext uri="{FF2B5EF4-FFF2-40B4-BE49-F238E27FC236}">
                <a16:creationId xmlns:a16="http://schemas.microsoft.com/office/drawing/2014/main" id="{9193B151-11BB-2A58-F827-B18231481BE3}"/>
              </a:ext>
            </a:extLst>
          </p:cNvPr>
          <p:cNvSpPr txBox="1"/>
          <p:nvPr/>
        </p:nvSpPr>
        <p:spPr>
          <a:xfrm>
            <a:off x="503188" y="1120141"/>
            <a:ext cx="3525324" cy="292388"/>
          </a:xfrm>
          <a:prstGeom prst="rect">
            <a:avLst/>
          </a:prstGeom>
          <a:noFill/>
        </p:spPr>
        <p:txBody>
          <a:bodyPr wrap="none" lIns="91440" tIns="45720" rIns="91440" bIns="45720" rtlCol="0" anchor="t">
            <a:spAutoFit/>
          </a:bodyPr>
          <a:lstStyle/>
          <a:p>
            <a:r>
              <a:rPr lang="en-IN" sz="1300" b="1">
                <a:solidFill>
                  <a:schemeClr val="accent2"/>
                </a:solidFill>
                <a:latin typeface="Open Sans" panose="020B0606030504020204" pitchFamily="34" charset="0"/>
                <a:ea typeface="Open Sans" panose="020B0606030504020204" pitchFamily="34" charset="0"/>
                <a:cs typeface="Open Sans" panose="020B0606030504020204" pitchFamily="34" charset="0"/>
              </a:rPr>
              <a:t>THE ORIGINAL – Rubber Duck Debugging</a:t>
            </a:r>
            <a:endParaRPr lang="en-US" sz="1300" b="1">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4836010" y="1542038"/>
            <a:ext cx="3827062" cy="1298954"/>
          </a:xfrm>
          <a:prstGeom prst="rect">
            <a:avLst/>
          </a:prstGeom>
          <a:noFill/>
          <a:ln/>
        </p:spPr>
        <p:txBody>
          <a:bodyPr wrap="square" lIns="0" tIns="0" rIns="0" bIns="0" rtlCol="0" anchor="t"/>
          <a:lstStyle/>
          <a:p>
            <a:r>
              <a:rPr lang="en-IN" sz="1050" b="1">
                <a:latin typeface="Open Sans" panose="020B0606030504020204" pitchFamily="34" charset="0"/>
                <a:ea typeface="Open Sans" panose="020B0606030504020204" pitchFamily="34" charset="0"/>
                <a:cs typeface="Open Sans" panose="020B0606030504020204" pitchFamily="34" charset="0"/>
              </a:rPr>
              <a:t>The prompt: </a:t>
            </a:r>
            <a:r>
              <a:rPr lang="en-IN" sz="1050">
                <a:solidFill>
                  <a:schemeClr val="tx2"/>
                </a:solidFill>
                <a:latin typeface="Open Sans" pitchFamily="2" charset="0"/>
                <a:ea typeface="Open Sans" pitchFamily="2" charset="0"/>
                <a:cs typeface="Open Sans" pitchFamily="2" charset="0"/>
              </a:rPr>
              <a:t>"Explain this function line by line. Name the purpose of each step and flag any assumption you are making.”</a:t>
            </a:r>
          </a:p>
          <a:p>
            <a:br>
              <a:rPr lang="en-IN" sz="1050" b="1">
                <a:latin typeface="Open Sans Extrabold" pitchFamily="2" charset="0"/>
                <a:ea typeface="Open Sans Extrabold" pitchFamily="2" charset="0"/>
                <a:cs typeface="Open Sans Extrabold" pitchFamily="2" charset="0"/>
              </a:rPr>
            </a:br>
            <a:r>
              <a:rPr lang="en-IN" sz="1050" b="1">
                <a:latin typeface="Open Sans" panose="020B0606030504020204" pitchFamily="34" charset="0"/>
                <a:ea typeface="Open Sans" panose="020B0606030504020204" pitchFamily="34" charset="0"/>
                <a:cs typeface="Open Sans" panose="020B0606030504020204" pitchFamily="34" charset="0"/>
              </a:rPr>
              <a:t>What it does: </a:t>
            </a:r>
            <a:r>
              <a:rPr lang="en-IN" sz="1050">
                <a:solidFill>
                  <a:schemeClr val="tx2"/>
                </a:solidFill>
                <a:latin typeface="Open Sans" pitchFamily="2" charset="0"/>
                <a:ea typeface="Open Sans" pitchFamily="2" charset="0"/>
                <a:cs typeface="Open Sans" pitchFamily="2" charset="0"/>
              </a:rPr>
              <a:t>forces Claude to articulate the logic — and surfaces any step it cannot explain clearly.</a:t>
            </a:r>
          </a:p>
          <a:p>
            <a:br>
              <a:rPr lang="en-IN" sz="1050" b="1">
                <a:solidFill>
                  <a:schemeClr val="tx2"/>
                </a:solidFill>
                <a:latin typeface="Open Sans Extrabold" pitchFamily="2" charset="0"/>
                <a:ea typeface="Open Sans Extrabold" pitchFamily="2" charset="0"/>
                <a:cs typeface="Open Sans Extrabold" pitchFamily="2" charset="0"/>
              </a:rPr>
            </a:br>
            <a:r>
              <a:rPr lang="en-IN" sz="1050" b="1">
                <a:latin typeface="Open Sans" panose="020B0606030504020204" pitchFamily="34" charset="0"/>
                <a:ea typeface="Open Sans" panose="020B0606030504020204" pitchFamily="34" charset="0"/>
                <a:cs typeface="Open Sans" panose="020B0606030504020204" pitchFamily="34" charset="0"/>
              </a:rPr>
              <a:t>The rule: </a:t>
            </a:r>
            <a:r>
              <a:rPr lang="en-IN" sz="1050">
                <a:solidFill>
                  <a:schemeClr val="tx2"/>
                </a:solidFill>
                <a:latin typeface="Open Sans" pitchFamily="2" charset="0"/>
                <a:ea typeface="Open Sans" pitchFamily="2" charset="0"/>
                <a:cs typeface="Open Sans" pitchFamily="2" charset="0"/>
              </a:rPr>
              <a:t>if Claude cannot explain a line without hedging, that line needs reviewing before you ship it.</a:t>
            </a:r>
            <a:endParaRPr lang="en-US" sz="1050">
              <a:solidFill>
                <a:schemeClr val="tx2"/>
              </a:solidFill>
              <a:latin typeface="Open Sans" pitchFamily="2" charset="0"/>
              <a:ea typeface="Open Sans" pitchFamily="2" charset="0"/>
              <a:cs typeface="Open Sans" pitchFamily="2" charset="0"/>
            </a:endParaRPr>
          </a:p>
        </p:txBody>
      </p:sp>
      <p:sp>
        <p:nvSpPr>
          <p:cNvPr id="27" name="TextBox 26">
            <a:extLst>
              <a:ext uri="{FF2B5EF4-FFF2-40B4-BE49-F238E27FC236}">
                <a16:creationId xmlns:a16="http://schemas.microsoft.com/office/drawing/2014/main" id="{A49A1151-FDF5-8C84-2C77-E0C9B933C7F2}"/>
              </a:ext>
            </a:extLst>
          </p:cNvPr>
          <p:cNvSpPr txBox="1"/>
          <p:nvPr/>
        </p:nvSpPr>
        <p:spPr>
          <a:xfrm>
            <a:off x="4745171" y="1121520"/>
            <a:ext cx="2233304" cy="292388"/>
          </a:xfrm>
          <a:prstGeom prst="rect">
            <a:avLst/>
          </a:prstGeom>
          <a:noFill/>
        </p:spPr>
        <p:txBody>
          <a:bodyPr wrap="none" rtlCol="0">
            <a:spAutoFit/>
          </a:bodyPr>
          <a:lstStyle/>
          <a:p>
            <a:r>
              <a:rPr lang="en-IN" sz="1300" b="1">
                <a:solidFill>
                  <a:schemeClr val="accent2"/>
                </a:solidFill>
                <a:latin typeface="Open Sans" panose="020B0606030504020204" pitchFamily="34" charset="0"/>
                <a:ea typeface="Open Sans" panose="020B0606030504020204" pitchFamily="34" charset="0"/>
                <a:cs typeface="Open Sans" panose="020B0606030504020204" pitchFamily="34" charset="0"/>
              </a:rPr>
              <a:t>THE UPGRADED VERSION</a:t>
            </a:r>
            <a:endParaRPr lang="en-US" sz="1300" b="1">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Shape 16">
            <a:extLst>
              <a:ext uri="{FF2B5EF4-FFF2-40B4-BE49-F238E27FC236}">
                <a16:creationId xmlns:a16="http://schemas.microsoft.com/office/drawing/2014/main" id="{1A47F2E3-0E33-40B0-C796-79937C1032DD}"/>
              </a:ext>
            </a:extLst>
          </p:cNvPr>
          <p:cNvSpPr/>
          <p:nvPr/>
        </p:nvSpPr>
        <p:spPr>
          <a:xfrm>
            <a:off x="1673352" y="3511580"/>
            <a:ext cx="5632704" cy="594360"/>
          </a:xfrm>
          <a:prstGeom prst="roundRect">
            <a:avLst>
              <a:gd name="adj" fmla="val 9231"/>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31" name="Text 17">
            <a:extLst>
              <a:ext uri="{FF2B5EF4-FFF2-40B4-BE49-F238E27FC236}">
                <a16:creationId xmlns:a16="http://schemas.microsoft.com/office/drawing/2014/main" id="{023DF31A-7581-215A-2AE8-FB4203244DAA}"/>
              </a:ext>
            </a:extLst>
          </p:cNvPr>
          <p:cNvSpPr/>
          <p:nvPr/>
        </p:nvSpPr>
        <p:spPr>
          <a:xfrm>
            <a:off x="2121676" y="3511580"/>
            <a:ext cx="4900648" cy="594360"/>
          </a:xfrm>
          <a:prstGeom prst="rect">
            <a:avLst/>
          </a:prstGeom>
          <a:solidFill>
            <a:schemeClr val="tx1"/>
          </a:solidFill>
          <a:ln/>
        </p:spPr>
        <p:txBody>
          <a:bodyPr wrap="square" lIns="0" tIns="0" rIns="0" bIns="0" rtlCol="0" anchor="ctr"/>
          <a:lstStyle/>
          <a:p>
            <a:r>
              <a:rPr lang="en-IN" sz="1000">
                <a:solidFill>
                  <a:srgbClr val="00B050"/>
                </a:solidFill>
                <a:latin typeface="Open Sans" pitchFamily="2" charset="0"/>
                <a:ea typeface="Open Sans" pitchFamily="2" charset="0"/>
                <a:cs typeface="Open Sans" pitchFamily="2" charset="0"/>
              </a:rPr>
              <a:t>$ </a:t>
            </a:r>
            <a:r>
              <a:rPr lang="en-IN" sz="1000" err="1">
                <a:solidFill>
                  <a:srgbClr val="00B050"/>
                </a:solidFill>
                <a:latin typeface="Open Sans" pitchFamily="2" charset="0"/>
                <a:ea typeface="Open Sans" pitchFamily="2" charset="0"/>
                <a:cs typeface="Open Sans" pitchFamily="2" charset="0"/>
              </a:rPr>
              <a:t>claude</a:t>
            </a:r>
            <a:r>
              <a:rPr lang="en-IN" sz="1000">
                <a:solidFill>
                  <a:srgbClr val="00B050"/>
                </a:solidFill>
                <a:latin typeface="Open Sans" pitchFamily="2" charset="0"/>
                <a:ea typeface="Open Sans" pitchFamily="2" charset="0"/>
                <a:cs typeface="Open Sans" pitchFamily="2" charset="0"/>
              </a:rPr>
              <a:t> "Explain </a:t>
            </a:r>
            <a:r>
              <a:rPr lang="en-IN" sz="1000" err="1">
                <a:solidFill>
                  <a:srgbClr val="00B050"/>
                </a:solidFill>
                <a:latin typeface="Open Sans" pitchFamily="2" charset="0"/>
                <a:ea typeface="Open Sans" pitchFamily="2" charset="0"/>
                <a:cs typeface="Open Sans" pitchFamily="2" charset="0"/>
              </a:rPr>
              <a:t>account_checker.py</a:t>
            </a:r>
            <a:r>
              <a:rPr lang="en-IN" sz="1000">
                <a:solidFill>
                  <a:srgbClr val="00B050"/>
                </a:solidFill>
                <a:latin typeface="Open Sans" pitchFamily="2" charset="0"/>
                <a:ea typeface="Open Sans" pitchFamily="2" charset="0"/>
                <a:cs typeface="Open Sans" pitchFamily="2" charset="0"/>
              </a:rPr>
              <a:t> line by line. Name the purpose of each step."</a:t>
            </a:r>
            <a:endParaRPr lang="en-US" sz="1000">
              <a:solidFill>
                <a:srgbClr val="00B050"/>
              </a:solidFill>
              <a:latin typeface="Open Sans" pitchFamily="2" charset="0"/>
              <a:ea typeface="Open Sans" pitchFamily="2" charset="0"/>
              <a:cs typeface="Open Sans" pitchFamily="2" charset="0"/>
            </a:endParaRPr>
          </a:p>
        </p:txBody>
      </p:sp>
      <p:sp>
        <p:nvSpPr>
          <p:cNvPr id="15" name="Shape 8">
            <a:extLst>
              <a:ext uri="{FF2B5EF4-FFF2-40B4-BE49-F238E27FC236}">
                <a16:creationId xmlns:a16="http://schemas.microsoft.com/office/drawing/2014/main" id="{D429D451-03A9-4DF3-23C1-A3F551F8195D}"/>
              </a:ext>
            </a:extLst>
          </p:cNvPr>
          <p:cNvSpPr/>
          <p:nvPr/>
        </p:nvSpPr>
        <p:spPr>
          <a:xfrm flipV="1">
            <a:off x="557802" y="1426147"/>
            <a:ext cx="3827062" cy="0"/>
          </a:xfrm>
          <a:prstGeom prst="line">
            <a:avLst/>
          </a:prstGeom>
          <a:noFill/>
          <a:ln w="6350">
            <a:solidFill>
              <a:schemeClr val="accent1"/>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8">
            <a:extLst>
              <a:ext uri="{FF2B5EF4-FFF2-40B4-BE49-F238E27FC236}">
                <a16:creationId xmlns:a16="http://schemas.microsoft.com/office/drawing/2014/main" id="{95A4F501-31A1-B99E-4FA7-C39B3D154673}"/>
              </a:ext>
            </a:extLst>
          </p:cNvPr>
          <p:cNvSpPr/>
          <p:nvPr/>
        </p:nvSpPr>
        <p:spPr>
          <a:xfrm flipV="1">
            <a:off x="4790590" y="1426147"/>
            <a:ext cx="3827062" cy="0"/>
          </a:xfrm>
          <a:prstGeom prst="line">
            <a:avLst/>
          </a:prstGeom>
          <a:noFill/>
          <a:ln w="6350">
            <a:solidFill>
              <a:srgbClr val="00B05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Slide Number Placeholder 2">
            <a:extLst>
              <a:ext uri="{FF2B5EF4-FFF2-40B4-BE49-F238E27FC236}">
                <a16:creationId xmlns:a16="http://schemas.microsoft.com/office/drawing/2014/main" id="{B3B57CD5-6D41-6238-A10B-B65EB0CBC2DE}"/>
              </a:ext>
            </a:extLst>
          </p:cNvPr>
          <p:cNvSpPr>
            <a:spLocks noGrp="1"/>
          </p:cNvSpPr>
          <p:nvPr>
            <p:ph type="sldNum" sz="quarter" idx="12"/>
          </p:nvPr>
        </p:nvSpPr>
        <p:spPr/>
        <p:txBody>
          <a:bodyPr/>
          <a:lstStyle/>
          <a:p>
            <a:fld id="{C1FF6DA9-008F-8B48-92A6-B652298478BF}" type="slidenum">
              <a:rPr lang="en-US" smtClean="0">
                <a:solidFill>
                  <a:schemeClr val="bg1"/>
                </a:solidFill>
              </a:rPr>
              <a:t>10</a:t>
            </a:fld>
            <a:endParaRPr lang="en-US"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A306A6F-C672-F83D-94F3-F42E6EA02C18}"/>
              </a:ext>
            </a:extLst>
          </p:cNvPr>
          <p:cNvSpPr/>
          <p:nvPr/>
        </p:nvSpPr>
        <p:spPr>
          <a:xfrm>
            <a:off x="367200" y="190800"/>
            <a:ext cx="8412480" cy="475488"/>
          </a:xfrm>
          <a:prstGeom prst="rect">
            <a:avLst/>
          </a:prstGeom>
          <a:noFill/>
          <a:ln/>
        </p:spPr>
        <p:txBody>
          <a:bodyPr wrap="square" lIns="0" tIns="0" rIns="0" bIns="0" rtlCol="0" anchor="ctr"/>
          <a:lstStyle/>
          <a:p>
            <a:r>
              <a:rPr lang="en-US" sz="2800" b="1">
                <a:latin typeface="Open Sans" panose="020B0606030504020204" pitchFamily="34" charset="0"/>
                <a:ea typeface="Open Sans" panose="020B0606030504020204" pitchFamily="34" charset="0"/>
                <a:cs typeface="Open Sans" panose="020B0606030504020204" pitchFamily="34" charset="0"/>
              </a:rPr>
              <a:t>The Debugging Loop — Five Steps</a:t>
            </a:r>
          </a:p>
        </p:txBody>
      </p:sp>
      <p:sp>
        <p:nvSpPr>
          <p:cNvPr id="4" name="Shape 2">
            <a:extLst>
              <a:ext uri="{FF2B5EF4-FFF2-40B4-BE49-F238E27FC236}">
                <a16:creationId xmlns:a16="http://schemas.microsoft.com/office/drawing/2014/main" id="{F26DC8F7-C91F-609A-4353-BDF40D1DEF38}"/>
              </a:ext>
            </a:extLst>
          </p:cNvPr>
          <p:cNvSpPr/>
          <p:nvPr/>
        </p:nvSpPr>
        <p:spPr>
          <a:xfrm>
            <a:off x="384725" y="1308748"/>
            <a:ext cx="1572768" cy="2871757"/>
          </a:xfrm>
          <a:prstGeom prst="roundRect">
            <a:avLst>
              <a:gd name="adj" fmla="val 5814"/>
            </a:avLst>
          </a:prstGeom>
          <a:solidFill>
            <a:srgbClr val="F5F5F5"/>
          </a:solidFill>
          <a:ln w="19050">
            <a:solidFill>
              <a:schemeClr val="accent2"/>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5" name="Shape 3">
            <a:extLst>
              <a:ext uri="{FF2B5EF4-FFF2-40B4-BE49-F238E27FC236}">
                <a16:creationId xmlns:a16="http://schemas.microsoft.com/office/drawing/2014/main" id="{D3A4E779-4D6C-73C3-2FCE-B36F8F6861A8}"/>
              </a:ext>
            </a:extLst>
          </p:cNvPr>
          <p:cNvSpPr/>
          <p:nvPr/>
        </p:nvSpPr>
        <p:spPr>
          <a:xfrm>
            <a:off x="960797" y="1486092"/>
            <a:ext cx="420624" cy="420624"/>
          </a:xfrm>
          <a:prstGeom prst="ellipse">
            <a:avLst/>
          </a:prstGeom>
          <a:solidFill>
            <a:schemeClr val="accent2"/>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a:extLst>
              <a:ext uri="{FF2B5EF4-FFF2-40B4-BE49-F238E27FC236}">
                <a16:creationId xmlns:a16="http://schemas.microsoft.com/office/drawing/2014/main" id="{42B2C5F8-9708-2520-C767-F74FF94A8507}"/>
              </a:ext>
            </a:extLst>
          </p:cNvPr>
          <p:cNvSpPr/>
          <p:nvPr/>
        </p:nvSpPr>
        <p:spPr>
          <a:xfrm>
            <a:off x="960797"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a:extLst>
              <a:ext uri="{FF2B5EF4-FFF2-40B4-BE49-F238E27FC236}">
                <a16:creationId xmlns:a16="http://schemas.microsoft.com/office/drawing/2014/main" id="{89F2FD95-2A77-849E-6363-F69EC723390A}"/>
              </a:ext>
            </a:extLst>
          </p:cNvPr>
          <p:cNvSpPr/>
          <p:nvPr/>
        </p:nvSpPr>
        <p:spPr>
          <a:xfrm>
            <a:off x="457877" y="1967117"/>
            <a:ext cx="1426464" cy="457200"/>
          </a:xfrm>
          <a:prstGeom prst="rect">
            <a:avLst/>
          </a:prstGeom>
          <a:noFill/>
          <a:ln/>
        </p:spPr>
        <p:txBody>
          <a:bodyPr wrap="square" lIns="0" tIns="0" rIns="0" bIns="0" rtlCol="0" anchor="ctr"/>
          <a:lstStyle/>
          <a:p>
            <a:pPr marL="0" indent="0" algn="ctr">
              <a:buNone/>
            </a:pPr>
            <a:r>
              <a:rPr lang="en-US" sz="1100" b="1">
                <a:solidFill>
                  <a:schemeClr val="accent2"/>
                </a:solidFill>
                <a:latin typeface="Open Sans" panose="020B0606030504020204" pitchFamily="34" charset="0"/>
                <a:ea typeface="Open Sans" panose="020B0606030504020204" pitchFamily="34" charset="0"/>
                <a:cs typeface="Open Sans" panose="020B0606030504020204" pitchFamily="34" charset="0"/>
              </a:rPr>
              <a:t>ISOLATE</a:t>
            </a:r>
          </a:p>
        </p:txBody>
      </p:sp>
      <p:sp>
        <p:nvSpPr>
          <p:cNvPr id="8" name="Text 6">
            <a:extLst>
              <a:ext uri="{FF2B5EF4-FFF2-40B4-BE49-F238E27FC236}">
                <a16:creationId xmlns:a16="http://schemas.microsoft.com/office/drawing/2014/main" id="{1EA63F9F-2C9C-E219-1482-F7075ABA8355}"/>
              </a:ext>
            </a:extLst>
          </p:cNvPr>
          <p:cNvSpPr/>
          <p:nvPr/>
        </p:nvSpPr>
        <p:spPr>
          <a:xfrm>
            <a:off x="457877" y="2436846"/>
            <a:ext cx="1426464" cy="1418142"/>
          </a:xfrm>
          <a:prstGeom prst="rect">
            <a:avLst/>
          </a:prstGeom>
          <a:noFill/>
          <a:ln/>
        </p:spPr>
        <p:txBody>
          <a:bodyPr wrap="square" lIns="0" tIns="0" rIns="0" bIns="0" rtlCol="0" anchor="t"/>
          <a:lstStyle/>
          <a:p>
            <a:pPr algn="ctr"/>
            <a:r>
              <a:rPr lang="en-IN" sz="1050">
                <a:latin typeface="Open Sans" pitchFamily="2" charset="0"/>
                <a:ea typeface="Open Sans" pitchFamily="2" charset="0"/>
                <a:cs typeface="Open Sans" pitchFamily="2" charset="0"/>
              </a:rPr>
              <a:t>Reproduce the bug with the smallest possible input. One command. One error. If you cannot reproduce it, you cannot fix it.</a:t>
            </a:r>
            <a:endParaRPr lang="en-US" sz="1050">
              <a:latin typeface="Open Sans" pitchFamily="2" charset="0"/>
              <a:ea typeface="Open Sans" pitchFamily="2" charset="0"/>
              <a:cs typeface="Open Sans" pitchFamily="2" charset="0"/>
            </a:endParaRPr>
          </a:p>
        </p:txBody>
      </p:sp>
      <p:sp>
        <p:nvSpPr>
          <p:cNvPr id="10" name="Shape 8">
            <a:extLst>
              <a:ext uri="{FF2B5EF4-FFF2-40B4-BE49-F238E27FC236}">
                <a16:creationId xmlns:a16="http://schemas.microsoft.com/office/drawing/2014/main" id="{4153DF97-48D1-81C9-A7EC-FB10489AA962}"/>
              </a:ext>
            </a:extLst>
          </p:cNvPr>
          <p:cNvSpPr/>
          <p:nvPr/>
        </p:nvSpPr>
        <p:spPr>
          <a:xfrm>
            <a:off x="2094653" y="1308748"/>
            <a:ext cx="1572768" cy="2871757"/>
          </a:xfrm>
          <a:prstGeom prst="roundRect">
            <a:avLst>
              <a:gd name="adj" fmla="val 5814"/>
            </a:avLst>
          </a:prstGeom>
          <a:solidFill>
            <a:srgbClr val="F5F5F5"/>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Shape 9">
            <a:extLst>
              <a:ext uri="{FF2B5EF4-FFF2-40B4-BE49-F238E27FC236}">
                <a16:creationId xmlns:a16="http://schemas.microsoft.com/office/drawing/2014/main" id="{0D17BC0D-3BF4-B8E2-6CD8-C9145123347B}"/>
              </a:ext>
            </a:extLst>
          </p:cNvPr>
          <p:cNvSpPr/>
          <p:nvPr/>
        </p:nvSpPr>
        <p:spPr>
          <a:xfrm>
            <a:off x="2670725" y="1486092"/>
            <a:ext cx="420624" cy="420624"/>
          </a:xfrm>
          <a:prstGeom prst="ellipse">
            <a:avLst/>
          </a:prstGeom>
          <a:solidFill>
            <a:schemeClr val="accent1"/>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a:extLst>
              <a:ext uri="{FF2B5EF4-FFF2-40B4-BE49-F238E27FC236}">
                <a16:creationId xmlns:a16="http://schemas.microsoft.com/office/drawing/2014/main" id="{62E6D61F-5970-40C0-9520-A781C8B21EAB}"/>
              </a:ext>
            </a:extLst>
          </p:cNvPr>
          <p:cNvSpPr/>
          <p:nvPr/>
        </p:nvSpPr>
        <p:spPr>
          <a:xfrm>
            <a:off x="2670725"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a:extLst>
              <a:ext uri="{FF2B5EF4-FFF2-40B4-BE49-F238E27FC236}">
                <a16:creationId xmlns:a16="http://schemas.microsoft.com/office/drawing/2014/main" id="{B32380DD-0492-BAA0-BC63-828BE246DB02}"/>
              </a:ext>
            </a:extLst>
          </p:cNvPr>
          <p:cNvSpPr/>
          <p:nvPr/>
        </p:nvSpPr>
        <p:spPr>
          <a:xfrm>
            <a:off x="2167805" y="1967117"/>
            <a:ext cx="1426464" cy="457200"/>
          </a:xfrm>
          <a:prstGeom prst="rect">
            <a:avLst/>
          </a:prstGeom>
          <a:noFill/>
          <a:ln/>
        </p:spPr>
        <p:txBody>
          <a:bodyPr wrap="square" lIns="0" tIns="0" rIns="0" bIns="0" rtlCol="0" anchor="ctr"/>
          <a:lstStyle/>
          <a:p>
            <a:pPr marL="0" indent="0" algn="ctr">
              <a:buNone/>
            </a:pPr>
            <a:r>
              <a:rPr lang="en-US" sz="1100" b="1">
                <a:solidFill>
                  <a:schemeClr val="accent1"/>
                </a:solidFill>
                <a:latin typeface="Open Sans" panose="020B0606030504020204" pitchFamily="34" charset="0"/>
                <a:ea typeface="Open Sans" panose="020B0606030504020204" pitchFamily="34" charset="0"/>
                <a:cs typeface="Open Sans" panose="020B0606030504020204" pitchFamily="34" charset="0"/>
              </a:rPr>
              <a:t>FULL CONTEXT</a:t>
            </a:r>
          </a:p>
        </p:txBody>
      </p:sp>
      <p:sp>
        <p:nvSpPr>
          <p:cNvPr id="14" name="Text 12">
            <a:extLst>
              <a:ext uri="{FF2B5EF4-FFF2-40B4-BE49-F238E27FC236}">
                <a16:creationId xmlns:a16="http://schemas.microsoft.com/office/drawing/2014/main" id="{5726A930-8FCE-7FED-DDEB-2C8CC22AAAE7}"/>
              </a:ext>
            </a:extLst>
          </p:cNvPr>
          <p:cNvSpPr/>
          <p:nvPr/>
        </p:nvSpPr>
        <p:spPr>
          <a:xfrm>
            <a:off x="2167805" y="2436846"/>
            <a:ext cx="1426464" cy="1418142"/>
          </a:xfrm>
          <a:prstGeom prst="rect">
            <a:avLst/>
          </a:prstGeom>
          <a:noFill/>
          <a:ln/>
        </p:spPr>
        <p:txBody>
          <a:bodyPr wrap="square" lIns="0" tIns="0" rIns="0" bIns="0" rtlCol="0" anchor="t"/>
          <a:lstStyle/>
          <a:p>
            <a:pPr algn="ctr"/>
            <a:r>
              <a:rPr lang="en-IN" sz="1050">
                <a:latin typeface="Open Sans" pitchFamily="2" charset="0"/>
                <a:ea typeface="Open Sans" pitchFamily="2" charset="0"/>
                <a:cs typeface="Open Sans" pitchFamily="2" charset="0"/>
              </a:rPr>
              <a:t>Paste the complete error message and the function where it breaks. Never trim the stack trace. Claude needs the full call chain to reason.</a:t>
            </a:r>
            <a:endParaRPr lang="en-US" sz="1050">
              <a:latin typeface="Open Sans" pitchFamily="2" charset="0"/>
              <a:ea typeface="Open Sans" pitchFamily="2" charset="0"/>
              <a:cs typeface="Open Sans" pitchFamily="2" charset="0"/>
            </a:endParaRPr>
          </a:p>
        </p:txBody>
      </p:sp>
      <p:sp>
        <p:nvSpPr>
          <p:cNvPr id="16" name="Shape 14">
            <a:extLst>
              <a:ext uri="{FF2B5EF4-FFF2-40B4-BE49-F238E27FC236}">
                <a16:creationId xmlns:a16="http://schemas.microsoft.com/office/drawing/2014/main" id="{8C69E38C-A8C9-CC38-234A-8F42DA7C8E99}"/>
              </a:ext>
            </a:extLst>
          </p:cNvPr>
          <p:cNvSpPr/>
          <p:nvPr/>
        </p:nvSpPr>
        <p:spPr>
          <a:xfrm>
            <a:off x="3804581" y="1308748"/>
            <a:ext cx="1572768" cy="2871757"/>
          </a:xfrm>
          <a:prstGeom prst="roundRect">
            <a:avLst>
              <a:gd name="adj" fmla="val 5814"/>
            </a:avLst>
          </a:prstGeom>
          <a:solidFill>
            <a:srgbClr val="F5F5F5"/>
          </a:solidFill>
          <a:ln w="19050">
            <a:solidFill>
              <a:srgbClr val="2E7D32"/>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5">
            <a:extLst>
              <a:ext uri="{FF2B5EF4-FFF2-40B4-BE49-F238E27FC236}">
                <a16:creationId xmlns:a16="http://schemas.microsoft.com/office/drawing/2014/main" id="{D9E8C8B3-0B2B-6DD3-7F60-44B1BBBF188D}"/>
              </a:ext>
            </a:extLst>
          </p:cNvPr>
          <p:cNvSpPr/>
          <p:nvPr/>
        </p:nvSpPr>
        <p:spPr>
          <a:xfrm>
            <a:off x="4380653" y="1486092"/>
            <a:ext cx="420624" cy="420624"/>
          </a:xfrm>
          <a:prstGeom prst="ellipse">
            <a:avLst/>
          </a:prstGeom>
          <a:solidFill>
            <a:srgbClr val="00B05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16">
            <a:extLst>
              <a:ext uri="{FF2B5EF4-FFF2-40B4-BE49-F238E27FC236}">
                <a16:creationId xmlns:a16="http://schemas.microsoft.com/office/drawing/2014/main" id="{8482D8CB-5147-98BE-C3EF-CC80B4A8FFB1}"/>
              </a:ext>
            </a:extLst>
          </p:cNvPr>
          <p:cNvSpPr/>
          <p:nvPr/>
        </p:nvSpPr>
        <p:spPr>
          <a:xfrm>
            <a:off x="4380653"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B788BF04-B8D2-5800-E0DB-2354D606D8B9}"/>
              </a:ext>
            </a:extLst>
          </p:cNvPr>
          <p:cNvSpPr/>
          <p:nvPr/>
        </p:nvSpPr>
        <p:spPr>
          <a:xfrm>
            <a:off x="3877733" y="1967117"/>
            <a:ext cx="1426464" cy="457200"/>
          </a:xfrm>
          <a:prstGeom prst="rect">
            <a:avLst/>
          </a:prstGeom>
          <a:noFill/>
          <a:ln/>
        </p:spPr>
        <p:txBody>
          <a:bodyPr wrap="square" lIns="0" tIns="0" rIns="0" bIns="0" rtlCol="0" anchor="ctr"/>
          <a:lstStyle/>
          <a:p>
            <a:pPr marL="0" indent="0" algn="ctr">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ROOT CAUSE</a:t>
            </a:r>
          </a:p>
        </p:txBody>
      </p:sp>
      <p:sp>
        <p:nvSpPr>
          <p:cNvPr id="20" name="Text 18">
            <a:extLst>
              <a:ext uri="{FF2B5EF4-FFF2-40B4-BE49-F238E27FC236}">
                <a16:creationId xmlns:a16="http://schemas.microsoft.com/office/drawing/2014/main" id="{85839D63-567A-EB8D-2029-A7279F768C9F}"/>
              </a:ext>
            </a:extLst>
          </p:cNvPr>
          <p:cNvSpPr/>
          <p:nvPr/>
        </p:nvSpPr>
        <p:spPr>
          <a:xfrm>
            <a:off x="3877733" y="2436846"/>
            <a:ext cx="1426464" cy="1418142"/>
          </a:xfrm>
          <a:prstGeom prst="rect">
            <a:avLst/>
          </a:prstGeom>
          <a:noFill/>
          <a:ln/>
        </p:spPr>
        <p:txBody>
          <a:bodyPr wrap="square" lIns="0" tIns="0" rIns="0" bIns="0" rtlCol="0" anchor="t"/>
          <a:lstStyle/>
          <a:p>
            <a:pPr algn="ctr"/>
            <a:r>
              <a:rPr lang="en-IN" sz="1050">
                <a:latin typeface="Open Sans" pitchFamily="2" charset="0"/>
                <a:ea typeface="Open Sans" pitchFamily="2" charset="0"/>
                <a:cs typeface="Open Sans" pitchFamily="2" charset="0"/>
              </a:rPr>
              <a:t>Ask Claude to name the cause in one sentence before proposing a fix. Diagnosis before prescription — always.</a:t>
            </a:r>
            <a:br>
              <a:rPr lang="en-IN" sz="1050">
                <a:latin typeface="Open Sans" pitchFamily="2" charset="0"/>
                <a:ea typeface="Open Sans" pitchFamily="2" charset="0"/>
                <a:cs typeface="Open Sans" pitchFamily="2" charset="0"/>
              </a:rPr>
            </a:br>
            <a:r>
              <a:rPr lang="en-IN" sz="1050">
                <a:latin typeface="Open Sans" pitchFamily="2" charset="0"/>
                <a:ea typeface="Open Sans" pitchFamily="2" charset="0"/>
                <a:cs typeface="Open Sans" pitchFamily="2" charset="0"/>
              </a:rPr>
              <a:t>Prompt: "Name the root cause in one sentence. Do not suggest a fix yet."</a:t>
            </a:r>
            <a:endParaRPr lang="en-US" sz="1050">
              <a:latin typeface="Open Sans" pitchFamily="2" charset="0"/>
              <a:ea typeface="Open Sans" pitchFamily="2" charset="0"/>
              <a:cs typeface="Open Sans" pitchFamily="2" charset="0"/>
            </a:endParaRPr>
          </a:p>
        </p:txBody>
      </p:sp>
      <p:sp>
        <p:nvSpPr>
          <p:cNvPr id="22" name="Shape 20">
            <a:extLst>
              <a:ext uri="{FF2B5EF4-FFF2-40B4-BE49-F238E27FC236}">
                <a16:creationId xmlns:a16="http://schemas.microsoft.com/office/drawing/2014/main" id="{B3E1EB8A-C9CB-B081-9713-2088868828B0}"/>
              </a:ext>
            </a:extLst>
          </p:cNvPr>
          <p:cNvSpPr/>
          <p:nvPr/>
        </p:nvSpPr>
        <p:spPr>
          <a:xfrm>
            <a:off x="5514509" y="1308748"/>
            <a:ext cx="1572768" cy="2871757"/>
          </a:xfrm>
          <a:prstGeom prst="roundRect">
            <a:avLst>
              <a:gd name="adj" fmla="val 5814"/>
            </a:avLst>
          </a:prstGeom>
          <a:solidFill>
            <a:srgbClr val="F5F5F5"/>
          </a:solidFill>
          <a:ln w="19050">
            <a:solidFill>
              <a:schemeClr val="accent3"/>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3" name="Shape 21">
            <a:extLst>
              <a:ext uri="{FF2B5EF4-FFF2-40B4-BE49-F238E27FC236}">
                <a16:creationId xmlns:a16="http://schemas.microsoft.com/office/drawing/2014/main" id="{741C6268-42FC-D881-8C3D-281204924169}"/>
              </a:ext>
            </a:extLst>
          </p:cNvPr>
          <p:cNvSpPr/>
          <p:nvPr/>
        </p:nvSpPr>
        <p:spPr>
          <a:xfrm>
            <a:off x="6090581" y="1486092"/>
            <a:ext cx="420624" cy="420624"/>
          </a:xfrm>
          <a:prstGeom prst="ellipse">
            <a:avLst/>
          </a:prstGeom>
          <a:solidFill>
            <a:schemeClr val="accent3"/>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a:extLst>
              <a:ext uri="{FF2B5EF4-FFF2-40B4-BE49-F238E27FC236}">
                <a16:creationId xmlns:a16="http://schemas.microsoft.com/office/drawing/2014/main" id="{40BB3FD6-9B06-8EBC-9CF7-EC1C7A4CABE4}"/>
              </a:ext>
            </a:extLst>
          </p:cNvPr>
          <p:cNvSpPr/>
          <p:nvPr/>
        </p:nvSpPr>
        <p:spPr>
          <a:xfrm>
            <a:off x="6090581"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27395BD7-BDC1-153A-49A1-ECB3E7D16287}"/>
              </a:ext>
            </a:extLst>
          </p:cNvPr>
          <p:cNvSpPr/>
          <p:nvPr/>
        </p:nvSpPr>
        <p:spPr>
          <a:xfrm>
            <a:off x="5587661" y="1967117"/>
            <a:ext cx="1426464" cy="457200"/>
          </a:xfrm>
          <a:prstGeom prst="rect">
            <a:avLst/>
          </a:prstGeom>
          <a:noFill/>
          <a:ln/>
        </p:spPr>
        <p:txBody>
          <a:bodyPr wrap="square" lIns="0" tIns="0" rIns="0" bIns="0" rtlCol="0" anchor="ctr"/>
          <a:lstStyle/>
          <a:p>
            <a:pPr marL="0" indent="0" algn="ctr">
              <a:buNone/>
            </a:pPr>
            <a:r>
              <a:rPr lang="en-US" sz="1100" b="1">
                <a:solidFill>
                  <a:schemeClr val="accent3"/>
                </a:solidFill>
                <a:latin typeface="Open Sans" panose="020B0606030504020204" pitchFamily="34" charset="0"/>
                <a:ea typeface="Open Sans" panose="020B0606030504020204" pitchFamily="34" charset="0"/>
                <a:cs typeface="Open Sans" panose="020B0606030504020204" pitchFamily="34" charset="0"/>
              </a:rPr>
              <a:t>APPLY &amp; TEST</a:t>
            </a:r>
          </a:p>
        </p:txBody>
      </p:sp>
      <p:sp>
        <p:nvSpPr>
          <p:cNvPr id="26" name="Text 24">
            <a:extLst>
              <a:ext uri="{FF2B5EF4-FFF2-40B4-BE49-F238E27FC236}">
                <a16:creationId xmlns:a16="http://schemas.microsoft.com/office/drawing/2014/main" id="{F642D309-5D67-599E-3C28-2705B233F1AB}"/>
              </a:ext>
            </a:extLst>
          </p:cNvPr>
          <p:cNvSpPr/>
          <p:nvPr/>
        </p:nvSpPr>
        <p:spPr>
          <a:xfrm>
            <a:off x="5587661" y="2436846"/>
            <a:ext cx="1426464" cy="1418142"/>
          </a:xfrm>
          <a:prstGeom prst="rect">
            <a:avLst/>
          </a:prstGeom>
          <a:noFill/>
          <a:ln/>
        </p:spPr>
        <p:txBody>
          <a:bodyPr wrap="square" lIns="0" tIns="0" rIns="0" bIns="0" rtlCol="0" anchor="t"/>
          <a:lstStyle/>
          <a:p>
            <a:pPr algn="ctr"/>
            <a:r>
              <a:rPr lang="en-IN" sz="1100">
                <a:latin typeface="Open Sans" pitchFamily="2" charset="0"/>
                <a:ea typeface="Open Sans" pitchFamily="2" charset="0"/>
                <a:cs typeface="Open Sans" pitchFamily="2" charset="0"/>
              </a:rPr>
              <a:t>Apply the fix. Run the code. Did the symptom go? Check that nothing else broke.</a:t>
            </a:r>
            <a:endParaRPr lang="en-US" sz="1100">
              <a:latin typeface="Open Sans" pitchFamily="2" charset="0"/>
              <a:ea typeface="Open Sans" pitchFamily="2" charset="0"/>
              <a:cs typeface="Open Sans" pitchFamily="2" charset="0"/>
            </a:endParaRPr>
          </a:p>
        </p:txBody>
      </p:sp>
      <p:sp>
        <p:nvSpPr>
          <p:cNvPr id="28" name="Shape 26">
            <a:extLst>
              <a:ext uri="{FF2B5EF4-FFF2-40B4-BE49-F238E27FC236}">
                <a16:creationId xmlns:a16="http://schemas.microsoft.com/office/drawing/2014/main" id="{DE055E5B-CE6D-CE28-E687-40BBA659EBA2}"/>
              </a:ext>
            </a:extLst>
          </p:cNvPr>
          <p:cNvSpPr/>
          <p:nvPr/>
        </p:nvSpPr>
        <p:spPr>
          <a:xfrm>
            <a:off x="7224437" y="1308748"/>
            <a:ext cx="1572768" cy="2871757"/>
          </a:xfrm>
          <a:prstGeom prst="roundRect">
            <a:avLst>
              <a:gd name="adj" fmla="val 5814"/>
            </a:avLst>
          </a:prstGeom>
          <a:solidFill>
            <a:srgbClr val="F5F5F5"/>
          </a:solidFill>
          <a:ln w="19050">
            <a:solidFill>
              <a:srgbClr val="002060"/>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9" name="Shape 27">
            <a:extLst>
              <a:ext uri="{FF2B5EF4-FFF2-40B4-BE49-F238E27FC236}">
                <a16:creationId xmlns:a16="http://schemas.microsoft.com/office/drawing/2014/main" id="{81B10C7A-E862-64E1-5000-F02E85455EDC}"/>
              </a:ext>
            </a:extLst>
          </p:cNvPr>
          <p:cNvSpPr/>
          <p:nvPr/>
        </p:nvSpPr>
        <p:spPr>
          <a:xfrm>
            <a:off x="7800509" y="1486092"/>
            <a:ext cx="420624" cy="420624"/>
          </a:xfrm>
          <a:prstGeom prst="ellipse">
            <a:avLst/>
          </a:prstGeom>
          <a:solidFill>
            <a:srgbClr val="00206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30" name="Text 28">
            <a:extLst>
              <a:ext uri="{FF2B5EF4-FFF2-40B4-BE49-F238E27FC236}">
                <a16:creationId xmlns:a16="http://schemas.microsoft.com/office/drawing/2014/main" id="{1C2C2C58-CD3C-6EE3-D52F-9E479E9E4C96}"/>
              </a:ext>
            </a:extLst>
          </p:cNvPr>
          <p:cNvSpPr/>
          <p:nvPr/>
        </p:nvSpPr>
        <p:spPr>
          <a:xfrm>
            <a:off x="7800509"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5</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a:extLst>
              <a:ext uri="{FF2B5EF4-FFF2-40B4-BE49-F238E27FC236}">
                <a16:creationId xmlns:a16="http://schemas.microsoft.com/office/drawing/2014/main" id="{66D4DF3E-16C6-4825-678C-B918EC115AD7}"/>
              </a:ext>
            </a:extLst>
          </p:cNvPr>
          <p:cNvSpPr/>
          <p:nvPr/>
        </p:nvSpPr>
        <p:spPr>
          <a:xfrm>
            <a:off x="7297589" y="1967117"/>
            <a:ext cx="1426464" cy="457200"/>
          </a:xfrm>
          <a:prstGeom prst="rect">
            <a:avLst/>
          </a:prstGeom>
          <a:noFill/>
          <a:ln/>
        </p:spPr>
        <p:txBody>
          <a:bodyPr wrap="square" lIns="0" tIns="0" rIns="0" bIns="0" rtlCol="0" anchor="ctr"/>
          <a:lstStyle/>
          <a:p>
            <a:pPr marL="0" indent="0" algn="ctr">
              <a:buNone/>
            </a:pPr>
            <a:r>
              <a:rPr lang="en-US" sz="1100" b="1">
                <a:solidFill>
                  <a:srgbClr val="002060"/>
                </a:solidFill>
                <a:latin typeface="Open Sans" panose="020B0606030504020204" pitchFamily="34" charset="0"/>
                <a:ea typeface="Open Sans" panose="020B0606030504020204" pitchFamily="34" charset="0"/>
                <a:cs typeface="Open Sans" panose="020B0606030504020204" pitchFamily="34" charset="0"/>
              </a:rPr>
              <a:t>WRITE A TEST</a:t>
            </a:r>
          </a:p>
        </p:txBody>
      </p:sp>
      <p:sp>
        <p:nvSpPr>
          <p:cNvPr id="32" name="Text 30">
            <a:extLst>
              <a:ext uri="{FF2B5EF4-FFF2-40B4-BE49-F238E27FC236}">
                <a16:creationId xmlns:a16="http://schemas.microsoft.com/office/drawing/2014/main" id="{CF60A68A-F0FF-002F-DEED-C8FBA7CC989D}"/>
              </a:ext>
            </a:extLst>
          </p:cNvPr>
          <p:cNvSpPr/>
          <p:nvPr/>
        </p:nvSpPr>
        <p:spPr>
          <a:xfrm>
            <a:off x="7297589" y="2436846"/>
            <a:ext cx="1426464" cy="1418142"/>
          </a:xfrm>
          <a:prstGeom prst="rect">
            <a:avLst/>
          </a:prstGeom>
          <a:noFill/>
          <a:ln/>
        </p:spPr>
        <p:txBody>
          <a:bodyPr wrap="square" lIns="0" tIns="0" rIns="0" bIns="0" rtlCol="0" anchor="t"/>
          <a:lstStyle/>
          <a:p>
            <a:pPr algn="ctr"/>
            <a:r>
              <a:rPr lang="en-IN" sz="1100">
                <a:latin typeface="Open Sans" pitchFamily="2" charset="0"/>
                <a:ea typeface="Open Sans" pitchFamily="2" charset="0"/>
                <a:cs typeface="Open Sans" pitchFamily="2" charset="0"/>
              </a:rPr>
              <a:t>Write a regression test for this bug: confirm it fails on the original broken code, then confirm it passes on your fix. This is what stops the bug from silently coming back."</a:t>
            </a:r>
            <a:endParaRPr lang="en-US" sz="1100">
              <a:latin typeface="Open Sans" pitchFamily="2" charset="0"/>
              <a:ea typeface="Open Sans" pitchFamily="2" charset="0"/>
              <a:cs typeface="Open Sans" pitchFamily="2" charset="0"/>
            </a:endParaRPr>
          </a:p>
        </p:txBody>
      </p:sp>
      <p:sp>
        <p:nvSpPr>
          <p:cNvPr id="33" name="TextBox 32">
            <a:extLst>
              <a:ext uri="{FF2B5EF4-FFF2-40B4-BE49-F238E27FC236}">
                <a16:creationId xmlns:a16="http://schemas.microsoft.com/office/drawing/2014/main" id="{6F94E9D6-D29B-8793-8C00-E684E0BE1F94}"/>
              </a:ext>
            </a:extLst>
          </p:cNvPr>
          <p:cNvSpPr txBox="1"/>
          <p:nvPr/>
        </p:nvSpPr>
        <p:spPr>
          <a:xfrm>
            <a:off x="673376" y="4356212"/>
            <a:ext cx="7797247" cy="292388"/>
          </a:xfrm>
          <a:prstGeom prst="rect">
            <a:avLst/>
          </a:prstGeom>
          <a:noFill/>
        </p:spPr>
        <p:txBody>
          <a:bodyPr wrap="square" rtlCol="0">
            <a:spAutoFit/>
          </a:bodyPr>
          <a:lstStyle/>
          <a:p>
            <a:pPr algn="ctr"/>
            <a:r>
              <a:rPr lang="en-IN" sz="1300" b="1">
                <a:latin typeface="Open Sans" panose="020B0606030504020204" pitchFamily="34" charset="0"/>
                <a:ea typeface="Open Sans" panose="020B0606030504020204" pitchFamily="34" charset="0"/>
                <a:cs typeface="Open Sans" panose="020B0606030504020204" pitchFamily="34" charset="0"/>
              </a:rPr>
              <a:t>Step 5 </a:t>
            </a:r>
            <a:r>
              <a:rPr lang="en-IN" sz="1300" i="1">
                <a:solidFill>
                  <a:schemeClr val="tx2"/>
                </a:solidFill>
                <a:latin typeface="Open Sans" pitchFamily="2" charset="0"/>
                <a:ea typeface="Open Sans" pitchFamily="2" charset="0"/>
                <a:cs typeface="Open Sans" pitchFamily="2" charset="0"/>
              </a:rPr>
              <a:t>is not optional. It is how a codebase gets better over time instead of trading one bug for another.</a:t>
            </a:r>
            <a:endParaRPr lang="en-US" sz="1300" i="1">
              <a:solidFill>
                <a:schemeClr val="tx2"/>
              </a:solidFill>
              <a:latin typeface="Open Sans" pitchFamily="2" charset="0"/>
              <a:ea typeface="Open Sans" pitchFamily="2" charset="0"/>
              <a:cs typeface="Open Sans" pitchFamily="2" charset="0"/>
            </a:endParaRPr>
          </a:p>
        </p:txBody>
      </p:sp>
      <p:sp>
        <p:nvSpPr>
          <p:cNvPr id="34" name="TextBox 33">
            <a:extLst>
              <a:ext uri="{FF2B5EF4-FFF2-40B4-BE49-F238E27FC236}">
                <a16:creationId xmlns:a16="http://schemas.microsoft.com/office/drawing/2014/main" id="{F96E3954-CE77-0FA8-D672-EAEEFCF151E7}"/>
              </a:ext>
            </a:extLst>
          </p:cNvPr>
          <p:cNvSpPr txBox="1"/>
          <p:nvPr/>
        </p:nvSpPr>
        <p:spPr>
          <a:xfrm>
            <a:off x="303192" y="770400"/>
            <a:ext cx="7617791" cy="307777"/>
          </a:xfrm>
          <a:prstGeom prst="rect">
            <a:avLst/>
          </a:prstGeom>
          <a:noFill/>
        </p:spPr>
        <p:txBody>
          <a:bodyPr wrap="none" rtlCol="0">
            <a:spAutoFit/>
          </a:bodyPr>
          <a:lstStyle/>
          <a:p>
            <a:r>
              <a:rPr lang="en-IN" sz="1400">
                <a:solidFill>
                  <a:schemeClr val="tx2"/>
                </a:solidFill>
                <a:latin typeface="Open Sans" pitchFamily="2" charset="0"/>
                <a:ea typeface="Open Sans" pitchFamily="2" charset="0"/>
                <a:cs typeface="Open Sans" pitchFamily="2" charset="0"/>
              </a:rPr>
              <a:t>Each pass gets you closer. Stop when the bug is fixed and a test confirms it — not before.</a:t>
            </a:r>
            <a:endParaRPr lang="en-US" sz="1400">
              <a:solidFill>
                <a:schemeClr val="tx2"/>
              </a:solidFill>
              <a:latin typeface="Open Sans" pitchFamily="2" charset="0"/>
              <a:ea typeface="Open Sans" pitchFamily="2" charset="0"/>
              <a:cs typeface="Open Sans" pitchFamily="2" charset="0"/>
            </a:endParaRPr>
          </a:p>
        </p:txBody>
      </p:sp>
      <p:cxnSp>
        <p:nvCxnSpPr>
          <p:cNvPr id="36" name="Straight Arrow Connector 35">
            <a:extLst>
              <a:ext uri="{FF2B5EF4-FFF2-40B4-BE49-F238E27FC236}">
                <a16:creationId xmlns:a16="http://schemas.microsoft.com/office/drawing/2014/main" id="{6310AA2E-0BC1-3F66-D739-7FE38EF64F56}"/>
              </a:ext>
            </a:extLst>
          </p:cNvPr>
          <p:cNvCxnSpPr>
            <a:cxnSpLocks/>
          </p:cNvCxnSpPr>
          <p:nvPr/>
        </p:nvCxnSpPr>
        <p:spPr>
          <a:xfrm>
            <a:off x="1988738" y="2692846"/>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E6175C2-987D-E8BC-5C62-F5FD0C36E752}"/>
              </a:ext>
            </a:extLst>
          </p:cNvPr>
          <p:cNvCxnSpPr>
            <a:cxnSpLocks/>
          </p:cNvCxnSpPr>
          <p:nvPr/>
        </p:nvCxnSpPr>
        <p:spPr>
          <a:xfrm>
            <a:off x="3689030" y="2688109"/>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5652E88-3E7B-A626-4195-6C8A502DB81F}"/>
              </a:ext>
            </a:extLst>
          </p:cNvPr>
          <p:cNvCxnSpPr>
            <a:cxnSpLocks/>
          </p:cNvCxnSpPr>
          <p:nvPr/>
        </p:nvCxnSpPr>
        <p:spPr>
          <a:xfrm>
            <a:off x="5407750" y="2688109"/>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2462479-C07C-FB37-D9A8-EE12598D8311}"/>
              </a:ext>
            </a:extLst>
          </p:cNvPr>
          <p:cNvCxnSpPr>
            <a:cxnSpLocks/>
          </p:cNvCxnSpPr>
          <p:nvPr/>
        </p:nvCxnSpPr>
        <p:spPr>
          <a:xfrm>
            <a:off x="7113282" y="2691823"/>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141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4">
            <a:extLst>
              <a:ext uri="{FF2B5EF4-FFF2-40B4-BE49-F238E27FC236}">
                <a16:creationId xmlns:a16="http://schemas.microsoft.com/office/drawing/2014/main" id="{309DECEB-4808-5C6D-04DD-887F333A3703}"/>
              </a:ext>
            </a:extLst>
          </p:cNvPr>
          <p:cNvSpPr/>
          <p:nvPr/>
        </p:nvSpPr>
        <p:spPr>
          <a:xfrm>
            <a:off x="367200" y="190800"/>
            <a:ext cx="8321040" cy="438912"/>
          </a:xfrm>
          <a:prstGeom prst="rect">
            <a:avLst/>
          </a:prstGeom>
          <a:noFill/>
          <a:ln/>
        </p:spPr>
        <p:txBody>
          <a:bodyPr wrap="square" lIns="0" tIns="0" rIns="0" bIns="0" rtlCol="0" anchor="ctr"/>
          <a:lstStyle/>
          <a:p>
            <a:pPr marL="0" indent="0" algn="l">
              <a:buNone/>
            </a:pPr>
            <a:r>
              <a:rPr lang="en-US" sz="2800" b="1">
                <a:solidFill>
                  <a:srgbClr val="2D2D2D"/>
                </a:solidFill>
                <a:latin typeface="Open Sans" panose="020B0606030504020204" pitchFamily="34" charset="0"/>
                <a:ea typeface="Open Sans" panose="020B0606030504020204" pitchFamily="34" charset="0"/>
                <a:cs typeface="Open Sans" panose="020B0606030504020204" pitchFamily="34" charset="0"/>
              </a:rPr>
              <a:t>Step 1: Isolate</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5">
            <a:extLst>
              <a:ext uri="{FF2B5EF4-FFF2-40B4-BE49-F238E27FC236}">
                <a16:creationId xmlns:a16="http://schemas.microsoft.com/office/drawing/2014/main" id="{11DA38BD-9233-8BB0-0D2C-1E90C9E665F8}"/>
              </a:ext>
            </a:extLst>
          </p:cNvPr>
          <p:cNvSpPr/>
          <p:nvPr/>
        </p:nvSpPr>
        <p:spPr>
          <a:xfrm>
            <a:off x="367200" y="770400"/>
            <a:ext cx="8321040" cy="237744"/>
          </a:xfrm>
          <a:prstGeom prst="rect">
            <a:avLst/>
          </a:prstGeom>
          <a:noFill/>
          <a:ln/>
        </p:spPr>
        <p:txBody>
          <a:bodyPr wrap="square" lIns="0" tIns="0" rIns="0" bIns="0" rtlCol="0" anchor="ctr"/>
          <a:lstStyle/>
          <a:p>
            <a:pPr marL="0" indent="0" algn="l">
              <a:buNone/>
            </a:pPr>
            <a:r>
              <a:rPr lang="en-US" sz="1200" i="1">
                <a:solidFill>
                  <a:schemeClr val="tx2"/>
                </a:solidFill>
                <a:latin typeface="Open Sans" pitchFamily="2" charset="0"/>
                <a:ea typeface="Open Sans" pitchFamily="2" charset="0"/>
                <a:cs typeface="Open Sans" pitchFamily="2" charset="0"/>
              </a:rPr>
              <a:t>You cannot fix a bug you cannot reproduce on demand.</a:t>
            </a:r>
            <a:endParaRPr lang="en-US" sz="1200">
              <a:solidFill>
                <a:schemeClr val="tx2"/>
              </a:solidFill>
              <a:latin typeface="Open Sans" pitchFamily="2" charset="0"/>
              <a:ea typeface="Open Sans" pitchFamily="2" charset="0"/>
              <a:cs typeface="Open Sans" pitchFamily="2" charset="0"/>
            </a:endParaRPr>
          </a:p>
        </p:txBody>
      </p:sp>
      <p:sp>
        <p:nvSpPr>
          <p:cNvPr id="5" name="Shape 6">
            <a:extLst>
              <a:ext uri="{FF2B5EF4-FFF2-40B4-BE49-F238E27FC236}">
                <a16:creationId xmlns:a16="http://schemas.microsoft.com/office/drawing/2014/main" id="{1632F778-1A42-D098-5EC8-5792CFE3EE02}"/>
              </a:ext>
            </a:extLst>
          </p:cNvPr>
          <p:cNvSpPr/>
          <p:nvPr/>
        </p:nvSpPr>
        <p:spPr>
          <a:xfrm>
            <a:off x="367200" y="1240165"/>
            <a:ext cx="8321040" cy="475488"/>
          </a:xfrm>
          <a:prstGeom prst="roundRect">
            <a:avLst>
              <a:gd name="adj" fmla="val 15385"/>
            </a:avLst>
          </a:prstGeom>
          <a:solidFill>
            <a:schemeClr val="accent5">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7">
            <a:extLst>
              <a:ext uri="{FF2B5EF4-FFF2-40B4-BE49-F238E27FC236}">
                <a16:creationId xmlns:a16="http://schemas.microsoft.com/office/drawing/2014/main" id="{555635B2-A4E0-F97B-2272-9D2A8463D836}"/>
              </a:ext>
            </a:extLst>
          </p:cNvPr>
          <p:cNvSpPr/>
          <p:nvPr/>
        </p:nvSpPr>
        <p:spPr>
          <a:xfrm>
            <a:off x="550080" y="1240165"/>
            <a:ext cx="8138160" cy="475488"/>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The debugging loop starts here. Before you paste anything into Claude Code, you need one command that produces one failure, reliably, every time you run it.</a:t>
            </a:r>
            <a:endParaRPr lang="en-US" sz="1050">
              <a:latin typeface="Open Sans" pitchFamily="2" charset="0"/>
              <a:ea typeface="Open Sans" pitchFamily="2" charset="0"/>
              <a:cs typeface="Open Sans" pitchFamily="2" charset="0"/>
            </a:endParaRPr>
          </a:p>
        </p:txBody>
      </p:sp>
      <p:sp>
        <p:nvSpPr>
          <p:cNvPr id="25" name="Shape 4">
            <a:extLst>
              <a:ext uri="{FF2B5EF4-FFF2-40B4-BE49-F238E27FC236}">
                <a16:creationId xmlns:a16="http://schemas.microsoft.com/office/drawing/2014/main" id="{D2857C0C-8F82-38E3-3C36-0C2F42E9349B}"/>
              </a:ext>
            </a:extLst>
          </p:cNvPr>
          <p:cNvSpPr/>
          <p:nvPr/>
        </p:nvSpPr>
        <p:spPr>
          <a:xfrm>
            <a:off x="417611" y="2066415"/>
            <a:ext cx="2714096" cy="1836920"/>
          </a:xfrm>
          <a:prstGeom prst="roundRect">
            <a:avLst>
              <a:gd name="adj" fmla="val 4068"/>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7">
            <a:extLst>
              <a:ext uri="{FF2B5EF4-FFF2-40B4-BE49-F238E27FC236}">
                <a16:creationId xmlns:a16="http://schemas.microsoft.com/office/drawing/2014/main" id="{4C23649B-8105-8EA0-69C6-82A5BFB6908B}"/>
              </a:ext>
            </a:extLst>
          </p:cNvPr>
          <p:cNvSpPr/>
          <p:nvPr/>
        </p:nvSpPr>
        <p:spPr>
          <a:xfrm>
            <a:off x="582203" y="2203575"/>
            <a:ext cx="402336" cy="402336"/>
          </a:xfrm>
          <a:prstGeom prst="ellipse">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8">
            <a:extLst>
              <a:ext uri="{FF2B5EF4-FFF2-40B4-BE49-F238E27FC236}">
                <a16:creationId xmlns:a16="http://schemas.microsoft.com/office/drawing/2014/main" id="{5A37D81C-F0DC-276C-8970-7D9B34AFC350}"/>
              </a:ext>
            </a:extLst>
          </p:cNvPr>
          <p:cNvSpPr/>
          <p:nvPr/>
        </p:nvSpPr>
        <p:spPr>
          <a:xfrm>
            <a:off x="582203" y="2203575"/>
            <a:ext cx="402336" cy="402336"/>
          </a:xfrm>
          <a:prstGeom prst="rect">
            <a:avLst/>
          </a:prstGeom>
          <a:noFill/>
          <a:ln/>
        </p:spPr>
        <p:txBody>
          <a:bodyPr wrap="square" lIns="0" tIns="0" rIns="0" bIns="0" rtlCol="0" anchor="ctr"/>
          <a:lstStyle/>
          <a:p>
            <a:pPr marL="0" indent="0" algn="ctr">
              <a:buNone/>
            </a:pP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01</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9">
            <a:extLst>
              <a:ext uri="{FF2B5EF4-FFF2-40B4-BE49-F238E27FC236}">
                <a16:creationId xmlns:a16="http://schemas.microsoft.com/office/drawing/2014/main" id="{13DF63C7-52CF-28BE-9CE4-452A8DE70406}"/>
              </a:ext>
            </a:extLst>
          </p:cNvPr>
          <p:cNvSpPr/>
          <p:nvPr/>
        </p:nvSpPr>
        <p:spPr>
          <a:xfrm>
            <a:off x="1075979" y="2231007"/>
            <a:ext cx="1828800" cy="347472"/>
          </a:xfrm>
          <a:prstGeom prst="rect">
            <a:avLst/>
          </a:prstGeom>
          <a:noFill/>
          <a:ln/>
        </p:spPr>
        <p:txBody>
          <a:bodyPr wrap="square" lIns="0" tIns="0" rIns="0" bIns="0" rtlCol="0" anchor="ctr"/>
          <a:lstStyle/>
          <a:p>
            <a:r>
              <a:rPr lang="en-US" sz="1200" b="1">
                <a:solidFill>
                  <a:srgbClr val="2D2D2D"/>
                </a:solidFill>
                <a:latin typeface="Open Sans" panose="020B0606030504020204" pitchFamily="34" charset="0"/>
                <a:ea typeface="Open Sans" panose="020B0606030504020204" pitchFamily="34" charset="0"/>
                <a:cs typeface="Open Sans" panose="020B0606030504020204" pitchFamily="34" charset="0"/>
              </a:rPr>
              <a:t>Run the smallest input</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29" name="Shape 10">
            <a:extLst>
              <a:ext uri="{FF2B5EF4-FFF2-40B4-BE49-F238E27FC236}">
                <a16:creationId xmlns:a16="http://schemas.microsoft.com/office/drawing/2014/main" id="{8C6BAE44-1779-AE50-9DE3-8FEC26FEEF64}"/>
              </a:ext>
            </a:extLst>
          </p:cNvPr>
          <p:cNvSpPr/>
          <p:nvPr/>
        </p:nvSpPr>
        <p:spPr>
          <a:xfrm>
            <a:off x="582203" y="2660775"/>
            <a:ext cx="2304288" cy="0"/>
          </a:xfrm>
          <a:prstGeom prst="line">
            <a:avLst/>
          </a:prstGeom>
          <a:noFill/>
          <a:ln w="6350">
            <a:solidFill>
              <a:schemeClr val="tx2"/>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11">
            <a:extLst>
              <a:ext uri="{FF2B5EF4-FFF2-40B4-BE49-F238E27FC236}">
                <a16:creationId xmlns:a16="http://schemas.microsoft.com/office/drawing/2014/main" id="{22254B6A-9CCC-E5A0-0BC0-0134D6B9F6A9}"/>
              </a:ext>
            </a:extLst>
          </p:cNvPr>
          <p:cNvSpPr/>
          <p:nvPr/>
        </p:nvSpPr>
        <p:spPr>
          <a:xfrm>
            <a:off x="622515" y="2820415"/>
            <a:ext cx="2304288" cy="621792"/>
          </a:xfrm>
          <a:prstGeom prst="rect">
            <a:avLst/>
          </a:prstGeom>
          <a:noFill/>
          <a:ln/>
        </p:spPr>
        <p:txBody>
          <a:bodyPr wrap="square" lIns="0" tIns="0" rIns="0" bIns="0" rtlCol="0" anchor="t"/>
          <a:lstStyle/>
          <a:p>
            <a:r>
              <a:rPr lang="en-US" sz="1000">
                <a:solidFill>
                  <a:srgbClr val="555555"/>
                </a:solidFill>
                <a:latin typeface="Open Sans" pitchFamily="2" charset="0"/>
                <a:ea typeface="Open Sans" pitchFamily="2" charset="0"/>
                <a:cs typeface="Open Sans" pitchFamily="2" charset="0"/>
              </a:rPr>
              <a:t>Strip the problem down. One account. One date. One API call. If you are debugging a filter that misses accounts, test it with exactly two accounts — one that should be flagged and one that should not.</a:t>
            </a:r>
            <a:endParaRPr lang="en-US" sz="1000">
              <a:latin typeface="Open Sans" pitchFamily="2" charset="0"/>
              <a:ea typeface="Open Sans" pitchFamily="2" charset="0"/>
              <a:cs typeface="Open Sans" pitchFamily="2" charset="0"/>
            </a:endParaRPr>
          </a:p>
        </p:txBody>
      </p:sp>
      <p:sp>
        <p:nvSpPr>
          <p:cNvPr id="33" name="Shape 4">
            <a:extLst>
              <a:ext uri="{FF2B5EF4-FFF2-40B4-BE49-F238E27FC236}">
                <a16:creationId xmlns:a16="http://schemas.microsoft.com/office/drawing/2014/main" id="{264A8E97-C2A3-4E76-EC8C-DEDD2352C5C5}"/>
              </a:ext>
            </a:extLst>
          </p:cNvPr>
          <p:cNvSpPr/>
          <p:nvPr/>
        </p:nvSpPr>
        <p:spPr>
          <a:xfrm>
            <a:off x="3212570" y="2066415"/>
            <a:ext cx="2714096" cy="1836920"/>
          </a:xfrm>
          <a:prstGeom prst="roundRect">
            <a:avLst>
              <a:gd name="adj" fmla="val 4068"/>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4" name="Shape 17">
            <a:extLst>
              <a:ext uri="{FF2B5EF4-FFF2-40B4-BE49-F238E27FC236}">
                <a16:creationId xmlns:a16="http://schemas.microsoft.com/office/drawing/2014/main" id="{E3163BAC-A308-5541-DB5F-6804113A85CB}"/>
              </a:ext>
            </a:extLst>
          </p:cNvPr>
          <p:cNvSpPr/>
          <p:nvPr/>
        </p:nvSpPr>
        <p:spPr>
          <a:xfrm>
            <a:off x="3380267" y="2203575"/>
            <a:ext cx="402336" cy="402336"/>
          </a:xfrm>
          <a:prstGeom prst="ellipse">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18">
            <a:extLst>
              <a:ext uri="{FF2B5EF4-FFF2-40B4-BE49-F238E27FC236}">
                <a16:creationId xmlns:a16="http://schemas.microsoft.com/office/drawing/2014/main" id="{22632689-59E7-AE43-B148-0D7FA805CDAD}"/>
              </a:ext>
            </a:extLst>
          </p:cNvPr>
          <p:cNvSpPr/>
          <p:nvPr/>
        </p:nvSpPr>
        <p:spPr>
          <a:xfrm>
            <a:off x="3380267" y="2203575"/>
            <a:ext cx="402336" cy="402336"/>
          </a:xfrm>
          <a:prstGeom prst="rect">
            <a:avLst/>
          </a:prstGeom>
          <a:noFill/>
          <a:ln/>
        </p:spPr>
        <p:txBody>
          <a:bodyPr wrap="square" lIns="0" tIns="0" rIns="0" bIns="0" rtlCol="0" anchor="ctr"/>
          <a:lstStyle/>
          <a:p>
            <a:pPr marL="0" indent="0" algn="ctr">
              <a:buNone/>
            </a:pP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02</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36" name="Text 19">
            <a:extLst>
              <a:ext uri="{FF2B5EF4-FFF2-40B4-BE49-F238E27FC236}">
                <a16:creationId xmlns:a16="http://schemas.microsoft.com/office/drawing/2014/main" id="{649F0E67-8EAC-611C-C012-602096B7ADA0}"/>
              </a:ext>
            </a:extLst>
          </p:cNvPr>
          <p:cNvSpPr/>
          <p:nvPr/>
        </p:nvSpPr>
        <p:spPr>
          <a:xfrm>
            <a:off x="3874042" y="2231007"/>
            <a:ext cx="1874823" cy="347472"/>
          </a:xfrm>
          <a:prstGeom prst="rect">
            <a:avLst/>
          </a:prstGeom>
          <a:noFill/>
          <a:ln/>
        </p:spPr>
        <p:txBody>
          <a:bodyPr wrap="square" lIns="0" tIns="0" rIns="0" bIns="0" rtlCol="0" anchor="ctr"/>
          <a:lstStyle/>
          <a:p>
            <a:r>
              <a:rPr lang="en-US" sz="1200" b="1">
                <a:solidFill>
                  <a:srgbClr val="2D2D2D"/>
                </a:solidFill>
                <a:latin typeface="Open Sans" panose="020B0606030504020204" pitchFamily="34" charset="0"/>
                <a:ea typeface="Open Sans" panose="020B0606030504020204" pitchFamily="34" charset="0"/>
                <a:cs typeface="Open Sans" panose="020B0606030504020204" pitchFamily="34" charset="0"/>
              </a:rPr>
              <a:t>Get a consistent failure</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37" name="Shape 20">
            <a:extLst>
              <a:ext uri="{FF2B5EF4-FFF2-40B4-BE49-F238E27FC236}">
                <a16:creationId xmlns:a16="http://schemas.microsoft.com/office/drawing/2014/main" id="{0F3BF181-83C3-DDE5-200A-D5CD232A5BA3}"/>
              </a:ext>
            </a:extLst>
          </p:cNvPr>
          <p:cNvSpPr/>
          <p:nvPr/>
        </p:nvSpPr>
        <p:spPr>
          <a:xfrm>
            <a:off x="3380267" y="2660775"/>
            <a:ext cx="2304288" cy="0"/>
          </a:xfrm>
          <a:prstGeom prst="line">
            <a:avLst/>
          </a:prstGeom>
          <a:noFill/>
          <a:ln w="6350">
            <a:solidFill>
              <a:schemeClr val="tx2"/>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8" name="Text 21">
            <a:extLst>
              <a:ext uri="{FF2B5EF4-FFF2-40B4-BE49-F238E27FC236}">
                <a16:creationId xmlns:a16="http://schemas.microsoft.com/office/drawing/2014/main" id="{C9ED25CC-23B3-DA1C-FDE4-5ABE708147EE}"/>
              </a:ext>
            </a:extLst>
          </p:cNvPr>
          <p:cNvSpPr/>
          <p:nvPr/>
        </p:nvSpPr>
        <p:spPr>
          <a:xfrm>
            <a:off x="3444577" y="2820414"/>
            <a:ext cx="2304288" cy="1082921"/>
          </a:xfrm>
          <a:prstGeom prst="rect">
            <a:avLst/>
          </a:prstGeom>
          <a:noFill/>
          <a:ln/>
        </p:spPr>
        <p:txBody>
          <a:bodyPr wrap="square" lIns="0" tIns="0" rIns="0" bIns="0" rtlCol="0" anchor="t"/>
          <a:lstStyle/>
          <a:p>
            <a:r>
              <a:rPr lang="en-US" sz="1000">
                <a:solidFill>
                  <a:srgbClr val="555555"/>
                </a:solidFill>
                <a:latin typeface="Open Sans" pitchFamily="2" charset="0"/>
                <a:ea typeface="Open Sans" pitchFamily="2" charset="0"/>
                <a:cs typeface="Open Sans" pitchFamily="2" charset="0"/>
              </a:rPr>
              <a:t>The failure must be reproducible. If it only happens sometimes, you do not have a bug yet — you have a symptom. Keep stripping inputs until the failure appears every single time.</a:t>
            </a:r>
            <a:endParaRPr lang="en-US" sz="1000">
              <a:latin typeface="Open Sans" pitchFamily="2" charset="0"/>
              <a:ea typeface="Open Sans" pitchFamily="2" charset="0"/>
              <a:cs typeface="Open Sans" pitchFamily="2" charset="0"/>
            </a:endParaRPr>
          </a:p>
        </p:txBody>
      </p:sp>
      <p:sp>
        <p:nvSpPr>
          <p:cNvPr id="40" name="Shape 4">
            <a:extLst>
              <a:ext uri="{FF2B5EF4-FFF2-40B4-BE49-F238E27FC236}">
                <a16:creationId xmlns:a16="http://schemas.microsoft.com/office/drawing/2014/main" id="{827817FA-33A6-C686-6402-713170F3065A}"/>
              </a:ext>
            </a:extLst>
          </p:cNvPr>
          <p:cNvSpPr/>
          <p:nvPr/>
        </p:nvSpPr>
        <p:spPr>
          <a:xfrm>
            <a:off x="6016154" y="2066415"/>
            <a:ext cx="2714096" cy="1836920"/>
          </a:xfrm>
          <a:prstGeom prst="roundRect">
            <a:avLst>
              <a:gd name="adj" fmla="val 4068"/>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2" name="Shape 27">
            <a:extLst>
              <a:ext uri="{FF2B5EF4-FFF2-40B4-BE49-F238E27FC236}">
                <a16:creationId xmlns:a16="http://schemas.microsoft.com/office/drawing/2014/main" id="{BFA9642B-F0ED-FDC3-C115-439FB52DACF0}"/>
              </a:ext>
            </a:extLst>
          </p:cNvPr>
          <p:cNvSpPr/>
          <p:nvPr/>
        </p:nvSpPr>
        <p:spPr>
          <a:xfrm>
            <a:off x="6178331" y="2203575"/>
            <a:ext cx="402336" cy="402336"/>
          </a:xfrm>
          <a:prstGeom prst="ellipse">
            <a:avLst/>
          </a:prstGeom>
          <a:solidFill>
            <a:schemeClr val="accent2"/>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3" name="Text 28">
            <a:extLst>
              <a:ext uri="{FF2B5EF4-FFF2-40B4-BE49-F238E27FC236}">
                <a16:creationId xmlns:a16="http://schemas.microsoft.com/office/drawing/2014/main" id="{7A2135DB-A4BB-E02D-11B4-EAD6854609B9}"/>
              </a:ext>
            </a:extLst>
          </p:cNvPr>
          <p:cNvSpPr/>
          <p:nvPr/>
        </p:nvSpPr>
        <p:spPr>
          <a:xfrm>
            <a:off x="6178331" y="2203575"/>
            <a:ext cx="402336" cy="402336"/>
          </a:xfrm>
          <a:prstGeom prst="rect">
            <a:avLst/>
          </a:prstGeom>
          <a:noFill/>
          <a:ln/>
        </p:spPr>
        <p:txBody>
          <a:bodyPr wrap="square" lIns="0" tIns="0" rIns="0" bIns="0" rtlCol="0" anchor="ctr"/>
          <a:lstStyle/>
          <a:p>
            <a:pPr marL="0" indent="0" algn="ctr">
              <a:buNone/>
            </a:pP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03</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29">
            <a:extLst>
              <a:ext uri="{FF2B5EF4-FFF2-40B4-BE49-F238E27FC236}">
                <a16:creationId xmlns:a16="http://schemas.microsoft.com/office/drawing/2014/main" id="{5EB2BBB0-EBDD-70DB-ED02-4380EFB746F5}"/>
              </a:ext>
            </a:extLst>
          </p:cNvPr>
          <p:cNvSpPr/>
          <p:nvPr/>
        </p:nvSpPr>
        <p:spPr>
          <a:xfrm>
            <a:off x="6672106" y="2082423"/>
            <a:ext cx="1977519" cy="658368"/>
          </a:xfrm>
          <a:prstGeom prst="rect">
            <a:avLst/>
          </a:prstGeom>
          <a:noFill/>
          <a:ln/>
        </p:spPr>
        <p:txBody>
          <a:bodyPr wrap="square" lIns="0" tIns="0" rIns="0" bIns="0" rtlCol="0" anchor="ctr"/>
          <a:lstStyle/>
          <a:p>
            <a:r>
              <a:rPr lang="en-US" sz="1200" b="1">
                <a:solidFill>
                  <a:srgbClr val="2D2D2D"/>
                </a:solidFill>
                <a:latin typeface="Open Sans" panose="020B0606030504020204" pitchFamily="34" charset="0"/>
                <a:ea typeface="Open Sans" panose="020B0606030504020204" pitchFamily="34" charset="0"/>
                <a:cs typeface="Open Sans" panose="020B0606030504020204" pitchFamily="34" charset="0"/>
              </a:rPr>
              <a:t>Name what you expected vs what happened</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45" name="Shape 30">
            <a:extLst>
              <a:ext uri="{FF2B5EF4-FFF2-40B4-BE49-F238E27FC236}">
                <a16:creationId xmlns:a16="http://schemas.microsoft.com/office/drawing/2014/main" id="{5EE2004A-1828-40EE-A345-3ADB1FEE54A1}"/>
              </a:ext>
            </a:extLst>
          </p:cNvPr>
          <p:cNvSpPr/>
          <p:nvPr/>
        </p:nvSpPr>
        <p:spPr>
          <a:xfrm>
            <a:off x="6178331" y="2660775"/>
            <a:ext cx="2304288" cy="0"/>
          </a:xfrm>
          <a:prstGeom prst="line">
            <a:avLst/>
          </a:prstGeom>
          <a:noFill/>
          <a:ln w="6350">
            <a:solidFill>
              <a:schemeClr val="tx2"/>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6" name="Text 31">
            <a:extLst>
              <a:ext uri="{FF2B5EF4-FFF2-40B4-BE49-F238E27FC236}">
                <a16:creationId xmlns:a16="http://schemas.microsoft.com/office/drawing/2014/main" id="{AC0A5B14-A402-0F4D-74AA-F00BA8C5CEAC}"/>
              </a:ext>
            </a:extLst>
          </p:cNvPr>
          <p:cNvSpPr/>
          <p:nvPr/>
        </p:nvSpPr>
        <p:spPr>
          <a:xfrm>
            <a:off x="6221058" y="2820415"/>
            <a:ext cx="2304288" cy="621792"/>
          </a:xfrm>
          <a:prstGeom prst="rect">
            <a:avLst/>
          </a:prstGeom>
          <a:noFill/>
          <a:ln/>
        </p:spPr>
        <p:txBody>
          <a:bodyPr wrap="square" lIns="0" tIns="0" rIns="0" bIns="0" rtlCol="0" anchor="t"/>
          <a:lstStyle/>
          <a:p>
            <a:r>
              <a:rPr lang="en-US" sz="1000">
                <a:solidFill>
                  <a:srgbClr val="555555"/>
                </a:solidFill>
                <a:latin typeface="Open Sans" pitchFamily="2" charset="0"/>
                <a:ea typeface="Open Sans" pitchFamily="2" charset="0"/>
                <a:cs typeface="Open Sans" pitchFamily="2" charset="0"/>
              </a:rPr>
              <a:t>Before you open Claude Code, write one sentence. 'I expected X. I got Y.' This is the context you will add in Step 2. Without it, you will paste an error message with no explanation — and the fix will miss.</a:t>
            </a:r>
            <a:endParaRPr lang="en-US" sz="100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453952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4">
            <a:extLst>
              <a:ext uri="{FF2B5EF4-FFF2-40B4-BE49-F238E27FC236}">
                <a16:creationId xmlns:a16="http://schemas.microsoft.com/office/drawing/2014/main" id="{4D88D0D4-EF6F-5F0E-6D07-48A7DF0B952D}"/>
              </a:ext>
            </a:extLst>
          </p:cNvPr>
          <p:cNvSpPr/>
          <p:nvPr/>
        </p:nvSpPr>
        <p:spPr>
          <a:xfrm>
            <a:off x="367200" y="190800"/>
            <a:ext cx="8321040" cy="438912"/>
          </a:xfrm>
          <a:prstGeom prst="rect">
            <a:avLst/>
          </a:prstGeom>
          <a:noFill/>
          <a:ln/>
        </p:spPr>
        <p:txBody>
          <a:bodyPr wrap="square" lIns="0" tIns="0" rIns="0" bIns="0" rtlCol="0" anchor="ctr"/>
          <a:lstStyle/>
          <a:p>
            <a:pPr marL="0" indent="0" algn="l">
              <a:buNone/>
            </a:pPr>
            <a:r>
              <a:rPr lang="en-US" sz="2800" b="1">
                <a:solidFill>
                  <a:srgbClr val="2D2D2D"/>
                </a:solidFill>
                <a:latin typeface="Open Sans" panose="020B0606030504020204" pitchFamily="34" charset="0"/>
                <a:ea typeface="Open Sans" panose="020B0606030504020204" pitchFamily="34" charset="0"/>
                <a:cs typeface="Open Sans" panose="020B0606030504020204" pitchFamily="34" charset="0"/>
              </a:rPr>
              <a:t>Step 2: Full Context</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5">
            <a:extLst>
              <a:ext uri="{FF2B5EF4-FFF2-40B4-BE49-F238E27FC236}">
                <a16:creationId xmlns:a16="http://schemas.microsoft.com/office/drawing/2014/main" id="{FCBCAF89-18F2-AB49-9645-9EB2B9492E24}"/>
              </a:ext>
            </a:extLst>
          </p:cNvPr>
          <p:cNvSpPr/>
          <p:nvPr/>
        </p:nvSpPr>
        <p:spPr>
          <a:xfrm>
            <a:off x="367200" y="770400"/>
            <a:ext cx="8321040" cy="237744"/>
          </a:xfrm>
          <a:prstGeom prst="rect">
            <a:avLst/>
          </a:prstGeom>
          <a:noFill/>
          <a:ln/>
        </p:spPr>
        <p:txBody>
          <a:bodyPr wrap="square" lIns="0" tIns="0" rIns="0" bIns="0" rtlCol="0" anchor="ctr"/>
          <a:lstStyle/>
          <a:p>
            <a:pPr marL="0" indent="0" algn="l">
              <a:buNone/>
            </a:pPr>
            <a:r>
              <a:rPr lang="en-US" sz="1200">
                <a:solidFill>
                  <a:schemeClr val="tx1">
                    <a:lumMod val="75000"/>
                    <a:lumOff val="25000"/>
                  </a:schemeClr>
                </a:solidFill>
                <a:latin typeface="Open Sans" pitchFamily="2" charset="0"/>
                <a:ea typeface="Open Sans" pitchFamily="2" charset="0"/>
                <a:cs typeface="Open Sans" pitchFamily="2" charset="0"/>
              </a:rPr>
              <a:t>Never just paste the error without explaining what you were trying to do.</a:t>
            </a:r>
          </a:p>
        </p:txBody>
      </p:sp>
      <p:sp>
        <p:nvSpPr>
          <p:cNvPr id="5" name="Shape 6">
            <a:extLst>
              <a:ext uri="{FF2B5EF4-FFF2-40B4-BE49-F238E27FC236}">
                <a16:creationId xmlns:a16="http://schemas.microsoft.com/office/drawing/2014/main" id="{DABED5C8-BFE7-A48F-0826-FBCCDFBF6E5D}"/>
              </a:ext>
            </a:extLst>
          </p:cNvPr>
          <p:cNvSpPr/>
          <p:nvPr/>
        </p:nvSpPr>
        <p:spPr>
          <a:xfrm>
            <a:off x="411480" y="1148832"/>
            <a:ext cx="8321040" cy="475488"/>
          </a:xfrm>
          <a:prstGeom prst="roundRect">
            <a:avLst>
              <a:gd name="adj" fmla="val 15385"/>
            </a:avLst>
          </a:prstGeom>
          <a:solidFill>
            <a:srgbClr val="FEF2F2"/>
          </a:solidFill>
          <a:ln w="1016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 name="Text 7">
            <a:extLst>
              <a:ext uri="{FF2B5EF4-FFF2-40B4-BE49-F238E27FC236}">
                <a16:creationId xmlns:a16="http://schemas.microsoft.com/office/drawing/2014/main" id="{D6564BE0-1933-2AB7-0993-5CF71D1C7306}"/>
              </a:ext>
            </a:extLst>
          </p:cNvPr>
          <p:cNvSpPr/>
          <p:nvPr/>
        </p:nvSpPr>
        <p:spPr>
          <a:xfrm>
            <a:off x="594360" y="1148832"/>
            <a:ext cx="7955280" cy="475488"/>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Claude Code cannot see your screen. The error message alone tells it where something broke. It does not tell it what you were building, what you expected, or what the code is supposed to do. Context is what turns a generic fix into a targeted one.</a:t>
            </a:r>
            <a:endParaRPr lang="en-US" sz="1050">
              <a:latin typeface="Open Sans" pitchFamily="2" charset="0"/>
              <a:ea typeface="Open Sans" pitchFamily="2" charset="0"/>
              <a:cs typeface="Open Sans" pitchFamily="2" charset="0"/>
            </a:endParaRPr>
          </a:p>
        </p:txBody>
      </p:sp>
      <p:sp>
        <p:nvSpPr>
          <p:cNvPr id="7" name="Shape 8">
            <a:extLst>
              <a:ext uri="{FF2B5EF4-FFF2-40B4-BE49-F238E27FC236}">
                <a16:creationId xmlns:a16="http://schemas.microsoft.com/office/drawing/2014/main" id="{508ABFCF-358C-2999-CBD8-91BCB477E6AB}"/>
              </a:ext>
            </a:extLst>
          </p:cNvPr>
          <p:cNvSpPr/>
          <p:nvPr/>
        </p:nvSpPr>
        <p:spPr>
          <a:xfrm>
            <a:off x="411480" y="1847088"/>
            <a:ext cx="3977640" cy="2834640"/>
          </a:xfrm>
          <a:prstGeom prst="roundRect">
            <a:avLst>
              <a:gd name="adj" fmla="val 3226"/>
            </a:avLst>
          </a:prstGeom>
          <a:solidFill>
            <a:srgbClr val="FEF2F2"/>
          </a:solidFill>
          <a:ln w="12700">
            <a:solidFill>
              <a:srgbClr val="D94F4F"/>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8" name="Text 9">
            <a:extLst>
              <a:ext uri="{FF2B5EF4-FFF2-40B4-BE49-F238E27FC236}">
                <a16:creationId xmlns:a16="http://schemas.microsoft.com/office/drawing/2014/main" id="{1F49F2EF-F760-784A-F7DD-51141F960AF3}"/>
              </a:ext>
            </a:extLst>
          </p:cNvPr>
          <p:cNvSpPr/>
          <p:nvPr/>
        </p:nvSpPr>
        <p:spPr>
          <a:xfrm>
            <a:off x="1270423" y="1975104"/>
            <a:ext cx="2259754" cy="292608"/>
          </a:xfrm>
          <a:prstGeom prst="rect">
            <a:avLst/>
          </a:prstGeom>
          <a:noFill/>
          <a:ln/>
        </p:spPr>
        <p:txBody>
          <a:bodyPr wrap="square" lIns="0" tIns="0" rIns="0" bIns="0" rtlCol="0" anchor="ctr"/>
          <a:lstStyle/>
          <a:p>
            <a:pPr marL="0" indent="0" algn="l">
              <a:buNone/>
            </a:pPr>
            <a:r>
              <a:rPr lang="en-US" sz="1300" b="1">
                <a:solidFill>
                  <a:schemeClr val="accent3"/>
                </a:solidFill>
                <a:latin typeface="Open Sans" panose="020B0606030504020204" pitchFamily="34" charset="0"/>
                <a:ea typeface="Open Sans" panose="020B0606030504020204" pitchFamily="34" charset="0"/>
                <a:cs typeface="Open Sans" panose="020B0606030504020204" pitchFamily="34" charset="0"/>
              </a:rPr>
              <a:t>✗  What most people paste</a:t>
            </a:r>
          </a:p>
        </p:txBody>
      </p:sp>
      <p:sp>
        <p:nvSpPr>
          <p:cNvPr id="9" name="Shape 10">
            <a:extLst>
              <a:ext uri="{FF2B5EF4-FFF2-40B4-BE49-F238E27FC236}">
                <a16:creationId xmlns:a16="http://schemas.microsoft.com/office/drawing/2014/main" id="{C3C01085-E484-7D3E-9462-256730EAEDF7}"/>
              </a:ext>
            </a:extLst>
          </p:cNvPr>
          <p:cNvSpPr/>
          <p:nvPr/>
        </p:nvSpPr>
        <p:spPr>
          <a:xfrm>
            <a:off x="594360" y="2340864"/>
            <a:ext cx="3611880" cy="411480"/>
          </a:xfrm>
          <a:prstGeom prst="roundRect">
            <a:avLst>
              <a:gd name="adj" fmla="val 17778"/>
            </a:avLst>
          </a:prstGeom>
          <a:solidFill>
            <a:schemeClr val="tx1"/>
          </a:solidFill>
          <a:ln w="12700">
            <a:solidFill>
              <a:srgbClr val="1A1A1A"/>
            </a:solidFill>
            <a:prstDash val="solid"/>
          </a:ln>
        </p:spPr>
        <p:txBody>
          <a:bodyPr/>
          <a:lstStyle/>
          <a:p>
            <a:endParaRPr lang="en-US">
              <a:latin typeface="Open Sans" pitchFamily="2" charset="0"/>
              <a:ea typeface="Open Sans" pitchFamily="2" charset="0"/>
              <a:cs typeface="Open Sans" pitchFamily="2" charset="0"/>
            </a:endParaRPr>
          </a:p>
        </p:txBody>
      </p:sp>
      <p:sp>
        <p:nvSpPr>
          <p:cNvPr id="10" name="Text 11">
            <a:extLst>
              <a:ext uri="{FF2B5EF4-FFF2-40B4-BE49-F238E27FC236}">
                <a16:creationId xmlns:a16="http://schemas.microsoft.com/office/drawing/2014/main" id="{4EC0C007-6B96-8643-DCBB-EDF2EE5B96C5}"/>
              </a:ext>
            </a:extLst>
          </p:cNvPr>
          <p:cNvSpPr/>
          <p:nvPr/>
        </p:nvSpPr>
        <p:spPr>
          <a:xfrm>
            <a:off x="758952" y="2450592"/>
            <a:ext cx="3282696" cy="192024"/>
          </a:xfrm>
          <a:prstGeom prst="rect">
            <a:avLst/>
          </a:prstGeom>
          <a:noFill/>
          <a:ln/>
        </p:spPr>
        <p:txBody>
          <a:bodyPr wrap="square" lIns="0" tIns="0" rIns="0" bIns="0" rtlCol="0" anchor="t"/>
          <a:lstStyle/>
          <a:p>
            <a:pPr marL="0" indent="0" algn="ctr">
              <a:buNone/>
            </a:pPr>
            <a:r>
              <a:rPr lang="en-US" sz="1000">
                <a:solidFill>
                  <a:srgbClr val="00B050"/>
                </a:solidFill>
                <a:latin typeface="Open Sans" pitchFamily="2" charset="0"/>
                <a:ea typeface="Open Sans" pitchFamily="2" charset="0"/>
                <a:cs typeface="Open Sans" pitchFamily="2" charset="0"/>
              </a:rPr>
              <a:t>$ claude "fix the error"</a:t>
            </a:r>
          </a:p>
        </p:txBody>
      </p:sp>
      <p:sp>
        <p:nvSpPr>
          <p:cNvPr id="11" name="Text 12">
            <a:extLst>
              <a:ext uri="{FF2B5EF4-FFF2-40B4-BE49-F238E27FC236}">
                <a16:creationId xmlns:a16="http://schemas.microsoft.com/office/drawing/2014/main" id="{94740049-11CA-0199-C9F7-7DEA215B828A}"/>
              </a:ext>
            </a:extLst>
          </p:cNvPr>
          <p:cNvSpPr/>
          <p:nvPr/>
        </p:nvSpPr>
        <p:spPr>
          <a:xfrm>
            <a:off x="594360" y="2889504"/>
            <a:ext cx="3611880" cy="384048"/>
          </a:xfrm>
          <a:prstGeom prst="rect">
            <a:avLst/>
          </a:prstGeom>
          <a:noFill/>
          <a:ln/>
        </p:spPr>
        <p:txBody>
          <a:bodyPr wrap="square" lIns="0" tIns="0" rIns="0" bIns="0" rtlCol="0" anchor="ctr"/>
          <a:lstStyle/>
          <a:p>
            <a:pPr marL="0" indent="0" algn="l">
              <a:buNone/>
            </a:pPr>
            <a:r>
              <a:rPr lang="en-US" sz="1050">
                <a:solidFill>
                  <a:schemeClr val="accent3"/>
                </a:solidFill>
                <a:latin typeface="Open Sans" pitchFamily="2" charset="0"/>
                <a:ea typeface="Open Sans" pitchFamily="2" charset="0"/>
                <a:cs typeface="Open Sans" pitchFamily="2" charset="0"/>
              </a:rPr>
              <a:t>✗  Only the error message — no context</a:t>
            </a:r>
          </a:p>
        </p:txBody>
      </p:sp>
      <p:sp>
        <p:nvSpPr>
          <p:cNvPr id="12" name="Text 13">
            <a:extLst>
              <a:ext uri="{FF2B5EF4-FFF2-40B4-BE49-F238E27FC236}">
                <a16:creationId xmlns:a16="http://schemas.microsoft.com/office/drawing/2014/main" id="{EA89EC2A-CAD3-2EDA-B83F-353A97748EAB}"/>
              </a:ext>
            </a:extLst>
          </p:cNvPr>
          <p:cNvSpPr/>
          <p:nvPr/>
        </p:nvSpPr>
        <p:spPr>
          <a:xfrm>
            <a:off x="594360" y="3328416"/>
            <a:ext cx="3611880" cy="384048"/>
          </a:xfrm>
          <a:prstGeom prst="rect">
            <a:avLst/>
          </a:prstGeom>
          <a:noFill/>
          <a:ln/>
        </p:spPr>
        <p:txBody>
          <a:bodyPr wrap="square" lIns="0" tIns="0" rIns="0" bIns="0" rtlCol="0" anchor="ctr"/>
          <a:lstStyle/>
          <a:p>
            <a:pPr marL="0" indent="0" algn="l">
              <a:buNone/>
            </a:pPr>
            <a:r>
              <a:rPr lang="en-US" sz="1050">
                <a:solidFill>
                  <a:schemeClr val="accent3"/>
                </a:solidFill>
                <a:latin typeface="Open Sans" pitchFamily="2" charset="0"/>
                <a:ea typeface="Open Sans" pitchFamily="2" charset="0"/>
                <a:cs typeface="Open Sans" pitchFamily="2" charset="0"/>
              </a:rPr>
              <a:t>✗  No explanation of what they were trying to do</a:t>
            </a:r>
          </a:p>
        </p:txBody>
      </p:sp>
      <p:sp>
        <p:nvSpPr>
          <p:cNvPr id="13" name="Text 14">
            <a:extLst>
              <a:ext uri="{FF2B5EF4-FFF2-40B4-BE49-F238E27FC236}">
                <a16:creationId xmlns:a16="http://schemas.microsoft.com/office/drawing/2014/main" id="{1745399D-0C64-77C6-48E4-2C68AFF1D6DA}"/>
              </a:ext>
            </a:extLst>
          </p:cNvPr>
          <p:cNvSpPr/>
          <p:nvPr/>
        </p:nvSpPr>
        <p:spPr>
          <a:xfrm>
            <a:off x="594360" y="3767328"/>
            <a:ext cx="3611880" cy="384048"/>
          </a:xfrm>
          <a:prstGeom prst="rect">
            <a:avLst/>
          </a:prstGeom>
          <a:noFill/>
          <a:ln/>
        </p:spPr>
        <p:txBody>
          <a:bodyPr wrap="square" lIns="0" tIns="0" rIns="0" bIns="0" rtlCol="0" anchor="ctr"/>
          <a:lstStyle/>
          <a:p>
            <a:pPr marL="0" indent="0" algn="l">
              <a:buNone/>
            </a:pPr>
            <a:r>
              <a:rPr lang="en-US" sz="1050">
                <a:solidFill>
                  <a:schemeClr val="accent3"/>
                </a:solidFill>
                <a:latin typeface="Open Sans" pitchFamily="2" charset="0"/>
                <a:ea typeface="Open Sans" pitchFamily="2" charset="0"/>
                <a:cs typeface="Open Sans" pitchFamily="2" charset="0"/>
              </a:rPr>
              <a:t>✗  Trimmed stack trace — Claude cannot trace the call chain</a:t>
            </a:r>
          </a:p>
        </p:txBody>
      </p:sp>
      <p:sp>
        <p:nvSpPr>
          <p:cNvPr id="14" name="Text 15">
            <a:extLst>
              <a:ext uri="{FF2B5EF4-FFF2-40B4-BE49-F238E27FC236}">
                <a16:creationId xmlns:a16="http://schemas.microsoft.com/office/drawing/2014/main" id="{370438A4-6B7C-ECA9-C109-685B4BEF71CB}"/>
              </a:ext>
            </a:extLst>
          </p:cNvPr>
          <p:cNvSpPr/>
          <p:nvPr/>
        </p:nvSpPr>
        <p:spPr>
          <a:xfrm>
            <a:off x="594360" y="4206240"/>
            <a:ext cx="3611880" cy="384048"/>
          </a:xfrm>
          <a:prstGeom prst="rect">
            <a:avLst/>
          </a:prstGeom>
          <a:noFill/>
          <a:ln/>
        </p:spPr>
        <p:txBody>
          <a:bodyPr wrap="square" lIns="0" tIns="0" rIns="0" bIns="0" rtlCol="0" anchor="ctr"/>
          <a:lstStyle/>
          <a:p>
            <a:pPr marL="0" indent="0" algn="l">
              <a:buNone/>
            </a:pPr>
            <a:r>
              <a:rPr lang="en-US" sz="1050">
                <a:solidFill>
                  <a:schemeClr val="accent3"/>
                </a:solidFill>
                <a:latin typeface="Open Sans" pitchFamily="2" charset="0"/>
                <a:ea typeface="Open Sans" pitchFamily="2" charset="0"/>
                <a:cs typeface="Open Sans" pitchFamily="2" charset="0"/>
              </a:rPr>
              <a:t>✗  Starting a new conversation — all session context lost</a:t>
            </a:r>
          </a:p>
        </p:txBody>
      </p:sp>
      <p:sp>
        <p:nvSpPr>
          <p:cNvPr id="15" name="Text 16">
            <a:extLst>
              <a:ext uri="{FF2B5EF4-FFF2-40B4-BE49-F238E27FC236}">
                <a16:creationId xmlns:a16="http://schemas.microsoft.com/office/drawing/2014/main" id="{99A122AC-E66A-A31A-E9FF-DCCD473949C6}"/>
              </a:ext>
            </a:extLst>
          </p:cNvPr>
          <p:cNvSpPr/>
          <p:nvPr/>
        </p:nvSpPr>
        <p:spPr>
          <a:xfrm>
            <a:off x="4462272" y="3072384"/>
            <a:ext cx="274320" cy="365760"/>
          </a:xfrm>
          <a:prstGeom prst="rect">
            <a:avLst/>
          </a:prstGeom>
          <a:noFill/>
          <a:ln/>
        </p:spPr>
        <p:txBody>
          <a:bodyPr wrap="square" lIns="0" tIns="0" rIns="0" bIns="0" rtlCol="0" anchor="ctr"/>
          <a:lstStyle/>
          <a:p>
            <a:pPr marL="0" indent="0" algn="ctr">
              <a:buNone/>
            </a:pPr>
            <a:r>
              <a:rPr lang="en-US" sz="1800">
                <a:solidFill>
                  <a:srgbClr val="555555"/>
                </a:solidFill>
                <a:latin typeface="Open Sans" pitchFamily="2" charset="0"/>
                <a:ea typeface="Open Sans" pitchFamily="2" charset="0"/>
                <a:cs typeface="Open Sans" pitchFamily="2" charset="0"/>
              </a:rPr>
              <a:t>→</a:t>
            </a:r>
            <a:endParaRPr lang="en-US" sz="1800">
              <a:latin typeface="Open Sans" pitchFamily="2" charset="0"/>
              <a:ea typeface="Open Sans" pitchFamily="2" charset="0"/>
              <a:cs typeface="Open Sans" pitchFamily="2" charset="0"/>
            </a:endParaRPr>
          </a:p>
        </p:txBody>
      </p:sp>
      <p:sp>
        <p:nvSpPr>
          <p:cNvPr id="16" name="Shape 17">
            <a:extLst>
              <a:ext uri="{FF2B5EF4-FFF2-40B4-BE49-F238E27FC236}">
                <a16:creationId xmlns:a16="http://schemas.microsoft.com/office/drawing/2014/main" id="{16F12C0A-5FFF-1E3F-6008-F2CA2B83EDC3}"/>
              </a:ext>
            </a:extLst>
          </p:cNvPr>
          <p:cNvSpPr/>
          <p:nvPr/>
        </p:nvSpPr>
        <p:spPr>
          <a:xfrm>
            <a:off x="4800600" y="1847088"/>
            <a:ext cx="3931920" cy="2834640"/>
          </a:xfrm>
          <a:prstGeom prst="roundRect">
            <a:avLst>
              <a:gd name="adj" fmla="val 3226"/>
            </a:avLst>
          </a:prstGeom>
          <a:solidFill>
            <a:srgbClr val="EAF4EC"/>
          </a:solidFill>
          <a:ln w="12700">
            <a:solidFill>
              <a:srgbClr val="3A8C4E"/>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Text 18">
            <a:extLst>
              <a:ext uri="{FF2B5EF4-FFF2-40B4-BE49-F238E27FC236}">
                <a16:creationId xmlns:a16="http://schemas.microsoft.com/office/drawing/2014/main" id="{BE2E3082-A606-1AB8-D6C2-8CC780AD1AB3}"/>
              </a:ext>
            </a:extLst>
          </p:cNvPr>
          <p:cNvSpPr/>
          <p:nvPr/>
        </p:nvSpPr>
        <p:spPr>
          <a:xfrm>
            <a:off x="5718921" y="1975104"/>
            <a:ext cx="2095279" cy="292608"/>
          </a:xfrm>
          <a:prstGeom prst="rect">
            <a:avLst/>
          </a:prstGeom>
          <a:noFill/>
          <a:ln/>
        </p:spPr>
        <p:txBody>
          <a:bodyPr wrap="square" lIns="0" tIns="0" rIns="0" bIns="0" rtlCol="0" anchor="ctr"/>
          <a:lstStyle/>
          <a:p>
            <a:pPr marL="0" indent="0" algn="l">
              <a:buNone/>
            </a:pPr>
            <a:r>
              <a:rPr lang="en-US" sz="1300" b="1">
                <a:solidFill>
                  <a:srgbClr val="00B050"/>
                </a:solidFill>
                <a:latin typeface="Open Sans" panose="020B0606030504020204" pitchFamily="34" charset="0"/>
                <a:ea typeface="Open Sans" panose="020B0606030504020204" pitchFamily="34" charset="0"/>
                <a:cs typeface="Open Sans" panose="020B0606030504020204" pitchFamily="34" charset="0"/>
              </a:rPr>
              <a:t>✓  The format that works</a:t>
            </a:r>
          </a:p>
        </p:txBody>
      </p:sp>
      <p:sp>
        <p:nvSpPr>
          <p:cNvPr id="18" name="Shape 19">
            <a:extLst>
              <a:ext uri="{FF2B5EF4-FFF2-40B4-BE49-F238E27FC236}">
                <a16:creationId xmlns:a16="http://schemas.microsoft.com/office/drawing/2014/main" id="{45072D29-D41E-E32E-3C62-4046F1A78DCE}"/>
              </a:ext>
            </a:extLst>
          </p:cNvPr>
          <p:cNvSpPr/>
          <p:nvPr/>
        </p:nvSpPr>
        <p:spPr>
          <a:xfrm>
            <a:off x="4983480" y="2340864"/>
            <a:ext cx="3566160" cy="411480"/>
          </a:xfrm>
          <a:prstGeom prst="roundRect">
            <a:avLst>
              <a:gd name="adj" fmla="val 17778"/>
            </a:avLst>
          </a:prstGeom>
          <a:solidFill>
            <a:schemeClr val="tx1"/>
          </a:solidFill>
          <a:ln w="12700">
            <a:solidFill>
              <a:srgbClr val="1A1A1A"/>
            </a:solidFill>
            <a:prstDash val="solid"/>
          </a:ln>
        </p:spPr>
        <p:txBody>
          <a:bodyPr/>
          <a:lstStyle/>
          <a:p>
            <a:endParaRPr lang="en-US">
              <a:latin typeface="Open Sans" pitchFamily="2" charset="0"/>
              <a:ea typeface="Open Sans" pitchFamily="2" charset="0"/>
              <a:cs typeface="Open Sans" pitchFamily="2" charset="0"/>
            </a:endParaRPr>
          </a:p>
        </p:txBody>
      </p:sp>
      <p:sp>
        <p:nvSpPr>
          <p:cNvPr id="19" name="Text 20">
            <a:extLst>
              <a:ext uri="{FF2B5EF4-FFF2-40B4-BE49-F238E27FC236}">
                <a16:creationId xmlns:a16="http://schemas.microsoft.com/office/drawing/2014/main" id="{076157A4-1073-BC04-1099-851D3E5B478A}"/>
              </a:ext>
            </a:extLst>
          </p:cNvPr>
          <p:cNvSpPr/>
          <p:nvPr/>
        </p:nvSpPr>
        <p:spPr>
          <a:xfrm>
            <a:off x="5148072" y="2450592"/>
            <a:ext cx="3236976" cy="192024"/>
          </a:xfrm>
          <a:prstGeom prst="rect">
            <a:avLst/>
          </a:prstGeom>
          <a:noFill/>
          <a:ln/>
        </p:spPr>
        <p:txBody>
          <a:bodyPr wrap="square" lIns="0" tIns="0" rIns="0" bIns="0" rtlCol="0" anchor="t"/>
          <a:lstStyle/>
          <a:p>
            <a:pPr marL="0" indent="0" algn="ctr">
              <a:buNone/>
            </a:pPr>
            <a:r>
              <a:rPr lang="en-US" sz="1000">
                <a:solidFill>
                  <a:srgbClr val="00B050"/>
                </a:solidFill>
                <a:latin typeface="Open Sans" pitchFamily="2" charset="0"/>
                <a:ea typeface="Open Sans" pitchFamily="2" charset="0"/>
                <a:cs typeface="Open Sans" pitchFamily="2" charset="0"/>
              </a:rPr>
              <a:t>$ claude "[full error] I was trying to [context]"</a:t>
            </a:r>
          </a:p>
        </p:txBody>
      </p:sp>
      <p:sp>
        <p:nvSpPr>
          <p:cNvPr id="20" name="Text 21">
            <a:extLst>
              <a:ext uri="{FF2B5EF4-FFF2-40B4-BE49-F238E27FC236}">
                <a16:creationId xmlns:a16="http://schemas.microsoft.com/office/drawing/2014/main" id="{59D7163C-B036-CB26-4E83-71CDE74A455F}"/>
              </a:ext>
            </a:extLst>
          </p:cNvPr>
          <p:cNvSpPr/>
          <p:nvPr/>
        </p:nvSpPr>
        <p:spPr>
          <a:xfrm>
            <a:off x="4983480" y="2880360"/>
            <a:ext cx="3566160" cy="384048"/>
          </a:xfrm>
          <a:prstGeom prst="rect">
            <a:avLst/>
          </a:prstGeom>
          <a:noFill/>
          <a:ln/>
        </p:spPr>
        <p:txBody>
          <a:bodyPr wrap="square" lIns="0" tIns="0" rIns="0" bIns="0" rtlCol="0" anchor="ctr"/>
          <a:lstStyle/>
          <a:p>
            <a:pPr marL="0" indent="0" algn="l">
              <a:buNone/>
            </a:pPr>
            <a:r>
              <a:rPr lang="en-US" sz="1050" b="1">
                <a:solidFill>
                  <a:srgbClr val="00B050"/>
                </a:solidFill>
                <a:latin typeface="Open Sans Extrabold" pitchFamily="2" charset="0"/>
                <a:ea typeface="Open Sans Extrabold" pitchFamily="2" charset="0"/>
                <a:cs typeface="Open Sans Extrabold" pitchFamily="2" charset="0"/>
              </a:rPr>
              <a:t>✓  </a:t>
            </a:r>
            <a:r>
              <a:rPr lang="en-US" sz="1050" b="1">
                <a:solidFill>
                  <a:srgbClr val="00B050"/>
                </a:solidFill>
                <a:latin typeface="Open Sans" panose="020B0606030504020204" pitchFamily="34" charset="0"/>
                <a:ea typeface="Open Sans" panose="020B0606030504020204" pitchFamily="34" charset="0"/>
                <a:cs typeface="Open Sans" panose="020B0606030504020204" pitchFamily="34" charset="0"/>
              </a:rPr>
              <a:t>Paste the full error </a:t>
            </a:r>
            <a:r>
              <a:rPr lang="en-US" sz="1050">
                <a:solidFill>
                  <a:srgbClr val="00B050"/>
                </a:solidFill>
                <a:latin typeface="Open Sans" pitchFamily="2" charset="0"/>
                <a:ea typeface="Open Sans" pitchFamily="2" charset="0"/>
                <a:cs typeface="Open Sans" pitchFamily="2" charset="0"/>
              </a:rPr>
              <a:t>— never trim the stack trace</a:t>
            </a:r>
          </a:p>
        </p:txBody>
      </p:sp>
      <p:sp>
        <p:nvSpPr>
          <p:cNvPr id="21" name="Text 22">
            <a:extLst>
              <a:ext uri="{FF2B5EF4-FFF2-40B4-BE49-F238E27FC236}">
                <a16:creationId xmlns:a16="http://schemas.microsoft.com/office/drawing/2014/main" id="{E3D80201-DE32-4323-190A-97F82A03ABC1}"/>
              </a:ext>
            </a:extLst>
          </p:cNvPr>
          <p:cNvSpPr/>
          <p:nvPr/>
        </p:nvSpPr>
        <p:spPr>
          <a:xfrm>
            <a:off x="4983480" y="3319272"/>
            <a:ext cx="3566160" cy="384048"/>
          </a:xfrm>
          <a:prstGeom prst="rect">
            <a:avLst/>
          </a:prstGeom>
          <a:noFill/>
          <a:ln/>
        </p:spPr>
        <p:txBody>
          <a:bodyPr wrap="square" lIns="0" tIns="0" rIns="0" bIns="0" rtlCol="0" anchor="ctr"/>
          <a:lstStyle/>
          <a:p>
            <a:pPr marL="0" indent="0" algn="l">
              <a:buNone/>
            </a:pPr>
            <a:r>
              <a:rPr lang="en-US" sz="1050" b="1">
                <a:solidFill>
                  <a:srgbClr val="00B050"/>
                </a:solidFill>
                <a:latin typeface="Open Sans Extrabold" pitchFamily="2" charset="0"/>
                <a:ea typeface="Open Sans Extrabold" pitchFamily="2" charset="0"/>
                <a:cs typeface="Open Sans Extrabold" pitchFamily="2" charset="0"/>
              </a:rPr>
              <a:t>✓ </a:t>
            </a:r>
            <a:r>
              <a:rPr lang="en-US" sz="1050" b="1">
                <a:solidFill>
                  <a:srgbClr val="00B050"/>
                </a:solidFill>
                <a:latin typeface="Open Sans" panose="020B0606030504020204" pitchFamily="34" charset="0"/>
                <a:ea typeface="Open Sans" panose="020B0606030504020204" pitchFamily="34" charset="0"/>
                <a:cs typeface="Open Sans" panose="020B0606030504020204" pitchFamily="34" charset="0"/>
              </a:rPr>
              <a:t> Add one sentence: </a:t>
            </a:r>
            <a:r>
              <a:rPr lang="en-US" sz="1050">
                <a:solidFill>
                  <a:srgbClr val="00B050"/>
                </a:solidFill>
                <a:latin typeface="Open Sans" pitchFamily="2" charset="0"/>
                <a:ea typeface="Open Sans" pitchFamily="2" charset="0"/>
                <a:cs typeface="Open Sans" pitchFamily="2" charset="0"/>
              </a:rPr>
              <a:t>what you were trying to do</a:t>
            </a:r>
          </a:p>
        </p:txBody>
      </p:sp>
      <p:sp>
        <p:nvSpPr>
          <p:cNvPr id="22" name="Text 23">
            <a:extLst>
              <a:ext uri="{FF2B5EF4-FFF2-40B4-BE49-F238E27FC236}">
                <a16:creationId xmlns:a16="http://schemas.microsoft.com/office/drawing/2014/main" id="{6D1CE473-7186-40D5-4773-DCFC6E95AF7F}"/>
              </a:ext>
            </a:extLst>
          </p:cNvPr>
          <p:cNvSpPr/>
          <p:nvPr/>
        </p:nvSpPr>
        <p:spPr>
          <a:xfrm>
            <a:off x="4983480" y="3758184"/>
            <a:ext cx="3566160" cy="384048"/>
          </a:xfrm>
          <a:prstGeom prst="rect">
            <a:avLst/>
          </a:prstGeom>
          <a:noFill/>
          <a:ln/>
        </p:spPr>
        <p:txBody>
          <a:bodyPr wrap="square" lIns="0" tIns="0" rIns="0" bIns="0" rtlCol="0" anchor="ctr"/>
          <a:lstStyle/>
          <a:p>
            <a:pPr marL="0" indent="0" algn="l">
              <a:buNone/>
            </a:pPr>
            <a:r>
              <a:rPr lang="en-US" sz="1050" b="1">
                <a:solidFill>
                  <a:srgbClr val="00B050"/>
                </a:solidFill>
                <a:latin typeface="Open Sans" panose="020B0606030504020204" pitchFamily="34" charset="0"/>
                <a:ea typeface="Open Sans" panose="020B0606030504020204" pitchFamily="34" charset="0"/>
                <a:cs typeface="Open Sans" panose="020B0606030504020204" pitchFamily="34" charset="0"/>
              </a:rPr>
              <a:t>✓  Stay in the same session </a:t>
            </a:r>
            <a:r>
              <a:rPr lang="en-US" sz="1050">
                <a:solidFill>
                  <a:srgbClr val="00B050"/>
                </a:solidFill>
                <a:latin typeface="Open Sans" pitchFamily="2" charset="0"/>
                <a:ea typeface="Open Sans" pitchFamily="2" charset="0"/>
                <a:cs typeface="Open Sans" pitchFamily="2" charset="0"/>
              </a:rPr>
              <a:t>— context builds with each pass</a:t>
            </a:r>
          </a:p>
        </p:txBody>
      </p:sp>
      <p:sp>
        <p:nvSpPr>
          <p:cNvPr id="23" name="Text 24">
            <a:extLst>
              <a:ext uri="{FF2B5EF4-FFF2-40B4-BE49-F238E27FC236}">
                <a16:creationId xmlns:a16="http://schemas.microsoft.com/office/drawing/2014/main" id="{618F433A-D5F7-4994-03D7-E2EF3ADA7A06}"/>
              </a:ext>
            </a:extLst>
          </p:cNvPr>
          <p:cNvSpPr/>
          <p:nvPr/>
        </p:nvSpPr>
        <p:spPr>
          <a:xfrm>
            <a:off x="4983480" y="4197096"/>
            <a:ext cx="3566160" cy="384048"/>
          </a:xfrm>
          <a:prstGeom prst="rect">
            <a:avLst/>
          </a:prstGeom>
          <a:noFill/>
          <a:ln/>
        </p:spPr>
        <p:txBody>
          <a:bodyPr wrap="square" lIns="0" tIns="0" rIns="0" bIns="0" rtlCol="0" anchor="ctr"/>
          <a:lstStyle/>
          <a:p>
            <a:pPr marL="0" indent="0" algn="l">
              <a:buNone/>
            </a:pPr>
            <a:r>
              <a:rPr lang="en-US" sz="1050" b="1">
                <a:solidFill>
                  <a:srgbClr val="00B050"/>
                </a:solidFill>
                <a:latin typeface="Open Sans" panose="020B0606030504020204" pitchFamily="34" charset="0"/>
                <a:ea typeface="Open Sans" panose="020B0606030504020204" pitchFamily="34" charset="0"/>
                <a:cs typeface="Open Sans" panose="020B0606030504020204" pitchFamily="34" charset="0"/>
              </a:rPr>
              <a:t>✓  Ask Claude to diagnose </a:t>
            </a:r>
            <a:r>
              <a:rPr lang="en-US" sz="1050">
                <a:solidFill>
                  <a:srgbClr val="00B050"/>
                </a:solidFill>
                <a:latin typeface="Open Sans" pitchFamily="2" charset="0"/>
                <a:ea typeface="Open Sans" pitchFamily="2" charset="0"/>
                <a:cs typeface="Open Sans" pitchFamily="2" charset="0"/>
              </a:rPr>
              <a:t>before suggesting a fix</a:t>
            </a:r>
          </a:p>
        </p:txBody>
      </p:sp>
    </p:spTree>
    <p:extLst>
      <p:ext uri="{BB962C8B-B14F-4D97-AF65-F5344CB8AC3E}">
        <p14:creationId xmlns:p14="http://schemas.microsoft.com/office/powerpoint/2010/main" val="1186468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6">
            <a:extLst>
              <a:ext uri="{FF2B5EF4-FFF2-40B4-BE49-F238E27FC236}">
                <a16:creationId xmlns:a16="http://schemas.microsoft.com/office/drawing/2014/main" id="{71C580A2-7BE8-D7F8-8FAB-73DD4E9873C9}"/>
              </a:ext>
            </a:extLst>
          </p:cNvPr>
          <p:cNvSpPr/>
          <p:nvPr/>
        </p:nvSpPr>
        <p:spPr>
          <a:xfrm>
            <a:off x="340021" y="2905156"/>
            <a:ext cx="2715768" cy="1778508"/>
          </a:xfrm>
          <a:prstGeom prst="roundRect">
            <a:avLst>
              <a:gd name="adj" fmla="val 4211"/>
            </a:avLst>
          </a:prstGeom>
          <a:solidFill>
            <a:srgbClr val="FFEBEE"/>
          </a:solidFill>
          <a:ln w="15240">
            <a:solidFill>
              <a:srgbClr val="C62828"/>
            </a:solidFill>
            <a:prstDash val="solid"/>
          </a:ln>
          <a:effectLst>
            <a:outerShdw blurRad="63500" dist="25400" dir="2700000" algn="bl" rotWithShape="0">
              <a:srgbClr val="000000">
                <a:alpha val="11000"/>
              </a:srgbClr>
            </a:outerShdw>
          </a:effectLst>
        </p:spPr>
        <p:txBody>
          <a:bodyPr/>
          <a:lstStyle/>
          <a:p>
            <a:endParaRPr lang="en-US"/>
          </a:p>
        </p:txBody>
      </p:sp>
      <p:sp>
        <p:nvSpPr>
          <p:cNvPr id="31" name="Shape 10">
            <a:extLst>
              <a:ext uri="{FF2B5EF4-FFF2-40B4-BE49-F238E27FC236}">
                <a16:creationId xmlns:a16="http://schemas.microsoft.com/office/drawing/2014/main" id="{76C0991A-C12E-2BCE-0EED-1FCC9092F620}"/>
              </a:ext>
            </a:extLst>
          </p:cNvPr>
          <p:cNvSpPr/>
          <p:nvPr/>
        </p:nvSpPr>
        <p:spPr>
          <a:xfrm>
            <a:off x="3192949" y="2905156"/>
            <a:ext cx="2715768" cy="1778508"/>
          </a:xfrm>
          <a:prstGeom prst="roundRect">
            <a:avLst>
              <a:gd name="adj" fmla="val 4211"/>
            </a:avLst>
          </a:prstGeom>
          <a:solidFill>
            <a:srgbClr val="FFF8E1"/>
          </a:solidFill>
          <a:ln w="15240">
            <a:solidFill>
              <a:srgbClr val="E8972A"/>
            </a:solidFill>
            <a:prstDash val="solid"/>
          </a:ln>
          <a:effectLst>
            <a:outerShdw blurRad="63500" dist="25400" dir="2700000" algn="bl" rotWithShape="0">
              <a:srgbClr val="000000">
                <a:alpha val="11000"/>
              </a:srgbClr>
            </a:outerShdw>
          </a:effectLst>
        </p:spPr>
        <p:txBody>
          <a:bodyPr/>
          <a:lstStyle/>
          <a:p>
            <a:endParaRPr lang="en-US"/>
          </a:p>
        </p:txBody>
      </p:sp>
      <p:sp>
        <p:nvSpPr>
          <p:cNvPr id="32" name="Shape 14">
            <a:extLst>
              <a:ext uri="{FF2B5EF4-FFF2-40B4-BE49-F238E27FC236}">
                <a16:creationId xmlns:a16="http://schemas.microsoft.com/office/drawing/2014/main" id="{9F8DB59D-DAE1-A3E3-B0FB-600A8DE13FC9}"/>
              </a:ext>
            </a:extLst>
          </p:cNvPr>
          <p:cNvSpPr/>
          <p:nvPr/>
        </p:nvSpPr>
        <p:spPr>
          <a:xfrm>
            <a:off x="6045877" y="2905156"/>
            <a:ext cx="2715768" cy="1778508"/>
          </a:xfrm>
          <a:prstGeom prst="roundRect">
            <a:avLst>
              <a:gd name="adj" fmla="val 4211"/>
            </a:avLst>
          </a:prstGeom>
          <a:solidFill>
            <a:srgbClr val="E8F5E9"/>
          </a:solidFill>
          <a:ln w="15240">
            <a:solidFill>
              <a:srgbClr val="2E7D32"/>
            </a:solidFill>
            <a:prstDash val="solid"/>
          </a:ln>
          <a:effectLst>
            <a:outerShdw blurRad="63500" dist="25400" dir="2700000" algn="bl" rotWithShape="0">
              <a:srgbClr val="000000">
                <a:alpha val="11000"/>
              </a:srgbClr>
            </a:outerShdw>
          </a:effectLst>
        </p:spPr>
        <p:txBody>
          <a:bodyPr/>
          <a:lstStyle/>
          <a:p>
            <a:endParaRPr lang="en-US"/>
          </a:p>
        </p:txBody>
      </p:sp>
      <p:sp>
        <p:nvSpPr>
          <p:cNvPr id="6" name="Text 4"/>
          <p:cNvSpPr/>
          <p:nvPr/>
        </p:nvSpPr>
        <p:spPr>
          <a:xfrm>
            <a:off x="367200" y="183600"/>
            <a:ext cx="8321040" cy="438912"/>
          </a:xfrm>
          <a:prstGeom prst="rect">
            <a:avLst/>
          </a:prstGeom>
          <a:noFill/>
          <a:ln/>
        </p:spPr>
        <p:txBody>
          <a:bodyPr wrap="square" lIns="0" tIns="0" rIns="0" bIns="0" rtlCol="0" anchor="ctr"/>
          <a:lstStyle/>
          <a:p>
            <a:pPr marL="0" indent="0" algn="l">
              <a:buNone/>
            </a:pPr>
            <a:r>
              <a:rPr lang="en-US" sz="2800" b="1">
                <a:solidFill>
                  <a:srgbClr val="2D2D2D"/>
                </a:solidFill>
                <a:latin typeface="Open Sans" panose="020B0606030504020204" pitchFamily="34" charset="0"/>
                <a:ea typeface="Open Sans" panose="020B0606030504020204" pitchFamily="34" charset="0"/>
                <a:cs typeface="Open Sans" panose="020B0606030504020204" pitchFamily="34" charset="0"/>
              </a:rPr>
              <a:t>Step 3: Root Cause</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367200" y="712800"/>
            <a:ext cx="8321040" cy="237744"/>
          </a:xfrm>
          <a:prstGeom prst="rect">
            <a:avLst/>
          </a:prstGeom>
          <a:noFill/>
          <a:ln/>
        </p:spPr>
        <p:txBody>
          <a:bodyPr wrap="square" lIns="0" tIns="0" rIns="0" bIns="0" rtlCol="0" anchor="ctr"/>
          <a:lstStyle/>
          <a:p>
            <a:pPr marL="0" indent="0" algn="l">
              <a:buNone/>
            </a:pPr>
            <a:r>
              <a:rPr lang="en-US" sz="1200">
                <a:solidFill>
                  <a:schemeClr val="tx1">
                    <a:lumMod val="75000"/>
                    <a:lumOff val="25000"/>
                  </a:schemeClr>
                </a:solidFill>
                <a:latin typeface="Open Sans" pitchFamily="2" charset="0"/>
                <a:ea typeface="Open Sans" pitchFamily="2" charset="0"/>
                <a:cs typeface="Open Sans" pitchFamily="2" charset="0"/>
              </a:rPr>
              <a:t>Ask Claude to name the cause in one sentence before it proposes any fix.</a:t>
            </a:r>
          </a:p>
        </p:txBody>
      </p:sp>
      <p:sp>
        <p:nvSpPr>
          <p:cNvPr id="8" name="Shape 6"/>
          <p:cNvSpPr/>
          <p:nvPr/>
        </p:nvSpPr>
        <p:spPr>
          <a:xfrm>
            <a:off x="411480" y="1004976"/>
            <a:ext cx="8321040" cy="475488"/>
          </a:xfrm>
          <a:prstGeom prst="roundRect">
            <a:avLst>
              <a:gd name="adj" fmla="val 15385"/>
            </a:avLst>
          </a:prstGeom>
          <a:solidFill>
            <a:srgbClr val="E8F5E9"/>
          </a:solidFill>
          <a:ln w="15240">
            <a:noFill/>
            <a:prstDash val="solid"/>
          </a:ln>
          <a:effectLst>
            <a:outerShdw blurRad="63500" dist="25400" dir="2700000" algn="bl" rotWithShape="0">
              <a:srgbClr val="000000">
                <a:alpha val="11000"/>
              </a:srgbClr>
            </a:outerShdw>
          </a:effectLst>
        </p:spPr>
        <p:txBody>
          <a:bodyPr/>
          <a:lstStyle/>
          <a:p>
            <a:endParaRPr lang="en-US"/>
          </a:p>
        </p:txBody>
      </p:sp>
      <p:sp>
        <p:nvSpPr>
          <p:cNvPr id="9" name="Text 7"/>
          <p:cNvSpPr/>
          <p:nvPr/>
        </p:nvSpPr>
        <p:spPr>
          <a:xfrm>
            <a:off x="594360" y="1004976"/>
            <a:ext cx="7955280" cy="475488"/>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AI-generated code fails in specific, recognisable patterns — and they all look plausible until you test them. Knowing which pattern you are dealing with changes the fix completely.</a:t>
            </a:r>
            <a:endParaRPr lang="en-US" sz="1050">
              <a:latin typeface="Open Sans" pitchFamily="2" charset="0"/>
              <a:ea typeface="Open Sans" pitchFamily="2" charset="0"/>
              <a:cs typeface="Open Sans" pitchFamily="2" charset="0"/>
            </a:endParaRPr>
          </a:p>
        </p:txBody>
      </p:sp>
      <p:sp>
        <p:nvSpPr>
          <p:cNvPr id="15" name="Text 13"/>
          <p:cNvSpPr/>
          <p:nvPr/>
        </p:nvSpPr>
        <p:spPr>
          <a:xfrm>
            <a:off x="539496" y="3064033"/>
            <a:ext cx="2359152" cy="256032"/>
          </a:xfrm>
          <a:prstGeom prst="rect">
            <a:avLst/>
          </a:prstGeom>
          <a:noFill/>
          <a:ln/>
        </p:spPr>
        <p:txBody>
          <a:bodyPr wrap="square" lIns="0" tIns="0" rIns="0" bIns="0" rtlCol="0" anchor="ctr"/>
          <a:lstStyle/>
          <a:p>
            <a:pPr marL="0" indent="0" algn="l">
              <a:buNone/>
            </a:pPr>
            <a:r>
              <a:rPr lang="en-US" sz="1200" b="1">
                <a:solidFill>
                  <a:schemeClr val="accent3"/>
                </a:solidFill>
                <a:latin typeface="Open Sans" panose="020B0606030504020204" pitchFamily="34" charset="0"/>
                <a:ea typeface="Open Sans" panose="020B0606030504020204" pitchFamily="34" charset="0"/>
                <a:cs typeface="Open Sans" panose="020B0606030504020204" pitchFamily="34" charset="0"/>
              </a:rPr>
              <a:t>Hallucinated library functions</a:t>
            </a:r>
          </a:p>
        </p:txBody>
      </p:sp>
      <p:sp>
        <p:nvSpPr>
          <p:cNvPr id="16" name="Text 14"/>
          <p:cNvSpPr/>
          <p:nvPr/>
        </p:nvSpPr>
        <p:spPr>
          <a:xfrm>
            <a:off x="539496" y="3364357"/>
            <a:ext cx="2359152" cy="1737360"/>
          </a:xfrm>
          <a:prstGeom prst="rect">
            <a:avLst/>
          </a:prstGeom>
          <a:noFill/>
          <a:ln/>
        </p:spPr>
        <p:txBody>
          <a:bodyPr wrap="square" lIns="0" tIns="0" rIns="0" bIns="0" rtlCol="0" anchor="t"/>
          <a:lstStyle/>
          <a:p>
            <a:pPr marL="0" indent="0" algn="l">
              <a:buNone/>
            </a:pPr>
            <a:r>
              <a:rPr lang="en-US" sz="1200">
                <a:solidFill>
                  <a:schemeClr val="tx2"/>
                </a:solidFill>
                <a:latin typeface="Open Sans" pitchFamily="2" charset="0"/>
                <a:ea typeface="Open Sans" pitchFamily="2" charset="0"/>
                <a:cs typeface="Open Sans" pitchFamily="2" charset="0"/>
              </a:rPr>
              <a:t>Claude names a method that sounds exactly right and does not exist. The code looks correct until you run it. Diagnosis: library call fails at runtime with a 'method not found' error.</a:t>
            </a:r>
          </a:p>
        </p:txBody>
      </p:sp>
      <p:sp>
        <p:nvSpPr>
          <p:cNvPr id="20" name="Text 18"/>
          <p:cNvSpPr/>
          <p:nvPr/>
        </p:nvSpPr>
        <p:spPr>
          <a:xfrm>
            <a:off x="3392424" y="3064033"/>
            <a:ext cx="2359152" cy="256032"/>
          </a:xfrm>
          <a:prstGeom prst="rect">
            <a:avLst/>
          </a:prstGeom>
          <a:noFill/>
          <a:ln/>
        </p:spPr>
        <p:txBody>
          <a:bodyPr wrap="square" lIns="0" tIns="0" rIns="0" bIns="0" rtlCol="0" anchor="ctr"/>
          <a:lstStyle/>
          <a:p>
            <a:pPr marL="0" indent="0" algn="l">
              <a:buNone/>
            </a:pPr>
            <a:r>
              <a:rPr lang="en-US" sz="1200" b="1">
                <a:solidFill>
                  <a:schemeClr val="accent1"/>
                </a:solidFill>
                <a:latin typeface="Open Sans" panose="020B0606030504020204" pitchFamily="34" charset="0"/>
                <a:ea typeface="Open Sans" panose="020B0606030504020204" pitchFamily="34" charset="0"/>
                <a:cs typeface="Open Sans" panose="020B0606030504020204" pitchFamily="34" charset="0"/>
              </a:rPr>
              <a:t>Invented API endpoints</a:t>
            </a:r>
          </a:p>
        </p:txBody>
      </p:sp>
      <p:sp>
        <p:nvSpPr>
          <p:cNvPr id="21" name="Text 19"/>
          <p:cNvSpPr/>
          <p:nvPr/>
        </p:nvSpPr>
        <p:spPr>
          <a:xfrm>
            <a:off x="3392424" y="3364357"/>
            <a:ext cx="2359152" cy="1737360"/>
          </a:xfrm>
          <a:prstGeom prst="rect">
            <a:avLst/>
          </a:prstGeom>
          <a:noFill/>
          <a:ln/>
        </p:spPr>
        <p:txBody>
          <a:bodyPr wrap="square" lIns="0" tIns="0" rIns="0" bIns="0" rtlCol="0" anchor="t"/>
          <a:lstStyle/>
          <a:p>
            <a:pPr marL="0" indent="0" algn="l">
              <a:buNone/>
            </a:pPr>
            <a:r>
              <a:rPr lang="en-US" sz="1200">
                <a:solidFill>
                  <a:schemeClr val="tx2"/>
                </a:solidFill>
                <a:latin typeface="Open Sans" pitchFamily="2" charset="0"/>
                <a:ea typeface="Open Sans" pitchFamily="2" charset="0"/>
                <a:cs typeface="Open Sans" pitchFamily="2" charset="0"/>
              </a:rPr>
              <a:t>Claude calls an endpoint that was never real. It has seen enough API patterns to construct a plausible one. Diagnosis: 404 or auth error on a call you did not write yourself.</a:t>
            </a:r>
          </a:p>
        </p:txBody>
      </p:sp>
      <p:sp>
        <p:nvSpPr>
          <p:cNvPr id="25" name="Text 23"/>
          <p:cNvSpPr/>
          <p:nvPr/>
        </p:nvSpPr>
        <p:spPr>
          <a:xfrm>
            <a:off x="6199632" y="3064033"/>
            <a:ext cx="2359152" cy="256032"/>
          </a:xfrm>
          <a:prstGeom prst="rect">
            <a:avLst/>
          </a:prstGeom>
          <a:noFill/>
          <a:ln/>
        </p:spPr>
        <p:txBody>
          <a:bodyPr wrap="square" lIns="0" tIns="0" rIns="0" bIns="0" rtlCol="0" anchor="ctr"/>
          <a:lstStyle/>
          <a:p>
            <a:pPr marL="0" indent="0" algn="l">
              <a:buNone/>
            </a:pPr>
            <a:r>
              <a:rPr lang="en-US" sz="1200" b="1">
                <a:solidFill>
                  <a:srgbClr val="00B050"/>
                </a:solidFill>
                <a:latin typeface="Open Sans" panose="020B0606030504020204" pitchFamily="34" charset="0"/>
                <a:ea typeface="Open Sans" panose="020B0606030504020204" pitchFamily="34" charset="0"/>
                <a:cs typeface="Open Sans" panose="020B0606030504020204" pitchFamily="34" charset="0"/>
              </a:rPr>
              <a:t>Subtly broken logic</a:t>
            </a:r>
          </a:p>
        </p:txBody>
      </p:sp>
      <p:sp>
        <p:nvSpPr>
          <p:cNvPr id="26" name="Text 24"/>
          <p:cNvSpPr/>
          <p:nvPr/>
        </p:nvSpPr>
        <p:spPr>
          <a:xfrm>
            <a:off x="6199632" y="3364357"/>
            <a:ext cx="2359152" cy="1254041"/>
          </a:xfrm>
          <a:prstGeom prst="rect">
            <a:avLst/>
          </a:prstGeom>
          <a:noFill/>
          <a:ln/>
        </p:spPr>
        <p:txBody>
          <a:bodyPr wrap="square" lIns="0" tIns="0" rIns="0" bIns="0" rtlCol="0" anchor="t"/>
          <a:lstStyle/>
          <a:p>
            <a:pPr marL="0" indent="0" algn="l">
              <a:buNone/>
            </a:pPr>
            <a:r>
              <a:rPr lang="en-US" sz="1200">
                <a:solidFill>
                  <a:schemeClr val="tx2"/>
                </a:solidFill>
                <a:latin typeface="Open Sans" pitchFamily="2" charset="0"/>
                <a:ea typeface="Open Sans" pitchFamily="2" charset="0"/>
                <a:cs typeface="Open Sans" pitchFamily="2" charset="0"/>
              </a:rPr>
              <a:t>The code runs without error but gives the wrong answer on edge cases. No signal. Wrong output. Diagnosis: compare actual output against expected output for a known input.</a:t>
            </a:r>
          </a:p>
        </p:txBody>
      </p:sp>
      <p:sp>
        <p:nvSpPr>
          <p:cNvPr id="34" name="Shape 2">
            <a:extLst>
              <a:ext uri="{FF2B5EF4-FFF2-40B4-BE49-F238E27FC236}">
                <a16:creationId xmlns:a16="http://schemas.microsoft.com/office/drawing/2014/main" id="{AA233555-BD98-ABD6-5F83-05087CDB8E3E}"/>
              </a:ext>
            </a:extLst>
          </p:cNvPr>
          <p:cNvSpPr/>
          <p:nvPr/>
        </p:nvSpPr>
        <p:spPr>
          <a:xfrm>
            <a:off x="1748197" y="1789726"/>
            <a:ext cx="4832913" cy="834774"/>
          </a:xfrm>
          <a:prstGeom prst="roundRect">
            <a:avLst>
              <a:gd name="adj" fmla="val 7042"/>
            </a:avLst>
          </a:prstGeom>
          <a:solidFill>
            <a:schemeClr val="tx1"/>
          </a:solidFill>
          <a:ln w="12700">
            <a:solidFill>
              <a:srgbClr val="1E1E1E"/>
            </a:solidFill>
            <a:prstDash val="solid"/>
          </a:ln>
          <a:effectLst>
            <a:outerShdw blurRad="63500" dist="25400" dir="2700000" algn="bl" rotWithShape="0">
              <a:srgbClr val="000000">
                <a:alpha val="11000"/>
              </a:srgbClr>
            </a:outerShdw>
          </a:effectLst>
        </p:spPr>
        <p:txBody>
          <a:bodyPr/>
          <a:lstStyle/>
          <a:p>
            <a:endParaRPr lang="en-US"/>
          </a:p>
        </p:txBody>
      </p:sp>
      <p:sp>
        <p:nvSpPr>
          <p:cNvPr id="11" name="Text 9"/>
          <p:cNvSpPr/>
          <p:nvPr/>
        </p:nvSpPr>
        <p:spPr>
          <a:xfrm>
            <a:off x="1971962" y="2010138"/>
            <a:ext cx="4363574" cy="393951"/>
          </a:xfrm>
          <a:prstGeom prst="rect">
            <a:avLst/>
          </a:prstGeom>
          <a:noFill/>
          <a:ln/>
        </p:spPr>
        <p:txBody>
          <a:bodyPr wrap="square" lIns="0" tIns="0" rIns="0" bIns="0" rtlCol="0" anchor="t"/>
          <a:lstStyle/>
          <a:p>
            <a:pPr marL="0" indent="0" algn="l">
              <a:buNone/>
            </a:pPr>
            <a:r>
              <a:rPr lang="en-US" sz="1500">
                <a:solidFill>
                  <a:srgbClr val="00B050"/>
                </a:solidFill>
                <a:latin typeface="Open Sans" pitchFamily="2" charset="0"/>
                <a:ea typeface="Open Sans" pitchFamily="2" charset="0"/>
                <a:cs typeface="Open Sans" pitchFamily="2" charset="0"/>
              </a:rPr>
              <a:t>$ claude "Name the root cause in one sentence.</a:t>
            </a:r>
          </a:p>
          <a:p>
            <a:pPr marL="0" indent="0" algn="l">
              <a:buNone/>
            </a:pPr>
            <a:r>
              <a:rPr lang="en-US" sz="1500">
                <a:solidFill>
                  <a:srgbClr val="00B050"/>
                </a:solidFill>
                <a:latin typeface="Open Sans" pitchFamily="2" charset="0"/>
                <a:ea typeface="Open Sans" pitchFamily="2" charset="0"/>
                <a:cs typeface="Open Sans" pitchFamily="2" charset="0"/>
              </a:rPr>
              <a:t>Do not suggest a fix yet."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367200" y="183600"/>
            <a:ext cx="8321040" cy="438912"/>
          </a:xfrm>
          <a:prstGeom prst="rect">
            <a:avLst/>
          </a:prstGeom>
          <a:noFill/>
          <a:ln/>
        </p:spPr>
        <p:txBody>
          <a:bodyPr wrap="square" lIns="0" tIns="0" rIns="0" bIns="0" rtlCol="0" anchor="ctr"/>
          <a:lstStyle/>
          <a:p>
            <a:pPr marL="0" indent="0" algn="l">
              <a:buNone/>
            </a:pPr>
            <a:r>
              <a:rPr lang="en-US" sz="2800" b="1">
                <a:solidFill>
                  <a:srgbClr val="2D2D2D"/>
                </a:solidFill>
                <a:latin typeface="Open Sans" panose="020B0606030504020204" pitchFamily="34" charset="0"/>
                <a:ea typeface="Open Sans" panose="020B0606030504020204" pitchFamily="34" charset="0"/>
                <a:cs typeface="Open Sans" panose="020B0606030504020204" pitchFamily="34" charset="0"/>
              </a:rPr>
              <a:t>Step 4: Apply &amp; Test</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367200" y="712800"/>
            <a:ext cx="8321040" cy="237744"/>
          </a:xfrm>
          <a:prstGeom prst="rect">
            <a:avLst/>
          </a:prstGeom>
          <a:noFill/>
          <a:ln/>
        </p:spPr>
        <p:txBody>
          <a:bodyPr wrap="square" lIns="0" tIns="0" rIns="0" bIns="0" rtlCol="0" anchor="ctr"/>
          <a:lstStyle/>
          <a:p>
            <a:pPr marL="0" indent="0" algn="l">
              <a:buNone/>
            </a:pPr>
            <a:r>
              <a:rPr lang="en-US" sz="1200">
                <a:solidFill>
                  <a:schemeClr val="tx1">
                    <a:lumMod val="75000"/>
                    <a:lumOff val="25000"/>
                  </a:schemeClr>
                </a:solidFill>
                <a:latin typeface="Open Sans" pitchFamily="2" charset="0"/>
                <a:ea typeface="Open Sans" pitchFamily="2" charset="0"/>
                <a:cs typeface="Open Sans" pitchFamily="2" charset="0"/>
              </a:rPr>
              <a:t>Apply the fix. Run the code. Did the symptom go? Check that nothing else broke. Repeat.</a:t>
            </a:r>
          </a:p>
        </p:txBody>
      </p:sp>
      <p:sp>
        <p:nvSpPr>
          <p:cNvPr id="8" name="Shape 6"/>
          <p:cNvSpPr/>
          <p:nvPr/>
        </p:nvSpPr>
        <p:spPr>
          <a:xfrm>
            <a:off x="411480" y="999744"/>
            <a:ext cx="8321040" cy="475488"/>
          </a:xfrm>
          <a:prstGeom prst="roundRect">
            <a:avLst>
              <a:gd name="adj" fmla="val 15385"/>
            </a:avLst>
          </a:prstGeom>
          <a:solidFill>
            <a:srgbClr val="FEF2F2"/>
          </a:solidFill>
          <a:ln w="10160">
            <a:noFill/>
            <a:prstDash val="solid"/>
          </a:ln>
        </p:spPr>
        <p:txBody>
          <a:bodyPr/>
          <a:lstStyle/>
          <a:p>
            <a:endParaRPr lang="en-US">
              <a:latin typeface="Open Sans" pitchFamily="2" charset="0"/>
              <a:ea typeface="Open Sans" pitchFamily="2" charset="0"/>
              <a:cs typeface="Open Sans" pitchFamily="2" charset="0"/>
            </a:endParaRPr>
          </a:p>
        </p:txBody>
      </p:sp>
      <p:sp>
        <p:nvSpPr>
          <p:cNvPr id="9" name="Text 7"/>
          <p:cNvSpPr/>
          <p:nvPr/>
        </p:nvSpPr>
        <p:spPr>
          <a:xfrm>
            <a:off x="594360" y="999744"/>
            <a:ext cx="7955280" cy="475488"/>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The error disappearing is the beginning of review, not the end of it. A fix that makes the error message go away is a hypothesis. Running the code is what turns it into a verified fix.</a:t>
            </a:r>
            <a:endParaRPr lang="en-US" sz="1050">
              <a:latin typeface="Open Sans" pitchFamily="2" charset="0"/>
              <a:ea typeface="Open Sans" pitchFamily="2" charset="0"/>
              <a:cs typeface="Open Sans" pitchFamily="2" charset="0"/>
            </a:endParaRPr>
          </a:p>
        </p:txBody>
      </p:sp>
      <p:sp>
        <p:nvSpPr>
          <p:cNvPr id="10" name="Shape 8"/>
          <p:cNvSpPr/>
          <p:nvPr/>
        </p:nvSpPr>
        <p:spPr>
          <a:xfrm>
            <a:off x="411480" y="1584960"/>
            <a:ext cx="1920240" cy="2595365"/>
          </a:xfrm>
          <a:prstGeom prst="roundRect">
            <a:avLst>
              <a:gd name="adj" fmla="val 4286"/>
            </a:avLst>
          </a:prstGeom>
          <a:solidFill>
            <a:srgbClr val="F7F7F7"/>
          </a:solidFill>
          <a:ln w="12700">
            <a:solidFill>
              <a:schemeClr val="accent3"/>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Shape 9"/>
          <p:cNvSpPr/>
          <p:nvPr/>
        </p:nvSpPr>
        <p:spPr>
          <a:xfrm>
            <a:off x="1143000" y="1722120"/>
            <a:ext cx="457200" cy="457200"/>
          </a:xfrm>
          <a:prstGeom prst="ellipse">
            <a:avLst/>
          </a:prstGeom>
          <a:solidFill>
            <a:schemeClr val="accent3"/>
          </a:solidFill>
          <a:ln w="12700">
            <a:solidFill>
              <a:srgbClr val="D94F4F"/>
            </a:solidFill>
            <a:prstDash val="solid"/>
          </a:ln>
        </p:spPr>
        <p:txBody>
          <a:bodyPr/>
          <a:lstStyle/>
          <a:p>
            <a:endParaRPr lang="en-US">
              <a:latin typeface="Open Sans" pitchFamily="2" charset="0"/>
              <a:ea typeface="Open Sans" pitchFamily="2" charset="0"/>
              <a:cs typeface="Open Sans" pitchFamily="2" charset="0"/>
            </a:endParaRPr>
          </a:p>
        </p:txBody>
      </p:sp>
      <p:sp>
        <p:nvSpPr>
          <p:cNvPr id="12" name="Text 10"/>
          <p:cNvSpPr/>
          <p:nvPr/>
        </p:nvSpPr>
        <p:spPr>
          <a:xfrm>
            <a:off x="1143000" y="1722120"/>
            <a:ext cx="457200" cy="457200"/>
          </a:xfrm>
          <a:prstGeom prst="rect">
            <a:avLst/>
          </a:prstGeom>
          <a:noFill/>
          <a:ln/>
        </p:spPr>
        <p:txBody>
          <a:bodyPr wrap="square" lIns="0" tIns="0" rIns="0" bIns="0" rtlCol="0" anchor="ctr"/>
          <a:lstStyle/>
          <a:p>
            <a:pPr algn="ct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521208" y="2270760"/>
            <a:ext cx="1700784" cy="384048"/>
          </a:xfrm>
          <a:prstGeom prst="rect">
            <a:avLst/>
          </a:prstGeom>
          <a:noFill/>
          <a:ln/>
        </p:spPr>
        <p:txBody>
          <a:bodyPr wrap="square" lIns="0" tIns="0" rIns="0" bIns="0" rtlCol="0" anchor="ctr"/>
          <a:lstStyle/>
          <a:p>
            <a:pPr marL="0" indent="0" algn="ctr">
              <a:buNone/>
            </a:pPr>
            <a:r>
              <a:rPr lang="en-US" sz="1100" b="1">
                <a:solidFill>
                  <a:schemeClr val="accent3"/>
                </a:solidFill>
                <a:latin typeface="Open Sans" panose="020B0606030504020204" pitchFamily="34" charset="0"/>
                <a:ea typeface="Open Sans" panose="020B0606030504020204" pitchFamily="34" charset="0"/>
                <a:cs typeface="Open Sans" panose="020B0606030504020204" pitchFamily="34" charset="0"/>
              </a:rPr>
              <a:t>Review before accepting</a:t>
            </a:r>
          </a:p>
        </p:txBody>
      </p:sp>
      <p:sp>
        <p:nvSpPr>
          <p:cNvPr id="14" name="Shape 12"/>
          <p:cNvSpPr/>
          <p:nvPr/>
        </p:nvSpPr>
        <p:spPr>
          <a:xfrm>
            <a:off x="521208" y="2700528"/>
            <a:ext cx="1700784" cy="0"/>
          </a:xfrm>
          <a:prstGeom prst="line">
            <a:avLst/>
          </a:prstGeom>
          <a:noFill/>
          <a:ln w="6350">
            <a:solidFill>
              <a:srgbClr val="E0E0E0"/>
            </a:solidFill>
            <a:prstDash val="solid"/>
          </a:ln>
        </p:spPr>
        <p:txBody>
          <a:bodyPr/>
          <a:lstStyle/>
          <a:p>
            <a:endParaRPr lang="en-US">
              <a:latin typeface="Open Sans" pitchFamily="2" charset="0"/>
              <a:ea typeface="Open Sans" pitchFamily="2" charset="0"/>
              <a:cs typeface="Open Sans" pitchFamily="2" charset="0"/>
            </a:endParaRPr>
          </a:p>
        </p:txBody>
      </p:sp>
      <p:sp>
        <p:nvSpPr>
          <p:cNvPr id="15" name="Text 13"/>
          <p:cNvSpPr/>
          <p:nvPr/>
        </p:nvSpPr>
        <p:spPr>
          <a:xfrm>
            <a:off x="521208" y="2791968"/>
            <a:ext cx="1700784" cy="1508760"/>
          </a:xfrm>
          <a:prstGeom prst="rect">
            <a:avLst/>
          </a:prstGeom>
          <a:noFill/>
          <a:ln/>
        </p:spPr>
        <p:txBody>
          <a:bodyPr wrap="square" lIns="0" tIns="0" rIns="0" bIns="0" rtlCol="0" anchor="t"/>
          <a:lstStyle/>
          <a:p>
            <a:pPr marL="0" indent="0" algn="l">
              <a:buNone/>
            </a:pPr>
            <a:r>
              <a:rPr lang="en-US" sz="1100">
                <a:latin typeface="Open Sans" pitchFamily="2" charset="0"/>
                <a:ea typeface="Open Sans" pitchFamily="2" charset="0"/>
                <a:cs typeface="Open Sans" pitchFamily="2" charset="0"/>
              </a:rPr>
              <a:t>Read the diff first. Does the fix address the root cause, or does it just suppress the error message? If you cannot explain the change, do not accept it.</a:t>
            </a:r>
          </a:p>
        </p:txBody>
      </p:sp>
      <p:sp>
        <p:nvSpPr>
          <p:cNvPr id="16" name="Shape 14"/>
          <p:cNvSpPr/>
          <p:nvPr/>
        </p:nvSpPr>
        <p:spPr>
          <a:xfrm>
            <a:off x="2478024" y="1584960"/>
            <a:ext cx="1920240" cy="2595365"/>
          </a:xfrm>
          <a:prstGeom prst="roundRect">
            <a:avLst>
              <a:gd name="adj" fmla="val 4286"/>
            </a:avLst>
          </a:prstGeom>
          <a:solidFill>
            <a:srgbClr val="F7F7F7"/>
          </a:solidFill>
          <a:ln w="12700">
            <a:solidFill>
              <a:schemeClr val="tx1"/>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5"/>
          <p:cNvSpPr/>
          <p:nvPr/>
        </p:nvSpPr>
        <p:spPr>
          <a:xfrm>
            <a:off x="3209544" y="1722120"/>
            <a:ext cx="457200" cy="457200"/>
          </a:xfrm>
          <a:prstGeom prst="ellipse">
            <a:avLst/>
          </a:prstGeom>
          <a:solidFill>
            <a:schemeClr val="tx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16"/>
          <p:cNvSpPr/>
          <p:nvPr/>
        </p:nvSpPr>
        <p:spPr>
          <a:xfrm>
            <a:off x="3209544" y="1722120"/>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2587752" y="2270760"/>
            <a:ext cx="1700784" cy="384048"/>
          </a:xfrm>
          <a:prstGeom prst="rect">
            <a:avLst/>
          </a:prstGeom>
          <a:noFill/>
          <a:ln/>
        </p:spPr>
        <p:txBody>
          <a:bodyPr wrap="square" lIns="0" tIns="0" rIns="0" bIns="0" rtlCol="0" anchor="ctr"/>
          <a:lstStyle/>
          <a:p>
            <a:pPr marL="0" indent="0" algn="ctr">
              <a:buNone/>
            </a:pPr>
            <a:r>
              <a:rPr lang="en-US" sz="1100" b="1">
                <a:latin typeface="Open Sans" panose="020B0606030504020204" pitchFamily="34" charset="0"/>
                <a:ea typeface="Open Sans" panose="020B0606030504020204" pitchFamily="34" charset="0"/>
                <a:cs typeface="Open Sans" panose="020B0606030504020204" pitchFamily="34" charset="0"/>
              </a:rPr>
              <a:t>Accept and run immediately</a:t>
            </a:r>
          </a:p>
        </p:txBody>
      </p:sp>
      <p:sp>
        <p:nvSpPr>
          <p:cNvPr id="20" name="Shape 18"/>
          <p:cNvSpPr/>
          <p:nvPr/>
        </p:nvSpPr>
        <p:spPr>
          <a:xfrm>
            <a:off x="2587752" y="2700528"/>
            <a:ext cx="1700784" cy="0"/>
          </a:xfrm>
          <a:prstGeom prst="line">
            <a:avLst/>
          </a:prstGeom>
          <a:noFill/>
          <a:ln w="6350">
            <a:solidFill>
              <a:srgbClr val="E0E0E0"/>
            </a:solidFill>
            <a:prstDash val="solid"/>
          </a:ln>
        </p:spPr>
        <p:txBody>
          <a:bodyPr/>
          <a:lstStyle/>
          <a:p>
            <a:endParaRPr lang="en-US">
              <a:latin typeface="Open Sans" pitchFamily="2" charset="0"/>
              <a:ea typeface="Open Sans" pitchFamily="2" charset="0"/>
              <a:cs typeface="Open Sans" pitchFamily="2" charset="0"/>
            </a:endParaRPr>
          </a:p>
        </p:txBody>
      </p:sp>
      <p:sp>
        <p:nvSpPr>
          <p:cNvPr id="21" name="Text 19"/>
          <p:cNvSpPr/>
          <p:nvPr/>
        </p:nvSpPr>
        <p:spPr>
          <a:xfrm>
            <a:off x="2587752" y="2791968"/>
            <a:ext cx="1700784" cy="1508760"/>
          </a:xfrm>
          <a:prstGeom prst="rect">
            <a:avLst/>
          </a:prstGeom>
          <a:noFill/>
          <a:ln/>
        </p:spPr>
        <p:txBody>
          <a:bodyPr wrap="square" lIns="0" tIns="0" rIns="0" bIns="0" rtlCol="0" anchor="t"/>
          <a:lstStyle/>
          <a:p>
            <a:pPr marL="0" indent="0" algn="l">
              <a:buNone/>
            </a:pPr>
            <a:r>
              <a:rPr lang="en-US" sz="1100">
                <a:latin typeface="Open Sans" pitchFamily="2" charset="0"/>
                <a:ea typeface="Open Sans" pitchFamily="2" charset="0"/>
                <a:cs typeface="Open Sans" pitchFamily="2" charset="0"/>
              </a:rPr>
              <a:t>Press Y. Run the code in the same moment. Do not accept the fix and move on without running it. The fix is unverified until the code executes.</a:t>
            </a:r>
          </a:p>
        </p:txBody>
      </p:sp>
      <p:sp>
        <p:nvSpPr>
          <p:cNvPr id="22" name="Shape 20"/>
          <p:cNvSpPr/>
          <p:nvPr/>
        </p:nvSpPr>
        <p:spPr>
          <a:xfrm>
            <a:off x="4544568" y="1584960"/>
            <a:ext cx="1920240" cy="2595365"/>
          </a:xfrm>
          <a:prstGeom prst="roundRect">
            <a:avLst>
              <a:gd name="adj" fmla="val 4286"/>
            </a:avLst>
          </a:prstGeom>
          <a:solidFill>
            <a:srgbClr val="F7F7F7"/>
          </a:solidFill>
          <a:ln w="12700">
            <a:solidFill>
              <a:srgbClr val="00B05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23" name="Shape 21"/>
          <p:cNvSpPr/>
          <p:nvPr/>
        </p:nvSpPr>
        <p:spPr>
          <a:xfrm>
            <a:off x="5276088" y="1722120"/>
            <a:ext cx="457200" cy="457200"/>
          </a:xfrm>
          <a:prstGeom prst="ellipse">
            <a:avLst/>
          </a:prstGeom>
          <a:solidFill>
            <a:srgbClr val="00B05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4" name="Text 22"/>
          <p:cNvSpPr/>
          <p:nvPr/>
        </p:nvSpPr>
        <p:spPr>
          <a:xfrm>
            <a:off x="5276088" y="1722120"/>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03</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4654296" y="2270760"/>
            <a:ext cx="1700784" cy="384048"/>
          </a:xfrm>
          <a:prstGeom prst="rect">
            <a:avLst/>
          </a:prstGeom>
          <a:noFill/>
          <a:ln/>
        </p:spPr>
        <p:txBody>
          <a:bodyPr wrap="square" lIns="0" tIns="0" rIns="0" bIns="0" rtlCol="0" anchor="ctr"/>
          <a:lstStyle/>
          <a:p>
            <a:pPr marL="0" indent="0" algn="ctr">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Confirm the symptom is gone</a:t>
            </a:r>
          </a:p>
        </p:txBody>
      </p:sp>
      <p:sp>
        <p:nvSpPr>
          <p:cNvPr id="26" name="Shape 24"/>
          <p:cNvSpPr/>
          <p:nvPr/>
        </p:nvSpPr>
        <p:spPr>
          <a:xfrm>
            <a:off x="4654296" y="2700528"/>
            <a:ext cx="1700784" cy="0"/>
          </a:xfrm>
          <a:prstGeom prst="line">
            <a:avLst/>
          </a:prstGeom>
          <a:noFill/>
          <a:ln w="6350">
            <a:solidFill>
              <a:srgbClr val="E0E0E0"/>
            </a:solidFill>
            <a:prstDash val="solid"/>
          </a:ln>
        </p:spPr>
        <p:txBody>
          <a:bodyPr/>
          <a:lstStyle/>
          <a:p>
            <a:endParaRPr lang="en-US">
              <a:latin typeface="Open Sans" pitchFamily="2" charset="0"/>
              <a:ea typeface="Open Sans" pitchFamily="2" charset="0"/>
              <a:cs typeface="Open Sans" pitchFamily="2" charset="0"/>
            </a:endParaRPr>
          </a:p>
        </p:txBody>
      </p:sp>
      <p:sp>
        <p:nvSpPr>
          <p:cNvPr id="27" name="Text 25"/>
          <p:cNvSpPr/>
          <p:nvPr/>
        </p:nvSpPr>
        <p:spPr>
          <a:xfrm>
            <a:off x="4654296" y="2791968"/>
            <a:ext cx="1700784" cy="1508760"/>
          </a:xfrm>
          <a:prstGeom prst="rect">
            <a:avLst/>
          </a:prstGeom>
          <a:noFill/>
          <a:ln/>
        </p:spPr>
        <p:txBody>
          <a:bodyPr wrap="square" lIns="0" tIns="0" rIns="0" bIns="0" rtlCol="0" anchor="t"/>
          <a:lstStyle/>
          <a:p>
            <a:pPr marL="0" indent="0" algn="l">
              <a:buNone/>
            </a:pPr>
            <a:r>
              <a:rPr lang="en-US" sz="1100">
                <a:latin typeface="Open Sans" pitchFamily="2" charset="0"/>
                <a:ea typeface="Open Sans" pitchFamily="2" charset="0"/>
                <a:cs typeface="Open Sans" pitchFamily="2" charset="0"/>
              </a:rPr>
              <a:t>The original error or wrong output should no longer appear. If it does, you are back at Step 2. Describe what is still wrong and repeat the loop.</a:t>
            </a:r>
          </a:p>
        </p:txBody>
      </p:sp>
      <p:sp>
        <p:nvSpPr>
          <p:cNvPr id="28" name="Shape 26"/>
          <p:cNvSpPr/>
          <p:nvPr/>
        </p:nvSpPr>
        <p:spPr>
          <a:xfrm>
            <a:off x="6611112" y="1584960"/>
            <a:ext cx="1920240" cy="2595365"/>
          </a:xfrm>
          <a:prstGeom prst="roundRect">
            <a:avLst>
              <a:gd name="adj" fmla="val 4286"/>
            </a:avLst>
          </a:prstGeom>
          <a:solidFill>
            <a:srgbClr val="F7F7F7"/>
          </a:solidFill>
          <a:ln w="12700">
            <a:solidFill>
              <a:srgbClr val="00206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29" name="Shape 27"/>
          <p:cNvSpPr/>
          <p:nvPr/>
        </p:nvSpPr>
        <p:spPr>
          <a:xfrm>
            <a:off x="7342632" y="1722120"/>
            <a:ext cx="457200" cy="457200"/>
          </a:xfrm>
          <a:prstGeom prst="ellipse">
            <a:avLst/>
          </a:prstGeom>
          <a:solidFill>
            <a:srgbClr val="00206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30" name="Text 28"/>
          <p:cNvSpPr/>
          <p:nvPr/>
        </p:nvSpPr>
        <p:spPr>
          <a:xfrm>
            <a:off x="7342632" y="1722120"/>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04</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p:cNvSpPr/>
          <p:nvPr/>
        </p:nvSpPr>
        <p:spPr>
          <a:xfrm>
            <a:off x="6720840" y="2270760"/>
            <a:ext cx="1700784" cy="384048"/>
          </a:xfrm>
          <a:prstGeom prst="rect">
            <a:avLst/>
          </a:prstGeom>
          <a:noFill/>
          <a:ln/>
        </p:spPr>
        <p:txBody>
          <a:bodyPr wrap="square" lIns="0" tIns="0" rIns="0" bIns="0" rtlCol="0" anchor="ctr"/>
          <a:lstStyle/>
          <a:p>
            <a:pPr marL="0" indent="0" algn="ctr">
              <a:buNone/>
            </a:pPr>
            <a:r>
              <a:rPr lang="en-US" sz="1100" b="1">
                <a:solidFill>
                  <a:srgbClr val="002060"/>
                </a:solidFill>
                <a:latin typeface="Open Sans" panose="020B0606030504020204" pitchFamily="34" charset="0"/>
                <a:ea typeface="Open Sans" panose="020B0606030504020204" pitchFamily="34" charset="0"/>
                <a:cs typeface="Open Sans" panose="020B0606030504020204" pitchFamily="34" charset="0"/>
              </a:rPr>
              <a:t>Check nothing else broke</a:t>
            </a:r>
          </a:p>
        </p:txBody>
      </p:sp>
      <p:sp>
        <p:nvSpPr>
          <p:cNvPr id="32" name="Shape 30"/>
          <p:cNvSpPr/>
          <p:nvPr/>
        </p:nvSpPr>
        <p:spPr>
          <a:xfrm>
            <a:off x="6720840" y="2700528"/>
            <a:ext cx="1700784" cy="0"/>
          </a:xfrm>
          <a:prstGeom prst="line">
            <a:avLst/>
          </a:prstGeom>
          <a:noFill/>
          <a:ln w="6350">
            <a:solidFill>
              <a:srgbClr val="E0E0E0"/>
            </a:solidFill>
            <a:prstDash val="solid"/>
          </a:ln>
        </p:spPr>
        <p:txBody>
          <a:bodyPr/>
          <a:lstStyle/>
          <a:p>
            <a:endParaRPr lang="en-US">
              <a:latin typeface="Open Sans" pitchFamily="2" charset="0"/>
              <a:ea typeface="Open Sans" pitchFamily="2" charset="0"/>
              <a:cs typeface="Open Sans" pitchFamily="2" charset="0"/>
            </a:endParaRPr>
          </a:p>
        </p:txBody>
      </p:sp>
      <p:sp>
        <p:nvSpPr>
          <p:cNvPr id="33" name="Text 31"/>
          <p:cNvSpPr/>
          <p:nvPr/>
        </p:nvSpPr>
        <p:spPr>
          <a:xfrm>
            <a:off x="6720840" y="2791968"/>
            <a:ext cx="1700784" cy="1508760"/>
          </a:xfrm>
          <a:prstGeom prst="rect">
            <a:avLst/>
          </a:prstGeom>
          <a:noFill/>
          <a:ln/>
        </p:spPr>
        <p:txBody>
          <a:bodyPr wrap="square" lIns="0" tIns="0" rIns="0" bIns="0" rtlCol="0" anchor="t"/>
          <a:lstStyle/>
          <a:p>
            <a:pPr marL="0" indent="0" algn="l">
              <a:buNone/>
            </a:pPr>
            <a:r>
              <a:rPr lang="en-US" sz="1100">
                <a:latin typeface="Open Sans" pitchFamily="2" charset="0"/>
                <a:ea typeface="Open Sans" pitchFamily="2" charset="0"/>
                <a:cs typeface="Open Sans" pitchFamily="2" charset="0"/>
              </a:rPr>
              <a:t>Run the full output — not just the fixed section. A fix that solves one thing and silently breaks another is not a fix. It is a trade.</a:t>
            </a:r>
          </a:p>
        </p:txBody>
      </p:sp>
      <p:sp>
        <p:nvSpPr>
          <p:cNvPr id="34" name="Shape 32"/>
          <p:cNvSpPr/>
          <p:nvPr/>
        </p:nvSpPr>
        <p:spPr>
          <a:xfrm>
            <a:off x="411480" y="4326629"/>
            <a:ext cx="8321040" cy="320040"/>
          </a:xfrm>
          <a:prstGeom prst="roundRect">
            <a:avLst>
              <a:gd name="adj" fmla="val 20000"/>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33"/>
          <p:cNvSpPr/>
          <p:nvPr/>
        </p:nvSpPr>
        <p:spPr>
          <a:xfrm>
            <a:off x="411480" y="4326629"/>
            <a:ext cx="8321040" cy="320040"/>
          </a:xfrm>
          <a:prstGeom prst="rect">
            <a:avLst/>
          </a:prstGeom>
          <a:noFill/>
          <a:ln/>
        </p:spPr>
        <p:txBody>
          <a:bodyPr wrap="square" lIns="0" tIns="0" rIns="0" bIns="0" rtlCol="0" anchor="ctr"/>
          <a:lstStyle/>
          <a:p>
            <a:pPr marL="0" indent="0" algn="ctr">
              <a:buNone/>
            </a:pPr>
            <a:r>
              <a:rPr lang="en-US" sz="1100" b="1">
                <a:solidFill>
                  <a:srgbClr val="2D2D2D"/>
                </a:solidFill>
                <a:latin typeface="Open Sans" panose="020B0606030504020204" pitchFamily="34" charset="0"/>
                <a:ea typeface="Open Sans" panose="020B0606030504020204" pitchFamily="34" charset="0"/>
                <a:cs typeface="Open Sans" panose="020B0606030504020204" pitchFamily="34" charset="0"/>
              </a:rPr>
              <a:t>If the symptom is gone and nothing else broke, go to Step 5. If not, return to Step 2 with the new failure.</a:t>
            </a:r>
            <a:endParaRPr lang="en-US" sz="1100" b="1">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4">
            <a:extLst>
              <a:ext uri="{FF2B5EF4-FFF2-40B4-BE49-F238E27FC236}">
                <a16:creationId xmlns:a16="http://schemas.microsoft.com/office/drawing/2014/main" id="{C2147C61-F6A9-4911-F8B8-058EFB115375}"/>
              </a:ext>
            </a:extLst>
          </p:cNvPr>
          <p:cNvSpPr/>
          <p:nvPr/>
        </p:nvSpPr>
        <p:spPr>
          <a:xfrm>
            <a:off x="367200" y="183600"/>
            <a:ext cx="8321040" cy="438912"/>
          </a:xfrm>
          <a:prstGeom prst="rect">
            <a:avLst/>
          </a:prstGeom>
          <a:noFill/>
          <a:ln/>
        </p:spPr>
        <p:txBody>
          <a:bodyPr wrap="square" lIns="0" tIns="0" rIns="0" bIns="0" rtlCol="0" anchor="ctr"/>
          <a:lstStyle/>
          <a:p>
            <a:pPr marL="0" indent="0" algn="l">
              <a:buNone/>
            </a:pPr>
            <a:r>
              <a:rPr lang="en-US" sz="2800" b="1">
                <a:solidFill>
                  <a:srgbClr val="2D2D2D"/>
                </a:solidFill>
                <a:latin typeface="Open Sans" panose="020B0606030504020204" pitchFamily="34" charset="0"/>
                <a:ea typeface="Open Sans" panose="020B0606030504020204" pitchFamily="34" charset="0"/>
                <a:cs typeface="Open Sans" panose="020B0606030504020204" pitchFamily="34" charset="0"/>
              </a:rPr>
              <a:t>Step 5: Write a Test</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5">
            <a:extLst>
              <a:ext uri="{FF2B5EF4-FFF2-40B4-BE49-F238E27FC236}">
                <a16:creationId xmlns:a16="http://schemas.microsoft.com/office/drawing/2014/main" id="{F6CA52EA-7D8D-9454-6C3C-4B848420300B}"/>
              </a:ext>
            </a:extLst>
          </p:cNvPr>
          <p:cNvSpPr/>
          <p:nvPr/>
        </p:nvSpPr>
        <p:spPr>
          <a:xfrm>
            <a:off x="367200" y="712800"/>
            <a:ext cx="8321040" cy="237744"/>
          </a:xfrm>
          <a:prstGeom prst="rect">
            <a:avLst/>
          </a:prstGeom>
          <a:noFill/>
          <a:ln/>
        </p:spPr>
        <p:txBody>
          <a:bodyPr wrap="square" lIns="0" tIns="0" rIns="0" bIns="0" rtlCol="0" anchor="ctr"/>
          <a:lstStyle/>
          <a:p>
            <a:pPr marL="0" indent="0" algn="l">
              <a:buNone/>
            </a:pPr>
            <a:r>
              <a:rPr lang="en-US" sz="1200">
                <a:solidFill>
                  <a:schemeClr val="tx1">
                    <a:lumMod val="75000"/>
                    <a:lumOff val="25000"/>
                  </a:schemeClr>
                </a:solidFill>
                <a:latin typeface="Open Sans" pitchFamily="2" charset="0"/>
                <a:ea typeface="Open Sans" pitchFamily="2" charset="0"/>
                <a:cs typeface="Open Sans" pitchFamily="2" charset="0"/>
              </a:rPr>
              <a:t>Prompt for a test that fails on the broken code and passes only after the fix. This is how you stop the bug from coming back.</a:t>
            </a:r>
          </a:p>
        </p:txBody>
      </p:sp>
      <p:sp>
        <p:nvSpPr>
          <p:cNvPr id="5" name="Shape 6">
            <a:extLst>
              <a:ext uri="{FF2B5EF4-FFF2-40B4-BE49-F238E27FC236}">
                <a16:creationId xmlns:a16="http://schemas.microsoft.com/office/drawing/2014/main" id="{B96FA7F4-A1AB-B837-7F05-263CE0E5AC44}"/>
              </a:ext>
            </a:extLst>
          </p:cNvPr>
          <p:cNvSpPr/>
          <p:nvPr/>
        </p:nvSpPr>
        <p:spPr>
          <a:xfrm>
            <a:off x="429768" y="1051561"/>
            <a:ext cx="8321040" cy="475488"/>
          </a:xfrm>
          <a:prstGeom prst="roundRect">
            <a:avLst>
              <a:gd name="adj" fmla="val 15385"/>
            </a:avLst>
          </a:prstGeom>
          <a:solidFill>
            <a:schemeClr val="accent6">
              <a:lumMod val="20000"/>
              <a:lumOff val="80000"/>
            </a:schemeClr>
          </a:solidFill>
          <a:ln w="10160">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7">
            <a:extLst>
              <a:ext uri="{FF2B5EF4-FFF2-40B4-BE49-F238E27FC236}">
                <a16:creationId xmlns:a16="http://schemas.microsoft.com/office/drawing/2014/main" id="{AB4FB06A-D6CB-DA8E-D87F-8926708B2A25}"/>
              </a:ext>
            </a:extLst>
          </p:cNvPr>
          <p:cNvSpPr/>
          <p:nvPr/>
        </p:nvSpPr>
        <p:spPr>
          <a:xfrm>
            <a:off x="612648" y="1051561"/>
            <a:ext cx="7955280" cy="475488"/>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AI-generated code has no inherent accountability. A test is the mechanism that makes it accountable. Use Claude Code to write the test — force it to prove its own fix works before you trust it.</a:t>
            </a:r>
            <a:endParaRPr lang="en-US" sz="1050">
              <a:latin typeface="Open Sans" pitchFamily="2" charset="0"/>
              <a:ea typeface="Open Sans" pitchFamily="2" charset="0"/>
              <a:cs typeface="Open Sans" pitchFamily="2" charset="0"/>
            </a:endParaRPr>
          </a:p>
        </p:txBody>
      </p:sp>
      <p:sp>
        <p:nvSpPr>
          <p:cNvPr id="7" name="Shape 8">
            <a:extLst>
              <a:ext uri="{FF2B5EF4-FFF2-40B4-BE49-F238E27FC236}">
                <a16:creationId xmlns:a16="http://schemas.microsoft.com/office/drawing/2014/main" id="{B49F029C-0977-2DE1-5E72-AF0E59C59F91}"/>
              </a:ext>
            </a:extLst>
          </p:cNvPr>
          <p:cNvSpPr/>
          <p:nvPr/>
        </p:nvSpPr>
        <p:spPr>
          <a:xfrm>
            <a:off x="466344" y="1642458"/>
            <a:ext cx="5266944" cy="970500"/>
          </a:xfrm>
          <a:prstGeom prst="roundRect">
            <a:avLst>
              <a:gd name="adj" fmla="val 9091"/>
            </a:avLst>
          </a:prstGeom>
          <a:solidFill>
            <a:srgbClr val="1A1A1A"/>
          </a:solidFill>
          <a:ln w="12700">
            <a:solidFill>
              <a:srgbClr val="1A1A1A"/>
            </a:solidFill>
            <a:prstDash val="solid"/>
          </a:ln>
        </p:spPr>
        <p:txBody>
          <a:bodyPr/>
          <a:lstStyle/>
          <a:p>
            <a:endParaRPr lang="en-US">
              <a:latin typeface="Open Sans" pitchFamily="2" charset="0"/>
              <a:ea typeface="Open Sans" pitchFamily="2" charset="0"/>
              <a:cs typeface="Open Sans" pitchFamily="2" charset="0"/>
            </a:endParaRPr>
          </a:p>
        </p:txBody>
      </p:sp>
      <p:sp>
        <p:nvSpPr>
          <p:cNvPr id="8" name="Text 9">
            <a:extLst>
              <a:ext uri="{FF2B5EF4-FFF2-40B4-BE49-F238E27FC236}">
                <a16:creationId xmlns:a16="http://schemas.microsoft.com/office/drawing/2014/main" id="{B8031F27-1813-4315-7EA0-9C8E473E0424}"/>
              </a:ext>
            </a:extLst>
          </p:cNvPr>
          <p:cNvSpPr/>
          <p:nvPr/>
        </p:nvSpPr>
        <p:spPr>
          <a:xfrm>
            <a:off x="1139613" y="1874132"/>
            <a:ext cx="4572000" cy="585216"/>
          </a:xfrm>
          <a:prstGeom prst="rect">
            <a:avLst/>
          </a:prstGeom>
          <a:noFill/>
          <a:ln/>
        </p:spPr>
        <p:txBody>
          <a:bodyPr wrap="square" lIns="0" tIns="0" rIns="0" bIns="0" rtlCol="0" anchor="t"/>
          <a:lstStyle/>
          <a:p>
            <a:pPr marL="0" indent="0" algn="l">
              <a:buNone/>
            </a:pPr>
            <a:r>
              <a:rPr lang="en-US" sz="1100">
                <a:solidFill>
                  <a:srgbClr val="00B050"/>
                </a:solidFill>
                <a:latin typeface="Open Sans" pitchFamily="2" charset="0"/>
                <a:ea typeface="Open Sans" pitchFamily="2" charset="0"/>
                <a:cs typeface="Open Sans" pitchFamily="2" charset="0"/>
              </a:rPr>
              <a:t>$ claude "Write a test for flag_stale_accounts that fails</a:t>
            </a:r>
          </a:p>
          <a:p>
            <a:pPr marL="0" indent="0" algn="l">
              <a:buNone/>
            </a:pPr>
            <a:r>
              <a:rPr lang="en-US" sz="1100">
                <a:solidFill>
                  <a:srgbClr val="00B050"/>
                </a:solidFill>
                <a:latin typeface="Open Sans" pitchFamily="2" charset="0"/>
                <a:ea typeface="Open Sans" pitchFamily="2" charset="0"/>
                <a:cs typeface="Open Sans" pitchFamily="2" charset="0"/>
              </a:rPr>
              <a:t>if the function crashes on a missing last_contact field.</a:t>
            </a:r>
          </a:p>
          <a:p>
            <a:pPr marL="0" indent="0" algn="l">
              <a:buNone/>
            </a:pPr>
            <a:r>
              <a:rPr lang="en-US" sz="1100">
                <a:solidFill>
                  <a:srgbClr val="00B050"/>
                </a:solidFill>
                <a:latin typeface="Open Sans" pitchFamily="2" charset="0"/>
                <a:ea typeface="Open Sans" pitchFamily="2" charset="0"/>
                <a:cs typeface="Open Sans" pitchFamily="2" charset="0"/>
              </a:rPr>
              <a:t>Pass only when it handles it gracefully with a clear error."</a:t>
            </a:r>
          </a:p>
        </p:txBody>
      </p:sp>
      <p:sp>
        <p:nvSpPr>
          <p:cNvPr id="9" name="Shape 10">
            <a:extLst>
              <a:ext uri="{FF2B5EF4-FFF2-40B4-BE49-F238E27FC236}">
                <a16:creationId xmlns:a16="http://schemas.microsoft.com/office/drawing/2014/main" id="{42CEB0A9-D04A-7891-ED02-F36BD73CE64D}"/>
              </a:ext>
            </a:extLst>
          </p:cNvPr>
          <p:cNvSpPr/>
          <p:nvPr/>
        </p:nvSpPr>
        <p:spPr>
          <a:xfrm>
            <a:off x="6062472" y="1737360"/>
            <a:ext cx="2633472" cy="875598"/>
          </a:xfrm>
          <a:prstGeom prst="roundRect">
            <a:avLst>
              <a:gd name="adj" fmla="val 9091"/>
            </a:avLst>
          </a:prstGeom>
          <a:solidFill>
            <a:srgbClr val="EAF4EC"/>
          </a:solidFill>
          <a:ln w="12700">
            <a:solidFill>
              <a:srgbClr val="00B05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0" name="Text 11">
            <a:extLst>
              <a:ext uri="{FF2B5EF4-FFF2-40B4-BE49-F238E27FC236}">
                <a16:creationId xmlns:a16="http://schemas.microsoft.com/office/drawing/2014/main" id="{18A351F0-5F4E-5EFF-F62A-0F18AB18FEDC}"/>
              </a:ext>
            </a:extLst>
          </p:cNvPr>
          <p:cNvSpPr/>
          <p:nvPr/>
        </p:nvSpPr>
        <p:spPr>
          <a:xfrm>
            <a:off x="6233160" y="1766932"/>
            <a:ext cx="2298192" cy="237744"/>
          </a:xfrm>
          <a:prstGeom prst="rect">
            <a:avLst/>
          </a:prstGeom>
          <a:noFill/>
          <a:ln/>
        </p:spPr>
        <p:txBody>
          <a:bodyPr wrap="square" lIns="0" tIns="0" rIns="0" bIns="0" rtlCol="0" anchor="ctr"/>
          <a:lstStyle/>
          <a:p>
            <a:pPr marL="0" indent="0" algn="l">
              <a:buNone/>
            </a:pPr>
            <a:r>
              <a:rPr lang="en-US" sz="1000" b="1">
                <a:solidFill>
                  <a:srgbClr val="00B050"/>
                </a:solidFill>
                <a:latin typeface="Open Sans" panose="020B0606030504020204" pitchFamily="34" charset="0"/>
                <a:ea typeface="Open Sans" panose="020B0606030504020204" pitchFamily="34" charset="0"/>
                <a:cs typeface="Open Sans" panose="020B0606030504020204" pitchFamily="34" charset="0"/>
              </a:rPr>
              <a:t>Before committing the test, check:</a:t>
            </a:r>
          </a:p>
        </p:txBody>
      </p:sp>
      <p:sp>
        <p:nvSpPr>
          <p:cNvPr id="11" name="Text 12">
            <a:extLst>
              <a:ext uri="{FF2B5EF4-FFF2-40B4-BE49-F238E27FC236}">
                <a16:creationId xmlns:a16="http://schemas.microsoft.com/office/drawing/2014/main" id="{246BCD8C-75E7-918F-A3B1-06C50DC66F19}"/>
              </a:ext>
            </a:extLst>
          </p:cNvPr>
          <p:cNvSpPr/>
          <p:nvPr/>
        </p:nvSpPr>
        <p:spPr>
          <a:xfrm>
            <a:off x="6233160" y="1988700"/>
            <a:ext cx="2111925" cy="206250"/>
          </a:xfrm>
          <a:prstGeom prst="rect">
            <a:avLst/>
          </a:prstGeom>
          <a:noFill/>
          <a:ln/>
        </p:spPr>
        <p:txBody>
          <a:bodyPr wrap="square" lIns="0" tIns="0" rIns="0" bIns="0" rtlCol="0" anchor="ctr"/>
          <a:lstStyle/>
          <a:p>
            <a:pPr marL="0" indent="0" algn="l">
              <a:buNone/>
            </a:pPr>
            <a:r>
              <a:rPr lang="en-US" sz="1100">
                <a:solidFill>
                  <a:srgbClr val="00B050"/>
                </a:solidFill>
                <a:latin typeface="Open Sans" pitchFamily="2" charset="0"/>
                <a:ea typeface="Open Sans" pitchFamily="2" charset="0"/>
                <a:cs typeface="Open Sans" pitchFamily="2" charset="0"/>
              </a:rPr>
              <a:t>✓ </a:t>
            </a:r>
            <a:r>
              <a:rPr lang="en-US" sz="1100">
                <a:solidFill>
                  <a:srgbClr val="555555"/>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Does it test what it says?</a:t>
            </a:r>
          </a:p>
        </p:txBody>
      </p:sp>
      <p:sp>
        <p:nvSpPr>
          <p:cNvPr id="12" name="Text 13">
            <a:extLst>
              <a:ext uri="{FF2B5EF4-FFF2-40B4-BE49-F238E27FC236}">
                <a16:creationId xmlns:a16="http://schemas.microsoft.com/office/drawing/2014/main" id="{0EE7AB19-AC9F-B564-7C25-A9AF16CF7DC1}"/>
              </a:ext>
            </a:extLst>
          </p:cNvPr>
          <p:cNvSpPr/>
          <p:nvPr/>
        </p:nvSpPr>
        <p:spPr>
          <a:xfrm>
            <a:off x="6233160" y="2166740"/>
            <a:ext cx="2111925" cy="206250"/>
          </a:xfrm>
          <a:prstGeom prst="rect">
            <a:avLst/>
          </a:prstGeom>
          <a:noFill/>
          <a:ln/>
        </p:spPr>
        <p:txBody>
          <a:bodyPr wrap="square" lIns="0" tIns="0" rIns="0" bIns="0" rtlCol="0" anchor="ctr"/>
          <a:lstStyle/>
          <a:p>
            <a:pPr marL="0" indent="0" algn="l">
              <a:buNone/>
            </a:pPr>
            <a:r>
              <a:rPr lang="en-US" sz="1100">
                <a:solidFill>
                  <a:srgbClr val="00B050"/>
                </a:solidFill>
                <a:latin typeface="Open Sans" pitchFamily="2" charset="0"/>
                <a:ea typeface="Open Sans" pitchFamily="2" charset="0"/>
                <a:cs typeface="Open Sans" pitchFamily="2" charset="0"/>
              </a:rPr>
              <a:t>✓</a:t>
            </a:r>
            <a:r>
              <a:rPr lang="en-US" sz="1100">
                <a:solidFill>
                  <a:srgbClr val="555555"/>
                </a:solidFill>
                <a:latin typeface="Open Sans" pitchFamily="2" charset="0"/>
                <a:ea typeface="Open Sans" pitchFamily="2" charset="0"/>
                <a:cs typeface="Open Sans" pitchFamily="2" charset="0"/>
              </a:rPr>
              <a:t>  Could it pass vacuously?</a:t>
            </a:r>
            <a:endParaRPr lang="en-US" sz="1100">
              <a:latin typeface="Open Sans" pitchFamily="2" charset="0"/>
              <a:ea typeface="Open Sans" pitchFamily="2" charset="0"/>
              <a:cs typeface="Open Sans" pitchFamily="2" charset="0"/>
            </a:endParaRPr>
          </a:p>
        </p:txBody>
      </p:sp>
      <p:sp>
        <p:nvSpPr>
          <p:cNvPr id="13" name="Text 14">
            <a:extLst>
              <a:ext uri="{FF2B5EF4-FFF2-40B4-BE49-F238E27FC236}">
                <a16:creationId xmlns:a16="http://schemas.microsoft.com/office/drawing/2014/main" id="{0F8D7BB1-677B-6722-6803-8B51CEF281D6}"/>
              </a:ext>
            </a:extLst>
          </p:cNvPr>
          <p:cNvSpPr/>
          <p:nvPr/>
        </p:nvSpPr>
        <p:spPr>
          <a:xfrm>
            <a:off x="6233160" y="2344780"/>
            <a:ext cx="2111925" cy="206250"/>
          </a:xfrm>
          <a:prstGeom prst="rect">
            <a:avLst/>
          </a:prstGeom>
          <a:noFill/>
          <a:ln/>
        </p:spPr>
        <p:txBody>
          <a:bodyPr wrap="square" lIns="0" tIns="0" rIns="0" bIns="0" rtlCol="0" anchor="ctr"/>
          <a:lstStyle/>
          <a:p>
            <a:pPr marL="0" indent="0" algn="l">
              <a:buNone/>
            </a:pPr>
            <a:r>
              <a:rPr lang="en-US" sz="1100">
                <a:solidFill>
                  <a:srgbClr val="00B050"/>
                </a:solidFill>
                <a:latin typeface="Open Sans" pitchFamily="2" charset="0"/>
                <a:ea typeface="Open Sans" pitchFamily="2" charset="0"/>
                <a:cs typeface="Open Sans" pitchFamily="2" charset="0"/>
              </a:rPr>
              <a:t>✓</a:t>
            </a:r>
            <a:r>
              <a:rPr lang="en-US" sz="1100">
                <a:solidFill>
                  <a:srgbClr val="555555"/>
                </a:solidFill>
                <a:latin typeface="Open Sans" pitchFamily="2" charset="0"/>
                <a:ea typeface="Open Sans" pitchFamily="2" charset="0"/>
                <a:cs typeface="Open Sans" pitchFamily="2" charset="0"/>
              </a:rPr>
              <a:t>  Is the expected value correct?</a:t>
            </a:r>
            <a:endParaRPr lang="en-US" sz="1100">
              <a:latin typeface="Open Sans" pitchFamily="2" charset="0"/>
              <a:ea typeface="Open Sans" pitchFamily="2" charset="0"/>
              <a:cs typeface="Open Sans" pitchFamily="2" charset="0"/>
            </a:endParaRPr>
          </a:p>
        </p:txBody>
      </p:sp>
      <p:sp>
        <p:nvSpPr>
          <p:cNvPr id="14" name="Shape 15">
            <a:extLst>
              <a:ext uri="{FF2B5EF4-FFF2-40B4-BE49-F238E27FC236}">
                <a16:creationId xmlns:a16="http://schemas.microsoft.com/office/drawing/2014/main" id="{1E02BE8A-D538-0BB9-F9C2-F736972EBEAB}"/>
              </a:ext>
            </a:extLst>
          </p:cNvPr>
          <p:cNvSpPr/>
          <p:nvPr/>
        </p:nvSpPr>
        <p:spPr>
          <a:xfrm>
            <a:off x="466344" y="2697479"/>
            <a:ext cx="2633472" cy="1730443"/>
          </a:xfrm>
          <a:prstGeom prst="roundRect">
            <a:avLst>
              <a:gd name="adj" fmla="val 4717"/>
            </a:avLst>
          </a:prstGeom>
          <a:solidFill>
            <a:srgbClr val="F7F7F7"/>
          </a:solidFill>
          <a:ln w="12700">
            <a:solidFill>
              <a:schemeClr val="accent3"/>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16">
            <a:extLst>
              <a:ext uri="{FF2B5EF4-FFF2-40B4-BE49-F238E27FC236}">
                <a16:creationId xmlns:a16="http://schemas.microsoft.com/office/drawing/2014/main" id="{E102D0BA-12CD-4373-CD9F-1D917CE2F630}"/>
              </a:ext>
            </a:extLst>
          </p:cNvPr>
          <p:cNvSpPr/>
          <p:nvPr/>
        </p:nvSpPr>
        <p:spPr>
          <a:xfrm>
            <a:off x="630936" y="2834640"/>
            <a:ext cx="2304288" cy="292608"/>
          </a:xfrm>
          <a:prstGeom prst="rect">
            <a:avLst/>
          </a:prstGeom>
          <a:noFill/>
          <a:ln/>
        </p:spPr>
        <p:txBody>
          <a:bodyPr wrap="square" lIns="0" tIns="0" rIns="0" bIns="0" rtlCol="0" anchor="ctr"/>
          <a:lstStyle/>
          <a:p>
            <a:pPr marL="0" indent="0" algn="l">
              <a:buNone/>
            </a:pPr>
            <a:r>
              <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Unit test</a:t>
            </a:r>
          </a:p>
        </p:txBody>
      </p:sp>
      <p:sp>
        <p:nvSpPr>
          <p:cNvPr id="16" name="Shape 17">
            <a:extLst>
              <a:ext uri="{FF2B5EF4-FFF2-40B4-BE49-F238E27FC236}">
                <a16:creationId xmlns:a16="http://schemas.microsoft.com/office/drawing/2014/main" id="{E10E6578-0573-2039-EAE1-0576E3F86C9F}"/>
              </a:ext>
            </a:extLst>
          </p:cNvPr>
          <p:cNvSpPr/>
          <p:nvPr/>
        </p:nvSpPr>
        <p:spPr>
          <a:xfrm>
            <a:off x="630936" y="3172968"/>
            <a:ext cx="2304288" cy="0"/>
          </a:xfrm>
          <a:prstGeom prst="line">
            <a:avLst/>
          </a:prstGeom>
          <a:noFill/>
          <a:ln w="6350">
            <a:solidFill>
              <a:srgbClr val="E0E0E0"/>
            </a:solidFill>
            <a:prstDash val="solid"/>
          </a:ln>
        </p:spPr>
        <p:txBody>
          <a:bodyPr/>
          <a:lstStyle/>
          <a:p>
            <a:endParaRPr lang="en-US">
              <a:latin typeface="Open Sans" pitchFamily="2" charset="0"/>
              <a:ea typeface="Open Sans" pitchFamily="2" charset="0"/>
              <a:cs typeface="Open Sans" pitchFamily="2" charset="0"/>
            </a:endParaRPr>
          </a:p>
        </p:txBody>
      </p:sp>
      <p:sp>
        <p:nvSpPr>
          <p:cNvPr id="17" name="Text 18">
            <a:extLst>
              <a:ext uri="{FF2B5EF4-FFF2-40B4-BE49-F238E27FC236}">
                <a16:creationId xmlns:a16="http://schemas.microsoft.com/office/drawing/2014/main" id="{B995FD0C-07B0-ECB2-3F3E-4FD8D093C7BF}"/>
              </a:ext>
            </a:extLst>
          </p:cNvPr>
          <p:cNvSpPr/>
          <p:nvPr/>
        </p:nvSpPr>
        <p:spPr>
          <a:xfrm>
            <a:off x="630936" y="3264408"/>
            <a:ext cx="2304288" cy="1261872"/>
          </a:xfrm>
          <a:prstGeom prst="rect">
            <a:avLst/>
          </a:prstGeom>
          <a:noFill/>
          <a:ln/>
        </p:spPr>
        <p:txBody>
          <a:bodyPr wrap="square" lIns="0" tIns="0" rIns="0" bIns="0" rtlCol="0" anchor="t"/>
          <a:lstStyle/>
          <a:p>
            <a:pPr marL="0" indent="0" algn="l">
              <a:buNone/>
            </a:pPr>
            <a:r>
              <a:rPr lang="en-US" sz="1100">
                <a:solidFill>
                  <a:srgbClr val="555555"/>
                </a:solidFill>
                <a:latin typeface="Open Sans" pitchFamily="2" charset="0"/>
                <a:ea typeface="Open Sans" pitchFamily="2" charset="0"/>
                <a:cs typeface="Open Sans" pitchFamily="2" charset="0"/>
              </a:rPr>
              <a:t>Tests one function in isolation. Give it a known input and assert the exact output. If the function hallucinates a library call, the unit test catches it before it ever runs against real data.</a:t>
            </a:r>
            <a:endParaRPr lang="en-US" sz="1100">
              <a:latin typeface="Open Sans" pitchFamily="2" charset="0"/>
              <a:ea typeface="Open Sans" pitchFamily="2" charset="0"/>
              <a:cs typeface="Open Sans" pitchFamily="2" charset="0"/>
            </a:endParaRPr>
          </a:p>
        </p:txBody>
      </p:sp>
      <p:sp>
        <p:nvSpPr>
          <p:cNvPr id="18" name="Shape 19">
            <a:extLst>
              <a:ext uri="{FF2B5EF4-FFF2-40B4-BE49-F238E27FC236}">
                <a16:creationId xmlns:a16="http://schemas.microsoft.com/office/drawing/2014/main" id="{0825DB7F-80A6-5E55-7F8B-F6E5EE6D7C93}"/>
              </a:ext>
            </a:extLst>
          </p:cNvPr>
          <p:cNvSpPr/>
          <p:nvPr/>
        </p:nvSpPr>
        <p:spPr>
          <a:xfrm>
            <a:off x="3264408" y="2697479"/>
            <a:ext cx="2633472" cy="1730443"/>
          </a:xfrm>
          <a:prstGeom prst="roundRect">
            <a:avLst>
              <a:gd name="adj" fmla="val 4717"/>
            </a:avLst>
          </a:prstGeom>
          <a:solidFill>
            <a:srgbClr val="F7F7F7"/>
          </a:solidFill>
          <a:ln w="12700">
            <a:solidFill>
              <a:srgbClr val="00B05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9" name="Text 20">
            <a:extLst>
              <a:ext uri="{FF2B5EF4-FFF2-40B4-BE49-F238E27FC236}">
                <a16:creationId xmlns:a16="http://schemas.microsoft.com/office/drawing/2014/main" id="{ABAAF65F-E6AB-8654-8FB0-170A1AEA748E}"/>
              </a:ext>
            </a:extLst>
          </p:cNvPr>
          <p:cNvSpPr/>
          <p:nvPr/>
        </p:nvSpPr>
        <p:spPr>
          <a:xfrm>
            <a:off x="3429000" y="2834640"/>
            <a:ext cx="2304288" cy="292608"/>
          </a:xfrm>
          <a:prstGeom prst="rect">
            <a:avLst/>
          </a:prstGeom>
          <a:noFill/>
          <a:ln/>
        </p:spPr>
        <p:txBody>
          <a:bodyPr wrap="square" lIns="0" tIns="0" rIns="0" bIns="0" rtlCol="0" anchor="ctr"/>
          <a:lstStyle/>
          <a:p>
            <a:pPr marL="0" indent="0" algn="l">
              <a:buNone/>
            </a:pPr>
            <a:r>
              <a:rPr lang="en-US" sz="1400" b="1">
                <a:solidFill>
                  <a:srgbClr val="00B050"/>
                </a:solidFill>
                <a:latin typeface="Open Sans" panose="020B0606030504020204" pitchFamily="34" charset="0"/>
                <a:ea typeface="Open Sans" panose="020B0606030504020204" pitchFamily="34" charset="0"/>
                <a:cs typeface="Open Sans" panose="020B0606030504020204" pitchFamily="34" charset="0"/>
              </a:rPr>
              <a:t>Integration test</a:t>
            </a:r>
          </a:p>
        </p:txBody>
      </p:sp>
      <p:sp>
        <p:nvSpPr>
          <p:cNvPr id="20" name="Shape 21">
            <a:extLst>
              <a:ext uri="{FF2B5EF4-FFF2-40B4-BE49-F238E27FC236}">
                <a16:creationId xmlns:a16="http://schemas.microsoft.com/office/drawing/2014/main" id="{D3748C39-A289-AEBC-DF39-65ABEFA3B109}"/>
              </a:ext>
            </a:extLst>
          </p:cNvPr>
          <p:cNvSpPr/>
          <p:nvPr/>
        </p:nvSpPr>
        <p:spPr>
          <a:xfrm>
            <a:off x="3429000" y="3172968"/>
            <a:ext cx="2304288" cy="0"/>
          </a:xfrm>
          <a:prstGeom prst="line">
            <a:avLst/>
          </a:prstGeom>
          <a:noFill/>
          <a:ln w="6350">
            <a:solidFill>
              <a:srgbClr val="E0E0E0"/>
            </a:solidFill>
            <a:prstDash val="solid"/>
          </a:ln>
        </p:spPr>
        <p:txBody>
          <a:bodyPr/>
          <a:lstStyle/>
          <a:p>
            <a:endParaRPr lang="en-US">
              <a:latin typeface="Open Sans" pitchFamily="2" charset="0"/>
              <a:ea typeface="Open Sans" pitchFamily="2" charset="0"/>
              <a:cs typeface="Open Sans" pitchFamily="2" charset="0"/>
            </a:endParaRPr>
          </a:p>
        </p:txBody>
      </p:sp>
      <p:sp>
        <p:nvSpPr>
          <p:cNvPr id="21" name="Text 22">
            <a:extLst>
              <a:ext uri="{FF2B5EF4-FFF2-40B4-BE49-F238E27FC236}">
                <a16:creationId xmlns:a16="http://schemas.microsoft.com/office/drawing/2014/main" id="{AE2BF8E9-394A-8F32-CFEB-5837FBC01C8F}"/>
              </a:ext>
            </a:extLst>
          </p:cNvPr>
          <p:cNvSpPr/>
          <p:nvPr/>
        </p:nvSpPr>
        <p:spPr>
          <a:xfrm>
            <a:off x="3429000" y="3264408"/>
            <a:ext cx="2304288" cy="1261872"/>
          </a:xfrm>
          <a:prstGeom prst="rect">
            <a:avLst/>
          </a:prstGeom>
          <a:noFill/>
          <a:ln/>
        </p:spPr>
        <p:txBody>
          <a:bodyPr wrap="square" lIns="0" tIns="0" rIns="0" bIns="0" rtlCol="0" anchor="t"/>
          <a:lstStyle/>
          <a:p>
            <a:pPr marL="0" indent="0" algn="l">
              <a:buNone/>
            </a:pPr>
            <a:r>
              <a:rPr lang="en-US" sz="1100">
                <a:solidFill>
                  <a:schemeClr val="tx2"/>
                </a:solidFill>
                <a:latin typeface="Open Sans" pitchFamily="2" charset="0"/>
                <a:ea typeface="Open Sans" pitchFamily="2" charset="0"/>
                <a:cs typeface="Open Sans" pitchFamily="2" charset="0"/>
              </a:rPr>
              <a:t>Tests the full flow end to end. Submit a discharge record, verify it is stored with integer doses, verify a draft is generated and masked, verify only an approved draft is released. If any step silently fails, the integration test surfaces it.</a:t>
            </a:r>
          </a:p>
        </p:txBody>
      </p:sp>
      <p:sp>
        <p:nvSpPr>
          <p:cNvPr id="22" name="Shape 23">
            <a:extLst>
              <a:ext uri="{FF2B5EF4-FFF2-40B4-BE49-F238E27FC236}">
                <a16:creationId xmlns:a16="http://schemas.microsoft.com/office/drawing/2014/main" id="{A6273A6B-3230-6242-CEE3-3FCF62015ABA}"/>
              </a:ext>
            </a:extLst>
          </p:cNvPr>
          <p:cNvSpPr/>
          <p:nvPr/>
        </p:nvSpPr>
        <p:spPr>
          <a:xfrm>
            <a:off x="6062472" y="2697479"/>
            <a:ext cx="2633472" cy="1730443"/>
          </a:xfrm>
          <a:prstGeom prst="roundRect">
            <a:avLst>
              <a:gd name="adj" fmla="val 4717"/>
            </a:avLst>
          </a:prstGeom>
          <a:solidFill>
            <a:srgbClr val="F7F7F7"/>
          </a:solidFill>
          <a:ln w="12700">
            <a:solidFill>
              <a:schemeClr val="accent1"/>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23" name="Text 24">
            <a:extLst>
              <a:ext uri="{FF2B5EF4-FFF2-40B4-BE49-F238E27FC236}">
                <a16:creationId xmlns:a16="http://schemas.microsoft.com/office/drawing/2014/main" id="{FC49B863-673E-13F4-B109-83F7235853F4}"/>
              </a:ext>
            </a:extLst>
          </p:cNvPr>
          <p:cNvSpPr/>
          <p:nvPr/>
        </p:nvSpPr>
        <p:spPr>
          <a:xfrm>
            <a:off x="6227064" y="2834640"/>
            <a:ext cx="2304288" cy="292608"/>
          </a:xfrm>
          <a:prstGeom prst="rect">
            <a:avLst/>
          </a:prstGeom>
          <a:noFill/>
          <a:ln/>
        </p:spPr>
        <p:txBody>
          <a:bodyPr wrap="square" lIns="0" tIns="0" rIns="0" bIns="0" rtlCol="0" anchor="ctr"/>
          <a:lstStyle/>
          <a:p>
            <a:pPr marL="0" indent="0" algn="l">
              <a:buNone/>
            </a:pPr>
            <a:r>
              <a:rPr lang="en-US" sz="1400" b="1">
                <a:solidFill>
                  <a:schemeClr val="accent1"/>
                </a:solidFill>
                <a:latin typeface="Open Sans" panose="020B0606030504020204" pitchFamily="34" charset="0"/>
                <a:ea typeface="Open Sans" panose="020B0606030504020204" pitchFamily="34" charset="0"/>
                <a:cs typeface="Open Sans" panose="020B0606030504020204" pitchFamily="34" charset="0"/>
              </a:rPr>
              <a:t>Why this is not optional</a:t>
            </a:r>
          </a:p>
        </p:txBody>
      </p:sp>
      <p:sp>
        <p:nvSpPr>
          <p:cNvPr id="24" name="Shape 25">
            <a:extLst>
              <a:ext uri="{FF2B5EF4-FFF2-40B4-BE49-F238E27FC236}">
                <a16:creationId xmlns:a16="http://schemas.microsoft.com/office/drawing/2014/main" id="{4AF14455-BC9A-AC94-DFA5-5A1ABB426235}"/>
              </a:ext>
            </a:extLst>
          </p:cNvPr>
          <p:cNvSpPr/>
          <p:nvPr/>
        </p:nvSpPr>
        <p:spPr>
          <a:xfrm>
            <a:off x="6227064" y="3172968"/>
            <a:ext cx="2304288" cy="0"/>
          </a:xfrm>
          <a:prstGeom prst="line">
            <a:avLst/>
          </a:prstGeom>
          <a:noFill/>
          <a:ln w="6350">
            <a:solidFill>
              <a:srgbClr val="E0E0E0"/>
            </a:solidFill>
            <a:prstDash val="solid"/>
          </a:ln>
        </p:spPr>
        <p:txBody>
          <a:bodyPr/>
          <a:lstStyle/>
          <a:p>
            <a:endParaRPr lang="en-US">
              <a:latin typeface="Open Sans" pitchFamily="2" charset="0"/>
              <a:ea typeface="Open Sans" pitchFamily="2" charset="0"/>
              <a:cs typeface="Open Sans" pitchFamily="2" charset="0"/>
            </a:endParaRPr>
          </a:p>
        </p:txBody>
      </p:sp>
      <p:sp>
        <p:nvSpPr>
          <p:cNvPr id="25" name="Text 26">
            <a:extLst>
              <a:ext uri="{FF2B5EF4-FFF2-40B4-BE49-F238E27FC236}">
                <a16:creationId xmlns:a16="http://schemas.microsoft.com/office/drawing/2014/main" id="{BF2B8B84-C3BE-3CF7-A4AB-E30304B2CE8B}"/>
              </a:ext>
            </a:extLst>
          </p:cNvPr>
          <p:cNvSpPr/>
          <p:nvPr/>
        </p:nvSpPr>
        <p:spPr>
          <a:xfrm>
            <a:off x="6227064" y="3264408"/>
            <a:ext cx="2304288" cy="1261872"/>
          </a:xfrm>
          <a:prstGeom prst="rect">
            <a:avLst/>
          </a:prstGeom>
          <a:noFill/>
          <a:ln/>
        </p:spPr>
        <p:txBody>
          <a:bodyPr wrap="square" lIns="0" tIns="0" rIns="0" bIns="0" rtlCol="0" anchor="t"/>
          <a:lstStyle/>
          <a:p>
            <a:pPr marL="0" indent="0" algn="l">
              <a:buNone/>
            </a:pPr>
            <a:r>
              <a:rPr lang="en-US" sz="1100">
                <a:solidFill>
                  <a:srgbClr val="555555"/>
                </a:solidFill>
                <a:latin typeface="Open Sans" pitchFamily="2" charset="0"/>
                <a:ea typeface="Open Sans" pitchFamily="2" charset="0"/>
                <a:cs typeface="Open Sans" pitchFamily="2" charset="0"/>
              </a:rPr>
              <a:t>Hallucinated functions, invented endpoints, and subtly broken logic all pass casual review. They pass because the code looks right. A test does not read the code — it runs the code. That is the difference.</a:t>
            </a:r>
            <a:endParaRPr lang="en-US" sz="1100">
              <a:latin typeface="Open Sans" pitchFamily="2" charset="0"/>
              <a:ea typeface="Open Sans" pitchFamily="2" charset="0"/>
              <a:cs typeface="Open Sans" pitchFamily="2" charset="0"/>
            </a:endParaRPr>
          </a:p>
        </p:txBody>
      </p:sp>
      <p:sp>
        <p:nvSpPr>
          <p:cNvPr id="26" name="Text 27">
            <a:extLst>
              <a:ext uri="{FF2B5EF4-FFF2-40B4-BE49-F238E27FC236}">
                <a16:creationId xmlns:a16="http://schemas.microsoft.com/office/drawing/2014/main" id="{CA0F63E0-7B36-BC8F-C4BC-E754FC45B0E9}"/>
              </a:ext>
            </a:extLst>
          </p:cNvPr>
          <p:cNvSpPr/>
          <p:nvPr/>
        </p:nvSpPr>
        <p:spPr>
          <a:xfrm>
            <a:off x="411480" y="4510218"/>
            <a:ext cx="8321040" cy="237744"/>
          </a:xfrm>
          <a:prstGeom prst="rect">
            <a:avLst/>
          </a:prstGeom>
          <a:noFill/>
          <a:ln/>
        </p:spPr>
        <p:txBody>
          <a:bodyPr wrap="square" lIns="0" tIns="0" rIns="0" bIns="0" rtlCol="0" anchor="ctr"/>
          <a:lstStyle/>
          <a:p>
            <a:pPr marL="0" indent="0" algn="ctr">
              <a:buNone/>
            </a:pPr>
            <a:r>
              <a:rPr lang="en-US" sz="1150" i="1">
                <a:solidFill>
                  <a:schemeClr val="tx2"/>
                </a:solidFill>
                <a:latin typeface="Open Sans" pitchFamily="2" charset="0"/>
                <a:ea typeface="Open Sans" pitchFamily="2" charset="0"/>
                <a:cs typeface="Open Sans" pitchFamily="2" charset="0"/>
              </a:rPr>
              <a:t>Test first. Accept second. This is the order that matters.</a:t>
            </a:r>
            <a:endParaRPr lang="en-US" sz="115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571443615"/>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a:extLst>
              <a:ext uri="{FF2B5EF4-FFF2-40B4-BE49-F238E27FC236}">
                <a16:creationId xmlns:a16="http://schemas.microsoft.com/office/drawing/2014/main" id="{A5C4F579-AA11-E146-3811-2DE38DA7DA6E}"/>
              </a:ext>
            </a:extLst>
          </p:cNvPr>
          <p:cNvSpPr/>
          <p:nvPr/>
        </p:nvSpPr>
        <p:spPr>
          <a:xfrm>
            <a:off x="394212" y="201168"/>
            <a:ext cx="841248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Testing LLM Features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4CB6F957-8F0A-815F-C3D8-376B4980501A}"/>
              </a:ext>
            </a:extLst>
          </p:cNvPr>
          <p:cNvSpPr/>
          <p:nvPr/>
        </p:nvSpPr>
        <p:spPr>
          <a:xfrm>
            <a:off x="394212" y="676656"/>
            <a:ext cx="8412480" cy="420624"/>
          </a:xfrm>
          <a:prstGeom prst="rect">
            <a:avLst/>
          </a:prstGeom>
          <a:noFill/>
          <a:ln/>
        </p:spPr>
        <p:txBody>
          <a:bodyPr wrap="square" lIns="0" tIns="0" rIns="0" bIns="0" rtlCol="0" anchor="t">
            <a:noAutofit/>
          </a:bodyPr>
          <a:lstStyle/>
          <a:p>
            <a:pPr marL="0" indent="0" algn="l">
              <a:buNone/>
            </a:pPr>
            <a:r>
              <a:rPr lang="en-US" sz="1400">
                <a:solidFill>
                  <a:schemeClr val="tx2"/>
                </a:solidFill>
                <a:latin typeface="Open Sans" pitchFamily="2" charset="0"/>
                <a:ea typeface="Open Sans" pitchFamily="2" charset="0"/>
                <a:cs typeface="Open Sans" pitchFamily="2" charset="0"/>
              </a:rPr>
              <a:t>Deterministic tests around a non-deterministic component.</a:t>
            </a:r>
          </a:p>
        </p:txBody>
      </p:sp>
      <p:sp>
        <p:nvSpPr>
          <p:cNvPr id="5" name="Shape 2">
            <a:extLst>
              <a:ext uri="{FF2B5EF4-FFF2-40B4-BE49-F238E27FC236}">
                <a16:creationId xmlns:a16="http://schemas.microsoft.com/office/drawing/2014/main" id="{C70745E8-6A98-3B95-1B5F-97B9032C6271}"/>
              </a:ext>
            </a:extLst>
          </p:cNvPr>
          <p:cNvSpPr/>
          <p:nvPr/>
        </p:nvSpPr>
        <p:spPr>
          <a:xfrm>
            <a:off x="292608" y="1012503"/>
            <a:ext cx="4133088" cy="1401513"/>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DB4C9CCD-F4CB-11B4-EC98-94238644C43E}"/>
              </a:ext>
            </a:extLst>
          </p:cNvPr>
          <p:cNvSpPr/>
          <p:nvPr/>
        </p:nvSpPr>
        <p:spPr>
          <a:xfrm>
            <a:off x="493776" y="1092659"/>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MOCK THE CLIENT</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0359E624-96CC-1DCB-62CC-3CE87FC3AE07}"/>
              </a:ext>
            </a:extLst>
          </p:cNvPr>
          <p:cNvSpPr/>
          <p:nvPr/>
        </p:nvSpPr>
        <p:spPr>
          <a:xfrm>
            <a:off x="493776" y="1418514"/>
            <a:ext cx="3730752" cy="679981"/>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A fake Anthropic client returns scripted JSON, errors or invalid output</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Offline, fast and free; assert on the captured request payload</a:t>
            </a:r>
          </a:p>
        </p:txBody>
      </p:sp>
      <p:sp>
        <p:nvSpPr>
          <p:cNvPr id="8" name="Shape 5">
            <a:extLst>
              <a:ext uri="{FF2B5EF4-FFF2-40B4-BE49-F238E27FC236}">
                <a16:creationId xmlns:a16="http://schemas.microsoft.com/office/drawing/2014/main" id="{60CDCB1D-9E0E-2B44-BD1A-B10ECC61214F}"/>
              </a:ext>
            </a:extLst>
          </p:cNvPr>
          <p:cNvSpPr/>
          <p:nvPr/>
        </p:nvSpPr>
        <p:spPr>
          <a:xfrm>
            <a:off x="4718304" y="1012503"/>
            <a:ext cx="4133088" cy="1401513"/>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372B4D4F-3B7D-F00C-F53F-289AD2E5CCC8}"/>
              </a:ext>
            </a:extLst>
          </p:cNvPr>
          <p:cNvSpPr/>
          <p:nvPr/>
        </p:nvSpPr>
        <p:spPr>
          <a:xfrm>
            <a:off x="4919472" y="1092659"/>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CONTRACT TESTS</a:t>
            </a:r>
            <a:endParaRPr lang="en-US" sz="1400">
              <a:solidFill>
                <a:schemeClr val="accent2"/>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3075534D-A8B8-B24A-30AE-6A5E8F57B4B6}"/>
              </a:ext>
            </a:extLst>
          </p:cNvPr>
          <p:cNvSpPr/>
          <p:nvPr/>
        </p:nvSpPr>
        <p:spPr>
          <a:xfrm>
            <a:off x="4919472" y="1418514"/>
            <a:ext cx="3931920" cy="679981"/>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Schema validation, retry-then-fail, 503 on outage</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PHI never appears in the outbound request</a:t>
            </a:r>
          </a:p>
        </p:txBody>
      </p:sp>
      <p:sp>
        <p:nvSpPr>
          <p:cNvPr id="11" name="Shape 2">
            <a:extLst>
              <a:ext uri="{FF2B5EF4-FFF2-40B4-BE49-F238E27FC236}">
                <a16:creationId xmlns:a16="http://schemas.microsoft.com/office/drawing/2014/main" id="{5B38C73E-4DC7-5031-F4A2-C865B06C0B20}"/>
              </a:ext>
            </a:extLst>
          </p:cNvPr>
          <p:cNvSpPr/>
          <p:nvPr/>
        </p:nvSpPr>
        <p:spPr>
          <a:xfrm>
            <a:off x="292608" y="2576944"/>
            <a:ext cx="4133088" cy="1620152"/>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3">
            <a:extLst>
              <a:ext uri="{FF2B5EF4-FFF2-40B4-BE49-F238E27FC236}">
                <a16:creationId xmlns:a16="http://schemas.microsoft.com/office/drawing/2014/main" id="{E5E070F2-EA40-BC2A-CE27-02F3BF7CF0E3}"/>
              </a:ext>
            </a:extLst>
          </p:cNvPr>
          <p:cNvSpPr/>
          <p:nvPr/>
        </p:nvSpPr>
        <p:spPr>
          <a:xfrm>
            <a:off x="493776" y="2714672"/>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SAFETY TESTS</a:t>
            </a:r>
            <a:endParaRPr lang="en-US" sz="1400">
              <a:solidFill>
                <a:schemeClr val="accent2"/>
              </a:solidFill>
              <a:latin typeface="Open Sans" pitchFamily="2" charset="0"/>
              <a:ea typeface="Open Sans" pitchFamily="2" charset="0"/>
              <a:cs typeface="Open Sans" pitchFamily="2" charset="0"/>
            </a:endParaRPr>
          </a:p>
        </p:txBody>
      </p:sp>
      <p:sp>
        <p:nvSpPr>
          <p:cNvPr id="13" name="Text 4">
            <a:extLst>
              <a:ext uri="{FF2B5EF4-FFF2-40B4-BE49-F238E27FC236}">
                <a16:creationId xmlns:a16="http://schemas.microsoft.com/office/drawing/2014/main" id="{145029D4-4BC2-5111-3A00-1835A4DD0C3A}"/>
              </a:ext>
            </a:extLst>
          </p:cNvPr>
          <p:cNvSpPr/>
          <p:nvPr/>
        </p:nvSpPr>
        <p:spPr>
          <a:xfrm>
            <a:off x="493776" y="3040527"/>
            <a:ext cx="3730752" cy="879487"/>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Injection fixtures stay inside the fenced data blocks</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Unknown-medication and reading-grade flags fire when they should</a:t>
            </a:r>
          </a:p>
        </p:txBody>
      </p:sp>
      <p:sp>
        <p:nvSpPr>
          <p:cNvPr id="14" name="Shape 5">
            <a:extLst>
              <a:ext uri="{FF2B5EF4-FFF2-40B4-BE49-F238E27FC236}">
                <a16:creationId xmlns:a16="http://schemas.microsoft.com/office/drawing/2014/main" id="{7DC3A9EF-923C-B111-E8D5-B07764CD447C}"/>
              </a:ext>
            </a:extLst>
          </p:cNvPr>
          <p:cNvSpPr/>
          <p:nvPr/>
        </p:nvSpPr>
        <p:spPr>
          <a:xfrm>
            <a:off x="4718304" y="2576944"/>
            <a:ext cx="4133088" cy="1620152"/>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6">
            <a:extLst>
              <a:ext uri="{FF2B5EF4-FFF2-40B4-BE49-F238E27FC236}">
                <a16:creationId xmlns:a16="http://schemas.microsoft.com/office/drawing/2014/main" id="{D8E1E067-7BC2-6859-681C-FF3BF10712B0}"/>
              </a:ext>
            </a:extLst>
          </p:cNvPr>
          <p:cNvSpPr/>
          <p:nvPr/>
        </p:nvSpPr>
        <p:spPr>
          <a:xfrm>
            <a:off x="4919472" y="2714672"/>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EVALS · BEYOND UNIT TESTS</a:t>
            </a:r>
            <a:endParaRPr lang="en-US" sz="1400">
              <a:solidFill>
                <a:schemeClr val="accent2"/>
              </a:solidFill>
              <a:latin typeface="Open Sans" pitchFamily="2" charset="0"/>
              <a:ea typeface="Open Sans" pitchFamily="2" charset="0"/>
              <a:cs typeface="Open Sans" pitchFamily="2" charset="0"/>
            </a:endParaRPr>
          </a:p>
        </p:txBody>
      </p:sp>
      <p:sp>
        <p:nvSpPr>
          <p:cNvPr id="16" name="Text 7">
            <a:extLst>
              <a:ext uri="{FF2B5EF4-FFF2-40B4-BE49-F238E27FC236}">
                <a16:creationId xmlns:a16="http://schemas.microsoft.com/office/drawing/2014/main" id="{BC8ED702-02AF-298C-9E39-A4AE88A6700D}"/>
              </a:ext>
            </a:extLst>
          </p:cNvPr>
          <p:cNvSpPr/>
          <p:nvPr/>
        </p:nvSpPr>
        <p:spPr>
          <a:xfrm>
            <a:off x="4919472" y="3040527"/>
            <a:ext cx="3730752" cy="879487"/>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Golden set of records scored for omissions and hallucinations</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Re-run on every prompt_version or model change; compare</a:t>
            </a:r>
          </a:p>
        </p:txBody>
      </p:sp>
      <p:sp>
        <p:nvSpPr>
          <p:cNvPr id="17" name="Shape 8">
            <a:extLst>
              <a:ext uri="{FF2B5EF4-FFF2-40B4-BE49-F238E27FC236}">
                <a16:creationId xmlns:a16="http://schemas.microsoft.com/office/drawing/2014/main" id="{D19EDAE2-62A3-03D1-039F-53ED32B629F1}"/>
              </a:ext>
            </a:extLst>
          </p:cNvPr>
          <p:cNvSpPr/>
          <p:nvPr/>
        </p:nvSpPr>
        <p:spPr>
          <a:xfrm>
            <a:off x="292608" y="4379668"/>
            <a:ext cx="8558784" cy="420624"/>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9">
            <a:extLst>
              <a:ext uri="{FF2B5EF4-FFF2-40B4-BE49-F238E27FC236}">
                <a16:creationId xmlns:a16="http://schemas.microsoft.com/office/drawing/2014/main" id="{DBE77A76-D591-4D95-B2FE-147538E522FE}"/>
              </a:ext>
            </a:extLst>
          </p:cNvPr>
          <p:cNvSpPr/>
          <p:nvPr/>
        </p:nvSpPr>
        <p:spPr>
          <a:xfrm>
            <a:off x="493776" y="4396602"/>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Unit tests prove your code handles the model. Evals prove the model handles your task.</a:t>
            </a:r>
            <a:endParaRPr lang="en-US" sz="1200">
              <a:solidFill>
                <a:schemeClr val="tx2"/>
              </a:solidFill>
              <a:latin typeface="Open Sans" pitchFamily="2" charset="0"/>
              <a:ea typeface="Open Sans" pitchFamily="2" charset="0"/>
              <a:cs typeface="Open Sans" pitchFamily="2"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91C1EBC8-BCE4-5384-E5F7-6255CC9DED83}"/>
              </a:ext>
            </a:extLst>
          </p:cNvPr>
          <p:cNvSpPr/>
          <p:nvPr/>
        </p:nvSpPr>
        <p:spPr>
          <a:xfrm>
            <a:off x="7863840" y="164592"/>
            <a:ext cx="1005840" cy="292608"/>
          </a:xfrm>
          <a:prstGeom prst="roundRect">
            <a:avLst>
              <a:gd name="adj" fmla="val 15625"/>
            </a:avLst>
          </a:prstGeom>
          <a:solidFill>
            <a:srgbClr val="00B050"/>
          </a:solidFill>
          <a:ln w="12700">
            <a:solidFill>
              <a:srgbClr val="00A896"/>
            </a:solidFill>
            <a:prstDash val="solid"/>
          </a:ln>
        </p:spPr>
        <p:txBody>
          <a:bodyPr/>
          <a:lstStyle/>
          <a:p>
            <a:endParaRPr lang="en-US">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02667657-8973-8E17-8266-4969251D4845}"/>
              </a:ext>
            </a:extLst>
          </p:cNvPr>
          <p:cNvSpPr/>
          <p:nvPr/>
        </p:nvSpPr>
        <p:spPr>
          <a:xfrm>
            <a:off x="7863840" y="164592"/>
            <a:ext cx="1005840" cy="292608"/>
          </a:xfrm>
          <a:prstGeom prst="rect">
            <a:avLst/>
          </a:prstGeom>
          <a:solidFill>
            <a:schemeClr val="accent2"/>
          </a:solidFill>
          <a:ln/>
        </p:spPr>
        <p:txBody>
          <a:bodyPr wrap="square" lIns="0" tIns="0" rIns="0" bIns="0" rtlCol="0" anchor="ctr"/>
          <a:lstStyle/>
          <a:p>
            <a:pPr marL="0" indent="0" algn="ctr">
              <a:buNone/>
            </a:pPr>
            <a:r>
              <a:rPr lang="en-US" sz="850" b="1">
                <a:solidFill>
                  <a:srgbClr val="FFFFFF"/>
                </a:solidFill>
                <a:latin typeface="Open Sans Extrabold" pitchFamily="2" charset="0"/>
                <a:ea typeface="Open Sans Extrabold" pitchFamily="2" charset="0"/>
                <a:cs typeface="Open Sans Extrabold" pitchFamily="2" charset="0"/>
              </a:rPr>
              <a:t>REFLECT</a:t>
            </a:r>
            <a:endParaRPr lang="en-US" sz="850">
              <a:latin typeface="Open Sans" pitchFamily="2" charset="0"/>
              <a:ea typeface="Open Sans" pitchFamily="2" charset="0"/>
              <a:cs typeface="Open Sans" pitchFamily="2" charset="0"/>
            </a:endParaRPr>
          </a:p>
        </p:txBody>
      </p:sp>
      <p:sp>
        <p:nvSpPr>
          <p:cNvPr id="5" name="Text 2">
            <a:extLst>
              <a:ext uri="{FF2B5EF4-FFF2-40B4-BE49-F238E27FC236}">
                <a16:creationId xmlns:a16="http://schemas.microsoft.com/office/drawing/2014/main" id="{3D154176-04AE-65A9-D40F-7D1E16225F4D}"/>
              </a:ext>
            </a:extLst>
          </p:cNvPr>
          <p:cNvSpPr/>
          <p:nvPr/>
        </p:nvSpPr>
        <p:spPr>
          <a:xfrm>
            <a:off x="367200" y="183600"/>
            <a:ext cx="7132320" cy="411480"/>
          </a:xfrm>
          <a:prstGeom prst="rect">
            <a:avLst/>
          </a:prstGeom>
          <a:noFill/>
          <a:ln/>
        </p:spPr>
        <p:txBody>
          <a:bodyPr wrap="square" lIns="0" tIns="0" rIns="0" bIns="0" rtlCol="0" anchor="ctr"/>
          <a:lstStyle/>
          <a:p>
            <a:pPr marL="0" indent="0" algn="l">
              <a:buNone/>
            </a:pPr>
            <a:r>
              <a:rPr lang="en-US" sz="2600" b="1">
                <a:solidFill>
                  <a:srgbClr val="2D2D2D"/>
                </a:solidFill>
                <a:latin typeface="Open Sans" panose="020B0606030504020204" pitchFamily="34" charset="0"/>
                <a:ea typeface="Open Sans" panose="020B0606030504020204" pitchFamily="34" charset="0"/>
                <a:cs typeface="Open Sans" panose="020B0606030504020204" pitchFamily="34" charset="0"/>
              </a:rPr>
              <a:t>Spot the Flaw</a:t>
            </a:r>
            <a:endParaRPr lang="en-US" sz="2600" b="1">
              <a:latin typeface="Open Sans" panose="020B0606030504020204" pitchFamily="34" charset="0"/>
              <a:ea typeface="Open Sans" panose="020B0606030504020204" pitchFamily="34" charset="0"/>
              <a:cs typeface="Open Sans" panose="020B0606030504020204" pitchFamily="34" charset="0"/>
            </a:endParaRPr>
          </a:p>
        </p:txBody>
      </p:sp>
      <p:sp>
        <p:nvSpPr>
          <p:cNvPr id="6" name="Text 3">
            <a:extLst>
              <a:ext uri="{FF2B5EF4-FFF2-40B4-BE49-F238E27FC236}">
                <a16:creationId xmlns:a16="http://schemas.microsoft.com/office/drawing/2014/main" id="{7D906E6E-243B-BC69-8854-1C01A6E5F23A}"/>
              </a:ext>
            </a:extLst>
          </p:cNvPr>
          <p:cNvSpPr/>
          <p:nvPr/>
        </p:nvSpPr>
        <p:spPr>
          <a:xfrm>
            <a:off x="367200" y="712800"/>
            <a:ext cx="8321040" cy="256032"/>
          </a:xfrm>
          <a:prstGeom prst="rect">
            <a:avLst/>
          </a:prstGeom>
          <a:noFill/>
          <a:ln/>
        </p:spPr>
        <p:txBody>
          <a:bodyPr wrap="square" lIns="0" tIns="0" rIns="0" bIns="0" rtlCol="0" anchor="ctr"/>
          <a:lstStyle/>
          <a:p>
            <a:pPr marL="0" indent="0" algn="l">
              <a:buNone/>
            </a:pPr>
            <a:r>
              <a:rPr lang="en-US" sz="1200">
                <a:solidFill>
                  <a:schemeClr val="tx2"/>
                </a:solidFill>
                <a:latin typeface="Open Sans" pitchFamily="2" charset="0"/>
                <a:ea typeface="Open Sans" pitchFamily="2" charset="0"/>
                <a:cs typeface="Open Sans" pitchFamily="2" charset="0"/>
              </a:rPr>
              <a:t>Read the scenario. Vote on what is most likely wrong before we discuss.</a:t>
            </a:r>
          </a:p>
        </p:txBody>
      </p:sp>
      <p:sp>
        <p:nvSpPr>
          <p:cNvPr id="7" name="Shape 4">
            <a:extLst>
              <a:ext uri="{FF2B5EF4-FFF2-40B4-BE49-F238E27FC236}">
                <a16:creationId xmlns:a16="http://schemas.microsoft.com/office/drawing/2014/main" id="{04BCEC74-8AE1-B37D-2905-AAE002CEE371}"/>
              </a:ext>
            </a:extLst>
          </p:cNvPr>
          <p:cNvSpPr/>
          <p:nvPr/>
        </p:nvSpPr>
        <p:spPr>
          <a:xfrm>
            <a:off x="411480" y="1175436"/>
            <a:ext cx="4160520" cy="3291840"/>
          </a:xfrm>
          <a:prstGeom prst="roundRect">
            <a:avLst>
              <a:gd name="adj" fmla="val 2778"/>
            </a:avLst>
          </a:prstGeom>
          <a:solidFill>
            <a:srgbClr val="E1F4EC"/>
          </a:solidFill>
          <a:ln w="19050">
            <a:solidFill>
              <a:srgbClr val="00B050"/>
            </a:solidFill>
            <a:prstDash val="solid"/>
          </a:ln>
        </p:spPr>
        <p:txBody>
          <a:bodyPr/>
          <a:lstStyle/>
          <a:p>
            <a:endParaRPr lang="en-US"/>
          </a:p>
        </p:txBody>
      </p:sp>
      <p:sp>
        <p:nvSpPr>
          <p:cNvPr id="8" name="Text 5">
            <a:extLst>
              <a:ext uri="{FF2B5EF4-FFF2-40B4-BE49-F238E27FC236}">
                <a16:creationId xmlns:a16="http://schemas.microsoft.com/office/drawing/2014/main" id="{ACE35A8C-FA3D-2F36-F744-384E0AD1ED90}"/>
              </a:ext>
            </a:extLst>
          </p:cNvPr>
          <p:cNvSpPr/>
          <p:nvPr/>
        </p:nvSpPr>
        <p:spPr>
          <a:xfrm>
            <a:off x="594360" y="1266876"/>
            <a:ext cx="3794760" cy="228600"/>
          </a:xfrm>
          <a:prstGeom prst="rect">
            <a:avLst/>
          </a:prstGeom>
          <a:noFill/>
          <a:ln/>
        </p:spPr>
        <p:txBody>
          <a:bodyPr wrap="square" lIns="0" tIns="0" rIns="0" bIns="0" rtlCol="0" anchor="ctr"/>
          <a:lstStyle/>
          <a:p>
            <a:pPr marL="0" indent="0" algn="l">
              <a:buNone/>
            </a:pPr>
            <a:r>
              <a:rPr lang="en-US" sz="1500" b="1" kern="0" spc="150">
                <a:solidFill>
                  <a:srgbClr val="00B050"/>
                </a:solidFill>
                <a:latin typeface="Open Sans" panose="020B0606030504020204" pitchFamily="34" charset="0"/>
                <a:ea typeface="Open Sans" panose="020B0606030504020204" pitchFamily="34" charset="0"/>
                <a:cs typeface="Open Sans" panose="020B0606030504020204" pitchFamily="34" charset="0"/>
              </a:rPr>
              <a:t>THE SCENARIO</a:t>
            </a:r>
            <a:endParaRPr lang="en-US" sz="1500" b="1">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 6">
            <a:extLst>
              <a:ext uri="{FF2B5EF4-FFF2-40B4-BE49-F238E27FC236}">
                <a16:creationId xmlns:a16="http://schemas.microsoft.com/office/drawing/2014/main" id="{3DA8DA23-9A3E-A5CC-336C-16F3A4869955}"/>
              </a:ext>
            </a:extLst>
          </p:cNvPr>
          <p:cNvSpPr/>
          <p:nvPr/>
        </p:nvSpPr>
        <p:spPr>
          <a:xfrm>
            <a:off x="594360" y="1559484"/>
            <a:ext cx="3794760" cy="2743200"/>
          </a:xfrm>
          <a:prstGeom prst="rect">
            <a:avLst/>
          </a:prstGeom>
          <a:noFill/>
          <a:ln/>
        </p:spPr>
        <p:txBody>
          <a:bodyPr wrap="square" lIns="0" tIns="0" rIns="0" bIns="0" rtlCol="0" anchor="t"/>
          <a:lstStyle/>
          <a:p>
            <a:pPr marL="0" indent="0" algn="l">
              <a:buNone/>
            </a:pPr>
            <a:r>
              <a:rPr lang="en-US" sz="1300">
                <a:solidFill>
                  <a:schemeClr val="tx2"/>
                </a:solidFill>
                <a:latin typeface="Open Sans" pitchFamily="2" charset="0"/>
                <a:ea typeface="Open Sans" pitchFamily="2" charset="0"/>
                <a:cs typeface="Open Sans" pitchFamily="2" charset="0"/>
              </a:rPr>
              <a:t>A nightly job flags summary drafts that have waited in review for more than 30 days.</a:t>
            </a:r>
          </a:p>
          <a:p>
            <a:pPr marL="0" indent="0" algn="l">
              <a:buNone/>
            </a:pPr>
            <a:r>
              <a:rPr lang="en-US" sz="1300">
                <a:solidFill>
                  <a:schemeClr val="tx2"/>
                </a:solidFill>
                <a:latin typeface="Open Sans" pitchFamily="2" charset="0"/>
                <a:ea typeface="Open Sans" pitchFamily="2" charset="0"/>
                <a:cs typeface="Open Sans" pitchFamily="2" charset="0"/>
              </a:rPr>
              <a:t> </a:t>
            </a:r>
          </a:p>
          <a:p>
            <a:pPr marL="0" indent="0" algn="l">
              <a:buNone/>
            </a:pPr>
            <a:r>
              <a:rPr lang="en-US" sz="1300">
                <a:solidFill>
                  <a:schemeClr val="tx2"/>
                </a:solidFill>
                <a:latin typeface="Open Sans" pitchFamily="2" charset="0"/>
                <a:ea typeface="Open Sans" pitchFamily="2" charset="0"/>
                <a:cs typeface="Open Sans" pitchFamily="2" charset="0"/>
              </a:rPr>
              <a:t>The filter ran without errors.</a:t>
            </a:r>
          </a:p>
          <a:p>
            <a:pPr marL="0" indent="0" algn="l">
              <a:buNone/>
            </a:pPr>
            <a:r>
              <a:rPr lang="en-US" sz="1300">
                <a:solidFill>
                  <a:schemeClr val="tx2"/>
                </a:solidFill>
                <a:latin typeface="Open Sans" pitchFamily="2" charset="0"/>
                <a:ea typeface="Open Sans" pitchFamily="2" charset="0"/>
                <a:cs typeface="Open Sans" pitchFamily="2" charset="0"/>
              </a:rPr>
              <a:t>It flagged 3 drafts.</a:t>
            </a:r>
            <a:r>
              <a:rPr lang="en-US" sz="1300" b="1">
                <a:latin typeface="Open Sans" panose="020B0606030504020204" pitchFamily="34" charset="0"/>
                <a:ea typeface="Open Sans" panose="020B0606030504020204" pitchFamily="34" charset="0"/>
                <a:cs typeface="Open Sans" panose="020B0606030504020204" pitchFamily="34" charset="0"/>
              </a:rPr>
              <a:t/>
            </a:r>
          </a:p>
          <a:p>
            <a:pPr marL="0" indent="0" algn="l">
              <a:buNone/>
            </a:pPr>
            <a:r>
              <a:rPr lang="en-US" sz="1300">
                <a:solidFill>
                  <a:schemeClr val="tx2"/>
                </a:solidFill>
                <a:latin typeface="Open Sans" pitchFamily="2" charset="0"/>
                <a:ea typeface="Open Sans" pitchFamily="2" charset="0"/>
                <a:cs typeface="Open Sans" pitchFamily="2" charset="0"/>
              </a:rPr>
              <a:t> </a:t>
            </a:r>
          </a:p>
          <a:p>
            <a:pPr marL="0" indent="0" algn="l">
              <a:buNone/>
            </a:pPr>
            <a:r>
              <a:rPr lang="en-US" sz="1300">
                <a:solidFill>
                  <a:schemeClr val="tx2"/>
                </a:solidFill>
                <a:latin typeface="Open Sans" pitchFamily="2" charset="0"/>
                <a:ea typeface="Open Sans" pitchFamily="2" charset="0"/>
                <a:cs typeface="Open Sans" pitchFamily="2" charset="0"/>
              </a:rPr>
              <a:t>A manual SQL query finds 6 drafts that should have been flagged.</a:t>
            </a:r>
            <a:r>
              <a:rPr lang="en-US" sz="1300" b="1">
                <a:latin typeface="Open Sans" panose="020B0606030504020204" pitchFamily="34" charset="0"/>
                <a:ea typeface="Open Sans" panose="020B0606030504020204" pitchFamily="34" charset="0"/>
                <a:cs typeface="Open Sans" panose="020B0606030504020204" pitchFamily="34" charset="0"/>
              </a:rPr>
              <a:t/>
            </a:r>
            <a:r>
              <a:rPr lang="en-US" sz="1300">
                <a:solidFill>
                  <a:schemeClr val="tx2"/>
                </a:solidFill>
                <a:latin typeface="Open Sans" pitchFamily="2" charset="0"/>
                <a:ea typeface="Open Sans" pitchFamily="2" charset="0"/>
                <a:cs typeface="Open Sans" pitchFamily="2" charset="0"/>
              </a:rPr>
              <a:t/>
            </a:r>
          </a:p>
          <a:p>
            <a:pPr marL="0" indent="0" algn="l">
              <a:buNone/>
            </a:pPr>
            <a:r>
              <a:rPr lang="en-US" sz="1300">
                <a:solidFill>
                  <a:srgbClr val="444444"/>
                </a:solidFill>
                <a:latin typeface="Open Sans" pitchFamily="2" charset="0"/>
                <a:ea typeface="Open Sans" pitchFamily="2" charset="0"/>
                <a:cs typeface="Open Sans" pitchFamily="2" charset="0"/>
              </a:rPr>
              <a:t> </a:t>
            </a:r>
            <a:endParaRPr lang="en-US" sz="1300">
              <a:latin typeface="Open Sans" pitchFamily="2" charset="0"/>
              <a:ea typeface="Open Sans" pitchFamily="2" charset="0"/>
              <a:cs typeface="Open Sans" pitchFamily="2" charset="0"/>
            </a:endParaRPr>
          </a:p>
          <a:p>
            <a:pPr marL="0" indent="0" algn="l">
              <a:buNone/>
            </a:pPr>
            <a:r>
              <a:rPr lang="en-US" sz="1300" b="1">
                <a:latin typeface="Open Sans" panose="020B0606030504020204" pitchFamily="34" charset="0"/>
                <a:ea typeface="Open Sans" panose="020B0606030504020204" pitchFamily="34" charset="0"/>
                <a:cs typeface="Open Sans" panose="020B0606030504020204" pitchFamily="34" charset="0"/>
              </a:rPr>
              <a:t>What is most likely wrong?</a:t>
            </a:r>
          </a:p>
        </p:txBody>
      </p:sp>
      <p:sp>
        <p:nvSpPr>
          <p:cNvPr id="10" name="Shape 7">
            <a:extLst>
              <a:ext uri="{FF2B5EF4-FFF2-40B4-BE49-F238E27FC236}">
                <a16:creationId xmlns:a16="http://schemas.microsoft.com/office/drawing/2014/main" id="{8B778834-28C3-D06E-224F-B6DE07ECF0FF}"/>
              </a:ext>
            </a:extLst>
          </p:cNvPr>
          <p:cNvSpPr/>
          <p:nvPr/>
        </p:nvSpPr>
        <p:spPr>
          <a:xfrm>
            <a:off x="4846320" y="1175436"/>
            <a:ext cx="3977640" cy="713232"/>
          </a:xfrm>
          <a:prstGeom prst="roundRect">
            <a:avLst>
              <a:gd name="adj" fmla="val 10256"/>
            </a:avLst>
          </a:prstGeom>
          <a:solidFill>
            <a:srgbClr val="F7F7F7"/>
          </a:solidFill>
          <a:ln w="1270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Shape 8">
            <a:extLst>
              <a:ext uri="{FF2B5EF4-FFF2-40B4-BE49-F238E27FC236}">
                <a16:creationId xmlns:a16="http://schemas.microsoft.com/office/drawing/2014/main" id="{E8065C60-4C86-8A74-0498-2365323A1385}"/>
              </a:ext>
            </a:extLst>
          </p:cNvPr>
          <p:cNvSpPr/>
          <p:nvPr/>
        </p:nvSpPr>
        <p:spPr>
          <a:xfrm>
            <a:off x="4983480" y="1376604"/>
            <a:ext cx="310896" cy="310896"/>
          </a:xfrm>
          <a:prstGeom prst="ellipse">
            <a:avLst/>
          </a:prstGeom>
          <a:solidFill>
            <a:srgbClr val="CCCCCC"/>
          </a:solidFill>
          <a:ln w="12700">
            <a:solidFill>
              <a:srgbClr val="CCCCCC"/>
            </a:solidFill>
            <a:prstDash val="solid"/>
          </a:ln>
        </p:spPr>
        <p:txBody>
          <a:bodyPr/>
          <a:lstStyle/>
          <a:p>
            <a:endParaRPr lang="en-US">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B4FB65D7-1AD7-8991-B982-6B7A545B0D9F}"/>
              </a:ext>
            </a:extLst>
          </p:cNvPr>
          <p:cNvSpPr/>
          <p:nvPr/>
        </p:nvSpPr>
        <p:spPr>
          <a:xfrm>
            <a:off x="4983480" y="1376604"/>
            <a:ext cx="310896" cy="310896"/>
          </a:xfrm>
          <a:prstGeom prst="rect">
            <a:avLst/>
          </a:prstGeom>
          <a:noFill/>
          <a:ln/>
        </p:spPr>
        <p:txBody>
          <a:bodyPr wrap="square" lIns="0" tIns="0" rIns="0" bIns="0" rtlCol="0" anchor="ctr"/>
          <a:lstStyle/>
          <a:p>
            <a:pPr marL="0" indent="0" algn="ctr">
              <a:buNone/>
            </a:pPr>
            <a:r>
              <a:rPr lang="en-US" sz="1000" b="1">
                <a:solidFill>
                  <a:srgbClr val="FFFFFF"/>
                </a:solidFill>
                <a:latin typeface="Open Sans Extrabold" pitchFamily="2" charset="0"/>
                <a:ea typeface="Open Sans Extrabold" pitchFamily="2" charset="0"/>
                <a:cs typeface="Open Sans Extrabold" pitchFamily="2" charset="0"/>
              </a:rPr>
              <a:t>A</a:t>
            </a:r>
            <a:endParaRPr lang="en-US" sz="1000">
              <a:latin typeface="Open Sans" pitchFamily="2" charset="0"/>
              <a:ea typeface="Open Sans" pitchFamily="2" charset="0"/>
              <a:cs typeface="Open Sans" pitchFamily="2" charset="0"/>
            </a:endParaRPr>
          </a:p>
        </p:txBody>
      </p:sp>
      <p:sp>
        <p:nvSpPr>
          <p:cNvPr id="13" name="Text 10">
            <a:extLst>
              <a:ext uri="{FF2B5EF4-FFF2-40B4-BE49-F238E27FC236}">
                <a16:creationId xmlns:a16="http://schemas.microsoft.com/office/drawing/2014/main" id="{7D9A2DAE-9DAB-6DF5-D845-31230E251CF7}"/>
              </a:ext>
            </a:extLst>
          </p:cNvPr>
          <p:cNvSpPr/>
          <p:nvPr/>
        </p:nvSpPr>
        <p:spPr>
          <a:xfrm>
            <a:off x="5394960" y="1230300"/>
            <a:ext cx="3319272" cy="603504"/>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The cutoff is set to the wrong number — it is checking for more than 30 days, not less</a:t>
            </a:r>
            <a:endParaRPr lang="en-US" sz="1050">
              <a:latin typeface="Open Sans" pitchFamily="2" charset="0"/>
              <a:ea typeface="Open Sans" pitchFamily="2" charset="0"/>
              <a:cs typeface="Open Sans" pitchFamily="2" charset="0"/>
            </a:endParaRPr>
          </a:p>
        </p:txBody>
      </p:sp>
      <p:sp>
        <p:nvSpPr>
          <p:cNvPr id="14" name="Shape 11">
            <a:extLst>
              <a:ext uri="{FF2B5EF4-FFF2-40B4-BE49-F238E27FC236}">
                <a16:creationId xmlns:a16="http://schemas.microsoft.com/office/drawing/2014/main" id="{87802B39-BE20-E030-3BCE-E4A3D7421662}"/>
              </a:ext>
            </a:extLst>
          </p:cNvPr>
          <p:cNvSpPr/>
          <p:nvPr/>
        </p:nvSpPr>
        <p:spPr>
          <a:xfrm>
            <a:off x="4846320" y="1980108"/>
            <a:ext cx="3977640" cy="713232"/>
          </a:xfrm>
          <a:prstGeom prst="roundRect">
            <a:avLst>
              <a:gd name="adj" fmla="val 10256"/>
            </a:avLst>
          </a:prstGeom>
          <a:solidFill>
            <a:srgbClr val="F7F7F7"/>
          </a:solidFill>
          <a:ln w="1270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Shape 12">
            <a:extLst>
              <a:ext uri="{FF2B5EF4-FFF2-40B4-BE49-F238E27FC236}">
                <a16:creationId xmlns:a16="http://schemas.microsoft.com/office/drawing/2014/main" id="{FD42F599-435C-9E74-E0BD-53D8EB3E33E0}"/>
              </a:ext>
            </a:extLst>
          </p:cNvPr>
          <p:cNvSpPr/>
          <p:nvPr/>
        </p:nvSpPr>
        <p:spPr>
          <a:xfrm>
            <a:off x="4983480" y="2181276"/>
            <a:ext cx="310896" cy="310896"/>
          </a:xfrm>
          <a:prstGeom prst="ellipse">
            <a:avLst/>
          </a:prstGeom>
          <a:solidFill>
            <a:srgbClr val="CCCCCC"/>
          </a:solidFill>
          <a:ln w="12700">
            <a:solidFill>
              <a:srgbClr val="CCCCCC"/>
            </a:solidFill>
            <a:prstDash val="solid"/>
          </a:ln>
        </p:spPr>
        <p:txBody>
          <a:bodyPr/>
          <a:lstStyle/>
          <a:p>
            <a:endParaRPr lang="en-US">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554A49D1-ABBC-19E8-EFD3-C2709784D617}"/>
              </a:ext>
            </a:extLst>
          </p:cNvPr>
          <p:cNvSpPr/>
          <p:nvPr/>
        </p:nvSpPr>
        <p:spPr>
          <a:xfrm>
            <a:off x="4983480" y="2181276"/>
            <a:ext cx="310896" cy="310896"/>
          </a:xfrm>
          <a:prstGeom prst="rect">
            <a:avLst/>
          </a:prstGeom>
          <a:noFill/>
          <a:ln/>
        </p:spPr>
        <p:txBody>
          <a:bodyPr wrap="square" lIns="0" tIns="0" rIns="0" bIns="0" rtlCol="0" anchor="ctr"/>
          <a:lstStyle/>
          <a:p>
            <a:pPr marL="0" indent="0" algn="ctr">
              <a:buNone/>
            </a:pPr>
            <a:r>
              <a:rPr lang="en-US" sz="1000" b="1">
                <a:solidFill>
                  <a:srgbClr val="FFFFFF"/>
                </a:solidFill>
                <a:latin typeface="Open Sans Extrabold" pitchFamily="2" charset="0"/>
                <a:ea typeface="Open Sans Extrabold" pitchFamily="2" charset="0"/>
                <a:cs typeface="Open Sans Extrabold" pitchFamily="2" charset="0"/>
              </a:rPr>
              <a:t>B</a:t>
            </a:r>
            <a:endParaRPr lang="en-US" sz="1000">
              <a:latin typeface="Open Sans" pitchFamily="2" charset="0"/>
              <a:ea typeface="Open Sans" pitchFamily="2" charset="0"/>
              <a:cs typeface="Open Sans" pitchFamily="2" charset="0"/>
            </a:endParaRPr>
          </a:p>
        </p:txBody>
      </p:sp>
      <p:sp>
        <p:nvSpPr>
          <p:cNvPr id="17" name="Text 14">
            <a:extLst>
              <a:ext uri="{FF2B5EF4-FFF2-40B4-BE49-F238E27FC236}">
                <a16:creationId xmlns:a16="http://schemas.microsoft.com/office/drawing/2014/main" id="{5D410E47-79B4-54B0-03C0-DE5D4DEDE6BD}"/>
              </a:ext>
            </a:extLst>
          </p:cNvPr>
          <p:cNvSpPr/>
          <p:nvPr/>
        </p:nvSpPr>
        <p:spPr>
          <a:xfrm>
            <a:off x="5394960" y="2034972"/>
            <a:ext cx="3319272" cy="603504"/>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The filter is reading the contact date incorrectly for some accounts</a:t>
            </a:r>
            <a:endParaRPr lang="en-US" sz="1050">
              <a:latin typeface="Open Sans" pitchFamily="2" charset="0"/>
              <a:ea typeface="Open Sans" pitchFamily="2" charset="0"/>
              <a:cs typeface="Open Sans" pitchFamily="2" charset="0"/>
            </a:endParaRPr>
          </a:p>
        </p:txBody>
      </p:sp>
      <p:sp>
        <p:nvSpPr>
          <p:cNvPr id="22" name="Shape 19">
            <a:extLst>
              <a:ext uri="{FF2B5EF4-FFF2-40B4-BE49-F238E27FC236}">
                <a16:creationId xmlns:a16="http://schemas.microsoft.com/office/drawing/2014/main" id="{1D05CC56-F58C-1D15-0F1C-87AA83F5D71E}"/>
              </a:ext>
            </a:extLst>
          </p:cNvPr>
          <p:cNvSpPr/>
          <p:nvPr/>
        </p:nvSpPr>
        <p:spPr>
          <a:xfrm>
            <a:off x="4846320" y="3589452"/>
            <a:ext cx="3977640" cy="713232"/>
          </a:xfrm>
          <a:prstGeom prst="roundRect">
            <a:avLst>
              <a:gd name="adj" fmla="val 10256"/>
            </a:avLst>
          </a:prstGeom>
          <a:solidFill>
            <a:srgbClr val="F7F7F7"/>
          </a:solidFill>
          <a:ln w="1270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itchFamily="2" charset="0"/>
              <a:ea typeface="Open Sans" pitchFamily="2" charset="0"/>
              <a:cs typeface="Open Sans" pitchFamily="2" charset="0"/>
            </a:endParaRPr>
          </a:p>
        </p:txBody>
      </p:sp>
      <p:sp>
        <p:nvSpPr>
          <p:cNvPr id="23" name="Shape 20">
            <a:extLst>
              <a:ext uri="{FF2B5EF4-FFF2-40B4-BE49-F238E27FC236}">
                <a16:creationId xmlns:a16="http://schemas.microsoft.com/office/drawing/2014/main" id="{B576EB6D-5A35-A223-72B3-2FAFE27E3CE6}"/>
              </a:ext>
            </a:extLst>
          </p:cNvPr>
          <p:cNvSpPr/>
          <p:nvPr/>
        </p:nvSpPr>
        <p:spPr>
          <a:xfrm>
            <a:off x="4983480" y="3790620"/>
            <a:ext cx="310896" cy="310896"/>
          </a:xfrm>
          <a:prstGeom prst="ellipse">
            <a:avLst/>
          </a:prstGeom>
          <a:solidFill>
            <a:srgbClr val="CCCCCC"/>
          </a:solidFill>
          <a:ln w="12700">
            <a:solidFill>
              <a:srgbClr val="CCCCCC"/>
            </a:solidFill>
            <a:prstDash val="solid"/>
          </a:ln>
        </p:spPr>
        <p:txBody>
          <a:bodyPr/>
          <a:lstStyle/>
          <a:p>
            <a:endParaRPr lang="en-US">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43417CA6-27A3-F086-0AB2-5C53CC43AF22}"/>
              </a:ext>
            </a:extLst>
          </p:cNvPr>
          <p:cNvSpPr/>
          <p:nvPr/>
        </p:nvSpPr>
        <p:spPr>
          <a:xfrm>
            <a:off x="4983480" y="3790620"/>
            <a:ext cx="310896" cy="310896"/>
          </a:xfrm>
          <a:prstGeom prst="rect">
            <a:avLst/>
          </a:prstGeom>
          <a:noFill/>
          <a:ln/>
        </p:spPr>
        <p:txBody>
          <a:bodyPr wrap="square" lIns="0" tIns="0" rIns="0" bIns="0" rtlCol="0" anchor="ctr"/>
          <a:lstStyle/>
          <a:p>
            <a:pPr marL="0" indent="0" algn="ctr">
              <a:buNone/>
            </a:pPr>
            <a:r>
              <a:rPr lang="en-US" sz="1000" b="1">
                <a:solidFill>
                  <a:srgbClr val="FFFFFF"/>
                </a:solidFill>
                <a:latin typeface="Open Sans Extrabold" pitchFamily="2" charset="0"/>
                <a:ea typeface="Open Sans Extrabold" pitchFamily="2" charset="0"/>
                <a:cs typeface="Open Sans Extrabold" pitchFamily="2" charset="0"/>
              </a:rPr>
              <a:t>D</a:t>
            </a:r>
            <a:endParaRPr lang="en-US" sz="1000">
              <a:latin typeface="Open Sans" pitchFamily="2" charset="0"/>
              <a:ea typeface="Open Sans" pitchFamily="2" charset="0"/>
              <a:cs typeface="Open Sans" pitchFamily="2" charset="0"/>
            </a:endParaRPr>
          </a:p>
        </p:txBody>
      </p:sp>
      <p:sp>
        <p:nvSpPr>
          <p:cNvPr id="25" name="Text 22">
            <a:extLst>
              <a:ext uri="{FF2B5EF4-FFF2-40B4-BE49-F238E27FC236}">
                <a16:creationId xmlns:a16="http://schemas.microsoft.com/office/drawing/2014/main" id="{8A2AC554-36A6-274C-A20F-2882D3E535B3}"/>
              </a:ext>
            </a:extLst>
          </p:cNvPr>
          <p:cNvSpPr/>
          <p:nvPr/>
        </p:nvSpPr>
        <p:spPr>
          <a:xfrm>
            <a:off x="5394960" y="3644316"/>
            <a:ext cx="3319272" cy="603504"/>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The tool is using the wrong date as today, so its calculation of '30 days ago' is off</a:t>
            </a:r>
            <a:endParaRPr lang="en-US" sz="1050">
              <a:latin typeface="Open Sans" pitchFamily="2" charset="0"/>
              <a:ea typeface="Open Sans" pitchFamily="2" charset="0"/>
              <a:cs typeface="Open Sans" pitchFamily="2" charset="0"/>
            </a:endParaRPr>
          </a:p>
        </p:txBody>
      </p:sp>
      <p:sp>
        <p:nvSpPr>
          <p:cNvPr id="2" name="Shape 11">
            <a:extLst>
              <a:ext uri="{FF2B5EF4-FFF2-40B4-BE49-F238E27FC236}">
                <a16:creationId xmlns:a16="http://schemas.microsoft.com/office/drawing/2014/main" id="{7D951401-2F4A-5633-C238-DA9CEF5A817A}"/>
              </a:ext>
            </a:extLst>
          </p:cNvPr>
          <p:cNvSpPr/>
          <p:nvPr/>
        </p:nvSpPr>
        <p:spPr>
          <a:xfrm>
            <a:off x="4846320" y="2784780"/>
            <a:ext cx="3977640" cy="713232"/>
          </a:xfrm>
          <a:prstGeom prst="roundRect">
            <a:avLst>
              <a:gd name="adj" fmla="val 10256"/>
            </a:avLst>
          </a:prstGeom>
          <a:solidFill>
            <a:srgbClr val="F7F7F7"/>
          </a:solidFill>
          <a:ln w="1270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itchFamily="2" charset="0"/>
              <a:ea typeface="Open Sans" pitchFamily="2" charset="0"/>
              <a:cs typeface="Open Sans" pitchFamily="2" charset="0"/>
            </a:endParaRPr>
          </a:p>
        </p:txBody>
      </p:sp>
      <p:sp>
        <p:nvSpPr>
          <p:cNvPr id="26" name="Shape 12">
            <a:extLst>
              <a:ext uri="{FF2B5EF4-FFF2-40B4-BE49-F238E27FC236}">
                <a16:creationId xmlns:a16="http://schemas.microsoft.com/office/drawing/2014/main" id="{839E0D3F-CDDB-5E95-1D44-528E9121AE9D}"/>
              </a:ext>
            </a:extLst>
          </p:cNvPr>
          <p:cNvSpPr/>
          <p:nvPr/>
        </p:nvSpPr>
        <p:spPr>
          <a:xfrm>
            <a:off x="4983480" y="2985948"/>
            <a:ext cx="310896" cy="310896"/>
          </a:xfrm>
          <a:prstGeom prst="ellipse">
            <a:avLst/>
          </a:prstGeom>
          <a:solidFill>
            <a:srgbClr val="CCCCCC"/>
          </a:solidFill>
          <a:ln w="12700">
            <a:solidFill>
              <a:srgbClr val="CCCCCC"/>
            </a:solidFill>
            <a:prstDash val="solid"/>
          </a:ln>
        </p:spPr>
        <p:txBody>
          <a:bodyPr/>
          <a:lstStyle/>
          <a:p>
            <a:endParaRPr lang="en-US">
              <a:latin typeface="Open Sans" pitchFamily="2" charset="0"/>
              <a:ea typeface="Open Sans" pitchFamily="2" charset="0"/>
              <a:cs typeface="Open Sans" pitchFamily="2" charset="0"/>
            </a:endParaRPr>
          </a:p>
        </p:txBody>
      </p:sp>
      <p:sp>
        <p:nvSpPr>
          <p:cNvPr id="27" name="Text 13">
            <a:extLst>
              <a:ext uri="{FF2B5EF4-FFF2-40B4-BE49-F238E27FC236}">
                <a16:creationId xmlns:a16="http://schemas.microsoft.com/office/drawing/2014/main" id="{8E38621E-9266-F5B6-63B8-48CB487B8348}"/>
              </a:ext>
            </a:extLst>
          </p:cNvPr>
          <p:cNvSpPr/>
          <p:nvPr/>
        </p:nvSpPr>
        <p:spPr>
          <a:xfrm>
            <a:off x="4983480" y="2985948"/>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Open Sans Extrabold" pitchFamily="2" charset="0"/>
                <a:ea typeface="Open Sans Extrabold" pitchFamily="2" charset="0"/>
                <a:cs typeface="Open Sans Extrabold" pitchFamily="2" charset="0"/>
              </a:rPr>
              <a:t>C</a:t>
            </a:r>
            <a:endParaRPr lang="en-US" sz="1000" dirty="0">
              <a:latin typeface="Open Sans" pitchFamily="2" charset="0"/>
              <a:ea typeface="Open Sans" pitchFamily="2" charset="0"/>
              <a:cs typeface="Open Sans" pitchFamily="2" charset="0"/>
            </a:endParaRPr>
          </a:p>
        </p:txBody>
      </p:sp>
      <p:sp>
        <p:nvSpPr>
          <p:cNvPr id="28" name="Text 14">
            <a:extLst>
              <a:ext uri="{FF2B5EF4-FFF2-40B4-BE49-F238E27FC236}">
                <a16:creationId xmlns:a16="http://schemas.microsoft.com/office/drawing/2014/main" id="{CFBCCF49-BF1B-45E1-4920-2D253B7037E2}"/>
              </a:ext>
            </a:extLst>
          </p:cNvPr>
          <p:cNvSpPr/>
          <p:nvPr/>
        </p:nvSpPr>
        <p:spPr>
          <a:xfrm>
            <a:off x="5394960" y="2839644"/>
            <a:ext cx="3319272" cy="603504"/>
          </a:xfrm>
          <a:prstGeom prst="rect">
            <a:avLst/>
          </a:prstGeom>
          <a:noFill/>
          <a:ln/>
        </p:spPr>
        <p:txBody>
          <a:bodyPr wrap="square" lIns="0" tIns="0" rIns="0" bIns="0" rtlCol="0" anchor="ctr"/>
          <a:lstStyle/>
          <a:p>
            <a:pPr marL="0" indent="0" algn="l">
              <a:buNone/>
            </a:pPr>
            <a:r>
              <a:rPr lang="en-US" sz="1050" dirty="0">
                <a:solidFill>
                  <a:srgbClr val="2D2D2D"/>
                </a:solidFill>
                <a:latin typeface="Open Sans" pitchFamily="2" charset="0"/>
                <a:ea typeface="Open Sans" pitchFamily="2" charset="0"/>
                <a:cs typeface="Open Sans" pitchFamily="2" charset="0"/>
              </a:rPr>
              <a:t>The filter is crashing silently on drafts where no contact date has been recorded</a:t>
            </a:r>
          </a:p>
        </p:txBody>
      </p:sp>
    </p:spTree>
    <p:extLst>
      <p:ext uri="{BB962C8B-B14F-4D97-AF65-F5344CB8AC3E}">
        <p14:creationId xmlns:p14="http://schemas.microsoft.com/office/powerpoint/2010/main" val="3470660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CCB6A-6B87-84CA-7841-6126C3D8D2FF}"/>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B05890D8-AA1F-805F-08DF-803892DE4804}"/>
              </a:ext>
            </a:extLst>
          </p:cNvPr>
          <p:cNvSpPr/>
          <p:nvPr/>
        </p:nvSpPr>
        <p:spPr>
          <a:xfrm>
            <a:off x="7863840" y="164592"/>
            <a:ext cx="1005840" cy="292608"/>
          </a:xfrm>
          <a:prstGeom prst="roundRect">
            <a:avLst>
              <a:gd name="adj" fmla="val 15625"/>
            </a:avLst>
          </a:prstGeom>
          <a:solidFill>
            <a:srgbClr val="00B050"/>
          </a:solidFill>
          <a:ln w="12700">
            <a:solidFill>
              <a:srgbClr val="00A896"/>
            </a:solidFill>
            <a:prstDash val="solid"/>
          </a:ln>
        </p:spPr>
        <p:txBody>
          <a:bodyPr/>
          <a:lstStyle/>
          <a:p>
            <a:endParaRPr lang="en-US">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37990D6F-9A7D-13B8-979D-30B638ED8BF1}"/>
              </a:ext>
            </a:extLst>
          </p:cNvPr>
          <p:cNvSpPr/>
          <p:nvPr/>
        </p:nvSpPr>
        <p:spPr>
          <a:xfrm>
            <a:off x="7863840" y="164592"/>
            <a:ext cx="1005840" cy="292608"/>
          </a:xfrm>
          <a:prstGeom prst="rect">
            <a:avLst/>
          </a:prstGeom>
          <a:solidFill>
            <a:schemeClr val="accent2"/>
          </a:solidFill>
          <a:ln/>
        </p:spPr>
        <p:txBody>
          <a:bodyPr wrap="square" lIns="0" tIns="0" rIns="0" bIns="0" rtlCol="0" anchor="ctr"/>
          <a:lstStyle/>
          <a:p>
            <a:pPr marL="0" indent="0" algn="ctr">
              <a:buNone/>
            </a:pPr>
            <a:r>
              <a:rPr lang="en-US" sz="850" b="1">
                <a:solidFill>
                  <a:srgbClr val="FFFFFF"/>
                </a:solidFill>
                <a:latin typeface="Open Sans Extrabold" pitchFamily="2" charset="0"/>
                <a:ea typeface="Open Sans Extrabold" pitchFamily="2" charset="0"/>
                <a:cs typeface="Open Sans Extrabold" pitchFamily="2" charset="0"/>
              </a:rPr>
              <a:t>REFLECT</a:t>
            </a:r>
            <a:endParaRPr lang="en-US" sz="850">
              <a:latin typeface="Open Sans" pitchFamily="2" charset="0"/>
              <a:ea typeface="Open Sans" pitchFamily="2" charset="0"/>
              <a:cs typeface="Open Sans" pitchFamily="2" charset="0"/>
            </a:endParaRPr>
          </a:p>
        </p:txBody>
      </p:sp>
      <p:sp>
        <p:nvSpPr>
          <p:cNvPr id="5" name="Text 2">
            <a:extLst>
              <a:ext uri="{FF2B5EF4-FFF2-40B4-BE49-F238E27FC236}">
                <a16:creationId xmlns:a16="http://schemas.microsoft.com/office/drawing/2014/main" id="{50EC72DB-5A1E-3629-4230-73DCBFEB766B}"/>
              </a:ext>
            </a:extLst>
          </p:cNvPr>
          <p:cNvSpPr/>
          <p:nvPr/>
        </p:nvSpPr>
        <p:spPr>
          <a:xfrm>
            <a:off x="367200" y="183600"/>
            <a:ext cx="7132320" cy="411480"/>
          </a:xfrm>
          <a:prstGeom prst="rect">
            <a:avLst/>
          </a:prstGeom>
          <a:noFill/>
          <a:ln/>
        </p:spPr>
        <p:txBody>
          <a:bodyPr wrap="square" lIns="0" tIns="0" rIns="0" bIns="0" rtlCol="0" anchor="ctr"/>
          <a:lstStyle/>
          <a:p>
            <a:pPr marL="0" indent="0" algn="l">
              <a:buNone/>
            </a:pPr>
            <a:r>
              <a:rPr lang="en-US" sz="2600" b="1">
                <a:solidFill>
                  <a:srgbClr val="2D2D2D"/>
                </a:solidFill>
                <a:latin typeface="Open Sans" panose="020B0606030504020204" pitchFamily="34" charset="0"/>
                <a:ea typeface="Open Sans" panose="020B0606030504020204" pitchFamily="34" charset="0"/>
                <a:cs typeface="Open Sans" panose="020B0606030504020204" pitchFamily="34" charset="0"/>
              </a:rPr>
              <a:t>Spot the Flaw</a:t>
            </a:r>
            <a:endParaRPr lang="en-US" sz="2600" b="1">
              <a:latin typeface="Open Sans" panose="020B0606030504020204" pitchFamily="34" charset="0"/>
              <a:ea typeface="Open Sans" panose="020B0606030504020204" pitchFamily="34" charset="0"/>
              <a:cs typeface="Open Sans" panose="020B0606030504020204" pitchFamily="34" charset="0"/>
            </a:endParaRPr>
          </a:p>
        </p:txBody>
      </p:sp>
      <p:sp>
        <p:nvSpPr>
          <p:cNvPr id="6" name="Text 3">
            <a:extLst>
              <a:ext uri="{FF2B5EF4-FFF2-40B4-BE49-F238E27FC236}">
                <a16:creationId xmlns:a16="http://schemas.microsoft.com/office/drawing/2014/main" id="{9C7C016A-2BE8-C8FC-475D-06531162AFF2}"/>
              </a:ext>
            </a:extLst>
          </p:cNvPr>
          <p:cNvSpPr/>
          <p:nvPr/>
        </p:nvSpPr>
        <p:spPr>
          <a:xfrm>
            <a:off x="367200" y="712800"/>
            <a:ext cx="8321040" cy="256032"/>
          </a:xfrm>
          <a:prstGeom prst="rect">
            <a:avLst/>
          </a:prstGeom>
          <a:noFill/>
          <a:ln/>
        </p:spPr>
        <p:txBody>
          <a:bodyPr wrap="square" lIns="0" tIns="0" rIns="0" bIns="0" rtlCol="0" anchor="ctr"/>
          <a:lstStyle/>
          <a:p>
            <a:pPr marL="0" indent="0" algn="l">
              <a:buNone/>
            </a:pPr>
            <a:r>
              <a:rPr lang="en-US" sz="1200">
                <a:solidFill>
                  <a:schemeClr val="tx2"/>
                </a:solidFill>
                <a:latin typeface="Open Sans" pitchFamily="2" charset="0"/>
                <a:ea typeface="Open Sans" pitchFamily="2" charset="0"/>
                <a:cs typeface="Open Sans" pitchFamily="2" charset="0"/>
              </a:rPr>
              <a:t>Read the scenario. Vote on what is most likely wrong before we discuss.</a:t>
            </a:r>
          </a:p>
        </p:txBody>
      </p:sp>
      <p:sp>
        <p:nvSpPr>
          <p:cNvPr id="7" name="Shape 4">
            <a:extLst>
              <a:ext uri="{FF2B5EF4-FFF2-40B4-BE49-F238E27FC236}">
                <a16:creationId xmlns:a16="http://schemas.microsoft.com/office/drawing/2014/main" id="{A56B8503-C81A-7DC7-3F86-8C9A38CEC938}"/>
              </a:ext>
            </a:extLst>
          </p:cNvPr>
          <p:cNvSpPr/>
          <p:nvPr/>
        </p:nvSpPr>
        <p:spPr>
          <a:xfrm>
            <a:off x="411480" y="1175436"/>
            <a:ext cx="4160520" cy="3291840"/>
          </a:xfrm>
          <a:prstGeom prst="roundRect">
            <a:avLst>
              <a:gd name="adj" fmla="val 2778"/>
            </a:avLst>
          </a:prstGeom>
          <a:solidFill>
            <a:srgbClr val="E1F4EC"/>
          </a:solidFill>
          <a:ln w="19050">
            <a:solidFill>
              <a:srgbClr val="00B050"/>
            </a:solidFill>
            <a:prstDash val="solid"/>
          </a:ln>
        </p:spPr>
        <p:txBody>
          <a:bodyPr/>
          <a:lstStyle/>
          <a:p>
            <a:endParaRPr lang="en-US"/>
          </a:p>
        </p:txBody>
      </p:sp>
      <p:sp>
        <p:nvSpPr>
          <p:cNvPr id="8" name="Text 5">
            <a:extLst>
              <a:ext uri="{FF2B5EF4-FFF2-40B4-BE49-F238E27FC236}">
                <a16:creationId xmlns:a16="http://schemas.microsoft.com/office/drawing/2014/main" id="{3650C544-1068-5323-8378-13152DDD845A}"/>
              </a:ext>
            </a:extLst>
          </p:cNvPr>
          <p:cNvSpPr/>
          <p:nvPr/>
        </p:nvSpPr>
        <p:spPr>
          <a:xfrm>
            <a:off x="594360" y="1266876"/>
            <a:ext cx="3794760" cy="228600"/>
          </a:xfrm>
          <a:prstGeom prst="rect">
            <a:avLst/>
          </a:prstGeom>
          <a:noFill/>
          <a:ln/>
        </p:spPr>
        <p:txBody>
          <a:bodyPr wrap="square" lIns="0" tIns="0" rIns="0" bIns="0" rtlCol="0" anchor="ctr"/>
          <a:lstStyle/>
          <a:p>
            <a:pPr marL="0" indent="0" algn="l">
              <a:buNone/>
            </a:pPr>
            <a:r>
              <a:rPr lang="en-US" sz="1500" b="1" kern="0" spc="150">
                <a:solidFill>
                  <a:srgbClr val="00B050"/>
                </a:solidFill>
                <a:latin typeface="Open Sans" panose="020B0606030504020204" pitchFamily="34" charset="0"/>
                <a:ea typeface="Open Sans" panose="020B0606030504020204" pitchFamily="34" charset="0"/>
                <a:cs typeface="Open Sans" panose="020B0606030504020204" pitchFamily="34" charset="0"/>
              </a:rPr>
              <a:t>THE SCENARIO</a:t>
            </a:r>
            <a:endParaRPr lang="en-US" sz="1500" b="1">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 6">
            <a:extLst>
              <a:ext uri="{FF2B5EF4-FFF2-40B4-BE49-F238E27FC236}">
                <a16:creationId xmlns:a16="http://schemas.microsoft.com/office/drawing/2014/main" id="{52F63A3C-A802-8AB6-2055-EC8F35B4A90E}"/>
              </a:ext>
            </a:extLst>
          </p:cNvPr>
          <p:cNvSpPr/>
          <p:nvPr/>
        </p:nvSpPr>
        <p:spPr>
          <a:xfrm>
            <a:off x="594360" y="1559484"/>
            <a:ext cx="3794760" cy="2743200"/>
          </a:xfrm>
          <a:prstGeom prst="rect">
            <a:avLst/>
          </a:prstGeom>
          <a:noFill/>
          <a:ln/>
        </p:spPr>
        <p:txBody>
          <a:bodyPr wrap="square" lIns="0" tIns="0" rIns="0" bIns="0" rtlCol="0" anchor="t"/>
          <a:lstStyle/>
          <a:p>
            <a:pPr marL="0" indent="0" algn="l">
              <a:buNone/>
            </a:pPr>
            <a:r>
              <a:rPr lang="en-US" sz="1300">
                <a:solidFill>
                  <a:schemeClr val="tx2"/>
                </a:solidFill>
                <a:latin typeface="Open Sans" pitchFamily="2" charset="0"/>
                <a:ea typeface="Open Sans" pitchFamily="2" charset="0"/>
                <a:cs typeface="Open Sans" pitchFamily="2" charset="0"/>
              </a:rPr>
              <a:t>A nightly job flags summary drafts that have waited in review for more than 30 days.</a:t>
            </a:r>
          </a:p>
          <a:p>
            <a:pPr marL="0" indent="0" algn="l">
              <a:buNone/>
            </a:pPr>
            <a:r>
              <a:rPr lang="en-US" sz="1300">
                <a:solidFill>
                  <a:schemeClr val="tx2"/>
                </a:solidFill>
                <a:latin typeface="Open Sans" pitchFamily="2" charset="0"/>
                <a:ea typeface="Open Sans" pitchFamily="2" charset="0"/>
                <a:cs typeface="Open Sans" pitchFamily="2" charset="0"/>
              </a:rPr>
              <a:t> </a:t>
            </a:r>
          </a:p>
          <a:p>
            <a:pPr marL="0" indent="0" algn="l">
              <a:buNone/>
            </a:pPr>
            <a:r>
              <a:rPr lang="en-US" sz="1300">
                <a:solidFill>
                  <a:schemeClr val="tx2"/>
                </a:solidFill>
                <a:latin typeface="Open Sans" pitchFamily="2" charset="0"/>
                <a:ea typeface="Open Sans" pitchFamily="2" charset="0"/>
                <a:cs typeface="Open Sans" pitchFamily="2" charset="0"/>
              </a:rPr>
              <a:t>The filter ran without errors.</a:t>
            </a:r>
          </a:p>
          <a:p>
            <a:pPr marL="0" indent="0" algn="l">
              <a:buNone/>
            </a:pPr>
            <a:r>
              <a:rPr lang="en-US" sz="1300">
                <a:solidFill>
                  <a:schemeClr val="tx2"/>
                </a:solidFill>
                <a:latin typeface="Open Sans" pitchFamily="2" charset="0"/>
                <a:ea typeface="Open Sans" pitchFamily="2" charset="0"/>
                <a:cs typeface="Open Sans" pitchFamily="2" charset="0"/>
              </a:rPr>
              <a:t>It flagged 3 drafts.</a:t>
            </a:r>
            <a:r>
              <a:rPr lang="en-US" sz="1300" b="1">
                <a:latin typeface="Open Sans" panose="020B0606030504020204" pitchFamily="34" charset="0"/>
                <a:ea typeface="Open Sans" panose="020B0606030504020204" pitchFamily="34" charset="0"/>
                <a:cs typeface="Open Sans" panose="020B0606030504020204" pitchFamily="34" charset="0"/>
              </a:rPr>
              <a:t/>
            </a:r>
          </a:p>
          <a:p>
            <a:pPr marL="0" indent="0" algn="l">
              <a:buNone/>
            </a:pPr>
            <a:r>
              <a:rPr lang="en-US" sz="1300">
                <a:solidFill>
                  <a:schemeClr val="tx2"/>
                </a:solidFill>
                <a:latin typeface="Open Sans" pitchFamily="2" charset="0"/>
                <a:ea typeface="Open Sans" pitchFamily="2" charset="0"/>
                <a:cs typeface="Open Sans" pitchFamily="2" charset="0"/>
              </a:rPr>
              <a:t> </a:t>
            </a:r>
          </a:p>
          <a:p>
            <a:pPr marL="0" indent="0" algn="l">
              <a:buNone/>
            </a:pPr>
            <a:r>
              <a:rPr lang="en-US" sz="1300">
                <a:solidFill>
                  <a:schemeClr val="tx2"/>
                </a:solidFill>
                <a:latin typeface="Open Sans" pitchFamily="2" charset="0"/>
                <a:ea typeface="Open Sans" pitchFamily="2" charset="0"/>
                <a:cs typeface="Open Sans" pitchFamily="2" charset="0"/>
              </a:rPr>
              <a:t>A manual SQL query finds 6 drafts that should have been flagged.</a:t>
            </a:r>
            <a:r>
              <a:rPr lang="en-US" sz="1300" b="1">
                <a:latin typeface="Open Sans" panose="020B0606030504020204" pitchFamily="34" charset="0"/>
                <a:ea typeface="Open Sans" panose="020B0606030504020204" pitchFamily="34" charset="0"/>
                <a:cs typeface="Open Sans" panose="020B0606030504020204" pitchFamily="34" charset="0"/>
              </a:rPr>
              <a:t/>
            </a:r>
            <a:r>
              <a:rPr lang="en-US" sz="1300">
                <a:solidFill>
                  <a:schemeClr val="tx2"/>
                </a:solidFill>
                <a:latin typeface="Open Sans" pitchFamily="2" charset="0"/>
                <a:ea typeface="Open Sans" pitchFamily="2" charset="0"/>
                <a:cs typeface="Open Sans" pitchFamily="2" charset="0"/>
              </a:rPr>
              <a:t/>
            </a:r>
          </a:p>
          <a:p>
            <a:pPr marL="0" indent="0" algn="l">
              <a:buNone/>
            </a:pPr>
            <a:r>
              <a:rPr lang="en-US" sz="1300">
                <a:solidFill>
                  <a:srgbClr val="444444"/>
                </a:solidFill>
                <a:latin typeface="Open Sans" pitchFamily="2" charset="0"/>
                <a:ea typeface="Open Sans" pitchFamily="2" charset="0"/>
                <a:cs typeface="Open Sans" pitchFamily="2" charset="0"/>
              </a:rPr>
              <a:t> </a:t>
            </a:r>
            <a:endParaRPr lang="en-US" sz="1300">
              <a:latin typeface="Open Sans" pitchFamily="2" charset="0"/>
              <a:ea typeface="Open Sans" pitchFamily="2" charset="0"/>
              <a:cs typeface="Open Sans" pitchFamily="2" charset="0"/>
            </a:endParaRPr>
          </a:p>
          <a:p>
            <a:pPr marL="0" indent="0" algn="l">
              <a:buNone/>
            </a:pPr>
            <a:r>
              <a:rPr lang="en-US" sz="1300" b="1">
                <a:latin typeface="Open Sans" panose="020B0606030504020204" pitchFamily="34" charset="0"/>
                <a:ea typeface="Open Sans" panose="020B0606030504020204" pitchFamily="34" charset="0"/>
                <a:cs typeface="Open Sans" panose="020B0606030504020204" pitchFamily="34" charset="0"/>
              </a:rPr>
              <a:t>What is most likely wrong?</a:t>
            </a:r>
          </a:p>
        </p:txBody>
      </p:sp>
      <p:sp>
        <p:nvSpPr>
          <p:cNvPr id="10" name="Shape 7">
            <a:extLst>
              <a:ext uri="{FF2B5EF4-FFF2-40B4-BE49-F238E27FC236}">
                <a16:creationId xmlns:a16="http://schemas.microsoft.com/office/drawing/2014/main" id="{81A753EB-2AC1-ECA5-2F1C-1CA6264FC831}"/>
              </a:ext>
            </a:extLst>
          </p:cNvPr>
          <p:cNvSpPr/>
          <p:nvPr/>
        </p:nvSpPr>
        <p:spPr>
          <a:xfrm>
            <a:off x="4846320" y="1175436"/>
            <a:ext cx="3977640" cy="713232"/>
          </a:xfrm>
          <a:prstGeom prst="roundRect">
            <a:avLst>
              <a:gd name="adj" fmla="val 10256"/>
            </a:avLst>
          </a:prstGeom>
          <a:solidFill>
            <a:srgbClr val="F7F7F7"/>
          </a:solidFill>
          <a:ln w="1270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Shape 8">
            <a:extLst>
              <a:ext uri="{FF2B5EF4-FFF2-40B4-BE49-F238E27FC236}">
                <a16:creationId xmlns:a16="http://schemas.microsoft.com/office/drawing/2014/main" id="{ACD9AE39-B1C7-A5DF-E323-8F174CEEC000}"/>
              </a:ext>
            </a:extLst>
          </p:cNvPr>
          <p:cNvSpPr/>
          <p:nvPr/>
        </p:nvSpPr>
        <p:spPr>
          <a:xfrm>
            <a:off x="4983480" y="1376604"/>
            <a:ext cx="310896" cy="310896"/>
          </a:xfrm>
          <a:prstGeom prst="ellipse">
            <a:avLst/>
          </a:prstGeom>
          <a:solidFill>
            <a:srgbClr val="CCCCCC"/>
          </a:solidFill>
          <a:ln w="12700">
            <a:solidFill>
              <a:srgbClr val="CCCCCC"/>
            </a:solidFill>
            <a:prstDash val="solid"/>
          </a:ln>
        </p:spPr>
        <p:txBody>
          <a:bodyPr/>
          <a:lstStyle/>
          <a:p>
            <a:endParaRPr lang="en-US">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DD8534B2-04DE-C627-43BF-BD2462BDF5B1}"/>
              </a:ext>
            </a:extLst>
          </p:cNvPr>
          <p:cNvSpPr/>
          <p:nvPr/>
        </p:nvSpPr>
        <p:spPr>
          <a:xfrm>
            <a:off x="4983480" y="1376604"/>
            <a:ext cx="310896" cy="310896"/>
          </a:xfrm>
          <a:prstGeom prst="rect">
            <a:avLst/>
          </a:prstGeom>
          <a:noFill/>
          <a:ln/>
        </p:spPr>
        <p:txBody>
          <a:bodyPr wrap="square" lIns="0" tIns="0" rIns="0" bIns="0" rtlCol="0" anchor="ctr"/>
          <a:lstStyle/>
          <a:p>
            <a:pPr marL="0" indent="0" algn="ctr">
              <a:buNone/>
            </a:pPr>
            <a:r>
              <a:rPr lang="en-US" sz="1000" b="1">
                <a:solidFill>
                  <a:srgbClr val="FFFFFF"/>
                </a:solidFill>
                <a:latin typeface="Open Sans Extrabold" pitchFamily="2" charset="0"/>
                <a:ea typeface="Open Sans Extrabold" pitchFamily="2" charset="0"/>
                <a:cs typeface="Open Sans Extrabold" pitchFamily="2" charset="0"/>
              </a:rPr>
              <a:t>A</a:t>
            </a:r>
            <a:endParaRPr lang="en-US" sz="1000">
              <a:latin typeface="Open Sans" pitchFamily="2" charset="0"/>
              <a:ea typeface="Open Sans" pitchFamily="2" charset="0"/>
              <a:cs typeface="Open Sans" pitchFamily="2" charset="0"/>
            </a:endParaRPr>
          </a:p>
        </p:txBody>
      </p:sp>
      <p:sp>
        <p:nvSpPr>
          <p:cNvPr id="13" name="Text 10">
            <a:extLst>
              <a:ext uri="{FF2B5EF4-FFF2-40B4-BE49-F238E27FC236}">
                <a16:creationId xmlns:a16="http://schemas.microsoft.com/office/drawing/2014/main" id="{8C10EB1B-FF40-F3B5-1C8A-8D89AB109C58}"/>
              </a:ext>
            </a:extLst>
          </p:cNvPr>
          <p:cNvSpPr/>
          <p:nvPr/>
        </p:nvSpPr>
        <p:spPr>
          <a:xfrm>
            <a:off x="5394960" y="1230300"/>
            <a:ext cx="3319272" cy="603504"/>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The cutoff is set to the wrong number — it is checking for more than 30 days, not less</a:t>
            </a:r>
            <a:endParaRPr lang="en-US" sz="1050">
              <a:latin typeface="Open Sans" pitchFamily="2" charset="0"/>
              <a:ea typeface="Open Sans" pitchFamily="2" charset="0"/>
              <a:cs typeface="Open Sans" pitchFamily="2" charset="0"/>
            </a:endParaRPr>
          </a:p>
        </p:txBody>
      </p:sp>
      <p:sp>
        <p:nvSpPr>
          <p:cNvPr id="14" name="Shape 11">
            <a:extLst>
              <a:ext uri="{FF2B5EF4-FFF2-40B4-BE49-F238E27FC236}">
                <a16:creationId xmlns:a16="http://schemas.microsoft.com/office/drawing/2014/main" id="{332C646A-058E-CA82-FB3F-18D1DC336B0B}"/>
              </a:ext>
            </a:extLst>
          </p:cNvPr>
          <p:cNvSpPr/>
          <p:nvPr/>
        </p:nvSpPr>
        <p:spPr>
          <a:xfrm>
            <a:off x="4846320" y="1980108"/>
            <a:ext cx="3977640" cy="713232"/>
          </a:xfrm>
          <a:prstGeom prst="roundRect">
            <a:avLst>
              <a:gd name="adj" fmla="val 10256"/>
            </a:avLst>
          </a:prstGeom>
          <a:solidFill>
            <a:srgbClr val="F7F7F7"/>
          </a:solidFill>
          <a:ln w="1270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Shape 12">
            <a:extLst>
              <a:ext uri="{FF2B5EF4-FFF2-40B4-BE49-F238E27FC236}">
                <a16:creationId xmlns:a16="http://schemas.microsoft.com/office/drawing/2014/main" id="{8A89D7A0-EDD2-1B8A-44E8-173FC3C25A39}"/>
              </a:ext>
            </a:extLst>
          </p:cNvPr>
          <p:cNvSpPr/>
          <p:nvPr/>
        </p:nvSpPr>
        <p:spPr>
          <a:xfrm>
            <a:off x="4983480" y="2181276"/>
            <a:ext cx="310896" cy="310896"/>
          </a:xfrm>
          <a:prstGeom prst="ellipse">
            <a:avLst/>
          </a:prstGeom>
          <a:solidFill>
            <a:srgbClr val="CCCCCC"/>
          </a:solidFill>
          <a:ln w="12700">
            <a:solidFill>
              <a:srgbClr val="CCCCCC"/>
            </a:solidFill>
            <a:prstDash val="solid"/>
          </a:ln>
        </p:spPr>
        <p:txBody>
          <a:bodyPr/>
          <a:lstStyle/>
          <a:p>
            <a:endParaRPr lang="en-US">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A7D40F45-B2E7-F30E-885A-4828D7D960A7}"/>
              </a:ext>
            </a:extLst>
          </p:cNvPr>
          <p:cNvSpPr/>
          <p:nvPr/>
        </p:nvSpPr>
        <p:spPr>
          <a:xfrm>
            <a:off x="4983480" y="2181276"/>
            <a:ext cx="310896" cy="310896"/>
          </a:xfrm>
          <a:prstGeom prst="rect">
            <a:avLst/>
          </a:prstGeom>
          <a:noFill/>
          <a:ln/>
        </p:spPr>
        <p:txBody>
          <a:bodyPr wrap="square" lIns="0" tIns="0" rIns="0" bIns="0" rtlCol="0" anchor="ctr"/>
          <a:lstStyle/>
          <a:p>
            <a:pPr marL="0" indent="0" algn="ctr">
              <a:buNone/>
            </a:pPr>
            <a:r>
              <a:rPr lang="en-US" sz="1000" b="1">
                <a:solidFill>
                  <a:srgbClr val="FFFFFF"/>
                </a:solidFill>
                <a:latin typeface="Open Sans Extrabold" pitchFamily="2" charset="0"/>
                <a:ea typeface="Open Sans Extrabold" pitchFamily="2" charset="0"/>
                <a:cs typeface="Open Sans Extrabold" pitchFamily="2" charset="0"/>
              </a:rPr>
              <a:t>B</a:t>
            </a:r>
            <a:endParaRPr lang="en-US" sz="1000">
              <a:latin typeface="Open Sans" pitchFamily="2" charset="0"/>
              <a:ea typeface="Open Sans" pitchFamily="2" charset="0"/>
              <a:cs typeface="Open Sans" pitchFamily="2" charset="0"/>
            </a:endParaRPr>
          </a:p>
        </p:txBody>
      </p:sp>
      <p:sp>
        <p:nvSpPr>
          <p:cNvPr id="17" name="Text 14">
            <a:extLst>
              <a:ext uri="{FF2B5EF4-FFF2-40B4-BE49-F238E27FC236}">
                <a16:creationId xmlns:a16="http://schemas.microsoft.com/office/drawing/2014/main" id="{6A08560B-7819-0A27-DD3E-5FC17B03BD18}"/>
              </a:ext>
            </a:extLst>
          </p:cNvPr>
          <p:cNvSpPr/>
          <p:nvPr/>
        </p:nvSpPr>
        <p:spPr>
          <a:xfrm>
            <a:off x="5394960" y="2034972"/>
            <a:ext cx="3319272" cy="603504"/>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The filter is reading the contact date incorrectly for some accounts</a:t>
            </a:r>
            <a:endParaRPr lang="en-US" sz="1050">
              <a:latin typeface="Open Sans" pitchFamily="2" charset="0"/>
              <a:ea typeface="Open Sans" pitchFamily="2" charset="0"/>
              <a:cs typeface="Open Sans" pitchFamily="2" charset="0"/>
            </a:endParaRPr>
          </a:p>
        </p:txBody>
      </p:sp>
      <p:sp>
        <p:nvSpPr>
          <p:cNvPr id="18" name="Shape 15">
            <a:extLst>
              <a:ext uri="{FF2B5EF4-FFF2-40B4-BE49-F238E27FC236}">
                <a16:creationId xmlns:a16="http://schemas.microsoft.com/office/drawing/2014/main" id="{4F7817BB-1C54-4A4D-34D1-5D789FE216CA}"/>
              </a:ext>
            </a:extLst>
          </p:cNvPr>
          <p:cNvSpPr/>
          <p:nvPr/>
        </p:nvSpPr>
        <p:spPr>
          <a:xfrm>
            <a:off x="4846320" y="2784780"/>
            <a:ext cx="3977640" cy="713232"/>
          </a:xfrm>
          <a:prstGeom prst="roundRect">
            <a:avLst>
              <a:gd name="adj" fmla="val 10256"/>
            </a:avLst>
          </a:prstGeom>
          <a:solidFill>
            <a:srgbClr val="E1F4EC"/>
          </a:solidFill>
          <a:ln w="19050">
            <a:solidFill>
              <a:srgbClr val="00B050"/>
            </a:solidFill>
            <a:prstDash val="solid"/>
          </a:ln>
        </p:spPr>
        <p:txBody>
          <a:bodyPr/>
          <a:lstStyle/>
          <a:p>
            <a:endParaRPr lang="en-US"/>
          </a:p>
        </p:txBody>
      </p:sp>
      <p:sp>
        <p:nvSpPr>
          <p:cNvPr id="19" name="Shape 16">
            <a:extLst>
              <a:ext uri="{FF2B5EF4-FFF2-40B4-BE49-F238E27FC236}">
                <a16:creationId xmlns:a16="http://schemas.microsoft.com/office/drawing/2014/main" id="{2DF10B76-B468-1E4C-782A-961B32D9E73F}"/>
              </a:ext>
            </a:extLst>
          </p:cNvPr>
          <p:cNvSpPr/>
          <p:nvPr/>
        </p:nvSpPr>
        <p:spPr>
          <a:xfrm>
            <a:off x="4983480" y="2985948"/>
            <a:ext cx="310896" cy="310896"/>
          </a:xfrm>
          <a:prstGeom prst="ellipse">
            <a:avLst/>
          </a:prstGeom>
          <a:solidFill>
            <a:srgbClr val="00B050"/>
          </a:solidFill>
          <a:ln w="12700">
            <a:noFill/>
            <a:prstDash val="solid"/>
          </a:ln>
          <a:effectLst/>
        </p:spPr>
        <p:txBody>
          <a:bodyPr/>
          <a:lstStyle/>
          <a:p>
            <a:endParaRPr lang="en-US">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F9DEB5B3-A98E-0C17-21B5-BC9658D3BEDC}"/>
              </a:ext>
            </a:extLst>
          </p:cNvPr>
          <p:cNvSpPr/>
          <p:nvPr/>
        </p:nvSpPr>
        <p:spPr>
          <a:xfrm>
            <a:off x="4983480" y="2985948"/>
            <a:ext cx="310896" cy="310896"/>
          </a:xfrm>
          <a:prstGeom prst="rect">
            <a:avLst/>
          </a:prstGeom>
          <a:noFill/>
          <a:ln>
            <a:noFill/>
          </a:ln>
        </p:spPr>
        <p:txBody>
          <a:bodyPr wrap="square" lIns="0" tIns="0" rIns="0" bIns="0" rtlCol="0" anchor="ctr"/>
          <a:lstStyle/>
          <a:p>
            <a:pPr marL="0" indent="0" algn="ctr">
              <a:buNone/>
            </a:pP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8">
            <a:extLst>
              <a:ext uri="{FF2B5EF4-FFF2-40B4-BE49-F238E27FC236}">
                <a16:creationId xmlns:a16="http://schemas.microsoft.com/office/drawing/2014/main" id="{4E85E119-B6C2-026D-1CF9-155FC2B2BDDA}"/>
              </a:ext>
            </a:extLst>
          </p:cNvPr>
          <p:cNvSpPr/>
          <p:nvPr/>
        </p:nvSpPr>
        <p:spPr>
          <a:xfrm>
            <a:off x="5394960" y="2839644"/>
            <a:ext cx="3319272" cy="603504"/>
          </a:xfrm>
          <a:prstGeom prst="rect">
            <a:avLst/>
          </a:prstGeom>
          <a:noFill/>
          <a:ln/>
        </p:spPr>
        <p:txBody>
          <a:bodyPr wrap="square" lIns="0" tIns="0" rIns="0" bIns="0" rtlCol="0" anchor="ctr"/>
          <a:lstStyle/>
          <a:p>
            <a:pPr marL="0" indent="0" algn="l">
              <a:buNone/>
            </a:pPr>
            <a:r>
              <a:rPr lang="en-US" sz="1050" dirty="0">
                <a:solidFill>
                  <a:srgbClr val="2D2D2D"/>
                </a:solidFill>
                <a:latin typeface="Open Sans" pitchFamily="2" charset="0"/>
                <a:ea typeface="Open Sans" pitchFamily="2" charset="0"/>
                <a:cs typeface="Open Sans" pitchFamily="2" charset="0"/>
              </a:rPr>
              <a:t>The filter is crashing silently on drafts where no contact date has been recorded</a:t>
            </a:r>
            <a:endParaRPr lang="en-US" sz="1050" dirty="0">
              <a:latin typeface="Open Sans" pitchFamily="2" charset="0"/>
              <a:ea typeface="Open Sans" pitchFamily="2" charset="0"/>
              <a:cs typeface="Open Sans" pitchFamily="2" charset="0"/>
            </a:endParaRPr>
          </a:p>
        </p:txBody>
      </p:sp>
      <p:sp>
        <p:nvSpPr>
          <p:cNvPr id="22" name="Shape 19">
            <a:extLst>
              <a:ext uri="{FF2B5EF4-FFF2-40B4-BE49-F238E27FC236}">
                <a16:creationId xmlns:a16="http://schemas.microsoft.com/office/drawing/2014/main" id="{A497D11D-1E27-7B5C-ABC1-B3EE069A93E1}"/>
              </a:ext>
            </a:extLst>
          </p:cNvPr>
          <p:cNvSpPr/>
          <p:nvPr/>
        </p:nvSpPr>
        <p:spPr>
          <a:xfrm>
            <a:off x="4846320" y="3589452"/>
            <a:ext cx="3977640" cy="713232"/>
          </a:xfrm>
          <a:prstGeom prst="roundRect">
            <a:avLst>
              <a:gd name="adj" fmla="val 10256"/>
            </a:avLst>
          </a:prstGeom>
          <a:solidFill>
            <a:srgbClr val="F7F7F7"/>
          </a:solidFill>
          <a:ln w="12700">
            <a:solidFill>
              <a:srgbClr val="E0E0E0"/>
            </a:solidFill>
            <a:prstDash val="solid"/>
          </a:ln>
          <a:effectLst>
            <a:outerShdw blurRad="50800" dist="25400" dir="2700000" algn="bl" rotWithShape="0">
              <a:srgbClr val="000000">
                <a:alpha val="8000"/>
              </a:srgbClr>
            </a:outerShdw>
          </a:effectLst>
        </p:spPr>
        <p:txBody>
          <a:bodyPr/>
          <a:lstStyle/>
          <a:p>
            <a:endParaRPr lang="en-US">
              <a:latin typeface="Open Sans" pitchFamily="2" charset="0"/>
              <a:ea typeface="Open Sans" pitchFamily="2" charset="0"/>
              <a:cs typeface="Open Sans" pitchFamily="2" charset="0"/>
            </a:endParaRPr>
          </a:p>
        </p:txBody>
      </p:sp>
      <p:sp>
        <p:nvSpPr>
          <p:cNvPr id="23" name="Shape 20">
            <a:extLst>
              <a:ext uri="{FF2B5EF4-FFF2-40B4-BE49-F238E27FC236}">
                <a16:creationId xmlns:a16="http://schemas.microsoft.com/office/drawing/2014/main" id="{6173A126-7D2E-113C-CD32-A39F904A7F24}"/>
              </a:ext>
            </a:extLst>
          </p:cNvPr>
          <p:cNvSpPr/>
          <p:nvPr/>
        </p:nvSpPr>
        <p:spPr>
          <a:xfrm>
            <a:off x="4983480" y="3790620"/>
            <a:ext cx="310896" cy="310896"/>
          </a:xfrm>
          <a:prstGeom prst="ellipse">
            <a:avLst/>
          </a:prstGeom>
          <a:solidFill>
            <a:srgbClr val="CCCCCC"/>
          </a:solidFill>
          <a:ln w="12700">
            <a:solidFill>
              <a:srgbClr val="CCCCCC"/>
            </a:solidFill>
            <a:prstDash val="solid"/>
          </a:ln>
        </p:spPr>
        <p:txBody>
          <a:bodyPr/>
          <a:lstStyle/>
          <a:p>
            <a:endParaRPr lang="en-US">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B77778E6-5000-62D3-CE52-DD06A460C5CA}"/>
              </a:ext>
            </a:extLst>
          </p:cNvPr>
          <p:cNvSpPr/>
          <p:nvPr/>
        </p:nvSpPr>
        <p:spPr>
          <a:xfrm>
            <a:off x="4983480" y="3790620"/>
            <a:ext cx="310896" cy="310896"/>
          </a:xfrm>
          <a:prstGeom prst="rect">
            <a:avLst/>
          </a:prstGeom>
          <a:noFill/>
          <a:ln/>
        </p:spPr>
        <p:txBody>
          <a:bodyPr wrap="square" lIns="0" tIns="0" rIns="0" bIns="0" rtlCol="0" anchor="ctr"/>
          <a:lstStyle/>
          <a:p>
            <a:pPr marL="0" indent="0" algn="ctr">
              <a:buNone/>
            </a:pPr>
            <a:r>
              <a:rPr lang="en-US" sz="1000" b="1">
                <a:solidFill>
                  <a:srgbClr val="FFFFFF"/>
                </a:solidFill>
                <a:latin typeface="Open Sans Extrabold" pitchFamily="2" charset="0"/>
                <a:ea typeface="Open Sans Extrabold" pitchFamily="2" charset="0"/>
                <a:cs typeface="Open Sans Extrabold" pitchFamily="2" charset="0"/>
              </a:rPr>
              <a:t>D</a:t>
            </a:r>
            <a:endParaRPr lang="en-US" sz="1000">
              <a:latin typeface="Open Sans" pitchFamily="2" charset="0"/>
              <a:ea typeface="Open Sans" pitchFamily="2" charset="0"/>
              <a:cs typeface="Open Sans" pitchFamily="2" charset="0"/>
            </a:endParaRPr>
          </a:p>
        </p:txBody>
      </p:sp>
      <p:sp>
        <p:nvSpPr>
          <p:cNvPr id="25" name="Text 22">
            <a:extLst>
              <a:ext uri="{FF2B5EF4-FFF2-40B4-BE49-F238E27FC236}">
                <a16:creationId xmlns:a16="http://schemas.microsoft.com/office/drawing/2014/main" id="{20C23CAF-C424-ECC2-B727-33E247F9F2C7}"/>
              </a:ext>
            </a:extLst>
          </p:cNvPr>
          <p:cNvSpPr/>
          <p:nvPr/>
        </p:nvSpPr>
        <p:spPr>
          <a:xfrm>
            <a:off x="5394960" y="3644316"/>
            <a:ext cx="3319272" cy="603504"/>
          </a:xfrm>
          <a:prstGeom prst="rect">
            <a:avLst/>
          </a:prstGeom>
          <a:noFill/>
          <a:ln/>
        </p:spPr>
        <p:txBody>
          <a:bodyPr wrap="square" lIns="0" tIns="0" rIns="0" bIns="0" rtlCol="0" anchor="ctr"/>
          <a:lstStyle/>
          <a:p>
            <a:pPr marL="0" indent="0" algn="l">
              <a:buNone/>
            </a:pPr>
            <a:r>
              <a:rPr lang="en-US" sz="1050">
                <a:solidFill>
                  <a:srgbClr val="2D2D2D"/>
                </a:solidFill>
                <a:latin typeface="Open Sans" pitchFamily="2" charset="0"/>
                <a:ea typeface="Open Sans" pitchFamily="2" charset="0"/>
                <a:cs typeface="Open Sans" pitchFamily="2" charset="0"/>
              </a:rPr>
              <a:t>The tool is using the wrong date as today, so its calculation of '30 days ago' is off</a:t>
            </a:r>
            <a:endParaRPr lang="en-US" sz="105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218138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a:extLst>
              <a:ext uri="{FF2B5EF4-FFF2-40B4-BE49-F238E27FC236}">
                <a16:creationId xmlns:a16="http://schemas.microsoft.com/office/drawing/2014/main" id="{3FFC6031-318B-D31A-94EA-D76CBFCE8D26}"/>
              </a:ext>
            </a:extLst>
          </p:cNvPr>
          <p:cNvSpPr/>
          <p:nvPr/>
        </p:nvSpPr>
        <p:spPr>
          <a:xfrm>
            <a:off x="365760" y="183600"/>
            <a:ext cx="6766560" cy="475488"/>
          </a:xfrm>
          <a:prstGeom prst="rect">
            <a:avLst/>
          </a:prstGeom>
          <a:noFill/>
          <a:ln/>
        </p:spPr>
        <p:txBody>
          <a:bodyPr wrap="square" lIns="0" tIns="0" rIns="0" bIns="0" rtlCol="0" anchor="ctr"/>
          <a:lstStyle/>
          <a:p>
            <a:r>
              <a:rPr lang="en-IN" sz="2800" b="1">
                <a:latin typeface="Open Sans" panose="020B0606030504020204" pitchFamily="34" charset="0"/>
                <a:ea typeface="Open Sans" panose="020B0606030504020204" pitchFamily="34" charset="0"/>
                <a:cs typeface="Open Sans" panose="020B0606030504020204" pitchFamily="34" charset="0"/>
              </a:rPr>
              <a:t>Break It, Fix It — [BROKEN PROJECT]</a:t>
            </a:r>
            <a:endParaRPr lang="en-US" sz="2600" b="1">
              <a:latin typeface="Open Sans" panose="020B0606030504020204" pitchFamily="34" charset="0"/>
              <a:ea typeface="Open Sans" panose="020B0606030504020204" pitchFamily="34" charset="0"/>
              <a:cs typeface="Open Sans" panose="020B0606030504020204" pitchFamily="34" charset="0"/>
            </a:endParaRPr>
          </a:p>
        </p:txBody>
      </p:sp>
      <p:sp>
        <p:nvSpPr>
          <p:cNvPr id="6" name="Text 3">
            <a:extLst>
              <a:ext uri="{FF2B5EF4-FFF2-40B4-BE49-F238E27FC236}">
                <a16:creationId xmlns:a16="http://schemas.microsoft.com/office/drawing/2014/main" id="{5EAE5EAB-5339-E391-9578-633891CBFBC1}"/>
              </a:ext>
            </a:extLst>
          </p:cNvPr>
          <p:cNvSpPr/>
          <p:nvPr/>
        </p:nvSpPr>
        <p:spPr>
          <a:xfrm>
            <a:off x="365760" y="712800"/>
            <a:ext cx="8412480" cy="256032"/>
          </a:xfrm>
          <a:prstGeom prst="rect">
            <a:avLst/>
          </a:prstGeom>
          <a:noFill/>
          <a:ln/>
        </p:spPr>
        <p:txBody>
          <a:bodyPr wrap="square" lIns="0" tIns="0" rIns="0" bIns="0" rtlCol="0" anchor="ctr"/>
          <a:lstStyle/>
          <a:p>
            <a:r>
              <a:rPr lang="en-IN" sz="1200">
                <a:solidFill>
                  <a:schemeClr val="bg2">
                    <a:lumMod val="50000"/>
                  </a:schemeClr>
                </a:solidFill>
                <a:latin typeface="Open Sans" pitchFamily="2" charset="0"/>
                <a:ea typeface="Open Sans" pitchFamily="2" charset="0"/>
                <a:cs typeface="Open Sans" pitchFamily="2" charset="0"/>
              </a:rPr>
              <a:t>You will receive a broken PoC. Using the 5-step debugging loop and Claude Code, diagnose and fix every issue.</a:t>
            </a:r>
            <a:endParaRPr lang="en-US" sz="1200">
              <a:solidFill>
                <a:schemeClr val="bg2">
                  <a:lumMod val="50000"/>
                </a:schemeClr>
              </a:solidFill>
              <a:latin typeface="Open Sans" pitchFamily="2" charset="0"/>
              <a:ea typeface="Open Sans" pitchFamily="2" charset="0"/>
              <a:cs typeface="Open Sans" pitchFamily="2" charset="0"/>
            </a:endParaRPr>
          </a:p>
        </p:txBody>
      </p:sp>
      <p:sp>
        <p:nvSpPr>
          <p:cNvPr id="22" name="Shape 28">
            <a:extLst>
              <a:ext uri="{FF2B5EF4-FFF2-40B4-BE49-F238E27FC236}">
                <a16:creationId xmlns:a16="http://schemas.microsoft.com/office/drawing/2014/main" id="{D0F6A3D4-A3D7-01F3-D846-EDC5D528795F}"/>
              </a:ext>
            </a:extLst>
          </p:cNvPr>
          <p:cNvSpPr/>
          <p:nvPr/>
        </p:nvSpPr>
        <p:spPr>
          <a:xfrm>
            <a:off x="365760" y="4406595"/>
            <a:ext cx="8412480" cy="431711"/>
          </a:xfrm>
          <a:prstGeom prst="roundRect">
            <a:avLst>
              <a:gd name="adj" fmla="val 22727"/>
            </a:avLst>
          </a:prstGeom>
          <a:solidFill>
            <a:srgbClr val="E8F5E9"/>
          </a:solidFill>
          <a:ln w="1016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9">
            <a:extLst>
              <a:ext uri="{FF2B5EF4-FFF2-40B4-BE49-F238E27FC236}">
                <a16:creationId xmlns:a16="http://schemas.microsoft.com/office/drawing/2014/main" id="{F721E589-62BC-DDC8-4BCC-5FB9663DC19E}"/>
              </a:ext>
            </a:extLst>
          </p:cNvPr>
          <p:cNvSpPr/>
          <p:nvPr/>
        </p:nvSpPr>
        <p:spPr>
          <a:xfrm>
            <a:off x="502920" y="4406595"/>
            <a:ext cx="8229600" cy="431711"/>
          </a:xfrm>
          <a:prstGeom prst="rect">
            <a:avLst/>
          </a:prstGeom>
          <a:noFill/>
          <a:ln/>
        </p:spPr>
        <p:txBody>
          <a:bodyPr wrap="square" lIns="0" tIns="0" rIns="0" bIns="0" rtlCol="0" anchor="ctr"/>
          <a:lstStyle/>
          <a:p>
            <a:r>
              <a:rPr lang="en-IN" sz="1000" b="1">
                <a:solidFill>
                  <a:srgbClr val="00B050"/>
                </a:solidFill>
                <a:latin typeface="Open Sans" panose="020B0606030504020204" pitchFamily="34" charset="0"/>
                <a:ea typeface="Open Sans" panose="020B0606030504020204" pitchFamily="34" charset="0"/>
                <a:cs typeface="Open Sans" panose="020B0606030504020204" pitchFamily="34" charset="0"/>
              </a:rPr>
              <a:t>✓ All bugs diagnosed with root cause named first · All fixes applied and re-verified · At least one regression test written and passing</a:t>
            </a:r>
            <a:endParaRPr lang="en-US" sz="1000" b="1">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33">
            <a:extLst>
              <a:ext uri="{FF2B5EF4-FFF2-40B4-BE49-F238E27FC236}">
                <a16:creationId xmlns:a16="http://schemas.microsoft.com/office/drawing/2014/main" id="{4C313029-143B-2F0C-5715-11CF7FA40841}"/>
              </a:ext>
            </a:extLst>
          </p:cNvPr>
          <p:cNvSpPr/>
          <p:nvPr/>
        </p:nvSpPr>
        <p:spPr>
          <a:xfrm>
            <a:off x="8732520" y="4905756"/>
            <a:ext cx="91440" cy="91440"/>
          </a:xfrm>
          <a:prstGeom prst="ellipse">
            <a:avLst/>
          </a:prstGeom>
          <a:solidFill>
            <a:srgbClr val="E53E3E"/>
          </a:solidFill>
          <a:ln w="12700">
            <a:solidFill>
              <a:srgbClr val="E53E3E"/>
            </a:solidFill>
            <a:prstDash val="solid"/>
          </a:ln>
        </p:spPr>
        <p:txBody>
          <a:bodyPr/>
          <a:lstStyle/>
          <a:p>
            <a:endParaRPr lang="en-US"/>
          </a:p>
        </p:txBody>
      </p:sp>
      <p:sp>
        <p:nvSpPr>
          <p:cNvPr id="25" name="Shape 34">
            <a:extLst>
              <a:ext uri="{FF2B5EF4-FFF2-40B4-BE49-F238E27FC236}">
                <a16:creationId xmlns:a16="http://schemas.microsoft.com/office/drawing/2014/main" id="{C6C90F0F-2661-CC2A-CA9A-0A22055CA81B}"/>
              </a:ext>
            </a:extLst>
          </p:cNvPr>
          <p:cNvSpPr/>
          <p:nvPr/>
        </p:nvSpPr>
        <p:spPr>
          <a:xfrm>
            <a:off x="8842248" y="4905756"/>
            <a:ext cx="91440" cy="91440"/>
          </a:xfrm>
          <a:prstGeom prst="ellipse">
            <a:avLst/>
          </a:prstGeom>
          <a:solidFill>
            <a:srgbClr val="3182CE"/>
          </a:solidFill>
          <a:ln w="12700">
            <a:solidFill>
              <a:srgbClr val="3182CE"/>
            </a:solidFill>
            <a:prstDash val="solid"/>
          </a:ln>
        </p:spPr>
        <p:txBody>
          <a:bodyPr/>
          <a:lstStyle/>
          <a:p>
            <a:endParaRPr lang="en-US"/>
          </a:p>
        </p:txBody>
      </p:sp>
      <p:sp>
        <p:nvSpPr>
          <p:cNvPr id="49" name="Shape 6">
            <a:extLst>
              <a:ext uri="{FF2B5EF4-FFF2-40B4-BE49-F238E27FC236}">
                <a16:creationId xmlns:a16="http://schemas.microsoft.com/office/drawing/2014/main" id="{D8F318AB-C74E-57B5-5AC1-D38D9C534A44}"/>
              </a:ext>
            </a:extLst>
          </p:cNvPr>
          <p:cNvSpPr/>
          <p:nvPr/>
        </p:nvSpPr>
        <p:spPr>
          <a:xfrm>
            <a:off x="365760" y="1051408"/>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0" name="Shape 4">
            <a:extLst>
              <a:ext uri="{FF2B5EF4-FFF2-40B4-BE49-F238E27FC236}">
                <a16:creationId xmlns:a16="http://schemas.microsoft.com/office/drawing/2014/main" id="{319078EF-03C9-67B9-A8C6-BE449BD65822}"/>
              </a:ext>
            </a:extLst>
          </p:cNvPr>
          <p:cNvSpPr/>
          <p:nvPr/>
        </p:nvSpPr>
        <p:spPr>
          <a:xfrm>
            <a:off x="457200" y="1163487"/>
            <a:ext cx="329184" cy="329184"/>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1" name="Text 5">
            <a:extLst>
              <a:ext uri="{FF2B5EF4-FFF2-40B4-BE49-F238E27FC236}">
                <a16:creationId xmlns:a16="http://schemas.microsoft.com/office/drawing/2014/main" id="{72E5D089-5025-BCE0-7E1F-23CE26239199}"/>
              </a:ext>
            </a:extLst>
          </p:cNvPr>
          <p:cNvSpPr/>
          <p:nvPr/>
        </p:nvSpPr>
        <p:spPr>
          <a:xfrm>
            <a:off x="457200" y="1163487"/>
            <a:ext cx="329184" cy="329184"/>
          </a:xfrm>
          <a:prstGeom prst="rect">
            <a:avLst/>
          </a:prstGeom>
          <a:noFill/>
          <a:ln>
            <a:noFill/>
          </a:ln>
        </p:spPr>
        <p:txBody>
          <a:bodyPr wrap="square" lIns="0" tIns="0" rIns="0" bIns="0" rtlCol="0" anchor="ctr"/>
          <a:lstStyle/>
          <a:p>
            <a:pPr marL="0" indent="0" algn="ctr">
              <a:buNone/>
            </a:pPr>
            <a:r>
              <a:rPr lang="en-US" sz="13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1</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6">
            <a:extLst>
              <a:ext uri="{FF2B5EF4-FFF2-40B4-BE49-F238E27FC236}">
                <a16:creationId xmlns:a16="http://schemas.microsoft.com/office/drawing/2014/main" id="{94127962-3FC1-779A-C94B-7C7E0A4B2FFA}"/>
              </a:ext>
            </a:extLst>
          </p:cNvPr>
          <p:cNvSpPr/>
          <p:nvPr/>
        </p:nvSpPr>
        <p:spPr>
          <a:xfrm>
            <a:off x="936831" y="1043949"/>
            <a:ext cx="7955280" cy="274320"/>
          </a:xfrm>
          <a:prstGeom prst="rect">
            <a:avLst/>
          </a:prstGeom>
          <a:noFill/>
          <a:ln/>
        </p:spPr>
        <p:txBody>
          <a:bodyPr wrap="square" lIns="0" tIns="0" rIns="0" bIns="0" rtlCol="0" anchor="ctr"/>
          <a:lstStyle/>
          <a:p>
            <a:r>
              <a:rPr lang="en-IN" sz="1400" b="1">
                <a:latin typeface="Open Sans" panose="020B0606030504020204" pitchFamily="34" charset="0"/>
                <a:ea typeface="Open Sans" panose="020B0606030504020204" pitchFamily="34" charset="0"/>
                <a:cs typeface="Open Sans" panose="020B0606030504020204" pitchFamily="34" charset="0"/>
              </a:rPr>
              <a:t>Open the broken project and read </a:t>
            </a:r>
            <a:r>
              <a:rPr lang="en-IN" sz="1400" b="1" err="1">
                <a:latin typeface="Open Sans" panose="020B0606030504020204" pitchFamily="34" charset="0"/>
                <a:ea typeface="Open Sans" panose="020B0606030504020204" pitchFamily="34" charset="0"/>
                <a:cs typeface="Open Sans" panose="020B0606030504020204" pitchFamily="34" charset="0"/>
              </a:rPr>
              <a:t>CLAUDE.md</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53" name="Text 7">
            <a:extLst>
              <a:ext uri="{FF2B5EF4-FFF2-40B4-BE49-F238E27FC236}">
                <a16:creationId xmlns:a16="http://schemas.microsoft.com/office/drawing/2014/main" id="{380EF5B8-063A-D320-1387-2947F1C05870}"/>
              </a:ext>
            </a:extLst>
          </p:cNvPr>
          <p:cNvSpPr/>
          <p:nvPr/>
        </p:nvSpPr>
        <p:spPr>
          <a:xfrm>
            <a:off x="936831" y="1305565"/>
            <a:ext cx="7270338" cy="274320"/>
          </a:xfrm>
          <a:prstGeom prst="rect">
            <a:avLst/>
          </a:prstGeom>
          <a:noFill/>
          <a:ln/>
        </p:spPr>
        <p:txBody>
          <a:bodyPr wrap="square" lIns="0" tIns="0" rIns="0" bIns="0" rtlCol="0" anchor="ctr"/>
          <a:lstStyle/>
          <a:p>
            <a:r>
              <a:rPr lang="en-IN" sz="11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Understand what the project is supposed to do before you look for what is wrong. Do not start debugging without this context.</a:t>
            </a:r>
            <a:endParaRPr lang="en-US" sz="11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4" name="Shape 6">
            <a:extLst>
              <a:ext uri="{FF2B5EF4-FFF2-40B4-BE49-F238E27FC236}">
                <a16:creationId xmlns:a16="http://schemas.microsoft.com/office/drawing/2014/main" id="{25914C33-6883-C858-0C06-69ABCBD47988}"/>
              </a:ext>
            </a:extLst>
          </p:cNvPr>
          <p:cNvSpPr/>
          <p:nvPr/>
        </p:nvSpPr>
        <p:spPr>
          <a:xfrm>
            <a:off x="365760" y="1696578"/>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5" name="Shape 8">
            <a:extLst>
              <a:ext uri="{FF2B5EF4-FFF2-40B4-BE49-F238E27FC236}">
                <a16:creationId xmlns:a16="http://schemas.microsoft.com/office/drawing/2014/main" id="{6C086A9D-EEBE-3C93-1505-9D58AB399755}"/>
              </a:ext>
            </a:extLst>
          </p:cNvPr>
          <p:cNvSpPr/>
          <p:nvPr/>
        </p:nvSpPr>
        <p:spPr>
          <a:xfrm>
            <a:off x="457200" y="1808657"/>
            <a:ext cx="329184" cy="329184"/>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6" name="Text 9">
            <a:extLst>
              <a:ext uri="{FF2B5EF4-FFF2-40B4-BE49-F238E27FC236}">
                <a16:creationId xmlns:a16="http://schemas.microsoft.com/office/drawing/2014/main" id="{ED00EA78-56A7-3E49-670B-F34280ABE101}"/>
              </a:ext>
            </a:extLst>
          </p:cNvPr>
          <p:cNvSpPr/>
          <p:nvPr/>
        </p:nvSpPr>
        <p:spPr>
          <a:xfrm>
            <a:off x="457200" y="1808657"/>
            <a:ext cx="329184" cy="329184"/>
          </a:xfrm>
          <a:prstGeom prst="rect">
            <a:avLst/>
          </a:prstGeom>
          <a:noFill/>
          <a:ln>
            <a:noFill/>
          </a:ln>
        </p:spPr>
        <p:txBody>
          <a:bodyPr wrap="square" lIns="0" tIns="0" rIns="0" bIns="0" rtlCol="0" anchor="ctr"/>
          <a:lstStyle/>
          <a:p>
            <a:pPr marL="0" indent="0" algn="ctr">
              <a:buNone/>
            </a:pPr>
            <a:r>
              <a:rPr lang="en-US" sz="13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2</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57" name="Text 10">
            <a:extLst>
              <a:ext uri="{FF2B5EF4-FFF2-40B4-BE49-F238E27FC236}">
                <a16:creationId xmlns:a16="http://schemas.microsoft.com/office/drawing/2014/main" id="{61B7820B-E90B-304E-E4A0-F9C213DD8E7F}"/>
              </a:ext>
            </a:extLst>
          </p:cNvPr>
          <p:cNvSpPr/>
          <p:nvPr/>
        </p:nvSpPr>
        <p:spPr>
          <a:xfrm>
            <a:off x="936831" y="1698427"/>
            <a:ext cx="7955280" cy="274320"/>
          </a:xfrm>
          <a:prstGeom prst="rect">
            <a:avLst/>
          </a:prstGeom>
          <a:noFill/>
          <a:ln/>
        </p:spPr>
        <p:txBody>
          <a:bodyPr wrap="square" lIns="0" tIns="0" rIns="0" bIns="0" rtlCol="0" anchor="ctr"/>
          <a:lstStyle/>
          <a:p>
            <a:r>
              <a:rPr lang="en-IN" sz="1400" b="1">
                <a:latin typeface="Open Sans" panose="020B0606030504020204" pitchFamily="34" charset="0"/>
                <a:ea typeface="Open Sans" panose="020B0606030504020204" pitchFamily="34" charset="0"/>
                <a:cs typeface="Open Sans" panose="020B0606030504020204" pitchFamily="34" charset="0"/>
              </a:rPr>
              <a:t>Run the project and capture the first failure</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58" name="Text 11">
            <a:extLst>
              <a:ext uri="{FF2B5EF4-FFF2-40B4-BE49-F238E27FC236}">
                <a16:creationId xmlns:a16="http://schemas.microsoft.com/office/drawing/2014/main" id="{20FB544F-9A6D-F6D0-4F01-C0A73BEB1F29}"/>
              </a:ext>
            </a:extLst>
          </p:cNvPr>
          <p:cNvSpPr/>
          <p:nvPr/>
        </p:nvSpPr>
        <p:spPr>
          <a:xfrm>
            <a:off x="936831" y="1946793"/>
            <a:ext cx="7955280" cy="274320"/>
          </a:xfrm>
          <a:prstGeom prst="rect">
            <a:avLst/>
          </a:prstGeom>
          <a:noFill/>
          <a:ln/>
        </p:spPr>
        <p:txBody>
          <a:bodyPr wrap="square" lIns="0" tIns="0" rIns="0" bIns="0" rtlCol="0" anchor="ctr"/>
          <a:lstStyle/>
          <a:p>
            <a:r>
              <a:rPr lang="en-IN" sz="11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Copy the complete error output — do not trim it.</a:t>
            </a:r>
            <a:endParaRPr lang="en-US" sz="11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9" name="Shape 6">
            <a:extLst>
              <a:ext uri="{FF2B5EF4-FFF2-40B4-BE49-F238E27FC236}">
                <a16:creationId xmlns:a16="http://schemas.microsoft.com/office/drawing/2014/main" id="{95650C2C-7D0C-8593-EB8B-01BFCCCEBFDC}"/>
              </a:ext>
            </a:extLst>
          </p:cNvPr>
          <p:cNvSpPr/>
          <p:nvPr/>
        </p:nvSpPr>
        <p:spPr>
          <a:xfrm>
            <a:off x="365760" y="2371250"/>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0" name="Shape 12">
            <a:extLst>
              <a:ext uri="{FF2B5EF4-FFF2-40B4-BE49-F238E27FC236}">
                <a16:creationId xmlns:a16="http://schemas.microsoft.com/office/drawing/2014/main" id="{A135D448-5696-EFEE-F880-08BED9860A49}"/>
              </a:ext>
            </a:extLst>
          </p:cNvPr>
          <p:cNvSpPr/>
          <p:nvPr/>
        </p:nvSpPr>
        <p:spPr>
          <a:xfrm>
            <a:off x="457200" y="2483329"/>
            <a:ext cx="329184" cy="329184"/>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1" name="Text 13">
            <a:extLst>
              <a:ext uri="{FF2B5EF4-FFF2-40B4-BE49-F238E27FC236}">
                <a16:creationId xmlns:a16="http://schemas.microsoft.com/office/drawing/2014/main" id="{C803BB42-3101-9927-57FF-2D5C71997672}"/>
              </a:ext>
            </a:extLst>
          </p:cNvPr>
          <p:cNvSpPr/>
          <p:nvPr/>
        </p:nvSpPr>
        <p:spPr>
          <a:xfrm>
            <a:off x="457200" y="2483329"/>
            <a:ext cx="329184" cy="329184"/>
          </a:xfrm>
          <a:prstGeom prst="rect">
            <a:avLst/>
          </a:prstGeom>
          <a:noFill/>
          <a:ln/>
        </p:spPr>
        <p:txBody>
          <a:bodyPr wrap="square" lIns="0" tIns="0" rIns="0" bIns="0" rtlCol="0" anchor="ctr"/>
          <a:lstStyle/>
          <a:p>
            <a:pPr marL="0" indent="0" algn="ctr">
              <a:buNone/>
            </a:pPr>
            <a:r>
              <a:rPr lang="en-US" sz="13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3</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62" name="Text 14">
            <a:extLst>
              <a:ext uri="{FF2B5EF4-FFF2-40B4-BE49-F238E27FC236}">
                <a16:creationId xmlns:a16="http://schemas.microsoft.com/office/drawing/2014/main" id="{9E1541FF-17F7-3979-4C22-94E8B5B7DA15}"/>
              </a:ext>
            </a:extLst>
          </p:cNvPr>
          <p:cNvSpPr/>
          <p:nvPr/>
        </p:nvSpPr>
        <p:spPr>
          <a:xfrm>
            <a:off x="936831" y="2375649"/>
            <a:ext cx="4114800" cy="274320"/>
          </a:xfrm>
          <a:prstGeom prst="rect">
            <a:avLst/>
          </a:prstGeom>
          <a:noFill/>
          <a:ln/>
        </p:spPr>
        <p:txBody>
          <a:bodyPr wrap="square" lIns="0" tIns="0" rIns="0" bIns="0" rtlCol="0" anchor="ctr"/>
          <a:lstStyle/>
          <a:p>
            <a:r>
              <a:rPr lang="en-IN" sz="1400" b="1">
                <a:latin typeface="Open Sans" panose="020B0606030504020204" pitchFamily="34" charset="0"/>
                <a:ea typeface="Open Sans" panose="020B0606030504020204" pitchFamily="34" charset="0"/>
                <a:cs typeface="Open Sans" panose="020B0606030504020204" pitchFamily="34" charset="0"/>
              </a:rPr>
              <a:t>Apply the debugging loop</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63" name="Text 15">
            <a:extLst>
              <a:ext uri="{FF2B5EF4-FFF2-40B4-BE49-F238E27FC236}">
                <a16:creationId xmlns:a16="http://schemas.microsoft.com/office/drawing/2014/main" id="{6C733097-4571-4438-8D38-D5C67EAFF6BB}"/>
              </a:ext>
            </a:extLst>
          </p:cNvPr>
          <p:cNvSpPr/>
          <p:nvPr/>
        </p:nvSpPr>
        <p:spPr>
          <a:xfrm>
            <a:off x="936830" y="2653408"/>
            <a:ext cx="7704250" cy="274320"/>
          </a:xfrm>
          <a:prstGeom prst="rect">
            <a:avLst/>
          </a:prstGeom>
          <a:noFill/>
          <a:ln/>
        </p:spPr>
        <p:txBody>
          <a:bodyPr wrap="square" lIns="0" tIns="0" rIns="0" bIns="0" rtlCol="0" anchor="ctr"/>
          <a:lstStyle/>
          <a:p>
            <a:r>
              <a:rPr lang="en-IN" sz="11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Paste the full error with one sentence of context. Ask Claude to name the root cause before fixing.</a:t>
            </a:r>
            <a:endParaRPr lang="en-US" sz="11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4" name="Shape 6">
            <a:extLst>
              <a:ext uri="{FF2B5EF4-FFF2-40B4-BE49-F238E27FC236}">
                <a16:creationId xmlns:a16="http://schemas.microsoft.com/office/drawing/2014/main" id="{ED66B439-5E93-8FA7-C853-CF3D39643093}"/>
              </a:ext>
            </a:extLst>
          </p:cNvPr>
          <p:cNvSpPr/>
          <p:nvPr/>
        </p:nvSpPr>
        <p:spPr>
          <a:xfrm>
            <a:off x="365760" y="3051764"/>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5" name="Shape 18">
            <a:extLst>
              <a:ext uri="{FF2B5EF4-FFF2-40B4-BE49-F238E27FC236}">
                <a16:creationId xmlns:a16="http://schemas.microsoft.com/office/drawing/2014/main" id="{B93B356A-36C6-83C3-FA47-AA2ECA1FCBF5}"/>
              </a:ext>
            </a:extLst>
          </p:cNvPr>
          <p:cNvSpPr/>
          <p:nvPr/>
        </p:nvSpPr>
        <p:spPr>
          <a:xfrm>
            <a:off x="457200" y="3163843"/>
            <a:ext cx="329184" cy="329184"/>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6" name="Text 19">
            <a:extLst>
              <a:ext uri="{FF2B5EF4-FFF2-40B4-BE49-F238E27FC236}">
                <a16:creationId xmlns:a16="http://schemas.microsoft.com/office/drawing/2014/main" id="{FB3A32A2-96DD-60DE-1CB0-4AED83C4E5F8}"/>
              </a:ext>
            </a:extLst>
          </p:cNvPr>
          <p:cNvSpPr/>
          <p:nvPr/>
        </p:nvSpPr>
        <p:spPr>
          <a:xfrm>
            <a:off x="457200" y="3163843"/>
            <a:ext cx="329184" cy="329184"/>
          </a:xfrm>
          <a:prstGeom prst="rect">
            <a:avLst/>
          </a:prstGeom>
          <a:noFill/>
          <a:ln/>
        </p:spPr>
        <p:txBody>
          <a:bodyPr wrap="square" lIns="0" tIns="0" rIns="0" bIns="0" rtlCol="0" anchor="ctr"/>
          <a:lstStyle/>
          <a:p>
            <a:pPr marL="0" indent="0" algn="ctr">
              <a:buNone/>
            </a:pPr>
            <a:r>
              <a:rPr lang="en-US" sz="13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4</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67" name="Text 20">
            <a:extLst>
              <a:ext uri="{FF2B5EF4-FFF2-40B4-BE49-F238E27FC236}">
                <a16:creationId xmlns:a16="http://schemas.microsoft.com/office/drawing/2014/main" id="{C85E1039-ECB0-0A1E-38FB-FDEC6E97157F}"/>
              </a:ext>
            </a:extLst>
          </p:cNvPr>
          <p:cNvSpPr/>
          <p:nvPr/>
        </p:nvSpPr>
        <p:spPr>
          <a:xfrm>
            <a:off x="936831" y="3049201"/>
            <a:ext cx="7955280" cy="274320"/>
          </a:xfrm>
          <a:prstGeom prst="rect">
            <a:avLst/>
          </a:prstGeom>
          <a:noFill/>
          <a:ln/>
        </p:spPr>
        <p:txBody>
          <a:bodyPr wrap="square" lIns="0" tIns="0" rIns="0" bIns="0" rtlCol="0" anchor="ctr"/>
          <a:lstStyle/>
          <a:p>
            <a:r>
              <a:rPr lang="en-IN" sz="1400" b="1">
                <a:latin typeface="Open Sans" panose="020B0606030504020204" pitchFamily="34" charset="0"/>
                <a:ea typeface="Open Sans" panose="020B0606030504020204" pitchFamily="34" charset="0"/>
                <a:cs typeface="Open Sans" panose="020B0606030504020204" pitchFamily="34" charset="0"/>
              </a:rPr>
              <a:t>Apply the fix, re-run, and confirm</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68" name="Text 21">
            <a:extLst>
              <a:ext uri="{FF2B5EF4-FFF2-40B4-BE49-F238E27FC236}">
                <a16:creationId xmlns:a16="http://schemas.microsoft.com/office/drawing/2014/main" id="{E552AC62-DA37-590F-A242-FE41FE9D69B1}"/>
              </a:ext>
            </a:extLst>
          </p:cNvPr>
          <p:cNvSpPr/>
          <p:nvPr/>
        </p:nvSpPr>
        <p:spPr>
          <a:xfrm>
            <a:off x="936831" y="3348363"/>
            <a:ext cx="7955280" cy="274320"/>
          </a:xfrm>
          <a:prstGeom prst="rect">
            <a:avLst/>
          </a:prstGeom>
          <a:noFill/>
          <a:ln/>
        </p:spPr>
        <p:txBody>
          <a:bodyPr wrap="square" lIns="0" tIns="0" rIns="0" bIns="0" rtlCol="0" anchor="ctr"/>
          <a:lstStyle/>
          <a:p>
            <a:r>
              <a:rPr lang="en-IN" sz="11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The symptom should be gone. Check that nothing else broke before moving to the next issue.</a:t>
            </a:r>
            <a:endParaRPr lang="en-US" sz="110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9" name="Shape 6">
            <a:extLst>
              <a:ext uri="{FF2B5EF4-FFF2-40B4-BE49-F238E27FC236}">
                <a16:creationId xmlns:a16="http://schemas.microsoft.com/office/drawing/2014/main" id="{D1C0ED0C-7B79-6341-FC11-AB161F7646C1}"/>
              </a:ext>
            </a:extLst>
          </p:cNvPr>
          <p:cNvSpPr/>
          <p:nvPr/>
        </p:nvSpPr>
        <p:spPr>
          <a:xfrm>
            <a:off x="365760" y="3724625"/>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70" name="Shape 22">
            <a:extLst>
              <a:ext uri="{FF2B5EF4-FFF2-40B4-BE49-F238E27FC236}">
                <a16:creationId xmlns:a16="http://schemas.microsoft.com/office/drawing/2014/main" id="{C8C7F937-EF91-29D4-84EA-BE7FDD616D9F}"/>
              </a:ext>
            </a:extLst>
          </p:cNvPr>
          <p:cNvSpPr/>
          <p:nvPr/>
        </p:nvSpPr>
        <p:spPr>
          <a:xfrm>
            <a:off x="457200" y="3841470"/>
            <a:ext cx="329184" cy="329184"/>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71" name="Text 23">
            <a:extLst>
              <a:ext uri="{FF2B5EF4-FFF2-40B4-BE49-F238E27FC236}">
                <a16:creationId xmlns:a16="http://schemas.microsoft.com/office/drawing/2014/main" id="{78AAA406-379A-A6F6-B1E4-0F257A952B44}"/>
              </a:ext>
            </a:extLst>
          </p:cNvPr>
          <p:cNvSpPr/>
          <p:nvPr/>
        </p:nvSpPr>
        <p:spPr>
          <a:xfrm>
            <a:off x="457200" y="3841470"/>
            <a:ext cx="329184" cy="329184"/>
          </a:xfrm>
          <a:prstGeom prst="rect">
            <a:avLst/>
          </a:prstGeom>
          <a:noFill/>
          <a:ln>
            <a:noFill/>
          </a:ln>
        </p:spPr>
        <p:txBody>
          <a:bodyPr wrap="square" lIns="0" tIns="0" rIns="0" bIns="0" rtlCol="0" anchor="ctr"/>
          <a:lstStyle/>
          <a:p>
            <a:pPr marL="0" indent="0" algn="ctr">
              <a:buNone/>
            </a:pPr>
            <a:r>
              <a:rPr lang="en-US" sz="13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5</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72" name="Text 24">
            <a:extLst>
              <a:ext uri="{FF2B5EF4-FFF2-40B4-BE49-F238E27FC236}">
                <a16:creationId xmlns:a16="http://schemas.microsoft.com/office/drawing/2014/main" id="{A6DF6AB1-EA24-FDEC-E7FA-5344A5AF5777}"/>
              </a:ext>
            </a:extLst>
          </p:cNvPr>
          <p:cNvSpPr/>
          <p:nvPr/>
        </p:nvSpPr>
        <p:spPr>
          <a:xfrm>
            <a:off x="936831" y="3726976"/>
            <a:ext cx="7955280" cy="274320"/>
          </a:xfrm>
          <a:prstGeom prst="rect">
            <a:avLst/>
          </a:prstGeom>
          <a:noFill/>
          <a:ln/>
        </p:spPr>
        <p:txBody>
          <a:bodyPr wrap="square" lIns="0" tIns="0" rIns="0" bIns="0" rtlCol="0" anchor="ctr"/>
          <a:lstStyle/>
          <a:p>
            <a:r>
              <a:rPr lang="en-IN" sz="1400" b="1">
                <a:latin typeface="Open Sans" panose="020B0606030504020204" pitchFamily="34" charset="0"/>
                <a:ea typeface="Open Sans" panose="020B0606030504020204" pitchFamily="34" charset="0"/>
                <a:cs typeface="Open Sans" panose="020B0606030504020204" pitchFamily="34" charset="0"/>
              </a:rPr>
              <a:t>Write a test that locks in the fix</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73" name="Text 25">
            <a:extLst>
              <a:ext uri="{FF2B5EF4-FFF2-40B4-BE49-F238E27FC236}">
                <a16:creationId xmlns:a16="http://schemas.microsoft.com/office/drawing/2014/main" id="{E4E67506-6128-9F2F-D622-B56265E2F452}"/>
              </a:ext>
            </a:extLst>
          </p:cNvPr>
          <p:cNvSpPr/>
          <p:nvPr/>
        </p:nvSpPr>
        <p:spPr>
          <a:xfrm>
            <a:off x="936831" y="4006062"/>
            <a:ext cx="7955280" cy="274320"/>
          </a:xfrm>
          <a:prstGeom prst="rect">
            <a:avLst/>
          </a:prstGeom>
          <a:noFill/>
          <a:ln/>
        </p:spPr>
        <p:txBody>
          <a:bodyPr wrap="square" lIns="0" tIns="0" rIns="0" bIns="0" rtlCol="0" anchor="ctr"/>
          <a:lstStyle/>
          <a:p>
            <a:r>
              <a:rPr lang="en-IN" sz="1100">
                <a:solidFill>
                  <a:schemeClr val="bg2">
                    <a:lumMod val="50000"/>
                  </a:schemeClr>
                </a:solidFill>
                <a:latin typeface="Open Sans" pitchFamily="2" charset="0"/>
                <a:ea typeface="Open Sans" pitchFamily="2" charset="0"/>
                <a:cs typeface="Open Sans" pitchFamily="2" charset="0"/>
              </a:rPr>
              <a:t>$ </a:t>
            </a:r>
            <a:r>
              <a:rPr lang="en-IN" sz="1100" err="1">
                <a:solidFill>
                  <a:schemeClr val="bg2">
                    <a:lumMod val="50000"/>
                  </a:schemeClr>
                </a:solidFill>
                <a:latin typeface="Open Sans" pitchFamily="2" charset="0"/>
                <a:ea typeface="Open Sans" pitchFamily="2" charset="0"/>
                <a:cs typeface="Open Sans" pitchFamily="2" charset="0"/>
              </a:rPr>
              <a:t>claude</a:t>
            </a:r>
            <a:r>
              <a:rPr lang="en-IN" sz="1100">
                <a:solidFill>
                  <a:schemeClr val="bg2">
                    <a:lumMod val="50000"/>
                  </a:schemeClr>
                </a:solidFill>
                <a:latin typeface="Open Sans" pitchFamily="2" charset="0"/>
                <a:ea typeface="Open Sans" pitchFamily="2" charset="0"/>
                <a:cs typeface="Open Sans" pitchFamily="2" charset="0"/>
              </a:rPr>
              <a:t> "Write a test that fails before this fix and passes after it."</a:t>
            </a:r>
            <a:endParaRPr lang="en-US" sz="1100">
              <a:solidFill>
                <a:schemeClr val="bg2">
                  <a:lumMod val="50000"/>
                </a:schemeClr>
              </a:solidFill>
              <a:latin typeface="Open Sans" pitchFamily="2" charset="0"/>
              <a:ea typeface="Open Sans" pitchFamily="2" charset="0"/>
              <a:cs typeface="Open Sans" pitchFamily="2" charset="0"/>
            </a:endParaRPr>
          </a:p>
        </p:txBody>
      </p:sp>
      <p:sp>
        <p:nvSpPr>
          <p:cNvPr id="74" name="Shape 0">
            <a:extLst>
              <a:ext uri="{FF2B5EF4-FFF2-40B4-BE49-F238E27FC236}">
                <a16:creationId xmlns:a16="http://schemas.microsoft.com/office/drawing/2014/main" id="{0E91A847-9F62-C069-6676-0CD4E7972EAD}"/>
              </a:ext>
            </a:extLst>
          </p:cNvPr>
          <p:cNvSpPr/>
          <p:nvPr/>
        </p:nvSpPr>
        <p:spPr>
          <a:xfrm>
            <a:off x="7863840" y="164592"/>
            <a:ext cx="1005840" cy="292608"/>
          </a:xfrm>
          <a:prstGeom prst="roundRect">
            <a:avLst>
              <a:gd name="adj" fmla="val 15625"/>
            </a:avLst>
          </a:prstGeom>
          <a:solidFill>
            <a:srgbClr val="00B050"/>
          </a:solidFill>
          <a:ln w="12700">
            <a:solidFill>
              <a:srgbClr val="00A896"/>
            </a:solidFill>
            <a:prstDash val="solid"/>
          </a:ln>
        </p:spPr>
        <p:txBody>
          <a:bodyPr/>
          <a:lstStyle/>
          <a:p>
            <a:endParaRPr lang="en-US">
              <a:latin typeface="Open Sans" pitchFamily="2" charset="0"/>
              <a:ea typeface="Open Sans" pitchFamily="2" charset="0"/>
              <a:cs typeface="Open Sans" pitchFamily="2" charset="0"/>
            </a:endParaRPr>
          </a:p>
        </p:txBody>
      </p:sp>
      <p:sp>
        <p:nvSpPr>
          <p:cNvPr id="75" name="Text 1">
            <a:extLst>
              <a:ext uri="{FF2B5EF4-FFF2-40B4-BE49-F238E27FC236}">
                <a16:creationId xmlns:a16="http://schemas.microsoft.com/office/drawing/2014/main" id="{6043387F-3E94-6FEF-B4AB-0B549CEEFA24}"/>
              </a:ext>
            </a:extLst>
          </p:cNvPr>
          <p:cNvSpPr/>
          <p:nvPr/>
        </p:nvSpPr>
        <p:spPr>
          <a:xfrm>
            <a:off x="7863840" y="164592"/>
            <a:ext cx="1005840" cy="292608"/>
          </a:xfrm>
          <a:prstGeom prst="rect">
            <a:avLst/>
          </a:prstGeom>
          <a:solidFill>
            <a:schemeClr val="accent2"/>
          </a:solidFill>
          <a:ln/>
        </p:spPr>
        <p:txBody>
          <a:bodyPr wrap="square" lIns="0" tIns="0" rIns="0" bIns="0" rtlCol="0" anchor="ctr"/>
          <a:lstStyle/>
          <a:p>
            <a:pPr algn="ctr"/>
            <a:r>
              <a:rPr lang="en-US" sz="850" b="1">
                <a:solidFill>
                  <a:schemeClr val="bg1"/>
                </a:solidFill>
                <a:latin typeface="Calibri" pitchFamily="34" charset="0"/>
                <a:ea typeface="Calibri" pitchFamily="34" charset="-122"/>
                <a:cs typeface="Calibri" pitchFamily="34" charset="-120"/>
              </a:rPr>
              <a:t>HANDS-ON LAB</a:t>
            </a:r>
            <a:endParaRPr lang="en-US" sz="850">
              <a:solidFill>
                <a:schemeClr val="bg1"/>
              </a:solidFill>
            </a:endParaRPr>
          </a:p>
        </p:txBody>
      </p:sp>
    </p:spTree>
    <p:extLst>
      <p:ext uri="{BB962C8B-B14F-4D97-AF65-F5344CB8AC3E}">
        <p14:creationId xmlns:p14="http://schemas.microsoft.com/office/powerpoint/2010/main" val="1545907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D2DA9B2B-CFA6-FBE0-B050-D44548B20920}"/>
              </a:ext>
            </a:extLst>
          </p:cNvPr>
          <p:cNvSpPr/>
          <p:nvPr/>
        </p:nvSpPr>
        <p:spPr>
          <a:xfrm>
            <a:off x="411480" y="182880"/>
            <a:ext cx="1371600" cy="292608"/>
          </a:xfrm>
          <a:prstGeom prst="roundRect">
            <a:avLst>
              <a:gd name="adj" fmla="val 18750"/>
            </a:avLst>
          </a:prstGeom>
          <a:solidFill>
            <a:schemeClr val="accent2"/>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1">
            <a:extLst>
              <a:ext uri="{FF2B5EF4-FFF2-40B4-BE49-F238E27FC236}">
                <a16:creationId xmlns:a16="http://schemas.microsoft.com/office/drawing/2014/main" id="{CCD002C8-20CE-5DCB-8872-5B6A0732EE80}"/>
              </a:ext>
            </a:extLst>
          </p:cNvPr>
          <p:cNvSpPr/>
          <p:nvPr/>
        </p:nvSpPr>
        <p:spPr>
          <a:xfrm>
            <a:off x="411480" y="182880"/>
            <a:ext cx="1371600" cy="292608"/>
          </a:xfrm>
          <a:prstGeom prst="rect">
            <a:avLst/>
          </a:prstGeom>
          <a:noFill/>
          <a:ln>
            <a:noFill/>
          </a:ln>
        </p:spPr>
        <p:txBody>
          <a:bodyPr wrap="square" lIns="0" tIns="0" rIns="0" bIns="0" rtlCol="0" anchor="ctr"/>
          <a:lstStyle/>
          <a:p>
            <a:pPr marL="0" indent="0" algn="ctr">
              <a:buNone/>
            </a:pPr>
            <a:r>
              <a:rPr lang="en-US" sz="850" b="1">
                <a:solidFill>
                  <a:schemeClr val="bg1"/>
                </a:solidFill>
                <a:latin typeface="Open Sans" panose="020B0606030504020204" pitchFamily="34" charset="0"/>
                <a:ea typeface="Open Sans" panose="020B0606030504020204" pitchFamily="34" charset="0"/>
                <a:cs typeface="Open Sans" panose="020B0606030504020204" pitchFamily="34" charset="0"/>
              </a:rPr>
              <a:t>PART 1 RECAP</a:t>
            </a:r>
          </a:p>
        </p:txBody>
      </p:sp>
      <p:sp>
        <p:nvSpPr>
          <p:cNvPr id="5" name="Text 2">
            <a:extLst>
              <a:ext uri="{FF2B5EF4-FFF2-40B4-BE49-F238E27FC236}">
                <a16:creationId xmlns:a16="http://schemas.microsoft.com/office/drawing/2014/main" id="{9EFCE0E2-2EAA-43E0-06B3-C3B2D8A61C5C}"/>
              </a:ext>
            </a:extLst>
          </p:cNvPr>
          <p:cNvSpPr/>
          <p:nvPr/>
        </p:nvSpPr>
        <p:spPr>
          <a:xfrm>
            <a:off x="411480" y="530352"/>
            <a:ext cx="8321040" cy="457200"/>
          </a:xfrm>
          <a:prstGeom prst="rect">
            <a:avLst/>
          </a:prstGeom>
          <a:noFill/>
          <a:ln/>
        </p:spPr>
        <p:txBody>
          <a:bodyPr wrap="square" lIns="0" tIns="0" rIns="0" bIns="0" rtlCol="0" anchor="ctr"/>
          <a:lstStyle/>
          <a:p>
            <a:pPr marL="0" indent="0" algn="l">
              <a:buNone/>
            </a:pPr>
            <a:r>
              <a:rPr lang="en-US" sz="2800" b="1">
                <a:latin typeface="Open Sans" panose="020B0606030504020204" pitchFamily="34" charset="0"/>
                <a:ea typeface="Open Sans" panose="020B0606030504020204" pitchFamily="34" charset="0"/>
                <a:cs typeface="Open Sans" panose="020B0606030504020204" pitchFamily="34" charset="0"/>
              </a:rPr>
              <a:t>AI-Assisted Debugging</a:t>
            </a:r>
          </a:p>
        </p:txBody>
      </p:sp>
      <p:sp>
        <p:nvSpPr>
          <p:cNvPr id="6" name="Shape 3">
            <a:extLst>
              <a:ext uri="{FF2B5EF4-FFF2-40B4-BE49-F238E27FC236}">
                <a16:creationId xmlns:a16="http://schemas.microsoft.com/office/drawing/2014/main" id="{042F6047-DA47-730C-E845-F6FE3938ABF6}"/>
              </a:ext>
            </a:extLst>
          </p:cNvPr>
          <p:cNvSpPr/>
          <p:nvPr/>
        </p:nvSpPr>
        <p:spPr>
          <a:xfrm>
            <a:off x="411480" y="1462363"/>
            <a:ext cx="2633472" cy="2907792"/>
          </a:xfrm>
          <a:prstGeom prst="roundRect">
            <a:avLst>
              <a:gd name="adj" fmla="val 3472"/>
            </a:avLst>
          </a:prstGeom>
          <a:solidFill>
            <a:srgbClr val="F7F7F7"/>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7" name="Shape 4">
            <a:extLst>
              <a:ext uri="{FF2B5EF4-FFF2-40B4-BE49-F238E27FC236}">
                <a16:creationId xmlns:a16="http://schemas.microsoft.com/office/drawing/2014/main" id="{792794C5-504D-CAF5-A354-D9A41D6542EA}"/>
              </a:ext>
            </a:extLst>
          </p:cNvPr>
          <p:cNvSpPr/>
          <p:nvPr/>
        </p:nvSpPr>
        <p:spPr>
          <a:xfrm>
            <a:off x="411480" y="1061381"/>
            <a:ext cx="2633472" cy="384048"/>
          </a:xfrm>
          <a:prstGeom prst="roundRect">
            <a:avLst>
              <a:gd name="adj" fmla="val 23810"/>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882A32FF-C80B-02E9-28A1-29E2887F59D3}"/>
              </a:ext>
            </a:extLst>
          </p:cNvPr>
          <p:cNvSpPr/>
          <p:nvPr/>
        </p:nvSpPr>
        <p:spPr>
          <a:xfrm>
            <a:off x="548640" y="1116245"/>
            <a:ext cx="2359152" cy="274320"/>
          </a:xfrm>
          <a:prstGeom prst="rect">
            <a:avLst/>
          </a:prstGeom>
          <a:noFill/>
          <a:ln/>
        </p:spPr>
        <p:txBody>
          <a:bodyPr wrap="square" lIns="0" tIns="0" rIns="0" bIns="0" rtlCol="0" anchor="ctr"/>
          <a:lstStyle/>
          <a:p>
            <a:pPr marL="0" indent="0" algn="ctr">
              <a:buNone/>
            </a:pPr>
            <a:r>
              <a:rPr lang="en-US" sz="1200" b="1" kern="0" spc="100">
                <a:solidFill>
                  <a:srgbClr val="FFFFFF"/>
                </a:solidFill>
                <a:latin typeface="Open Sans" panose="020B0606030504020204" pitchFamily="34" charset="0"/>
                <a:ea typeface="Open Sans" panose="020B0606030504020204" pitchFamily="34" charset="0"/>
                <a:cs typeface="Open Sans" panose="020B0606030504020204" pitchFamily="34" charset="0"/>
              </a:rPr>
              <a:t>THE HABIT</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7">
            <a:extLst>
              <a:ext uri="{FF2B5EF4-FFF2-40B4-BE49-F238E27FC236}">
                <a16:creationId xmlns:a16="http://schemas.microsoft.com/office/drawing/2014/main" id="{72A65EFD-F03B-FF14-2DE2-EF3C17A23575}"/>
              </a:ext>
            </a:extLst>
          </p:cNvPr>
          <p:cNvSpPr/>
          <p:nvPr/>
        </p:nvSpPr>
        <p:spPr>
          <a:xfrm>
            <a:off x="548640" y="1564301"/>
            <a:ext cx="201168" cy="457200"/>
          </a:xfrm>
          <a:prstGeom prst="rect">
            <a:avLst/>
          </a:prstGeom>
          <a:noFill/>
          <a:ln/>
        </p:spPr>
        <p:txBody>
          <a:bodyPr wrap="square" lIns="0" tIns="0" rIns="0" bIns="0" rtlCol="0" anchor="t"/>
          <a:lstStyle/>
          <a:p>
            <a:pPr marL="0" indent="0" algn="l">
              <a:buNone/>
            </a:pPr>
            <a:r>
              <a:rPr lang="en-US" sz="1200" b="1">
                <a:solidFill>
                  <a:schemeClr val="accent2"/>
                </a:solidFill>
                <a:latin typeface="Open Sans Extrabold" pitchFamily="2" charset="0"/>
                <a:ea typeface="Open Sans Extrabold" pitchFamily="2" charset="0"/>
                <a:cs typeface="Open Sans Extrabold" pitchFamily="2" charset="0"/>
              </a:rPr>
              <a:t>✓</a:t>
            </a:r>
          </a:p>
        </p:txBody>
      </p:sp>
      <p:sp>
        <p:nvSpPr>
          <p:cNvPr id="11" name="Text 8">
            <a:extLst>
              <a:ext uri="{FF2B5EF4-FFF2-40B4-BE49-F238E27FC236}">
                <a16:creationId xmlns:a16="http://schemas.microsoft.com/office/drawing/2014/main" id="{9CA19F0B-1764-91D8-2505-87AF980C6314}"/>
              </a:ext>
            </a:extLst>
          </p:cNvPr>
          <p:cNvSpPr/>
          <p:nvPr/>
        </p:nvSpPr>
        <p:spPr>
          <a:xfrm>
            <a:off x="758952" y="156430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Read every diff before accepting it — plausible is not the same as correct</a:t>
            </a:r>
            <a:endParaRPr lang="en-US" sz="115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A736B3BC-7EDC-53AF-C7E1-08AD18A5F9B6}"/>
              </a:ext>
            </a:extLst>
          </p:cNvPr>
          <p:cNvSpPr/>
          <p:nvPr/>
        </p:nvSpPr>
        <p:spPr>
          <a:xfrm>
            <a:off x="548640" y="2225210"/>
            <a:ext cx="201168" cy="457200"/>
          </a:xfrm>
          <a:prstGeom prst="rect">
            <a:avLst/>
          </a:prstGeom>
          <a:noFill/>
          <a:ln/>
        </p:spPr>
        <p:txBody>
          <a:bodyPr wrap="square" lIns="0" tIns="0" rIns="0" bIns="0" rtlCol="0" anchor="t"/>
          <a:lstStyle/>
          <a:p>
            <a:pPr marL="0" indent="0" algn="l">
              <a:buNone/>
            </a:pPr>
            <a:r>
              <a:rPr lang="en-US" sz="1200" b="1">
                <a:solidFill>
                  <a:schemeClr val="accent2"/>
                </a:solidFill>
                <a:latin typeface="Open Sans Extrabold" pitchFamily="2" charset="0"/>
                <a:ea typeface="Open Sans Extrabold" pitchFamily="2" charset="0"/>
                <a:cs typeface="Open Sans Extrabold" pitchFamily="2" charset="0"/>
              </a:rPr>
              <a:t>✓</a:t>
            </a:r>
          </a:p>
        </p:txBody>
      </p:sp>
      <p:sp>
        <p:nvSpPr>
          <p:cNvPr id="13" name="Text 10">
            <a:extLst>
              <a:ext uri="{FF2B5EF4-FFF2-40B4-BE49-F238E27FC236}">
                <a16:creationId xmlns:a16="http://schemas.microsoft.com/office/drawing/2014/main" id="{4550B356-C4D6-0A50-209D-B96D37BE1136}"/>
              </a:ext>
            </a:extLst>
          </p:cNvPr>
          <p:cNvSpPr/>
          <p:nvPr/>
        </p:nvSpPr>
        <p:spPr>
          <a:xfrm>
            <a:off x="758952" y="2225210"/>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Use Claude to explain code line by line before you trust it</a:t>
            </a:r>
            <a:endParaRPr lang="en-US" sz="1150">
              <a:latin typeface="Open Sans" pitchFamily="2" charset="0"/>
              <a:ea typeface="Open Sans" pitchFamily="2" charset="0"/>
              <a:cs typeface="Open Sans" pitchFamily="2" charset="0"/>
            </a:endParaRPr>
          </a:p>
        </p:txBody>
      </p:sp>
      <p:sp>
        <p:nvSpPr>
          <p:cNvPr id="14" name="Text 11">
            <a:extLst>
              <a:ext uri="{FF2B5EF4-FFF2-40B4-BE49-F238E27FC236}">
                <a16:creationId xmlns:a16="http://schemas.microsoft.com/office/drawing/2014/main" id="{C3CF8DFC-C899-D827-1AA1-45CE1473C6D3}"/>
              </a:ext>
            </a:extLst>
          </p:cNvPr>
          <p:cNvSpPr/>
          <p:nvPr/>
        </p:nvSpPr>
        <p:spPr>
          <a:xfrm>
            <a:off x="548640" y="2784348"/>
            <a:ext cx="201168" cy="457200"/>
          </a:xfrm>
          <a:prstGeom prst="rect">
            <a:avLst/>
          </a:prstGeom>
          <a:noFill/>
          <a:ln/>
        </p:spPr>
        <p:txBody>
          <a:bodyPr wrap="square" lIns="0" tIns="0" rIns="0" bIns="0" rtlCol="0" anchor="t"/>
          <a:lstStyle/>
          <a:p>
            <a:pPr marL="0" indent="0" algn="l">
              <a:buNone/>
            </a:pPr>
            <a:r>
              <a:rPr lang="en-US" sz="1200" b="1">
                <a:solidFill>
                  <a:schemeClr val="accent2"/>
                </a:solidFill>
                <a:latin typeface="Open Sans Extrabold" pitchFamily="2" charset="0"/>
                <a:ea typeface="Open Sans Extrabold" pitchFamily="2" charset="0"/>
                <a:cs typeface="Open Sans Extrabold" pitchFamily="2" charset="0"/>
              </a:rPr>
              <a:t>✓</a:t>
            </a:r>
          </a:p>
        </p:txBody>
      </p:sp>
      <p:sp>
        <p:nvSpPr>
          <p:cNvPr id="15" name="Text 12">
            <a:extLst>
              <a:ext uri="{FF2B5EF4-FFF2-40B4-BE49-F238E27FC236}">
                <a16:creationId xmlns:a16="http://schemas.microsoft.com/office/drawing/2014/main" id="{DF0C99F2-F40F-1CE6-B2AA-FF6FAA3F5EC3}"/>
              </a:ext>
            </a:extLst>
          </p:cNvPr>
          <p:cNvSpPr/>
          <p:nvPr/>
        </p:nvSpPr>
        <p:spPr>
          <a:xfrm>
            <a:off x="758952" y="2784348"/>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If Claude cannot explain a line clearly, that line needs reviewing</a:t>
            </a:r>
            <a:endParaRPr lang="en-US" sz="1150">
              <a:latin typeface="Open Sans" pitchFamily="2" charset="0"/>
              <a:ea typeface="Open Sans" pitchFamily="2" charset="0"/>
              <a:cs typeface="Open Sans" pitchFamily="2" charset="0"/>
            </a:endParaRPr>
          </a:p>
        </p:txBody>
      </p:sp>
      <p:sp>
        <p:nvSpPr>
          <p:cNvPr id="16" name="Shape 13">
            <a:extLst>
              <a:ext uri="{FF2B5EF4-FFF2-40B4-BE49-F238E27FC236}">
                <a16:creationId xmlns:a16="http://schemas.microsoft.com/office/drawing/2014/main" id="{75D0842B-BFC2-59F2-267E-5FFF9D8CCD8F}"/>
              </a:ext>
            </a:extLst>
          </p:cNvPr>
          <p:cNvSpPr/>
          <p:nvPr/>
        </p:nvSpPr>
        <p:spPr>
          <a:xfrm>
            <a:off x="3209544" y="1462363"/>
            <a:ext cx="2633472" cy="2907792"/>
          </a:xfrm>
          <a:prstGeom prst="roundRect">
            <a:avLst>
              <a:gd name="adj" fmla="val 3472"/>
            </a:avLst>
          </a:prstGeom>
          <a:solidFill>
            <a:srgbClr val="F7F7F7"/>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4">
            <a:extLst>
              <a:ext uri="{FF2B5EF4-FFF2-40B4-BE49-F238E27FC236}">
                <a16:creationId xmlns:a16="http://schemas.microsoft.com/office/drawing/2014/main" id="{88CA1FBB-6D1C-3A9E-2983-313A180CF101}"/>
              </a:ext>
            </a:extLst>
          </p:cNvPr>
          <p:cNvSpPr/>
          <p:nvPr/>
        </p:nvSpPr>
        <p:spPr>
          <a:xfrm>
            <a:off x="3209544" y="1061381"/>
            <a:ext cx="2633472" cy="384048"/>
          </a:xfrm>
          <a:prstGeom prst="roundRect">
            <a:avLst>
              <a:gd name="adj" fmla="val 23810"/>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A20B1FA9-E877-4D25-FB76-398C57753086}"/>
              </a:ext>
            </a:extLst>
          </p:cNvPr>
          <p:cNvSpPr/>
          <p:nvPr/>
        </p:nvSpPr>
        <p:spPr>
          <a:xfrm>
            <a:off x="3346704" y="1116245"/>
            <a:ext cx="2359152" cy="274320"/>
          </a:xfrm>
          <a:prstGeom prst="rect">
            <a:avLst/>
          </a:prstGeom>
          <a:noFill/>
          <a:ln/>
        </p:spPr>
        <p:txBody>
          <a:bodyPr wrap="square" lIns="0" tIns="0" rIns="0" bIns="0" rtlCol="0" anchor="ctr"/>
          <a:lstStyle/>
          <a:p>
            <a:pPr marL="0" indent="0" algn="ctr">
              <a:buNone/>
            </a:pPr>
            <a:r>
              <a:rPr lang="en-US" sz="1200" b="1" kern="0" spc="100">
                <a:solidFill>
                  <a:srgbClr val="FFFFFF"/>
                </a:solidFill>
                <a:latin typeface="Open Sans" panose="020B0606030504020204" pitchFamily="34" charset="0"/>
                <a:ea typeface="Open Sans" panose="020B0606030504020204" pitchFamily="34" charset="0"/>
                <a:cs typeface="Open Sans" panose="020B0606030504020204" pitchFamily="34" charset="0"/>
              </a:rPr>
              <a:t>THE LOOP</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7">
            <a:extLst>
              <a:ext uri="{FF2B5EF4-FFF2-40B4-BE49-F238E27FC236}">
                <a16:creationId xmlns:a16="http://schemas.microsoft.com/office/drawing/2014/main" id="{BC05D862-B0FD-8539-4034-F6EACEAB4F6F}"/>
              </a:ext>
            </a:extLst>
          </p:cNvPr>
          <p:cNvSpPr/>
          <p:nvPr/>
        </p:nvSpPr>
        <p:spPr>
          <a:xfrm>
            <a:off x="3346704" y="1564301"/>
            <a:ext cx="201168" cy="457200"/>
          </a:xfrm>
          <a:prstGeom prst="rect">
            <a:avLst/>
          </a:prstGeom>
          <a:noFill/>
          <a:ln/>
        </p:spPr>
        <p:txBody>
          <a:bodyPr wrap="square" lIns="0" tIns="0" rIns="0" bIns="0" rtlCol="0" anchor="t"/>
          <a:lstStyle/>
          <a:p>
            <a:pPr marL="0" indent="0" algn="l">
              <a:buNone/>
            </a:pPr>
            <a:r>
              <a:rPr lang="en-US" sz="1200" b="1">
                <a:solidFill>
                  <a:schemeClr val="accent1"/>
                </a:solidFill>
                <a:latin typeface="Open Sans Extrabold" pitchFamily="2" charset="0"/>
                <a:ea typeface="Open Sans Extrabold" pitchFamily="2" charset="0"/>
                <a:cs typeface="Open Sans Extrabold" pitchFamily="2" charset="0"/>
              </a:rPr>
              <a:t>✓</a:t>
            </a:r>
          </a:p>
        </p:txBody>
      </p:sp>
      <p:sp>
        <p:nvSpPr>
          <p:cNvPr id="21" name="Text 18">
            <a:extLst>
              <a:ext uri="{FF2B5EF4-FFF2-40B4-BE49-F238E27FC236}">
                <a16:creationId xmlns:a16="http://schemas.microsoft.com/office/drawing/2014/main" id="{0AE85070-29A9-78AC-CFE5-85A5861D3651}"/>
              </a:ext>
            </a:extLst>
          </p:cNvPr>
          <p:cNvSpPr/>
          <p:nvPr/>
        </p:nvSpPr>
        <p:spPr>
          <a:xfrm>
            <a:off x="3557016" y="156430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Isolate: reproduce with the smallest input</a:t>
            </a:r>
            <a:endParaRPr lang="en-US" sz="1150">
              <a:latin typeface="Open Sans" pitchFamily="2" charset="0"/>
              <a:ea typeface="Open Sans" pitchFamily="2" charset="0"/>
              <a:cs typeface="Open Sans" pitchFamily="2" charset="0"/>
            </a:endParaRPr>
          </a:p>
        </p:txBody>
      </p:sp>
      <p:sp>
        <p:nvSpPr>
          <p:cNvPr id="22" name="Text 19">
            <a:extLst>
              <a:ext uri="{FF2B5EF4-FFF2-40B4-BE49-F238E27FC236}">
                <a16:creationId xmlns:a16="http://schemas.microsoft.com/office/drawing/2014/main" id="{B2802421-B7F8-004D-960C-F902FA147840}"/>
              </a:ext>
            </a:extLst>
          </p:cNvPr>
          <p:cNvSpPr/>
          <p:nvPr/>
        </p:nvSpPr>
        <p:spPr>
          <a:xfrm>
            <a:off x="3346704" y="2112941"/>
            <a:ext cx="201168" cy="457200"/>
          </a:xfrm>
          <a:prstGeom prst="rect">
            <a:avLst/>
          </a:prstGeom>
          <a:noFill/>
          <a:ln/>
        </p:spPr>
        <p:txBody>
          <a:bodyPr wrap="square" lIns="0" tIns="0" rIns="0" bIns="0" rtlCol="0" anchor="t"/>
          <a:lstStyle/>
          <a:p>
            <a:pPr marL="0" indent="0" algn="l">
              <a:buNone/>
            </a:pPr>
            <a:r>
              <a:rPr lang="en-US" sz="1200" b="1">
                <a:solidFill>
                  <a:schemeClr val="accent1"/>
                </a:solidFill>
                <a:latin typeface="Open Sans Extrabold" pitchFamily="2" charset="0"/>
                <a:ea typeface="Open Sans Extrabold" pitchFamily="2" charset="0"/>
                <a:cs typeface="Open Sans Extrabold" pitchFamily="2" charset="0"/>
              </a:rPr>
              <a:t>✓</a:t>
            </a:r>
          </a:p>
        </p:txBody>
      </p:sp>
      <p:sp>
        <p:nvSpPr>
          <p:cNvPr id="23" name="Text 20">
            <a:extLst>
              <a:ext uri="{FF2B5EF4-FFF2-40B4-BE49-F238E27FC236}">
                <a16:creationId xmlns:a16="http://schemas.microsoft.com/office/drawing/2014/main" id="{A30686DC-799F-1CF7-31CC-D0C5E7A9A03D}"/>
              </a:ext>
            </a:extLst>
          </p:cNvPr>
          <p:cNvSpPr/>
          <p:nvPr/>
        </p:nvSpPr>
        <p:spPr>
          <a:xfrm>
            <a:off x="3557016" y="211294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Full context: paste the complete error, never trim it</a:t>
            </a:r>
            <a:endParaRPr lang="en-US" sz="115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1F98C37D-FD31-F2F7-181E-B359937ED489}"/>
              </a:ext>
            </a:extLst>
          </p:cNvPr>
          <p:cNvSpPr/>
          <p:nvPr/>
        </p:nvSpPr>
        <p:spPr>
          <a:xfrm>
            <a:off x="3346704" y="2661581"/>
            <a:ext cx="201168" cy="457200"/>
          </a:xfrm>
          <a:prstGeom prst="rect">
            <a:avLst/>
          </a:prstGeom>
          <a:noFill/>
          <a:ln/>
        </p:spPr>
        <p:txBody>
          <a:bodyPr wrap="square" lIns="0" tIns="0" rIns="0" bIns="0" rtlCol="0" anchor="t"/>
          <a:lstStyle/>
          <a:p>
            <a:pPr marL="0" indent="0" algn="l">
              <a:buNone/>
            </a:pPr>
            <a:r>
              <a:rPr lang="en-US" sz="1200" b="1">
                <a:solidFill>
                  <a:schemeClr val="accent1"/>
                </a:solidFill>
                <a:latin typeface="Open Sans Extrabold" pitchFamily="2" charset="0"/>
                <a:ea typeface="Open Sans Extrabold" pitchFamily="2" charset="0"/>
                <a:cs typeface="Open Sans Extrabold" pitchFamily="2" charset="0"/>
              </a:rPr>
              <a:t>✓</a:t>
            </a:r>
          </a:p>
        </p:txBody>
      </p:sp>
      <p:sp>
        <p:nvSpPr>
          <p:cNvPr id="25" name="Text 22">
            <a:extLst>
              <a:ext uri="{FF2B5EF4-FFF2-40B4-BE49-F238E27FC236}">
                <a16:creationId xmlns:a16="http://schemas.microsoft.com/office/drawing/2014/main" id="{71B1F0DE-9892-03A3-6622-8351F31B3F56}"/>
              </a:ext>
            </a:extLst>
          </p:cNvPr>
          <p:cNvSpPr/>
          <p:nvPr/>
        </p:nvSpPr>
        <p:spPr>
          <a:xfrm>
            <a:off x="3557016" y="266158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Root cause: name it in one sentence before fixing</a:t>
            </a:r>
            <a:endParaRPr lang="en-US" sz="1150">
              <a:latin typeface="Open Sans" pitchFamily="2" charset="0"/>
              <a:ea typeface="Open Sans" pitchFamily="2" charset="0"/>
              <a:cs typeface="Open Sans" pitchFamily="2" charset="0"/>
            </a:endParaRPr>
          </a:p>
        </p:txBody>
      </p:sp>
      <p:sp>
        <p:nvSpPr>
          <p:cNvPr id="26" name="Text 23">
            <a:extLst>
              <a:ext uri="{FF2B5EF4-FFF2-40B4-BE49-F238E27FC236}">
                <a16:creationId xmlns:a16="http://schemas.microsoft.com/office/drawing/2014/main" id="{7E4368D1-C8F1-20F1-7669-742B26D59762}"/>
              </a:ext>
            </a:extLst>
          </p:cNvPr>
          <p:cNvSpPr/>
          <p:nvPr/>
        </p:nvSpPr>
        <p:spPr>
          <a:xfrm>
            <a:off x="3346704" y="3210221"/>
            <a:ext cx="201168" cy="457200"/>
          </a:xfrm>
          <a:prstGeom prst="rect">
            <a:avLst/>
          </a:prstGeom>
          <a:noFill/>
          <a:ln/>
        </p:spPr>
        <p:txBody>
          <a:bodyPr wrap="square" lIns="0" tIns="0" rIns="0" bIns="0" rtlCol="0" anchor="t"/>
          <a:lstStyle/>
          <a:p>
            <a:pPr marL="0" indent="0" algn="l">
              <a:buNone/>
            </a:pPr>
            <a:r>
              <a:rPr lang="en-US" sz="1200" b="1">
                <a:solidFill>
                  <a:schemeClr val="accent1"/>
                </a:solidFill>
                <a:latin typeface="Open Sans Extrabold" pitchFamily="2" charset="0"/>
                <a:ea typeface="Open Sans Extrabold" pitchFamily="2" charset="0"/>
                <a:cs typeface="Open Sans Extrabold" pitchFamily="2" charset="0"/>
              </a:rPr>
              <a:t>✓</a:t>
            </a:r>
          </a:p>
        </p:txBody>
      </p:sp>
      <p:sp>
        <p:nvSpPr>
          <p:cNvPr id="27" name="Text 24">
            <a:extLst>
              <a:ext uri="{FF2B5EF4-FFF2-40B4-BE49-F238E27FC236}">
                <a16:creationId xmlns:a16="http://schemas.microsoft.com/office/drawing/2014/main" id="{C8F8B033-38F6-703B-4782-9BFF92214E23}"/>
              </a:ext>
            </a:extLst>
          </p:cNvPr>
          <p:cNvSpPr/>
          <p:nvPr/>
        </p:nvSpPr>
        <p:spPr>
          <a:xfrm>
            <a:off x="3557016" y="321022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Apply and test: confirm the symptom is gone</a:t>
            </a:r>
            <a:endParaRPr lang="en-US" sz="1150">
              <a:latin typeface="Open Sans" pitchFamily="2" charset="0"/>
              <a:ea typeface="Open Sans" pitchFamily="2" charset="0"/>
              <a:cs typeface="Open Sans" pitchFamily="2" charset="0"/>
            </a:endParaRPr>
          </a:p>
        </p:txBody>
      </p:sp>
      <p:sp>
        <p:nvSpPr>
          <p:cNvPr id="28" name="Text 25">
            <a:extLst>
              <a:ext uri="{FF2B5EF4-FFF2-40B4-BE49-F238E27FC236}">
                <a16:creationId xmlns:a16="http://schemas.microsoft.com/office/drawing/2014/main" id="{8C41F784-B537-18BE-CDDA-EB2BE2AE67AF}"/>
              </a:ext>
            </a:extLst>
          </p:cNvPr>
          <p:cNvSpPr/>
          <p:nvPr/>
        </p:nvSpPr>
        <p:spPr>
          <a:xfrm>
            <a:off x="3346704" y="3758861"/>
            <a:ext cx="201168" cy="457200"/>
          </a:xfrm>
          <a:prstGeom prst="rect">
            <a:avLst/>
          </a:prstGeom>
          <a:noFill/>
          <a:ln/>
        </p:spPr>
        <p:txBody>
          <a:bodyPr wrap="square" lIns="0" tIns="0" rIns="0" bIns="0" rtlCol="0" anchor="t"/>
          <a:lstStyle/>
          <a:p>
            <a:pPr marL="0" indent="0" algn="l">
              <a:buNone/>
            </a:pPr>
            <a:r>
              <a:rPr lang="en-US" sz="1200" b="1">
                <a:solidFill>
                  <a:schemeClr val="accent1"/>
                </a:solidFill>
                <a:latin typeface="Open Sans Extrabold" pitchFamily="2" charset="0"/>
                <a:ea typeface="Open Sans Extrabold" pitchFamily="2" charset="0"/>
                <a:cs typeface="Open Sans Extrabold" pitchFamily="2" charset="0"/>
              </a:rPr>
              <a:t>✓</a:t>
            </a:r>
          </a:p>
        </p:txBody>
      </p:sp>
      <p:sp>
        <p:nvSpPr>
          <p:cNvPr id="29" name="Text 26">
            <a:extLst>
              <a:ext uri="{FF2B5EF4-FFF2-40B4-BE49-F238E27FC236}">
                <a16:creationId xmlns:a16="http://schemas.microsoft.com/office/drawing/2014/main" id="{03E8538F-4F31-3C6F-5C68-F1CAB4E3D95F}"/>
              </a:ext>
            </a:extLst>
          </p:cNvPr>
          <p:cNvSpPr/>
          <p:nvPr/>
        </p:nvSpPr>
        <p:spPr>
          <a:xfrm>
            <a:off x="3557016" y="375886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Write a regression test: lock the fix in permanently</a:t>
            </a:r>
            <a:endParaRPr lang="en-US" sz="1150">
              <a:latin typeface="Open Sans" pitchFamily="2" charset="0"/>
              <a:ea typeface="Open Sans" pitchFamily="2" charset="0"/>
              <a:cs typeface="Open Sans" pitchFamily="2" charset="0"/>
            </a:endParaRPr>
          </a:p>
        </p:txBody>
      </p:sp>
      <p:sp>
        <p:nvSpPr>
          <p:cNvPr id="30" name="Shape 27">
            <a:extLst>
              <a:ext uri="{FF2B5EF4-FFF2-40B4-BE49-F238E27FC236}">
                <a16:creationId xmlns:a16="http://schemas.microsoft.com/office/drawing/2014/main" id="{83964A5C-65CC-356E-6319-647C2045A7E5}"/>
              </a:ext>
            </a:extLst>
          </p:cNvPr>
          <p:cNvSpPr/>
          <p:nvPr/>
        </p:nvSpPr>
        <p:spPr>
          <a:xfrm>
            <a:off x="6007608" y="1462363"/>
            <a:ext cx="2633472" cy="2907792"/>
          </a:xfrm>
          <a:prstGeom prst="roundRect">
            <a:avLst>
              <a:gd name="adj" fmla="val 3472"/>
            </a:avLst>
          </a:prstGeom>
          <a:solidFill>
            <a:srgbClr val="F7F7F7"/>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solidFill>
                <a:srgbClr val="00B050"/>
              </a:solidFill>
              <a:latin typeface="Open Sans" pitchFamily="2" charset="0"/>
              <a:ea typeface="Open Sans" pitchFamily="2" charset="0"/>
              <a:cs typeface="Open Sans" pitchFamily="2" charset="0"/>
            </a:endParaRPr>
          </a:p>
        </p:txBody>
      </p:sp>
      <p:sp>
        <p:nvSpPr>
          <p:cNvPr id="31" name="Shape 28">
            <a:extLst>
              <a:ext uri="{FF2B5EF4-FFF2-40B4-BE49-F238E27FC236}">
                <a16:creationId xmlns:a16="http://schemas.microsoft.com/office/drawing/2014/main" id="{99415D2B-6432-160C-479F-C3AFF220D2B9}"/>
              </a:ext>
            </a:extLst>
          </p:cNvPr>
          <p:cNvSpPr/>
          <p:nvPr/>
        </p:nvSpPr>
        <p:spPr>
          <a:xfrm>
            <a:off x="6007608" y="1061381"/>
            <a:ext cx="2633472" cy="384048"/>
          </a:xfrm>
          <a:prstGeom prst="roundRect">
            <a:avLst>
              <a:gd name="adj" fmla="val 23810"/>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33" name="Text 30">
            <a:extLst>
              <a:ext uri="{FF2B5EF4-FFF2-40B4-BE49-F238E27FC236}">
                <a16:creationId xmlns:a16="http://schemas.microsoft.com/office/drawing/2014/main" id="{D524BFD8-1111-D982-89F8-798B9CB7875C}"/>
              </a:ext>
            </a:extLst>
          </p:cNvPr>
          <p:cNvSpPr/>
          <p:nvPr/>
        </p:nvSpPr>
        <p:spPr>
          <a:xfrm>
            <a:off x="6144768" y="1116245"/>
            <a:ext cx="2359152" cy="274320"/>
          </a:xfrm>
          <a:prstGeom prst="rect">
            <a:avLst/>
          </a:prstGeom>
          <a:noFill/>
          <a:ln/>
        </p:spPr>
        <p:txBody>
          <a:bodyPr wrap="square" lIns="0" tIns="0" rIns="0" bIns="0" rtlCol="0" anchor="ctr"/>
          <a:lstStyle/>
          <a:p>
            <a:pPr marL="0" indent="0" algn="ctr">
              <a:buNone/>
            </a:pPr>
            <a:r>
              <a:rPr lang="en-US" sz="1200" b="1" kern="0" spc="100">
                <a:solidFill>
                  <a:srgbClr val="FFFFFF"/>
                </a:solidFill>
                <a:latin typeface="Open Sans" panose="020B0606030504020204" pitchFamily="34" charset="0"/>
                <a:ea typeface="Open Sans" panose="020B0606030504020204" pitchFamily="34" charset="0"/>
                <a:cs typeface="Open Sans" panose="020B0606030504020204" pitchFamily="34" charset="0"/>
              </a:rPr>
              <a:t>THE RULE</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34" name="Text 31">
            <a:extLst>
              <a:ext uri="{FF2B5EF4-FFF2-40B4-BE49-F238E27FC236}">
                <a16:creationId xmlns:a16="http://schemas.microsoft.com/office/drawing/2014/main" id="{5AD0708A-BB54-4A5F-E182-CB6B48A77A65}"/>
              </a:ext>
            </a:extLst>
          </p:cNvPr>
          <p:cNvSpPr/>
          <p:nvPr/>
        </p:nvSpPr>
        <p:spPr>
          <a:xfrm>
            <a:off x="6144768" y="1564301"/>
            <a:ext cx="201168" cy="457200"/>
          </a:xfrm>
          <a:prstGeom prst="rect">
            <a:avLst/>
          </a:prstGeom>
          <a:noFill/>
          <a:ln/>
        </p:spPr>
        <p:txBody>
          <a:bodyPr wrap="square" lIns="0" tIns="0" rIns="0" bIns="0" rtlCol="0" anchor="t"/>
          <a:lstStyle/>
          <a:p>
            <a:pPr marL="0" indent="0" algn="l">
              <a:buNone/>
            </a:pPr>
            <a:r>
              <a:rPr lang="en-US" sz="1200" b="1">
                <a:solidFill>
                  <a:schemeClr val="accent2"/>
                </a:solidFill>
                <a:latin typeface="Open Sans Extrabold" pitchFamily="2" charset="0"/>
                <a:ea typeface="Open Sans Extrabold" pitchFamily="2" charset="0"/>
                <a:cs typeface="Open Sans Extrabold" pitchFamily="2" charset="0"/>
              </a:rPr>
              <a:t>✓</a:t>
            </a:r>
          </a:p>
        </p:txBody>
      </p:sp>
      <p:sp>
        <p:nvSpPr>
          <p:cNvPr id="35" name="Text 32">
            <a:extLst>
              <a:ext uri="{FF2B5EF4-FFF2-40B4-BE49-F238E27FC236}">
                <a16:creationId xmlns:a16="http://schemas.microsoft.com/office/drawing/2014/main" id="{37DAB04E-E652-095B-C8B9-A785827C154E}"/>
              </a:ext>
            </a:extLst>
          </p:cNvPr>
          <p:cNvSpPr/>
          <p:nvPr/>
        </p:nvSpPr>
        <p:spPr>
          <a:xfrm>
            <a:off x="6355080" y="156430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The error disappearing is the beginning of review, not the end of it</a:t>
            </a:r>
            <a:endParaRPr lang="en-US" sz="1150">
              <a:latin typeface="Open Sans" pitchFamily="2" charset="0"/>
              <a:ea typeface="Open Sans" pitchFamily="2" charset="0"/>
              <a:cs typeface="Open Sans" pitchFamily="2" charset="0"/>
            </a:endParaRPr>
          </a:p>
        </p:txBody>
      </p:sp>
      <p:sp>
        <p:nvSpPr>
          <p:cNvPr id="36" name="Text 33">
            <a:extLst>
              <a:ext uri="{FF2B5EF4-FFF2-40B4-BE49-F238E27FC236}">
                <a16:creationId xmlns:a16="http://schemas.microsoft.com/office/drawing/2014/main" id="{05E1E6F3-0781-D05E-A2C3-702C3C4C7315}"/>
              </a:ext>
            </a:extLst>
          </p:cNvPr>
          <p:cNvSpPr/>
          <p:nvPr/>
        </p:nvSpPr>
        <p:spPr>
          <a:xfrm>
            <a:off x="6144768" y="2261531"/>
            <a:ext cx="201168" cy="457200"/>
          </a:xfrm>
          <a:prstGeom prst="rect">
            <a:avLst/>
          </a:prstGeom>
          <a:noFill/>
          <a:ln/>
        </p:spPr>
        <p:txBody>
          <a:bodyPr wrap="square" lIns="0" tIns="0" rIns="0" bIns="0" rtlCol="0" anchor="t"/>
          <a:lstStyle/>
          <a:p>
            <a:pPr marL="0" indent="0" algn="l">
              <a:buNone/>
            </a:pPr>
            <a:r>
              <a:rPr lang="en-US" sz="1200" b="1">
                <a:solidFill>
                  <a:schemeClr val="accent2"/>
                </a:solidFill>
                <a:latin typeface="Open Sans Extrabold" pitchFamily="2" charset="0"/>
                <a:ea typeface="Open Sans Extrabold" pitchFamily="2" charset="0"/>
                <a:cs typeface="Open Sans Extrabold" pitchFamily="2" charset="0"/>
              </a:rPr>
              <a:t>✓</a:t>
            </a:r>
          </a:p>
        </p:txBody>
      </p:sp>
      <p:sp>
        <p:nvSpPr>
          <p:cNvPr id="37" name="Text 34">
            <a:extLst>
              <a:ext uri="{FF2B5EF4-FFF2-40B4-BE49-F238E27FC236}">
                <a16:creationId xmlns:a16="http://schemas.microsoft.com/office/drawing/2014/main" id="{329185A8-2C54-E049-C352-FC85E7111695}"/>
              </a:ext>
            </a:extLst>
          </p:cNvPr>
          <p:cNvSpPr/>
          <p:nvPr/>
        </p:nvSpPr>
        <p:spPr>
          <a:xfrm>
            <a:off x="6355080" y="226153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Diagnosis always comes before prescription</a:t>
            </a:r>
            <a:endParaRPr lang="en-US" sz="1150">
              <a:latin typeface="Open Sans" pitchFamily="2" charset="0"/>
              <a:ea typeface="Open Sans" pitchFamily="2" charset="0"/>
              <a:cs typeface="Open Sans" pitchFamily="2" charset="0"/>
            </a:endParaRPr>
          </a:p>
        </p:txBody>
      </p:sp>
      <p:sp>
        <p:nvSpPr>
          <p:cNvPr id="38" name="Text 35">
            <a:extLst>
              <a:ext uri="{FF2B5EF4-FFF2-40B4-BE49-F238E27FC236}">
                <a16:creationId xmlns:a16="http://schemas.microsoft.com/office/drawing/2014/main" id="{4EFA9A58-4F83-BF70-C791-D436205BAEF1}"/>
              </a:ext>
            </a:extLst>
          </p:cNvPr>
          <p:cNvSpPr/>
          <p:nvPr/>
        </p:nvSpPr>
        <p:spPr>
          <a:xfrm>
            <a:off x="6144768" y="2810171"/>
            <a:ext cx="201168" cy="457200"/>
          </a:xfrm>
          <a:prstGeom prst="rect">
            <a:avLst/>
          </a:prstGeom>
          <a:noFill/>
          <a:ln/>
        </p:spPr>
        <p:txBody>
          <a:bodyPr wrap="square" lIns="0" tIns="0" rIns="0" bIns="0" rtlCol="0" anchor="t"/>
          <a:lstStyle/>
          <a:p>
            <a:pPr marL="0" indent="0" algn="l">
              <a:buNone/>
            </a:pPr>
            <a:r>
              <a:rPr lang="en-US" sz="1200" b="1">
                <a:solidFill>
                  <a:schemeClr val="accent2"/>
                </a:solidFill>
                <a:latin typeface="Open Sans Extrabold" pitchFamily="2" charset="0"/>
                <a:ea typeface="Open Sans Extrabold" pitchFamily="2" charset="0"/>
                <a:cs typeface="Open Sans Extrabold" pitchFamily="2" charset="0"/>
              </a:rPr>
              <a:t>✓</a:t>
            </a:r>
          </a:p>
        </p:txBody>
      </p:sp>
      <p:sp>
        <p:nvSpPr>
          <p:cNvPr id="39" name="Text 36">
            <a:extLst>
              <a:ext uri="{FF2B5EF4-FFF2-40B4-BE49-F238E27FC236}">
                <a16:creationId xmlns:a16="http://schemas.microsoft.com/office/drawing/2014/main" id="{66E1F2F6-EB77-8DF1-B8EC-F9759B72987D}"/>
              </a:ext>
            </a:extLst>
          </p:cNvPr>
          <p:cNvSpPr/>
          <p:nvPr/>
        </p:nvSpPr>
        <p:spPr>
          <a:xfrm>
            <a:off x="6355080" y="2810171"/>
            <a:ext cx="2157984" cy="45720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A bug is not fixed until a test confirms it passes</a:t>
            </a:r>
            <a:endParaRPr lang="en-US" sz="1150">
              <a:latin typeface="Open Sans" pitchFamily="2" charset="0"/>
              <a:ea typeface="Open Sans" pitchFamily="2" charset="0"/>
              <a:cs typeface="Open Sans" pitchFamily="2" charset="0"/>
            </a:endParaRPr>
          </a:p>
        </p:txBody>
      </p:sp>
      <p:sp>
        <p:nvSpPr>
          <p:cNvPr id="40" name="Shape 37">
            <a:extLst>
              <a:ext uri="{FF2B5EF4-FFF2-40B4-BE49-F238E27FC236}">
                <a16:creationId xmlns:a16="http://schemas.microsoft.com/office/drawing/2014/main" id="{5DE5EBFB-21F8-AD80-A35D-0B9924C79352}"/>
              </a:ext>
            </a:extLst>
          </p:cNvPr>
          <p:cNvSpPr/>
          <p:nvPr/>
        </p:nvSpPr>
        <p:spPr>
          <a:xfrm>
            <a:off x="411480" y="4472093"/>
            <a:ext cx="8321040" cy="347472"/>
          </a:xfrm>
          <a:prstGeom prst="roundRect">
            <a:avLst>
              <a:gd name="adj" fmla="val 21053"/>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1" name="Text 38">
            <a:extLst>
              <a:ext uri="{FF2B5EF4-FFF2-40B4-BE49-F238E27FC236}">
                <a16:creationId xmlns:a16="http://schemas.microsoft.com/office/drawing/2014/main" id="{A07DAAA7-033B-1188-A099-76C29C21D6DA}"/>
              </a:ext>
            </a:extLst>
          </p:cNvPr>
          <p:cNvSpPr/>
          <p:nvPr/>
        </p:nvSpPr>
        <p:spPr>
          <a:xfrm>
            <a:off x="411480" y="4472093"/>
            <a:ext cx="8321040" cy="347472"/>
          </a:xfrm>
          <a:prstGeom prst="rect">
            <a:avLst/>
          </a:prstGeom>
          <a:noFill/>
          <a:ln/>
        </p:spPr>
        <p:txBody>
          <a:bodyPr wrap="square" lIns="0" tIns="0" rIns="0" bIns="0" rtlCol="0" anchor="ctr"/>
          <a:lstStyle/>
          <a:p>
            <a:pPr marL="0" indent="0" algn="ctr">
              <a:buNone/>
            </a:pPr>
            <a:r>
              <a:rPr lang="en-US" sz="1100" b="1">
                <a:latin typeface="Open Sans" panose="020B0606030504020204" pitchFamily="34" charset="0"/>
                <a:ea typeface="Open Sans" panose="020B0606030504020204" pitchFamily="34" charset="0"/>
                <a:cs typeface="Open Sans" panose="020B0606030504020204" pitchFamily="34" charset="0"/>
              </a:rPr>
              <a:t>Part 2 applies this mindset to structured code review — same PoC, sharper lens.</a:t>
            </a:r>
          </a:p>
        </p:txBody>
      </p:sp>
    </p:spTree>
    <p:extLst>
      <p:ext uri="{BB962C8B-B14F-4D97-AF65-F5344CB8AC3E}">
        <p14:creationId xmlns:p14="http://schemas.microsoft.com/office/powerpoint/2010/main" val="28477301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1AF51E6D-1426-22FB-FBB1-01171451C53A}"/>
              </a:ext>
            </a:extLst>
          </p:cNvPr>
          <p:cNvSpPr/>
          <p:nvPr/>
        </p:nvSpPr>
        <p:spPr>
          <a:xfrm>
            <a:off x="548640" y="642530"/>
            <a:ext cx="8046720" cy="502920"/>
          </a:xfrm>
          <a:prstGeom prst="rect">
            <a:avLst/>
          </a:prstGeom>
          <a:noFill/>
          <a:ln/>
        </p:spPr>
        <p:txBody>
          <a:bodyPr wrap="square" lIns="0" tIns="0" rIns="0" bIns="0" rtlCol="0" anchor="ctr"/>
          <a:lstStyle/>
          <a:p>
            <a:pPr marL="0" indent="0" algn="ctr">
              <a:buNone/>
            </a:pPr>
            <a:r>
              <a:rPr lang="en-US" sz="3200" b="1">
                <a:solidFill>
                  <a:schemeClr val="tx2"/>
                </a:solidFill>
                <a:latin typeface="Open Sans" panose="020B0606030504020204" pitchFamily="34" charset="0"/>
                <a:ea typeface="Open Sans" panose="020B0606030504020204" pitchFamily="34" charset="0"/>
                <a:cs typeface="Open Sans" panose="020B0606030504020204" pitchFamily="34" charset="0"/>
              </a:rPr>
              <a:t>You fixed what was broken.</a:t>
            </a:r>
          </a:p>
        </p:txBody>
      </p:sp>
      <p:sp>
        <p:nvSpPr>
          <p:cNvPr id="4" name="Text 1">
            <a:extLst>
              <a:ext uri="{FF2B5EF4-FFF2-40B4-BE49-F238E27FC236}">
                <a16:creationId xmlns:a16="http://schemas.microsoft.com/office/drawing/2014/main" id="{9650ECE7-24EB-EF04-6F7E-03E32A029C7C}"/>
              </a:ext>
            </a:extLst>
          </p:cNvPr>
          <p:cNvSpPr/>
          <p:nvPr/>
        </p:nvSpPr>
        <p:spPr>
          <a:xfrm>
            <a:off x="548640" y="1214033"/>
            <a:ext cx="8046720" cy="809245"/>
          </a:xfrm>
          <a:prstGeom prst="rect">
            <a:avLst/>
          </a:prstGeom>
          <a:noFill/>
          <a:ln/>
        </p:spPr>
        <p:txBody>
          <a:bodyPr wrap="square" lIns="0" tIns="0" rIns="0" bIns="0" rtlCol="0" anchor="ctr"/>
          <a:lstStyle/>
          <a:p>
            <a:pPr marL="0" indent="0" algn="ctr">
              <a:buNone/>
            </a:pPr>
            <a:r>
              <a:rPr lang="en-US" sz="3200" b="1">
                <a:solidFill>
                  <a:schemeClr val="accent2"/>
                </a:solidFill>
                <a:latin typeface="Open Sans" panose="020B0606030504020204" pitchFamily="34" charset="0"/>
                <a:ea typeface="Open Sans" panose="020B0606030504020204" pitchFamily="34" charset="0"/>
                <a:cs typeface="Open Sans" panose="020B0606030504020204" pitchFamily="34" charset="0"/>
              </a:rPr>
              <a:t>But a bug is only the failure you found.</a:t>
            </a:r>
          </a:p>
        </p:txBody>
      </p:sp>
      <p:sp>
        <p:nvSpPr>
          <p:cNvPr id="5" name="Text 2">
            <a:extLst>
              <a:ext uri="{FF2B5EF4-FFF2-40B4-BE49-F238E27FC236}">
                <a16:creationId xmlns:a16="http://schemas.microsoft.com/office/drawing/2014/main" id="{BE5B9568-46EB-FAB0-97CB-FBF0D9FAAAA6}"/>
              </a:ext>
            </a:extLst>
          </p:cNvPr>
          <p:cNvSpPr/>
          <p:nvPr/>
        </p:nvSpPr>
        <p:spPr>
          <a:xfrm>
            <a:off x="914400" y="2153328"/>
            <a:ext cx="7315200" cy="384048"/>
          </a:xfrm>
          <a:prstGeom prst="rect">
            <a:avLst/>
          </a:prstGeom>
          <a:noFill/>
          <a:ln/>
        </p:spPr>
        <p:txBody>
          <a:bodyPr wrap="square" lIns="0" tIns="0" rIns="0" bIns="0" rtlCol="0" anchor="ctr"/>
          <a:lstStyle/>
          <a:p>
            <a:pPr marL="0" indent="0" algn="ctr">
              <a:buNone/>
            </a:pPr>
            <a:r>
              <a:rPr lang="en-US" sz="1400" i="1">
                <a:solidFill>
                  <a:schemeClr val="tx2"/>
                </a:solidFill>
                <a:latin typeface="Open Sans" pitchFamily="2" charset="0"/>
                <a:ea typeface="Open Sans" pitchFamily="2" charset="0"/>
                <a:cs typeface="Open Sans" pitchFamily="2" charset="0"/>
              </a:rPr>
              <a:t>What about the issues that are not broken — just untrustworthy?</a:t>
            </a:r>
            <a:endParaRPr lang="en-US" sz="1400">
              <a:solidFill>
                <a:schemeClr val="tx2"/>
              </a:solidFill>
              <a:latin typeface="Open Sans" pitchFamily="2" charset="0"/>
              <a:ea typeface="Open Sans" pitchFamily="2" charset="0"/>
              <a:cs typeface="Open Sans" pitchFamily="2" charset="0"/>
            </a:endParaRPr>
          </a:p>
        </p:txBody>
      </p:sp>
      <p:sp>
        <p:nvSpPr>
          <p:cNvPr id="6" name="Shape 3">
            <a:extLst>
              <a:ext uri="{FF2B5EF4-FFF2-40B4-BE49-F238E27FC236}">
                <a16:creationId xmlns:a16="http://schemas.microsoft.com/office/drawing/2014/main" id="{779166B6-FD00-03E8-1A31-78303209209B}"/>
              </a:ext>
            </a:extLst>
          </p:cNvPr>
          <p:cNvSpPr/>
          <p:nvPr/>
        </p:nvSpPr>
        <p:spPr>
          <a:xfrm>
            <a:off x="731520" y="2722541"/>
            <a:ext cx="2286000" cy="1325880"/>
          </a:xfrm>
          <a:prstGeom prst="roundRect">
            <a:avLst>
              <a:gd name="adj" fmla="val 6897"/>
            </a:avLst>
          </a:prstGeom>
          <a:solidFill>
            <a:schemeClr val="tx2"/>
          </a:solidFill>
          <a:ln w="6350">
            <a:solidFill>
              <a:srgbClr val="555555"/>
            </a:solidFill>
            <a:prstDash val="solid"/>
          </a:ln>
        </p:spPr>
        <p:txBody>
          <a:bodyPr/>
          <a:lstStyle/>
          <a:p>
            <a:endParaRPr lang="en-US">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541D53DE-2549-6D11-311E-6AD892A86D11}"/>
              </a:ext>
            </a:extLst>
          </p:cNvPr>
          <p:cNvSpPr/>
          <p:nvPr/>
        </p:nvSpPr>
        <p:spPr>
          <a:xfrm>
            <a:off x="731520" y="2951142"/>
            <a:ext cx="2286000" cy="292608"/>
          </a:xfrm>
          <a:prstGeom prst="rect">
            <a:avLst/>
          </a:prstGeom>
          <a:noFill/>
          <a:ln/>
        </p:spPr>
        <p:txBody>
          <a:bodyPr wrap="square" lIns="0" tIns="0" rIns="0" bIns="0" rtlCol="0" anchor="ctr"/>
          <a:lstStyle/>
          <a:p>
            <a:pPr marL="0" indent="0" algn="ctr">
              <a:buNone/>
            </a:pPr>
            <a:r>
              <a:rPr lang="en-US" sz="1000">
                <a:solidFill>
                  <a:schemeClr val="bg2"/>
                </a:solidFill>
                <a:latin typeface="Open Sans" pitchFamily="2" charset="0"/>
                <a:ea typeface="Open Sans" pitchFamily="2" charset="0"/>
                <a:cs typeface="Open Sans" pitchFamily="2" charset="0"/>
              </a:rPr>
              <a:t>Debugging finds</a:t>
            </a:r>
          </a:p>
        </p:txBody>
      </p:sp>
      <p:sp>
        <p:nvSpPr>
          <p:cNvPr id="8" name="Text 5">
            <a:extLst>
              <a:ext uri="{FF2B5EF4-FFF2-40B4-BE49-F238E27FC236}">
                <a16:creationId xmlns:a16="http://schemas.microsoft.com/office/drawing/2014/main" id="{E1277BCE-6CD8-EE9B-6586-C94B75CA456F}"/>
              </a:ext>
            </a:extLst>
          </p:cNvPr>
          <p:cNvSpPr/>
          <p:nvPr/>
        </p:nvSpPr>
        <p:spPr>
          <a:xfrm>
            <a:off x="731520" y="3202602"/>
            <a:ext cx="2286000" cy="685800"/>
          </a:xfrm>
          <a:prstGeom prst="rect">
            <a:avLst/>
          </a:prstGeom>
          <a:noFill/>
          <a:ln/>
        </p:spPr>
        <p:txBody>
          <a:bodyPr wrap="square" lIns="0" tIns="0" rIns="0" bIns="0" rtlCol="0" anchor="ctr"/>
          <a:lstStyle/>
          <a:p>
            <a:pPr marL="0" indent="0" algn="ctr">
              <a:buNone/>
            </a:pPr>
            <a:r>
              <a:rPr lang="en-US" sz="1300" b="1">
                <a:solidFill>
                  <a:schemeClr val="bg1"/>
                </a:solidFill>
                <a:latin typeface="Open Sans" panose="020B0606030504020204" pitchFamily="34" charset="0"/>
                <a:ea typeface="Open Sans" panose="020B0606030504020204" pitchFamily="34" charset="0"/>
                <a:cs typeface="Open Sans" panose="020B0606030504020204" pitchFamily="34" charset="0"/>
              </a:rPr>
              <a:t>what is already broken</a:t>
            </a:r>
          </a:p>
        </p:txBody>
      </p:sp>
      <p:sp>
        <p:nvSpPr>
          <p:cNvPr id="9" name="Shape 6">
            <a:extLst>
              <a:ext uri="{FF2B5EF4-FFF2-40B4-BE49-F238E27FC236}">
                <a16:creationId xmlns:a16="http://schemas.microsoft.com/office/drawing/2014/main" id="{94048295-0549-7261-C7B8-4AADA687BC02}"/>
              </a:ext>
            </a:extLst>
          </p:cNvPr>
          <p:cNvSpPr/>
          <p:nvPr/>
        </p:nvSpPr>
        <p:spPr>
          <a:xfrm>
            <a:off x="3383280" y="2722541"/>
            <a:ext cx="2286000" cy="1325880"/>
          </a:xfrm>
          <a:prstGeom prst="roundRect">
            <a:avLst>
              <a:gd name="adj" fmla="val 6897"/>
            </a:avLst>
          </a:prstGeom>
          <a:solidFill>
            <a:schemeClr val="tx2"/>
          </a:solidFill>
          <a:ln w="6350">
            <a:solidFill>
              <a:srgbClr val="555555"/>
            </a:solidFill>
            <a:prstDash val="solid"/>
          </a:ln>
        </p:spPr>
        <p:txBody>
          <a:bodyPr/>
          <a:lstStyle/>
          <a:p>
            <a:endParaRPr lang="en-US">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09C54DA7-D616-459C-9B30-4A5E62A1648F}"/>
              </a:ext>
            </a:extLst>
          </p:cNvPr>
          <p:cNvSpPr/>
          <p:nvPr/>
        </p:nvSpPr>
        <p:spPr>
          <a:xfrm>
            <a:off x="3383280" y="2951142"/>
            <a:ext cx="2286000" cy="292608"/>
          </a:xfrm>
          <a:prstGeom prst="rect">
            <a:avLst/>
          </a:prstGeom>
          <a:noFill/>
          <a:ln/>
        </p:spPr>
        <p:txBody>
          <a:bodyPr wrap="square" lIns="0" tIns="0" rIns="0" bIns="0" rtlCol="0" anchor="ctr"/>
          <a:lstStyle/>
          <a:p>
            <a:pPr marL="0" indent="0" algn="ctr">
              <a:buNone/>
            </a:pPr>
            <a:r>
              <a:rPr lang="en-US" sz="1000">
                <a:solidFill>
                  <a:schemeClr val="bg2"/>
                </a:solidFill>
                <a:latin typeface="Open Sans" pitchFamily="2" charset="0"/>
                <a:ea typeface="Open Sans" pitchFamily="2" charset="0"/>
                <a:cs typeface="Open Sans" pitchFamily="2" charset="0"/>
              </a:rPr>
              <a:t>Code review finds</a:t>
            </a:r>
          </a:p>
        </p:txBody>
      </p:sp>
      <p:sp>
        <p:nvSpPr>
          <p:cNvPr id="11" name="Text 8">
            <a:extLst>
              <a:ext uri="{FF2B5EF4-FFF2-40B4-BE49-F238E27FC236}">
                <a16:creationId xmlns:a16="http://schemas.microsoft.com/office/drawing/2014/main" id="{3794C2D5-F45D-6921-5D3D-97C32BF0DDA3}"/>
              </a:ext>
            </a:extLst>
          </p:cNvPr>
          <p:cNvSpPr/>
          <p:nvPr/>
        </p:nvSpPr>
        <p:spPr>
          <a:xfrm>
            <a:off x="3383280" y="3202602"/>
            <a:ext cx="2286000" cy="685800"/>
          </a:xfrm>
          <a:prstGeom prst="rect">
            <a:avLst/>
          </a:prstGeom>
          <a:noFill/>
          <a:ln/>
        </p:spPr>
        <p:txBody>
          <a:bodyPr wrap="square" lIns="0" tIns="0" rIns="0" bIns="0" rtlCol="0" anchor="ctr"/>
          <a:lstStyle/>
          <a:p>
            <a:pPr marL="0" indent="0" algn="ctr">
              <a:buNone/>
            </a:pPr>
            <a:r>
              <a:rPr lang="en-US" sz="1300" b="1">
                <a:solidFill>
                  <a:schemeClr val="bg1"/>
                </a:solidFill>
                <a:latin typeface="Open Sans" panose="020B0606030504020204" pitchFamily="34" charset="0"/>
                <a:ea typeface="Open Sans" panose="020B0606030504020204" pitchFamily="34" charset="0"/>
                <a:cs typeface="Open Sans" panose="020B0606030504020204" pitchFamily="34" charset="0"/>
              </a:rPr>
              <a:t>what could break next</a:t>
            </a:r>
          </a:p>
        </p:txBody>
      </p:sp>
      <p:sp>
        <p:nvSpPr>
          <p:cNvPr id="12" name="Shape 9">
            <a:extLst>
              <a:ext uri="{FF2B5EF4-FFF2-40B4-BE49-F238E27FC236}">
                <a16:creationId xmlns:a16="http://schemas.microsoft.com/office/drawing/2014/main" id="{EA358257-87FD-FCCA-2FFA-336CC493C2FF}"/>
              </a:ext>
            </a:extLst>
          </p:cNvPr>
          <p:cNvSpPr/>
          <p:nvPr/>
        </p:nvSpPr>
        <p:spPr>
          <a:xfrm>
            <a:off x="6035040" y="2722541"/>
            <a:ext cx="2286000" cy="1325880"/>
          </a:xfrm>
          <a:prstGeom prst="roundRect">
            <a:avLst>
              <a:gd name="adj" fmla="val 6897"/>
            </a:avLst>
          </a:prstGeom>
          <a:solidFill>
            <a:schemeClr val="tx1"/>
          </a:solidFill>
          <a:ln w="6350">
            <a:solidFill>
              <a:srgbClr val="F5C400"/>
            </a:solidFill>
            <a:prstDash val="solid"/>
          </a:ln>
        </p:spPr>
        <p:txBody>
          <a:bodyPr/>
          <a:lstStyle/>
          <a:p>
            <a:endParaRPr lang="en-US">
              <a:solidFill>
                <a:schemeClr val="accent1"/>
              </a:solidFill>
              <a:latin typeface="Open Sans" pitchFamily="2" charset="0"/>
              <a:ea typeface="Open Sans" pitchFamily="2" charset="0"/>
              <a:cs typeface="Open Sans" pitchFamily="2" charset="0"/>
            </a:endParaRPr>
          </a:p>
        </p:txBody>
      </p:sp>
      <p:sp>
        <p:nvSpPr>
          <p:cNvPr id="13" name="Text 10">
            <a:extLst>
              <a:ext uri="{FF2B5EF4-FFF2-40B4-BE49-F238E27FC236}">
                <a16:creationId xmlns:a16="http://schemas.microsoft.com/office/drawing/2014/main" id="{DC956206-597E-D874-BAC9-E7F87FCDF704}"/>
              </a:ext>
            </a:extLst>
          </p:cNvPr>
          <p:cNvSpPr/>
          <p:nvPr/>
        </p:nvSpPr>
        <p:spPr>
          <a:xfrm>
            <a:off x="6035040" y="2951142"/>
            <a:ext cx="2286000" cy="292608"/>
          </a:xfrm>
          <a:prstGeom prst="rect">
            <a:avLst/>
          </a:prstGeom>
          <a:noFill/>
          <a:ln/>
        </p:spPr>
        <p:txBody>
          <a:bodyPr wrap="square" lIns="0" tIns="0" rIns="0" bIns="0" rtlCol="0" anchor="ctr"/>
          <a:lstStyle/>
          <a:p>
            <a:pPr marL="0" indent="0" algn="ctr">
              <a:buNone/>
            </a:pPr>
            <a:r>
              <a:rPr lang="en-US" sz="1000">
                <a:solidFill>
                  <a:schemeClr val="bg2"/>
                </a:solidFill>
                <a:latin typeface="Open Sans" pitchFamily="2" charset="0"/>
                <a:ea typeface="Open Sans" pitchFamily="2" charset="0"/>
                <a:cs typeface="Open Sans" pitchFamily="2" charset="0"/>
              </a:rPr>
              <a:t>Both are required</a:t>
            </a:r>
          </a:p>
        </p:txBody>
      </p:sp>
      <p:sp>
        <p:nvSpPr>
          <p:cNvPr id="14" name="Text 11">
            <a:extLst>
              <a:ext uri="{FF2B5EF4-FFF2-40B4-BE49-F238E27FC236}">
                <a16:creationId xmlns:a16="http://schemas.microsoft.com/office/drawing/2014/main" id="{DD1015B5-C9B8-414B-369B-34E824F2424B}"/>
              </a:ext>
            </a:extLst>
          </p:cNvPr>
          <p:cNvSpPr/>
          <p:nvPr/>
        </p:nvSpPr>
        <p:spPr>
          <a:xfrm>
            <a:off x="6108192" y="3202602"/>
            <a:ext cx="2194560" cy="685800"/>
          </a:xfrm>
          <a:prstGeom prst="rect">
            <a:avLst/>
          </a:prstGeom>
          <a:noFill/>
          <a:ln/>
        </p:spPr>
        <p:txBody>
          <a:bodyPr wrap="square" lIns="0" tIns="0" rIns="0" bIns="0" rtlCol="0" anchor="ctr"/>
          <a:lstStyle/>
          <a:p>
            <a:pPr marL="0" indent="0" algn="ctr">
              <a:buNone/>
            </a:pPr>
            <a:r>
              <a:rPr lang="en-US" sz="1300" b="1">
                <a:solidFill>
                  <a:schemeClr val="bg1"/>
                </a:solidFill>
                <a:latin typeface="Open Sans" panose="020B0606030504020204" pitchFamily="34" charset="0"/>
                <a:ea typeface="Open Sans" panose="020B0606030504020204" pitchFamily="34" charset="0"/>
                <a:cs typeface="Open Sans" panose="020B0606030504020204" pitchFamily="34" charset="0"/>
              </a:rPr>
              <a:t>before you hand anything over</a:t>
            </a:r>
          </a:p>
        </p:txBody>
      </p:sp>
      <p:sp>
        <p:nvSpPr>
          <p:cNvPr id="15" name="Text 12">
            <a:extLst>
              <a:ext uri="{FF2B5EF4-FFF2-40B4-BE49-F238E27FC236}">
                <a16:creationId xmlns:a16="http://schemas.microsoft.com/office/drawing/2014/main" id="{7A2E2610-9900-D443-5AB4-E2EFDA4EC97B}"/>
              </a:ext>
            </a:extLst>
          </p:cNvPr>
          <p:cNvSpPr/>
          <p:nvPr/>
        </p:nvSpPr>
        <p:spPr>
          <a:xfrm>
            <a:off x="914400" y="4258733"/>
            <a:ext cx="7315200" cy="292608"/>
          </a:xfrm>
          <a:prstGeom prst="rect">
            <a:avLst/>
          </a:prstGeom>
          <a:noFill/>
          <a:ln/>
        </p:spPr>
        <p:txBody>
          <a:bodyPr wrap="square" lIns="0" tIns="0" rIns="0" bIns="0" rtlCol="0" anchor="ctr"/>
          <a:lstStyle/>
          <a:p>
            <a:pPr marL="0" indent="0" algn="ctr">
              <a:buNone/>
            </a:pPr>
            <a:r>
              <a:rPr lang="en-US" sz="1100" i="1">
                <a:solidFill>
                  <a:schemeClr val="tx2"/>
                </a:solidFill>
                <a:latin typeface="Open Sans" pitchFamily="2" charset="0"/>
                <a:ea typeface="Open Sans" pitchFamily="2" charset="0"/>
                <a:cs typeface="Open Sans" pitchFamily="2" charset="0"/>
              </a:rPr>
              <a:t>Part 2: AI-Assisted Code Review</a:t>
            </a:r>
            <a:endParaRPr lang="en-US" sz="11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2538378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04C09539-7A07-9841-903F-735B10187790}"/>
              </a:ext>
            </a:extLst>
          </p:cNvPr>
          <p:cNvSpPr txBox="1">
            <a:spLocks/>
          </p:cNvSpPr>
          <p:nvPr/>
        </p:nvSpPr>
        <p:spPr>
          <a:xfrm>
            <a:off x="1797050" y="1848883"/>
            <a:ext cx="6798072" cy="1382478"/>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4800" b="1">
                <a:latin typeface="Open Sans" panose="020B0606030504020204" pitchFamily="34" charset="0"/>
                <a:ea typeface="Open Sans" panose="020B0606030504020204" pitchFamily="34" charset="0"/>
                <a:cs typeface="Open Sans" panose="020B0606030504020204" pitchFamily="34" charset="0"/>
              </a:rPr>
              <a:t>AI-ASSISTED</a:t>
            </a:r>
          </a:p>
          <a:p>
            <a:r>
              <a:rPr lang="en-US" sz="4800" b="1">
                <a:latin typeface="Open Sans" panose="020B0606030504020204" pitchFamily="34" charset="0"/>
                <a:ea typeface="Open Sans" panose="020B0606030504020204" pitchFamily="34" charset="0"/>
                <a:cs typeface="Open Sans" panose="020B0606030504020204" pitchFamily="34" charset="0"/>
              </a:rPr>
              <a:t>CODE REVIEW</a:t>
            </a:r>
          </a:p>
        </p:txBody>
      </p:sp>
      <p:sp>
        <p:nvSpPr>
          <p:cNvPr id="7" name="Text Placeholder 1">
            <a:extLst>
              <a:ext uri="{FF2B5EF4-FFF2-40B4-BE49-F238E27FC236}">
                <a16:creationId xmlns:a16="http://schemas.microsoft.com/office/drawing/2014/main" id="{91B1B2F0-AEA7-2038-110F-C6A177CC8924}"/>
              </a:ext>
            </a:extLst>
          </p:cNvPr>
          <p:cNvSpPr txBox="1">
            <a:spLocks/>
          </p:cNvSpPr>
          <p:nvPr/>
        </p:nvSpPr>
        <p:spPr>
          <a:xfrm>
            <a:off x="362360" y="1878403"/>
            <a:ext cx="1436943" cy="1323439"/>
          </a:xfrm>
          <a:prstGeom prst="rect">
            <a:avLst/>
          </a:prstGeom>
        </p:spPr>
        <p:txBody>
          <a:bodyPr anchor="b">
            <a:spAutoFit/>
          </a:bodyPr>
          <a:lstStyle>
            <a:lvl1pPr marL="0" indent="0" algn="l" defTabSz="685800" rtl="0" eaLnBrk="1" latinLnBrk="0" hangingPunct="1">
              <a:lnSpc>
                <a:spcPct val="100000"/>
              </a:lnSpc>
              <a:spcBef>
                <a:spcPts val="750"/>
              </a:spcBef>
              <a:buFont typeface="Arial" panose="020B0604020202020204" pitchFamily="34" charset="0"/>
              <a:buNone/>
              <a:defRPr sz="8250" b="1" i="0" kern="1200">
                <a:solidFill>
                  <a:schemeClr val="bg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0">
                <a:latin typeface="Open Sans" panose="020B0606030504020204" pitchFamily="34" charset="0"/>
                <a:ea typeface="Open Sans" panose="020B0606030504020204" pitchFamily="34" charset="0"/>
                <a:cs typeface="Open Sans" panose="020B0606030504020204" pitchFamily="34" charset="0"/>
              </a:rPr>
              <a:t>02</a:t>
            </a:r>
          </a:p>
        </p:txBody>
      </p:sp>
    </p:spTree>
    <p:extLst>
      <p:ext uri="{BB962C8B-B14F-4D97-AF65-F5344CB8AC3E}">
        <p14:creationId xmlns:p14="http://schemas.microsoft.com/office/powerpoint/2010/main" val="1138082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B952A2AB-F535-F5CC-75D5-AFE72B4AA197}"/>
              </a:ext>
            </a:extLst>
          </p:cNvPr>
          <p:cNvSpPr/>
          <p:nvPr/>
        </p:nvSpPr>
        <p:spPr>
          <a:xfrm>
            <a:off x="914400" y="679980"/>
            <a:ext cx="7315200" cy="777240"/>
          </a:xfrm>
          <a:prstGeom prst="rect">
            <a:avLst/>
          </a:prstGeom>
          <a:noFill/>
          <a:ln/>
        </p:spPr>
        <p:txBody>
          <a:bodyPr wrap="square" lIns="0" tIns="0" rIns="0" bIns="0" rtlCol="0" anchor="ctr"/>
          <a:lstStyle/>
          <a:p>
            <a:pPr marL="0" indent="0" algn="ctr">
              <a:buNone/>
            </a:pPr>
            <a:r>
              <a:rPr lang="en-US" sz="4000" b="1">
                <a:solidFill>
                  <a:schemeClr val="tx2"/>
                </a:solidFill>
                <a:latin typeface="Open Sans" panose="020B0606030504020204" pitchFamily="34" charset="0"/>
                <a:ea typeface="Open Sans" panose="020B0606030504020204" pitchFamily="34" charset="0"/>
                <a:cs typeface="Open Sans" panose="020B0606030504020204" pitchFamily="34" charset="0"/>
              </a:rPr>
              <a:t>Your PoC runs.</a:t>
            </a:r>
          </a:p>
        </p:txBody>
      </p:sp>
      <p:sp>
        <p:nvSpPr>
          <p:cNvPr id="4" name="Text 1">
            <a:extLst>
              <a:ext uri="{FF2B5EF4-FFF2-40B4-BE49-F238E27FC236}">
                <a16:creationId xmlns:a16="http://schemas.microsoft.com/office/drawing/2014/main" id="{6D90EFEE-0D2B-D8AA-C473-20748FEFFF38}"/>
              </a:ext>
            </a:extLst>
          </p:cNvPr>
          <p:cNvSpPr/>
          <p:nvPr/>
        </p:nvSpPr>
        <p:spPr>
          <a:xfrm>
            <a:off x="914400" y="1502940"/>
            <a:ext cx="7315200" cy="777240"/>
          </a:xfrm>
          <a:prstGeom prst="rect">
            <a:avLst/>
          </a:prstGeom>
          <a:noFill/>
          <a:ln/>
        </p:spPr>
        <p:txBody>
          <a:bodyPr wrap="square" lIns="0" tIns="0" rIns="0" bIns="0" rtlCol="0" anchor="ctr"/>
          <a:lstStyle/>
          <a:p>
            <a:pPr marL="0" indent="0" algn="ctr">
              <a:buNone/>
            </a:pPr>
            <a:r>
              <a:rPr lang="en-US" sz="4000" b="1">
                <a:solidFill>
                  <a:schemeClr val="tx2"/>
                </a:solidFill>
                <a:latin typeface="Open Sans" panose="020B0606030504020204" pitchFamily="34" charset="0"/>
                <a:ea typeface="Open Sans" panose="020B0606030504020204" pitchFamily="34" charset="0"/>
                <a:cs typeface="Open Sans" panose="020B0606030504020204" pitchFamily="34" charset="0"/>
              </a:rPr>
              <a:t>But would you trust it?</a:t>
            </a:r>
          </a:p>
        </p:txBody>
      </p:sp>
      <p:sp>
        <p:nvSpPr>
          <p:cNvPr id="5" name="Text 2">
            <a:extLst>
              <a:ext uri="{FF2B5EF4-FFF2-40B4-BE49-F238E27FC236}">
                <a16:creationId xmlns:a16="http://schemas.microsoft.com/office/drawing/2014/main" id="{59D04115-22CB-FDD4-966C-B2FEEBF5B3AE}"/>
              </a:ext>
            </a:extLst>
          </p:cNvPr>
          <p:cNvSpPr/>
          <p:nvPr/>
        </p:nvSpPr>
        <p:spPr>
          <a:xfrm>
            <a:off x="914400" y="2325900"/>
            <a:ext cx="7315200" cy="1389888"/>
          </a:xfrm>
          <a:prstGeom prst="rect">
            <a:avLst/>
          </a:prstGeom>
          <a:noFill/>
          <a:ln/>
        </p:spPr>
        <p:txBody>
          <a:bodyPr wrap="square" lIns="0" tIns="0" rIns="0" bIns="0" rtlCol="0" anchor="ctr"/>
          <a:lstStyle/>
          <a:p>
            <a:pPr marL="0" indent="0" algn="ctr">
              <a:buNone/>
            </a:pPr>
            <a:r>
              <a:rPr lang="en-US" sz="4000" b="1">
                <a:solidFill>
                  <a:schemeClr val="accent2"/>
                </a:solidFill>
                <a:latin typeface="Open Sans" panose="020B0606030504020204" pitchFamily="34" charset="0"/>
                <a:ea typeface="Open Sans" panose="020B0606030504020204" pitchFamily="34" charset="0"/>
                <a:cs typeface="Open Sans" panose="020B0606030504020204" pitchFamily="34" charset="0"/>
              </a:rPr>
              <a:t>Would you let your team trust it?</a:t>
            </a:r>
          </a:p>
        </p:txBody>
      </p:sp>
      <p:sp>
        <p:nvSpPr>
          <p:cNvPr id="6" name="Text 3">
            <a:extLst>
              <a:ext uri="{FF2B5EF4-FFF2-40B4-BE49-F238E27FC236}">
                <a16:creationId xmlns:a16="http://schemas.microsoft.com/office/drawing/2014/main" id="{52BCD4E7-81F4-5B1B-979B-9116D7DF7383}"/>
              </a:ext>
            </a:extLst>
          </p:cNvPr>
          <p:cNvSpPr/>
          <p:nvPr/>
        </p:nvSpPr>
        <p:spPr>
          <a:xfrm>
            <a:off x="1727200" y="3895344"/>
            <a:ext cx="5689600" cy="320040"/>
          </a:xfrm>
          <a:prstGeom prst="rect">
            <a:avLst/>
          </a:prstGeom>
          <a:noFill/>
          <a:ln/>
        </p:spPr>
        <p:txBody>
          <a:bodyPr wrap="square" lIns="0" tIns="0" rIns="0" bIns="0" rtlCol="0" anchor="ctr"/>
          <a:lstStyle/>
          <a:p>
            <a:pPr marL="0" indent="0" algn="ctr">
              <a:buNone/>
            </a:pPr>
            <a:r>
              <a:rPr lang="en-US" sz="1500" i="1">
                <a:solidFill>
                  <a:schemeClr val="tx2"/>
                </a:solidFill>
                <a:latin typeface="Open Sans" pitchFamily="2" charset="0"/>
                <a:ea typeface="Open Sans" pitchFamily="2" charset="0"/>
                <a:cs typeface="Open Sans" pitchFamily="2" charset="0"/>
              </a:rPr>
              <a:t>Building it was the first challenge. Standing behind it is the second.</a:t>
            </a:r>
            <a:endParaRPr lang="en-US" sz="15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114683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23705F99-D043-11BD-5B16-25C1CCDE220D}"/>
              </a:ext>
            </a:extLst>
          </p:cNvPr>
          <p:cNvSpPr/>
          <p:nvPr/>
        </p:nvSpPr>
        <p:spPr>
          <a:xfrm>
            <a:off x="365760" y="201168"/>
            <a:ext cx="8412480" cy="475488"/>
          </a:xfrm>
          <a:prstGeom prst="rect">
            <a:avLst/>
          </a:prstGeom>
          <a:noFill/>
          <a:ln/>
        </p:spPr>
        <p:txBody>
          <a:bodyPr wrap="square" lIns="0" tIns="0" rIns="0" bIns="0" rtlCol="0" anchor="ctr"/>
          <a:lstStyle/>
          <a:p>
            <a:r>
              <a:rPr lang="en-US" sz="2800" b="1">
                <a:latin typeface="Open Sans" panose="020B0606030504020204" pitchFamily="34" charset="0"/>
                <a:ea typeface="Open Sans" panose="020B0606030504020204" pitchFamily="34" charset="0"/>
                <a:cs typeface="Open Sans" panose="020B0606030504020204" pitchFamily="34" charset="0"/>
              </a:rPr>
              <a:t>Review AI Code Like a Staff Engineer</a:t>
            </a:r>
            <a:r>
              <a:rPr lang="en-IN" sz="2800" b="1">
                <a:latin typeface="Open Sans" panose="020B0606030504020204" pitchFamily="34" charset="0"/>
                <a:ea typeface="Open Sans" panose="020B0606030504020204" pitchFamily="34" charset="0"/>
                <a:cs typeface="Open Sans" panose="020B0606030504020204" pitchFamily="34" charset="0"/>
              </a:rPr>
              <a:t>​</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1">
            <a:extLst>
              <a:ext uri="{FF2B5EF4-FFF2-40B4-BE49-F238E27FC236}">
                <a16:creationId xmlns:a16="http://schemas.microsoft.com/office/drawing/2014/main" id="{8041D109-C8C1-2280-838F-618B545BF896}"/>
              </a:ext>
            </a:extLst>
          </p:cNvPr>
          <p:cNvSpPr/>
          <p:nvPr/>
        </p:nvSpPr>
        <p:spPr>
          <a:xfrm>
            <a:off x="365760" y="766800"/>
            <a:ext cx="8412480" cy="256032"/>
          </a:xfrm>
          <a:prstGeom prst="rect">
            <a:avLst/>
          </a:prstGeom>
          <a:noFill/>
          <a:ln/>
        </p:spPr>
        <p:txBody>
          <a:bodyPr wrap="square" lIns="0" tIns="0" rIns="0" bIns="0" rtlCol="0" anchor="ctr"/>
          <a:lstStyle/>
          <a:p>
            <a:pPr marL="0" indent="0">
              <a:buNone/>
            </a:pPr>
            <a:r>
              <a:rPr lang="en-IN" sz="1200">
                <a:solidFill>
                  <a:schemeClr val="bg2">
                    <a:lumMod val="50000"/>
                  </a:schemeClr>
                </a:solidFill>
                <a:latin typeface="Open Sans" pitchFamily="2" charset="0"/>
                <a:ea typeface="Open Sans" pitchFamily="2" charset="0"/>
                <a:cs typeface="Open Sans" pitchFamily="2" charset="0"/>
              </a:rPr>
              <a:t>You do not need to read every line. You need to ask the right questions and know what a good answer looks like.</a:t>
            </a:r>
            <a:endParaRPr lang="en-US" sz="1200">
              <a:solidFill>
                <a:schemeClr val="bg2">
                  <a:lumMod val="50000"/>
                </a:schemeClr>
              </a:solidFill>
              <a:latin typeface="Open Sans" pitchFamily="2" charset="0"/>
              <a:ea typeface="Open Sans" pitchFamily="2" charset="0"/>
              <a:cs typeface="Open Sans" pitchFamily="2" charset="0"/>
            </a:endParaRPr>
          </a:p>
        </p:txBody>
      </p:sp>
      <p:sp>
        <p:nvSpPr>
          <p:cNvPr id="5" name="Shape 2">
            <a:extLst>
              <a:ext uri="{FF2B5EF4-FFF2-40B4-BE49-F238E27FC236}">
                <a16:creationId xmlns:a16="http://schemas.microsoft.com/office/drawing/2014/main" id="{86000B9D-2D05-19D6-F249-CEB147AAC7AC}"/>
              </a:ext>
            </a:extLst>
          </p:cNvPr>
          <p:cNvSpPr/>
          <p:nvPr/>
        </p:nvSpPr>
        <p:spPr>
          <a:xfrm>
            <a:off x="365759" y="1389888"/>
            <a:ext cx="2743371" cy="1906793"/>
          </a:xfrm>
          <a:prstGeom prst="roundRect">
            <a:avLst>
              <a:gd name="adj" fmla="val 5814"/>
            </a:avLst>
          </a:prstGeom>
          <a:solidFill>
            <a:srgbClr val="F5F5F5"/>
          </a:solidFill>
          <a:ln w="19050">
            <a:solidFill>
              <a:schemeClr val="accent2"/>
            </a:solidFill>
            <a:prstDash val="solid"/>
          </a:ln>
          <a:effectLst>
            <a:outerShdw blurRad="63500" dist="25400" dir="2700000" algn="bl" rotWithShape="0">
              <a:srgbClr val="000000">
                <a:alpha val="11000"/>
              </a:srgbClr>
            </a:outerShdw>
          </a:effectLst>
        </p:spPr>
        <p:txBody>
          <a:bodyPr/>
          <a:lstStyle/>
          <a:p>
            <a:endParaRPr lang="en-US" sz="1200">
              <a:solidFill>
                <a:schemeClr val="tx1">
                  <a:lumMod val="75000"/>
                  <a:lumOff val="25000"/>
                </a:schemeClr>
              </a:solidFill>
              <a:latin typeface="Open Sans" pitchFamily="2" charset="0"/>
              <a:ea typeface="Open Sans" pitchFamily="2" charset="0"/>
              <a:cs typeface="Open Sans" pitchFamily="2" charset="0"/>
            </a:endParaRPr>
          </a:p>
        </p:txBody>
      </p:sp>
      <p:sp>
        <p:nvSpPr>
          <p:cNvPr id="6" name="Shape 8">
            <a:extLst>
              <a:ext uri="{FF2B5EF4-FFF2-40B4-BE49-F238E27FC236}">
                <a16:creationId xmlns:a16="http://schemas.microsoft.com/office/drawing/2014/main" id="{72FF7531-D884-F95E-FC03-14E2D506C771}"/>
              </a:ext>
            </a:extLst>
          </p:cNvPr>
          <p:cNvSpPr/>
          <p:nvPr/>
        </p:nvSpPr>
        <p:spPr>
          <a:xfrm>
            <a:off x="3262120" y="1398200"/>
            <a:ext cx="2743371" cy="1906793"/>
          </a:xfrm>
          <a:prstGeom prst="roundRect">
            <a:avLst>
              <a:gd name="adj" fmla="val 5814"/>
            </a:avLst>
          </a:prstGeom>
          <a:solidFill>
            <a:srgbClr val="F5F5F5"/>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sz="1200">
              <a:solidFill>
                <a:schemeClr val="tx1">
                  <a:lumMod val="75000"/>
                  <a:lumOff val="25000"/>
                </a:schemeClr>
              </a:solidFill>
              <a:latin typeface="Open Sans" pitchFamily="2" charset="0"/>
              <a:ea typeface="Open Sans" pitchFamily="2" charset="0"/>
              <a:cs typeface="Open Sans" pitchFamily="2" charset="0"/>
            </a:endParaRPr>
          </a:p>
        </p:txBody>
      </p:sp>
      <p:sp>
        <p:nvSpPr>
          <p:cNvPr id="7" name="Shape 26">
            <a:extLst>
              <a:ext uri="{FF2B5EF4-FFF2-40B4-BE49-F238E27FC236}">
                <a16:creationId xmlns:a16="http://schemas.microsoft.com/office/drawing/2014/main" id="{F57D289E-F708-0F75-8685-C11DD5132EC7}"/>
              </a:ext>
            </a:extLst>
          </p:cNvPr>
          <p:cNvSpPr/>
          <p:nvPr/>
        </p:nvSpPr>
        <p:spPr>
          <a:xfrm>
            <a:off x="6112761" y="1389888"/>
            <a:ext cx="2743371" cy="1906793"/>
          </a:xfrm>
          <a:prstGeom prst="roundRect">
            <a:avLst>
              <a:gd name="adj" fmla="val 5814"/>
            </a:avLst>
          </a:prstGeom>
          <a:solidFill>
            <a:srgbClr val="F5F5F5"/>
          </a:solidFill>
          <a:ln w="19050">
            <a:solidFill>
              <a:schemeClr val="accent3"/>
            </a:solidFill>
            <a:prstDash val="solid"/>
          </a:ln>
          <a:effectLst>
            <a:outerShdw blurRad="63500" dist="25400" dir="2700000" algn="bl" rotWithShape="0">
              <a:srgbClr val="000000">
                <a:alpha val="11000"/>
              </a:srgbClr>
            </a:outerShdw>
          </a:effectLst>
        </p:spPr>
        <p:txBody>
          <a:bodyPr/>
          <a:lstStyle/>
          <a:p>
            <a:endParaRPr lang="en-US" sz="1200">
              <a:solidFill>
                <a:schemeClr val="tx1">
                  <a:lumMod val="75000"/>
                  <a:lumOff val="25000"/>
                </a:schemeClr>
              </a:solidFill>
              <a:latin typeface="Open Sans" pitchFamily="2" charset="0"/>
              <a:ea typeface="Open Sans" pitchFamily="2" charset="0"/>
              <a:cs typeface="Open Sans" pitchFamily="2" charset="0"/>
            </a:endParaRPr>
          </a:p>
        </p:txBody>
      </p:sp>
      <p:sp>
        <p:nvSpPr>
          <p:cNvPr id="8" name="Text 31">
            <a:extLst>
              <a:ext uri="{FF2B5EF4-FFF2-40B4-BE49-F238E27FC236}">
                <a16:creationId xmlns:a16="http://schemas.microsoft.com/office/drawing/2014/main" id="{75C0F69C-A07C-73AD-3B28-748F2BBDAD63}"/>
              </a:ext>
            </a:extLst>
          </p:cNvPr>
          <p:cNvSpPr/>
          <p:nvPr/>
        </p:nvSpPr>
        <p:spPr>
          <a:xfrm>
            <a:off x="365760" y="3682539"/>
            <a:ext cx="8412480" cy="228600"/>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The reviewer's core skill is severity judgment. Claude does the scan; you own the triage.</a:t>
            </a:r>
            <a:endParaRPr lang="en-US" sz="1200">
              <a:solidFill>
                <a:schemeClr val="tx2"/>
              </a:solidFill>
              <a:latin typeface="Open Sans" pitchFamily="2" charset="0"/>
              <a:ea typeface="Open Sans" pitchFamily="2" charset="0"/>
              <a:cs typeface="Open Sans" pitchFamily="2" charset="0"/>
            </a:endParaRPr>
          </a:p>
        </p:txBody>
      </p:sp>
      <p:sp>
        <p:nvSpPr>
          <p:cNvPr id="9" name="TextBox 8">
            <a:extLst>
              <a:ext uri="{FF2B5EF4-FFF2-40B4-BE49-F238E27FC236}">
                <a16:creationId xmlns:a16="http://schemas.microsoft.com/office/drawing/2014/main" id="{562C5A79-21D8-B3EC-39A1-648F1F54805B}"/>
              </a:ext>
            </a:extLst>
          </p:cNvPr>
          <p:cNvSpPr txBox="1"/>
          <p:nvPr/>
        </p:nvSpPr>
        <p:spPr bwMode="auto">
          <a:xfrm>
            <a:off x="565782" y="1827461"/>
            <a:ext cx="2343323" cy="1200329"/>
          </a:xfrm>
          <a:prstGeom prst="rect">
            <a:avLst/>
          </a:prstGeom>
        </p:spPr>
        <p:txBody>
          <a:bodyPr wrap="square" rtlCol="0">
            <a:spAutoFit/>
          </a:bodyPr>
          <a:lstStyle/>
          <a:p>
            <a:endParaRPr lang="en-IN" sz="1200" b="1">
              <a:solidFill>
                <a:schemeClr val="tx1">
                  <a:lumMod val="75000"/>
                  <a:lumOff val="25000"/>
                </a:schemeClr>
              </a:solidFill>
              <a:latin typeface="Open Sans Extrabold" pitchFamily="2" charset="0"/>
              <a:ea typeface="Open Sans Extrabold" pitchFamily="2" charset="0"/>
              <a:cs typeface="Open Sans Extrabold" pitchFamily="2" charset="0"/>
            </a:endParaRP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Style nits and formatting</a:t>
            </a: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Anything ruff, mypy or black catches</a:t>
            </a:r>
            <a:br>
              <a:rPr lang="en-IN" sz="1200">
                <a:solidFill>
                  <a:schemeClr val="tx1">
                    <a:lumMod val="75000"/>
                    <a:lumOff val="25000"/>
                  </a:schemeClr>
                </a:solidFill>
                <a:latin typeface="Open Sans" pitchFamily="2" charset="0"/>
                <a:ea typeface="Open Sans" pitchFamily="2" charset="0"/>
                <a:cs typeface="Open Sans" pitchFamily="2" charset="0"/>
              </a:rPr>
            </a:br>
            <a:r>
              <a:rPr lang="en-IN" sz="1200">
                <a:solidFill>
                  <a:schemeClr val="tx1">
                    <a:lumMod val="75000"/>
                    <a:lumOff val="25000"/>
                  </a:schemeClr>
                </a:solidFill>
                <a:latin typeface="Open Sans" pitchFamily="2" charset="0"/>
                <a:ea typeface="Open Sans" pitchFamily="2" charset="0"/>
                <a:cs typeface="Open Sans" pitchFamily="2" charset="0"/>
              </a:rPr>
              <a:t/>
            </a: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Automate it in CI; do not review it</a:t>
            </a:r>
            <a:endParaRPr lang="en-US" sz="1200">
              <a:solidFill>
                <a:schemeClr val="tx1">
                  <a:lumMod val="75000"/>
                  <a:lumOff val="25000"/>
                </a:schemeClr>
              </a:solidFill>
              <a:latin typeface="Open Sans" pitchFamily="2" charset="0"/>
              <a:ea typeface="Open Sans" pitchFamily="2" charset="0"/>
              <a:cs typeface="Open Sans" pitchFamily="2" charset="0"/>
            </a:endParaRPr>
          </a:p>
          <a:p>
            <a:pPr algn="l"/>
            <a:endParaRPr lang="en-US" sz="1200">
              <a:latin typeface="Open Sans" pitchFamily="2" charset="0"/>
              <a:ea typeface="Open Sans" pitchFamily="2" charset="0"/>
              <a:cs typeface="Open Sans" pitchFamily="2" charset="0"/>
            </a:endParaRPr>
          </a:p>
        </p:txBody>
      </p:sp>
      <p:sp>
        <p:nvSpPr>
          <p:cNvPr id="10" name="TextBox 9">
            <a:extLst>
              <a:ext uri="{FF2B5EF4-FFF2-40B4-BE49-F238E27FC236}">
                <a16:creationId xmlns:a16="http://schemas.microsoft.com/office/drawing/2014/main" id="{754AD095-E8F5-3E63-BE4F-3A164080D145}"/>
              </a:ext>
            </a:extLst>
          </p:cNvPr>
          <p:cNvSpPr txBox="1"/>
          <p:nvPr/>
        </p:nvSpPr>
        <p:spPr bwMode="auto">
          <a:xfrm>
            <a:off x="365759" y="1658827"/>
            <a:ext cx="2743371" cy="276999"/>
          </a:xfrm>
          <a:prstGeom prst="rect">
            <a:avLst/>
          </a:prstGeom>
        </p:spPr>
        <p:txBody>
          <a:bodyPr wrap="square" rtlCol="0">
            <a:spAutoFit/>
          </a:bodyPr>
          <a:lstStyle/>
          <a:p>
            <a:pPr algn="ctr"/>
            <a:r>
              <a:rPr lang="en-IN" sz="1200" b="1">
                <a:solidFill>
                  <a:schemeClr val="accent2"/>
                </a:solidFill>
                <a:latin typeface="Open Sans" panose="020B0606030504020204" pitchFamily="34" charset="0"/>
                <a:ea typeface="Open Sans" panose="020B0606030504020204" pitchFamily="34" charset="0"/>
                <a:cs typeface="Open Sans" panose="020B0606030504020204" pitchFamily="34" charset="0"/>
              </a:rPr>
              <a:t>What you are NOT doing:</a:t>
            </a:r>
            <a:endParaRPr lang="en-US" sz="1200" b="1">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Box 10">
            <a:extLst>
              <a:ext uri="{FF2B5EF4-FFF2-40B4-BE49-F238E27FC236}">
                <a16:creationId xmlns:a16="http://schemas.microsoft.com/office/drawing/2014/main" id="{AE91C00E-B600-A26F-30C3-21120246243D}"/>
              </a:ext>
            </a:extLst>
          </p:cNvPr>
          <p:cNvSpPr txBox="1"/>
          <p:nvPr/>
        </p:nvSpPr>
        <p:spPr bwMode="auto">
          <a:xfrm>
            <a:off x="3312922" y="2014566"/>
            <a:ext cx="2743370" cy="830997"/>
          </a:xfrm>
          <a:prstGeom prst="rect">
            <a:avLst/>
          </a:prstGeom>
        </p:spPr>
        <p:txBody>
          <a:bodyPr wrap="square" rtlCol="0">
            <a:spAutoFit/>
          </a:bodyPr>
          <a:lstStyle/>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Does it meet the spec acceptance criteria</a:t>
            </a: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Failure paths: timeouts, invalid model output</a:t>
            </a: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Trust boundaries: untrusted input, PHI egress</a:t>
            </a:r>
            <a:endParaRPr lang="en-US" sz="1200">
              <a:solidFill>
                <a:schemeClr val="tx1">
                  <a:lumMod val="75000"/>
                  <a:lumOff val="25000"/>
                </a:schemeClr>
              </a:solidFill>
              <a:latin typeface="Open Sans" pitchFamily="2" charset="0"/>
              <a:ea typeface="Open Sans" pitchFamily="2" charset="0"/>
              <a:cs typeface="Open Sans" pitchFamily="2" charset="0"/>
            </a:endParaRPr>
          </a:p>
        </p:txBody>
      </p:sp>
      <p:sp>
        <p:nvSpPr>
          <p:cNvPr id="12" name="TextBox 11">
            <a:extLst>
              <a:ext uri="{FF2B5EF4-FFF2-40B4-BE49-F238E27FC236}">
                <a16:creationId xmlns:a16="http://schemas.microsoft.com/office/drawing/2014/main" id="{E4393694-79F0-A9C5-9E90-577FD6923606}"/>
              </a:ext>
            </a:extLst>
          </p:cNvPr>
          <p:cNvSpPr txBox="1"/>
          <p:nvPr/>
        </p:nvSpPr>
        <p:spPr bwMode="auto">
          <a:xfrm>
            <a:off x="3262120" y="1626162"/>
            <a:ext cx="2743370" cy="276999"/>
          </a:xfrm>
          <a:prstGeom prst="rect">
            <a:avLst/>
          </a:prstGeom>
        </p:spPr>
        <p:txBody>
          <a:bodyPr wrap="square" rtlCol="0">
            <a:spAutoFit/>
          </a:bodyPr>
          <a:lstStyle/>
          <a:p>
            <a:pPr algn="ctr"/>
            <a:r>
              <a:rPr lang="en-IN" sz="1200" b="1">
                <a:solidFill>
                  <a:schemeClr val="accent1"/>
                </a:solidFill>
                <a:latin typeface="Open Sans" panose="020B0606030504020204" pitchFamily="34" charset="0"/>
                <a:ea typeface="Open Sans" panose="020B0606030504020204" pitchFamily="34" charset="0"/>
                <a:cs typeface="Open Sans" panose="020B0606030504020204" pitchFamily="34" charset="0"/>
              </a:rPr>
              <a:t>What you ARE doing:</a:t>
            </a:r>
          </a:p>
        </p:txBody>
      </p:sp>
      <p:sp>
        <p:nvSpPr>
          <p:cNvPr id="13" name="TextBox 12">
            <a:extLst>
              <a:ext uri="{FF2B5EF4-FFF2-40B4-BE49-F238E27FC236}">
                <a16:creationId xmlns:a16="http://schemas.microsoft.com/office/drawing/2014/main" id="{E40FF808-9CB7-344B-675F-1081F21A9FED}"/>
              </a:ext>
            </a:extLst>
          </p:cNvPr>
          <p:cNvSpPr txBox="1"/>
          <p:nvPr/>
        </p:nvSpPr>
        <p:spPr bwMode="auto">
          <a:xfrm>
            <a:off x="6316553" y="2014566"/>
            <a:ext cx="2333671" cy="1015663"/>
          </a:xfrm>
          <a:prstGeom prst="rect">
            <a:avLst/>
          </a:prstGeom>
        </p:spPr>
        <p:txBody>
          <a:bodyPr wrap="square" rtlCol="0">
            <a:spAutoFit/>
          </a:bodyPr>
          <a:lstStyle/>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Hardcoded secrets</a:t>
            </a: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Unvalidated LLM output</a:t>
            </a: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Injection and leak paths</a:t>
            </a: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Untested invariants</a:t>
            </a:r>
          </a:p>
          <a:p>
            <a:pPr marL="171450" indent="-171450">
              <a:buFont typeface="Arial" panose="020B0604020202020204" pitchFamily="34" charset="0"/>
              <a:buChar char="•"/>
            </a:pPr>
            <a:r>
              <a:rPr lang="en-IN" sz="1200">
                <a:solidFill>
                  <a:schemeClr val="tx1">
                    <a:lumMod val="75000"/>
                    <a:lumOff val="25000"/>
                  </a:schemeClr>
                </a:solidFill>
                <a:latin typeface="Open Sans" pitchFamily="2" charset="0"/>
                <a:ea typeface="Open Sans" pitchFamily="2" charset="0"/>
                <a:cs typeface="Open Sans" pitchFamily="2" charset="0"/>
              </a:rPr>
              <a:t>Severity: your call</a:t>
            </a:r>
            <a:endParaRPr lang="en-US" sz="1200">
              <a:solidFill>
                <a:schemeClr val="tx1">
                  <a:lumMod val="75000"/>
                  <a:lumOff val="25000"/>
                </a:schemeClr>
              </a:solidFill>
              <a:latin typeface="Open Sans" pitchFamily="2" charset="0"/>
              <a:ea typeface="Open Sans" pitchFamily="2" charset="0"/>
              <a:cs typeface="Open Sans" pitchFamily="2" charset="0"/>
            </a:endParaRPr>
          </a:p>
        </p:txBody>
      </p:sp>
      <p:sp>
        <p:nvSpPr>
          <p:cNvPr id="14" name="TextBox 13">
            <a:extLst>
              <a:ext uri="{FF2B5EF4-FFF2-40B4-BE49-F238E27FC236}">
                <a16:creationId xmlns:a16="http://schemas.microsoft.com/office/drawing/2014/main" id="{A17CAF3E-BD6D-592C-3B00-8B720D4E62A9}"/>
              </a:ext>
            </a:extLst>
          </p:cNvPr>
          <p:cNvSpPr txBox="1"/>
          <p:nvPr/>
        </p:nvSpPr>
        <p:spPr bwMode="auto">
          <a:xfrm>
            <a:off x="6112760" y="1671652"/>
            <a:ext cx="2743371" cy="276999"/>
          </a:xfrm>
          <a:prstGeom prst="rect">
            <a:avLst/>
          </a:prstGeom>
        </p:spPr>
        <p:txBody>
          <a:bodyPr wrap="square" rtlCol="0">
            <a:spAutoFit/>
          </a:bodyPr>
          <a:lstStyle/>
          <a:p>
            <a:pPr algn="ctr"/>
            <a:r>
              <a:rPr lang="en-IN" sz="1200" b="1">
                <a:solidFill>
                  <a:schemeClr val="accent3"/>
                </a:solidFill>
                <a:latin typeface="Open Sans" panose="020B0606030504020204" pitchFamily="34" charset="0"/>
                <a:ea typeface="Open Sans" panose="020B0606030504020204" pitchFamily="34" charset="0"/>
                <a:cs typeface="Open Sans" panose="020B0606030504020204" pitchFamily="34" charset="0"/>
              </a:rPr>
              <a:t>Why Claude Code changes this:</a:t>
            </a:r>
          </a:p>
        </p:txBody>
      </p:sp>
    </p:spTree>
    <p:extLst>
      <p:ext uri="{BB962C8B-B14F-4D97-AF65-F5344CB8AC3E}">
        <p14:creationId xmlns:p14="http://schemas.microsoft.com/office/powerpoint/2010/main" val="3305015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9836F8B2-87C3-D244-8D67-3A5D6B309837}"/>
              </a:ext>
            </a:extLst>
          </p:cNvPr>
          <p:cNvSpPr/>
          <p:nvPr/>
        </p:nvSpPr>
        <p:spPr>
          <a:xfrm>
            <a:off x="365760" y="201168"/>
            <a:ext cx="8412480" cy="475488"/>
          </a:xfrm>
          <a:prstGeom prst="rect">
            <a:avLst/>
          </a:prstGeom>
          <a:noFill/>
          <a:ln/>
        </p:spPr>
        <p:txBody>
          <a:bodyPr wrap="square" lIns="0" tIns="0" rIns="0" bIns="0" rtlCol="0" anchor="ctr"/>
          <a:lstStyle/>
          <a:p>
            <a:r>
              <a:rPr lang="en-US" sz="2800" b="1">
                <a:latin typeface="Open Sans" panose="020B0606030504020204" pitchFamily="34" charset="0"/>
                <a:ea typeface="Open Sans" panose="020B0606030504020204" pitchFamily="34" charset="0"/>
                <a:cs typeface="Open Sans" panose="020B0606030504020204" pitchFamily="34" charset="0"/>
              </a:rPr>
              <a:t>Review AI Code Like a Staff Engineer - Prompt</a:t>
            </a:r>
            <a:r>
              <a:rPr lang="en-IN" sz="2800" b="1">
                <a:latin typeface="Open Sans" panose="020B0606030504020204" pitchFamily="34" charset="0"/>
                <a:ea typeface="Open Sans" panose="020B0606030504020204" pitchFamily="34" charset="0"/>
                <a:cs typeface="Open Sans" panose="020B0606030504020204" pitchFamily="34" charset="0"/>
              </a:rPr>
              <a:t>​</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1">
            <a:extLst>
              <a:ext uri="{FF2B5EF4-FFF2-40B4-BE49-F238E27FC236}">
                <a16:creationId xmlns:a16="http://schemas.microsoft.com/office/drawing/2014/main" id="{E7FA6D94-4AD0-10D5-6C17-CED0AF9F8882}"/>
              </a:ext>
            </a:extLst>
          </p:cNvPr>
          <p:cNvSpPr/>
          <p:nvPr/>
        </p:nvSpPr>
        <p:spPr>
          <a:xfrm>
            <a:off x="365760" y="766800"/>
            <a:ext cx="8412480" cy="256032"/>
          </a:xfrm>
          <a:prstGeom prst="rect">
            <a:avLst/>
          </a:prstGeom>
          <a:noFill/>
          <a:ln/>
        </p:spPr>
        <p:txBody>
          <a:bodyPr wrap="square" lIns="0" tIns="0" rIns="0" bIns="0" rtlCol="0" anchor="ctr"/>
          <a:lstStyle/>
          <a:p>
            <a:pPr marL="0" indent="0">
              <a:buNone/>
            </a:pPr>
            <a:r>
              <a:rPr lang="en-US" sz="1400">
                <a:solidFill>
                  <a:schemeClr val="tx2"/>
                </a:solidFill>
                <a:latin typeface="Open Sans" pitchFamily="2" charset="0"/>
                <a:ea typeface="Open Sans" pitchFamily="2" charset="0"/>
                <a:cs typeface="Open Sans" pitchFamily="2" charset="0"/>
              </a:rPr>
              <a:t>One prompt. Run it on any codebase. The output is a severity-ranked list of real issues.</a:t>
            </a:r>
          </a:p>
        </p:txBody>
      </p:sp>
      <p:sp>
        <p:nvSpPr>
          <p:cNvPr id="6" name="Shape 2">
            <a:extLst>
              <a:ext uri="{FF2B5EF4-FFF2-40B4-BE49-F238E27FC236}">
                <a16:creationId xmlns:a16="http://schemas.microsoft.com/office/drawing/2014/main" id="{A8CFFEAB-5294-448A-E79F-C97D3A15562B}"/>
              </a:ext>
            </a:extLst>
          </p:cNvPr>
          <p:cNvSpPr/>
          <p:nvPr/>
        </p:nvSpPr>
        <p:spPr>
          <a:xfrm>
            <a:off x="4621869" y="1296785"/>
            <a:ext cx="4160520" cy="718221"/>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7" name="Text 3">
            <a:extLst>
              <a:ext uri="{FF2B5EF4-FFF2-40B4-BE49-F238E27FC236}">
                <a16:creationId xmlns:a16="http://schemas.microsoft.com/office/drawing/2014/main" id="{0871607E-F10D-8D5C-4176-607B104D0F27}"/>
              </a:ext>
            </a:extLst>
          </p:cNvPr>
          <p:cNvSpPr/>
          <p:nvPr/>
        </p:nvSpPr>
        <p:spPr>
          <a:xfrm>
            <a:off x="4804749" y="1365187"/>
            <a:ext cx="3794760" cy="205206"/>
          </a:xfrm>
          <a:prstGeom prst="rect">
            <a:avLst/>
          </a:prstGeom>
          <a:noFill/>
          <a:ln/>
        </p:spPr>
        <p:txBody>
          <a:bodyPr wrap="square" lIns="0" tIns="0" rIns="0" bIns="0" rtlCol="0" anchor="ctr"/>
          <a:lstStyle/>
          <a:p>
            <a:pPr marL="0" indent="0">
              <a:buNone/>
            </a:pPr>
            <a:r>
              <a:rPr lang="en-US" sz="1400" b="1">
                <a:solidFill>
                  <a:srgbClr val="2D2D2D"/>
                </a:solidFill>
                <a:latin typeface="Open Sans" panose="020B0606030504020204" pitchFamily="34" charset="0"/>
                <a:ea typeface="Open Sans" panose="020B0606030504020204" pitchFamily="34" charset="0"/>
                <a:cs typeface="Open Sans" panose="020B0606030504020204" pitchFamily="34" charset="0"/>
              </a:rPr>
              <a:t>Senior engineer framing</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8" name="Text 4">
            <a:extLst>
              <a:ext uri="{FF2B5EF4-FFF2-40B4-BE49-F238E27FC236}">
                <a16:creationId xmlns:a16="http://schemas.microsoft.com/office/drawing/2014/main" id="{736FF9BE-D513-3461-5535-C5EF18DBEFBB}"/>
              </a:ext>
            </a:extLst>
          </p:cNvPr>
          <p:cNvSpPr/>
          <p:nvPr/>
        </p:nvSpPr>
        <p:spPr>
          <a:xfrm>
            <a:off x="4804749" y="1611434"/>
            <a:ext cx="3794760" cy="328330"/>
          </a:xfrm>
          <a:prstGeom prst="rect">
            <a:avLst/>
          </a:prstGeom>
          <a:noFill/>
          <a:ln/>
        </p:spPr>
        <p:txBody>
          <a:bodyPr wrap="square" lIns="0" tIns="0" rIns="0" bIns="0" rtlCol="0" anchor="ctr"/>
          <a:lstStyle/>
          <a:p>
            <a:pPr marL="0" indent="0">
              <a:buNone/>
            </a:pPr>
            <a:r>
              <a:rPr lang="en-US" sz="1200">
                <a:solidFill>
                  <a:srgbClr val="757575"/>
                </a:solidFill>
                <a:latin typeface="Open Sans" pitchFamily="2" charset="0"/>
                <a:ea typeface="Open Sans" pitchFamily="2" charset="0"/>
                <a:cs typeface="Open Sans" pitchFamily="2" charset="0"/>
              </a:rPr>
              <a:t>Raises the bar on what Claude considers a problem worth flagging</a:t>
            </a:r>
            <a:endParaRPr lang="en-US" sz="1200">
              <a:latin typeface="Open Sans" pitchFamily="2" charset="0"/>
              <a:ea typeface="Open Sans" pitchFamily="2" charset="0"/>
              <a:cs typeface="Open Sans" pitchFamily="2" charset="0"/>
            </a:endParaRPr>
          </a:p>
        </p:txBody>
      </p:sp>
      <p:sp>
        <p:nvSpPr>
          <p:cNvPr id="10" name="Shape 5">
            <a:extLst>
              <a:ext uri="{FF2B5EF4-FFF2-40B4-BE49-F238E27FC236}">
                <a16:creationId xmlns:a16="http://schemas.microsoft.com/office/drawing/2014/main" id="{72EC48AF-662E-EECF-788F-563315CA93E7}"/>
              </a:ext>
            </a:extLst>
          </p:cNvPr>
          <p:cNvSpPr/>
          <p:nvPr/>
        </p:nvSpPr>
        <p:spPr>
          <a:xfrm>
            <a:off x="4621869" y="2093141"/>
            <a:ext cx="4160520" cy="718221"/>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Text 6">
            <a:extLst>
              <a:ext uri="{FF2B5EF4-FFF2-40B4-BE49-F238E27FC236}">
                <a16:creationId xmlns:a16="http://schemas.microsoft.com/office/drawing/2014/main" id="{54060DAF-66BF-EA4A-D1BB-A0F865FAB894}"/>
              </a:ext>
            </a:extLst>
          </p:cNvPr>
          <p:cNvSpPr/>
          <p:nvPr/>
        </p:nvSpPr>
        <p:spPr>
          <a:xfrm>
            <a:off x="4804749" y="2161543"/>
            <a:ext cx="3794760" cy="205206"/>
          </a:xfrm>
          <a:prstGeom prst="rect">
            <a:avLst/>
          </a:prstGeom>
          <a:noFill/>
          <a:ln/>
        </p:spPr>
        <p:txBody>
          <a:bodyPr wrap="square" lIns="0" tIns="0" rIns="0" bIns="0" rtlCol="0" anchor="ctr"/>
          <a:lstStyle/>
          <a:p>
            <a:pPr marL="0" indent="0">
              <a:buNone/>
            </a:pPr>
            <a:r>
              <a:rPr lang="en-US" sz="1400" b="1">
                <a:solidFill>
                  <a:srgbClr val="2D2D2D"/>
                </a:solidFill>
                <a:latin typeface="Open Sans" panose="020B0606030504020204" pitchFamily="34" charset="0"/>
                <a:ea typeface="Open Sans" panose="020B0606030504020204" pitchFamily="34" charset="0"/>
                <a:cs typeface="Open Sans" panose="020B0606030504020204" pitchFamily="34" charset="0"/>
              </a:rPr>
              <a:t>Severity classification</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7">
            <a:extLst>
              <a:ext uri="{FF2B5EF4-FFF2-40B4-BE49-F238E27FC236}">
                <a16:creationId xmlns:a16="http://schemas.microsoft.com/office/drawing/2014/main" id="{A435EE79-B815-4560-4396-3AD286B71702}"/>
              </a:ext>
            </a:extLst>
          </p:cNvPr>
          <p:cNvSpPr/>
          <p:nvPr/>
        </p:nvSpPr>
        <p:spPr>
          <a:xfrm>
            <a:off x="4804749" y="2407790"/>
            <a:ext cx="3794760" cy="328330"/>
          </a:xfrm>
          <a:prstGeom prst="rect">
            <a:avLst/>
          </a:prstGeom>
          <a:noFill/>
          <a:ln/>
        </p:spPr>
        <p:txBody>
          <a:bodyPr wrap="square" lIns="0" tIns="0" rIns="0" bIns="0" rtlCol="0" anchor="ctr"/>
          <a:lstStyle/>
          <a:p>
            <a:pPr marL="0" indent="0">
              <a:buNone/>
            </a:pPr>
            <a:r>
              <a:rPr lang="en-US" sz="1200">
                <a:solidFill>
                  <a:srgbClr val="757575"/>
                </a:solidFill>
                <a:latin typeface="Open Sans" pitchFamily="2" charset="0"/>
                <a:ea typeface="Open Sans" pitchFamily="2" charset="0"/>
                <a:cs typeface="Open Sans" pitchFamily="2" charset="0"/>
              </a:rPr>
              <a:t>Forces prioritization. You cannot fix everything in one session.</a:t>
            </a:r>
            <a:endParaRPr lang="en-US" sz="1200">
              <a:latin typeface="Open Sans" pitchFamily="2" charset="0"/>
              <a:ea typeface="Open Sans" pitchFamily="2" charset="0"/>
              <a:cs typeface="Open Sans" pitchFamily="2" charset="0"/>
            </a:endParaRPr>
          </a:p>
        </p:txBody>
      </p:sp>
      <p:sp>
        <p:nvSpPr>
          <p:cNvPr id="14" name="Shape 8">
            <a:extLst>
              <a:ext uri="{FF2B5EF4-FFF2-40B4-BE49-F238E27FC236}">
                <a16:creationId xmlns:a16="http://schemas.microsoft.com/office/drawing/2014/main" id="{41664196-C631-061D-DFC3-B7BADB552F8E}"/>
              </a:ext>
            </a:extLst>
          </p:cNvPr>
          <p:cNvSpPr/>
          <p:nvPr/>
        </p:nvSpPr>
        <p:spPr>
          <a:xfrm>
            <a:off x="4621869" y="2897815"/>
            <a:ext cx="4160520" cy="718221"/>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9">
            <a:extLst>
              <a:ext uri="{FF2B5EF4-FFF2-40B4-BE49-F238E27FC236}">
                <a16:creationId xmlns:a16="http://schemas.microsoft.com/office/drawing/2014/main" id="{A1A3B449-25FF-111B-B953-6D8DADE3BEC8}"/>
              </a:ext>
            </a:extLst>
          </p:cNvPr>
          <p:cNvSpPr/>
          <p:nvPr/>
        </p:nvSpPr>
        <p:spPr>
          <a:xfrm>
            <a:off x="4804749" y="2966217"/>
            <a:ext cx="3794760" cy="205206"/>
          </a:xfrm>
          <a:prstGeom prst="rect">
            <a:avLst/>
          </a:prstGeom>
          <a:noFill/>
          <a:ln/>
        </p:spPr>
        <p:txBody>
          <a:bodyPr wrap="square" lIns="0" tIns="0" rIns="0" bIns="0" rtlCol="0" anchor="ctr"/>
          <a:lstStyle/>
          <a:p>
            <a:pPr marL="0" indent="0">
              <a:buNone/>
            </a:pPr>
            <a:r>
              <a:rPr lang="en-US" sz="1400" b="1">
                <a:solidFill>
                  <a:srgbClr val="2D2D2D"/>
                </a:solidFill>
                <a:latin typeface="Open Sans" panose="020B0606030504020204" pitchFamily="34" charset="0"/>
                <a:ea typeface="Open Sans" panose="020B0606030504020204" pitchFamily="34" charset="0"/>
                <a:cs typeface="Open Sans" panose="020B0606030504020204" pitchFamily="34" charset="0"/>
              </a:rPr>
              <a:t>Problems only, not improvements</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0">
            <a:extLst>
              <a:ext uri="{FF2B5EF4-FFF2-40B4-BE49-F238E27FC236}">
                <a16:creationId xmlns:a16="http://schemas.microsoft.com/office/drawing/2014/main" id="{31E2B33A-411F-5308-CB49-34612A0EBFB1}"/>
              </a:ext>
            </a:extLst>
          </p:cNvPr>
          <p:cNvSpPr/>
          <p:nvPr/>
        </p:nvSpPr>
        <p:spPr>
          <a:xfrm>
            <a:off x="4804749" y="3212464"/>
            <a:ext cx="3794760" cy="328330"/>
          </a:xfrm>
          <a:prstGeom prst="rect">
            <a:avLst/>
          </a:prstGeom>
          <a:noFill/>
          <a:ln/>
        </p:spPr>
        <p:txBody>
          <a:bodyPr wrap="square" lIns="0" tIns="0" rIns="0" bIns="0" rtlCol="0" anchor="ctr"/>
          <a:lstStyle/>
          <a:p>
            <a:pPr marL="0" indent="0">
              <a:buNone/>
            </a:pPr>
            <a:r>
              <a:rPr lang="en-US" sz="1200">
                <a:solidFill>
                  <a:srgbClr val="757575"/>
                </a:solidFill>
                <a:latin typeface="Open Sans" pitchFamily="2" charset="0"/>
                <a:ea typeface="Open Sans" pitchFamily="2" charset="0"/>
                <a:cs typeface="Open Sans" pitchFamily="2" charset="0"/>
              </a:rPr>
              <a:t>Prevents Claude from expanding your scope under the guise of review</a:t>
            </a:r>
            <a:endParaRPr lang="en-US" sz="1200">
              <a:latin typeface="Open Sans" pitchFamily="2" charset="0"/>
              <a:ea typeface="Open Sans" pitchFamily="2" charset="0"/>
              <a:cs typeface="Open Sans" pitchFamily="2" charset="0"/>
            </a:endParaRPr>
          </a:p>
        </p:txBody>
      </p:sp>
      <p:grpSp>
        <p:nvGrpSpPr>
          <p:cNvPr id="17" name="Group 16">
            <a:extLst>
              <a:ext uri="{FF2B5EF4-FFF2-40B4-BE49-F238E27FC236}">
                <a16:creationId xmlns:a16="http://schemas.microsoft.com/office/drawing/2014/main" id="{6A66A08F-B787-88D8-F581-F0EDC312F03C}"/>
              </a:ext>
            </a:extLst>
          </p:cNvPr>
          <p:cNvGrpSpPr/>
          <p:nvPr/>
        </p:nvGrpSpPr>
        <p:grpSpPr>
          <a:xfrm>
            <a:off x="365766" y="1213655"/>
            <a:ext cx="4023360" cy="3291840"/>
            <a:chOff x="4754880" y="1005840"/>
            <a:chExt cx="4023360" cy="3291840"/>
          </a:xfrm>
          <a:solidFill>
            <a:schemeClr val="tx1"/>
          </a:solidFill>
        </p:grpSpPr>
        <p:sp>
          <p:nvSpPr>
            <p:cNvPr id="18" name="Shape 11">
              <a:extLst>
                <a:ext uri="{FF2B5EF4-FFF2-40B4-BE49-F238E27FC236}">
                  <a16:creationId xmlns:a16="http://schemas.microsoft.com/office/drawing/2014/main" id="{62A9196A-F1E7-1930-17E5-07AA9F57827D}"/>
                </a:ext>
              </a:extLst>
            </p:cNvPr>
            <p:cNvSpPr/>
            <p:nvPr/>
          </p:nvSpPr>
          <p:spPr>
            <a:xfrm>
              <a:off x="4754880" y="1005840"/>
              <a:ext cx="4023360" cy="3291840"/>
            </a:xfrm>
            <a:prstGeom prst="roundRect">
              <a:avLst>
                <a:gd name="adj" fmla="val 2778"/>
              </a:avLst>
            </a:prstGeom>
            <a:grpFill/>
            <a:ln w="12700">
              <a:solidFill>
                <a:srgbClr val="1E1E1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9" name="Text 12">
              <a:extLst>
                <a:ext uri="{FF2B5EF4-FFF2-40B4-BE49-F238E27FC236}">
                  <a16:creationId xmlns:a16="http://schemas.microsoft.com/office/drawing/2014/main" id="{3BB804B3-1DBB-07A9-C28D-103BEF6F4C73}"/>
                </a:ext>
              </a:extLst>
            </p:cNvPr>
            <p:cNvSpPr/>
            <p:nvPr/>
          </p:nvSpPr>
          <p:spPr>
            <a:xfrm>
              <a:off x="4892040" y="1097280"/>
              <a:ext cx="3749040" cy="256032"/>
            </a:xfrm>
            <a:prstGeom prst="rect">
              <a:avLst/>
            </a:prstGeom>
            <a:grpFill/>
            <a:ln/>
          </p:spPr>
          <p:txBody>
            <a:bodyPr wrap="square" lIns="0" tIns="0" rIns="0" bIns="0" rtlCol="0" anchor="ctr"/>
            <a:lstStyle/>
            <a:p>
              <a:pPr marL="0" indent="0">
                <a:buNone/>
              </a:pPr>
              <a:r>
                <a:rPr lang="en-US" sz="1000" b="1">
                  <a:solidFill>
                    <a:schemeClr val="bg1"/>
                  </a:solidFill>
                  <a:latin typeface="Open Sans" panose="020B0606030504020204" pitchFamily="34" charset="0"/>
                  <a:ea typeface="Open Sans" panose="020B0606030504020204" pitchFamily="34" charset="0"/>
                  <a:cs typeface="Open Sans" panose="020B0606030504020204" pitchFamily="34" charset="0"/>
                </a:rPr>
                <a:t>THE PROMPT PATTERN</a:t>
              </a:r>
            </a:p>
          </p:txBody>
        </p:sp>
        <p:sp>
          <p:nvSpPr>
            <p:cNvPr id="20" name="Text 13">
              <a:extLst>
                <a:ext uri="{FF2B5EF4-FFF2-40B4-BE49-F238E27FC236}">
                  <a16:creationId xmlns:a16="http://schemas.microsoft.com/office/drawing/2014/main" id="{281A2852-2492-53E3-99AC-033F31A45635}"/>
                </a:ext>
              </a:extLst>
            </p:cNvPr>
            <p:cNvSpPr/>
            <p:nvPr/>
          </p:nvSpPr>
          <p:spPr>
            <a:xfrm>
              <a:off x="4892040" y="1374986"/>
              <a:ext cx="3749040" cy="2697480"/>
            </a:xfrm>
            <a:prstGeom prst="rect">
              <a:avLst/>
            </a:prstGeom>
            <a:grpFill/>
            <a:ln/>
          </p:spPr>
          <p:txBody>
            <a:bodyPr wrap="square" lIns="0" tIns="0" rIns="0" bIns="0" rtlCol="0" anchor="ctr"/>
            <a:lstStyle/>
            <a:p>
              <a:pPr marL="0" indent="0">
                <a:buNone/>
              </a:pPr>
              <a:r>
                <a:rPr lang="en-US" sz="1400">
                  <a:solidFill>
                    <a:srgbClr val="00B050"/>
                  </a:solidFill>
                  <a:latin typeface="Open Sans" pitchFamily="2" charset="0"/>
                  <a:ea typeface="Open Sans" pitchFamily="2" charset="0"/>
                  <a:cs typeface="Open Sans" pitchFamily="2" charset="0"/>
                </a:rPr>
                <a:t>$ </a:t>
              </a:r>
              <a:r>
                <a:rPr lang="en-US" sz="1400" err="1">
                  <a:solidFill>
                    <a:srgbClr val="00B050"/>
                  </a:solidFill>
                  <a:latin typeface="Open Sans" pitchFamily="2" charset="0"/>
                  <a:ea typeface="Open Sans" pitchFamily="2" charset="0"/>
                  <a:cs typeface="Open Sans" pitchFamily="2" charset="0"/>
                </a:rPr>
                <a:t>claude</a:t>
              </a:r>
              <a:r>
                <a:rPr lang="en-US" sz="1400">
                  <a:solidFill>
                    <a:srgbClr val="00B050"/>
                  </a:solidFill>
                  <a:latin typeface="Open Sans" pitchFamily="2" charset="0"/>
                  <a:ea typeface="Open Sans" pitchFamily="2" charset="0"/>
                  <a:cs typeface="Open Sans" pitchFamily="2" charset="0"/>
                </a:rPr>
                <a:t> "Review this code as a senior engineer </a:t>
              </a:r>
            </a:p>
            <a:p>
              <a:pPr marL="0" indent="0">
                <a:buNone/>
              </a:pPr>
              <a:r>
                <a:rPr lang="en-US" sz="1400">
                  <a:solidFill>
                    <a:srgbClr val="00B050"/>
                  </a:solidFill>
                  <a:latin typeface="Open Sans" pitchFamily="2" charset="0"/>
                  <a:ea typeface="Open Sans" pitchFamily="2" charset="0"/>
                  <a:cs typeface="Open Sans" pitchFamily="2" charset="0"/>
                </a:rPr>
                <a:t>preparing it for a production handoff.</a:t>
              </a:r>
            </a:p>
            <a:p>
              <a:pPr marL="0" indent="0">
                <a:buNone/>
              </a:pPr>
              <a:endParaRPr lang="en-US" sz="1400">
                <a:solidFill>
                  <a:srgbClr val="00B050"/>
                </a:solidFill>
                <a:latin typeface="Open Sans" pitchFamily="2" charset="0"/>
                <a:ea typeface="Open Sans" pitchFamily="2" charset="0"/>
                <a:cs typeface="Open Sans" pitchFamily="2" charset="0"/>
              </a:endParaRPr>
            </a:p>
            <a:p>
              <a:pPr marL="0" indent="0">
                <a:buNone/>
              </a:pPr>
              <a:r>
                <a:rPr lang="en-US" sz="1400">
                  <a:solidFill>
                    <a:srgbClr val="00B050"/>
                  </a:solidFill>
                  <a:latin typeface="Open Sans" pitchFamily="2" charset="0"/>
                  <a:ea typeface="Open Sans" pitchFamily="2" charset="0"/>
                  <a:cs typeface="Open Sans" pitchFamily="2" charset="0"/>
                </a:rPr>
                <a:t>List every issue you find. For each issue:</a:t>
              </a:r>
            </a:p>
            <a:p>
              <a:pPr marL="0" indent="0">
                <a:buNone/>
              </a:pPr>
              <a:r>
                <a:rPr lang="en-US" sz="1400">
                  <a:solidFill>
                    <a:srgbClr val="00B050"/>
                  </a:solidFill>
                  <a:latin typeface="Open Sans" pitchFamily="2" charset="0"/>
                  <a:ea typeface="Open Sans" pitchFamily="2" charset="0"/>
                  <a:cs typeface="Open Sans" pitchFamily="2" charset="0"/>
                </a:rPr>
                <a:t>- Name the problem specifically</a:t>
              </a:r>
            </a:p>
            <a:p>
              <a:pPr marL="0" indent="0">
                <a:buNone/>
              </a:pPr>
              <a:r>
                <a:rPr lang="en-US" sz="1400">
                  <a:solidFill>
                    <a:srgbClr val="00B050"/>
                  </a:solidFill>
                  <a:latin typeface="Open Sans" pitchFamily="2" charset="0"/>
                  <a:ea typeface="Open Sans" pitchFamily="2" charset="0"/>
                  <a:cs typeface="Open Sans" pitchFamily="2" charset="0"/>
                </a:rPr>
                <a:t>- Explain why it matters</a:t>
              </a:r>
            </a:p>
            <a:p>
              <a:pPr marL="0" indent="0">
                <a:buNone/>
              </a:pPr>
              <a:r>
                <a:rPr lang="en-US" sz="1400">
                  <a:solidFill>
                    <a:srgbClr val="00B050"/>
                  </a:solidFill>
                  <a:latin typeface="Open Sans" pitchFamily="2" charset="0"/>
                  <a:ea typeface="Open Sans" pitchFamily="2" charset="0"/>
                  <a:cs typeface="Open Sans" pitchFamily="2" charset="0"/>
                </a:rPr>
                <a:t>- Classify severity: Critical / High / Medium / Low</a:t>
              </a:r>
            </a:p>
            <a:p>
              <a:pPr marL="0" indent="0">
                <a:buNone/>
              </a:pPr>
              <a:endParaRPr lang="en-US" sz="1400">
                <a:solidFill>
                  <a:srgbClr val="00B050"/>
                </a:solidFill>
                <a:latin typeface="Open Sans" pitchFamily="2" charset="0"/>
                <a:ea typeface="Open Sans" pitchFamily="2" charset="0"/>
                <a:cs typeface="Open Sans" pitchFamily="2" charset="0"/>
              </a:endParaRPr>
            </a:p>
            <a:p>
              <a:pPr marL="0" indent="0">
                <a:buNone/>
              </a:pPr>
              <a:r>
                <a:rPr lang="en-US" sz="1400">
                  <a:solidFill>
                    <a:srgbClr val="00B050"/>
                  </a:solidFill>
                  <a:latin typeface="Open Sans" pitchFamily="2" charset="0"/>
                  <a:ea typeface="Open Sans" pitchFamily="2" charset="0"/>
                  <a:cs typeface="Open Sans" pitchFamily="2" charset="0"/>
                </a:rPr>
                <a:t>Do not suggest improvements or refactors. </a:t>
              </a:r>
            </a:p>
            <a:p>
              <a:pPr marL="0" indent="0">
                <a:buNone/>
              </a:pPr>
              <a:r>
                <a:rPr lang="en-US" sz="1400">
                  <a:solidFill>
                    <a:srgbClr val="00B050"/>
                  </a:solidFill>
                  <a:latin typeface="Open Sans" pitchFamily="2" charset="0"/>
                  <a:ea typeface="Open Sans" pitchFamily="2" charset="0"/>
                  <a:cs typeface="Open Sans" pitchFamily="2" charset="0"/>
                </a:rPr>
                <a:t>Flag problems only."</a:t>
              </a:r>
            </a:p>
          </p:txBody>
        </p:sp>
      </p:grpSp>
      <p:sp>
        <p:nvSpPr>
          <p:cNvPr id="22" name="Shape 8">
            <a:extLst>
              <a:ext uri="{FF2B5EF4-FFF2-40B4-BE49-F238E27FC236}">
                <a16:creationId xmlns:a16="http://schemas.microsoft.com/office/drawing/2014/main" id="{E6A3FC32-1BA2-2056-7171-6BCB109DD480}"/>
              </a:ext>
            </a:extLst>
          </p:cNvPr>
          <p:cNvSpPr/>
          <p:nvPr/>
        </p:nvSpPr>
        <p:spPr>
          <a:xfrm>
            <a:off x="4621869" y="3702489"/>
            <a:ext cx="4160520" cy="718221"/>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3" name="Text 9">
            <a:extLst>
              <a:ext uri="{FF2B5EF4-FFF2-40B4-BE49-F238E27FC236}">
                <a16:creationId xmlns:a16="http://schemas.microsoft.com/office/drawing/2014/main" id="{EBEAD79F-930A-DDA9-A5F9-2195C7F52289}"/>
              </a:ext>
            </a:extLst>
          </p:cNvPr>
          <p:cNvSpPr/>
          <p:nvPr/>
        </p:nvSpPr>
        <p:spPr>
          <a:xfrm>
            <a:off x="4804749" y="3770891"/>
            <a:ext cx="3794760" cy="205206"/>
          </a:xfrm>
          <a:prstGeom prst="rect">
            <a:avLst/>
          </a:prstGeom>
          <a:noFill/>
          <a:ln/>
        </p:spPr>
        <p:txBody>
          <a:bodyPr wrap="square" lIns="0" tIns="0" rIns="0" bIns="0" rtlCol="0" anchor="ctr"/>
          <a:lstStyle/>
          <a:p>
            <a:pPr marL="0" indent="0">
              <a:buNone/>
            </a:pPr>
            <a:r>
              <a:rPr lang="en-US" sz="1400" b="1">
                <a:solidFill>
                  <a:srgbClr val="2D2D2D"/>
                </a:solidFill>
                <a:latin typeface="Open Sans" panose="020B0606030504020204" pitchFamily="34" charset="0"/>
                <a:ea typeface="Open Sans" panose="020B0606030504020204" pitchFamily="34" charset="0"/>
                <a:cs typeface="Open Sans" panose="020B0606030504020204" pitchFamily="34" charset="0"/>
              </a:rPr>
              <a:t>Explicit list format</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10">
            <a:extLst>
              <a:ext uri="{FF2B5EF4-FFF2-40B4-BE49-F238E27FC236}">
                <a16:creationId xmlns:a16="http://schemas.microsoft.com/office/drawing/2014/main" id="{2438861E-BEE4-3E67-EB9B-8926CA2B1FBA}"/>
              </a:ext>
            </a:extLst>
          </p:cNvPr>
          <p:cNvSpPr/>
          <p:nvPr/>
        </p:nvSpPr>
        <p:spPr>
          <a:xfrm>
            <a:off x="4804749" y="4017138"/>
            <a:ext cx="3794760" cy="328330"/>
          </a:xfrm>
          <a:prstGeom prst="rect">
            <a:avLst/>
          </a:prstGeom>
          <a:noFill/>
          <a:ln/>
        </p:spPr>
        <p:txBody>
          <a:bodyPr wrap="square" lIns="0" tIns="0" rIns="0" bIns="0" rtlCol="0" anchor="ctr"/>
          <a:lstStyle/>
          <a:p>
            <a:pPr marL="0" indent="0">
              <a:buNone/>
            </a:pPr>
            <a:r>
              <a:rPr lang="en-US" sz="1200">
                <a:solidFill>
                  <a:srgbClr val="757575"/>
                </a:solidFill>
                <a:latin typeface="Open Sans" pitchFamily="2" charset="0"/>
                <a:ea typeface="Open Sans" pitchFamily="2" charset="0"/>
                <a:cs typeface="Open Sans" pitchFamily="2" charset="0"/>
              </a:rPr>
              <a:t>Produces output you can act on immediately, not a paragraph you have to parse</a:t>
            </a:r>
            <a:endParaRPr lang="en-US" sz="120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8073511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81BD-0CD0-1FC1-02B1-DE85E0D6C7E5}"/>
            </a:ext>
          </a:extLst>
        </p:cNvPr>
        <p:cNvGrpSpPr/>
        <p:nvPr/>
      </p:nvGrpSpPr>
      <p:grpSpPr>
        <a:xfrm>
          <a:off x="0" y="0"/>
          <a:ext cx="0" cy="0"/>
          <a:chOff x="0" y="0"/>
          <a:chExt cx="0" cy="0"/>
        </a:xfrm>
      </p:grpSpPr>
      <p:sp>
        <p:nvSpPr>
          <p:cNvPr id="4" name="Shape 11">
            <a:extLst>
              <a:ext uri="{FF2B5EF4-FFF2-40B4-BE49-F238E27FC236}">
                <a16:creationId xmlns:a16="http://schemas.microsoft.com/office/drawing/2014/main" id="{8E60AF6F-2276-7310-A60B-B9E0CD9EE30C}"/>
              </a:ext>
            </a:extLst>
          </p:cNvPr>
          <p:cNvSpPr/>
          <p:nvPr/>
        </p:nvSpPr>
        <p:spPr>
          <a:xfrm>
            <a:off x="448733" y="1428809"/>
            <a:ext cx="4123267" cy="2603155"/>
          </a:xfrm>
          <a:prstGeom prst="roundRect">
            <a:avLst>
              <a:gd name="adj" fmla="val 2778"/>
            </a:avLst>
          </a:prstGeom>
          <a:solidFill>
            <a:schemeClr val="tx1"/>
          </a:solidFill>
          <a:ln w="12700">
            <a:solidFill>
              <a:srgbClr val="1E1E1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5" name="Text 12">
            <a:extLst>
              <a:ext uri="{FF2B5EF4-FFF2-40B4-BE49-F238E27FC236}">
                <a16:creationId xmlns:a16="http://schemas.microsoft.com/office/drawing/2014/main" id="{6A6EC4E2-A5A5-7CDD-7BCD-12D27F7698AC}"/>
              </a:ext>
            </a:extLst>
          </p:cNvPr>
          <p:cNvSpPr/>
          <p:nvPr/>
        </p:nvSpPr>
        <p:spPr>
          <a:xfrm>
            <a:off x="589281" y="1700895"/>
            <a:ext cx="3749040" cy="256032"/>
          </a:xfrm>
          <a:prstGeom prst="rect">
            <a:avLst/>
          </a:prstGeom>
          <a:noFill/>
          <a:ln/>
        </p:spPr>
        <p:txBody>
          <a:bodyPr wrap="square" lIns="0" tIns="0" rIns="0" bIns="0" rtlCol="0" anchor="ctr"/>
          <a:lstStyle/>
          <a:p>
            <a:pPr marL="0" indent="0">
              <a:buNone/>
            </a:pPr>
            <a:r>
              <a:rPr lang="en-US" sz="1000" b="1">
                <a:solidFill>
                  <a:schemeClr val="bg1"/>
                </a:solidFill>
                <a:latin typeface="Open Sans" panose="020B0606030504020204" pitchFamily="34" charset="0"/>
                <a:ea typeface="Open Sans" panose="020B0606030504020204" pitchFamily="34" charset="0"/>
                <a:cs typeface="Open Sans" panose="020B0606030504020204" pitchFamily="34" charset="0"/>
              </a:rPr>
              <a:t>THE PROMPT PATTERN</a:t>
            </a:r>
          </a:p>
        </p:txBody>
      </p:sp>
      <p:sp>
        <p:nvSpPr>
          <p:cNvPr id="2" name="Text 0">
            <a:extLst>
              <a:ext uri="{FF2B5EF4-FFF2-40B4-BE49-F238E27FC236}">
                <a16:creationId xmlns:a16="http://schemas.microsoft.com/office/drawing/2014/main" id="{5501062E-3391-EFA4-EB6D-6B57A5FCE3B6}"/>
              </a:ext>
            </a:extLst>
          </p:cNvPr>
          <p:cNvSpPr/>
          <p:nvPr/>
        </p:nvSpPr>
        <p:spPr>
          <a:xfrm>
            <a:off x="365760" y="201168"/>
            <a:ext cx="8412480" cy="475488"/>
          </a:xfrm>
          <a:prstGeom prst="rect">
            <a:avLst/>
          </a:prstGeom>
          <a:noFill/>
          <a:ln/>
        </p:spPr>
        <p:txBody>
          <a:bodyPr wrap="square" lIns="0" tIns="0" rIns="0" bIns="0" rtlCol="0" anchor="ctr"/>
          <a:lstStyle/>
          <a:p>
            <a:r>
              <a:rPr lang="en-IN" sz="2800" b="1">
                <a:latin typeface="Open Sans" panose="020B0606030504020204" pitchFamily="34" charset="0"/>
                <a:ea typeface="Open Sans" panose="020B0606030504020204" pitchFamily="34" charset="0"/>
                <a:cs typeface="Open Sans" panose="020B0606030504020204" pitchFamily="34" charset="0"/>
              </a:rPr>
              <a:t>Ready to Ship?</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39" name="Shape 0">
            <a:extLst>
              <a:ext uri="{FF2B5EF4-FFF2-40B4-BE49-F238E27FC236}">
                <a16:creationId xmlns:a16="http://schemas.microsoft.com/office/drawing/2014/main" id="{F52AB11D-778A-3365-EECE-730F276F5125}"/>
              </a:ext>
            </a:extLst>
          </p:cNvPr>
          <p:cNvSpPr/>
          <p:nvPr/>
        </p:nvSpPr>
        <p:spPr>
          <a:xfrm>
            <a:off x="7982464" y="109728"/>
            <a:ext cx="978655" cy="347472"/>
          </a:xfrm>
          <a:prstGeom prst="roundRect">
            <a:avLst>
              <a:gd name="adj" fmla="val 13158"/>
            </a:avLst>
          </a:prstGeom>
          <a:solidFill>
            <a:schemeClr val="accent2"/>
          </a:solidFill>
          <a:ln w="12700">
            <a:solidFill>
              <a:srgbClr val="00838F"/>
            </a:solidFill>
            <a:prstDash val="solid"/>
          </a:ln>
        </p:spPr>
        <p:txBody>
          <a:bodyPr anchor="ctr"/>
          <a:lstStyle/>
          <a:p>
            <a:pPr algn="ctr"/>
            <a:r>
              <a:rPr lang="en-US" sz="850" b="1">
                <a:solidFill>
                  <a:schemeClr val="bg1"/>
                </a:solidFill>
                <a:latin typeface="Open Sans Extrabold" pitchFamily="2" charset="0"/>
                <a:ea typeface="Open Sans Extrabold" pitchFamily="2" charset="0"/>
                <a:cs typeface="Open Sans Extrabold" pitchFamily="2" charset="0"/>
              </a:rPr>
              <a:t>REFLECT</a:t>
            </a:r>
          </a:p>
        </p:txBody>
      </p:sp>
      <p:sp>
        <p:nvSpPr>
          <p:cNvPr id="42" name="TextBox 41">
            <a:extLst>
              <a:ext uri="{FF2B5EF4-FFF2-40B4-BE49-F238E27FC236}">
                <a16:creationId xmlns:a16="http://schemas.microsoft.com/office/drawing/2014/main" id="{4ED2FB4F-41CD-42BD-FDDD-9B1D67ABFA3E}"/>
              </a:ext>
            </a:extLst>
          </p:cNvPr>
          <p:cNvSpPr txBox="1"/>
          <p:nvPr/>
        </p:nvSpPr>
        <p:spPr>
          <a:xfrm>
            <a:off x="301752" y="766800"/>
            <a:ext cx="6633611" cy="307777"/>
          </a:xfrm>
          <a:prstGeom prst="rect">
            <a:avLst/>
          </a:prstGeom>
          <a:noFill/>
        </p:spPr>
        <p:txBody>
          <a:bodyPr wrap="none" rtlCol="0">
            <a:spAutoFit/>
          </a:bodyPr>
          <a:lstStyle/>
          <a:p>
            <a:r>
              <a:rPr lang="en-IN" sz="1400">
                <a:solidFill>
                  <a:schemeClr val="bg2">
                    <a:lumMod val="50000"/>
                  </a:schemeClr>
                </a:solidFill>
                <a:latin typeface="Open Sans" pitchFamily="2" charset="0"/>
                <a:ea typeface="Open Sans" pitchFamily="2" charset="0"/>
                <a:cs typeface="Open Sans" pitchFamily="2" charset="0"/>
              </a:rPr>
              <a:t>Read this review output. Vote: would you accept this PoC for a production handoff?</a:t>
            </a:r>
            <a:endParaRPr lang="en-US" sz="1400">
              <a:solidFill>
                <a:schemeClr val="bg2">
                  <a:lumMod val="50000"/>
                </a:schemeClr>
              </a:solidFill>
              <a:latin typeface="Open Sans" pitchFamily="2" charset="0"/>
              <a:ea typeface="Open Sans" pitchFamily="2" charset="0"/>
              <a:cs typeface="Open Sans" pitchFamily="2" charset="0"/>
            </a:endParaRPr>
          </a:p>
        </p:txBody>
      </p:sp>
      <p:sp>
        <p:nvSpPr>
          <p:cNvPr id="44" name="Shape 1">
            <a:extLst>
              <a:ext uri="{FF2B5EF4-FFF2-40B4-BE49-F238E27FC236}">
                <a16:creationId xmlns:a16="http://schemas.microsoft.com/office/drawing/2014/main" id="{C2706ECE-32F8-FADB-245A-DAFB386C72C1}"/>
              </a:ext>
            </a:extLst>
          </p:cNvPr>
          <p:cNvSpPr/>
          <p:nvPr/>
        </p:nvSpPr>
        <p:spPr>
          <a:xfrm>
            <a:off x="4771852" y="1544610"/>
            <a:ext cx="3771015" cy="475488"/>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nchor="ctr"/>
          <a:lstStyle/>
          <a:p>
            <a:r>
              <a:rPr lang="en-IN" sz="1200">
                <a:solidFill>
                  <a:schemeClr val="tx2"/>
                </a:solidFill>
                <a:latin typeface="Open Sans" pitchFamily="2" charset="0"/>
                <a:ea typeface="Open Sans" pitchFamily="2" charset="0"/>
                <a:cs typeface="Open Sans" pitchFamily="2" charset="0"/>
              </a:rPr>
              <a:t>Yes — all issues are Low severity, this is acceptable</a:t>
            </a:r>
            <a:endParaRPr lang="en-US" sz="1200">
              <a:solidFill>
                <a:schemeClr val="tx2"/>
              </a:solidFill>
              <a:latin typeface="Open Sans" pitchFamily="2" charset="0"/>
              <a:ea typeface="Open Sans" pitchFamily="2" charset="0"/>
              <a:cs typeface="Open Sans" pitchFamily="2" charset="0"/>
            </a:endParaRPr>
          </a:p>
        </p:txBody>
      </p:sp>
      <p:sp>
        <p:nvSpPr>
          <p:cNvPr id="47" name="Shape 1">
            <a:extLst>
              <a:ext uri="{FF2B5EF4-FFF2-40B4-BE49-F238E27FC236}">
                <a16:creationId xmlns:a16="http://schemas.microsoft.com/office/drawing/2014/main" id="{453773A8-C5A0-B2D1-4067-5BBE10BD23BC}"/>
              </a:ext>
            </a:extLst>
          </p:cNvPr>
          <p:cNvSpPr/>
          <p:nvPr/>
        </p:nvSpPr>
        <p:spPr>
          <a:xfrm>
            <a:off x="4771852" y="2152457"/>
            <a:ext cx="3771015" cy="475488"/>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nchor="ctr"/>
          <a:lstStyle/>
          <a:p>
            <a:r>
              <a:rPr lang="en-IN" sz="1200">
                <a:solidFill>
                  <a:schemeClr val="tx2"/>
                </a:solidFill>
                <a:latin typeface="Open Sans" pitchFamily="2" charset="0"/>
                <a:ea typeface="Open Sans" pitchFamily="2" charset="0"/>
                <a:cs typeface="Open Sans" pitchFamily="2" charset="0"/>
              </a:rPr>
              <a:t>No — but only if there were Critical or High issues</a:t>
            </a:r>
            <a:endParaRPr lang="en-US" sz="1200">
              <a:solidFill>
                <a:schemeClr val="tx2"/>
              </a:solidFill>
              <a:latin typeface="Open Sans" pitchFamily="2" charset="0"/>
              <a:ea typeface="Open Sans" pitchFamily="2" charset="0"/>
              <a:cs typeface="Open Sans" pitchFamily="2" charset="0"/>
            </a:endParaRPr>
          </a:p>
        </p:txBody>
      </p:sp>
      <p:sp>
        <p:nvSpPr>
          <p:cNvPr id="48" name="Shape 1">
            <a:extLst>
              <a:ext uri="{FF2B5EF4-FFF2-40B4-BE49-F238E27FC236}">
                <a16:creationId xmlns:a16="http://schemas.microsoft.com/office/drawing/2014/main" id="{727CF2A4-F7E8-06B0-5079-7158D8D52CC7}"/>
              </a:ext>
            </a:extLst>
          </p:cNvPr>
          <p:cNvSpPr/>
          <p:nvPr/>
        </p:nvSpPr>
        <p:spPr>
          <a:xfrm>
            <a:off x="4771852" y="3367135"/>
            <a:ext cx="3771015" cy="475488"/>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nchor="ctr"/>
          <a:lstStyle/>
          <a:p>
            <a:r>
              <a:rPr lang="en-IN" sz="1200" dirty="0">
                <a:solidFill>
                  <a:schemeClr val="tx2"/>
                </a:solidFill>
                <a:latin typeface="Open Sans" pitchFamily="2" charset="0"/>
                <a:ea typeface="Open Sans" pitchFamily="2" charset="0"/>
                <a:cs typeface="Open Sans" pitchFamily="2" charset="0"/>
              </a:rPr>
              <a:t>No — this review is superficial, not because of what it found </a:t>
            </a:r>
            <a:endParaRPr lang="en-US" sz="1200" dirty="0">
              <a:solidFill>
                <a:schemeClr val="tx2"/>
              </a:solidFill>
              <a:latin typeface="Open Sans" pitchFamily="2" charset="0"/>
              <a:ea typeface="Open Sans" pitchFamily="2" charset="0"/>
              <a:cs typeface="Open Sans" pitchFamily="2" charset="0"/>
            </a:endParaRPr>
          </a:p>
        </p:txBody>
      </p:sp>
      <p:sp>
        <p:nvSpPr>
          <p:cNvPr id="49" name="Shape 1">
            <a:extLst>
              <a:ext uri="{FF2B5EF4-FFF2-40B4-BE49-F238E27FC236}">
                <a16:creationId xmlns:a16="http://schemas.microsoft.com/office/drawing/2014/main" id="{E1F31E20-6B3E-9685-EA12-D7DEB4C88759}"/>
              </a:ext>
            </a:extLst>
          </p:cNvPr>
          <p:cNvSpPr/>
          <p:nvPr/>
        </p:nvSpPr>
        <p:spPr>
          <a:xfrm>
            <a:off x="4771852" y="2753009"/>
            <a:ext cx="3771015" cy="475488"/>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nchor="ctr"/>
          <a:lstStyle/>
          <a:p>
            <a:r>
              <a:rPr lang="en-IN" sz="1200">
                <a:solidFill>
                  <a:schemeClr val="tx2"/>
                </a:solidFill>
                <a:latin typeface="Open Sans" pitchFamily="2" charset="0"/>
                <a:ea typeface="Open Sans" pitchFamily="2" charset="0"/>
                <a:cs typeface="Open Sans" pitchFamily="2" charset="0"/>
              </a:rPr>
              <a:t>Yes — code review is optional for a PoC stage</a:t>
            </a:r>
            <a:endParaRPr lang="en-US" sz="1200">
              <a:solidFill>
                <a:schemeClr val="tx2"/>
              </a:solidFill>
              <a:latin typeface="Open Sans" pitchFamily="2" charset="0"/>
              <a:ea typeface="Open Sans" pitchFamily="2" charset="0"/>
              <a:cs typeface="Open Sans" pitchFamily="2" charset="0"/>
            </a:endParaRPr>
          </a:p>
        </p:txBody>
      </p:sp>
      <p:sp>
        <p:nvSpPr>
          <p:cNvPr id="3" name="Text 13">
            <a:extLst>
              <a:ext uri="{FF2B5EF4-FFF2-40B4-BE49-F238E27FC236}">
                <a16:creationId xmlns:a16="http://schemas.microsoft.com/office/drawing/2014/main" id="{9DAF6452-D72E-3996-97EB-A7DFA2B43F95}"/>
              </a:ext>
            </a:extLst>
          </p:cNvPr>
          <p:cNvSpPr/>
          <p:nvPr/>
        </p:nvSpPr>
        <p:spPr>
          <a:xfrm>
            <a:off x="589281" y="1544610"/>
            <a:ext cx="3749040" cy="2576162"/>
          </a:xfrm>
          <a:prstGeom prst="rect">
            <a:avLst/>
          </a:prstGeom>
          <a:noFill/>
          <a:ln/>
        </p:spPr>
        <p:txBody>
          <a:bodyPr wrap="square" lIns="0" tIns="0" rIns="0" bIns="0" rtlCol="0" anchor="ctr"/>
          <a:lstStyle/>
          <a:p>
            <a:pPr marL="0" indent="0">
              <a:buNone/>
            </a:pPr>
            <a:r>
              <a:rPr lang="en-US" sz="1400">
                <a:solidFill>
                  <a:srgbClr val="00B050"/>
                </a:solidFill>
                <a:latin typeface="Open Sans" pitchFamily="2" charset="0"/>
                <a:ea typeface="Open Sans" pitchFamily="2" charset="0"/>
                <a:cs typeface="Open Sans" pitchFamily="2" charset="0"/>
              </a:rPr>
              <a:t>Claude Code review — </a:t>
            </a:r>
            <a:r>
              <a:rPr lang="en-US" sz="1400" err="1">
                <a:solidFill>
                  <a:srgbClr val="00B050"/>
                </a:solidFill>
                <a:latin typeface="Open Sans" pitchFamily="2" charset="0"/>
                <a:ea typeface="Open Sans" pitchFamily="2" charset="0"/>
                <a:cs typeface="Open Sans" pitchFamily="2" charset="0"/>
              </a:rPr>
              <a:t>app/drafting.py</a:t>
            </a:r>
            <a:endParaRPr lang="en-US" sz="1400">
              <a:solidFill>
                <a:srgbClr val="00B050"/>
              </a:solidFill>
              <a:latin typeface="Open Sans" pitchFamily="2" charset="0"/>
              <a:ea typeface="Open Sans" pitchFamily="2" charset="0"/>
              <a:cs typeface="Open Sans" pitchFamily="2" charset="0"/>
            </a:endParaRPr>
          </a:p>
          <a:p>
            <a:pPr marL="0" indent="0">
              <a:buNone/>
            </a:pPr>
            <a:endParaRPr lang="en-US" sz="1400">
              <a:solidFill>
                <a:srgbClr val="00B050"/>
              </a:solidFill>
              <a:latin typeface="Open Sans" pitchFamily="2" charset="0"/>
              <a:ea typeface="Open Sans" pitchFamily="2" charset="0"/>
              <a:cs typeface="Open Sans" pitchFamily="2" charset="0"/>
            </a:endParaRPr>
          </a:p>
          <a:p>
            <a:pPr marL="0" indent="0">
              <a:buNone/>
            </a:pPr>
            <a:r>
              <a:rPr lang="en-US" sz="1400">
                <a:solidFill>
                  <a:srgbClr val="00B050"/>
                </a:solidFill>
                <a:latin typeface="Open Sans" pitchFamily="2" charset="0"/>
                <a:ea typeface="Open Sans" pitchFamily="2" charset="0"/>
                <a:cs typeface="Open Sans" pitchFamily="2" charset="0"/>
              </a:rPr>
              <a:t>Issue 1: Function has no docstring [Low]</a:t>
            </a:r>
          </a:p>
          <a:p>
            <a:pPr marL="0" indent="0">
              <a:buNone/>
            </a:pPr>
            <a:r>
              <a:rPr lang="en-US" sz="1400">
                <a:solidFill>
                  <a:srgbClr val="00B050"/>
                </a:solidFill>
                <a:latin typeface="Open Sans" pitchFamily="2" charset="0"/>
                <a:ea typeface="Open Sans" pitchFamily="2" charset="0"/>
                <a:cs typeface="Open Sans" pitchFamily="2" charset="0"/>
              </a:rPr>
              <a:t>Issue 2: Variable name 'x' used in loop [Low]</a:t>
            </a:r>
          </a:p>
          <a:p>
            <a:pPr marL="0" indent="0">
              <a:buNone/>
            </a:pPr>
            <a:r>
              <a:rPr lang="en-US" sz="1400">
                <a:solidFill>
                  <a:srgbClr val="00B050"/>
                </a:solidFill>
                <a:latin typeface="Open Sans" pitchFamily="2" charset="0"/>
                <a:ea typeface="Open Sans" pitchFamily="2" charset="0"/>
                <a:cs typeface="Open Sans" pitchFamily="2" charset="0"/>
              </a:rPr>
              <a:t>Issue 3: Could benefit from type hints [Low]</a:t>
            </a:r>
          </a:p>
          <a:p>
            <a:pPr marL="0" indent="0">
              <a:buNone/>
            </a:pPr>
            <a:r>
              <a:rPr lang="en-US" sz="1400">
                <a:solidFill>
                  <a:srgbClr val="00B050"/>
                </a:solidFill>
                <a:latin typeface="Open Sans" pitchFamily="2" charset="0"/>
                <a:ea typeface="Open Sans" pitchFamily="2" charset="0"/>
                <a:cs typeface="Open Sans" pitchFamily="2" charset="0"/>
              </a:rPr>
              <a:t>Issue 4: Consider breaking into smaller </a:t>
            </a:r>
          </a:p>
          <a:p>
            <a:pPr marL="0" indent="0">
              <a:buNone/>
            </a:pPr>
            <a:r>
              <a:rPr lang="en-US" sz="1400">
                <a:solidFill>
                  <a:srgbClr val="00B050"/>
                </a:solidFill>
                <a:latin typeface="Open Sans" pitchFamily="2" charset="0"/>
                <a:ea typeface="Open Sans" pitchFamily="2" charset="0"/>
                <a:cs typeface="Open Sans" pitchFamily="2" charset="0"/>
              </a:rPr>
              <a:t>               functions for readability [Low]</a:t>
            </a:r>
          </a:p>
        </p:txBody>
      </p:sp>
      <p:sp>
        <p:nvSpPr>
          <p:cNvPr id="6" name="Slide Number Placeholder 5">
            <a:extLst>
              <a:ext uri="{FF2B5EF4-FFF2-40B4-BE49-F238E27FC236}">
                <a16:creationId xmlns:a16="http://schemas.microsoft.com/office/drawing/2014/main" id="{9F988C02-D4BD-8813-4F20-1255B83E4442}"/>
              </a:ext>
            </a:extLst>
          </p:cNvPr>
          <p:cNvSpPr>
            <a:spLocks noGrp="1"/>
          </p:cNvSpPr>
          <p:nvPr>
            <p:ph type="sldNum" sz="quarter" idx="12"/>
          </p:nvPr>
        </p:nvSpPr>
        <p:spPr/>
        <p:txBody>
          <a:bodyPr/>
          <a:lstStyle/>
          <a:p>
            <a:fld id="{C1FF6DA9-008F-8B48-92A6-B652298478BF}" type="slidenum">
              <a:rPr lang="en-US" smtClean="0">
                <a:solidFill>
                  <a:schemeClr val="bg1"/>
                </a:solidFill>
              </a:rPr>
              <a:t>26</a:t>
            </a:fld>
            <a:endParaRPr lang="en-US" dirty="0">
              <a:solidFill>
                <a:schemeClr val="bg1"/>
              </a:solidFill>
            </a:endParaRPr>
          </a:p>
        </p:txBody>
      </p:sp>
    </p:spTree>
    <p:extLst>
      <p:ext uri="{BB962C8B-B14F-4D97-AF65-F5344CB8AC3E}">
        <p14:creationId xmlns:p14="http://schemas.microsoft.com/office/powerpoint/2010/main" val="32753011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DD6FE-4212-8992-8C50-E980840C6602}"/>
            </a:ext>
          </a:extLst>
        </p:cNvPr>
        <p:cNvGrpSpPr/>
        <p:nvPr/>
      </p:nvGrpSpPr>
      <p:grpSpPr>
        <a:xfrm>
          <a:off x="0" y="0"/>
          <a:ext cx="0" cy="0"/>
          <a:chOff x="0" y="0"/>
          <a:chExt cx="0" cy="0"/>
        </a:xfrm>
      </p:grpSpPr>
      <p:sp>
        <p:nvSpPr>
          <p:cNvPr id="4" name="Shape 11">
            <a:extLst>
              <a:ext uri="{FF2B5EF4-FFF2-40B4-BE49-F238E27FC236}">
                <a16:creationId xmlns:a16="http://schemas.microsoft.com/office/drawing/2014/main" id="{7D10F9CE-1F20-52B3-A0A5-A8FB2012DFB9}"/>
              </a:ext>
            </a:extLst>
          </p:cNvPr>
          <p:cNvSpPr/>
          <p:nvPr/>
        </p:nvSpPr>
        <p:spPr>
          <a:xfrm>
            <a:off x="448733" y="1428809"/>
            <a:ext cx="4123267" cy="2603155"/>
          </a:xfrm>
          <a:prstGeom prst="roundRect">
            <a:avLst>
              <a:gd name="adj" fmla="val 2778"/>
            </a:avLst>
          </a:prstGeom>
          <a:solidFill>
            <a:schemeClr val="tx1"/>
          </a:solidFill>
          <a:ln w="12700">
            <a:solidFill>
              <a:srgbClr val="1E1E1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5" name="Text 12">
            <a:extLst>
              <a:ext uri="{FF2B5EF4-FFF2-40B4-BE49-F238E27FC236}">
                <a16:creationId xmlns:a16="http://schemas.microsoft.com/office/drawing/2014/main" id="{706394BA-8033-A93C-EAB8-5E03637896DD}"/>
              </a:ext>
            </a:extLst>
          </p:cNvPr>
          <p:cNvSpPr/>
          <p:nvPr/>
        </p:nvSpPr>
        <p:spPr>
          <a:xfrm>
            <a:off x="589281" y="1700895"/>
            <a:ext cx="3749040" cy="256032"/>
          </a:xfrm>
          <a:prstGeom prst="rect">
            <a:avLst/>
          </a:prstGeom>
          <a:noFill/>
          <a:ln/>
        </p:spPr>
        <p:txBody>
          <a:bodyPr wrap="square" lIns="0" tIns="0" rIns="0" bIns="0" rtlCol="0" anchor="ctr"/>
          <a:lstStyle/>
          <a:p>
            <a:pPr marL="0" indent="0">
              <a:buNone/>
            </a:pPr>
            <a:r>
              <a:rPr lang="en-US" sz="1000" b="1">
                <a:solidFill>
                  <a:schemeClr val="bg1"/>
                </a:solidFill>
                <a:latin typeface="Open Sans" panose="020B0606030504020204" pitchFamily="34" charset="0"/>
                <a:ea typeface="Open Sans" panose="020B0606030504020204" pitchFamily="34" charset="0"/>
                <a:cs typeface="Open Sans" panose="020B0606030504020204" pitchFamily="34" charset="0"/>
              </a:rPr>
              <a:t>THE PROMPT PATTERN</a:t>
            </a:r>
          </a:p>
        </p:txBody>
      </p:sp>
      <p:sp>
        <p:nvSpPr>
          <p:cNvPr id="2" name="Text 0">
            <a:extLst>
              <a:ext uri="{FF2B5EF4-FFF2-40B4-BE49-F238E27FC236}">
                <a16:creationId xmlns:a16="http://schemas.microsoft.com/office/drawing/2014/main" id="{D9AE893C-82E1-1E4F-0904-A56F490C9F10}"/>
              </a:ext>
            </a:extLst>
          </p:cNvPr>
          <p:cNvSpPr/>
          <p:nvPr/>
        </p:nvSpPr>
        <p:spPr>
          <a:xfrm>
            <a:off x="365760" y="201168"/>
            <a:ext cx="8412480" cy="475488"/>
          </a:xfrm>
          <a:prstGeom prst="rect">
            <a:avLst/>
          </a:prstGeom>
          <a:noFill/>
          <a:ln/>
        </p:spPr>
        <p:txBody>
          <a:bodyPr wrap="square" lIns="0" tIns="0" rIns="0" bIns="0" rtlCol="0" anchor="ctr"/>
          <a:lstStyle/>
          <a:p>
            <a:r>
              <a:rPr lang="en-IN" sz="2800" b="1">
                <a:latin typeface="Open Sans" panose="020B0606030504020204" pitchFamily="34" charset="0"/>
                <a:ea typeface="Open Sans" panose="020B0606030504020204" pitchFamily="34" charset="0"/>
                <a:cs typeface="Open Sans" panose="020B0606030504020204" pitchFamily="34" charset="0"/>
              </a:rPr>
              <a:t>Ready to Ship?</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39" name="Shape 0">
            <a:extLst>
              <a:ext uri="{FF2B5EF4-FFF2-40B4-BE49-F238E27FC236}">
                <a16:creationId xmlns:a16="http://schemas.microsoft.com/office/drawing/2014/main" id="{A8D4B3B6-07AF-1971-FE78-A6BDA6D7F193}"/>
              </a:ext>
            </a:extLst>
          </p:cNvPr>
          <p:cNvSpPr/>
          <p:nvPr/>
        </p:nvSpPr>
        <p:spPr>
          <a:xfrm>
            <a:off x="7982464" y="109728"/>
            <a:ext cx="978655" cy="347472"/>
          </a:xfrm>
          <a:prstGeom prst="roundRect">
            <a:avLst>
              <a:gd name="adj" fmla="val 13158"/>
            </a:avLst>
          </a:prstGeom>
          <a:solidFill>
            <a:schemeClr val="accent2"/>
          </a:solidFill>
          <a:ln w="12700">
            <a:solidFill>
              <a:srgbClr val="00838F"/>
            </a:solidFill>
            <a:prstDash val="solid"/>
          </a:ln>
        </p:spPr>
        <p:txBody>
          <a:bodyPr anchor="ctr"/>
          <a:lstStyle/>
          <a:p>
            <a:pPr algn="ctr"/>
            <a:r>
              <a:rPr lang="en-US" sz="850" b="1">
                <a:solidFill>
                  <a:schemeClr val="bg1"/>
                </a:solidFill>
                <a:latin typeface="Open Sans Extrabold" pitchFamily="2" charset="0"/>
                <a:ea typeface="Open Sans Extrabold" pitchFamily="2" charset="0"/>
                <a:cs typeface="Open Sans Extrabold" pitchFamily="2" charset="0"/>
              </a:rPr>
              <a:t>REFLECT</a:t>
            </a:r>
          </a:p>
        </p:txBody>
      </p:sp>
      <p:sp>
        <p:nvSpPr>
          <p:cNvPr id="42" name="TextBox 41">
            <a:extLst>
              <a:ext uri="{FF2B5EF4-FFF2-40B4-BE49-F238E27FC236}">
                <a16:creationId xmlns:a16="http://schemas.microsoft.com/office/drawing/2014/main" id="{24A171BB-BD8E-938C-371E-90C199D255D7}"/>
              </a:ext>
            </a:extLst>
          </p:cNvPr>
          <p:cNvSpPr txBox="1"/>
          <p:nvPr/>
        </p:nvSpPr>
        <p:spPr>
          <a:xfrm>
            <a:off x="301752" y="766800"/>
            <a:ext cx="6633611" cy="307777"/>
          </a:xfrm>
          <a:prstGeom prst="rect">
            <a:avLst/>
          </a:prstGeom>
          <a:noFill/>
        </p:spPr>
        <p:txBody>
          <a:bodyPr wrap="none" rtlCol="0">
            <a:spAutoFit/>
          </a:bodyPr>
          <a:lstStyle/>
          <a:p>
            <a:r>
              <a:rPr lang="en-IN" sz="1400">
                <a:solidFill>
                  <a:schemeClr val="bg2">
                    <a:lumMod val="50000"/>
                  </a:schemeClr>
                </a:solidFill>
                <a:latin typeface="Open Sans" pitchFamily="2" charset="0"/>
                <a:ea typeface="Open Sans" pitchFamily="2" charset="0"/>
                <a:cs typeface="Open Sans" pitchFamily="2" charset="0"/>
              </a:rPr>
              <a:t>Read this review output. Vote: would you accept this PoC for a production handoff?</a:t>
            </a:r>
            <a:endParaRPr lang="en-US" sz="1400">
              <a:solidFill>
                <a:schemeClr val="bg2">
                  <a:lumMod val="50000"/>
                </a:schemeClr>
              </a:solidFill>
              <a:latin typeface="Open Sans" pitchFamily="2" charset="0"/>
              <a:ea typeface="Open Sans" pitchFamily="2" charset="0"/>
              <a:cs typeface="Open Sans" pitchFamily="2" charset="0"/>
            </a:endParaRPr>
          </a:p>
        </p:txBody>
      </p:sp>
      <p:sp>
        <p:nvSpPr>
          <p:cNvPr id="44" name="Shape 1">
            <a:extLst>
              <a:ext uri="{FF2B5EF4-FFF2-40B4-BE49-F238E27FC236}">
                <a16:creationId xmlns:a16="http://schemas.microsoft.com/office/drawing/2014/main" id="{107E8475-FE17-0BBE-86BA-A6889CF09E5B}"/>
              </a:ext>
            </a:extLst>
          </p:cNvPr>
          <p:cNvSpPr/>
          <p:nvPr/>
        </p:nvSpPr>
        <p:spPr>
          <a:xfrm>
            <a:off x="4771852" y="1544610"/>
            <a:ext cx="3771015" cy="475488"/>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nchor="ctr"/>
          <a:lstStyle/>
          <a:p>
            <a:r>
              <a:rPr lang="en-IN" sz="1200">
                <a:solidFill>
                  <a:schemeClr val="tx2"/>
                </a:solidFill>
                <a:latin typeface="Open Sans" pitchFamily="2" charset="0"/>
                <a:ea typeface="Open Sans" pitchFamily="2" charset="0"/>
                <a:cs typeface="Open Sans" pitchFamily="2" charset="0"/>
              </a:rPr>
              <a:t>Yes — all issues are Low severity, this is acceptable</a:t>
            </a:r>
            <a:endParaRPr lang="en-US" sz="1200">
              <a:solidFill>
                <a:schemeClr val="tx2"/>
              </a:solidFill>
              <a:latin typeface="Open Sans" pitchFamily="2" charset="0"/>
              <a:ea typeface="Open Sans" pitchFamily="2" charset="0"/>
              <a:cs typeface="Open Sans" pitchFamily="2" charset="0"/>
            </a:endParaRPr>
          </a:p>
        </p:txBody>
      </p:sp>
      <p:sp>
        <p:nvSpPr>
          <p:cNvPr id="47" name="Shape 1">
            <a:extLst>
              <a:ext uri="{FF2B5EF4-FFF2-40B4-BE49-F238E27FC236}">
                <a16:creationId xmlns:a16="http://schemas.microsoft.com/office/drawing/2014/main" id="{0C6DBCEE-017F-E3B4-4E1E-F35FB1B64A8A}"/>
              </a:ext>
            </a:extLst>
          </p:cNvPr>
          <p:cNvSpPr/>
          <p:nvPr/>
        </p:nvSpPr>
        <p:spPr>
          <a:xfrm>
            <a:off x="4771852" y="2152457"/>
            <a:ext cx="3771015" cy="475488"/>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nchor="ctr"/>
          <a:lstStyle/>
          <a:p>
            <a:r>
              <a:rPr lang="en-IN" sz="1200">
                <a:solidFill>
                  <a:schemeClr val="tx2"/>
                </a:solidFill>
                <a:latin typeface="Open Sans" pitchFamily="2" charset="0"/>
                <a:ea typeface="Open Sans" pitchFamily="2" charset="0"/>
                <a:cs typeface="Open Sans" pitchFamily="2" charset="0"/>
              </a:rPr>
              <a:t>No — but only if there were Critical or High issues</a:t>
            </a:r>
            <a:endParaRPr lang="en-US" sz="1200">
              <a:solidFill>
                <a:schemeClr val="tx2"/>
              </a:solidFill>
              <a:latin typeface="Open Sans" pitchFamily="2" charset="0"/>
              <a:ea typeface="Open Sans" pitchFamily="2" charset="0"/>
              <a:cs typeface="Open Sans" pitchFamily="2" charset="0"/>
            </a:endParaRPr>
          </a:p>
        </p:txBody>
      </p:sp>
      <p:sp>
        <p:nvSpPr>
          <p:cNvPr id="48" name="Shape 1">
            <a:extLst>
              <a:ext uri="{FF2B5EF4-FFF2-40B4-BE49-F238E27FC236}">
                <a16:creationId xmlns:a16="http://schemas.microsoft.com/office/drawing/2014/main" id="{2E652DF8-49AD-BAD0-D12E-138A69CB54E1}"/>
              </a:ext>
            </a:extLst>
          </p:cNvPr>
          <p:cNvSpPr/>
          <p:nvPr/>
        </p:nvSpPr>
        <p:spPr>
          <a:xfrm>
            <a:off x="4771852" y="3367135"/>
            <a:ext cx="3771015" cy="475488"/>
          </a:xfrm>
          <a:prstGeom prst="roundRect">
            <a:avLst>
              <a:gd name="adj" fmla="val 8889"/>
            </a:avLst>
          </a:prstGeom>
          <a:solidFill>
            <a:srgbClr val="ECFEF6"/>
          </a:solidFill>
          <a:ln w="19050">
            <a:solidFill>
              <a:srgbClr val="92D050"/>
            </a:solidFill>
            <a:prstDash val="solid"/>
          </a:ln>
          <a:effectLst>
            <a:outerShdw blurRad="63500" dist="25400" dir="2700000" algn="bl" rotWithShape="0">
              <a:srgbClr val="000000">
                <a:alpha val="11000"/>
              </a:srgbClr>
            </a:outerShdw>
          </a:effectLst>
        </p:spPr>
        <p:txBody>
          <a:bodyPr anchor="ctr"/>
          <a:lstStyle/>
          <a:p>
            <a:r>
              <a:rPr lang="en-IN" sz="1200" dirty="0">
                <a:solidFill>
                  <a:schemeClr val="tx1">
                    <a:lumMod val="75000"/>
                  </a:schemeClr>
                </a:solidFill>
                <a:latin typeface="Open Sans" pitchFamily="2" charset="0"/>
                <a:ea typeface="Open Sans" pitchFamily="2" charset="0"/>
                <a:cs typeface="Open Sans" pitchFamily="2" charset="0"/>
              </a:rPr>
              <a:t>No — this review is superficial, not because of what it found </a:t>
            </a:r>
            <a:endParaRPr lang="en-US" sz="1200" dirty="0">
              <a:solidFill>
                <a:schemeClr val="tx1">
                  <a:lumMod val="75000"/>
                </a:schemeClr>
              </a:solidFill>
              <a:latin typeface="Open Sans" pitchFamily="2" charset="0"/>
              <a:ea typeface="Open Sans" pitchFamily="2" charset="0"/>
              <a:cs typeface="Open Sans" pitchFamily="2" charset="0"/>
            </a:endParaRPr>
          </a:p>
        </p:txBody>
      </p:sp>
      <p:sp>
        <p:nvSpPr>
          <p:cNvPr id="49" name="Shape 1">
            <a:extLst>
              <a:ext uri="{FF2B5EF4-FFF2-40B4-BE49-F238E27FC236}">
                <a16:creationId xmlns:a16="http://schemas.microsoft.com/office/drawing/2014/main" id="{D604FD32-3155-312C-2751-5E9955DC5C18}"/>
              </a:ext>
            </a:extLst>
          </p:cNvPr>
          <p:cNvSpPr/>
          <p:nvPr/>
        </p:nvSpPr>
        <p:spPr>
          <a:xfrm>
            <a:off x="4771852" y="2753009"/>
            <a:ext cx="3771015" cy="475488"/>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nchor="ctr"/>
          <a:lstStyle/>
          <a:p>
            <a:r>
              <a:rPr lang="en-IN" sz="1200">
                <a:solidFill>
                  <a:schemeClr val="tx2"/>
                </a:solidFill>
                <a:latin typeface="Open Sans" pitchFamily="2" charset="0"/>
                <a:ea typeface="Open Sans" pitchFamily="2" charset="0"/>
                <a:cs typeface="Open Sans" pitchFamily="2" charset="0"/>
              </a:rPr>
              <a:t>Yes — code review is optional for a PoC stage</a:t>
            </a:r>
            <a:endParaRPr lang="en-US" sz="1200">
              <a:solidFill>
                <a:schemeClr val="tx2"/>
              </a:solidFill>
              <a:latin typeface="Open Sans" pitchFamily="2" charset="0"/>
              <a:ea typeface="Open Sans" pitchFamily="2" charset="0"/>
              <a:cs typeface="Open Sans" pitchFamily="2" charset="0"/>
            </a:endParaRPr>
          </a:p>
        </p:txBody>
      </p:sp>
      <p:sp>
        <p:nvSpPr>
          <p:cNvPr id="3" name="Text 13">
            <a:extLst>
              <a:ext uri="{FF2B5EF4-FFF2-40B4-BE49-F238E27FC236}">
                <a16:creationId xmlns:a16="http://schemas.microsoft.com/office/drawing/2014/main" id="{7B7FC529-8E18-1859-D02F-8C0FC14DF560}"/>
              </a:ext>
            </a:extLst>
          </p:cNvPr>
          <p:cNvSpPr/>
          <p:nvPr/>
        </p:nvSpPr>
        <p:spPr>
          <a:xfrm>
            <a:off x="589281" y="1544610"/>
            <a:ext cx="3749040" cy="2576162"/>
          </a:xfrm>
          <a:prstGeom prst="rect">
            <a:avLst/>
          </a:prstGeom>
          <a:noFill/>
          <a:ln/>
        </p:spPr>
        <p:txBody>
          <a:bodyPr wrap="square" lIns="0" tIns="0" rIns="0" bIns="0" rtlCol="0" anchor="ctr"/>
          <a:lstStyle/>
          <a:p>
            <a:pPr marL="0" indent="0">
              <a:buNone/>
            </a:pPr>
            <a:r>
              <a:rPr lang="en-US" sz="1400">
                <a:solidFill>
                  <a:srgbClr val="00B050"/>
                </a:solidFill>
                <a:latin typeface="Open Sans" pitchFamily="2" charset="0"/>
                <a:ea typeface="Open Sans" pitchFamily="2" charset="0"/>
                <a:cs typeface="Open Sans" pitchFamily="2" charset="0"/>
              </a:rPr>
              <a:t>Claude Code review — </a:t>
            </a:r>
            <a:r>
              <a:rPr lang="en-US" sz="1400" err="1">
                <a:solidFill>
                  <a:srgbClr val="00B050"/>
                </a:solidFill>
                <a:latin typeface="Open Sans" pitchFamily="2" charset="0"/>
                <a:ea typeface="Open Sans" pitchFamily="2" charset="0"/>
                <a:cs typeface="Open Sans" pitchFamily="2" charset="0"/>
              </a:rPr>
              <a:t>app/drafting.py</a:t>
            </a:r>
            <a:endParaRPr lang="en-US" sz="1400">
              <a:solidFill>
                <a:srgbClr val="00B050"/>
              </a:solidFill>
              <a:latin typeface="Open Sans" pitchFamily="2" charset="0"/>
              <a:ea typeface="Open Sans" pitchFamily="2" charset="0"/>
              <a:cs typeface="Open Sans" pitchFamily="2" charset="0"/>
            </a:endParaRPr>
          </a:p>
          <a:p>
            <a:pPr marL="0" indent="0">
              <a:buNone/>
            </a:pPr>
            <a:endParaRPr lang="en-US" sz="1400">
              <a:solidFill>
                <a:srgbClr val="00B050"/>
              </a:solidFill>
              <a:latin typeface="Open Sans" pitchFamily="2" charset="0"/>
              <a:ea typeface="Open Sans" pitchFamily="2" charset="0"/>
              <a:cs typeface="Open Sans" pitchFamily="2" charset="0"/>
            </a:endParaRPr>
          </a:p>
          <a:p>
            <a:pPr marL="0" indent="0">
              <a:buNone/>
            </a:pPr>
            <a:r>
              <a:rPr lang="en-US" sz="1400">
                <a:solidFill>
                  <a:srgbClr val="00B050"/>
                </a:solidFill>
                <a:latin typeface="Open Sans" pitchFamily="2" charset="0"/>
                <a:ea typeface="Open Sans" pitchFamily="2" charset="0"/>
                <a:cs typeface="Open Sans" pitchFamily="2" charset="0"/>
              </a:rPr>
              <a:t>Issue 1: Function has no docstring [Low]</a:t>
            </a:r>
          </a:p>
          <a:p>
            <a:pPr marL="0" indent="0">
              <a:buNone/>
            </a:pPr>
            <a:r>
              <a:rPr lang="en-US" sz="1400">
                <a:solidFill>
                  <a:srgbClr val="00B050"/>
                </a:solidFill>
                <a:latin typeface="Open Sans" pitchFamily="2" charset="0"/>
                <a:ea typeface="Open Sans" pitchFamily="2" charset="0"/>
                <a:cs typeface="Open Sans" pitchFamily="2" charset="0"/>
              </a:rPr>
              <a:t>Issue 2: Variable name 'x' used in loop [Low]</a:t>
            </a:r>
          </a:p>
          <a:p>
            <a:pPr marL="0" indent="0">
              <a:buNone/>
            </a:pPr>
            <a:r>
              <a:rPr lang="en-US" sz="1400">
                <a:solidFill>
                  <a:srgbClr val="00B050"/>
                </a:solidFill>
                <a:latin typeface="Open Sans" pitchFamily="2" charset="0"/>
                <a:ea typeface="Open Sans" pitchFamily="2" charset="0"/>
                <a:cs typeface="Open Sans" pitchFamily="2" charset="0"/>
              </a:rPr>
              <a:t>Issue 3: Could benefit from type hints [Low]</a:t>
            </a:r>
          </a:p>
          <a:p>
            <a:pPr marL="0" indent="0">
              <a:buNone/>
            </a:pPr>
            <a:r>
              <a:rPr lang="en-US" sz="1400">
                <a:solidFill>
                  <a:srgbClr val="00B050"/>
                </a:solidFill>
                <a:latin typeface="Open Sans" pitchFamily="2" charset="0"/>
                <a:ea typeface="Open Sans" pitchFamily="2" charset="0"/>
                <a:cs typeface="Open Sans" pitchFamily="2" charset="0"/>
              </a:rPr>
              <a:t>Issue 4: Consider breaking into smaller </a:t>
            </a:r>
          </a:p>
          <a:p>
            <a:pPr marL="0" indent="0">
              <a:buNone/>
            </a:pPr>
            <a:r>
              <a:rPr lang="en-US" sz="1400">
                <a:solidFill>
                  <a:srgbClr val="00B050"/>
                </a:solidFill>
                <a:latin typeface="Open Sans" pitchFamily="2" charset="0"/>
                <a:ea typeface="Open Sans" pitchFamily="2" charset="0"/>
                <a:cs typeface="Open Sans" pitchFamily="2" charset="0"/>
              </a:rPr>
              <a:t>               functions for readability [Low]</a:t>
            </a:r>
          </a:p>
        </p:txBody>
      </p:sp>
      <p:sp>
        <p:nvSpPr>
          <p:cNvPr id="6" name="Slide Number Placeholder 5">
            <a:extLst>
              <a:ext uri="{FF2B5EF4-FFF2-40B4-BE49-F238E27FC236}">
                <a16:creationId xmlns:a16="http://schemas.microsoft.com/office/drawing/2014/main" id="{5B277EB5-02A1-D881-28F6-17A6C446A909}"/>
              </a:ext>
            </a:extLst>
          </p:cNvPr>
          <p:cNvSpPr>
            <a:spLocks noGrp="1"/>
          </p:cNvSpPr>
          <p:nvPr>
            <p:ph type="sldNum" sz="quarter" idx="12"/>
          </p:nvPr>
        </p:nvSpPr>
        <p:spPr/>
        <p:txBody>
          <a:bodyPr/>
          <a:lstStyle/>
          <a:p>
            <a:fld id="{C1FF6DA9-008F-8B48-92A6-B652298478BF}" type="slidenum">
              <a:rPr lang="en-US" smtClean="0">
                <a:solidFill>
                  <a:schemeClr val="bg1"/>
                </a:solidFill>
              </a:rPr>
              <a:t>27</a:t>
            </a:fld>
            <a:endParaRPr lang="en-US" dirty="0">
              <a:solidFill>
                <a:schemeClr val="bg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2A6CFAED-26DD-9810-6E33-BB47F16FAE26}"/>
              </a:ext>
            </a:extLst>
          </p:cNvPr>
          <p:cNvSpPr/>
          <p:nvPr/>
        </p:nvSpPr>
        <p:spPr>
          <a:xfrm>
            <a:off x="365760" y="201168"/>
            <a:ext cx="8412480" cy="475488"/>
          </a:xfrm>
          <a:prstGeom prst="rect">
            <a:avLst/>
          </a:prstGeom>
          <a:noFill/>
          <a:ln/>
        </p:spPr>
        <p:txBody>
          <a:bodyPr wrap="square" lIns="0" tIns="0" rIns="0" bIns="0" rtlCol="0" anchor="ctr"/>
          <a:lstStyle/>
          <a:p>
            <a:pPr marL="0" indent="0">
              <a:buNone/>
            </a:pPr>
            <a:r>
              <a:rPr lang="en-US" sz="2400" b="1">
                <a:solidFill>
                  <a:srgbClr val="2D2D2D"/>
                </a:solidFill>
                <a:latin typeface="Open Sans" panose="020B0606030504020204" pitchFamily="34" charset="0"/>
                <a:ea typeface="Open Sans" panose="020B0606030504020204" pitchFamily="34" charset="0"/>
                <a:cs typeface="Open Sans" panose="020B0606030504020204" pitchFamily="34" charset="0"/>
              </a:rPr>
              <a:t>Pushing Claude When the First Review Is Too Gentle</a:t>
            </a:r>
            <a:endParaRPr lang="en-US" sz="2400"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1">
            <a:extLst>
              <a:ext uri="{FF2B5EF4-FFF2-40B4-BE49-F238E27FC236}">
                <a16:creationId xmlns:a16="http://schemas.microsoft.com/office/drawing/2014/main" id="{6A1730A7-673F-6C60-CA48-D99E398C0E3F}"/>
              </a:ext>
            </a:extLst>
          </p:cNvPr>
          <p:cNvSpPr/>
          <p:nvPr/>
        </p:nvSpPr>
        <p:spPr>
          <a:xfrm>
            <a:off x="365760" y="667512"/>
            <a:ext cx="8412480" cy="256032"/>
          </a:xfrm>
          <a:prstGeom prst="rect">
            <a:avLst/>
          </a:prstGeom>
          <a:noFill/>
          <a:ln/>
        </p:spPr>
        <p:txBody>
          <a:bodyPr wrap="square" lIns="0" tIns="0" rIns="0" bIns="0" rtlCol="0" anchor="ctr"/>
          <a:lstStyle/>
          <a:p>
            <a:pPr marL="0" indent="0">
              <a:buNone/>
            </a:pPr>
            <a:r>
              <a:rPr lang="en-US" sz="1400">
                <a:solidFill>
                  <a:schemeClr val="tx2"/>
                </a:solidFill>
                <a:latin typeface="Open Sans" pitchFamily="2" charset="0"/>
                <a:ea typeface="Open Sans" pitchFamily="2" charset="0"/>
                <a:cs typeface="Open Sans" pitchFamily="2" charset="0"/>
              </a:rPr>
              <a:t>The first review is rarely the best one. These prompts get you to the real issues.</a:t>
            </a:r>
          </a:p>
        </p:txBody>
      </p:sp>
      <p:sp>
        <p:nvSpPr>
          <p:cNvPr id="5" name="Shape 2">
            <a:extLst>
              <a:ext uri="{FF2B5EF4-FFF2-40B4-BE49-F238E27FC236}">
                <a16:creationId xmlns:a16="http://schemas.microsoft.com/office/drawing/2014/main" id="{CAED344E-0846-9645-B00E-3239E7C5C9C6}"/>
              </a:ext>
            </a:extLst>
          </p:cNvPr>
          <p:cNvSpPr/>
          <p:nvPr/>
        </p:nvSpPr>
        <p:spPr>
          <a:xfrm>
            <a:off x="365760" y="1066800"/>
            <a:ext cx="2715768" cy="2931622"/>
          </a:xfrm>
          <a:prstGeom prst="roundRect">
            <a:avLst>
              <a:gd name="adj" fmla="val 3367"/>
            </a:avLst>
          </a:prstGeom>
          <a:solidFill>
            <a:schemeClr val="accent5">
              <a:lumMod val="20000"/>
              <a:lumOff val="80000"/>
            </a:schemeClr>
          </a:solidFill>
          <a:ln w="12700">
            <a:solidFill>
              <a:schemeClr val="accent2"/>
            </a:solidFill>
            <a:prstDash val="solid"/>
          </a:ln>
          <a:effectLst>
            <a:outerShdw blurRad="63500" dist="25400" dir="2700000" algn="bl" rotWithShape="0">
              <a:srgbClr val="000000">
                <a:alpha val="9000"/>
              </a:srgbClr>
            </a:outerShdw>
          </a:effectLst>
        </p:spPr>
        <p:txBody>
          <a:bodyPr/>
          <a:lstStyle/>
          <a:p>
            <a:endParaRPr lang="en-US"/>
          </a:p>
        </p:txBody>
      </p:sp>
      <p:sp>
        <p:nvSpPr>
          <p:cNvPr id="6" name="Text 3">
            <a:extLst>
              <a:ext uri="{FF2B5EF4-FFF2-40B4-BE49-F238E27FC236}">
                <a16:creationId xmlns:a16="http://schemas.microsoft.com/office/drawing/2014/main" id="{6D771EB2-84FB-2920-D803-F1CF0701132C}"/>
              </a:ext>
            </a:extLst>
          </p:cNvPr>
          <p:cNvSpPr/>
          <p:nvPr/>
        </p:nvSpPr>
        <p:spPr>
          <a:xfrm>
            <a:off x="502920" y="1223634"/>
            <a:ext cx="2441448" cy="384048"/>
          </a:xfrm>
          <a:prstGeom prst="rect">
            <a:avLst/>
          </a:prstGeom>
          <a:noFill/>
          <a:ln/>
        </p:spPr>
        <p:txBody>
          <a:bodyPr wrap="square" lIns="0" tIns="0" rIns="0" bIns="0" rtlCol="0" anchor="ctr"/>
          <a:lstStyle/>
          <a:p>
            <a:pPr marL="0" indent="0">
              <a:buNone/>
            </a:pPr>
            <a:r>
              <a:rPr lang="en-US" sz="1300" b="1">
                <a:solidFill>
                  <a:schemeClr val="accent2"/>
                </a:solidFill>
                <a:latin typeface="Open Sans" panose="020B0606030504020204" pitchFamily="34" charset="0"/>
                <a:ea typeface="Open Sans" panose="020B0606030504020204" pitchFamily="34" charset="0"/>
                <a:cs typeface="Open Sans" panose="020B0606030504020204" pitchFamily="34" charset="0"/>
              </a:rPr>
              <a:t>Push Prompt 1 — Force severity:</a:t>
            </a:r>
          </a:p>
        </p:txBody>
      </p:sp>
      <p:sp>
        <p:nvSpPr>
          <p:cNvPr id="7" name="Text 4">
            <a:extLst>
              <a:ext uri="{FF2B5EF4-FFF2-40B4-BE49-F238E27FC236}">
                <a16:creationId xmlns:a16="http://schemas.microsoft.com/office/drawing/2014/main" id="{79B2C388-41E9-61DA-F64C-C30336877293}"/>
              </a:ext>
            </a:extLst>
          </p:cNvPr>
          <p:cNvSpPr/>
          <p:nvPr/>
        </p:nvSpPr>
        <p:spPr>
          <a:xfrm>
            <a:off x="502920" y="1798044"/>
            <a:ext cx="2441448" cy="457200"/>
          </a:xfrm>
          <a:prstGeom prst="rect">
            <a:avLst/>
          </a:prstGeom>
          <a:noFill/>
          <a:ln/>
        </p:spPr>
        <p:txBody>
          <a:bodyPr wrap="square" lIns="0" tIns="0" rIns="0" bIns="0" rtlCol="0" anchor="ctr"/>
          <a:lstStyle/>
          <a:p>
            <a:pPr marL="0" indent="0">
              <a:buNone/>
            </a:pPr>
            <a:r>
              <a:rPr lang="en-US" sz="1050" b="1">
                <a:solidFill>
                  <a:schemeClr val="tx2"/>
                </a:solidFill>
                <a:latin typeface="Open Sans" panose="020B0606030504020204" pitchFamily="34" charset="0"/>
                <a:ea typeface="Open Sans" panose="020B0606030504020204" pitchFamily="34" charset="0"/>
                <a:cs typeface="Open Sans" panose="020B0606030504020204" pitchFamily="34" charset="0"/>
              </a:rPr>
              <a:t>When the review is all Low, name the consequence.</a:t>
            </a:r>
          </a:p>
        </p:txBody>
      </p:sp>
      <p:sp>
        <p:nvSpPr>
          <p:cNvPr id="8" name="Shape 6">
            <a:extLst>
              <a:ext uri="{FF2B5EF4-FFF2-40B4-BE49-F238E27FC236}">
                <a16:creationId xmlns:a16="http://schemas.microsoft.com/office/drawing/2014/main" id="{76706ED3-E6B7-1FF8-FDB2-59FFA4DB6AB7}"/>
              </a:ext>
            </a:extLst>
          </p:cNvPr>
          <p:cNvSpPr/>
          <p:nvPr/>
        </p:nvSpPr>
        <p:spPr>
          <a:xfrm>
            <a:off x="502920" y="2302626"/>
            <a:ext cx="2441448" cy="1554480"/>
          </a:xfrm>
          <a:prstGeom prst="roundRect">
            <a:avLst>
              <a:gd name="adj" fmla="val 5730"/>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9" name="Text 7">
            <a:extLst>
              <a:ext uri="{FF2B5EF4-FFF2-40B4-BE49-F238E27FC236}">
                <a16:creationId xmlns:a16="http://schemas.microsoft.com/office/drawing/2014/main" id="{A9A984BD-189C-3AC1-E158-E70EFD0013CC}"/>
              </a:ext>
            </a:extLst>
          </p:cNvPr>
          <p:cNvSpPr/>
          <p:nvPr/>
        </p:nvSpPr>
        <p:spPr>
          <a:xfrm>
            <a:off x="565265" y="2302626"/>
            <a:ext cx="2310940" cy="1554480"/>
          </a:xfrm>
          <a:prstGeom prst="rect">
            <a:avLst/>
          </a:prstGeom>
          <a:noFill/>
          <a:ln/>
        </p:spPr>
        <p:txBody>
          <a:bodyPr wrap="square" lIns="0" tIns="0" rIns="0" bIns="0" rtlCol="0" anchor="ctr"/>
          <a:lstStyle/>
          <a:p>
            <a:pPr marL="0" indent="0">
              <a:buNone/>
            </a:pPr>
            <a:r>
              <a:rPr lang="en-US" sz="1100">
                <a:solidFill>
                  <a:srgbClr val="00B050"/>
                </a:solidFill>
                <a:latin typeface="Open Sans" pitchFamily="2" charset="0"/>
                <a:ea typeface="Open Sans" pitchFamily="2" charset="0"/>
                <a:cs typeface="Open Sans" pitchFamily="2" charset="0"/>
              </a:rPr>
              <a:t>$ </a:t>
            </a:r>
            <a:r>
              <a:rPr lang="en-US" sz="1100" err="1">
                <a:solidFill>
                  <a:srgbClr val="00B050"/>
                </a:solidFill>
                <a:latin typeface="Open Sans" pitchFamily="2" charset="0"/>
                <a:ea typeface="Open Sans" pitchFamily="2" charset="0"/>
                <a:cs typeface="Open Sans" pitchFamily="2" charset="0"/>
              </a:rPr>
              <a:t>claude</a:t>
            </a:r>
            <a:r>
              <a:rPr lang="en-US" sz="1100">
                <a:solidFill>
                  <a:srgbClr val="00B050"/>
                </a:solidFill>
                <a:latin typeface="Open Sans" pitchFamily="2" charset="0"/>
                <a:ea typeface="Open Sans" pitchFamily="2" charset="0"/>
                <a:cs typeface="Open Sans" pitchFamily="2" charset="0"/>
              </a:rPr>
              <a:t> "You gave me four Low severity issues. Now find the one issue most likely to cause this PoC to fail in a live demo. Name the specific failure mode."</a:t>
            </a:r>
          </a:p>
        </p:txBody>
      </p:sp>
      <p:sp>
        <p:nvSpPr>
          <p:cNvPr id="10" name="Shape 8">
            <a:extLst>
              <a:ext uri="{FF2B5EF4-FFF2-40B4-BE49-F238E27FC236}">
                <a16:creationId xmlns:a16="http://schemas.microsoft.com/office/drawing/2014/main" id="{021D03D7-B871-954E-CE39-C0CB97B5DF6B}"/>
              </a:ext>
            </a:extLst>
          </p:cNvPr>
          <p:cNvSpPr/>
          <p:nvPr/>
        </p:nvSpPr>
        <p:spPr>
          <a:xfrm>
            <a:off x="3218688" y="1066800"/>
            <a:ext cx="2715768" cy="2931622"/>
          </a:xfrm>
          <a:prstGeom prst="roundRect">
            <a:avLst>
              <a:gd name="adj" fmla="val 3367"/>
            </a:avLst>
          </a:prstGeom>
          <a:solidFill>
            <a:srgbClr val="FFF8E1"/>
          </a:solidFill>
          <a:ln w="12700">
            <a:solidFill>
              <a:schemeClr val="accent1"/>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Text 9">
            <a:extLst>
              <a:ext uri="{FF2B5EF4-FFF2-40B4-BE49-F238E27FC236}">
                <a16:creationId xmlns:a16="http://schemas.microsoft.com/office/drawing/2014/main" id="{F8A22E97-7053-CECE-F4F0-A7D95E278344}"/>
              </a:ext>
            </a:extLst>
          </p:cNvPr>
          <p:cNvSpPr/>
          <p:nvPr/>
        </p:nvSpPr>
        <p:spPr>
          <a:xfrm>
            <a:off x="3355848" y="1223634"/>
            <a:ext cx="2441448" cy="384048"/>
          </a:xfrm>
          <a:prstGeom prst="rect">
            <a:avLst/>
          </a:prstGeom>
          <a:noFill/>
          <a:ln/>
        </p:spPr>
        <p:txBody>
          <a:bodyPr wrap="square" lIns="0" tIns="0" rIns="0" bIns="0" rtlCol="0" anchor="ctr"/>
          <a:lstStyle/>
          <a:p>
            <a:pPr marL="0" indent="0">
              <a:buNone/>
            </a:pPr>
            <a:r>
              <a:rPr lang="en-US" sz="1300" b="1">
                <a:solidFill>
                  <a:schemeClr val="accent1"/>
                </a:solidFill>
                <a:latin typeface="Open Sans" panose="020B0606030504020204" pitchFamily="34" charset="0"/>
                <a:ea typeface="Open Sans" panose="020B0606030504020204" pitchFamily="34" charset="0"/>
                <a:cs typeface="Open Sans" panose="020B0606030504020204" pitchFamily="34" charset="0"/>
              </a:rPr>
              <a:t>Push Prompt 2 — Target risk areas:</a:t>
            </a:r>
          </a:p>
        </p:txBody>
      </p:sp>
      <p:sp>
        <p:nvSpPr>
          <p:cNvPr id="12" name="Text 10">
            <a:extLst>
              <a:ext uri="{FF2B5EF4-FFF2-40B4-BE49-F238E27FC236}">
                <a16:creationId xmlns:a16="http://schemas.microsoft.com/office/drawing/2014/main" id="{E58C8D26-6DD6-D73B-9B63-A81CD9FD7BB9}"/>
              </a:ext>
            </a:extLst>
          </p:cNvPr>
          <p:cNvSpPr/>
          <p:nvPr/>
        </p:nvSpPr>
        <p:spPr>
          <a:xfrm>
            <a:off x="3355848" y="1798044"/>
            <a:ext cx="2441448" cy="457200"/>
          </a:xfrm>
          <a:prstGeom prst="rect">
            <a:avLst/>
          </a:prstGeom>
          <a:noFill/>
          <a:ln/>
        </p:spPr>
        <p:txBody>
          <a:bodyPr wrap="square" lIns="0" tIns="0" rIns="0" bIns="0" rtlCol="0" anchor="ctr"/>
          <a:lstStyle/>
          <a:p>
            <a:pPr marL="0" indent="0">
              <a:buNone/>
            </a:pPr>
            <a:r>
              <a:rPr lang="en-US" sz="1050" b="1">
                <a:solidFill>
                  <a:schemeClr val="tx2"/>
                </a:solidFill>
                <a:latin typeface="Open Sans" panose="020B0606030504020204" pitchFamily="34" charset="0"/>
                <a:ea typeface="Open Sans" panose="020B0606030504020204" pitchFamily="34" charset="0"/>
                <a:cs typeface="Open Sans" panose="020B0606030504020204" pitchFamily="34" charset="0"/>
              </a:rPr>
              <a:t>When the review feels generic, give it a specific lens.</a:t>
            </a:r>
          </a:p>
        </p:txBody>
      </p:sp>
      <p:sp>
        <p:nvSpPr>
          <p:cNvPr id="13" name="Shape 12">
            <a:extLst>
              <a:ext uri="{FF2B5EF4-FFF2-40B4-BE49-F238E27FC236}">
                <a16:creationId xmlns:a16="http://schemas.microsoft.com/office/drawing/2014/main" id="{CC7F661F-ABE9-82FB-33AB-A7A8B3879381}"/>
              </a:ext>
            </a:extLst>
          </p:cNvPr>
          <p:cNvSpPr/>
          <p:nvPr/>
        </p:nvSpPr>
        <p:spPr>
          <a:xfrm>
            <a:off x="3355848" y="2302626"/>
            <a:ext cx="2441448" cy="1554480"/>
          </a:xfrm>
          <a:prstGeom prst="roundRect">
            <a:avLst>
              <a:gd name="adj" fmla="val 6265"/>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14" name="Text 13">
            <a:extLst>
              <a:ext uri="{FF2B5EF4-FFF2-40B4-BE49-F238E27FC236}">
                <a16:creationId xmlns:a16="http://schemas.microsoft.com/office/drawing/2014/main" id="{F23ED04E-B5DD-3192-DCB3-52FDF1B39CB6}"/>
              </a:ext>
            </a:extLst>
          </p:cNvPr>
          <p:cNvSpPr/>
          <p:nvPr/>
        </p:nvSpPr>
        <p:spPr>
          <a:xfrm>
            <a:off x="3433156" y="2302626"/>
            <a:ext cx="2286000" cy="1554480"/>
          </a:xfrm>
          <a:prstGeom prst="rect">
            <a:avLst/>
          </a:prstGeom>
          <a:noFill/>
          <a:ln/>
        </p:spPr>
        <p:txBody>
          <a:bodyPr wrap="square" lIns="0" tIns="0" rIns="0" bIns="0" rtlCol="0" anchor="ctr"/>
          <a:lstStyle/>
          <a:p>
            <a:pPr marL="0" indent="0">
              <a:buNone/>
            </a:pPr>
            <a:r>
              <a:rPr lang="en-US" sz="1100">
                <a:solidFill>
                  <a:srgbClr val="00B050"/>
                </a:solidFill>
                <a:latin typeface="Open Sans" pitchFamily="2" charset="0"/>
                <a:ea typeface="Open Sans" pitchFamily="2" charset="0"/>
                <a:cs typeface="Open Sans" pitchFamily="2" charset="0"/>
              </a:rPr>
              <a:t>$ </a:t>
            </a:r>
            <a:r>
              <a:rPr lang="en-US" sz="1100" err="1">
                <a:solidFill>
                  <a:srgbClr val="00B050"/>
                </a:solidFill>
                <a:latin typeface="Open Sans" pitchFamily="2" charset="0"/>
                <a:ea typeface="Open Sans" pitchFamily="2" charset="0"/>
                <a:cs typeface="Open Sans" pitchFamily="2" charset="0"/>
              </a:rPr>
              <a:t>claude</a:t>
            </a:r>
            <a:r>
              <a:rPr lang="en-US" sz="1100">
                <a:solidFill>
                  <a:srgbClr val="00B050"/>
                </a:solidFill>
                <a:latin typeface="Open Sans" pitchFamily="2" charset="0"/>
                <a:ea typeface="Open Sans" pitchFamily="2" charset="0"/>
                <a:cs typeface="Open Sans" pitchFamily="2" charset="0"/>
              </a:rPr>
              <a:t> "Review specifically for: missing input validation, hardcoded values, and unhandled exceptions. For each one, name the exact line and the consequence of leaving it unfixed."</a:t>
            </a:r>
          </a:p>
        </p:txBody>
      </p:sp>
      <p:sp>
        <p:nvSpPr>
          <p:cNvPr id="15" name="Shape 14">
            <a:extLst>
              <a:ext uri="{FF2B5EF4-FFF2-40B4-BE49-F238E27FC236}">
                <a16:creationId xmlns:a16="http://schemas.microsoft.com/office/drawing/2014/main" id="{11078BB8-5E9D-E598-0F54-AC504BE8177D}"/>
              </a:ext>
            </a:extLst>
          </p:cNvPr>
          <p:cNvSpPr/>
          <p:nvPr/>
        </p:nvSpPr>
        <p:spPr>
          <a:xfrm>
            <a:off x="6071616" y="1066800"/>
            <a:ext cx="2715768" cy="2931622"/>
          </a:xfrm>
          <a:prstGeom prst="roundRect">
            <a:avLst>
              <a:gd name="adj" fmla="val 3367"/>
            </a:avLst>
          </a:prstGeom>
          <a:solidFill>
            <a:srgbClr val="E8F5E9"/>
          </a:solidFill>
          <a:ln w="12700">
            <a:solidFill>
              <a:srgbClr val="00B050"/>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6" name="Text 15">
            <a:extLst>
              <a:ext uri="{FF2B5EF4-FFF2-40B4-BE49-F238E27FC236}">
                <a16:creationId xmlns:a16="http://schemas.microsoft.com/office/drawing/2014/main" id="{3B83B912-B3ED-D533-5FB7-609DF30AA1DB}"/>
              </a:ext>
            </a:extLst>
          </p:cNvPr>
          <p:cNvSpPr/>
          <p:nvPr/>
        </p:nvSpPr>
        <p:spPr>
          <a:xfrm>
            <a:off x="6208776" y="1223634"/>
            <a:ext cx="2441448" cy="384048"/>
          </a:xfrm>
          <a:prstGeom prst="rect">
            <a:avLst/>
          </a:prstGeom>
          <a:noFill/>
          <a:ln/>
        </p:spPr>
        <p:txBody>
          <a:bodyPr wrap="square" lIns="0" tIns="0" rIns="0" bIns="0" rtlCol="0" anchor="ctr"/>
          <a:lstStyle/>
          <a:p>
            <a:pPr marL="0" indent="0">
              <a:buNone/>
            </a:pPr>
            <a:r>
              <a:rPr lang="en-US" sz="1300" b="1">
                <a:solidFill>
                  <a:srgbClr val="00B050"/>
                </a:solidFill>
                <a:latin typeface="Open Sans" panose="020B0606030504020204" pitchFamily="34" charset="0"/>
                <a:ea typeface="Open Sans" panose="020B0606030504020204" pitchFamily="34" charset="0"/>
                <a:cs typeface="Open Sans" panose="020B0606030504020204" pitchFamily="34" charset="0"/>
              </a:rPr>
              <a:t>Push Prompt 3 — Production lens:</a:t>
            </a:r>
          </a:p>
        </p:txBody>
      </p:sp>
      <p:sp>
        <p:nvSpPr>
          <p:cNvPr id="17" name="Text 16">
            <a:extLst>
              <a:ext uri="{FF2B5EF4-FFF2-40B4-BE49-F238E27FC236}">
                <a16:creationId xmlns:a16="http://schemas.microsoft.com/office/drawing/2014/main" id="{8C7A841C-4B35-F05B-BFB8-3F3EAD1C0E21}"/>
              </a:ext>
            </a:extLst>
          </p:cNvPr>
          <p:cNvSpPr/>
          <p:nvPr/>
        </p:nvSpPr>
        <p:spPr>
          <a:xfrm>
            <a:off x="6208776" y="1798044"/>
            <a:ext cx="2441448" cy="457200"/>
          </a:xfrm>
          <a:prstGeom prst="rect">
            <a:avLst/>
          </a:prstGeom>
          <a:noFill/>
          <a:ln/>
        </p:spPr>
        <p:txBody>
          <a:bodyPr wrap="square" lIns="0" tIns="0" rIns="0" bIns="0" rtlCol="0" anchor="ctr"/>
          <a:lstStyle/>
          <a:p>
            <a:pPr marL="0" indent="0">
              <a:buNone/>
            </a:pPr>
            <a:r>
              <a:rPr lang="en-US" sz="1050" b="1">
                <a:solidFill>
                  <a:schemeClr val="tx2"/>
                </a:solidFill>
                <a:latin typeface="Open Sans" panose="020B0606030504020204" pitchFamily="34" charset="0"/>
                <a:ea typeface="Open Sans" panose="020B0606030504020204" pitchFamily="34" charset="0"/>
                <a:cs typeface="Open Sans" panose="020B0606030504020204" pitchFamily="34" charset="0"/>
              </a:rPr>
              <a:t>When the review still feels comfortable, raise the stakes.</a:t>
            </a:r>
          </a:p>
        </p:txBody>
      </p:sp>
      <p:sp>
        <p:nvSpPr>
          <p:cNvPr id="18" name="Shape 18">
            <a:extLst>
              <a:ext uri="{FF2B5EF4-FFF2-40B4-BE49-F238E27FC236}">
                <a16:creationId xmlns:a16="http://schemas.microsoft.com/office/drawing/2014/main" id="{EFA14C51-6C18-26B9-18C4-2A153EE9204B}"/>
              </a:ext>
            </a:extLst>
          </p:cNvPr>
          <p:cNvSpPr/>
          <p:nvPr/>
        </p:nvSpPr>
        <p:spPr>
          <a:xfrm>
            <a:off x="6208776" y="2302626"/>
            <a:ext cx="2441448" cy="1554480"/>
          </a:xfrm>
          <a:prstGeom prst="roundRect">
            <a:avLst>
              <a:gd name="adj" fmla="val 6799"/>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19" name="Text 19">
            <a:extLst>
              <a:ext uri="{FF2B5EF4-FFF2-40B4-BE49-F238E27FC236}">
                <a16:creationId xmlns:a16="http://schemas.microsoft.com/office/drawing/2014/main" id="{1EEE6A37-86FF-6244-14E9-A2792F7A8DDD}"/>
              </a:ext>
            </a:extLst>
          </p:cNvPr>
          <p:cNvSpPr/>
          <p:nvPr/>
        </p:nvSpPr>
        <p:spPr>
          <a:xfrm>
            <a:off x="6284422" y="2302626"/>
            <a:ext cx="2294313" cy="1554480"/>
          </a:xfrm>
          <a:prstGeom prst="rect">
            <a:avLst/>
          </a:prstGeom>
          <a:noFill/>
          <a:ln/>
        </p:spPr>
        <p:txBody>
          <a:bodyPr wrap="square" lIns="0" tIns="0" rIns="0" bIns="0" rtlCol="0" anchor="ctr"/>
          <a:lstStyle/>
          <a:p>
            <a:pPr marL="0" indent="0">
              <a:buNone/>
            </a:pPr>
            <a:r>
              <a:rPr lang="en-US" sz="1100">
                <a:solidFill>
                  <a:srgbClr val="00B050"/>
                </a:solidFill>
                <a:latin typeface="Open Sans" pitchFamily="2" charset="0"/>
                <a:ea typeface="Open Sans" pitchFamily="2" charset="0"/>
                <a:cs typeface="Open Sans" pitchFamily="2" charset="0"/>
              </a:rPr>
              <a:t>$ </a:t>
            </a:r>
            <a:r>
              <a:rPr lang="en-US" sz="1100" err="1">
                <a:solidFill>
                  <a:srgbClr val="00B050"/>
                </a:solidFill>
                <a:latin typeface="Open Sans" pitchFamily="2" charset="0"/>
                <a:ea typeface="Open Sans" pitchFamily="2" charset="0"/>
                <a:cs typeface="Open Sans" pitchFamily="2" charset="0"/>
              </a:rPr>
              <a:t>claude</a:t>
            </a:r>
            <a:r>
              <a:rPr lang="en-US" sz="1100">
                <a:solidFill>
                  <a:srgbClr val="00B050"/>
                </a:solidFill>
                <a:latin typeface="Open Sans" pitchFamily="2" charset="0"/>
                <a:ea typeface="Open Sans" pitchFamily="2" charset="0"/>
                <a:cs typeface="Open Sans" pitchFamily="2" charset="0"/>
              </a:rPr>
              <a:t> "Imagine a deployment engineer picks this up at 9am on Monday with no context. What will break by 10am? Name it specifically."</a:t>
            </a:r>
          </a:p>
        </p:txBody>
      </p:sp>
      <p:sp>
        <p:nvSpPr>
          <p:cNvPr id="20" name="TextBox 19">
            <a:extLst>
              <a:ext uri="{FF2B5EF4-FFF2-40B4-BE49-F238E27FC236}">
                <a16:creationId xmlns:a16="http://schemas.microsoft.com/office/drawing/2014/main" id="{DB5DD7AC-BBA8-46B5-DFA1-AF7CA4EA47AB}"/>
              </a:ext>
            </a:extLst>
          </p:cNvPr>
          <p:cNvSpPr txBox="1"/>
          <p:nvPr/>
        </p:nvSpPr>
        <p:spPr>
          <a:xfrm>
            <a:off x="365760" y="4155256"/>
            <a:ext cx="8412480" cy="461665"/>
          </a:xfrm>
          <a:prstGeom prst="rect">
            <a:avLst/>
          </a:prstGeom>
          <a:noFill/>
        </p:spPr>
        <p:txBody>
          <a:bodyPr wrap="square" rtlCol="0">
            <a:spAutoFit/>
          </a:bodyPr>
          <a:lstStyle/>
          <a:p>
            <a:pPr algn="ctr"/>
            <a:r>
              <a:rPr lang="en-IN" sz="1200">
                <a:solidFill>
                  <a:schemeClr val="tx2"/>
                </a:solidFill>
                <a:latin typeface="Open Sans" pitchFamily="2" charset="0"/>
                <a:ea typeface="Open Sans" pitchFamily="2" charset="0"/>
                <a:cs typeface="Open Sans" pitchFamily="2" charset="0"/>
              </a:rPr>
              <a:t>Use them in sequence. Each one narrows the scope and raises the stakes. Stop when the review starts finding things that actually matter.</a:t>
            </a:r>
            <a:endParaRPr lang="en-US" sz="1200">
              <a:solidFill>
                <a:schemeClr val="tx2"/>
              </a:solidFill>
              <a:latin typeface="Open Sans" pitchFamily="2" charset="0"/>
              <a:ea typeface="Open Sans" pitchFamily="2" charset="0"/>
              <a:cs typeface="Open Sans" pitchFamily="2" charset="0"/>
            </a:endParaRPr>
          </a:p>
        </p:txBody>
      </p:sp>
      <p:sp>
        <p:nvSpPr>
          <p:cNvPr id="22" name="Shape 4">
            <a:extLst>
              <a:ext uri="{FF2B5EF4-FFF2-40B4-BE49-F238E27FC236}">
                <a16:creationId xmlns:a16="http://schemas.microsoft.com/office/drawing/2014/main" id="{C22D4A13-6043-B9B9-87BF-39DE8FD2B583}"/>
              </a:ext>
            </a:extLst>
          </p:cNvPr>
          <p:cNvSpPr/>
          <p:nvPr/>
        </p:nvSpPr>
        <p:spPr>
          <a:xfrm>
            <a:off x="576072" y="1747242"/>
            <a:ext cx="2304288" cy="0"/>
          </a:xfrm>
          <a:prstGeom prst="line">
            <a:avLst/>
          </a:prstGeom>
          <a:noFill/>
          <a:ln w="6350">
            <a:solidFill>
              <a:schemeClr val="accent2"/>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3" name="Shape 4">
            <a:extLst>
              <a:ext uri="{FF2B5EF4-FFF2-40B4-BE49-F238E27FC236}">
                <a16:creationId xmlns:a16="http://schemas.microsoft.com/office/drawing/2014/main" id="{9DF33C8B-5052-B344-ACCB-4B9C20B8796E}"/>
              </a:ext>
            </a:extLst>
          </p:cNvPr>
          <p:cNvSpPr/>
          <p:nvPr/>
        </p:nvSpPr>
        <p:spPr>
          <a:xfrm>
            <a:off x="3403939" y="1747242"/>
            <a:ext cx="2304288" cy="0"/>
          </a:xfrm>
          <a:prstGeom prst="line">
            <a:avLst/>
          </a:prstGeom>
          <a:noFill/>
          <a:ln w="6350">
            <a:solidFill>
              <a:schemeClr val="accent1"/>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4">
            <a:extLst>
              <a:ext uri="{FF2B5EF4-FFF2-40B4-BE49-F238E27FC236}">
                <a16:creationId xmlns:a16="http://schemas.microsoft.com/office/drawing/2014/main" id="{B7108415-3DF4-03EE-104F-FA7F7FFA76F1}"/>
              </a:ext>
            </a:extLst>
          </p:cNvPr>
          <p:cNvSpPr/>
          <p:nvPr/>
        </p:nvSpPr>
        <p:spPr>
          <a:xfrm>
            <a:off x="6282605" y="1747242"/>
            <a:ext cx="2304288" cy="0"/>
          </a:xfrm>
          <a:prstGeom prst="line">
            <a:avLst/>
          </a:prstGeom>
          <a:noFill/>
          <a:ln w="6350">
            <a:solidFill>
              <a:srgbClr val="00B05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0140231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69FE51E1-AF8D-40B2-3B27-E2AE946CAD97}"/>
              </a:ext>
            </a:extLst>
          </p:cNvPr>
          <p:cNvSpPr/>
          <p:nvPr/>
        </p:nvSpPr>
        <p:spPr>
          <a:xfrm>
            <a:off x="365760" y="201168"/>
            <a:ext cx="8412480" cy="475488"/>
          </a:xfrm>
          <a:prstGeom prst="rect">
            <a:avLst/>
          </a:prstGeom>
          <a:noFill/>
          <a:ln/>
        </p:spPr>
        <p:txBody>
          <a:bodyPr wrap="square" lIns="0" tIns="0" rIns="0" bIns="0" rtlCol="0" anchor="ctr"/>
          <a:lstStyle/>
          <a:p>
            <a:pPr marL="0" indent="0">
              <a:buNone/>
            </a:pPr>
            <a:r>
              <a:rPr lang="en-US" sz="2800" b="1">
                <a:latin typeface="Open Sans" panose="020B0606030504020204" pitchFamily="34" charset="0"/>
                <a:ea typeface="Open Sans" panose="020B0606030504020204" pitchFamily="34" charset="0"/>
                <a:cs typeface="Open Sans" panose="020B0606030504020204" pitchFamily="34" charset="0"/>
              </a:rPr>
              <a:t>Applying the Review — From Issues to Fixes</a:t>
            </a:r>
          </a:p>
        </p:txBody>
      </p:sp>
      <p:sp>
        <p:nvSpPr>
          <p:cNvPr id="4" name="Text 1">
            <a:extLst>
              <a:ext uri="{FF2B5EF4-FFF2-40B4-BE49-F238E27FC236}">
                <a16:creationId xmlns:a16="http://schemas.microsoft.com/office/drawing/2014/main" id="{4139219A-E26B-555C-8010-8B9A46C7A8A9}"/>
              </a:ext>
            </a:extLst>
          </p:cNvPr>
          <p:cNvSpPr/>
          <p:nvPr/>
        </p:nvSpPr>
        <p:spPr>
          <a:xfrm>
            <a:off x="365760" y="766800"/>
            <a:ext cx="8412480" cy="256032"/>
          </a:xfrm>
          <a:prstGeom prst="rect">
            <a:avLst/>
          </a:prstGeom>
          <a:noFill/>
          <a:ln/>
        </p:spPr>
        <p:txBody>
          <a:bodyPr wrap="square" lIns="0" tIns="0" rIns="0" bIns="0" rtlCol="0" anchor="ctr"/>
          <a:lstStyle/>
          <a:p>
            <a:pPr marL="0" indent="0">
              <a:buNone/>
            </a:pPr>
            <a:r>
              <a:rPr lang="en-US" sz="1400">
                <a:solidFill>
                  <a:schemeClr val="tx2"/>
                </a:solidFill>
                <a:latin typeface="Open Sans" pitchFamily="2" charset="0"/>
                <a:ea typeface="Open Sans" pitchFamily="2" charset="0"/>
                <a:cs typeface="Open Sans" pitchFamily="2" charset="0"/>
              </a:rPr>
              <a:t>Not everything needs to be fixed today. The skill is deciding what does.</a:t>
            </a:r>
          </a:p>
        </p:txBody>
      </p:sp>
      <p:sp>
        <p:nvSpPr>
          <p:cNvPr id="5" name="Shape 2">
            <a:extLst>
              <a:ext uri="{FF2B5EF4-FFF2-40B4-BE49-F238E27FC236}">
                <a16:creationId xmlns:a16="http://schemas.microsoft.com/office/drawing/2014/main" id="{EC0A8A5C-5AA3-3F32-5267-B2460CA909F3}"/>
              </a:ext>
            </a:extLst>
          </p:cNvPr>
          <p:cNvSpPr/>
          <p:nvPr/>
        </p:nvSpPr>
        <p:spPr>
          <a:xfrm>
            <a:off x="365760" y="1315410"/>
            <a:ext cx="2715768" cy="2503053"/>
          </a:xfrm>
          <a:prstGeom prst="roundRect">
            <a:avLst>
              <a:gd name="adj" fmla="val 3367"/>
            </a:avLst>
          </a:prstGeom>
          <a:solidFill>
            <a:schemeClr val="accent5">
              <a:lumMod val="20000"/>
              <a:lumOff val="80000"/>
              <a:alpha val="24000"/>
            </a:schemeClr>
          </a:solidFill>
          <a:ln w="12700">
            <a:solidFill>
              <a:schemeClr val="accent2"/>
            </a:solidFill>
            <a:prstDash val="solid"/>
          </a:ln>
          <a:effectLst>
            <a:outerShdw blurRad="63500" dist="25400" dir="2700000" algn="bl" rotWithShape="0">
              <a:srgbClr val="000000">
                <a:alpha val="9000"/>
              </a:srgbClr>
            </a:outerShdw>
          </a:effectLst>
        </p:spPr>
        <p:txBody>
          <a:bodyPr/>
          <a:lstStyle/>
          <a:p>
            <a:endParaRPr lang="en-US"/>
          </a:p>
        </p:txBody>
      </p:sp>
      <p:sp>
        <p:nvSpPr>
          <p:cNvPr id="6" name="Text 3">
            <a:extLst>
              <a:ext uri="{FF2B5EF4-FFF2-40B4-BE49-F238E27FC236}">
                <a16:creationId xmlns:a16="http://schemas.microsoft.com/office/drawing/2014/main" id="{0410B11A-5C1D-7DD0-C469-23C9EFA8F713}"/>
              </a:ext>
            </a:extLst>
          </p:cNvPr>
          <p:cNvSpPr/>
          <p:nvPr/>
        </p:nvSpPr>
        <p:spPr>
          <a:xfrm>
            <a:off x="493776" y="1479172"/>
            <a:ext cx="2459736" cy="347472"/>
          </a:xfrm>
          <a:prstGeom prst="rect">
            <a:avLst/>
          </a:prstGeom>
          <a:noFill/>
          <a:ln/>
        </p:spPr>
        <p:txBody>
          <a:bodyPr wrap="square" lIns="0" tIns="0" rIns="0" bIns="0" rtlCol="0" anchor="ctr"/>
          <a:lstStyle/>
          <a:p>
            <a:pPr marL="0" indent="0">
              <a:buNone/>
            </a:pPr>
            <a:r>
              <a:rPr lang="en-US" sz="1500" b="1">
                <a:solidFill>
                  <a:schemeClr val="accent2"/>
                </a:solidFill>
                <a:latin typeface="Open Sans" panose="020B0606030504020204" pitchFamily="34" charset="0"/>
                <a:ea typeface="Open Sans" panose="020B0606030504020204" pitchFamily="34" charset="0"/>
                <a:cs typeface="Open Sans" panose="020B0606030504020204" pitchFamily="34" charset="0"/>
              </a:rPr>
              <a:t>CRITICAL / HIGH</a:t>
            </a:r>
          </a:p>
        </p:txBody>
      </p:sp>
      <p:sp>
        <p:nvSpPr>
          <p:cNvPr id="7" name="Text 4">
            <a:extLst>
              <a:ext uri="{FF2B5EF4-FFF2-40B4-BE49-F238E27FC236}">
                <a16:creationId xmlns:a16="http://schemas.microsoft.com/office/drawing/2014/main" id="{57C61603-E9E3-428C-B694-FB1578A03381}"/>
              </a:ext>
            </a:extLst>
          </p:cNvPr>
          <p:cNvSpPr/>
          <p:nvPr/>
        </p:nvSpPr>
        <p:spPr>
          <a:xfrm>
            <a:off x="493776" y="1881508"/>
            <a:ext cx="2459736" cy="347472"/>
          </a:xfrm>
          <a:prstGeom prst="rect">
            <a:avLst/>
          </a:prstGeom>
          <a:noFill/>
          <a:ln/>
        </p:spPr>
        <p:txBody>
          <a:bodyPr wrap="square" lIns="0" tIns="0" rIns="0" bIns="0" rtlCol="0" anchor="ctr"/>
          <a:lstStyle/>
          <a:p>
            <a:pPr marL="0" indent="0">
              <a:buNone/>
            </a:pPr>
            <a:r>
              <a:rPr lang="en-US" sz="1200" b="1">
                <a:latin typeface="Open Sans" panose="020B0606030504020204" pitchFamily="34" charset="0"/>
                <a:ea typeface="Open Sans" panose="020B0606030504020204" pitchFamily="34" charset="0"/>
                <a:cs typeface="Open Sans" panose="020B0606030504020204" pitchFamily="34" charset="0"/>
              </a:rPr>
              <a:t>Fix before committing</a:t>
            </a:r>
          </a:p>
        </p:txBody>
      </p:sp>
      <p:sp>
        <p:nvSpPr>
          <p:cNvPr id="8" name="Text 5">
            <a:extLst>
              <a:ext uri="{FF2B5EF4-FFF2-40B4-BE49-F238E27FC236}">
                <a16:creationId xmlns:a16="http://schemas.microsoft.com/office/drawing/2014/main" id="{EE9C334E-B7E2-F4B1-B84D-9C3F796A193B}"/>
              </a:ext>
            </a:extLst>
          </p:cNvPr>
          <p:cNvSpPr/>
          <p:nvPr/>
        </p:nvSpPr>
        <p:spPr>
          <a:xfrm>
            <a:off x="493776" y="2368375"/>
            <a:ext cx="2359152" cy="1275172"/>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Hardcoded credentials or API keys</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Missing input validation on user-controlled inputs</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Unhandled exceptions that crash the script</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Logic errors that produce wrong output silently</a:t>
            </a:r>
            <a:endParaRPr lang="en-US" sz="11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5EDD0129-67F0-0DD4-9BBB-6074315A00F3}"/>
              </a:ext>
            </a:extLst>
          </p:cNvPr>
          <p:cNvSpPr/>
          <p:nvPr/>
        </p:nvSpPr>
        <p:spPr>
          <a:xfrm>
            <a:off x="493776" y="2281354"/>
            <a:ext cx="2459736" cy="0"/>
          </a:xfrm>
          <a:prstGeom prst="line">
            <a:avLst/>
          </a:prstGeom>
          <a:noFill/>
          <a:ln w="6350">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0" name="Shape 9">
            <a:extLst>
              <a:ext uri="{FF2B5EF4-FFF2-40B4-BE49-F238E27FC236}">
                <a16:creationId xmlns:a16="http://schemas.microsoft.com/office/drawing/2014/main" id="{A99802AB-D3FC-CEE8-1837-7B907978DBB6}"/>
              </a:ext>
            </a:extLst>
          </p:cNvPr>
          <p:cNvSpPr/>
          <p:nvPr/>
        </p:nvSpPr>
        <p:spPr>
          <a:xfrm>
            <a:off x="3218688" y="1315410"/>
            <a:ext cx="2715768" cy="2503053"/>
          </a:xfrm>
          <a:prstGeom prst="roundRect">
            <a:avLst>
              <a:gd name="adj" fmla="val 3367"/>
            </a:avLst>
          </a:prstGeom>
          <a:solidFill>
            <a:srgbClr val="F5F5F5"/>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Text 10">
            <a:extLst>
              <a:ext uri="{FF2B5EF4-FFF2-40B4-BE49-F238E27FC236}">
                <a16:creationId xmlns:a16="http://schemas.microsoft.com/office/drawing/2014/main" id="{540DF0CE-5CFF-7B4C-A925-4C2BBB3B5CDD}"/>
              </a:ext>
            </a:extLst>
          </p:cNvPr>
          <p:cNvSpPr/>
          <p:nvPr/>
        </p:nvSpPr>
        <p:spPr>
          <a:xfrm>
            <a:off x="3346704" y="1479172"/>
            <a:ext cx="2459736" cy="347472"/>
          </a:xfrm>
          <a:prstGeom prst="rect">
            <a:avLst/>
          </a:prstGeom>
          <a:noFill/>
          <a:ln/>
        </p:spPr>
        <p:txBody>
          <a:bodyPr wrap="square" lIns="0" tIns="0" rIns="0" bIns="0" rtlCol="0" anchor="ctr"/>
          <a:lstStyle/>
          <a:p>
            <a:pPr marL="0" indent="0">
              <a:buNone/>
            </a:pPr>
            <a:r>
              <a:rPr lang="en-US" sz="1500" b="1">
                <a:solidFill>
                  <a:srgbClr val="E8972A"/>
                </a:solidFill>
                <a:latin typeface="Open Sans" panose="020B0606030504020204" pitchFamily="34" charset="0"/>
                <a:ea typeface="Open Sans" panose="020B0606030504020204" pitchFamily="34" charset="0"/>
                <a:cs typeface="Open Sans" panose="020B0606030504020204" pitchFamily="34" charset="0"/>
              </a:rPr>
              <a:t>MEDIUM </a:t>
            </a:r>
            <a:endParaRPr lang="en-US" sz="1500" b="1">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1">
            <a:extLst>
              <a:ext uri="{FF2B5EF4-FFF2-40B4-BE49-F238E27FC236}">
                <a16:creationId xmlns:a16="http://schemas.microsoft.com/office/drawing/2014/main" id="{5C45AC28-0CF2-2F30-F2F3-1CA213D40223}"/>
              </a:ext>
            </a:extLst>
          </p:cNvPr>
          <p:cNvSpPr/>
          <p:nvPr/>
        </p:nvSpPr>
        <p:spPr>
          <a:xfrm>
            <a:off x="3346704" y="1881508"/>
            <a:ext cx="2459736" cy="347472"/>
          </a:xfrm>
          <a:prstGeom prst="rect">
            <a:avLst/>
          </a:prstGeom>
          <a:noFill/>
          <a:ln/>
        </p:spPr>
        <p:txBody>
          <a:bodyPr wrap="square" lIns="0" tIns="0" rIns="0" bIns="0" rtlCol="0" anchor="ctr"/>
          <a:lstStyle/>
          <a:p>
            <a:pPr marL="0" indent="0">
              <a:buNone/>
            </a:pPr>
            <a:r>
              <a:rPr lang="en-US" sz="1200" b="1">
                <a:latin typeface="Open Sans" panose="020B0606030504020204" pitchFamily="34" charset="0"/>
                <a:ea typeface="Open Sans" panose="020B0606030504020204" pitchFamily="34" charset="0"/>
                <a:cs typeface="Open Sans" panose="020B0606030504020204" pitchFamily="34" charset="0"/>
              </a:rPr>
              <a:t>Fix before handoff</a:t>
            </a:r>
          </a:p>
        </p:txBody>
      </p:sp>
      <p:sp>
        <p:nvSpPr>
          <p:cNvPr id="13" name="Text 12">
            <a:extLst>
              <a:ext uri="{FF2B5EF4-FFF2-40B4-BE49-F238E27FC236}">
                <a16:creationId xmlns:a16="http://schemas.microsoft.com/office/drawing/2014/main" id="{C88533B3-8DA1-ED8C-BF4E-04FE147373FA}"/>
              </a:ext>
            </a:extLst>
          </p:cNvPr>
          <p:cNvSpPr/>
          <p:nvPr/>
        </p:nvSpPr>
        <p:spPr>
          <a:xfrm>
            <a:off x="3346704" y="2368375"/>
            <a:ext cx="2386584" cy="1275172"/>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Hardcoded configuration values that should be arguments</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Missing retry logic on external calls</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No logging on failure paths</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Functions that are impossible to unit test</a:t>
            </a:r>
            <a:endParaRPr lang="en-US" sz="1100">
              <a:latin typeface="Open Sans" pitchFamily="2" charset="0"/>
              <a:ea typeface="Open Sans" pitchFamily="2" charset="0"/>
              <a:cs typeface="Open Sans" pitchFamily="2" charset="0"/>
            </a:endParaRPr>
          </a:p>
        </p:txBody>
      </p:sp>
      <p:sp>
        <p:nvSpPr>
          <p:cNvPr id="14" name="Shape 13">
            <a:extLst>
              <a:ext uri="{FF2B5EF4-FFF2-40B4-BE49-F238E27FC236}">
                <a16:creationId xmlns:a16="http://schemas.microsoft.com/office/drawing/2014/main" id="{08C16011-C92C-27CC-7776-FF319B32A909}"/>
              </a:ext>
            </a:extLst>
          </p:cNvPr>
          <p:cNvSpPr/>
          <p:nvPr/>
        </p:nvSpPr>
        <p:spPr>
          <a:xfrm>
            <a:off x="3346704" y="2281354"/>
            <a:ext cx="2459736" cy="0"/>
          </a:xfrm>
          <a:prstGeom prst="line">
            <a:avLst/>
          </a:prstGeom>
          <a:noFill/>
          <a:ln w="6350">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5" name="Shape 16">
            <a:extLst>
              <a:ext uri="{FF2B5EF4-FFF2-40B4-BE49-F238E27FC236}">
                <a16:creationId xmlns:a16="http://schemas.microsoft.com/office/drawing/2014/main" id="{28F9E12E-6145-0C69-49A0-0E9D85836043}"/>
              </a:ext>
            </a:extLst>
          </p:cNvPr>
          <p:cNvSpPr/>
          <p:nvPr/>
        </p:nvSpPr>
        <p:spPr>
          <a:xfrm>
            <a:off x="6071616" y="1315410"/>
            <a:ext cx="2715768" cy="2503053"/>
          </a:xfrm>
          <a:prstGeom prst="roundRect">
            <a:avLst>
              <a:gd name="adj" fmla="val 3367"/>
            </a:avLst>
          </a:prstGeom>
          <a:solidFill>
            <a:srgbClr val="F5F5F5"/>
          </a:solidFill>
          <a:ln w="19050">
            <a:solidFill>
              <a:schemeClr val="accent3"/>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6" name="Text 17">
            <a:extLst>
              <a:ext uri="{FF2B5EF4-FFF2-40B4-BE49-F238E27FC236}">
                <a16:creationId xmlns:a16="http://schemas.microsoft.com/office/drawing/2014/main" id="{E994382C-FE8A-DF68-843D-C6B81EAA1C63}"/>
              </a:ext>
            </a:extLst>
          </p:cNvPr>
          <p:cNvSpPr/>
          <p:nvPr/>
        </p:nvSpPr>
        <p:spPr>
          <a:xfrm>
            <a:off x="6199632" y="1479172"/>
            <a:ext cx="2459736" cy="347472"/>
          </a:xfrm>
          <a:prstGeom prst="rect">
            <a:avLst/>
          </a:prstGeom>
          <a:noFill/>
          <a:ln/>
        </p:spPr>
        <p:txBody>
          <a:bodyPr wrap="square" lIns="0" tIns="0" rIns="0" bIns="0" rtlCol="0" anchor="ctr"/>
          <a:lstStyle/>
          <a:p>
            <a:pPr marL="0" indent="0">
              <a:buNone/>
            </a:pPr>
            <a:r>
              <a:rPr lang="en-US" sz="1500" b="1">
                <a:solidFill>
                  <a:schemeClr val="accent3"/>
                </a:solidFill>
                <a:latin typeface="Open Sans" panose="020B0606030504020204" pitchFamily="34" charset="0"/>
                <a:ea typeface="Open Sans" panose="020B0606030504020204" pitchFamily="34" charset="0"/>
                <a:cs typeface="Open Sans" panose="020B0606030504020204" pitchFamily="34" charset="0"/>
              </a:rPr>
              <a:t>LOW</a:t>
            </a:r>
          </a:p>
        </p:txBody>
      </p:sp>
      <p:sp>
        <p:nvSpPr>
          <p:cNvPr id="17" name="Text 18">
            <a:extLst>
              <a:ext uri="{FF2B5EF4-FFF2-40B4-BE49-F238E27FC236}">
                <a16:creationId xmlns:a16="http://schemas.microsoft.com/office/drawing/2014/main" id="{3EDDBAC2-BDBF-099D-AEE6-E4AF2C0037B3}"/>
              </a:ext>
            </a:extLst>
          </p:cNvPr>
          <p:cNvSpPr/>
          <p:nvPr/>
        </p:nvSpPr>
        <p:spPr>
          <a:xfrm>
            <a:off x="6199632" y="1881508"/>
            <a:ext cx="2459736" cy="347472"/>
          </a:xfrm>
          <a:prstGeom prst="rect">
            <a:avLst/>
          </a:prstGeom>
          <a:noFill/>
          <a:ln/>
        </p:spPr>
        <p:txBody>
          <a:bodyPr wrap="square" lIns="0" tIns="0" rIns="0" bIns="0" rtlCol="0" anchor="ctr"/>
          <a:lstStyle/>
          <a:p>
            <a:pPr marL="0" indent="0">
              <a:buNone/>
            </a:pPr>
            <a:r>
              <a:rPr lang="en-US" sz="1200" b="1">
                <a:latin typeface="Open Sans" panose="020B0606030504020204" pitchFamily="34" charset="0"/>
                <a:ea typeface="Open Sans" panose="020B0606030504020204" pitchFamily="34" charset="0"/>
                <a:cs typeface="Open Sans" panose="020B0606030504020204" pitchFamily="34" charset="0"/>
              </a:rPr>
              <a:t>Note in README</a:t>
            </a:r>
          </a:p>
        </p:txBody>
      </p:sp>
      <p:sp>
        <p:nvSpPr>
          <p:cNvPr id="18" name="Text 19">
            <a:extLst>
              <a:ext uri="{FF2B5EF4-FFF2-40B4-BE49-F238E27FC236}">
                <a16:creationId xmlns:a16="http://schemas.microsoft.com/office/drawing/2014/main" id="{28D3AE94-91F9-2CCA-D7FF-D68C39725BE2}"/>
              </a:ext>
            </a:extLst>
          </p:cNvPr>
          <p:cNvSpPr/>
          <p:nvPr/>
        </p:nvSpPr>
        <p:spPr>
          <a:xfrm>
            <a:off x="6199632" y="2368375"/>
            <a:ext cx="2459736" cy="1275172"/>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Variable naming</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Missing docstrings</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Code style</a:t>
            </a:r>
          </a:p>
          <a:p>
            <a:pPr marL="171450" indent="-171450">
              <a:buFont typeface="Arial" panose="020B0604020202020204" pitchFamily="34" charset="0"/>
              <a:buChar char="•"/>
            </a:pPr>
            <a:r>
              <a:rPr lang="en-US" sz="1100" i="1">
                <a:solidFill>
                  <a:srgbClr val="757575"/>
                </a:solidFill>
                <a:latin typeface="Open Sans" pitchFamily="2" charset="0"/>
                <a:ea typeface="Open Sans" pitchFamily="2" charset="0"/>
                <a:cs typeface="Open Sans" pitchFamily="2" charset="0"/>
              </a:rPr>
              <a:t>Refactoring opportunities</a:t>
            </a:r>
            <a:endParaRPr lang="en-US" sz="1100">
              <a:latin typeface="Open Sans" pitchFamily="2" charset="0"/>
              <a:ea typeface="Open Sans" pitchFamily="2" charset="0"/>
              <a:cs typeface="Open Sans" pitchFamily="2" charset="0"/>
            </a:endParaRPr>
          </a:p>
        </p:txBody>
      </p:sp>
      <p:sp>
        <p:nvSpPr>
          <p:cNvPr id="19" name="Shape 20">
            <a:extLst>
              <a:ext uri="{FF2B5EF4-FFF2-40B4-BE49-F238E27FC236}">
                <a16:creationId xmlns:a16="http://schemas.microsoft.com/office/drawing/2014/main" id="{0766807C-C1EB-CF3B-7084-DF71BB33134D}"/>
              </a:ext>
            </a:extLst>
          </p:cNvPr>
          <p:cNvSpPr/>
          <p:nvPr/>
        </p:nvSpPr>
        <p:spPr>
          <a:xfrm>
            <a:off x="6199632" y="2281354"/>
            <a:ext cx="2459736" cy="0"/>
          </a:xfrm>
          <a:prstGeom prst="line">
            <a:avLst/>
          </a:prstGeom>
          <a:noFill/>
          <a:ln w="6350">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1209699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7BE9BB65-ED34-4702-0C06-92F0A7041606}"/>
              </a:ext>
            </a:extLst>
          </p:cNvPr>
          <p:cNvSpPr/>
          <p:nvPr/>
        </p:nvSpPr>
        <p:spPr>
          <a:xfrm>
            <a:off x="7516368" y="109728"/>
            <a:ext cx="1152144" cy="347472"/>
          </a:xfrm>
          <a:prstGeom prst="roundRect">
            <a:avLst>
              <a:gd name="adj" fmla="val 13158"/>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C5AA0831-A3D3-DF04-6127-0B06E42D76C4}"/>
              </a:ext>
            </a:extLst>
          </p:cNvPr>
          <p:cNvSpPr/>
          <p:nvPr/>
        </p:nvSpPr>
        <p:spPr>
          <a:xfrm>
            <a:off x="7516368" y="109728"/>
            <a:ext cx="1152144" cy="347472"/>
          </a:xfrm>
          <a:prstGeom prst="rect">
            <a:avLst/>
          </a:prstGeom>
          <a:noFill/>
          <a:ln/>
        </p:spPr>
        <p:txBody>
          <a:bodyPr wrap="square" lIns="0" tIns="0" rIns="0" bIns="0" rtlCol="0" anchor="ctr"/>
          <a:lstStyle/>
          <a:p>
            <a:pPr marL="0" indent="0" algn="ctr">
              <a:buNone/>
            </a:pPr>
            <a:r>
              <a:rPr lang="en-US" sz="850" b="1">
                <a:solidFill>
                  <a:srgbClr val="FFFFFF"/>
                </a:solidFill>
                <a:latin typeface="Open Sans Extrabold" pitchFamily="2" charset="0"/>
                <a:ea typeface="Open Sans Extrabold" pitchFamily="2" charset="0"/>
                <a:cs typeface="Open Sans Extrabold" pitchFamily="2" charset="0"/>
              </a:rPr>
              <a:t>HANDS-ON LAB</a:t>
            </a:r>
            <a:endParaRPr lang="en-US" sz="850">
              <a:latin typeface="Open Sans" pitchFamily="2" charset="0"/>
              <a:ea typeface="Open Sans" pitchFamily="2" charset="0"/>
              <a:cs typeface="Open Sans" pitchFamily="2" charset="0"/>
            </a:endParaRPr>
          </a:p>
        </p:txBody>
      </p:sp>
      <p:sp>
        <p:nvSpPr>
          <p:cNvPr id="5" name="Text 2">
            <a:extLst>
              <a:ext uri="{FF2B5EF4-FFF2-40B4-BE49-F238E27FC236}">
                <a16:creationId xmlns:a16="http://schemas.microsoft.com/office/drawing/2014/main" id="{2FDE2676-BEDA-FBF0-BD6B-A7DD7BD052FE}"/>
              </a:ext>
            </a:extLst>
          </p:cNvPr>
          <p:cNvSpPr/>
          <p:nvPr/>
        </p:nvSpPr>
        <p:spPr>
          <a:xfrm>
            <a:off x="365760" y="201168"/>
            <a:ext cx="6766560" cy="475488"/>
          </a:xfrm>
          <a:prstGeom prst="rect">
            <a:avLst/>
          </a:prstGeom>
          <a:noFill/>
          <a:ln/>
        </p:spPr>
        <p:txBody>
          <a:bodyPr wrap="square" lIns="0" tIns="0" rIns="0" bIns="0" rtlCol="0" anchor="ctr"/>
          <a:lstStyle/>
          <a:p>
            <a:pPr marL="0" indent="0">
              <a:buNone/>
            </a:pPr>
            <a:r>
              <a:rPr lang="en-US" sz="2600" b="1">
                <a:latin typeface="Open Sans" panose="020B0606030504020204" pitchFamily="34" charset="0"/>
                <a:ea typeface="Open Sans" panose="020B0606030504020204" pitchFamily="34" charset="0"/>
                <a:cs typeface="Open Sans" panose="020B0606030504020204" pitchFamily="34" charset="0"/>
              </a:rPr>
              <a:t>Self-Review Sprint — Your DischargeFlow PoC</a:t>
            </a:r>
          </a:p>
        </p:txBody>
      </p:sp>
      <p:sp>
        <p:nvSpPr>
          <p:cNvPr id="6" name="Text 3">
            <a:extLst>
              <a:ext uri="{FF2B5EF4-FFF2-40B4-BE49-F238E27FC236}">
                <a16:creationId xmlns:a16="http://schemas.microsoft.com/office/drawing/2014/main" id="{00C87609-7FE8-CB2E-551B-91C0F754D8E5}"/>
              </a:ext>
            </a:extLst>
          </p:cNvPr>
          <p:cNvSpPr/>
          <p:nvPr/>
        </p:nvSpPr>
        <p:spPr>
          <a:xfrm>
            <a:off x="365759" y="639949"/>
            <a:ext cx="8515773" cy="256032"/>
          </a:xfrm>
          <a:prstGeom prst="rect">
            <a:avLst/>
          </a:prstGeom>
          <a:noFill/>
          <a:ln/>
        </p:spPr>
        <p:txBody>
          <a:bodyPr wrap="square" lIns="0" tIns="0" rIns="0" bIns="0" rtlCol="0" anchor="ctr"/>
          <a:lstStyle/>
          <a:p>
            <a:pPr marL="0" indent="0">
              <a:buNone/>
            </a:pPr>
            <a:r>
              <a:rPr lang="en-US" sz="1400">
                <a:solidFill>
                  <a:srgbClr val="757575"/>
                </a:solidFill>
                <a:latin typeface="Open Sans" pitchFamily="2" charset="0"/>
                <a:ea typeface="Open Sans" pitchFamily="2" charset="0"/>
                <a:cs typeface="Open Sans" pitchFamily="2" charset="0"/>
              </a:rPr>
              <a:t>Run the review prompt on the PoC you built. Fix the top issues. Re-run the review. Make it trustworthy.</a:t>
            </a:r>
            <a:endParaRPr lang="en-US" sz="1400">
              <a:latin typeface="Open Sans" pitchFamily="2" charset="0"/>
              <a:ea typeface="Open Sans" pitchFamily="2" charset="0"/>
              <a:cs typeface="Open Sans" pitchFamily="2" charset="0"/>
            </a:endParaRPr>
          </a:p>
        </p:txBody>
      </p:sp>
      <p:sp>
        <p:nvSpPr>
          <p:cNvPr id="32" name="Shape 6">
            <a:extLst>
              <a:ext uri="{FF2B5EF4-FFF2-40B4-BE49-F238E27FC236}">
                <a16:creationId xmlns:a16="http://schemas.microsoft.com/office/drawing/2014/main" id="{A719AE49-19B9-E3A7-D663-3FD41ADB8C5E}"/>
              </a:ext>
            </a:extLst>
          </p:cNvPr>
          <p:cNvSpPr/>
          <p:nvPr/>
        </p:nvSpPr>
        <p:spPr>
          <a:xfrm>
            <a:off x="411480" y="914269"/>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3" name="Shape 7">
            <a:extLst>
              <a:ext uri="{FF2B5EF4-FFF2-40B4-BE49-F238E27FC236}">
                <a16:creationId xmlns:a16="http://schemas.microsoft.com/office/drawing/2014/main" id="{A12B3775-39F3-6B5C-753B-713C1CAE5FFF}"/>
              </a:ext>
            </a:extLst>
          </p:cNvPr>
          <p:cNvSpPr/>
          <p:nvPr/>
        </p:nvSpPr>
        <p:spPr>
          <a:xfrm>
            <a:off x="566928" y="1042285"/>
            <a:ext cx="402336" cy="402336"/>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4" name="Text 8">
            <a:extLst>
              <a:ext uri="{FF2B5EF4-FFF2-40B4-BE49-F238E27FC236}">
                <a16:creationId xmlns:a16="http://schemas.microsoft.com/office/drawing/2014/main" id="{8B80DA61-6DAF-49DC-01DC-47CF8B26FCD8}"/>
              </a:ext>
            </a:extLst>
          </p:cNvPr>
          <p:cNvSpPr/>
          <p:nvPr/>
        </p:nvSpPr>
        <p:spPr>
          <a:xfrm>
            <a:off x="566928" y="1042285"/>
            <a:ext cx="402336" cy="402336"/>
          </a:xfrm>
          <a:prstGeom prst="rect">
            <a:avLst/>
          </a:prstGeom>
          <a:noFill/>
          <a:ln/>
        </p:spPr>
        <p:txBody>
          <a:bodyPr wrap="square" lIns="0" tIns="0" rIns="0" bIns="0" rtlCol="0" anchor="ctr"/>
          <a:lstStyle/>
          <a:p>
            <a:pPr marL="0" indent="0" algn="ctr">
              <a:buNone/>
            </a:pP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01</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9">
            <a:extLst>
              <a:ext uri="{FF2B5EF4-FFF2-40B4-BE49-F238E27FC236}">
                <a16:creationId xmlns:a16="http://schemas.microsoft.com/office/drawing/2014/main" id="{431AC9DB-644C-4238-8AAF-96CF2963B5F5}"/>
              </a:ext>
            </a:extLst>
          </p:cNvPr>
          <p:cNvSpPr/>
          <p:nvPr/>
        </p:nvSpPr>
        <p:spPr>
          <a:xfrm>
            <a:off x="1115567" y="987421"/>
            <a:ext cx="3066965" cy="256032"/>
          </a:xfrm>
          <a:prstGeom prst="rect">
            <a:avLst/>
          </a:prstGeom>
          <a:noFill/>
          <a:ln/>
        </p:spPr>
        <p:txBody>
          <a:bodyPr wrap="square" lIns="0" tIns="0" rIns="0" bIns="0" rtlCol="0" anchor="ctr"/>
          <a:lstStyle/>
          <a:p>
            <a:r>
              <a:rPr lang="en-US" sz="1200" b="1">
                <a:latin typeface="Open Sans" panose="020B0606030504020204" pitchFamily="34" charset="0"/>
                <a:ea typeface="Open Sans" panose="020B0606030504020204" pitchFamily="34" charset="0"/>
                <a:cs typeface="Open Sans" panose="020B0606030504020204" pitchFamily="34" charset="0"/>
              </a:rPr>
              <a:t>Run the review prompt on your PoC</a:t>
            </a:r>
          </a:p>
        </p:txBody>
      </p:sp>
      <p:sp>
        <p:nvSpPr>
          <p:cNvPr id="36" name="Text 10">
            <a:extLst>
              <a:ext uri="{FF2B5EF4-FFF2-40B4-BE49-F238E27FC236}">
                <a16:creationId xmlns:a16="http://schemas.microsoft.com/office/drawing/2014/main" id="{E99927B6-925C-7FAA-1979-602D22F76981}"/>
              </a:ext>
            </a:extLst>
          </p:cNvPr>
          <p:cNvSpPr/>
          <p:nvPr/>
        </p:nvSpPr>
        <p:spPr>
          <a:xfrm>
            <a:off x="1115568" y="1261741"/>
            <a:ext cx="7406640" cy="256032"/>
          </a:xfrm>
          <a:prstGeom prst="rect">
            <a:avLst/>
          </a:prstGeom>
          <a:noFill/>
          <a:ln/>
        </p:spPr>
        <p:txBody>
          <a:bodyPr wrap="square" lIns="0" tIns="0" rIns="0" bIns="0" rtlCol="0" anchor="t"/>
          <a:lstStyle/>
          <a:p>
            <a:r>
              <a:rPr lang="en-US" sz="1000">
                <a:solidFill>
                  <a:srgbClr val="757575"/>
                </a:solidFill>
                <a:latin typeface="Open Sans" pitchFamily="2" charset="0"/>
                <a:ea typeface="Open Sans" pitchFamily="2" charset="0"/>
                <a:cs typeface="Open Sans" pitchFamily="2" charset="0"/>
              </a:rPr>
              <a:t>$ </a:t>
            </a:r>
            <a:r>
              <a:rPr lang="en-US" sz="1000" err="1">
                <a:solidFill>
                  <a:srgbClr val="757575"/>
                </a:solidFill>
                <a:latin typeface="Open Sans" pitchFamily="2" charset="0"/>
                <a:ea typeface="Open Sans" pitchFamily="2" charset="0"/>
                <a:cs typeface="Open Sans" pitchFamily="2" charset="0"/>
              </a:rPr>
              <a:t>claude</a:t>
            </a:r>
            <a:r>
              <a:rPr lang="en-US" sz="1000">
                <a:solidFill>
                  <a:srgbClr val="757575"/>
                </a:solidFill>
                <a:latin typeface="Open Sans" pitchFamily="2" charset="0"/>
                <a:ea typeface="Open Sans" pitchFamily="2" charset="0"/>
                <a:cs typeface="Open Sans" pitchFamily="2" charset="0"/>
              </a:rPr>
              <a:t> "Review this code as a senior engineer preparing it for a production handoff. List every issue, ranked by severity."</a:t>
            </a:r>
            <a:endParaRPr lang="en-US" sz="1000">
              <a:latin typeface="Open Sans" pitchFamily="2" charset="0"/>
              <a:ea typeface="Open Sans" pitchFamily="2" charset="0"/>
              <a:cs typeface="Open Sans" pitchFamily="2" charset="0"/>
            </a:endParaRPr>
          </a:p>
        </p:txBody>
      </p:sp>
      <p:sp>
        <p:nvSpPr>
          <p:cNvPr id="37" name="Shape 11">
            <a:extLst>
              <a:ext uri="{FF2B5EF4-FFF2-40B4-BE49-F238E27FC236}">
                <a16:creationId xmlns:a16="http://schemas.microsoft.com/office/drawing/2014/main" id="{EBFAE0E0-4ED3-0B6C-C4CE-DD45415AAD92}"/>
              </a:ext>
            </a:extLst>
          </p:cNvPr>
          <p:cNvSpPr/>
          <p:nvPr/>
        </p:nvSpPr>
        <p:spPr>
          <a:xfrm>
            <a:off x="1033272" y="987421"/>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8" name="Shape 12">
            <a:extLst>
              <a:ext uri="{FF2B5EF4-FFF2-40B4-BE49-F238E27FC236}">
                <a16:creationId xmlns:a16="http://schemas.microsoft.com/office/drawing/2014/main" id="{F7122009-9FCB-52A6-CCDE-3A600594D66E}"/>
              </a:ext>
            </a:extLst>
          </p:cNvPr>
          <p:cNvSpPr/>
          <p:nvPr/>
        </p:nvSpPr>
        <p:spPr>
          <a:xfrm>
            <a:off x="411480" y="1633537"/>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9" name="Shape 13">
            <a:extLst>
              <a:ext uri="{FF2B5EF4-FFF2-40B4-BE49-F238E27FC236}">
                <a16:creationId xmlns:a16="http://schemas.microsoft.com/office/drawing/2014/main" id="{C57C63AA-C69B-5907-0E5E-507518884FEA}"/>
              </a:ext>
            </a:extLst>
          </p:cNvPr>
          <p:cNvSpPr/>
          <p:nvPr/>
        </p:nvSpPr>
        <p:spPr>
          <a:xfrm>
            <a:off x="566928" y="1761553"/>
            <a:ext cx="402336" cy="402336"/>
          </a:xfrm>
          <a:prstGeom prst="ellipse">
            <a:avLst/>
          </a:prstGeom>
          <a:solidFill>
            <a:schemeClr val="accent1"/>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14">
            <a:extLst>
              <a:ext uri="{FF2B5EF4-FFF2-40B4-BE49-F238E27FC236}">
                <a16:creationId xmlns:a16="http://schemas.microsoft.com/office/drawing/2014/main" id="{4D64B4A2-5BE6-05DB-ADE8-6BBF7368CD65}"/>
              </a:ext>
            </a:extLst>
          </p:cNvPr>
          <p:cNvSpPr/>
          <p:nvPr/>
        </p:nvSpPr>
        <p:spPr>
          <a:xfrm>
            <a:off x="566928" y="1761553"/>
            <a:ext cx="402336" cy="402336"/>
          </a:xfrm>
          <a:prstGeom prst="rect">
            <a:avLst/>
          </a:prstGeom>
          <a:noFill/>
          <a:ln/>
        </p:spPr>
        <p:txBody>
          <a:bodyPr wrap="square" lIns="0" tIns="0" rIns="0" bIns="0" rtlCol="0" anchor="ctr"/>
          <a:lstStyle/>
          <a:p>
            <a:pPr marL="0" indent="0" algn="ctr">
              <a:buNone/>
            </a:pPr>
            <a:r>
              <a:rPr lang="en-US" sz="10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02</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41" name="Text 15">
            <a:extLst>
              <a:ext uri="{FF2B5EF4-FFF2-40B4-BE49-F238E27FC236}">
                <a16:creationId xmlns:a16="http://schemas.microsoft.com/office/drawing/2014/main" id="{C17ACC3A-5C08-CD76-D72E-305570830788}"/>
              </a:ext>
            </a:extLst>
          </p:cNvPr>
          <p:cNvSpPr/>
          <p:nvPr/>
        </p:nvSpPr>
        <p:spPr>
          <a:xfrm>
            <a:off x="1115568" y="1706689"/>
            <a:ext cx="2286000" cy="256032"/>
          </a:xfrm>
          <a:prstGeom prst="rect">
            <a:avLst/>
          </a:prstGeom>
          <a:noFill/>
          <a:ln/>
        </p:spPr>
        <p:txBody>
          <a:bodyPr wrap="square" lIns="0" tIns="0" rIns="0" bIns="0" rtlCol="0" anchor="ctr"/>
          <a:lstStyle/>
          <a:p>
            <a:r>
              <a:rPr lang="en-US" sz="1200" b="1">
                <a:latin typeface="Open Sans" panose="020B0606030504020204" pitchFamily="34" charset="0"/>
                <a:ea typeface="Open Sans" panose="020B0606030504020204" pitchFamily="34" charset="0"/>
                <a:cs typeface="Open Sans" panose="020B0606030504020204" pitchFamily="34" charset="0"/>
              </a:rPr>
              <a:t>Classify each finding</a:t>
            </a:r>
          </a:p>
        </p:txBody>
      </p:sp>
      <p:sp>
        <p:nvSpPr>
          <p:cNvPr id="42" name="Text 16">
            <a:extLst>
              <a:ext uri="{FF2B5EF4-FFF2-40B4-BE49-F238E27FC236}">
                <a16:creationId xmlns:a16="http://schemas.microsoft.com/office/drawing/2014/main" id="{C7F4C130-FDB5-2AF9-7297-ACE99A636F71}"/>
              </a:ext>
            </a:extLst>
          </p:cNvPr>
          <p:cNvSpPr/>
          <p:nvPr/>
        </p:nvSpPr>
        <p:spPr>
          <a:xfrm>
            <a:off x="1115568" y="1981009"/>
            <a:ext cx="7406640" cy="256032"/>
          </a:xfrm>
          <a:prstGeom prst="rect">
            <a:avLst/>
          </a:prstGeom>
          <a:noFill/>
          <a:ln/>
        </p:spPr>
        <p:txBody>
          <a:bodyPr wrap="square" lIns="0" tIns="0" rIns="0" bIns="0" rtlCol="0" anchor="t"/>
          <a:lstStyle/>
          <a:p>
            <a:r>
              <a:rPr lang="en-US" sz="1000">
                <a:solidFill>
                  <a:srgbClr val="757575"/>
                </a:solidFill>
                <a:latin typeface="Open Sans" pitchFamily="2" charset="0"/>
                <a:ea typeface="Open Sans" pitchFamily="2" charset="0"/>
                <a:cs typeface="Open Sans" pitchFamily="2" charset="0"/>
              </a:rPr>
              <a:t>Critical / High / Medium / Low </a:t>
            </a:r>
            <a:endParaRPr lang="en-US" sz="1000">
              <a:latin typeface="Open Sans" pitchFamily="2" charset="0"/>
              <a:ea typeface="Open Sans" pitchFamily="2" charset="0"/>
              <a:cs typeface="Open Sans" pitchFamily="2" charset="0"/>
            </a:endParaRPr>
          </a:p>
        </p:txBody>
      </p:sp>
      <p:sp>
        <p:nvSpPr>
          <p:cNvPr id="43" name="Shape 17">
            <a:extLst>
              <a:ext uri="{FF2B5EF4-FFF2-40B4-BE49-F238E27FC236}">
                <a16:creationId xmlns:a16="http://schemas.microsoft.com/office/drawing/2014/main" id="{E919F49C-739E-ED65-6224-28DC3AC4AF73}"/>
              </a:ext>
            </a:extLst>
          </p:cNvPr>
          <p:cNvSpPr/>
          <p:nvPr/>
        </p:nvSpPr>
        <p:spPr>
          <a:xfrm>
            <a:off x="1033272" y="1706689"/>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4" name="Shape 18">
            <a:extLst>
              <a:ext uri="{FF2B5EF4-FFF2-40B4-BE49-F238E27FC236}">
                <a16:creationId xmlns:a16="http://schemas.microsoft.com/office/drawing/2014/main" id="{2920BE98-F030-D357-D0E4-0D37AE41FE0C}"/>
              </a:ext>
            </a:extLst>
          </p:cNvPr>
          <p:cNvSpPr/>
          <p:nvPr/>
        </p:nvSpPr>
        <p:spPr>
          <a:xfrm>
            <a:off x="411480" y="2342287"/>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5" name="Shape 19">
            <a:extLst>
              <a:ext uri="{FF2B5EF4-FFF2-40B4-BE49-F238E27FC236}">
                <a16:creationId xmlns:a16="http://schemas.microsoft.com/office/drawing/2014/main" id="{88F7FC70-9CCE-4AC2-F315-E1F7143C5277}"/>
              </a:ext>
            </a:extLst>
          </p:cNvPr>
          <p:cNvSpPr/>
          <p:nvPr/>
        </p:nvSpPr>
        <p:spPr>
          <a:xfrm>
            <a:off x="566928" y="2470303"/>
            <a:ext cx="402336" cy="402336"/>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6" name="Text 20">
            <a:extLst>
              <a:ext uri="{FF2B5EF4-FFF2-40B4-BE49-F238E27FC236}">
                <a16:creationId xmlns:a16="http://schemas.microsoft.com/office/drawing/2014/main" id="{4658C795-F82B-1055-33EB-5CF5610DE92B}"/>
              </a:ext>
            </a:extLst>
          </p:cNvPr>
          <p:cNvSpPr/>
          <p:nvPr/>
        </p:nvSpPr>
        <p:spPr>
          <a:xfrm>
            <a:off x="566928" y="2470303"/>
            <a:ext cx="402336" cy="402336"/>
          </a:xfrm>
          <a:prstGeom prst="rect">
            <a:avLst/>
          </a:prstGeom>
          <a:noFill/>
          <a:ln/>
        </p:spPr>
        <p:txBody>
          <a:bodyPr wrap="square" lIns="0" tIns="0" rIns="0" bIns="0" rtlCol="0" anchor="ctr"/>
          <a:lstStyle/>
          <a:p>
            <a:pPr marL="0" indent="0" algn="ctr">
              <a:buNone/>
            </a:pP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03</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47" name="Text 21">
            <a:extLst>
              <a:ext uri="{FF2B5EF4-FFF2-40B4-BE49-F238E27FC236}">
                <a16:creationId xmlns:a16="http://schemas.microsoft.com/office/drawing/2014/main" id="{D0A0A4F0-6AD8-C38F-4831-7FDC98085844}"/>
              </a:ext>
            </a:extLst>
          </p:cNvPr>
          <p:cNvSpPr/>
          <p:nvPr/>
        </p:nvSpPr>
        <p:spPr>
          <a:xfrm>
            <a:off x="1115567" y="2415439"/>
            <a:ext cx="2558965" cy="256032"/>
          </a:xfrm>
          <a:prstGeom prst="rect">
            <a:avLst/>
          </a:prstGeom>
          <a:noFill/>
          <a:ln/>
        </p:spPr>
        <p:txBody>
          <a:bodyPr wrap="square" lIns="0" tIns="0" rIns="0" bIns="0" rtlCol="0" anchor="ctr"/>
          <a:lstStyle/>
          <a:p>
            <a:r>
              <a:rPr lang="en-US" sz="1200" b="1">
                <a:latin typeface="Open Sans" panose="020B0606030504020204" pitchFamily="34" charset="0"/>
                <a:ea typeface="Open Sans" panose="020B0606030504020204" pitchFamily="34" charset="0"/>
                <a:cs typeface="Open Sans" panose="020B0606030504020204" pitchFamily="34" charset="0"/>
              </a:rPr>
              <a:t>Fix every Critical and High issue</a:t>
            </a:r>
          </a:p>
        </p:txBody>
      </p:sp>
      <p:sp>
        <p:nvSpPr>
          <p:cNvPr id="48" name="Text 22">
            <a:extLst>
              <a:ext uri="{FF2B5EF4-FFF2-40B4-BE49-F238E27FC236}">
                <a16:creationId xmlns:a16="http://schemas.microsoft.com/office/drawing/2014/main" id="{4FE54430-6865-9223-64AA-0F779F1B4BBF}"/>
              </a:ext>
            </a:extLst>
          </p:cNvPr>
          <p:cNvSpPr/>
          <p:nvPr/>
        </p:nvSpPr>
        <p:spPr>
          <a:xfrm>
            <a:off x="1115568" y="2689759"/>
            <a:ext cx="7406640" cy="256032"/>
          </a:xfrm>
          <a:prstGeom prst="rect">
            <a:avLst/>
          </a:prstGeom>
          <a:noFill/>
          <a:ln/>
        </p:spPr>
        <p:txBody>
          <a:bodyPr wrap="square" lIns="0" tIns="0" rIns="0" bIns="0" rtlCol="0" anchor="t"/>
          <a:lstStyle/>
          <a:p>
            <a:r>
              <a:rPr lang="en-US" sz="1000">
                <a:solidFill>
                  <a:srgbClr val="757575"/>
                </a:solidFill>
                <a:latin typeface="Open Sans" pitchFamily="2" charset="0"/>
                <a:ea typeface="Open Sans" pitchFamily="2" charset="0"/>
                <a:cs typeface="Open Sans" pitchFamily="2" charset="0"/>
              </a:rPr>
              <a:t>One fix at a time. Re-run the code after each fix to confirm nothing else broke.</a:t>
            </a:r>
            <a:endParaRPr lang="en-US" sz="1000">
              <a:latin typeface="Open Sans" pitchFamily="2" charset="0"/>
              <a:ea typeface="Open Sans" pitchFamily="2" charset="0"/>
              <a:cs typeface="Open Sans" pitchFamily="2" charset="0"/>
            </a:endParaRPr>
          </a:p>
        </p:txBody>
      </p:sp>
      <p:sp>
        <p:nvSpPr>
          <p:cNvPr id="49" name="Shape 23">
            <a:extLst>
              <a:ext uri="{FF2B5EF4-FFF2-40B4-BE49-F238E27FC236}">
                <a16:creationId xmlns:a16="http://schemas.microsoft.com/office/drawing/2014/main" id="{E55B9475-B934-C8D9-E916-422278945635}"/>
              </a:ext>
            </a:extLst>
          </p:cNvPr>
          <p:cNvSpPr/>
          <p:nvPr/>
        </p:nvSpPr>
        <p:spPr>
          <a:xfrm>
            <a:off x="1033272" y="2415439"/>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0" name="Shape 24">
            <a:extLst>
              <a:ext uri="{FF2B5EF4-FFF2-40B4-BE49-F238E27FC236}">
                <a16:creationId xmlns:a16="http://schemas.microsoft.com/office/drawing/2014/main" id="{7FCF9816-D20B-08B7-98DA-D50EE3C2854C}"/>
              </a:ext>
            </a:extLst>
          </p:cNvPr>
          <p:cNvSpPr/>
          <p:nvPr/>
        </p:nvSpPr>
        <p:spPr>
          <a:xfrm>
            <a:off x="411480" y="3073807"/>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1" name="Shape 25">
            <a:extLst>
              <a:ext uri="{FF2B5EF4-FFF2-40B4-BE49-F238E27FC236}">
                <a16:creationId xmlns:a16="http://schemas.microsoft.com/office/drawing/2014/main" id="{5A985F61-C1F1-DD6C-FF97-239308D603C3}"/>
              </a:ext>
            </a:extLst>
          </p:cNvPr>
          <p:cNvSpPr/>
          <p:nvPr/>
        </p:nvSpPr>
        <p:spPr>
          <a:xfrm>
            <a:off x="566928" y="3201823"/>
            <a:ext cx="402336" cy="402336"/>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26">
            <a:extLst>
              <a:ext uri="{FF2B5EF4-FFF2-40B4-BE49-F238E27FC236}">
                <a16:creationId xmlns:a16="http://schemas.microsoft.com/office/drawing/2014/main" id="{7382C569-B44F-529E-F9BC-5324057CF2D6}"/>
              </a:ext>
            </a:extLst>
          </p:cNvPr>
          <p:cNvSpPr/>
          <p:nvPr/>
        </p:nvSpPr>
        <p:spPr>
          <a:xfrm>
            <a:off x="566928" y="3201823"/>
            <a:ext cx="402336" cy="402336"/>
          </a:xfrm>
          <a:prstGeom prst="rect">
            <a:avLst/>
          </a:prstGeom>
          <a:noFill/>
          <a:ln/>
        </p:spPr>
        <p:txBody>
          <a:bodyPr wrap="square" lIns="0" tIns="0" rIns="0" bIns="0" rtlCol="0" anchor="ctr"/>
          <a:lstStyle/>
          <a:p>
            <a:pPr marL="0" indent="0" algn="ctr">
              <a:buNone/>
            </a:pP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04</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53" name="Text 27">
            <a:extLst>
              <a:ext uri="{FF2B5EF4-FFF2-40B4-BE49-F238E27FC236}">
                <a16:creationId xmlns:a16="http://schemas.microsoft.com/office/drawing/2014/main" id="{CCA8A4BD-7F59-3E3C-E626-7D6B727C3D24}"/>
              </a:ext>
            </a:extLst>
          </p:cNvPr>
          <p:cNvSpPr/>
          <p:nvPr/>
        </p:nvSpPr>
        <p:spPr>
          <a:xfrm>
            <a:off x="1115568" y="3146959"/>
            <a:ext cx="2286000" cy="256032"/>
          </a:xfrm>
          <a:prstGeom prst="rect">
            <a:avLst/>
          </a:prstGeom>
          <a:noFill/>
          <a:ln/>
        </p:spPr>
        <p:txBody>
          <a:bodyPr wrap="square" lIns="0" tIns="0" rIns="0" bIns="0" rtlCol="0" anchor="ctr"/>
          <a:lstStyle/>
          <a:p>
            <a:r>
              <a:rPr lang="en-US" sz="1200" b="1">
                <a:latin typeface="Open Sans" panose="020B0606030504020204" pitchFamily="34" charset="0"/>
                <a:ea typeface="Open Sans" panose="020B0606030504020204" pitchFamily="34" charset="0"/>
                <a:cs typeface="Open Sans" panose="020B0606030504020204" pitchFamily="34" charset="0"/>
              </a:rPr>
              <a:t>Re-run the review prompt</a:t>
            </a:r>
          </a:p>
        </p:txBody>
      </p:sp>
      <p:sp>
        <p:nvSpPr>
          <p:cNvPr id="54" name="Text 28">
            <a:extLst>
              <a:ext uri="{FF2B5EF4-FFF2-40B4-BE49-F238E27FC236}">
                <a16:creationId xmlns:a16="http://schemas.microsoft.com/office/drawing/2014/main" id="{29B87CFB-989B-5A34-8B5C-328B0D200479}"/>
              </a:ext>
            </a:extLst>
          </p:cNvPr>
          <p:cNvSpPr/>
          <p:nvPr/>
        </p:nvSpPr>
        <p:spPr>
          <a:xfrm>
            <a:off x="1115568" y="3421279"/>
            <a:ext cx="7406640" cy="256032"/>
          </a:xfrm>
          <a:prstGeom prst="rect">
            <a:avLst/>
          </a:prstGeom>
          <a:noFill/>
          <a:ln/>
        </p:spPr>
        <p:txBody>
          <a:bodyPr wrap="square" lIns="0" tIns="0" rIns="0" bIns="0" rtlCol="0" anchor="t"/>
          <a:lstStyle/>
          <a:p>
            <a:r>
              <a:rPr lang="en-US" sz="1000">
                <a:solidFill>
                  <a:srgbClr val="757575"/>
                </a:solidFill>
                <a:latin typeface="Open Sans" pitchFamily="2" charset="0"/>
                <a:ea typeface="Open Sans" pitchFamily="2" charset="0"/>
                <a:cs typeface="Open Sans" pitchFamily="2" charset="0"/>
              </a:rPr>
              <a:t>$ </a:t>
            </a:r>
            <a:r>
              <a:rPr lang="en-US" sz="1000" err="1">
                <a:solidFill>
                  <a:srgbClr val="757575"/>
                </a:solidFill>
                <a:latin typeface="Open Sans" pitchFamily="2" charset="0"/>
                <a:ea typeface="Open Sans" pitchFamily="2" charset="0"/>
                <a:cs typeface="Open Sans" pitchFamily="2" charset="0"/>
              </a:rPr>
              <a:t>claude</a:t>
            </a:r>
            <a:r>
              <a:rPr lang="en-US" sz="1000">
                <a:solidFill>
                  <a:srgbClr val="757575"/>
                </a:solidFill>
                <a:latin typeface="Open Sans" pitchFamily="2" charset="0"/>
                <a:ea typeface="Open Sans" pitchFamily="2" charset="0"/>
                <a:cs typeface="Open Sans" pitchFamily="2" charset="0"/>
              </a:rPr>
              <a:t> "Review this code again. Did the fixes introduce any new issues?"</a:t>
            </a:r>
            <a:endParaRPr lang="en-US" sz="1000">
              <a:latin typeface="Open Sans" pitchFamily="2" charset="0"/>
              <a:ea typeface="Open Sans" pitchFamily="2" charset="0"/>
              <a:cs typeface="Open Sans" pitchFamily="2" charset="0"/>
            </a:endParaRPr>
          </a:p>
        </p:txBody>
      </p:sp>
      <p:sp>
        <p:nvSpPr>
          <p:cNvPr id="55" name="Shape 29">
            <a:extLst>
              <a:ext uri="{FF2B5EF4-FFF2-40B4-BE49-F238E27FC236}">
                <a16:creationId xmlns:a16="http://schemas.microsoft.com/office/drawing/2014/main" id="{8C4D7E78-6042-E0FB-BC91-E386607F80F8}"/>
              </a:ext>
            </a:extLst>
          </p:cNvPr>
          <p:cNvSpPr/>
          <p:nvPr/>
        </p:nvSpPr>
        <p:spPr>
          <a:xfrm>
            <a:off x="1033272" y="3146959"/>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6" name="Shape 30">
            <a:extLst>
              <a:ext uri="{FF2B5EF4-FFF2-40B4-BE49-F238E27FC236}">
                <a16:creationId xmlns:a16="http://schemas.microsoft.com/office/drawing/2014/main" id="{1F231170-B1A8-25E0-61C6-E1F209325D02}"/>
              </a:ext>
            </a:extLst>
          </p:cNvPr>
          <p:cNvSpPr/>
          <p:nvPr/>
        </p:nvSpPr>
        <p:spPr>
          <a:xfrm>
            <a:off x="411480" y="4526544"/>
            <a:ext cx="8321040" cy="320040"/>
          </a:xfrm>
          <a:prstGeom prst="roundRect">
            <a:avLst>
              <a:gd name="adj" fmla="val 20000"/>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7" name="Text 31">
            <a:extLst>
              <a:ext uri="{FF2B5EF4-FFF2-40B4-BE49-F238E27FC236}">
                <a16:creationId xmlns:a16="http://schemas.microsoft.com/office/drawing/2014/main" id="{248F04E3-D7D6-9CEA-0B36-ADE0261B68CB}"/>
              </a:ext>
            </a:extLst>
          </p:cNvPr>
          <p:cNvSpPr/>
          <p:nvPr/>
        </p:nvSpPr>
        <p:spPr>
          <a:xfrm>
            <a:off x="411480" y="4526544"/>
            <a:ext cx="8321040" cy="320040"/>
          </a:xfrm>
          <a:prstGeom prst="rect">
            <a:avLst/>
          </a:prstGeom>
          <a:noFill/>
          <a:ln/>
        </p:spPr>
        <p:txBody>
          <a:bodyPr wrap="square" lIns="0" tIns="0" rIns="0" bIns="0" rtlCol="0" anchor="ctr"/>
          <a:lstStyle/>
          <a:p>
            <a:pPr algn="ctr"/>
            <a:r>
              <a:rPr lang="en-US" sz="1000" b="1">
                <a:solidFill>
                  <a:srgbClr val="00B050"/>
                </a:solidFill>
                <a:latin typeface="Open Sans" panose="020B0606030504020204" pitchFamily="34" charset="0"/>
                <a:ea typeface="Open Sans" panose="020B0606030504020204" pitchFamily="34" charset="0"/>
                <a:cs typeface="Open Sans" panose="020B0606030504020204" pitchFamily="34" charset="0"/>
              </a:rPr>
              <a:t>✓ Review run and findings classified · Critical/High issues fixed · Review re-run confirmed · README updated with deferred items</a:t>
            </a:r>
          </a:p>
        </p:txBody>
      </p:sp>
      <p:sp>
        <p:nvSpPr>
          <p:cNvPr id="58" name="Shape 24">
            <a:extLst>
              <a:ext uri="{FF2B5EF4-FFF2-40B4-BE49-F238E27FC236}">
                <a16:creationId xmlns:a16="http://schemas.microsoft.com/office/drawing/2014/main" id="{04D5E657-2D58-2958-3A4A-87F6795EBF4F}"/>
              </a:ext>
            </a:extLst>
          </p:cNvPr>
          <p:cNvSpPr/>
          <p:nvPr/>
        </p:nvSpPr>
        <p:spPr>
          <a:xfrm>
            <a:off x="411480" y="3785007"/>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9" name="Shape 25">
            <a:extLst>
              <a:ext uri="{FF2B5EF4-FFF2-40B4-BE49-F238E27FC236}">
                <a16:creationId xmlns:a16="http://schemas.microsoft.com/office/drawing/2014/main" id="{4E5AB430-F737-68CC-C4B7-C72645D6E2F6}"/>
              </a:ext>
            </a:extLst>
          </p:cNvPr>
          <p:cNvSpPr/>
          <p:nvPr/>
        </p:nvSpPr>
        <p:spPr>
          <a:xfrm>
            <a:off x="566928" y="3913023"/>
            <a:ext cx="402336" cy="402336"/>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0" name="Text 26">
            <a:extLst>
              <a:ext uri="{FF2B5EF4-FFF2-40B4-BE49-F238E27FC236}">
                <a16:creationId xmlns:a16="http://schemas.microsoft.com/office/drawing/2014/main" id="{526F7D7A-88B9-90A8-5D80-59EE6230A6DA}"/>
              </a:ext>
            </a:extLst>
          </p:cNvPr>
          <p:cNvSpPr/>
          <p:nvPr/>
        </p:nvSpPr>
        <p:spPr>
          <a:xfrm>
            <a:off x="566928" y="3913023"/>
            <a:ext cx="402336" cy="402336"/>
          </a:xfrm>
          <a:prstGeom prst="rect">
            <a:avLst/>
          </a:prstGeom>
          <a:noFill/>
          <a:ln/>
        </p:spPr>
        <p:txBody>
          <a:bodyPr wrap="square" lIns="0" tIns="0" rIns="0" bIns="0" rtlCol="0" anchor="ctr"/>
          <a:lstStyle/>
          <a:p>
            <a:pPr marL="0" indent="0" algn="ctr">
              <a:buNone/>
            </a:pP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05</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61" name="Text 27">
            <a:extLst>
              <a:ext uri="{FF2B5EF4-FFF2-40B4-BE49-F238E27FC236}">
                <a16:creationId xmlns:a16="http://schemas.microsoft.com/office/drawing/2014/main" id="{3E5898D8-CD8C-4DB8-AF50-04D7198F28A3}"/>
              </a:ext>
            </a:extLst>
          </p:cNvPr>
          <p:cNvSpPr/>
          <p:nvPr/>
        </p:nvSpPr>
        <p:spPr>
          <a:xfrm>
            <a:off x="1115567" y="3858159"/>
            <a:ext cx="3312499" cy="256032"/>
          </a:xfrm>
          <a:prstGeom prst="rect">
            <a:avLst/>
          </a:prstGeom>
          <a:noFill/>
          <a:ln/>
        </p:spPr>
        <p:txBody>
          <a:bodyPr wrap="square" lIns="0" tIns="0" rIns="0" bIns="0" rtlCol="0" anchor="ctr"/>
          <a:lstStyle/>
          <a:p>
            <a:r>
              <a:rPr lang="en-US" sz="1200" b="1">
                <a:latin typeface="Open Sans" panose="020B0606030504020204" pitchFamily="34" charset="0"/>
                <a:ea typeface="Open Sans" panose="020B0606030504020204" pitchFamily="34" charset="0"/>
                <a:cs typeface="Open Sans" panose="020B0606030504020204" pitchFamily="34" charset="0"/>
              </a:rPr>
              <a:t>Update your README with deferred items</a:t>
            </a:r>
          </a:p>
        </p:txBody>
      </p:sp>
      <p:sp>
        <p:nvSpPr>
          <p:cNvPr id="62" name="Text 28">
            <a:extLst>
              <a:ext uri="{FF2B5EF4-FFF2-40B4-BE49-F238E27FC236}">
                <a16:creationId xmlns:a16="http://schemas.microsoft.com/office/drawing/2014/main" id="{FA4BF5A5-AF49-81C8-FB58-D2A90085C209}"/>
              </a:ext>
            </a:extLst>
          </p:cNvPr>
          <p:cNvSpPr/>
          <p:nvPr/>
        </p:nvSpPr>
        <p:spPr>
          <a:xfrm>
            <a:off x="1115568" y="4132479"/>
            <a:ext cx="7406640" cy="256032"/>
          </a:xfrm>
          <a:prstGeom prst="rect">
            <a:avLst/>
          </a:prstGeom>
          <a:noFill/>
          <a:ln/>
        </p:spPr>
        <p:txBody>
          <a:bodyPr wrap="square" lIns="0" tIns="0" rIns="0" bIns="0" rtlCol="0" anchor="t"/>
          <a:lstStyle/>
          <a:p>
            <a:r>
              <a:rPr lang="en-US" sz="1000">
                <a:solidFill>
                  <a:srgbClr val="757575"/>
                </a:solidFill>
                <a:latin typeface="Open Sans" pitchFamily="2" charset="0"/>
                <a:ea typeface="Open Sans" pitchFamily="2" charset="0"/>
                <a:cs typeface="Open Sans" pitchFamily="2" charset="0"/>
              </a:rPr>
              <a:t>Note every Medium issue you are not fixing today. Do not hide them — name them as known limitations.</a:t>
            </a:r>
            <a:endParaRPr lang="en-US" sz="1000">
              <a:latin typeface="Open Sans" pitchFamily="2" charset="0"/>
              <a:ea typeface="Open Sans" pitchFamily="2" charset="0"/>
              <a:cs typeface="Open Sans" pitchFamily="2" charset="0"/>
            </a:endParaRPr>
          </a:p>
        </p:txBody>
      </p:sp>
      <p:sp>
        <p:nvSpPr>
          <p:cNvPr id="63" name="Shape 29">
            <a:extLst>
              <a:ext uri="{FF2B5EF4-FFF2-40B4-BE49-F238E27FC236}">
                <a16:creationId xmlns:a16="http://schemas.microsoft.com/office/drawing/2014/main" id="{5DA0FBCA-6104-A638-468B-4FDE02CA8B62}"/>
              </a:ext>
            </a:extLst>
          </p:cNvPr>
          <p:cNvSpPr/>
          <p:nvPr/>
        </p:nvSpPr>
        <p:spPr>
          <a:xfrm>
            <a:off x="1033272" y="3858159"/>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36825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a:extLst>
              <a:ext uri="{FF2B5EF4-FFF2-40B4-BE49-F238E27FC236}">
                <a16:creationId xmlns:a16="http://schemas.microsoft.com/office/drawing/2014/main" id="{33A2901F-06B9-50AD-F1B7-E67E887320F4}"/>
              </a:ext>
            </a:extLst>
          </p:cNvPr>
          <p:cNvSpPr/>
          <p:nvPr/>
        </p:nvSpPr>
        <p:spPr>
          <a:xfrm>
            <a:off x="411480" y="530352"/>
            <a:ext cx="8321040" cy="457200"/>
          </a:xfrm>
          <a:prstGeom prst="rect">
            <a:avLst/>
          </a:prstGeom>
          <a:noFill/>
          <a:ln/>
        </p:spPr>
        <p:txBody>
          <a:bodyPr wrap="square" lIns="0" tIns="0" rIns="0" bIns="0" rtlCol="0" anchor="ctr"/>
          <a:lstStyle/>
          <a:p>
            <a:pPr marL="0" indent="0" algn="l">
              <a:buNone/>
            </a:pPr>
            <a:r>
              <a:rPr lang="en-US" sz="2800" b="1">
                <a:latin typeface="Open Sans" panose="020B0606030504020204" pitchFamily="34" charset="0"/>
                <a:ea typeface="Open Sans" panose="020B0606030504020204" pitchFamily="34" charset="0"/>
                <a:cs typeface="Open Sans" panose="020B0606030504020204" pitchFamily="34" charset="0"/>
              </a:rPr>
              <a:t>AI-Assisted Code Review</a:t>
            </a:r>
          </a:p>
        </p:txBody>
      </p:sp>
      <p:sp>
        <p:nvSpPr>
          <p:cNvPr id="6" name="Shape 3">
            <a:extLst>
              <a:ext uri="{FF2B5EF4-FFF2-40B4-BE49-F238E27FC236}">
                <a16:creationId xmlns:a16="http://schemas.microsoft.com/office/drawing/2014/main" id="{7BB84D37-B42E-77E6-C4CE-9730750FDD8B}"/>
              </a:ext>
            </a:extLst>
          </p:cNvPr>
          <p:cNvSpPr/>
          <p:nvPr/>
        </p:nvSpPr>
        <p:spPr>
          <a:xfrm>
            <a:off x="411480" y="1483359"/>
            <a:ext cx="2633472" cy="2852928"/>
          </a:xfrm>
          <a:prstGeom prst="roundRect">
            <a:avLst>
              <a:gd name="adj" fmla="val 3472"/>
            </a:avLst>
          </a:prstGeom>
          <a:solidFill>
            <a:srgbClr val="F7F7F7"/>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7" name="Shape 4">
            <a:extLst>
              <a:ext uri="{FF2B5EF4-FFF2-40B4-BE49-F238E27FC236}">
                <a16:creationId xmlns:a16="http://schemas.microsoft.com/office/drawing/2014/main" id="{5EBE13F4-8425-2FD7-7574-0D2967B266A2}"/>
              </a:ext>
            </a:extLst>
          </p:cNvPr>
          <p:cNvSpPr/>
          <p:nvPr/>
        </p:nvSpPr>
        <p:spPr>
          <a:xfrm>
            <a:off x="411480" y="1069848"/>
            <a:ext cx="2633472" cy="384048"/>
          </a:xfrm>
          <a:prstGeom prst="roundRect">
            <a:avLst>
              <a:gd name="adj" fmla="val 23810"/>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3C07A1D9-2378-E91B-99C5-9A4F794DB915}"/>
              </a:ext>
            </a:extLst>
          </p:cNvPr>
          <p:cNvSpPr/>
          <p:nvPr/>
        </p:nvSpPr>
        <p:spPr>
          <a:xfrm>
            <a:off x="548640" y="1124712"/>
            <a:ext cx="2359152" cy="274320"/>
          </a:xfrm>
          <a:prstGeom prst="rect">
            <a:avLst/>
          </a:prstGeom>
          <a:noFill/>
          <a:ln/>
        </p:spPr>
        <p:txBody>
          <a:bodyPr wrap="square" lIns="0" tIns="0" rIns="0" bIns="0" rtlCol="0" anchor="ctr"/>
          <a:lstStyle/>
          <a:p>
            <a:pPr marL="0" indent="0" algn="ctr">
              <a:buNone/>
            </a:pPr>
            <a:r>
              <a:rPr lang="en-US" sz="1200" b="1" kern="0" spc="100">
                <a:solidFill>
                  <a:srgbClr val="FFFFFF"/>
                </a:solidFill>
                <a:latin typeface="Open Sans" panose="020B0606030504020204" pitchFamily="34" charset="0"/>
                <a:ea typeface="Open Sans" panose="020B0606030504020204" pitchFamily="34" charset="0"/>
                <a:cs typeface="Open Sans" panose="020B0606030504020204" pitchFamily="34" charset="0"/>
              </a:rPr>
              <a:t>THE PROMPT</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7">
            <a:extLst>
              <a:ext uri="{FF2B5EF4-FFF2-40B4-BE49-F238E27FC236}">
                <a16:creationId xmlns:a16="http://schemas.microsoft.com/office/drawing/2014/main" id="{8ECFF242-A6F6-341E-FF18-32838C63ABFB}"/>
              </a:ext>
            </a:extLst>
          </p:cNvPr>
          <p:cNvSpPr/>
          <p:nvPr/>
        </p:nvSpPr>
        <p:spPr>
          <a:xfrm>
            <a:off x="548640" y="1572768"/>
            <a:ext cx="201168" cy="502920"/>
          </a:xfrm>
          <a:prstGeom prst="rect">
            <a:avLst/>
          </a:prstGeom>
          <a:noFill/>
          <a:ln/>
        </p:spPr>
        <p:txBody>
          <a:bodyPr wrap="square" lIns="0" tIns="0" rIns="0" bIns="0" rtlCol="0" anchor="t"/>
          <a:lstStyle/>
          <a:p>
            <a:pPr marL="0" indent="0" algn="l">
              <a:buNone/>
            </a:pPr>
            <a:r>
              <a:rPr lang="en-US" sz="1150" b="1">
                <a:solidFill>
                  <a:schemeClr val="accent2"/>
                </a:solidFill>
                <a:latin typeface="Open Sans Extrabold" pitchFamily="2" charset="0"/>
                <a:ea typeface="Open Sans Extrabold" pitchFamily="2" charset="0"/>
                <a:cs typeface="Open Sans Extrabold" pitchFamily="2" charset="0"/>
              </a:rPr>
              <a:t>✓</a:t>
            </a:r>
            <a:endParaRPr lang="en-US" sz="1150">
              <a:solidFill>
                <a:schemeClr val="accent2"/>
              </a:solidFill>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5FBED18F-F0D9-12BF-FF00-DA677123AB5C}"/>
              </a:ext>
            </a:extLst>
          </p:cNvPr>
          <p:cNvSpPr/>
          <p:nvPr/>
        </p:nvSpPr>
        <p:spPr>
          <a:xfrm>
            <a:off x="758952" y="1572768"/>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Frame Claude as a senior engineer preparing for production handoff</a:t>
            </a:r>
            <a:endParaRPr lang="en-US" sz="115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B84F1C76-C3CD-07CF-8FA2-D890A02C04C0}"/>
              </a:ext>
            </a:extLst>
          </p:cNvPr>
          <p:cNvSpPr/>
          <p:nvPr/>
        </p:nvSpPr>
        <p:spPr>
          <a:xfrm>
            <a:off x="548640" y="2194560"/>
            <a:ext cx="201168" cy="502920"/>
          </a:xfrm>
          <a:prstGeom prst="rect">
            <a:avLst/>
          </a:prstGeom>
          <a:noFill/>
          <a:ln/>
        </p:spPr>
        <p:txBody>
          <a:bodyPr wrap="square" lIns="0" tIns="0" rIns="0" bIns="0" rtlCol="0" anchor="t"/>
          <a:lstStyle/>
          <a:p>
            <a:pPr marL="0" indent="0" algn="l">
              <a:buNone/>
            </a:pPr>
            <a:r>
              <a:rPr lang="en-US" sz="1150" b="1">
                <a:solidFill>
                  <a:schemeClr val="accent2"/>
                </a:solidFill>
                <a:latin typeface="Open Sans Extrabold" pitchFamily="2" charset="0"/>
                <a:ea typeface="Open Sans Extrabold" pitchFamily="2" charset="0"/>
                <a:cs typeface="Open Sans Extrabold" pitchFamily="2" charset="0"/>
              </a:rPr>
              <a:t>✓</a:t>
            </a:r>
            <a:endParaRPr lang="en-US" sz="1150">
              <a:solidFill>
                <a:schemeClr val="accent2"/>
              </a:solidFill>
              <a:latin typeface="Open Sans" pitchFamily="2" charset="0"/>
              <a:ea typeface="Open Sans" pitchFamily="2" charset="0"/>
              <a:cs typeface="Open Sans" pitchFamily="2" charset="0"/>
            </a:endParaRPr>
          </a:p>
        </p:txBody>
      </p:sp>
      <p:sp>
        <p:nvSpPr>
          <p:cNvPr id="13" name="Text 10">
            <a:extLst>
              <a:ext uri="{FF2B5EF4-FFF2-40B4-BE49-F238E27FC236}">
                <a16:creationId xmlns:a16="http://schemas.microsoft.com/office/drawing/2014/main" id="{3937CB19-ADA8-C88B-C402-33702717CF32}"/>
              </a:ext>
            </a:extLst>
          </p:cNvPr>
          <p:cNvSpPr/>
          <p:nvPr/>
        </p:nvSpPr>
        <p:spPr>
          <a:xfrm>
            <a:off x="758952" y="2194560"/>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Ask for every issue, severity-classified: Critical / High / Medium / Low</a:t>
            </a:r>
            <a:endParaRPr lang="en-US" sz="1150">
              <a:latin typeface="Open Sans" pitchFamily="2" charset="0"/>
              <a:ea typeface="Open Sans" pitchFamily="2" charset="0"/>
              <a:cs typeface="Open Sans" pitchFamily="2" charset="0"/>
            </a:endParaRPr>
          </a:p>
        </p:txBody>
      </p:sp>
      <p:sp>
        <p:nvSpPr>
          <p:cNvPr id="14" name="Text 11">
            <a:extLst>
              <a:ext uri="{FF2B5EF4-FFF2-40B4-BE49-F238E27FC236}">
                <a16:creationId xmlns:a16="http://schemas.microsoft.com/office/drawing/2014/main" id="{FF4E437E-2D62-6FBF-223E-D6C890D60481}"/>
              </a:ext>
            </a:extLst>
          </p:cNvPr>
          <p:cNvSpPr/>
          <p:nvPr/>
        </p:nvSpPr>
        <p:spPr>
          <a:xfrm>
            <a:off x="548640" y="2816352"/>
            <a:ext cx="201168" cy="502920"/>
          </a:xfrm>
          <a:prstGeom prst="rect">
            <a:avLst/>
          </a:prstGeom>
          <a:noFill/>
          <a:ln/>
        </p:spPr>
        <p:txBody>
          <a:bodyPr wrap="square" lIns="0" tIns="0" rIns="0" bIns="0" rtlCol="0" anchor="t"/>
          <a:lstStyle/>
          <a:p>
            <a:pPr marL="0" indent="0" algn="l">
              <a:buNone/>
            </a:pPr>
            <a:r>
              <a:rPr lang="en-US" sz="1150" b="1">
                <a:solidFill>
                  <a:schemeClr val="accent2"/>
                </a:solidFill>
                <a:latin typeface="Open Sans Extrabold" pitchFamily="2" charset="0"/>
                <a:ea typeface="Open Sans Extrabold" pitchFamily="2" charset="0"/>
                <a:cs typeface="Open Sans Extrabold" pitchFamily="2" charset="0"/>
              </a:rPr>
              <a:t>✓</a:t>
            </a:r>
            <a:endParaRPr lang="en-US" sz="1150">
              <a:solidFill>
                <a:schemeClr val="accent2"/>
              </a:solidFill>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1A8CF626-BB22-CD2F-7A91-5A72EB3ED022}"/>
              </a:ext>
            </a:extLst>
          </p:cNvPr>
          <p:cNvSpPr/>
          <p:nvPr/>
        </p:nvSpPr>
        <p:spPr>
          <a:xfrm>
            <a:off x="758952" y="2816352"/>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Flag problems only — no improvements, no refactors</a:t>
            </a:r>
            <a:endParaRPr lang="en-US" sz="1150">
              <a:latin typeface="Open Sans" pitchFamily="2" charset="0"/>
              <a:ea typeface="Open Sans" pitchFamily="2" charset="0"/>
              <a:cs typeface="Open Sans" pitchFamily="2" charset="0"/>
            </a:endParaRPr>
          </a:p>
        </p:txBody>
      </p:sp>
      <p:sp>
        <p:nvSpPr>
          <p:cNvPr id="16" name="Shape 13">
            <a:extLst>
              <a:ext uri="{FF2B5EF4-FFF2-40B4-BE49-F238E27FC236}">
                <a16:creationId xmlns:a16="http://schemas.microsoft.com/office/drawing/2014/main" id="{A8E4A346-6479-0B58-945F-9995DEC7E1A9}"/>
              </a:ext>
            </a:extLst>
          </p:cNvPr>
          <p:cNvSpPr/>
          <p:nvPr/>
        </p:nvSpPr>
        <p:spPr>
          <a:xfrm>
            <a:off x="3209544" y="1483359"/>
            <a:ext cx="2633472" cy="2852928"/>
          </a:xfrm>
          <a:prstGeom prst="roundRect">
            <a:avLst>
              <a:gd name="adj" fmla="val 3472"/>
            </a:avLst>
          </a:prstGeom>
          <a:solidFill>
            <a:srgbClr val="F7F7F7"/>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4">
            <a:extLst>
              <a:ext uri="{FF2B5EF4-FFF2-40B4-BE49-F238E27FC236}">
                <a16:creationId xmlns:a16="http://schemas.microsoft.com/office/drawing/2014/main" id="{C2A31266-7CAC-A1CF-3281-3750508E4C4D}"/>
              </a:ext>
            </a:extLst>
          </p:cNvPr>
          <p:cNvSpPr/>
          <p:nvPr/>
        </p:nvSpPr>
        <p:spPr>
          <a:xfrm>
            <a:off x="3209544" y="1069848"/>
            <a:ext cx="2633472" cy="384048"/>
          </a:xfrm>
          <a:prstGeom prst="roundRect">
            <a:avLst>
              <a:gd name="adj" fmla="val 23810"/>
            </a:avLst>
          </a:prstGeom>
          <a:solidFill>
            <a:srgbClr val="00B05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FBBF788B-2B0E-F005-019A-32F020E4F634}"/>
              </a:ext>
            </a:extLst>
          </p:cNvPr>
          <p:cNvSpPr/>
          <p:nvPr/>
        </p:nvSpPr>
        <p:spPr>
          <a:xfrm>
            <a:off x="3346704" y="1124712"/>
            <a:ext cx="2359152" cy="274320"/>
          </a:xfrm>
          <a:prstGeom prst="rect">
            <a:avLst/>
          </a:prstGeom>
          <a:noFill/>
          <a:ln/>
        </p:spPr>
        <p:txBody>
          <a:bodyPr wrap="square" lIns="0" tIns="0" rIns="0" bIns="0" rtlCol="0" anchor="ctr"/>
          <a:lstStyle/>
          <a:p>
            <a:pPr marL="0" indent="0" algn="ctr">
              <a:buNone/>
            </a:pPr>
            <a:r>
              <a:rPr lang="en-US" sz="1200" b="1" kern="0" spc="100">
                <a:solidFill>
                  <a:srgbClr val="FFFFFF"/>
                </a:solidFill>
                <a:latin typeface="Open Sans" panose="020B0606030504020204" pitchFamily="34" charset="0"/>
                <a:ea typeface="Open Sans" panose="020B0606030504020204" pitchFamily="34" charset="0"/>
                <a:cs typeface="Open Sans" panose="020B0606030504020204" pitchFamily="34" charset="0"/>
              </a:rPr>
              <a:t>THE SKILL</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7">
            <a:extLst>
              <a:ext uri="{FF2B5EF4-FFF2-40B4-BE49-F238E27FC236}">
                <a16:creationId xmlns:a16="http://schemas.microsoft.com/office/drawing/2014/main" id="{BAB1669E-FD61-504A-D86E-1CD2CCC7034B}"/>
              </a:ext>
            </a:extLst>
          </p:cNvPr>
          <p:cNvSpPr/>
          <p:nvPr/>
        </p:nvSpPr>
        <p:spPr>
          <a:xfrm>
            <a:off x="3346704" y="1572768"/>
            <a:ext cx="201168" cy="502920"/>
          </a:xfrm>
          <a:prstGeom prst="rect">
            <a:avLst/>
          </a:prstGeom>
          <a:noFill/>
          <a:ln/>
        </p:spPr>
        <p:txBody>
          <a:bodyPr wrap="square" lIns="0" tIns="0" rIns="0" bIns="0" rtlCol="0" anchor="t"/>
          <a:lstStyle/>
          <a:p>
            <a:pPr marL="0" indent="0" algn="l">
              <a:buNone/>
            </a:pPr>
            <a:r>
              <a:rPr lang="en-US" sz="1150" b="1">
                <a:solidFill>
                  <a:srgbClr val="00B050"/>
                </a:solidFill>
                <a:latin typeface="Open Sans Extrabold" pitchFamily="2" charset="0"/>
                <a:ea typeface="Open Sans Extrabold" pitchFamily="2" charset="0"/>
                <a:cs typeface="Open Sans Extrabold" pitchFamily="2" charset="0"/>
              </a:rPr>
              <a:t>✓</a:t>
            </a:r>
            <a:endParaRPr lang="en-US" sz="1150">
              <a:solidFill>
                <a:srgbClr val="00B050"/>
              </a:solidFill>
              <a:latin typeface="Open Sans" pitchFamily="2" charset="0"/>
              <a:ea typeface="Open Sans" pitchFamily="2" charset="0"/>
              <a:cs typeface="Open Sans" pitchFamily="2" charset="0"/>
            </a:endParaRPr>
          </a:p>
        </p:txBody>
      </p:sp>
      <p:sp>
        <p:nvSpPr>
          <p:cNvPr id="21" name="Text 18">
            <a:extLst>
              <a:ext uri="{FF2B5EF4-FFF2-40B4-BE49-F238E27FC236}">
                <a16:creationId xmlns:a16="http://schemas.microsoft.com/office/drawing/2014/main" id="{CDD611C9-A83F-797C-FBF5-66D6A1824E07}"/>
              </a:ext>
            </a:extLst>
          </p:cNvPr>
          <p:cNvSpPr/>
          <p:nvPr/>
        </p:nvSpPr>
        <p:spPr>
          <a:xfrm>
            <a:off x="3557016" y="1572768"/>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The first review is rarely the best — push when it is too gentle</a:t>
            </a:r>
            <a:endParaRPr lang="en-US" sz="1150">
              <a:latin typeface="Open Sans" pitchFamily="2" charset="0"/>
              <a:ea typeface="Open Sans" pitchFamily="2" charset="0"/>
              <a:cs typeface="Open Sans" pitchFamily="2" charset="0"/>
            </a:endParaRPr>
          </a:p>
        </p:txBody>
      </p:sp>
      <p:sp>
        <p:nvSpPr>
          <p:cNvPr id="22" name="Text 19">
            <a:extLst>
              <a:ext uri="{FF2B5EF4-FFF2-40B4-BE49-F238E27FC236}">
                <a16:creationId xmlns:a16="http://schemas.microsoft.com/office/drawing/2014/main" id="{A03C90CF-30CE-BD2E-0359-6E569E8ADCAD}"/>
              </a:ext>
            </a:extLst>
          </p:cNvPr>
          <p:cNvSpPr/>
          <p:nvPr/>
        </p:nvSpPr>
        <p:spPr>
          <a:xfrm>
            <a:off x="3346704" y="2194560"/>
            <a:ext cx="201168" cy="502920"/>
          </a:xfrm>
          <a:prstGeom prst="rect">
            <a:avLst/>
          </a:prstGeom>
          <a:noFill/>
          <a:ln/>
        </p:spPr>
        <p:txBody>
          <a:bodyPr wrap="square" lIns="0" tIns="0" rIns="0" bIns="0" rtlCol="0" anchor="t"/>
          <a:lstStyle/>
          <a:p>
            <a:pPr marL="0" indent="0" algn="l">
              <a:buNone/>
            </a:pPr>
            <a:r>
              <a:rPr lang="en-US" sz="1150" b="1">
                <a:solidFill>
                  <a:srgbClr val="00B050"/>
                </a:solidFill>
                <a:latin typeface="Open Sans Extrabold" pitchFamily="2" charset="0"/>
                <a:ea typeface="Open Sans Extrabold" pitchFamily="2" charset="0"/>
                <a:cs typeface="Open Sans Extrabold" pitchFamily="2" charset="0"/>
              </a:rPr>
              <a:t>✓</a:t>
            </a:r>
            <a:endParaRPr lang="en-US" sz="1150">
              <a:solidFill>
                <a:srgbClr val="00B050"/>
              </a:solidFill>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A9C695F2-653B-7862-6CEE-9CC16A16A30F}"/>
              </a:ext>
            </a:extLst>
          </p:cNvPr>
          <p:cNvSpPr/>
          <p:nvPr/>
        </p:nvSpPr>
        <p:spPr>
          <a:xfrm>
            <a:off x="3557016" y="2194560"/>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Superficial review: 'consider adding' language, all Low severity</a:t>
            </a:r>
            <a:endParaRPr lang="en-US" sz="115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20B036AA-628C-2746-95A8-31DB18A4F06F}"/>
              </a:ext>
            </a:extLst>
          </p:cNvPr>
          <p:cNvSpPr/>
          <p:nvPr/>
        </p:nvSpPr>
        <p:spPr>
          <a:xfrm>
            <a:off x="3346704" y="2816352"/>
            <a:ext cx="201168" cy="502920"/>
          </a:xfrm>
          <a:prstGeom prst="rect">
            <a:avLst/>
          </a:prstGeom>
          <a:noFill/>
          <a:ln/>
        </p:spPr>
        <p:txBody>
          <a:bodyPr wrap="square" lIns="0" tIns="0" rIns="0" bIns="0" rtlCol="0" anchor="t"/>
          <a:lstStyle/>
          <a:p>
            <a:pPr marL="0" indent="0" algn="l">
              <a:buNone/>
            </a:pPr>
            <a:r>
              <a:rPr lang="en-US" sz="1150" b="1">
                <a:solidFill>
                  <a:srgbClr val="00B050"/>
                </a:solidFill>
                <a:latin typeface="Open Sans Extrabold" pitchFamily="2" charset="0"/>
                <a:ea typeface="Open Sans Extrabold" pitchFamily="2" charset="0"/>
                <a:cs typeface="Open Sans Extrabold" pitchFamily="2" charset="0"/>
              </a:rPr>
              <a:t>✓</a:t>
            </a:r>
            <a:endParaRPr lang="en-US" sz="1150">
              <a:solidFill>
                <a:srgbClr val="00B050"/>
              </a:solidFill>
              <a:latin typeface="Open Sans" pitchFamily="2" charset="0"/>
              <a:ea typeface="Open Sans" pitchFamily="2" charset="0"/>
              <a:cs typeface="Open Sans" pitchFamily="2" charset="0"/>
            </a:endParaRPr>
          </a:p>
        </p:txBody>
      </p:sp>
      <p:sp>
        <p:nvSpPr>
          <p:cNvPr id="25" name="Text 22">
            <a:extLst>
              <a:ext uri="{FF2B5EF4-FFF2-40B4-BE49-F238E27FC236}">
                <a16:creationId xmlns:a16="http://schemas.microsoft.com/office/drawing/2014/main" id="{6B780E47-1F89-F3FA-8AAF-8D821505759D}"/>
              </a:ext>
            </a:extLst>
          </p:cNvPr>
          <p:cNvSpPr/>
          <p:nvPr/>
        </p:nvSpPr>
        <p:spPr>
          <a:xfrm>
            <a:off x="3557016" y="2816352"/>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Useful review: specific line, specific consequence, specific severity</a:t>
            </a:r>
            <a:endParaRPr lang="en-US" sz="1150">
              <a:latin typeface="Open Sans" pitchFamily="2" charset="0"/>
              <a:ea typeface="Open Sans" pitchFamily="2" charset="0"/>
              <a:cs typeface="Open Sans" pitchFamily="2" charset="0"/>
            </a:endParaRPr>
          </a:p>
        </p:txBody>
      </p:sp>
      <p:sp>
        <p:nvSpPr>
          <p:cNvPr id="26" name="Text 23">
            <a:extLst>
              <a:ext uri="{FF2B5EF4-FFF2-40B4-BE49-F238E27FC236}">
                <a16:creationId xmlns:a16="http://schemas.microsoft.com/office/drawing/2014/main" id="{7E87EF02-65DF-63C2-042D-43B9883EF4F2}"/>
              </a:ext>
            </a:extLst>
          </p:cNvPr>
          <p:cNvSpPr/>
          <p:nvPr/>
        </p:nvSpPr>
        <p:spPr>
          <a:xfrm>
            <a:off x="3346704" y="3438144"/>
            <a:ext cx="201168" cy="502920"/>
          </a:xfrm>
          <a:prstGeom prst="rect">
            <a:avLst/>
          </a:prstGeom>
          <a:noFill/>
          <a:ln/>
        </p:spPr>
        <p:txBody>
          <a:bodyPr wrap="square" lIns="0" tIns="0" rIns="0" bIns="0" rtlCol="0" anchor="t"/>
          <a:lstStyle/>
          <a:p>
            <a:pPr marL="0" indent="0" algn="l">
              <a:buNone/>
            </a:pPr>
            <a:r>
              <a:rPr lang="en-US" sz="1150" b="1">
                <a:solidFill>
                  <a:srgbClr val="00B050"/>
                </a:solidFill>
                <a:latin typeface="Open Sans Extrabold" pitchFamily="2" charset="0"/>
                <a:ea typeface="Open Sans Extrabold" pitchFamily="2" charset="0"/>
                <a:cs typeface="Open Sans Extrabold" pitchFamily="2" charset="0"/>
              </a:rPr>
              <a:t>✓</a:t>
            </a:r>
            <a:endParaRPr lang="en-US" sz="1150">
              <a:solidFill>
                <a:srgbClr val="00B050"/>
              </a:solidFill>
              <a:latin typeface="Open Sans" pitchFamily="2" charset="0"/>
              <a:ea typeface="Open Sans" pitchFamily="2" charset="0"/>
              <a:cs typeface="Open Sans" pitchFamily="2" charset="0"/>
            </a:endParaRPr>
          </a:p>
        </p:txBody>
      </p:sp>
      <p:sp>
        <p:nvSpPr>
          <p:cNvPr id="27" name="Text 24">
            <a:extLst>
              <a:ext uri="{FF2B5EF4-FFF2-40B4-BE49-F238E27FC236}">
                <a16:creationId xmlns:a16="http://schemas.microsoft.com/office/drawing/2014/main" id="{A98FDBFE-665A-8B24-A915-EC84169D3148}"/>
              </a:ext>
            </a:extLst>
          </p:cNvPr>
          <p:cNvSpPr/>
          <p:nvPr/>
        </p:nvSpPr>
        <p:spPr>
          <a:xfrm>
            <a:off x="3557016" y="3438144"/>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Your job: severity judgement, not style nits</a:t>
            </a:r>
            <a:endParaRPr lang="en-US" sz="1150">
              <a:latin typeface="Open Sans" pitchFamily="2" charset="0"/>
              <a:ea typeface="Open Sans" pitchFamily="2" charset="0"/>
              <a:cs typeface="Open Sans" pitchFamily="2" charset="0"/>
            </a:endParaRPr>
          </a:p>
        </p:txBody>
      </p:sp>
      <p:sp>
        <p:nvSpPr>
          <p:cNvPr id="28" name="Shape 25">
            <a:extLst>
              <a:ext uri="{FF2B5EF4-FFF2-40B4-BE49-F238E27FC236}">
                <a16:creationId xmlns:a16="http://schemas.microsoft.com/office/drawing/2014/main" id="{591F4608-B280-C15D-8F80-4F4809098D29}"/>
              </a:ext>
            </a:extLst>
          </p:cNvPr>
          <p:cNvSpPr/>
          <p:nvPr/>
        </p:nvSpPr>
        <p:spPr>
          <a:xfrm>
            <a:off x="6007608" y="1483359"/>
            <a:ext cx="2633472" cy="2852928"/>
          </a:xfrm>
          <a:prstGeom prst="roundRect">
            <a:avLst>
              <a:gd name="adj" fmla="val 3472"/>
            </a:avLst>
          </a:prstGeom>
          <a:solidFill>
            <a:srgbClr val="F7F7F7"/>
          </a:solidFill>
          <a:ln w="6350">
            <a:solidFill>
              <a:srgbClr val="E0E0E0"/>
            </a:solidFill>
            <a:prstDash val="solid"/>
          </a:ln>
          <a:effectLst>
            <a:outerShdw blurRad="76200" dist="25400" dir="2700000" algn="bl" rotWithShape="0">
              <a:srgbClr val="000000">
                <a:alpha val="10000"/>
              </a:srgbClr>
            </a:outerShdw>
          </a:effectLst>
        </p:spPr>
        <p:txBody>
          <a:bodyPr/>
          <a:lstStyle/>
          <a:p>
            <a:endParaRPr lang="en-US">
              <a:latin typeface="Open Sans" pitchFamily="2" charset="0"/>
              <a:ea typeface="Open Sans" pitchFamily="2" charset="0"/>
              <a:cs typeface="Open Sans" pitchFamily="2" charset="0"/>
            </a:endParaRPr>
          </a:p>
        </p:txBody>
      </p:sp>
      <p:sp>
        <p:nvSpPr>
          <p:cNvPr id="29" name="Shape 26">
            <a:extLst>
              <a:ext uri="{FF2B5EF4-FFF2-40B4-BE49-F238E27FC236}">
                <a16:creationId xmlns:a16="http://schemas.microsoft.com/office/drawing/2014/main" id="{48C8DE57-63CC-2698-E0D9-72FA0A9ECCED}"/>
              </a:ext>
            </a:extLst>
          </p:cNvPr>
          <p:cNvSpPr/>
          <p:nvPr/>
        </p:nvSpPr>
        <p:spPr>
          <a:xfrm>
            <a:off x="6007608" y="1069848"/>
            <a:ext cx="2633472" cy="384048"/>
          </a:xfrm>
          <a:prstGeom prst="roundRect">
            <a:avLst>
              <a:gd name="adj" fmla="val 23810"/>
            </a:avLst>
          </a:prstGeom>
          <a:solidFill>
            <a:schemeClr val="accent3"/>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31" name="Text 28">
            <a:extLst>
              <a:ext uri="{FF2B5EF4-FFF2-40B4-BE49-F238E27FC236}">
                <a16:creationId xmlns:a16="http://schemas.microsoft.com/office/drawing/2014/main" id="{4788873A-D1F0-3891-79D4-497655B39363}"/>
              </a:ext>
            </a:extLst>
          </p:cNvPr>
          <p:cNvSpPr/>
          <p:nvPr/>
        </p:nvSpPr>
        <p:spPr>
          <a:xfrm>
            <a:off x="6144768" y="1124712"/>
            <a:ext cx="2359152" cy="274320"/>
          </a:xfrm>
          <a:prstGeom prst="rect">
            <a:avLst/>
          </a:prstGeom>
          <a:noFill/>
          <a:ln/>
        </p:spPr>
        <p:txBody>
          <a:bodyPr wrap="square" lIns="0" tIns="0" rIns="0" bIns="0" rtlCol="0" anchor="ctr"/>
          <a:lstStyle/>
          <a:p>
            <a:pPr marL="0" indent="0" algn="ctr">
              <a:buNone/>
            </a:pPr>
            <a:r>
              <a:rPr lang="en-US" sz="1200" b="1" kern="0" spc="100">
                <a:solidFill>
                  <a:srgbClr val="FFFFFF"/>
                </a:solidFill>
                <a:latin typeface="Open Sans" panose="020B0606030504020204" pitchFamily="34" charset="0"/>
                <a:ea typeface="Open Sans" panose="020B0606030504020204" pitchFamily="34" charset="0"/>
                <a:cs typeface="Open Sans" panose="020B0606030504020204" pitchFamily="34" charset="0"/>
              </a:rPr>
              <a:t>THE RULE</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32" name="Text 29">
            <a:extLst>
              <a:ext uri="{FF2B5EF4-FFF2-40B4-BE49-F238E27FC236}">
                <a16:creationId xmlns:a16="http://schemas.microsoft.com/office/drawing/2014/main" id="{4836640D-8F88-29A7-C962-F3A21CC8B3A6}"/>
              </a:ext>
            </a:extLst>
          </p:cNvPr>
          <p:cNvSpPr/>
          <p:nvPr/>
        </p:nvSpPr>
        <p:spPr>
          <a:xfrm>
            <a:off x="6144768" y="1572768"/>
            <a:ext cx="201168" cy="502920"/>
          </a:xfrm>
          <a:prstGeom prst="rect">
            <a:avLst/>
          </a:prstGeom>
          <a:noFill/>
          <a:ln/>
        </p:spPr>
        <p:txBody>
          <a:bodyPr wrap="square" lIns="0" tIns="0" rIns="0" bIns="0" rtlCol="0" anchor="t"/>
          <a:lstStyle/>
          <a:p>
            <a:pPr marL="0" indent="0" algn="l">
              <a:buNone/>
            </a:pPr>
            <a:r>
              <a:rPr lang="en-US" sz="1150" b="1">
                <a:solidFill>
                  <a:schemeClr val="accent3"/>
                </a:solidFill>
                <a:latin typeface="Open Sans Extrabold" pitchFamily="2" charset="0"/>
                <a:ea typeface="Open Sans Extrabold" pitchFamily="2" charset="0"/>
                <a:cs typeface="Open Sans Extrabold" pitchFamily="2" charset="0"/>
              </a:rPr>
              <a:t>✓</a:t>
            </a:r>
            <a:endParaRPr lang="en-US" sz="1150">
              <a:solidFill>
                <a:schemeClr val="accent3"/>
              </a:solidFill>
              <a:latin typeface="Open Sans" pitchFamily="2" charset="0"/>
              <a:ea typeface="Open Sans" pitchFamily="2" charset="0"/>
              <a:cs typeface="Open Sans" pitchFamily="2" charset="0"/>
            </a:endParaRPr>
          </a:p>
        </p:txBody>
      </p:sp>
      <p:sp>
        <p:nvSpPr>
          <p:cNvPr id="33" name="Text 30">
            <a:extLst>
              <a:ext uri="{FF2B5EF4-FFF2-40B4-BE49-F238E27FC236}">
                <a16:creationId xmlns:a16="http://schemas.microsoft.com/office/drawing/2014/main" id="{A11DA89F-B7D1-E88E-6298-9EF43F18600E}"/>
              </a:ext>
            </a:extLst>
          </p:cNvPr>
          <p:cNvSpPr/>
          <p:nvPr/>
        </p:nvSpPr>
        <p:spPr>
          <a:xfrm>
            <a:off x="6355080" y="1572768"/>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Critical and High: fix before committing</a:t>
            </a:r>
            <a:endParaRPr lang="en-US" sz="1150">
              <a:latin typeface="Open Sans" pitchFamily="2" charset="0"/>
              <a:ea typeface="Open Sans" pitchFamily="2" charset="0"/>
              <a:cs typeface="Open Sans" pitchFamily="2" charset="0"/>
            </a:endParaRPr>
          </a:p>
        </p:txBody>
      </p:sp>
      <p:sp>
        <p:nvSpPr>
          <p:cNvPr id="34" name="Text 31">
            <a:extLst>
              <a:ext uri="{FF2B5EF4-FFF2-40B4-BE49-F238E27FC236}">
                <a16:creationId xmlns:a16="http://schemas.microsoft.com/office/drawing/2014/main" id="{BD4C9C42-0EB2-DD9D-6DC9-DB030C431810}"/>
              </a:ext>
            </a:extLst>
          </p:cNvPr>
          <p:cNvSpPr/>
          <p:nvPr/>
        </p:nvSpPr>
        <p:spPr>
          <a:xfrm>
            <a:off x="6144768" y="2194560"/>
            <a:ext cx="201168" cy="502920"/>
          </a:xfrm>
          <a:prstGeom prst="rect">
            <a:avLst/>
          </a:prstGeom>
          <a:noFill/>
          <a:ln/>
        </p:spPr>
        <p:txBody>
          <a:bodyPr wrap="square" lIns="0" tIns="0" rIns="0" bIns="0" rtlCol="0" anchor="t"/>
          <a:lstStyle/>
          <a:p>
            <a:pPr marL="0" indent="0" algn="l">
              <a:buNone/>
            </a:pPr>
            <a:r>
              <a:rPr lang="en-US" sz="1150" b="1">
                <a:solidFill>
                  <a:schemeClr val="accent3"/>
                </a:solidFill>
                <a:latin typeface="Open Sans Extrabold" pitchFamily="2" charset="0"/>
                <a:ea typeface="Open Sans Extrabold" pitchFamily="2" charset="0"/>
                <a:cs typeface="Open Sans Extrabold" pitchFamily="2" charset="0"/>
              </a:rPr>
              <a:t>✓</a:t>
            </a:r>
            <a:endParaRPr lang="en-US" sz="1150">
              <a:solidFill>
                <a:schemeClr val="accent3"/>
              </a:solidFill>
              <a:latin typeface="Open Sans" pitchFamily="2" charset="0"/>
              <a:ea typeface="Open Sans" pitchFamily="2" charset="0"/>
              <a:cs typeface="Open Sans" pitchFamily="2" charset="0"/>
            </a:endParaRPr>
          </a:p>
        </p:txBody>
      </p:sp>
      <p:sp>
        <p:nvSpPr>
          <p:cNvPr id="35" name="Text 32">
            <a:extLst>
              <a:ext uri="{FF2B5EF4-FFF2-40B4-BE49-F238E27FC236}">
                <a16:creationId xmlns:a16="http://schemas.microsoft.com/office/drawing/2014/main" id="{E7452F5C-AEE0-F42A-3C91-5A672B748780}"/>
              </a:ext>
            </a:extLst>
          </p:cNvPr>
          <p:cNvSpPr/>
          <p:nvPr/>
        </p:nvSpPr>
        <p:spPr>
          <a:xfrm>
            <a:off x="6355080" y="2194560"/>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Medium: fix before handoff, note in README if deferred</a:t>
            </a:r>
            <a:endParaRPr lang="en-US" sz="1150">
              <a:latin typeface="Open Sans" pitchFamily="2" charset="0"/>
              <a:ea typeface="Open Sans" pitchFamily="2" charset="0"/>
              <a:cs typeface="Open Sans" pitchFamily="2" charset="0"/>
            </a:endParaRPr>
          </a:p>
        </p:txBody>
      </p:sp>
      <p:sp>
        <p:nvSpPr>
          <p:cNvPr id="36" name="Text 33">
            <a:extLst>
              <a:ext uri="{FF2B5EF4-FFF2-40B4-BE49-F238E27FC236}">
                <a16:creationId xmlns:a16="http://schemas.microsoft.com/office/drawing/2014/main" id="{23780A0E-2438-5B69-821F-46F4BBBA67B0}"/>
              </a:ext>
            </a:extLst>
          </p:cNvPr>
          <p:cNvSpPr/>
          <p:nvPr/>
        </p:nvSpPr>
        <p:spPr>
          <a:xfrm>
            <a:off x="6144768" y="2816352"/>
            <a:ext cx="201168" cy="502920"/>
          </a:xfrm>
          <a:prstGeom prst="rect">
            <a:avLst/>
          </a:prstGeom>
          <a:noFill/>
          <a:ln/>
        </p:spPr>
        <p:txBody>
          <a:bodyPr wrap="square" lIns="0" tIns="0" rIns="0" bIns="0" rtlCol="0" anchor="t"/>
          <a:lstStyle/>
          <a:p>
            <a:pPr marL="0" indent="0" algn="l">
              <a:buNone/>
            </a:pPr>
            <a:r>
              <a:rPr lang="en-US" sz="1150" b="1">
                <a:solidFill>
                  <a:schemeClr val="accent3"/>
                </a:solidFill>
                <a:latin typeface="Open Sans Extrabold" pitchFamily="2" charset="0"/>
                <a:ea typeface="Open Sans Extrabold" pitchFamily="2" charset="0"/>
                <a:cs typeface="Open Sans Extrabold" pitchFamily="2" charset="0"/>
              </a:rPr>
              <a:t>✓</a:t>
            </a:r>
            <a:endParaRPr lang="en-US" sz="1150">
              <a:solidFill>
                <a:schemeClr val="accent3"/>
              </a:solidFill>
              <a:latin typeface="Open Sans" pitchFamily="2" charset="0"/>
              <a:ea typeface="Open Sans" pitchFamily="2" charset="0"/>
              <a:cs typeface="Open Sans" pitchFamily="2" charset="0"/>
            </a:endParaRPr>
          </a:p>
        </p:txBody>
      </p:sp>
      <p:sp>
        <p:nvSpPr>
          <p:cNvPr id="37" name="Text 34">
            <a:extLst>
              <a:ext uri="{FF2B5EF4-FFF2-40B4-BE49-F238E27FC236}">
                <a16:creationId xmlns:a16="http://schemas.microsoft.com/office/drawing/2014/main" id="{E0B45916-09A0-6894-E338-CDC481333CD4}"/>
              </a:ext>
            </a:extLst>
          </p:cNvPr>
          <p:cNvSpPr/>
          <p:nvPr/>
        </p:nvSpPr>
        <p:spPr>
          <a:xfrm>
            <a:off x="6355080" y="2816352"/>
            <a:ext cx="2157984" cy="502920"/>
          </a:xfrm>
          <a:prstGeom prst="rect">
            <a:avLst/>
          </a:prstGeom>
          <a:noFill/>
          <a:ln/>
        </p:spPr>
        <p:txBody>
          <a:bodyPr wrap="square" lIns="0" tIns="0" rIns="0" bIns="0" rtlCol="0" anchor="t"/>
          <a:lstStyle/>
          <a:p>
            <a:pPr marL="0" indent="0" algn="l">
              <a:buNone/>
            </a:pPr>
            <a:r>
              <a:rPr lang="en-US" sz="1150">
                <a:solidFill>
                  <a:srgbClr val="2D2D2D"/>
                </a:solidFill>
                <a:latin typeface="Open Sans" pitchFamily="2" charset="0"/>
                <a:ea typeface="Open Sans" pitchFamily="2" charset="0"/>
                <a:cs typeface="Open Sans" pitchFamily="2" charset="0"/>
              </a:rPr>
              <a:t>Low: note in README, do not let them block the handoff</a:t>
            </a:r>
            <a:endParaRPr lang="en-US" sz="1150">
              <a:latin typeface="Open Sans" pitchFamily="2" charset="0"/>
              <a:ea typeface="Open Sans" pitchFamily="2" charset="0"/>
              <a:cs typeface="Open Sans" pitchFamily="2" charset="0"/>
            </a:endParaRPr>
          </a:p>
        </p:txBody>
      </p:sp>
      <p:sp>
        <p:nvSpPr>
          <p:cNvPr id="38" name="Shape 35">
            <a:extLst>
              <a:ext uri="{FF2B5EF4-FFF2-40B4-BE49-F238E27FC236}">
                <a16:creationId xmlns:a16="http://schemas.microsoft.com/office/drawing/2014/main" id="{593BB5B9-9316-BE73-6473-EEDF687A0B0B}"/>
              </a:ext>
            </a:extLst>
          </p:cNvPr>
          <p:cNvSpPr/>
          <p:nvPr/>
        </p:nvSpPr>
        <p:spPr>
          <a:xfrm>
            <a:off x="411480" y="4455159"/>
            <a:ext cx="8321040" cy="347472"/>
          </a:xfrm>
          <a:prstGeom prst="roundRect">
            <a:avLst>
              <a:gd name="adj" fmla="val 21053"/>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9" name="Text 36">
            <a:extLst>
              <a:ext uri="{FF2B5EF4-FFF2-40B4-BE49-F238E27FC236}">
                <a16:creationId xmlns:a16="http://schemas.microsoft.com/office/drawing/2014/main" id="{79E17C8D-06CB-9E59-FC2D-37F7380F6BD7}"/>
              </a:ext>
            </a:extLst>
          </p:cNvPr>
          <p:cNvSpPr/>
          <p:nvPr/>
        </p:nvSpPr>
        <p:spPr>
          <a:xfrm>
            <a:off x="411480" y="4455159"/>
            <a:ext cx="8321040" cy="347472"/>
          </a:xfrm>
          <a:prstGeom prst="rect">
            <a:avLst/>
          </a:prstGeom>
          <a:noFill/>
          <a:ln/>
        </p:spPr>
        <p:txBody>
          <a:bodyPr wrap="square" lIns="0" tIns="0" rIns="0" bIns="0" rtlCol="0" anchor="ctr"/>
          <a:lstStyle/>
          <a:p>
            <a:pPr marL="0" indent="0" algn="ctr">
              <a:buNone/>
            </a:pPr>
            <a:r>
              <a:rPr lang="en-US" sz="1200" b="1">
                <a:latin typeface="Open Sans" panose="020B0606030504020204" pitchFamily="34" charset="0"/>
                <a:ea typeface="Open Sans" panose="020B0606030504020204" pitchFamily="34" charset="0"/>
                <a:cs typeface="Open Sans" panose="020B0606030504020204" pitchFamily="34" charset="0"/>
              </a:rPr>
              <a:t>Part 3 commits this reviewed PoC to Git and generates the handoff document.</a:t>
            </a:r>
          </a:p>
        </p:txBody>
      </p:sp>
      <p:sp>
        <p:nvSpPr>
          <p:cNvPr id="41" name="Shape 0">
            <a:extLst>
              <a:ext uri="{FF2B5EF4-FFF2-40B4-BE49-F238E27FC236}">
                <a16:creationId xmlns:a16="http://schemas.microsoft.com/office/drawing/2014/main" id="{9EC20493-856B-73D7-53B7-E0D1BAE109C7}"/>
              </a:ext>
            </a:extLst>
          </p:cNvPr>
          <p:cNvSpPr/>
          <p:nvPr/>
        </p:nvSpPr>
        <p:spPr>
          <a:xfrm>
            <a:off x="411480" y="109728"/>
            <a:ext cx="1152144" cy="347472"/>
          </a:xfrm>
          <a:prstGeom prst="roundRect">
            <a:avLst>
              <a:gd name="adj" fmla="val 13158"/>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42" name="Text 1">
            <a:extLst>
              <a:ext uri="{FF2B5EF4-FFF2-40B4-BE49-F238E27FC236}">
                <a16:creationId xmlns:a16="http://schemas.microsoft.com/office/drawing/2014/main" id="{78728B22-071A-39FA-5ED5-D8831B5EDBA1}"/>
              </a:ext>
            </a:extLst>
          </p:cNvPr>
          <p:cNvSpPr/>
          <p:nvPr/>
        </p:nvSpPr>
        <p:spPr>
          <a:xfrm>
            <a:off x="411480" y="109728"/>
            <a:ext cx="1152144" cy="347472"/>
          </a:xfrm>
          <a:prstGeom prst="rect">
            <a:avLst/>
          </a:prstGeom>
          <a:noFill/>
          <a:ln/>
        </p:spPr>
        <p:txBody>
          <a:bodyPr wrap="square" lIns="0" tIns="0" rIns="0" bIns="0" rtlCol="0" anchor="ctr"/>
          <a:lstStyle/>
          <a:p>
            <a:pPr algn="ctr"/>
            <a:r>
              <a:rPr lang="en-US" sz="850" b="1">
                <a:solidFill>
                  <a:schemeClr val="bg1"/>
                </a:solidFill>
                <a:latin typeface="Open Sans Extrabold" pitchFamily="2" charset="0"/>
                <a:ea typeface="Open Sans Extrabold" pitchFamily="2" charset="0"/>
                <a:cs typeface="Open Sans Extrabold" pitchFamily="2" charset="0"/>
              </a:rPr>
              <a:t>PART 2 RECAP</a:t>
            </a:r>
            <a:endParaRPr lang="en-US" sz="850">
              <a:solidFill>
                <a:schemeClr val="bg1"/>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91499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7200" y="183600"/>
            <a:ext cx="8321040" cy="475488"/>
          </a:xfrm>
          <a:prstGeom prst="rect">
            <a:avLst/>
          </a:prstGeom>
          <a:noFill/>
          <a:ln/>
        </p:spPr>
        <p:txBody>
          <a:bodyPr wrap="square" lIns="0" tIns="0" rIns="0" bIns="0" rtlCol="0" anchor="ctr"/>
          <a:lstStyle/>
          <a:p>
            <a:pPr marL="0" indent="0" algn="l">
              <a:buNone/>
            </a:pPr>
            <a:r>
              <a:rPr lang="en-US" sz="2800" b="1">
                <a:latin typeface="Open Sans" panose="020B0606030504020204" pitchFamily="34" charset="0"/>
                <a:ea typeface="Open Sans" panose="020B0606030504020204" pitchFamily="34" charset="0"/>
                <a:cs typeface="Open Sans" panose="020B0606030504020204" pitchFamily="34" charset="0"/>
              </a:rPr>
              <a:t>The fixes are in. The issues are documented.</a:t>
            </a:r>
          </a:p>
        </p:txBody>
      </p:sp>
      <p:sp>
        <p:nvSpPr>
          <p:cNvPr id="3" name="Text 1"/>
          <p:cNvSpPr/>
          <p:nvPr/>
        </p:nvSpPr>
        <p:spPr>
          <a:xfrm>
            <a:off x="432000" y="745236"/>
            <a:ext cx="8321040" cy="292608"/>
          </a:xfrm>
          <a:prstGeom prst="rect">
            <a:avLst/>
          </a:prstGeom>
          <a:noFill/>
          <a:ln/>
        </p:spPr>
        <p:txBody>
          <a:bodyPr wrap="square" lIns="0" tIns="0" rIns="0" bIns="0" rtlCol="0" anchor="ctr"/>
          <a:lstStyle/>
          <a:p>
            <a:pPr marL="0" indent="0" algn="l">
              <a:buNone/>
            </a:pPr>
            <a:r>
              <a:rPr lang="en-US" sz="1400">
                <a:solidFill>
                  <a:schemeClr val="tx2"/>
                </a:solidFill>
                <a:latin typeface="Open Sans" pitchFamily="2" charset="0"/>
                <a:ea typeface="Open Sans" pitchFamily="2" charset="0"/>
                <a:cs typeface="Open Sans" pitchFamily="2" charset="0"/>
              </a:rPr>
              <a:t>Right now this all exists only on your machine.</a:t>
            </a:r>
          </a:p>
        </p:txBody>
      </p:sp>
      <p:sp>
        <p:nvSpPr>
          <p:cNvPr id="4" name="Shape 2"/>
          <p:cNvSpPr/>
          <p:nvPr/>
        </p:nvSpPr>
        <p:spPr>
          <a:xfrm>
            <a:off x="411480" y="1207008"/>
            <a:ext cx="8321040" cy="822960"/>
          </a:xfrm>
          <a:prstGeom prst="roundRect">
            <a:avLst>
              <a:gd name="adj" fmla="val 10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5" name="Shape 3"/>
          <p:cNvSpPr/>
          <p:nvPr/>
        </p:nvSpPr>
        <p:spPr>
          <a:xfrm>
            <a:off x="566928" y="1408176"/>
            <a:ext cx="420624" cy="420624"/>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4"/>
          <p:cNvSpPr/>
          <p:nvPr/>
        </p:nvSpPr>
        <p:spPr>
          <a:xfrm>
            <a:off x="566928" y="1408176"/>
            <a:ext cx="420624" cy="420624"/>
          </a:xfrm>
          <a:prstGeom prst="rect">
            <a:avLst/>
          </a:prstGeom>
          <a:noFill/>
          <a:ln/>
        </p:spPr>
        <p:txBody>
          <a:bodyPr wrap="square" lIns="0" tIns="0" rIns="0" bIns="0" rtlCol="0" anchor="ctr"/>
          <a:lstStyle/>
          <a:p>
            <a:pPr marL="0" indent="0" algn="ctr">
              <a:buNone/>
            </a:pP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01</a:t>
            </a:r>
            <a:endParaRPr lang="en-US" sz="1300" b="1">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1143000" y="1298448"/>
            <a:ext cx="2011680" cy="292608"/>
          </a:xfrm>
          <a:prstGeom prst="rect">
            <a:avLst/>
          </a:prstGeom>
          <a:noFill/>
          <a:ln/>
        </p:spPr>
        <p:txBody>
          <a:bodyPr wrap="square" lIns="0" tIns="0" rIns="0" bIns="0" rtlCol="0" anchor="ctr"/>
          <a:lstStyle/>
          <a:p>
            <a:pPr marL="0" indent="0" algn="l">
              <a:buNone/>
            </a:pPr>
            <a:r>
              <a:rPr lang="en-US" sz="1400" b="1">
                <a:latin typeface="Open Sans" panose="020B0606030504020204" pitchFamily="34" charset="0"/>
                <a:ea typeface="Open Sans" panose="020B0606030504020204" pitchFamily="34" charset="0"/>
                <a:cs typeface="Open Sans" panose="020B0606030504020204" pitchFamily="34" charset="0"/>
              </a:rPr>
              <a:t>Not permanent</a:t>
            </a:r>
          </a:p>
        </p:txBody>
      </p:sp>
      <p:sp>
        <p:nvSpPr>
          <p:cNvPr id="8" name="Text 6"/>
          <p:cNvSpPr/>
          <p:nvPr/>
        </p:nvSpPr>
        <p:spPr>
          <a:xfrm>
            <a:off x="1143000" y="1609344"/>
            <a:ext cx="7406640" cy="347472"/>
          </a:xfrm>
          <a:prstGeom prst="rect">
            <a:avLst/>
          </a:prstGeom>
          <a:noFill/>
          <a:ln/>
        </p:spPr>
        <p:txBody>
          <a:bodyPr wrap="square" lIns="0" tIns="0" rIns="0" bIns="0" rtlCol="0" anchor="t"/>
          <a:lstStyle/>
          <a:p>
            <a:pPr marL="0" indent="0" algn="l">
              <a:buNone/>
            </a:pPr>
            <a:r>
              <a:rPr lang="en-US" sz="1100">
                <a:solidFill>
                  <a:schemeClr val="tx2"/>
                </a:solidFill>
                <a:latin typeface="Open Sans" pitchFamily="2" charset="0"/>
                <a:ea typeface="Open Sans" pitchFamily="2" charset="0"/>
                <a:cs typeface="Open Sans" pitchFamily="2" charset="0"/>
              </a:rPr>
              <a:t>If your machine fails tonight, the reviewed PoC is gone. A commit makes it permanent.</a:t>
            </a:r>
          </a:p>
        </p:txBody>
      </p:sp>
      <p:sp>
        <p:nvSpPr>
          <p:cNvPr id="9" name="Shape 7"/>
          <p:cNvSpPr/>
          <p:nvPr/>
        </p:nvSpPr>
        <p:spPr>
          <a:xfrm>
            <a:off x="411480" y="2167128"/>
            <a:ext cx="8321040" cy="822960"/>
          </a:xfrm>
          <a:prstGeom prst="roundRect">
            <a:avLst>
              <a:gd name="adj" fmla="val 10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0" name="Shape 8"/>
          <p:cNvSpPr/>
          <p:nvPr/>
        </p:nvSpPr>
        <p:spPr>
          <a:xfrm>
            <a:off x="566928" y="2368296"/>
            <a:ext cx="420624" cy="420624"/>
          </a:xfrm>
          <a:prstGeom prst="ellipse">
            <a:avLst/>
          </a:prstGeom>
          <a:solidFill>
            <a:schemeClr val="accent1"/>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566928" y="2368296"/>
            <a:ext cx="420624" cy="420624"/>
          </a:xfrm>
          <a:prstGeom prst="rect">
            <a:avLst/>
          </a:prstGeom>
          <a:noFill/>
          <a:ln/>
        </p:spPr>
        <p:txBody>
          <a:bodyPr wrap="square" lIns="0" tIns="0" rIns="0" bIns="0" rtlCol="0" anchor="ctr"/>
          <a:lstStyle/>
          <a:p>
            <a:pPr marL="0" indent="0" algn="ctr">
              <a:buNone/>
            </a:pPr>
            <a:r>
              <a:rPr lang="en-US" sz="1300" b="1">
                <a:solidFill>
                  <a:srgbClr val="FFFFFF"/>
                </a:solidFill>
                <a:latin typeface="Open Sans Extrabold" pitchFamily="2" charset="0"/>
                <a:ea typeface="Open Sans Extrabold" pitchFamily="2" charset="0"/>
                <a:cs typeface="Open Sans Extrabold" pitchFamily="2" charset="0"/>
              </a:rPr>
              <a:t>02</a:t>
            </a:r>
            <a:endParaRPr lang="en-US" sz="1300">
              <a:latin typeface="Open Sans" pitchFamily="2" charset="0"/>
              <a:ea typeface="Open Sans" pitchFamily="2" charset="0"/>
              <a:cs typeface="Open Sans" pitchFamily="2" charset="0"/>
            </a:endParaRPr>
          </a:p>
        </p:txBody>
      </p:sp>
      <p:sp>
        <p:nvSpPr>
          <p:cNvPr id="12" name="Text 10"/>
          <p:cNvSpPr/>
          <p:nvPr/>
        </p:nvSpPr>
        <p:spPr>
          <a:xfrm>
            <a:off x="1143000" y="2258568"/>
            <a:ext cx="2011680" cy="292608"/>
          </a:xfrm>
          <a:prstGeom prst="rect">
            <a:avLst/>
          </a:prstGeom>
          <a:noFill/>
          <a:ln/>
        </p:spPr>
        <p:txBody>
          <a:bodyPr wrap="square" lIns="0" tIns="0" rIns="0" bIns="0" rtlCol="0" anchor="ctr"/>
          <a:lstStyle/>
          <a:p>
            <a:pPr marL="0" indent="0" algn="l">
              <a:buNone/>
            </a:pPr>
            <a:r>
              <a:rPr lang="en-US" sz="1400" b="1">
                <a:latin typeface="Open Sans" panose="020B0606030504020204" pitchFamily="34" charset="0"/>
                <a:ea typeface="Open Sans" panose="020B0606030504020204" pitchFamily="34" charset="0"/>
                <a:cs typeface="Open Sans" panose="020B0606030504020204" pitchFamily="34" charset="0"/>
              </a:rPr>
              <a:t>Not attributable</a:t>
            </a:r>
          </a:p>
        </p:txBody>
      </p:sp>
      <p:sp>
        <p:nvSpPr>
          <p:cNvPr id="13" name="Text 11"/>
          <p:cNvSpPr/>
          <p:nvPr/>
        </p:nvSpPr>
        <p:spPr>
          <a:xfrm>
            <a:off x="1143000" y="2569464"/>
            <a:ext cx="7406640" cy="347472"/>
          </a:xfrm>
          <a:prstGeom prst="rect">
            <a:avLst/>
          </a:prstGeom>
          <a:noFill/>
          <a:ln/>
        </p:spPr>
        <p:txBody>
          <a:bodyPr wrap="square" lIns="0" tIns="0" rIns="0" bIns="0" rtlCol="0" anchor="t"/>
          <a:lstStyle/>
          <a:p>
            <a:pPr marL="0" indent="0" algn="l">
              <a:buNone/>
            </a:pPr>
            <a:r>
              <a:rPr lang="en-US" sz="1100">
                <a:solidFill>
                  <a:schemeClr val="tx2"/>
                </a:solidFill>
                <a:latin typeface="Open Sans" pitchFamily="2" charset="0"/>
                <a:ea typeface="Open Sans" pitchFamily="2" charset="0"/>
                <a:cs typeface="Open Sans" pitchFamily="2" charset="0"/>
              </a:rPr>
              <a:t>Nobody knows what changed, when, or why. A commit message creates a record that survives the conversation.</a:t>
            </a:r>
          </a:p>
        </p:txBody>
      </p:sp>
      <p:sp>
        <p:nvSpPr>
          <p:cNvPr id="14" name="Shape 12"/>
          <p:cNvSpPr/>
          <p:nvPr/>
        </p:nvSpPr>
        <p:spPr>
          <a:xfrm>
            <a:off x="411480" y="3127248"/>
            <a:ext cx="8321040" cy="822960"/>
          </a:xfrm>
          <a:prstGeom prst="roundRect">
            <a:avLst>
              <a:gd name="adj" fmla="val 10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Shape 13"/>
          <p:cNvSpPr/>
          <p:nvPr/>
        </p:nvSpPr>
        <p:spPr>
          <a:xfrm>
            <a:off x="566928" y="3328416"/>
            <a:ext cx="420624" cy="420624"/>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6" name="Text 14"/>
          <p:cNvSpPr/>
          <p:nvPr/>
        </p:nvSpPr>
        <p:spPr>
          <a:xfrm>
            <a:off x="566928" y="3328416"/>
            <a:ext cx="420624" cy="420624"/>
          </a:xfrm>
          <a:prstGeom prst="rect">
            <a:avLst/>
          </a:prstGeom>
          <a:noFill/>
          <a:ln/>
        </p:spPr>
        <p:txBody>
          <a:bodyPr wrap="square" lIns="0" tIns="0" rIns="0" bIns="0" rtlCol="0" anchor="ctr"/>
          <a:lstStyle/>
          <a:p>
            <a:pPr marL="0" indent="0" algn="ctr">
              <a:buNone/>
            </a:pP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03</a:t>
            </a:r>
            <a:endParaRPr lang="en-US" sz="1300" b="1">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1143000" y="3218688"/>
            <a:ext cx="2011680" cy="292608"/>
          </a:xfrm>
          <a:prstGeom prst="rect">
            <a:avLst/>
          </a:prstGeom>
          <a:noFill/>
          <a:ln/>
        </p:spPr>
        <p:txBody>
          <a:bodyPr wrap="square" lIns="0" tIns="0" rIns="0" bIns="0" rtlCol="0" anchor="ctr"/>
          <a:lstStyle/>
          <a:p>
            <a:pPr marL="0" indent="0" algn="l">
              <a:buNone/>
            </a:pPr>
            <a:r>
              <a:rPr lang="en-US" sz="1400" b="1">
                <a:latin typeface="Open Sans" panose="020B0606030504020204" pitchFamily="34" charset="0"/>
                <a:ea typeface="Open Sans" panose="020B0606030504020204" pitchFamily="34" charset="0"/>
                <a:cs typeface="Open Sans" panose="020B0606030504020204" pitchFamily="34" charset="0"/>
              </a:rPr>
              <a:t>Not handable</a:t>
            </a:r>
          </a:p>
        </p:txBody>
      </p:sp>
      <p:sp>
        <p:nvSpPr>
          <p:cNvPr id="18" name="Text 16"/>
          <p:cNvSpPr/>
          <p:nvPr/>
        </p:nvSpPr>
        <p:spPr>
          <a:xfrm>
            <a:off x="1143000" y="3529584"/>
            <a:ext cx="7406640" cy="347472"/>
          </a:xfrm>
          <a:prstGeom prst="rect">
            <a:avLst/>
          </a:prstGeom>
          <a:noFill/>
          <a:ln/>
        </p:spPr>
        <p:txBody>
          <a:bodyPr wrap="square" lIns="0" tIns="0" rIns="0" bIns="0" rtlCol="0" anchor="t"/>
          <a:lstStyle/>
          <a:p>
            <a:pPr marL="0" indent="0" algn="l">
              <a:buNone/>
            </a:pPr>
            <a:r>
              <a:rPr lang="en-US" sz="1100">
                <a:solidFill>
                  <a:schemeClr val="tx2"/>
                </a:solidFill>
                <a:latin typeface="Open Sans" pitchFamily="2" charset="0"/>
                <a:ea typeface="Open Sans" pitchFamily="2" charset="0"/>
                <a:cs typeface="Open Sans" pitchFamily="2" charset="0"/>
              </a:rPr>
              <a:t>An engineer picking this up has no idea what you built, what you fixed, or what you chose not to build. A HANDOFF.md closes that gap.</a:t>
            </a:r>
          </a:p>
        </p:txBody>
      </p:sp>
      <p:sp>
        <p:nvSpPr>
          <p:cNvPr id="19" name="Shape 17"/>
          <p:cNvSpPr/>
          <p:nvPr/>
        </p:nvSpPr>
        <p:spPr>
          <a:xfrm>
            <a:off x="411480" y="4160520"/>
            <a:ext cx="8321040" cy="347472"/>
          </a:xfrm>
          <a:prstGeom prst="roundRect">
            <a:avLst>
              <a:gd name="adj" fmla="val 21053"/>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411480" y="4160520"/>
            <a:ext cx="8321040" cy="347472"/>
          </a:xfrm>
          <a:prstGeom prst="rect">
            <a:avLst/>
          </a:prstGeom>
          <a:noFill/>
          <a:ln/>
        </p:spPr>
        <p:txBody>
          <a:bodyPr wrap="square" lIns="0" tIns="0" rIns="0" bIns="0" rtlCol="0" anchor="ctr"/>
          <a:lstStyle/>
          <a:p>
            <a:pPr marL="0" indent="0" algn="ctr">
              <a:buNone/>
            </a:pPr>
            <a:r>
              <a:rPr lang="en-US" sz="1150" b="1">
                <a:latin typeface="Open Sans" panose="020B0606030504020204" pitchFamily="34" charset="0"/>
                <a:ea typeface="Open Sans" panose="020B0606030504020204" pitchFamily="34" charset="0"/>
                <a:cs typeface="Open Sans" panose="020B0606030504020204" pitchFamily="34" charset="0"/>
              </a:rPr>
              <a:t>Part 3 solves all three — in the same order.</a:t>
            </a:r>
          </a:p>
        </p:txBody>
      </p:sp>
      <p:sp>
        <p:nvSpPr>
          <p:cNvPr id="21" name="Slide Number Placeholder 20">
            <a:extLst>
              <a:ext uri="{FF2B5EF4-FFF2-40B4-BE49-F238E27FC236}">
                <a16:creationId xmlns:a16="http://schemas.microsoft.com/office/drawing/2014/main" id="{70FC2023-B295-361E-1DCA-71D8A6D90D1F}"/>
              </a:ext>
            </a:extLst>
          </p:cNvPr>
          <p:cNvSpPr>
            <a:spLocks noGrp="1"/>
          </p:cNvSpPr>
          <p:nvPr>
            <p:ph type="sldNum" sz="quarter" idx="12"/>
          </p:nvPr>
        </p:nvSpPr>
        <p:spPr/>
        <p:txBody>
          <a:bodyPr/>
          <a:lstStyle/>
          <a:p>
            <a:fld id="{C1FF6DA9-008F-8B48-92A6-B652298478BF}" type="slidenum">
              <a:rPr lang="en-US" smtClean="0">
                <a:solidFill>
                  <a:schemeClr val="bg1"/>
                </a:solidFill>
              </a:rPr>
              <a:t>32</a:t>
            </a:fld>
            <a:endParaRPr lang="en-US" dirty="0">
              <a:solidFill>
                <a:schemeClr val="bg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B8191B82-B13F-28D8-355B-801E5D3A8D14}"/>
              </a:ext>
            </a:extLst>
          </p:cNvPr>
          <p:cNvSpPr txBox="1">
            <a:spLocks/>
          </p:cNvSpPr>
          <p:nvPr/>
        </p:nvSpPr>
        <p:spPr>
          <a:xfrm>
            <a:off x="1797050" y="1848883"/>
            <a:ext cx="6798072" cy="1382478"/>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4800" b="1">
                <a:latin typeface="Open Sans" panose="020B0606030504020204" pitchFamily="34" charset="0"/>
                <a:ea typeface="Open Sans" panose="020B0606030504020204" pitchFamily="34" charset="0"/>
                <a:cs typeface="Open Sans" panose="020B0606030504020204" pitchFamily="34" charset="0"/>
              </a:rPr>
              <a:t>DEVELOPMENT</a:t>
            </a:r>
          </a:p>
          <a:p>
            <a:r>
              <a:rPr lang="en-US" sz="4800" b="1">
                <a:latin typeface="Open Sans" panose="020B0606030504020204" pitchFamily="34" charset="0"/>
                <a:ea typeface="Open Sans" panose="020B0606030504020204" pitchFamily="34" charset="0"/>
                <a:cs typeface="Open Sans" panose="020B0606030504020204" pitchFamily="34" charset="0"/>
              </a:rPr>
              <a:t>WORKFLOWS</a:t>
            </a:r>
          </a:p>
        </p:txBody>
      </p:sp>
      <p:sp>
        <p:nvSpPr>
          <p:cNvPr id="7" name="Text Placeholder 1">
            <a:extLst>
              <a:ext uri="{FF2B5EF4-FFF2-40B4-BE49-F238E27FC236}">
                <a16:creationId xmlns:a16="http://schemas.microsoft.com/office/drawing/2014/main" id="{47253D2D-6D71-470C-634A-084693C76CEF}"/>
              </a:ext>
            </a:extLst>
          </p:cNvPr>
          <p:cNvSpPr txBox="1">
            <a:spLocks/>
          </p:cNvSpPr>
          <p:nvPr/>
        </p:nvSpPr>
        <p:spPr>
          <a:xfrm>
            <a:off x="362360" y="1878403"/>
            <a:ext cx="1436943" cy="1323439"/>
          </a:xfrm>
          <a:prstGeom prst="rect">
            <a:avLst/>
          </a:prstGeom>
        </p:spPr>
        <p:txBody>
          <a:bodyPr anchor="b">
            <a:spAutoFit/>
          </a:bodyPr>
          <a:lstStyle>
            <a:lvl1pPr marL="0" indent="0" algn="l" defTabSz="685800" rtl="0" eaLnBrk="1" latinLnBrk="0" hangingPunct="1">
              <a:lnSpc>
                <a:spcPct val="100000"/>
              </a:lnSpc>
              <a:spcBef>
                <a:spcPts val="750"/>
              </a:spcBef>
              <a:buFont typeface="Arial" panose="020B0604020202020204" pitchFamily="34" charset="0"/>
              <a:buNone/>
              <a:defRPr sz="8250" b="1" i="0" kern="1200">
                <a:solidFill>
                  <a:schemeClr val="bg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0">
                <a:latin typeface="Open Sans" panose="020B0606030504020204" pitchFamily="34" charset="0"/>
                <a:ea typeface="Open Sans" panose="020B0606030504020204" pitchFamily="34" charset="0"/>
                <a:cs typeface="Open Sans" panose="020B0606030504020204" pitchFamily="34" charset="0"/>
              </a:rPr>
              <a:t>03</a:t>
            </a:r>
          </a:p>
        </p:txBody>
      </p:sp>
    </p:spTree>
    <p:extLst>
      <p:ext uri="{BB962C8B-B14F-4D97-AF65-F5344CB8AC3E}">
        <p14:creationId xmlns:p14="http://schemas.microsoft.com/office/powerpoint/2010/main" val="8851886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8C657080-4364-2FD4-7C85-140F3D876A76}"/>
              </a:ext>
            </a:extLst>
          </p:cNvPr>
          <p:cNvSpPr/>
          <p:nvPr/>
        </p:nvSpPr>
        <p:spPr>
          <a:xfrm>
            <a:off x="365760" y="201168"/>
            <a:ext cx="8412480" cy="475488"/>
          </a:xfrm>
          <a:prstGeom prst="rect">
            <a:avLst/>
          </a:prstGeom>
          <a:noFill/>
          <a:ln/>
        </p:spPr>
        <p:txBody>
          <a:bodyPr wrap="square" lIns="0" tIns="0" rIns="0" bIns="0" rtlCol="0" anchor="ctr"/>
          <a:lstStyle/>
          <a:p>
            <a:pPr marL="0" indent="0">
              <a:buNone/>
            </a:pPr>
            <a:r>
              <a:rPr lang="en-US" sz="2800" b="1">
                <a:solidFill>
                  <a:srgbClr val="2D2D2D"/>
                </a:solidFill>
                <a:latin typeface="Open Sans" panose="020B0606030504020204" pitchFamily="34" charset="0"/>
                <a:ea typeface="Open Sans" panose="020B0606030504020204" pitchFamily="34" charset="0"/>
                <a:cs typeface="Open Sans" panose="020B0606030504020204" pitchFamily="34" charset="0"/>
              </a:rPr>
              <a:t>Git Through an AI Lens</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1">
            <a:extLst>
              <a:ext uri="{FF2B5EF4-FFF2-40B4-BE49-F238E27FC236}">
                <a16:creationId xmlns:a16="http://schemas.microsoft.com/office/drawing/2014/main" id="{BBA44E96-E9BD-6CD3-71E0-87DE626E9C30}"/>
              </a:ext>
            </a:extLst>
          </p:cNvPr>
          <p:cNvSpPr/>
          <p:nvPr/>
        </p:nvSpPr>
        <p:spPr>
          <a:xfrm>
            <a:off x="365760" y="667512"/>
            <a:ext cx="8575040" cy="256032"/>
          </a:xfrm>
          <a:prstGeom prst="rect">
            <a:avLst/>
          </a:prstGeom>
          <a:noFill/>
          <a:ln/>
        </p:spPr>
        <p:txBody>
          <a:bodyPr wrap="square" lIns="0" tIns="0" rIns="0" bIns="0" rtlCol="0" anchor="ctr"/>
          <a:lstStyle/>
          <a:p>
            <a:pPr marL="0" indent="0">
              <a:buNone/>
            </a:pPr>
            <a:r>
              <a:rPr lang="en-US" sz="1300">
                <a:solidFill>
                  <a:srgbClr val="757575"/>
                </a:solidFill>
                <a:latin typeface="Open Sans" pitchFamily="2" charset="0"/>
                <a:ea typeface="Open Sans" pitchFamily="2" charset="0"/>
                <a:cs typeface="Open Sans" pitchFamily="2" charset="0"/>
              </a:rPr>
              <a:t>The habits are the same as before. Claude removes the friction that stops people from using them consistently.</a:t>
            </a:r>
            <a:endParaRPr lang="en-US" sz="1300">
              <a:latin typeface="Open Sans" pitchFamily="2" charset="0"/>
              <a:ea typeface="Open Sans" pitchFamily="2" charset="0"/>
              <a:cs typeface="Open Sans" pitchFamily="2" charset="0"/>
            </a:endParaRPr>
          </a:p>
        </p:txBody>
      </p:sp>
      <p:sp>
        <p:nvSpPr>
          <p:cNvPr id="6" name="Shape 2">
            <a:extLst>
              <a:ext uri="{FF2B5EF4-FFF2-40B4-BE49-F238E27FC236}">
                <a16:creationId xmlns:a16="http://schemas.microsoft.com/office/drawing/2014/main" id="{E2225A1A-70D3-15C4-8744-1DC68DCE3516}"/>
              </a:ext>
            </a:extLst>
          </p:cNvPr>
          <p:cNvSpPr/>
          <p:nvPr/>
        </p:nvSpPr>
        <p:spPr>
          <a:xfrm>
            <a:off x="365760" y="1082040"/>
            <a:ext cx="4160520" cy="960120"/>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7" name="Text 3">
            <a:extLst>
              <a:ext uri="{FF2B5EF4-FFF2-40B4-BE49-F238E27FC236}">
                <a16:creationId xmlns:a16="http://schemas.microsoft.com/office/drawing/2014/main" id="{0F36DCEA-9EC1-EBB4-2F92-02E6C043C112}"/>
              </a:ext>
            </a:extLst>
          </p:cNvPr>
          <p:cNvSpPr/>
          <p:nvPr/>
        </p:nvSpPr>
        <p:spPr>
          <a:xfrm>
            <a:off x="548640" y="1055866"/>
            <a:ext cx="3794760" cy="274320"/>
          </a:xfrm>
          <a:prstGeom prst="rect">
            <a:avLst/>
          </a:prstGeom>
          <a:noFill/>
          <a:ln/>
        </p:spPr>
        <p:txBody>
          <a:bodyPr wrap="square" lIns="0" tIns="0" rIns="0" bIns="0" rtlCol="0" anchor="ctr"/>
          <a:lstStyle/>
          <a:p>
            <a:pPr marL="0" indent="0">
              <a:buNone/>
            </a:pPr>
            <a:r>
              <a:rPr lang="en-US" sz="1400" b="1">
                <a:latin typeface="Open Sans" panose="020B0606030504020204" pitchFamily="34" charset="0"/>
                <a:ea typeface="Open Sans" panose="020B0606030504020204" pitchFamily="34" charset="0"/>
                <a:cs typeface="Open Sans" panose="020B0606030504020204" pitchFamily="34" charset="0"/>
              </a:rPr>
              <a:t>COMMITS</a:t>
            </a:r>
          </a:p>
        </p:txBody>
      </p:sp>
      <p:sp>
        <p:nvSpPr>
          <p:cNvPr id="8" name="Text 4">
            <a:extLst>
              <a:ext uri="{FF2B5EF4-FFF2-40B4-BE49-F238E27FC236}">
                <a16:creationId xmlns:a16="http://schemas.microsoft.com/office/drawing/2014/main" id="{82AA84D7-09B5-3CA6-4A2A-54256464DD75}"/>
              </a:ext>
            </a:extLst>
          </p:cNvPr>
          <p:cNvSpPr/>
          <p:nvPr/>
        </p:nvSpPr>
        <p:spPr>
          <a:xfrm>
            <a:off x="548640" y="1304467"/>
            <a:ext cx="3794760" cy="695772"/>
          </a:xfrm>
          <a:prstGeom prst="rect">
            <a:avLst/>
          </a:prstGeom>
          <a:noFill/>
          <a:ln/>
        </p:spPr>
        <p:txBody>
          <a:bodyPr wrap="square" lIns="0" tIns="0" rIns="0" bIns="0" rtlCol="0" anchor="ctr"/>
          <a:lstStyle/>
          <a:p>
            <a:pPr marL="0" indent="0">
              <a:buNone/>
            </a:pPr>
            <a:r>
              <a:rPr lang="en-US" sz="1150">
                <a:solidFill>
                  <a:schemeClr val="tx2"/>
                </a:solidFill>
                <a:latin typeface="Open Sans" pitchFamily="2" charset="0"/>
                <a:ea typeface="Open Sans" pitchFamily="2" charset="0"/>
                <a:cs typeface="Open Sans" pitchFamily="2" charset="0"/>
              </a:rPr>
              <a:t>A commit message should tell the reader what changed and why — not which files were touched. Claude generates messages from your diff that a reviewer can actually use.</a:t>
            </a:r>
          </a:p>
        </p:txBody>
      </p:sp>
      <p:sp>
        <p:nvSpPr>
          <p:cNvPr id="10" name="Shape 11">
            <a:extLst>
              <a:ext uri="{FF2B5EF4-FFF2-40B4-BE49-F238E27FC236}">
                <a16:creationId xmlns:a16="http://schemas.microsoft.com/office/drawing/2014/main" id="{309BAE92-E4E6-529C-DF36-DE0F110B3188}"/>
              </a:ext>
            </a:extLst>
          </p:cNvPr>
          <p:cNvSpPr/>
          <p:nvPr/>
        </p:nvSpPr>
        <p:spPr>
          <a:xfrm>
            <a:off x="4754880" y="1078071"/>
            <a:ext cx="4023360" cy="960121"/>
          </a:xfrm>
          <a:prstGeom prst="roundRect">
            <a:avLst>
              <a:gd name="adj" fmla="val 2740"/>
            </a:avLst>
          </a:prstGeom>
          <a:solidFill>
            <a:schemeClr val="tx1"/>
          </a:solidFill>
          <a:ln w="12700">
            <a:solidFill>
              <a:srgbClr val="1E1E1E"/>
            </a:solidFill>
            <a:prstDash val="solid"/>
          </a:ln>
          <a:effectLst>
            <a:outerShdw blurRad="63500" dist="25400" dir="2700000" algn="bl" rotWithShape="0">
              <a:srgbClr val="000000">
                <a:alpha val="11000"/>
              </a:srgbClr>
            </a:outerShdw>
          </a:effectLst>
        </p:spPr>
        <p:txBody>
          <a:bodyPr/>
          <a:lstStyle/>
          <a:p>
            <a:endParaRPr lang="en-US">
              <a:solidFill>
                <a:srgbClr val="00B050"/>
              </a:solidFill>
              <a:latin typeface="Open Sans" pitchFamily="2" charset="0"/>
              <a:ea typeface="Open Sans" pitchFamily="2" charset="0"/>
              <a:cs typeface="Open Sans" pitchFamily="2" charset="0"/>
            </a:endParaRPr>
          </a:p>
        </p:txBody>
      </p:sp>
      <p:sp>
        <p:nvSpPr>
          <p:cNvPr id="11" name="Text 13">
            <a:extLst>
              <a:ext uri="{FF2B5EF4-FFF2-40B4-BE49-F238E27FC236}">
                <a16:creationId xmlns:a16="http://schemas.microsoft.com/office/drawing/2014/main" id="{FE458173-8071-D47D-500B-15A2122FEBD3}"/>
              </a:ext>
            </a:extLst>
          </p:cNvPr>
          <p:cNvSpPr/>
          <p:nvPr/>
        </p:nvSpPr>
        <p:spPr>
          <a:xfrm>
            <a:off x="4892040" y="1174213"/>
            <a:ext cx="3749040" cy="789141"/>
          </a:xfrm>
          <a:prstGeom prst="rect">
            <a:avLst/>
          </a:prstGeom>
          <a:solidFill>
            <a:schemeClr val="tx1"/>
          </a:solidFill>
          <a:ln/>
        </p:spPr>
        <p:txBody>
          <a:bodyPr wrap="square" lIns="0" tIns="0" rIns="0" bIns="0" rtlCol="0" anchor="ctr"/>
          <a:lstStyle/>
          <a:p>
            <a:pPr marL="0" indent="0">
              <a:buNone/>
            </a:pPr>
            <a:r>
              <a:rPr lang="en-US" sz="1200">
                <a:solidFill>
                  <a:srgbClr val="00B050"/>
                </a:solidFill>
                <a:latin typeface="Open Sans" pitchFamily="2" charset="0"/>
                <a:ea typeface="Open Sans" pitchFamily="2" charset="0"/>
                <a:cs typeface="Open Sans" pitchFamily="2" charset="0"/>
              </a:rPr>
              <a:t>$ </a:t>
            </a:r>
            <a:r>
              <a:rPr lang="en-US" sz="1200" err="1">
                <a:solidFill>
                  <a:srgbClr val="00B050"/>
                </a:solidFill>
                <a:latin typeface="Open Sans" pitchFamily="2" charset="0"/>
                <a:ea typeface="Open Sans" pitchFamily="2" charset="0"/>
                <a:cs typeface="Open Sans" pitchFamily="2" charset="0"/>
              </a:rPr>
              <a:t>claude</a:t>
            </a:r>
            <a:r>
              <a:rPr lang="en-US" sz="1200">
                <a:solidFill>
                  <a:srgbClr val="00B050"/>
                </a:solidFill>
                <a:latin typeface="Open Sans" pitchFamily="2" charset="0"/>
                <a:ea typeface="Open Sans" pitchFamily="2" charset="0"/>
                <a:cs typeface="Open Sans" pitchFamily="2" charset="0"/>
              </a:rPr>
              <a:t> "Write a Git commit message for these changes. Include what changed, why it matters, and any known limitations."</a:t>
            </a:r>
          </a:p>
        </p:txBody>
      </p:sp>
      <p:sp>
        <p:nvSpPr>
          <p:cNvPr id="13" name="Shape 11">
            <a:extLst>
              <a:ext uri="{FF2B5EF4-FFF2-40B4-BE49-F238E27FC236}">
                <a16:creationId xmlns:a16="http://schemas.microsoft.com/office/drawing/2014/main" id="{DDE5B64A-E59A-62BE-CF1E-1F463DA8350B}"/>
              </a:ext>
            </a:extLst>
          </p:cNvPr>
          <p:cNvSpPr/>
          <p:nvPr/>
        </p:nvSpPr>
        <p:spPr>
          <a:xfrm>
            <a:off x="4754880" y="2161032"/>
            <a:ext cx="4023360" cy="960121"/>
          </a:xfrm>
          <a:prstGeom prst="roundRect">
            <a:avLst>
              <a:gd name="adj" fmla="val 2740"/>
            </a:avLst>
          </a:prstGeom>
          <a:solidFill>
            <a:schemeClr val="tx1"/>
          </a:solidFill>
          <a:ln w="12700">
            <a:solidFill>
              <a:srgbClr val="1E1E1E"/>
            </a:solidFill>
            <a:prstDash val="solid"/>
          </a:ln>
          <a:effectLst>
            <a:outerShdw blurRad="63500" dist="25400" dir="2700000" algn="bl" rotWithShape="0">
              <a:srgbClr val="000000">
                <a:alpha val="11000"/>
              </a:srgbClr>
            </a:outerShdw>
          </a:effectLst>
        </p:spPr>
        <p:txBody>
          <a:bodyPr/>
          <a:lstStyle/>
          <a:p>
            <a:endParaRPr lang="en-US">
              <a:solidFill>
                <a:srgbClr val="00B050"/>
              </a:solidFill>
              <a:latin typeface="Open Sans" pitchFamily="2" charset="0"/>
              <a:ea typeface="Open Sans" pitchFamily="2" charset="0"/>
              <a:cs typeface="Open Sans" pitchFamily="2" charset="0"/>
            </a:endParaRPr>
          </a:p>
        </p:txBody>
      </p:sp>
      <p:sp>
        <p:nvSpPr>
          <p:cNvPr id="14" name="Text 13">
            <a:extLst>
              <a:ext uri="{FF2B5EF4-FFF2-40B4-BE49-F238E27FC236}">
                <a16:creationId xmlns:a16="http://schemas.microsoft.com/office/drawing/2014/main" id="{94E6C807-14A1-E3B6-C4CD-548F55DC3BE9}"/>
              </a:ext>
            </a:extLst>
          </p:cNvPr>
          <p:cNvSpPr/>
          <p:nvPr/>
        </p:nvSpPr>
        <p:spPr>
          <a:xfrm>
            <a:off x="4892040" y="2257174"/>
            <a:ext cx="3749040" cy="789141"/>
          </a:xfrm>
          <a:prstGeom prst="rect">
            <a:avLst/>
          </a:prstGeom>
          <a:solidFill>
            <a:schemeClr val="tx1"/>
          </a:solidFill>
          <a:ln/>
        </p:spPr>
        <p:txBody>
          <a:bodyPr wrap="square" lIns="0" tIns="0" rIns="0" bIns="0" rtlCol="0" anchor="ctr"/>
          <a:lstStyle/>
          <a:p>
            <a:pPr marL="0" indent="0">
              <a:buNone/>
            </a:pPr>
            <a:r>
              <a:rPr lang="en-US" sz="1200">
                <a:solidFill>
                  <a:srgbClr val="00B050"/>
                </a:solidFill>
                <a:latin typeface="Open Sans" pitchFamily="2" charset="0"/>
                <a:ea typeface="Open Sans" pitchFamily="2" charset="0"/>
                <a:cs typeface="Open Sans" pitchFamily="2" charset="0"/>
              </a:rPr>
              <a:t>$ </a:t>
            </a:r>
            <a:r>
              <a:rPr lang="en-US" sz="1200" err="1">
                <a:solidFill>
                  <a:srgbClr val="00B050"/>
                </a:solidFill>
                <a:latin typeface="Open Sans" pitchFamily="2" charset="0"/>
                <a:ea typeface="Open Sans" pitchFamily="2" charset="0"/>
                <a:cs typeface="Open Sans" pitchFamily="2" charset="0"/>
              </a:rPr>
              <a:t>claude</a:t>
            </a:r>
            <a:r>
              <a:rPr lang="en-US" sz="1200">
                <a:solidFill>
                  <a:srgbClr val="00B050"/>
                </a:solidFill>
                <a:latin typeface="Open Sans" pitchFamily="2" charset="0"/>
                <a:ea typeface="Open Sans" pitchFamily="2" charset="0"/>
                <a:cs typeface="Open Sans" pitchFamily="2" charset="0"/>
              </a:rPr>
              <a:t> "Suggest a Git branch name for adding input validation and error handling to the account checker script."</a:t>
            </a:r>
          </a:p>
        </p:txBody>
      </p:sp>
      <p:sp>
        <p:nvSpPr>
          <p:cNvPr id="16" name="Shape 11">
            <a:extLst>
              <a:ext uri="{FF2B5EF4-FFF2-40B4-BE49-F238E27FC236}">
                <a16:creationId xmlns:a16="http://schemas.microsoft.com/office/drawing/2014/main" id="{69F09AB8-55ED-106C-4C11-0DE5BEECEF50}"/>
              </a:ext>
            </a:extLst>
          </p:cNvPr>
          <p:cNvSpPr/>
          <p:nvPr/>
        </p:nvSpPr>
        <p:spPr>
          <a:xfrm>
            <a:off x="4754880" y="3243993"/>
            <a:ext cx="4023360" cy="960121"/>
          </a:xfrm>
          <a:prstGeom prst="roundRect">
            <a:avLst>
              <a:gd name="adj" fmla="val 2740"/>
            </a:avLst>
          </a:prstGeom>
          <a:solidFill>
            <a:schemeClr val="tx1"/>
          </a:solidFill>
          <a:ln w="12700">
            <a:solidFill>
              <a:srgbClr val="1E1E1E"/>
            </a:solidFill>
            <a:prstDash val="solid"/>
          </a:ln>
          <a:effectLst>
            <a:outerShdw blurRad="63500" dist="25400" dir="2700000" algn="bl" rotWithShape="0">
              <a:srgbClr val="000000">
                <a:alpha val="11000"/>
              </a:srgbClr>
            </a:outerShdw>
          </a:effectLst>
        </p:spPr>
        <p:txBody>
          <a:bodyPr/>
          <a:lstStyle/>
          <a:p>
            <a:endParaRPr lang="en-US">
              <a:solidFill>
                <a:srgbClr val="00B050"/>
              </a:solidFill>
              <a:latin typeface="Open Sans" pitchFamily="2" charset="0"/>
              <a:ea typeface="Open Sans" pitchFamily="2" charset="0"/>
              <a:cs typeface="Open Sans" pitchFamily="2" charset="0"/>
            </a:endParaRPr>
          </a:p>
        </p:txBody>
      </p:sp>
      <p:sp>
        <p:nvSpPr>
          <p:cNvPr id="17" name="Text 13">
            <a:extLst>
              <a:ext uri="{FF2B5EF4-FFF2-40B4-BE49-F238E27FC236}">
                <a16:creationId xmlns:a16="http://schemas.microsoft.com/office/drawing/2014/main" id="{66DFE2FA-2524-F066-292F-C86B1DB411CE}"/>
              </a:ext>
            </a:extLst>
          </p:cNvPr>
          <p:cNvSpPr/>
          <p:nvPr/>
        </p:nvSpPr>
        <p:spPr>
          <a:xfrm>
            <a:off x="4892040" y="3340135"/>
            <a:ext cx="3749040" cy="789141"/>
          </a:xfrm>
          <a:prstGeom prst="rect">
            <a:avLst/>
          </a:prstGeom>
          <a:solidFill>
            <a:schemeClr val="tx1"/>
          </a:solidFill>
          <a:ln/>
        </p:spPr>
        <p:txBody>
          <a:bodyPr wrap="square" lIns="0" tIns="0" rIns="0" bIns="0" rtlCol="0" anchor="ctr"/>
          <a:lstStyle/>
          <a:p>
            <a:pPr marL="0" indent="0">
              <a:buNone/>
            </a:pPr>
            <a:r>
              <a:rPr lang="en-US" sz="1200">
                <a:solidFill>
                  <a:srgbClr val="00B050"/>
                </a:solidFill>
                <a:latin typeface="Open Sans" pitchFamily="2" charset="0"/>
                <a:ea typeface="Open Sans" pitchFamily="2" charset="0"/>
                <a:cs typeface="Open Sans" pitchFamily="2" charset="0"/>
              </a:rPr>
              <a:t>$ </a:t>
            </a:r>
            <a:r>
              <a:rPr lang="en-US" sz="1200" err="1">
                <a:solidFill>
                  <a:srgbClr val="00B050"/>
                </a:solidFill>
                <a:latin typeface="Open Sans" pitchFamily="2" charset="0"/>
                <a:ea typeface="Open Sans" pitchFamily="2" charset="0"/>
                <a:cs typeface="Open Sans" pitchFamily="2" charset="0"/>
              </a:rPr>
              <a:t>claude</a:t>
            </a:r>
            <a:r>
              <a:rPr lang="en-US" sz="1200">
                <a:solidFill>
                  <a:srgbClr val="00B050"/>
                </a:solidFill>
                <a:latin typeface="Open Sans" pitchFamily="2" charset="0"/>
                <a:ea typeface="Open Sans" pitchFamily="2" charset="0"/>
                <a:cs typeface="Open Sans" pitchFamily="2" charset="0"/>
              </a:rPr>
              <a:t> "Write a PR description from this git log. Include what changed, why, what was tested, and what reviewers should focus on."</a:t>
            </a:r>
          </a:p>
        </p:txBody>
      </p:sp>
      <p:sp>
        <p:nvSpPr>
          <p:cNvPr id="19" name="Shape 2">
            <a:extLst>
              <a:ext uri="{FF2B5EF4-FFF2-40B4-BE49-F238E27FC236}">
                <a16:creationId xmlns:a16="http://schemas.microsoft.com/office/drawing/2014/main" id="{3244E5FC-5C61-39DA-7116-18D2F98E0BB6}"/>
              </a:ext>
            </a:extLst>
          </p:cNvPr>
          <p:cNvSpPr/>
          <p:nvPr/>
        </p:nvSpPr>
        <p:spPr>
          <a:xfrm>
            <a:off x="365760" y="2161032"/>
            <a:ext cx="4160520" cy="960120"/>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0" name="Text 3">
            <a:extLst>
              <a:ext uri="{FF2B5EF4-FFF2-40B4-BE49-F238E27FC236}">
                <a16:creationId xmlns:a16="http://schemas.microsoft.com/office/drawing/2014/main" id="{C400149B-B64D-E83B-469A-813B5FAC4B05}"/>
              </a:ext>
            </a:extLst>
          </p:cNvPr>
          <p:cNvSpPr/>
          <p:nvPr/>
        </p:nvSpPr>
        <p:spPr>
          <a:xfrm>
            <a:off x="548640" y="2202594"/>
            <a:ext cx="3794760" cy="274320"/>
          </a:xfrm>
          <a:prstGeom prst="rect">
            <a:avLst/>
          </a:prstGeom>
          <a:noFill/>
          <a:ln/>
        </p:spPr>
        <p:txBody>
          <a:bodyPr wrap="square" lIns="0" tIns="0" rIns="0" bIns="0" rtlCol="0" anchor="ctr"/>
          <a:lstStyle/>
          <a:p>
            <a:pPr marL="0" indent="0">
              <a:buNone/>
            </a:pPr>
            <a:r>
              <a:rPr lang="en-US" sz="1400" b="1">
                <a:latin typeface="Open Sans" panose="020B0606030504020204" pitchFamily="34" charset="0"/>
                <a:ea typeface="Open Sans" panose="020B0606030504020204" pitchFamily="34" charset="0"/>
                <a:cs typeface="Open Sans" panose="020B0606030504020204" pitchFamily="34" charset="0"/>
              </a:rPr>
              <a:t>BRANCHES</a:t>
            </a:r>
          </a:p>
        </p:txBody>
      </p:sp>
      <p:sp>
        <p:nvSpPr>
          <p:cNvPr id="21" name="Text 4">
            <a:extLst>
              <a:ext uri="{FF2B5EF4-FFF2-40B4-BE49-F238E27FC236}">
                <a16:creationId xmlns:a16="http://schemas.microsoft.com/office/drawing/2014/main" id="{FCE3D5D6-777D-A21E-D952-BF2DDC4FD721}"/>
              </a:ext>
            </a:extLst>
          </p:cNvPr>
          <p:cNvSpPr/>
          <p:nvPr/>
        </p:nvSpPr>
        <p:spPr>
          <a:xfrm>
            <a:off x="548640" y="2466942"/>
            <a:ext cx="3721608" cy="603504"/>
          </a:xfrm>
          <a:prstGeom prst="rect">
            <a:avLst/>
          </a:prstGeom>
          <a:noFill/>
          <a:ln/>
        </p:spPr>
        <p:txBody>
          <a:bodyPr wrap="square" lIns="0" tIns="0" rIns="0" bIns="0" rtlCol="0" anchor="t"/>
          <a:lstStyle/>
          <a:p>
            <a:pPr marL="0" indent="0">
              <a:buNone/>
            </a:pPr>
            <a:r>
              <a:rPr lang="en-US" sz="1150">
                <a:solidFill>
                  <a:srgbClr val="757575"/>
                </a:solidFill>
                <a:latin typeface="Open Sans" pitchFamily="2" charset="0"/>
                <a:ea typeface="Open Sans" pitchFamily="2" charset="0"/>
                <a:cs typeface="Open Sans" pitchFamily="2" charset="0"/>
              </a:rPr>
              <a:t>Branch names should describe the work, not the person. Claude generates names from your description.</a:t>
            </a:r>
            <a:endParaRPr lang="en-US" sz="1150">
              <a:latin typeface="Open Sans" pitchFamily="2" charset="0"/>
              <a:ea typeface="Open Sans" pitchFamily="2" charset="0"/>
              <a:cs typeface="Open Sans" pitchFamily="2" charset="0"/>
            </a:endParaRPr>
          </a:p>
        </p:txBody>
      </p:sp>
      <p:sp>
        <p:nvSpPr>
          <p:cNvPr id="23" name="Shape 2">
            <a:extLst>
              <a:ext uri="{FF2B5EF4-FFF2-40B4-BE49-F238E27FC236}">
                <a16:creationId xmlns:a16="http://schemas.microsoft.com/office/drawing/2014/main" id="{9A0C877F-917F-4413-CACF-19BBAAE12EA3}"/>
              </a:ext>
            </a:extLst>
          </p:cNvPr>
          <p:cNvSpPr/>
          <p:nvPr/>
        </p:nvSpPr>
        <p:spPr>
          <a:xfrm>
            <a:off x="411480" y="3253740"/>
            <a:ext cx="4160520" cy="960120"/>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4" name="Text 3">
            <a:extLst>
              <a:ext uri="{FF2B5EF4-FFF2-40B4-BE49-F238E27FC236}">
                <a16:creationId xmlns:a16="http://schemas.microsoft.com/office/drawing/2014/main" id="{A42889A3-4D0B-781D-C9A3-FDDCA5ED4333}"/>
              </a:ext>
            </a:extLst>
          </p:cNvPr>
          <p:cNvSpPr/>
          <p:nvPr/>
        </p:nvSpPr>
        <p:spPr>
          <a:xfrm>
            <a:off x="548640" y="3295302"/>
            <a:ext cx="3794760" cy="274320"/>
          </a:xfrm>
          <a:prstGeom prst="rect">
            <a:avLst/>
          </a:prstGeom>
          <a:noFill/>
          <a:ln/>
        </p:spPr>
        <p:txBody>
          <a:bodyPr wrap="square" lIns="0" tIns="0" rIns="0" bIns="0" rtlCol="0" anchor="ctr"/>
          <a:lstStyle/>
          <a:p>
            <a:pPr marL="0" indent="0">
              <a:buNone/>
            </a:pPr>
            <a:r>
              <a:rPr lang="en-US" sz="1400" b="1">
                <a:latin typeface="Open Sans" panose="020B0606030504020204" pitchFamily="34" charset="0"/>
                <a:ea typeface="Open Sans" panose="020B0606030504020204" pitchFamily="34" charset="0"/>
                <a:cs typeface="Open Sans" panose="020B0606030504020204" pitchFamily="34" charset="0"/>
              </a:rPr>
              <a:t>PR DESCRIPTIONS</a:t>
            </a:r>
          </a:p>
        </p:txBody>
      </p:sp>
      <p:sp>
        <p:nvSpPr>
          <p:cNvPr id="25" name="Text 4">
            <a:extLst>
              <a:ext uri="{FF2B5EF4-FFF2-40B4-BE49-F238E27FC236}">
                <a16:creationId xmlns:a16="http://schemas.microsoft.com/office/drawing/2014/main" id="{EC93A81B-0997-C950-E518-FC4652DA51EC}"/>
              </a:ext>
            </a:extLst>
          </p:cNvPr>
          <p:cNvSpPr/>
          <p:nvPr/>
        </p:nvSpPr>
        <p:spPr>
          <a:xfrm>
            <a:off x="548640" y="3559650"/>
            <a:ext cx="3794760" cy="603504"/>
          </a:xfrm>
          <a:prstGeom prst="rect">
            <a:avLst/>
          </a:prstGeom>
          <a:noFill/>
          <a:ln/>
        </p:spPr>
        <p:txBody>
          <a:bodyPr wrap="square" lIns="0" tIns="0" rIns="0" bIns="0" rtlCol="0" anchor="ctr"/>
          <a:lstStyle/>
          <a:p>
            <a:pPr marL="0" indent="0">
              <a:buNone/>
            </a:pPr>
            <a:r>
              <a:rPr lang="en-US" sz="1150">
                <a:solidFill>
                  <a:srgbClr val="757575"/>
                </a:solidFill>
                <a:latin typeface="Open Sans" pitchFamily="2" charset="0"/>
                <a:ea typeface="Open Sans" pitchFamily="2" charset="0"/>
                <a:cs typeface="Open Sans" pitchFamily="2" charset="0"/>
              </a:rPr>
              <a:t>A PR description lets a reviewer understand the change without reading every line of code. Claude generates it from your git log.</a:t>
            </a:r>
            <a:endParaRPr lang="en-US" sz="115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675801896"/>
      </p:ext>
    </p:extLst>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a:extLst>
              <a:ext uri="{FF2B5EF4-FFF2-40B4-BE49-F238E27FC236}">
                <a16:creationId xmlns:a16="http://schemas.microsoft.com/office/drawing/2014/main" id="{FA306A6F-C672-F83D-94F3-F42E6EA02C18}"/>
              </a:ext>
            </a:extLst>
          </p:cNvPr>
          <p:cNvSpPr/>
          <p:nvPr/>
        </p:nvSpPr>
        <p:spPr>
          <a:xfrm>
            <a:off x="367200" y="190800"/>
            <a:ext cx="8412480" cy="475488"/>
          </a:xfrm>
          <a:prstGeom prst="rect">
            <a:avLst/>
          </a:prstGeom>
          <a:noFill/>
          <a:ln/>
        </p:spPr>
        <p:txBody>
          <a:bodyPr wrap="square" lIns="0" tIns="0" rIns="0" bIns="0" rtlCol="0" anchor="ctr"/>
          <a:lstStyle/>
          <a:p>
            <a:r>
              <a:rPr lang="en-US" sz="2800" b="1">
                <a:latin typeface="Open Sans" panose="020B0606030504020204" pitchFamily="34" charset="0"/>
                <a:ea typeface="Open Sans" panose="020B0606030504020204" pitchFamily="34" charset="0"/>
                <a:cs typeface="Open Sans" panose="020B0606030504020204" pitchFamily="34" charset="0"/>
              </a:rPr>
              <a:t>Hooks: Guardrails as Code</a:t>
            </a:r>
          </a:p>
        </p:txBody>
      </p:sp>
      <p:sp>
        <p:nvSpPr>
          <p:cNvPr id="4" name="Shape 2">
            <a:extLst>
              <a:ext uri="{FF2B5EF4-FFF2-40B4-BE49-F238E27FC236}">
                <a16:creationId xmlns:a16="http://schemas.microsoft.com/office/drawing/2014/main" id="{F26DC8F7-C91F-609A-4353-BDF40D1DEF38}"/>
              </a:ext>
            </a:extLst>
          </p:cNvPr>
          <p:cNvSpPr/>
          <p:nvPr/>
        </p:nvSpPr>
        <p:spPr>
          <a:xfrm>
            <a:off x="384725" y="1308748"/>
            <a:ext cx="1572768" cy="2871757"/>
          </a:xfrm>
          <a:prstGeom prst="roundRect">
            <a:avLst>
              <a:gd name="adj" fmla="val 5814"/>
            </a:avLst>
          </a:prstGeom>
          <a:solidFill>
            <a:srgbClr val="F5F5F5"/>
          </a:solidFill>
          <a:ln w="19050">
            <a:solidFill>
              <a:schemeClr val="accent2"/>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5" name="Shape 3">
            <a:extLst>
              <a:ext uri="{FF2B5EF4-FFF2-40B4-BE49-F238E27FC236}">
                <a16:creationId xmlns:a16="http://schemas.microsoft.com/office/drawing/2014/main" id="{D3A4E779-4D6C-73C3-2FCE-B36F8F6861A8}"/>
              </a:ext>
            </a:extLst>
          </p:cNvPr>
          <p:cNvSpPr/>
          <p:nvPr/>
        </p:nvSpPr>
        <p:spPr>
          <a:xfrm>
            <a:off x="960797" y="1486092"/>
            <a:ext cx="420624" cy="420624"/>
          </a:xfrm>
          <a:prstGeom prst="ellipse">
            <a:avLst/>
          </a:prstGeom>
          <a:solidFill>
            <a:schemeClr val="accent2"/>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a:extLst>
              <a:ext uri="{FF2B5EF4-FFF2-40B4-BE49-F238E27FC236}">
                <a16:creationId xmlns:a16="http://schemas.microsoft.com/office/drawing/2014/main" id="{42B2C5F8-9708-2520-C767-F74FF94A8507}"/>
              </a:ext>
            </a:extLst>
          </p:cNvPr>
          <p:cNvSpPr/>
          <p:nvPr/>
        </p:nvSpPr>
        <p:spPr>
          <a:xfrm>
            <a:off x="960797"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a:extLst>
              <a:ext uri="{FF2B5EF4-FFF2-40B4-BE49-F238E27FC236}">
                <a16:creationId xmlns:a16="http://schemas.microsoft.com/office/drawing/2014/main" id="{89F2FD95-2A77-849E-6363-F69EC723390A}"/>
              </a:ext>
            </a:extLst>
          </p:cNvPr>
          <p:cNvSpPr/>
          <p:nvPr/>
        </p:nvSpPr>
        <p:spPr>
          <a:xfrm>
            <a:off x="457877" y="1967117"/>
            <a:ext cx="1426464" cy="457200"/>
          </a:xfrm>
          <a:prstGeom prst="rect">
            <a:avLst/>
          </a:prstGeom>
          <a:noFill/>
          <a:ln/>
        </p:spPr>
        <p:txBody>
          <a:bodyPr wrap="square" lIns="0" tIns="0" rIns="0" bIns="0" rtlCol="0" anchor="ctr"/>
          <a:lstStyle/>
          <a:p>
            <a:pPr marL="0" indent="0" algn="ctr">
              <a:buNone/>
            </a:pPr>
            <a:r>
              <a:rPr lang="en-US" sz="1100" b="1">
                <a:solidFill>
                  <a:schemeClr val="accent2"/>
                </a:solidFill>
                <a:latin typeface="Open Sans" panose="020B0606030504020204" pitchFamily="34" charset="0"/>
                <a:ea typeface="Open Sans" panose="020B0606030504020204" pitchFamily="34" charset="0"/>
                <a:cs typeface="Open Sans" panose="020B0606030504020204" pitchFamily="34" charset="0"/>
              </a:rPr>
              <a:t>EVENTS</a:t>
            </a:r>
          </a:p>
        </p:txBody>
      </p:sp>
      <p:sp>
        <p:nvSpPr>
          <p:cNvPr id="8" name="Text 6">
            <a:extLst>
              <a:ext uri="{FF2B5EF4-FFF2-40B4-BE49-F238E27FC236}">
                <a16:creationId xmlns:a16="http://schemas.microsoft.com/office/drawing/2014/main" id="{1EA63F9F-2C9C-E219-1482-F7075ABA8355}"/>
              </a:ext>
            </a:extLst>
          </p:cNvPr>
          <p:cNvSpPr/>
          <p:nvPr/>
        </p:nvSpPr>
        <p:spPr>
          <a:xfrm>
            <a:off x="457877" y="2436846"/>
            <a:ext cx="1426464" cy="1418142"/>
          </a:xfrm>
          <a:prstGeom prst="rect">
            <a:avLst/>
          </a:prstGeom>
          <a:noFill/>
          <a:ln/>
        </p:spPr>
        <p:txBody>
          <a:bodyPr wrap="square" lIns="0" tIns="0" rIns="0" bIns="0" rtlCol="0" anchor="t"/>
          <a:lstStyle/>
          <a:p>
            <a:pPr algn="ctr"/>
            <a:r>
              <a:rPr lang="en-IN" sz="1050">
                <a:latin typeface="Open Sans" pitchFamily="2" charset="0"/>
                <a:ea typeface="Open Sans" pitchFamily="2" charset="0"/>
                <a:cs typeface="Open Sans" pitchFamily="2" charset="0"/>
              </a:rPr>
              <a:t>Session start, prompt submit, pre and post tool use, stop, pre-compact, and more.</a:t>
            </a:r>
            <a:endParaRPr lang="en-US" sz="1050">
              <a:latin typeface="Open Sans" pitchFamily="2" charset="0"/>
              <a:ea typeface="Open Sans" pitchFamily="2" charset="0"/>
              <a:cs typeface="Open Sans" pitchFamily="2" charset="0"/>
            </a:endParaRPr>
          </a:p>
        </p:txBody>
      </p:sp>
      <p:sp>
        <p:nvSpPr>
          <p:cNvPr id="10" name="Shape 8">
            <a:extLst>
              <a:ext uri="{FF2B5EF4-FFF2-40B4-BE49-F238E27FC236}">
                <a16:creationId xmlns:a16="http://schemas.microsoft.com/office/drawing/2014/main" id="{4153DF97-48D1-81C9-A7EC-FB10489AA962}"/>
              </a:ext>
            </a:extLst>
          </p:cNvPr>
          <p:cNvSpPr/>
          <p:nvPr/>
        </p:nvSpPr>
        <p:spPr>
          <a:xfrm>
            <a:off x="2094653" y="1308748"/>
            <a:ext cx="1572768" cy="2871757"/>
          </a:xfrm>
          <a:prstGeom prst="roundRect">
            <a:avLst>
              <a:gd name="adj" fmla="val 5814"/>
            </a:avLst>
          </a:prstGeom>
          <a:solidFill>
            <a:srgbClr val="F5F5F5"/>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Shape 9">
            <a:extLst>
              <a:ext uri="{FF2B5EF4-FFF2-40B4-BE49-F238E27FC236}">
                <a16:creationId xmlns:a16="http://schemas.microsoft.com/office/drawing/2014/main" id="{0D17BC0D-3BF4-B8E2-6CD8-C9145123347B}"/>
              </a:ext>
            </a:extLst>
          </p:cNvPr>
          <p:cNvSpPr/>
          <p:nvPr/>
        </p:nvSpPr>
        <p:spPr>
          <a:xfrm>
            <a:off x="2670725" y="1486092"/>
            <a:ext cx="420624" cy="420624"/>
          </a:xfrm>
          <a:prstGeom prst="ellipse">
            <a:avLst/>
          </a:prstGeom>
          <a:solidFill>
            <a:schemeClr val="accent1"/>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a:extLst>
              <a:ext uri="{FF2B5EF4-FFF2-40B4-BE49-F238E27FC236}">
                <a16:creationId xmlns:a16="http://schemas.microsoft.com/office/drawing/2014/main" id="{62E6D61F-5970-40C0-9520-A781C8B21EAB}"/>
              </a:ext>
            </a:extLst>
          </p:cNvPr>
          <p:cNvSpPr/>
          <p:nvPr/>
        </p:nvSpPr>
        <p:spPr>
          <a:xfrm>
            <a:off x="2670725"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a:extLst>
              <a:ext uri="{FF2B5EF4-FFF2-40B4-BE49-F238E27FC236}">
                <a16:creationId xmlns:a16="http://schemas.microsoft.com/office/drawing/2014/main" id="{B32380DD-0492-BAA0-BC63-828BE246DB02}"/>
              </a:ext>
            </a:extLst>
          </p:cNvPr>
          <p:cNvSpPr/>
          <p:nvPr/>
        </p:nvSpPr>
        <p:spPr>
          <a:xfrm>
            <a:off x="2167805" y="1967117"/>
            <a:ext cx="1426464" cy="457200"/>
          </a:xfrm>
          <a:prstGeom prst="rect">
            <a:avLst/>
          </a:prstGeom>
          <a:noFill/>
          <a:ln/>
        </p:spPr>
        <p:txBody>
          <a:bodyPr wrap="square" lIns="0" tIns="0" rIns="0" bIns="0" rtlCol="0" anchor="ctr"/>
          <a:lstStyle/>
          <a:p>
            <a:pPr marL="0" indent="0" algn="ctr">
              <a:buNone/>
            </a:pPr>
            <a:r>
              <a:rPr lang="en-US" sz="1100" b="1">
                <a:solidFill>
                  <a:schemeClr val="accent1"/>
                </a:solidFill>
                <a:latin typeface="Open Sans" panose="020B0606030504020204" pitchFamily="34" charset="0"/>
                <a:ea typeface="Open Sans" panose="020B0606030504020204" pitchFamily="34" charset="0"/>
                <a:cs typeface="Open Sans" panose="020B0606030504020204" pitchFamily="34" charset="0"/>
              </a:rPr>
              <a:t>MATCH</a:t>
            </a:r>
          </a:p>
        </p:txBody>
      </p:sp>
      <p:sp>
        <p:nvSpPr>
          <p:cNvPr id="14" name="Text 12">
            <a:extLst>
              <a:ext uri="{FF2B5EF4-FFF2-40B4-BE49-F238E27FC236}">
                <a16:creationId xmlns:a16="http://schemas.microsoft.com/office/drawing/2014/main" id="{5726A930-8FCE-7FED-DDEB-2C8CC22AAAE7}"/>
              </a:ext>
            </a:extLst>
          </p:cNvPr>
          <p:cNvSpPr/>
          <p:nvPr/>
        </p:nvSpPr>
        <p:spPr>
          <a:xfrm>
            <a:off x="2167805" y="2436846"/>
            <a:ext cx="1426464" cy="1418142"/>
          </a:xfrm>
          <a:prstGeom prst="rect">
            <a:avLst/>
          </a:prstGeom>
          <a:noFill/>
          <a:ln/>
        </p:spPr>
        <p:txBody>
          <a:bodyPr wrap="square" lIns="0" tIns="0" rIns="0" bIns="0" rtlCol="0" anchor="t"/>
          <a:lstStyle/>
          <a:p>
            <a:pPr algn="ctr"/>
            <a:r>
              <a:rPr lang="en-IN" sz="1050">
                <a:latin typeface="Open Sans" pitchFamily="2" charset="0"/>
                <a:ea typeface="Open Sans" pitchFamily="2" charset="0"/>
                <a:cs typeface="Open Sans" pitchFamily="2" charset="0"/>
              </a:rPr>
              <a:t>A matcher selects tools, such as Edit, Write or Bash. The event arrives as JSON on stdin.</a:t>
            </a:r>
            <a:endParaRPr lang="en-US" sz="1050">
              <a:latin typeface="Open Sans" pitchFamily="2" charset="0"/>
              <a:ea typeface="Open Sans" pitchFamily="2" charset="0"/>
              <a:cs typeface="Open Sans" pitchFamily="2" charset="0"/>
            </a:endParaRPr>
          </a:p>
        </p:txBody>
      </p:sp>
      <p:sp>
        <p:nvSpPr>
          <p:cNvPr id="16" name="Shape 14">
            <a:extLst>
              <a:ext uri="{FF2B5EF4-FFF2-40B4-BE49-F238E27FC236}">
                <a16:creationId xmlns:a16="http://schemas.microsoft.com/office/drawing/2014/main" id="{8C69E38C-A8C9-CC38-234A-8F42DA7C8E99}"/>
              </a:ext>
            </a:extLst>
          </p:cNvPr>
          <p:cNvSpPr/>
          <p:nvPr/>
        </p:nvSpPr>
        <p:spPr>
          <a:xfrm>
            <a:off x="3804581" y="1308748"/>
            <a:ext cx="1572768" cy="2871757"/>
          </a:xfrm>
          <a:prstGeom prst="roundRect">
            <a:avLst>
              <a:gd name="adj" fmla="val 5814"/>
            </a:avLst>
          </a:prstGeom>
          <a:solidFill>
            <a:srgbClr val="F5F5F5"/>
          </a:solidFill>
          <a:ln w="19050">
            <a:solidFill>
              <a:srgbClr val="2E7D32"/>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5">
            <a:extLst>
              <a:ext uri="{FF2B5EF4-FFF2-40B4-BE49-F238E27FC236}">
                <a16:creationId xmlns:a16="http://schemas.microsoft.com/office/drawing/2014/main" id="{D9E8C8B3-0B2B-6DD3-7F60-44B1BBBF188D}"/>
              </a:ext>
            </a:extLst>
          </p:cNvPr>
          <p:cNvSpPr/>
          <p:nvPr/>
        </p:nvSpPr>
        <p:spPr>
          <a:xfrm>
            <a:off x="4380653" y="1486092"/>
            <a:ext cx="420624" cy="420624"/>
          </a:xfrm>
          <a:prstGeom prst="ellipse">
            <a:avLst/>
          </a:prstGeom>
          <a:solidFill>
            <a:srgbClr val="00B05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16">
            <a:extLst>
              <a:ext uri="{FF2B5EF4-FFF2-40B4-BE49-F238E27FC236}">
                <a16:creationId xmlns:a16="http://schemas.microsoft.com/office/drawing/2014/main" id="{8482D8CB-5147-98BE-C3EF-CC80B4A8FFB1}"/>
              </a:ext>
            </a:extLst>
          </p:cNvPr>
          <p:cNvSpPr/>
          <p:nvPr/>
        </p:nvSpPr>
        <p:spPr>
          <a:xfrm>
            <a:off x="4380653"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B788BF04-B8D2-5800-E0DB-2354D606D8B9}"/>
              </a:ext>
            </a:extLst>
          </p:cNvPr>
          <p:cNvSpPr/>
          <p:nvPr/>
        </p:nvSpPr>
        <p:spPr>
          <a:xfrm>
            <a:off x="3877733" y="1967117"/>
            <a:ext cx="1426464" cy="457200"/>
          </a:xfrm>
          <a:prstGeom prst="rect">
            <a:avLst/>
          </a:prstGeom>
          <a:noFill/>
          <a:ln/>
        </p:spPr>
        <p:txBody>
          <a:bodyPr wrap="square" lIns="0" tIns="0" rIns="0" bIns="0" rtlCol="0" anchor="ctr"/>
          <a:lstStyle/>
          <a:p>
            <a:pPr marL="0" indent="0" algn="ctr">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DECIDE</a:t>
            </a:r>
          </a:p>
        </p:txBody>
      </p:sp>
      <p:sp>
        <p:nvSpPr>
          <p:cNvPr id="20" name="Text 18">
            <a:extLst>
              <a:ext uri="{FF2B5EF4-FFF2-40B4-BE49-F238E27FC236}">
                <a16:creationId xmlns:a16="http://schemas.microsoft.com/office/drawing/2014/main" id="{85839D63-567A-EB8D-2029-A7279F768C9F}"/>
              </a:ext>
            </a:extLst>
          </p:cNvPr>
          <p:cNvSpPr/>
          <p:nvPr/>
        </p:nvSpPr>
        <p:spPr>
          <a:xfrm>
            <a:off x="3877733" y="2436846"/>
            <a:ext cx="1426464" cy="1418142"/>
          </a:xfrm>
          <a:prstGeom prst="rect">
            <a:avLst/>
          </a:prstGeom>
          <a:noFill/>
          <a:ln/>
        </p:spPr>
        <p:txBody>
          <a:bodyPr wrap="square" lIns="0" tIns="0" rIns="0" bIns="0" rtlCol="0" anchor="t"/>
          <a:lstStyle/>
          <a:p>
            <a:pPr algn="ctr"/>
            <a:r>
              <a:rPr lang="en-IN" sz="1050">
                <a:latin typeface="Open Sans" pitchFamily="2" charset="0"/>
                <a:ea typeface="Open Sans" pitchFamily="2" charset="0"/>
                <a:cs typeface="Open Sans" pitchFamily="2" charset="0"/>
              </a:rPr>
              <a:t>Exit 0 continues. Exit 2 blocks a pre-tool call and feeds stderr back to Claude.</a:t>
            </a:r>
            <a:br>
              <a:rPr lang="en-IN" sz="1050">
                <a:latin typeface="Open Sans" pitchFamily="2" charset="0"/>
                <a:ea typeface="Open Sans" pitchFamily="2" charset="0"/>
                <a:cs typeface="Open Sans" pitchFamily="2" charset="0"/>
              </a:rPr>
            </a:br>
            <a:r>
              <a:rPr lang="en-IN" sz="1050">
                <a:latin typeface="Open Sans" pitchFamily="2" charset="0"/>
                <a:ea typeface="Open Sans" pitchFamily="2" charset="0"/>
                <a:cs typeface="Open Sans" pitchFamily="2" charset="0"/>
              </a:rPr>
              <a:t/>
            </a:r>
            <a:endParaRPr lang="en-US" sz="1050">
              <a:latin typeface="Open Sans" pitchFamily="2" charset="0"/>
              <a:ea typeface="Open Sans" pitchFamily="2" charset="0"/>
              <a:cs typeface="Open Sans" pitchFamily="2" charset="0"/>
            </a:endParaRPr>
          </a:p>
        </p:txBody>
      </p:sp>
      <p:sp>
        <p:nvSpPr>
          <p:cNvPr id="22" name="Shape 20">
            <a:extLst>
              <a:ext uri="{FF2B5EF4-FFF2-40B4-BE49-F238E27FC236}">
                <a16:creationId xmlns:a16="http://schemas.microsoft.com/office/drawing/2014/main" id="{B3E1EB8A-C9CB-B081-9713-2088868828B0}"/>
              </a:ext>
            </a:extLst>
          </p:cNvPr>
          <p:cNvSpPr/>
          <p:nvPr/>
        </p:nvSpPr>
        <p:spPr>
          <a:xfrm>
            <a:off x="5514509" y="1308748"/>
            <a:ext cx="1572768" cy="2871757"/>
          </a:xfrm>
          <a:prstGeom prst="roundRect">
            <a:avLst>
              <a:gd name="adj" fmla="val 5814"/>
            </a:avLst>
          </a:prstGeom>
          <a:solidFill>
            <a:srgbClr val="F5F5F5"/>
          </a:solidFill>
          <a:ln w="19050">
            <a:solidFill>
              <a:schemeClr val="accent3"/>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3" name="Shape 21">
            <a:extLst>
              <a:ext uri="{FF2B5EF4-FFF2-40B4-BE49-F238E27FC236}">
                <a16:creationId xmlns:a16="http://schemas.microsoft.com/office/drawing/2014/main" id="{741C6268-42FC-D881-8C3D-281204924169}"/>
              </a:ext>
            </a:extLst>
          </p:cNvPr>
          <p:cNvSpPr/>
          <p:nvPr/>
        </p:nvSpPr>
        <p:spPr>
          <a:xfrm>
            <a:off x="6090581" y="1486092"/>
            <a:ext cx="420624" cy="420624"/>
          </a:xfrm>
          <a:prstGeom prst="ellipse">
            <a:avLst/>
          </a:prstGeom>
          <a:solidFill>
            <a:schemeClr val="accent3"/>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a:extLst>
              <a:ext uri="{FF2B5EF4-FFF2-40B4-BE49-F238E27FC236}">
                <a16:creationId xmlns:a16="http://schemas.microsoft.com/office/drawing/2014/main" id="{40BB3FD6-9B06-8EBC-9CF7-EC1C7A4CABE4}"/>
              </a:ext>
            </a:extLst>
          </p:cNvPr>
          <p:cNvSpPr/>
          <p:nvPr/>
        </p:nvSpPr>
        <p:spPr>
          <a:xfrm>
            <a:off x="6090581"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27395BD7-BDC1-153A-49A1-ECB3E7D16287}"/>
              </a:ext>
            </a:extLst>
          </p:cNvPr>
          <p:cNvSpPr/>
          <p:nvPr/>
        </p:nvSpPr>
        <p:spPr>
          <a:xfrm>
            <a:off x="5587661" y="1967117"/>
            <a:ext cx="1426464" cy="457200"/>
          </a:xfrm>
          <a:prstGeom prst="rect">
            <a:avLst/>
          </a:prstGeom>
          <a:noFill/>
          <a:ln/>
        </p:spPr>
        <p:txBody>
          <a:bodyPr wrap="square" lIns="0" tIns="0" rIns="0" bIns="0" rtlCol="0" anchor="ctr"/>
          <a:lstStyle/>
          <a:p>
            <a:pPr marL="0" indent="0" algn="ctr">
              <a:buNone/>
            </a:pPr>
            <a:r>
              <a:rPr lang="en-US" sz="1100" b="1">
                <a:solidFill>
                  <a:schemeClr val="accent3"/>
                </a:solidFill>
                <a:latin typeface="Open Sans" panose="020B0606030504020204" pitchFamily="34" charset="0"/>
                <a:ea typeface="Open Sans" panose="020B0606030504020204" pitchFamily="34" charset="0"/>
                <a:cs typeface="Open Sans" panose="020B0606030504020204" pitchFamily="34" charset="0"/>
              </a:rPr>
              <a:t>ENFORCE</a:t>
            </a:r>
          </a:p>
        </p:txBody>
      </p:sp>
      <p:sp>
        <p:nvSpPr>
          <p:cNvPr id="26" name="Text 24">
            <a:extLst>
              <a:ext uri="{FF2B5EF4-FFF2-40B4-BE49-F238E27FC236}">
                <a16:creationId xmlns:a16="http://schemas.microsoft.com/office/drawing/2014/main" id="{F642D309-5D67-599E-3C28-2705B233F1AB}"/>
              </a:ext>
            </a:extLst>
          </p:cNvPr>
          <p:cNvSpPr/>
          <p:nvPr/>
        </p:nvSpPr>
        <p:spPr>
          <a:xfrm>
            <a:off x="5587661" y="2436846"/>
            <a:ext cx="1426464" cy="1418142"/>
          </a:xfrm>
          <a:prstGeom prst="rect">
            <a:avLst/>
          </a:prstGeom>
          <a:noFill/>
          <a:ln/>
        </p:spPr>
        <p:txBody>
          <a:bodyPr wrap="square" lIns="0" tIns="0" rIns="0" bIns="0" rtlCol="0" anchor="t"/>
          <a:lstStyle/>
          <a:p>
            <a:pPr algn="ctr"/>
            <a:r>
              <a:rPr lang="en-IN" sz="1100">
                <a:latin typeface="Open Sans" pitchFamily="2" charset="0"/>
                <a:ea typeface="Open Sans" pitchFamily="2" charset="0"/>
                <a:cs typeface="Open Sans" pitchFamily="2" charset="0"/>
              </a:rPr>
              <a:t>Block edits to .env, *.db and .git/. Run pytest after each edit; surface failures.</a:t>
            </a:r>
            <a:endParaRPr lang="en-US" sz="1100">
              <a:latin typeface="Open Sans" pitchFamily="2" charset="0"/>
              <a:ea typeface="Open Sans" pitchFamily="2" charset="0"/>
              <a:cs typeface="Open Sans" pitchFamily="2" charset="0"/>
            </a:endParaRPr>
          </a:p>
        </p:txBody>
      </p:sp>
      <p:sp>
        <p:nvSpPr>
          <p:cNvPr id="28" name="Shape 26">
            <a:extLst>
              <a:ext uri="{FF2B5EF4-FFF2-40B4-BE49-F238E27FC236}">
                <a16:creationId xmlns:a16="http://schemas.microsoft.com/office/drawing/2014/main" id="{DE055E5B-CE6D-CE28-E687-40BBA659EBA2}"/>
              </a:ext>
            </a:extLst>
          </p:cNvPr>
          <p:cNvSpPr/>
          <p:nvPr/>
        </p:nvSpPr>
        <p:spPr>
          <a:xfrm>
            <a:off x="7224437" y="1308748"/>
            <a:ext cx="1572768" cy="2871757"/>
          </a:xfrm>
          <a:prstGeom prst="roundRect">
            <a:avLst>
              <a:gd name="adj" fmla="val 5814"/>
            </a:avLst>
          </a:prstGeom>
          <a:solidFill>
            <a:srgbClr val="F5F5F5"/>
          </a:solidFill>
          <a:ln w="19050">
            <a:solidFill>
              <a:srgbClr val="002060"/>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9" name="Shape 27">
            <a:extLst>
              <a:ext uri="{FF2B5EF4-FFF2-40B4-BE49-F238E27FC236}">
                <a16:creationId xmlns:a16="http://schemas.microsoft.com/office/drawing/2014/main" id="{81B10C7A-E862-64E1-5000-F02E85455EDC}"/>
              </a:ext>
            </a:extLst>
          </p:cNvPr>
          <p:cNvSpPr/>
          <p:nvPr/>
        </p:nvSpPr>
        <p:spPr>
          <a:xfrm>
            <a:off x="7800509" y="1486092"/>
            <a:ext cx="420624" cy="420624"/>
          </a:xfrm>
          <a:prstGeom prst="ellipse">
            <a:avLst/>
          </a:prstGeom>
          <a:solidFill>
            <a:srgbClr val="00206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30" name="Text 28">
            <a:extLst>
              <a:ext uri="{FF2B5EF4-FFF2-40B4-BE49-F238E27FC236}">
                <a16:creationId xmlns:a16="http://schemas.microsoft.com/office/drawing/2014/main" id="{1C2C2C58-CD3C-6EE3-D52F-9E479E9E4C96}"/>
              </a:ext>
            </a:extLst>
          </p:cNvPr>
          <p:cNvSpPr/>
          <p:nvPr/>
        </p:nvSpPr>
        <p:spPr>
          <a:xfrm>
            <a:off x="7800509"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5</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a:extLst>
              <a:ext uri="{FF2B5EF4-FFF2-40B4-BE49-F238E27FC236}">
                <a16:creationId xmlns:a16="http://schemas.microsoft.com/office/drawing/2014/main" id="{66D4DF3E-16C6-4825-678C-B918EC115AD7}"/>
              </a:ext>
            </a:extLst>
          </p:cNvPr>
          <p:cNvSpPr/>
          <p:nvPr/>
        </p:nvSpPr>
        <p:spPr>
          <a:xfrm>
            <a:off x="7297589" y="1967117"/>
            <a:ext cx="1426464" cy="457200"/>
          </a:xfrm>
          <a:prstGeom prst="rect">
            <a:avLst/>
          </a:prstGeom>
          <a:noFill/>
          <a:ln/>
        </p:spPr>
        <p:txBody>
          <a:bodyPr wrap="square" lIns="0" tIns="0" rIns="0" bIns="0" rtlCol="0" anchor="ctr"/>
          <a:lstStyle/>
          <a:p>
            <a:pPr marL="0" indent="0" algn="ctr">
              <a:buNone/>
            </a:pPr>
            <a:r>
              <a:rPr lang="en-US" sz="1100" b="1">
                <a:solidFill>
                  <a:srgbClr val="002060"/>
                </a:solidFill>
                <a:latin typeface="Open Sans" panose="020B0606030504020204" pitchFamily="34" charset="0"/>
                <a:ea typeface="Open Sans" panose="020B0606030504020204" pitchFamily="34" charset="0"/>
                <a:cs typeface="Open Sans" panose="020B0606030504020204" pitchFamily="34" charset="0"/>
              </a:rPr>
              <a:t>SHARE</a:t>
            </a:r>
          </a:p>
        </p:txBody>
      </p:sp>
      <p:sp>
        <p:nvSpPr>
          <p:cNvPr id="32" name="Text 30">
            <a:extLst>
              <a:ext uri="{FF2B5EF4-FFF2-40B4-BE49-F238E27FC236}">
                <a16:creationId xmlns:a16="http://schemas.microsoft.com/office/drawing/2014/main" id="{CF60A68A-F0FF-002F-DEED-C8FBA7CC989D}"/>
              </a:ext>
            </a:extLst>
          </p:cNvPr>
          <p:cNvSpPr/>
          <p:nvPr/>
        </p:nvSpPr>
        <p:spPr>
          <a:xfrm>
            <a:off x="7297589" y="2436846"/>
            <a:ext cx="1426464" cy="1418142"/>
          </a:xfrm>
          <a:prstGeom prst="rect">
            <a:avLst/>
          </a:prstGeom>
          <a:noFill/>
          <a:ln/>
        </p:spPr>
        <p:txBody>
          <a:bodyPr wrap="square" lIns="0" tIns="0" rIns="0" bIns="0" rtlCol="0" anchor="t"/>
          <a:lstStyle/>
          <a:p>
            <a:pPr algn="ctr"/>
            <a:r>
              <a:rPr lang="en-IN" sz="1100">
                <a:latin typeface="Open Sans" pitchFamily="2" charset="0"/>
                <a:ea typeface="Open Sans" pitchFamily="2" charset="0"/>
                <a:cs typeface="Open Sans" pitchFamily="2" charset="0"/>
              </a:rPr>
              <a:t>Commit the project settings file so every teammate gets the same guardrails. Inspect with /hooks.</a:t>
            </a:r>
            <a:endParaRPr lang="en-US" sz="1100">
              <a:latin typeface="Open Sans" pitchFamily="2" charset="0"/>
              <a:ea typeface="Open Sans" pitchFamily="2" charset="0"/>
              <a:cs typeface="Open Sans" pitchFamily="2" charset="0"/>
            </a:endParaRPr>
          </a:p>
        </p:txBody>
      </p:sp>
      <p:sp>
        <p:nvSpPr>
          <p:cNvPr id="33" name="TextBox 32">
            <a:extLst>
              <a:ext uri="{FF2B5EF4-FFF2-40B4-BE49-F238E27FC236}">
                <a16:creationId xmlns:a16="http://schemas.microsoft.com/office/drawing/2014/main" id="{6F94E9D6-D29B-8793-8C00-E684E0BE1F94}"/>
              </a:ext>
            </a:extLst>
          </p:cNvPr>
          <p:cNvSpPr txBox="1"/>
          <p:nvPr/>
        </p:nvSpPr>
        <p:spPr>
          <a:xfrm>
            <a:off x="673376" y="4356212"/>
            <a:ext cx="7797247" cy="292388"/>
          </a:xfrm>
          <a:prstGeom prst="rect">
            <a:avLst/>
          </a:prstGeom>
          <a:noFill/>
        </p:spPr>
        <p:txBody>
          <a:bodyPr wrap="square" rtlCol="0">
            <a:spAutoFit/>
          </a:bodyPr>
          <a:lstStyle/>
          <a:p>
            <a:pPr algn="ctr"/>
            <a:r>
              <a:rPr lang="en-IN" sz="1300" b="1">
                <a:latin typeface="Open Sans" panose="020B0606030504020204" pitchFamily="34" charset="0"/>
                <a:ea typeface="Open Sans" panose="020B0606030504020204" pitchFamily="34" charset="0"/>
                <a:cs typeface="Open Sans" panose="020B0606030504020204" pitchFamily="34" charset="0"/>
              </a:rPr>
              <a:t/>
            </a:r>
            <a:r>
              <a:rPr lang="en-IN" sz="1300" i="1">
                <a:solidFill>
                  <a:schemeClr val="tx2"/>
                </a:solidFill>
                <a:latin typeface="Open Sans" pitchFamily="2" charset="0"/>
                <a:ea typeface="Open Sans" pitchFamily="2" charset="0"/>
                <a:cs typeface="Open Sans" pitchFamily="2" charset="0"/>
              </a:rPr>
              <a:t>Hooks are guardrails, not a sandbox: a Bash command can still bypass a file-path matcher.</a:t>
            </a:r>
            <a:endParaRPr lang="en-US" sz="1300" i="1">
              <a:solidFill>
                <a:schemeClr val="tx2"/>
              </a:solidFill>
              <a:latin typeface="Open Sans" pitchFamily="2" charset="0"/>
              <a:ea typeface="Open Sans" pitchFamily="2" charset="0"/>
              <a:cs typeface="Open Sans" pitchFamily="2" charset="0"/>
            </a:endParaRPr>
          </a:p>
        </p:txBody>
      </p:sp>
      <p:sp>
        <p:nvSpPr>
          <p:cNvPr id="34" name="TextBox 33">
            <a:extLst>
              <a:ext uri="{FF2B5EF4-FFF2-40B4-BE49-F238E27FC236}">
                <a16:creationId xmlns:a16="http://schemas.microsoft.com/office/drawing/2014/main" id="{F96E3954-CE77-0FA8-D672-EAEEFCF151E7}"/>
              </a:ext>
            </a:extLst>
          </p:cNvPr>
          <p:cNvSpPr txBox="1"/>
          <p:nvPr/>
        </p:nvSpPr>
        <p:spPr>
          <a:xfrm>
            <a:off x="367200" y="770400"/>
            <a:ext cx="8412480" cy="307777"/>
          </a:xfrm>
          <a:prstGeom prst="rect">
            <a:avLst/>
          </a:prstGeom>
          <a:noFill/>
        </p:spPr>
        <p:txBody>
          <a:bodyPr wrap="square" rtlCol="0">
            <a:noAutofit/>
          </a:bodyPr>
          <a:lstStyle/>
          <a:p>
            <a:pPr algn="l"/>
            <a:r>
              <a:rPr lang="en-IN" sz="1400">
                <a:solidFill>
                  <a:schemeClr val="tx2"/>
                </a:solidFill>
                <a:latin typeface="Open Sans" pitchFamily="2" charset="0"/>
                <a:ea typeface="Open Sans" pitchFamily="2" charset="0"/>
                <a:cs typeface="Open Sans" pitchFamily="2" charset="0"/>
              </a:rPr>
              <a:t>Shell commands that run at fixed points in the Claude Code loop, set in project settings.</a:t>
            </a:r>
            <a:endParaRPr lang="en-US" sz="1400">
              <a:solidFill>
                <a:schemeClr val="tx2"/>
              </a:solidFill>
              <a:latin typeface="Open Sans" pitchFamily="2" charset="0"/>
              <a:ea typeface="Open Sans" pitchFamily="2" charset="0"/>
              <a:cs typeface="Open Sans" pitchFamily="2" charset="0"/>
            </a:endParaRPr>
          </a:p>
        </p:txBody>
      </p:sp>
      <p:cxnSp>
        <p:nvCxnSpPr>
          <p:cNvPr id="36" name="Straight Arrow Connector 35">
            <a:extLst>
              <a:ext uri="{FF2B5EF4-FFF2-40B4-BE49-F238E27FC236}">
                <a16:creationId xmlns:a16="http://schemas.microsoft.com/office/drawing/2014/main" id="{6310AA2E-0BC1-3F66-D739-7FE38EF64F56}"/>
              </a:ext>
            </a:extLst>
          </p:cNvPr>
          <p:cNvCxnSpPr>
            <a:cxnSpLocks/>
          </p:cNvCxnSpPr>
          <p:nvPr/>
        </p:nvCxnSpPr>
        <p:spPr>
          <a:xfrm>
            <a:off x="1988738" y="2692846"/>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E6175C2-987D-E8BC-5C62-F5FD0C36E752}"/>
              </a:ext>
            </a:extLst>
          </p:cNvPr>
          <p:cNvCxnSpPr>
            <a:cxnSpLocks/>
          </p:cNvCxnSpPr>
          <p:nvPr/>
        </p:nvCxnSpPr>
        <p:spPr>
          <a:xfrm>
            <a:off x="3689030" y="2688109"/>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5652E88-3E7B-A626-4195-6C8A502DB81F}"/>
              </a:ext>
            </a:extLst>
          </p:cNvPr>
          <p:cNvCxnSpPr>
            <a:cxnSpLocks/>
          </p:cNvCxnSpPr>
          <p:nvPr/>
        </p:nvCxnSpPr>
        <p:spPr>
          <a:xfrm>
            <a:off x="5407750" y="2688109"/>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2462479-C07C-FB37-D9A8-EE12598D8311}"/>
              </a:ext>
            </a:extLst>
          </p:cNvPr>
          <p:cNvCxnSpPr>
            <a:cxnSpLocks/>
          </p:cNvCxnSpPr>
          <p:nvPr/>
        </p:nvCxnSpPr>
        <p:spPr>
          <a:xfrm>
            <a:off x="7113282" y="2691823"/>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60C25A8-5579-17A2-7445-2BFD756078EC}"/>
              </a:ext>
            </a:extLst>
          </p:cNvPr>
          <p:cNvSpPr/>
          <p:nvPr/>
        </p:nvSpPr>
        <p:spPr>
          <a:xfrm>
            <a:off x="365760" y="201168"/>
            <a:ext cx="8412480" cy="475488"/>
          </a:xfrm>
          <a:prstGeom prst="rect">
            <a:avLst/>
          </a:prstGeom>
          <a:noFill/>
          <a:ln/>
        </p:spPr>
        <p:txBody>
          <a:bodyPr wrap="square" lIns="0" tIns="0" rIns="0" bIns="0" rtlCol="0" anchor="ctr"/>
          <a:lstStyle/>
          <a:p>
            <a:pPr marL="0" indent="0">
              <a:buNone/>
            </a:pPr>
            <a:r>
              <a:rPr lang="en-US" sz="2800" b="1">
                <a:latin typeface="Open Sans" panose="020B0606030504020204" pitchFamily="34" charset="0"/>
                <a:ea typeface="Open Sans" panose="020B0606030504020204" pitchFamily="34" charset="0"/>
                <a:cs typeface="Open Sans" panose="020B0606030504020204" pitchFamily="34" charset="0"/>
              </a:rPr>
              <a:t>What Good Looks Like</a:t>
            </a:r>
          </a:p>
        </p:txBody>
      </p:sp>
      <p:sp>
        <p:nvSpPr>
          <p:cNvPr id="4" name="Text 1">
            <a:extLst>
              <a:ext uri="{FF2B5EF4-FFF2-40B4-BE49-F238E27FC236}">
                <a16:creationId xmlns:a16="http://schemas.microsoft.com/office/drawing/2014/main" id="{7AAC3D0B-7FF0-F904-BC04-3FD5DAEE1EB1}"/>
              </a:ext>
            </a:extLst>
          </p:cNvPr>
          <p:cNvSpPr/>
          <p:nvPr/>
        </p:nvSpPr>
        <p:spPr>
          <a:xfrm>
            <a:off x="365760" y="667512"/>
            <a:ext cx="8412480" cy="256032"/>
          </a:xfrm>
          <a:prstGeom prst="rect">
            <a:avLst/>
          </a:prstGeom>
          <a:noFill/>
          <a:ln/>
        </p:spPr>
        <p:txBody>
          <a:bodyPr wrap="square" lIns="0" tIns="0" rIns="0" bIns="0" rtlCol="0" anchor="ctr"/>
          <a:lstStyle/>
          <a:p>
            <a:pPr marL="0" indent="0">
              <a:buNone/>
            </a:pPr>
            <a:r>
              <a:rPr lang="en-US" sz="1300">
                <a:solidFill>
                  <a:srgbClr val="757575"/>
                </a:solidFill>
                <a:latin typeface="Open Sans" pitchFamily="2" charset="0"/>
                <a:ea typeface="Open Sans" pitchFamily="2" charset="0"/>
                <a:cs typeface="Open Sans" pitchFamily="2" charset="0"/>
              </a:rPr>
              <a:t>The difference between output a reviewer uses and output a reviewer ignores.</a:t>
            </a:r>
            <a:endParaRPr lang="en-US" sz="1300">
              <a:latin typeface="Open Sans" pitchFamily="2" charset="0"/>
              <a:ea typeface="Open Sans" pitchFamily="2" charset="0"/>
              <a:cs typeface="Open Sans" pitchFamily="2" charset="0"/>
            </a:endParaRPr>
          </a:p>
        </p:txBody>
      </p:sp>
      <p:sp>
        <p:nvSpPr>
          <p:cNvPr id="6" name="Shape 2">
            <a:extLst>
              <a:ext uri="{FF2B5EF4-FFF2-40B4-BE49-F238E27FC236}">
                <a16:creationId xmlns:a16="http://schemas.microsoft.com/office/drawing/2014/main" id="{55BC9878-CF21-39E4-EE49-A3D5629C0178}"/>
              </a:ext>
            </a:extLst>
          </p:cNvPr>
          <p:cNvSpPr/>
          <p:nvPr/>
        </p:nvSpPr>
        <p:spPr>
          <a:xfrm>
            <a:off x="365760" y="1005840"/>
            <a:ext cx="8412480" cy="907750"/>
          </a:xfrm>
          <a:prstGeom prst="roundRect">
            <a:avLst>
              <a:gd name="adj" fmla="val 678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7" name="Text 3">
            <a:extLst>
              <a:ext uri="{FF2B5EF4-FFF2-40B4-BE49-F238E27FC236}">
                <a16:creationId xmlns:a16="http://schemas.microsoft.com/office/drawing/2014/main" id="{2D3B69A5-7488-46BA-8A57-B937FC84FBF1}"/>
              </a:ext>
            </a:extLst>
          </p:cNvPr>
          <p:cNvSpPr/>
          <p:nvPr/>
        </p:nvSpPr>
        <p:spPr>
          <a:xfrm>
            <a:off x="548640" y="1082768"/>
            <a:ext cx="8229600" cy="215398"/>
          </a:xfrm>
          <a:prstGeom prst="rect">
            <a:avLst/>
          </a:prstGeom>
          <a:noFill/>
          <a:ln/>
        </p:spPr>
        <p:txBody>
          <a:bodyPr wrap="square" lIns="0" tIns="0" rIns="0" bIns="0" rtlCol="0" anchor="ctr"/>
          <a:lstStyle/>
          <a:p>
            <a:pPr marL="0" indent="0">
              <a:buNone/>
            </a:pPr>
            <a:r>
              <a:rPr lang="en-US" sz="1300" b="1">
                <a:latin typeface="Open Sans" panose="020B0606030504020204" pitchFamily="34" charset="0"/>
                <a:ea typeface="Open Sans" panose="020B0606030504020204" pitchFamily="34" charset="0"/>
                <a:cs typeface="Open Sans" panose="020B0606030504020204" pitchFamily="34" charset="0"/>
              </a:rPr>
              <a:t>COMMIT MESSAGE</a:t>
            </a:r>
          </a:p>
        </p:txBody>
      </p:sp>
      <p:sp>
        <p:nvSpPr>
          <p:cNvPr id="8" name="Text 4">
            <a:extLst>
              <a:ext uri="{FF2B5EF4-FFF2-40B4-BE49-F238E27FC236}">
                <a16:creationId xmlns:a16="http://schemas.microsoft.com/office/drawing/2014/main" id="{8ECCC0D6-68DA-77A0-801A-266936DCAFBF}"/>
              </a:ext>
            </a:extLst>
          </p:cNvPr>
          <p:cNvSpPr/>
          <p:nvPr/>
        </p:nvSpPr>
        <p:spPr>
          <a:xfrm>
            <a:off x="548640" y="1303378"/>
            <a:ext cx="8229600" cy="215398"/>
          </a:xfrm>
          <a:prstGeom prst="rect">
            <a:avLst/>
          </a:prstGeom>
          <a:noFill/>
          <a:ln/>
        </p:spPr>
        <p:txBody>
          <a:bodyPr wrap="square" lIns="0" tIns="0" rIns="0" bIns="0" rtlCol="0" anchor="ctr"/>
          <a:lstStyle/>
          <a:p>
            <a:pPr marL="0" indent="0">
              <a:buNone/>
            </a:pPr>
            <a:r>
              <a:rPr lang="en-US" sz="1200" b="1">
                <a:solidFill>
                  <a:schemeClr val="accent3"/>
                </a:solidFill>
                <a:latin typeface="Open Sans" panose="020B0606030504020204" pitchFamily="34" charset="0"/>
                <a:ea typeface="Open Sans" panose="020B0606030504020204" pitchFamily="34" charset="0"/>
                <a:cs typeface="Open Sans" panose="020B0606030504020204" pitchFamily="34" charset="0"/>
              </a:rPr>
              <a:t>Before: </a:t>
            </a:r>
            <a:r>
              <a:rPr lang="en-US" sz="1200">
                <a:solidFill>
                  <a:schemeClr val="tx2"/>
                </a:solidFill>
                <a:latin typeface="Open Sans" pitchFamily="2" charset="0"/>
                <a:ea typeface="Open Sans" pitchFamily="2" charset="0"/>
                <a:cs typeface="Open Sans" pitchFamily="2" charset="0"/>
              </a:rPr>
              <a:t>"fixed stuff"</a:t>
            </a:r>
          </a:p>
        </p:txBody>
      </p:sp>
      <p:sp>
        <p:nvSpPr>
          <p:cNvPr id="9" name="Text 5">
            <a:extLst>
              <a:ext uri="{FF2B5EF4-FFF2-40B4-BE49-F238E27FC236}">
                <a16:creationId xmlns:a16="http://schemas.microsoft.com/office/drawing/2014/main" id="{BE3C73CF-ECC3-051B-21F0-A966F9DEDB1A}"/>
              </a:ext>
            </a:extLst>
          </p:cNvPr>
          <p:cNvSpPr/>
          <p:nvPr/>
        </p:nvSpPr>
        <p:spPr>
          <a:xfrm>
            <a:off x="548640" y="1514437"/>
            <a:ext cx="8165592" cy="349856"/>
          </a:xfrm>
          <a:prstGeom prst="rect">
            <a:avLst/>
          </a:prstGeom>
          <a:noFill/>
          <a:ln/>
        </p:spPr>
        <p:txBody>
          <a:bodyPr wrap="square" lIns="0" tIns="0" rIns="0" bIns="0" rtlCol="0" anchor="ctr"/>
          <a:lstStyle/>
          <a:p>
            <a:pPr marL="0" indent="0">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After: </a:t>
            </a:r>
            <a:r>
              <a:rPr lang="en-US" sz="1100" i="1">
                <a:solidFill>
                  <a:schemeClr val="tx1">
                    <a:lumMod val="75000"/>
                    <a:lumOff val="25000"/>
                  </a:schemeClr>
                </a:solidFill>
                <a:latin typeface="Open Sans" pitchFamily="2" charset="0"/>
                <a:ea typeface="Open Sans" pitchFamily="2" charset="0"/>
                <a:cs typeface="Open Sans" pitchFamily="2" charset="0"/>
              </a:rPr>
              <a:t>Add input validation to </a:t>
            </a:r>
            <a:r>
              <a:rPr lang="en-US" sz="1100" i="1" err="1">
                <a:solidFill>
                  <a:schemeClr val="tx1">
                    <a:lumMod val="75000"/>
                    <a:lumOff val="25000"/>
                  </a:schemeClr>
                </a:solidFill>
                <a:latin typeface="Open Sans" pitchFamily="2" charset="0"/>
                <a:ea typeface="Open Sans" pitchFamily="2" charset="0"/>
                <a:cs typeface="Open Sans" pitchFamily="2" charset="0"/>
              </a:rPr>
              <a:t>flag_stale_accounts</a:t>
            </a:r>
            <a:r>
              <a:rPr lang="en-US" sz="1100" i="1">
                <a:solidFill>
                  <a:schemeClr val="tx1">
                    <a:lumMod val="75000"/>
                    <a:lumOff val="25000"/>
                  </a:schemeClr>
                </a:solidFill>
                <a:latin typeface="Open Sans" pitchFamily="2" charset="0"/>
                <a:ea typeface="Open Sans" pitchFamily="2" charset="0"/>
                <a:cs typeface="Open Sans" pitchFamily="2" charset="0"/>
              </a:rPr>
              <a:t> — handles missing </a:t>
            </a:r>
            <a:r>
              <a:rPr lang="en-US" sz="1100" i="1" err="1">
                <a:solidFill>
                  <a:schemeClr val="tx1">
                    <a:lumMod val="75000"/>
                    <a:lumOff val="25000"/>
                  </a:schemeClr>
                </a:solidFill>
                <a:latin typeface="Open Sans" pitchFamily="2" charset="0"/>
                <a:ea typeface="Open Sans" pitchFamily="2" charset="0"/>
                <a:cs typeface="Open Sans" pitchFamily="2" charset="0"/>
              </a:rPr>
              <a:t>last_contact</a:t>
            </a:r>
            <a:r>
              <a:rPr lang="en-US" sz="1100" i="1">
                <a:solidFill>
                  <a:schemeClr val="tx1">
                    <a:lumMod val="75000"/>
                    <a:lumOff val="25000"/>
                  </a:schemeClr>
                </a:solidFill>
                <a:latin typeface="Open Sans" pitchFamily="2" charset="0"/>
                <a:ea typeface="Open Sans" pitchFamily="2" charset="0"/>
                <a:cs typeface="Open Sans" pitchFamily="2" charset="0"/>
              </a:rPr>
              <a:t> field with a clear error message instead of crashing. Regression test added. Known limitation: date format validation not yet implemented.</a:t>
            </a:r>
            <a:endParaRPr lang="en-US" sz="1100">
              <a:solidFill>
                <a:schemeClr val="tx1">
                  <a:lumMod val="75000"/>
                  <a:lumOff val="25000"/>
                </a:schemeClr>
              </a:solidFill>
              <a:latin typeface="Open Sans" pitchFamily="2" charset="0"/>
              <a:ea typeface="Open Sans" pitchFamily="2" charset="0"/>
              <a:cs typeface="Open Sans" pitchFamily="2" charset="0"/>
            </a:endParaRPr>
          </a:p>
        </p:txBody>
      </p:sp>
      <p:sp>
        <p:nvSpPr>
          <p:cNvPr id="11" name="Shape 2">
            <a:extLst>
              <a:ext uri="{FF2B5EF4-FFF2-40B4-BE49-F238E27FC236}">
                <a16:creationId xmlns:a16="http://schemas.microsoft.com/office/drawing/2014/main" id="{3A403270-E756-E591-099B-BADCA14DA984}"/>
              </a:ext>
            </a:extLst>
          </p:cNvPr>
          <p:cNvSpPr/>
          <p:nvPr/>
        </p:nvSpPr>
        <p:spPr>
          <a:xfrm>
            <a:off x="365760" y="1989857"/>
            <a:ext cx="8412480" cy="907750"/>
          </a:xfrm>
          <a:prstGeom prst="roundRect">
            <a:avLst>
              <a:gd name="adj" fmla="val 678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3">
            <a:extLst>
              <a:ext uri="{FF2B5EF4-FFF2-40B4-BE49-F238E27FC236}">
                <a16:creationId xmlns:a16="http://schemas.microsoft.com/office/drawing/2014/main" id="{F0038F9F-F043-E41C-304C-16570EF0B1EB}"/>
              </a:ext>
            </a:extLst>
          </p:cNvPr>
          <p:cNvSpPr/>
          <p:nvPr/>
        </p:nvSpPr>
        <p:spPr>
          <a:xfrm>
            <a:off x="548640" y="2095074"/>
            <a:ext cx="8229600" cy="215398"/>
          </a:xfrm>
          <a:prstGeom prst="rect">
            <a:avLst/>
          </a:prstGeom>
          <a:noFill/>
          <a:ln/>
        </p:spPr>
        <p:txBody>
          <a:bodyPr wrap="square" lIns="0" tIns="0" rIns="0" bIns="0" rtlCol="0" anchor="ctr"/>
          <a:lstStyle/>
          <a:p>
            <a:pPr marL="0" indent="0">
              <a:buNone/>
            </a:pPr>
            <a:r>
              <a:rPr lang="en-US" sz="1300" b="1">
                <a:latin typeface="Open Sans" panose="020B0606030504020204" pitchFamily="34" charset="0"/>
                <a:ea typeface="Open Sans" panose="020B0606030504020204" pitchFamily="34" charset="0"/>
                <a:cs typeface="Open Sans" panose="020B0606030504020204" pitchFamily="34" charset="0"/>
              </a:rPr>
              <a:t>BRANCH NAME</a:t>
            </a:r>
          </a:p>
        </p:txBody>
      </p:sp>
      <p:sp>
        <p:nvSpPr>
          <p:cNvPr id="13" name="Text 4">
            <a:extLst>
              <a:ext uri="{FF2B5EF4-FFF2-40B4-BE49-F238E27FC236}">
                <a16:creationId xmlns:a16="http://schemas.microsoft.com/office/drawing/2014/main" id="{5570CCCF-E1FA-5108-A67D-578B5BA80271}"/>
              </a:ext>
            </a:extLst>
          </p:cNvPr>
          <p:cNvSpPr/>
          <p:nvPr/>
        </p:nvSpPr>
        <p:spPr>
          <a:xfrm>
            <a:off x="548640" y="2315684"/>
            <a:ext cx="8229600" cy="215398"/>
          </a:xfrm>
          <a:prstGeom prst="rect">
            <a:avLst/>
          </a:prstGeom>
          <a:noFill/>
          <a:ln/>
        </p:spPr>
        <p:txBody>
          <a:bodyPr wrap="square" lIns="0" tIns="0" rIns="0" bIns="0" rtlCol="0" anchor="ctr"/>
          <a:lstStyle/>
          <a:p>
            <a:pPr marL="0" indent="0">
              <a:buNone/>
            </a:pPr>
            <a:r>
              <a:rPr lang="en-US" sz="1200" b="1">
                <a:solidFill>
                  <a:schemeClr val="accent3"/>
                </a:solidFill>
                <a:latin typeface="Open Sans" panose="020B0606030504020204" pitchFamily="34" charset="0"/>
                <a:ea typeface="Open Sans" panose="020B0606030504020204" pitchFamily="34" charset="0"/>
                <a:cs typeface="Open Sans" panose="020B0606030504020204" pitchFamily="34" charset="0"/>
              </a:rPr>
              <a:t>Before: </a:t>
            </a:r>
            <a:r>
              <a:rPr lang="en-US" sz="1200">
                <a:solidFill>
                  <a:schemeClr val="tx2"/>
                </a:solidFill>
                <a:latin typeface="Open Sans" pitchFamily="2" charset="0"/>
                <a:ea typeface="Open Sans" pitchFamily="2" charset="0"/>
                <a:cs typeface="Open Sans" pitchFamily="2" charset="0"/>
              </a:rPr>
              <a:t>”Adam-fix"</a:t>
            </a:r>
          </a:p>
        </p:txBody>
      </p:sp>
      <p:sp>
        <p:nvSpPr>
          <p:cNvPr id="14" name="Text 5">
            <a:extLst>
              <a:ext uri="{FF2B5EF4-FFF2-40B4-BE49-F238E27FC236}">
                <a16:creationId xmlns:a16="http://schemas.microsoft.com/office/drawing/2014/main" id="{919AB53E-07AC-BD52-3A89-4C235E6C8D54}"/>
              </a:ext>
            </a:extLst>
          </p:cNvPr>
          <p:cNvSpPr/>
          <p:nvPr/>
        </p:nvSpPr>
        <p:spPr>
          <a:xfrm>
            <a:off x="548640" y="2526743"/>
            <a:ext cx="8229600" cy="215398"/>
          </a:xfrm>
          <a:prstGeom prst="rect">
            <a:avLst/>
          </a:prstGeom>
          <a:noFill/>
          <a:ln/>
        </p:spPr>
        <p:txBody>
          <a:bodyPr wrap="square" lIns="0" tIns="0" rIns="0" bIns="0" rtlCol="0" anchor="ctr"/>
          <a:lstStyle/>
          <a:p>
            <a:pPr marL="0" indent="0">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After: </a:t>
            </a:r>
            <a:r>
              <a:rPr lang="en-US" sz="1100" i="1">
                <a:solidFill>
                  <a:schemeClr val="tx1">
                    <a:lumMod val="75000"/>
                    <a:lumOff val="25000"/>
                  </a:schemeClr>
                </a:solidFill>
                <a:latin typeface="Open Sans" pitchFamily="2" charset="0"/>
                <a:ea typeface="Open Sans" pitchFamily="2" charset="0"/>
                <a:cs typeface="Open Sans" pitchFamily="2" charset="0"/>
              </a:rPr>
              <a:t>"fix/input-validation-account-checker"</a:t>
            </a:r>
            <a:endParaRPr lang="en-US" sz="1100">
              <a:solidFill>
                <a:schemeClr val="tx1">
                  <a:lumMod val="75000"/>
                  <a:lumOff val="25000"/>
                </a:schemeClr>
              </a:solidFill>
              <a:latin typeface="Open Sans" pitchFamily="2" charset="0"/>
              <a:ea typeface="Open Sans" pitchFamily="2" charset="0"/>
              <a:cs typeface="Open Sans" pitchFamily="2" charset="0"/>
            </a:endParaRPr>
          </a:p>
        </p:txBody>
      </p:sp>
      <p:sp>
        <p:nvSpPr>
          <p:cNvPr id="16" name="Shape 2">
            <a:extLst>
              <a:ext uri="{FF2B5EF4-FFF2-40B4-BE49-F238E27FC236}">
                <a16:creationId xmlns:a16="http://schemas.microsoft.com/office/drawing/2014/main" id="{BC3DF86C-27DB-D345-15E0-2A26D933BBAB}"/>
              </a:ext>
            </a:extLst>
          </p:cNvPr>
          <p:cNvSpPr/>
          <p:nvPr/>
        </p:nvSpPr>
        <p:spPr>
          <a:xfrm>
            <a:off x="365760" y="2973873"/>
            <a:ext cx="8412480" cy="1118809"/>
          </a:xfrm>
          <a:prstGeom prst="roundRect">
            <a:avLst>
              <a:gd name="adj" fmla="val 678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Text 3">
            <a:extLst>
              <a:ext uri="{FF2B5EF4-FFF2-40B4-BE49-F238E27FC236}">
                <a16:creationId xmlns:a16="http://schemas.microsoft.com/office/drawing/2014/main" id="{1631AD3F-CAE2-2D73-E8E8-6210F084FE2F}"/>
              </a:ext>
            </a:extLst>
          </p:cNvPr>
          <p:cNvSpPr/>
          <p:nvPr/>
        </p:nvSpPr>
        <p:spPr>
          <a:xfrm>
            <a:off x="548640" y="3050802"/>
            <a:ext cx="8229600" cy="215398"/>
          </a:xfrm>
          <a:prstGeom prst="rect">
            <a:avLst/>
          </a:prstGeom>
          <a:noFill/>
          <a:ln/>
        </p:spPr>
        <p:txBody>
          <a:bodyPr wrap="square" lIns="0" tIns="0" rIns="0" bIns="0" rtlCol="0" anchor="ctr"/>
          <a:lstStyle/>
          <a:p>
            <a:pPr marL="0" indent="0">
              <a:buNone/>
            </a:pPr>
            <a:r>
              <a:rPr lang="en-US" sz="1300" b="1">
                <a:latin typeface="Open Sans" panose="020B0606030504020204" pitchFamily="34" charset="0"/>
                <a:ea typeface="Open Sans" panose="020B0606030504020204" pitchFamily="34" charset="0"/>
                <a:cs typeface="Open Sans" panose="020B0606030504020204" pitchFamily="34" charset="0"/>
              </a:rPr>
              <a:t>PR DESCRIPTION</a:t>
            </a:r>
          </a:p>
        </p:txBody>
      </p:sp>
      <p:sp>
        <p:nvSpPr>
          <p:cNvPr id="18" name="Text 4">
            <a:extLst>
              <a:ext uri="{FF2B5EF4-FFF2-40B4-BE49-F238E27FC236}">
                <a16:creationId xmlns:a16="http://schemas.microsoft.com/office/drawing/2014/main" id="{AF864877-B2B4-2F8A-48A8-ADDCDB54922B}"/>
              </a:ext>
            </a:extLst>
          </p:cNvPr>
          <p:cNvSpPr/>
          <p:nvPr/>
        </p:nvSpPr>
        <p:spPr>
          <a:xfrm>
            <a:off x="548640" y="3271412"/>
            <a:ext cx="8229600" cy="215398"/>
          </a:xfrm>
          <a:prstGeom prst="rect">
            <a:avLst/>
          </a:prstGeom>
          <a:noFill/>
          <a:ln/>
        </p:spPr>
        <p:txBody>
          <a:bodyPr wrap="square" lIns="0" tIns="0" rIns="0" bIns="0" rtlCol="0" anchor="ctr"/>
          <a:lstStyle/>
          <a:p>
            <a:pPr marL="0" indent="0">
              <a:buNone/>
            </a:pPr>
            <a:r>
              <a:rPr lang="en-US" sz="1200" b="1">
                <a:solidFill>
                  <a:schemeClr val="accent3"/>
                </a:solidFill>
                <a:latin typeface="Open Sans" panose="020B0606030504020204" pitchFamily="34" charset="0"/>
                <a:ea typeface="Open Sans" panose="020B0606030504020204" pitchFamily="34" charset="0"/>
                <a:cs typeface="Open Sans" panose="020B0606030504020204" pitchFamily="34" charset="0"/>
              </a:rPr>
              <a:t>Before: </a:t>
            </a:r>
            <a:r>
              <a:rPr lang="en-US" sz="1200">
                <a:solidFill>
                  <a:schemeClr val="tx2"/>
                </a:solidFill>
                <a:latin typeface="Open Sans" pitchFamily="2" charset="0"/>
                <a:ea typeface="Open Sans" pitchFamily="2" charset="0"/>
                <a:cs typeface="Open Sans" pitchFamily="2" charset="0"/>
              </a:rPr>
              <a:t>"Updated the script"</a:t>
            </a:r>
          </a:p>
        </p:txBody>
      </p:sp>
      <p:sp>
        <p:nvSpPr>
          <p:cNvPr id="19" name="Text 5">
            <a:extLst>
              <a:ext uri="{FF2B5EF4-FFF2-40B4-BE49-F238E27FC236}">
                <a16:creationId xmlns:a16="http://schemas.microsoft.com/office/drawing/2014/main" id="{490BFF3F-BCCE-6448-6F3A-3E6A33902575}"/>
              </a:ext>
            </a:extLst>
          </p:cNvPr>
          <p:cNvSpPr/>
          <p:nvPr/>
        </p:nvSpPr>
        <p:spPr>
          <a:xfrm>
            <a:off x="548640" y="3482470"/>
            <a:ext cx="7850293" cy="533611"/>
          </a:xfrm>
          <a:prstGeom prst="rect">
            <a:avLst/>
          </a:prstGeom>
          <a:noFill/>
          <a:ln/>
        </p:spPr>
        <p:txBody>
          <a:bodyPr wrap="square" lIns="0" tIns="0" rIns="0" bIns="0" rtlCol="0" anchor="ctr"/>
          <a:lstStyle/>
          <a:p>
            <a:pPr marL="0" indent="0">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After: </a:t>
            </a:r>
            <a:r>
              <a:rPr lang="en-US" sz="1100" i="1">
                <a:solidFill>
                  <a:schemeClr val="tx2"/>
                </a:solidFill>
                <a:latin typeface="Open Sans" pitchFamily="2" charset="0"/>
                <a:ea typeface="Open Sans" pitchFamily="2" charset="0"/>
                <a:cs typeface="Open Sans" pitchFamily="2" charset="0"/>
              </a:rPr>
              <a:t>"Adds input validation to the account checker script. Fixes silent crash when </a:t>
            </a:r>
            <a:r>
              <a:rPr lang="en-US" sz="1100" i="1" err="1">
                <a:solidFill>
                  <a:schemeClr val="tx2"/>
                </a:solidFill>
                <a:latin typeface="Open Sans" pitchFamily="2" charset="0"/>
                <a:ea typeface="Open Sans" pitchFamily="2" charset="0"/>
                <a:cs typeface="Open Sans" pitchFamily="2" charset="0"/>
              </a:rPr>
              <a:t>last_contact</a:t>
            </a:r>
            <a:r>
              <a:rPr lang="en-US" sz="1100" i="1">
                <a:solidFill>
                  <a:schemeClr val="tx2"/>
                </a:solidFill>
                <a:latin typeface="Open Sans" pitchFamily="2" charset="0"/>
                <a:ea typeface="Open Sans" pitchFamily="2" charset="0"/>
                <a:cs typeface="Open Sans" pitchFamily="2" charset="0"/>
              </a:rPr>
              <a:t> field is missing. Tested with a 10-row CSV including 2 rows with missing data. Reviewer should verify: error message wording and whether Medium-severity items from code review should block merge."</a:t>
            </a:r>
            <a:endParaRPr lang="en-US" sz="1100">
              <a:solidFill>
                <a:schemeClr val="tx2"/>
              </a:solidFill>
              <a:latin typeface="Open Sans" pitchFamily="2" charset="0"/>
              <a:ea typeface="Open Sans" pitchFamily="2" charset="0"/>
              <a:cs typeface="Open Sans" pitchFamily="2" charset="0"/>
            </a:endParaRPr>
          </a:p>
        </p:txBody>
      </p:sp>
      <p:sp>
        <p:nvSpPr>
          <p:cNvPr id="20" name="TextBox 19">
            <a:extLst>
              <a:ext uri="{FF2B5EF4-FFF2-40B4-BE49-F238E27FC236}">
                <a16:creationId xmlns:a16="http://schemas.microsoft.com/office/drawing/2014/main" id="{39FBE4E4-C48A-DF8C-3A0F-7E91F75A89DE}"/>
              </a:ext>
            </a:extLst>
          </p:cNvPr>
          <p:cNvSpPr txBox="1"/>
          <p:nvPr/>
        </p:nvSpPr>
        <p:spPr>
          <a:xfrm>
            <a:off x="876992" y="4167870"/>
            <a:ext cx="7390015" cy="461665"/>
          </a:xfrm>
          <a:prstGeom prst="rect">
            <a:avLst/>
          </a:prstGeom>
          <a:noFill/>
        </p:spPr>
        <p:txBody>
          <a:bodyPr wrap="square" rtlCol="0">
            <a:spAutoFit/>
          </a:bodyPr>
          <a:lstStyle/>
          <a:p>
            <a:pPr algn="ctr"/>
            <a:r>
              <a:rPr lang="en-IN" sz="1200">
                <a:solidFill>
                  <a:schemeClr val="tx2"/>
                </a:solidFill>
                <a:latin typeface="Open Sans" pitchFamily="2" charset="0"/>
                <a:ea typeface="Open Sans" pitchFamily="2" charset="0"/>
                <a:cs typeface="Open Sans" pitchFamily="2" charset="0"/>
              </a:rPr>
              <a:t>Each of these takes Claude 10 seconds to generate. The time saving is real. The quality difference is the reason you do it.</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0592214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0">
            <a:extLst>
              <a:ext uri="{FF2B5EF4-FFF2-40B4-BE49-F238E27FC236}">
                <a16:creationId xmlns:a16="http://schemas.microsoft.com/office/drawing/2014/main" id="{64872860-6089-5AD3-F124-799ABC77F645}"/>
              </a:ext>
            </a:extLst>
          </p:cNvPr>
          <p:cNvSpPr/>
          <p:nvPr/>
        </p:nvSpPr>
        <p:spPr>
          <a:xfrm>
            <a:off x="367200" y="201168"/>
            <a:ext cx="8321040" cy="475488"/>
          </a:xfrm>
          <a:prstGeom prst="rect">
            <a:avLst/>
          </a:prstGeom>
          <a:noFill/>
          <a:ln/>
        </p:spPr>
        <p:txBody>
          <a:bodyPr wrap="square" lIns="0" tIns="0" rIns="0" bIns="0" rtlCol="0" anchor="ctr"/>
          <a:lstStyle/>
          <a:p>
            <a:pPr marL="0" indent="0" algn="l">
              <a:buNone/>
            </a:pPr>
            <a:r>
              <a:rPr lang="en-US" sz="2600" b="1">
                <a:latin typeface="Open Sans" panose="020B0606030504020204" pitchFamily="34" charset="0"/>
                <a:ea typeface="Open Sans" panose="020B0606030504020204" pitchFamily="34" charset="0"/>
                <a:cs typeface="Open Sans" panose="020B0606030504020204" pitchFamily="34" charset="0"/>
              </a:rPr>
              <a:t>Before you commit — check your environment.</a:t>
            </a:r>
          </a:p>
        </p:txBody>
      </p:sp>
      <p:sp>
        <p:nvSpPr>
          <p:cNvPr id="32" name="Text 1">
            <a:extLst>
              <a:ext uri="{FF2B5EF4-FFF2-40B4-BE49-F238E27FC236}">
                <a16:creationId xmlns:a16="http://schemas.microsoft.com/office/drawing/2014/main" id="{E81B8C7C-31E0-DBA4-25C5-C0B63ABA487A}"/>
              </a:ext>
            </a:extLst>
          </p:cNvPr>
          <p:cNvSpPr/>
          <p:nvPr/>
        </p:nvSpPr>
        <p:spPr>
          <a:xfrm>
            <a:off x="367200" y="666000"/>
            <a:ext cx="8321040" cy="292608"/>
          </a:xfrm>
          <a:prstGeom prst="rect">
            <a:avLst/>
          </a:prstGeom>
          <a:noFill/>
          <a:ln/>
        </p:spPr>
        <p:txBody>
          <a:bodyPr wrap="square" lIns="0" tIns="0" rIns="0" bIns="0" rtlCol="0" anchor="ctr"/>
          <a:lstStyle/>
          <a:p>
            <a:pPr marL="0" indent="0" algn="l">
              <a:buNone/>
            </a:pPr>
            <a:r>
              <a:rPr lang="en-US" sz="1300" i="1">
                <a:solidFill>
                  <a:schemeClr val="tx2"/>
                </a:solidFill>
                <a:latin typeface="Open Sans" pitchFamily="2" charset="0"/>
                <a:ea typeface="Open Sans" pitchFamily="2" charset="0"/>
                <a:cs typeface="Open Sans" pitchFamily="2" charset="0"/>
              </a:rPr>
              <a:t>You do not need a full engineering toolchain. You need four things already on your machine.</a:t>
            </a:r>
            <a:endParaRPr lang="en-US" sz="1300">
              <a:solidFill>
                <a:schemeClr val="tx2"/>
              </a:solidFill>
              <a:latin typeface="Open Sans" pitchFamily="2" charset="0"/>
              <a:ea typeface="Open Sans" pitchFamily="2" charset="0"/>
              <a:cs typeface="Open Sans" pitchFamily="2" charset="0"/>
            </a:endParaRPr>
          </a:p>
        </p:txBody>
      </p:sp>
      <p:sp>
        <p:nvSpPr>
          <p:cNvPr id="33" name="Shape 2">
            <a:extLst>
              <a:ext uri="{FF2B5EF4-FFF2-40B4-BE49-F238E27FC236}">
                <a16:creationId xmlns:a16="http://schemas.microsoft.com/office/drawing/2014/main" id="{6CA46791-097C-3B69-2C1E-AA9EC5C604FF}"/>
              </a:ext>
            </a:extLst>
          </p:cNvPr>
          <p:cNvSpPr/>
          <p:nvPr/>
        </p:nvSpPr>
        <p:spPr>
          <a:xfrm>
            <a:off x="411480" y="1082632"/>
            <a:ext cx="8321040" cy="685800"/>
          </a:xfrm>
          <a:prstGeom prst="roundRect">
            <a:avLst>
              <a:gd name="adj" fmla="val 12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34" name="Text 3">
            <a:extLst>
              <a:ext uri="{FF2B5EF4-FFF2-40B4-BE49-F238E27FC236}">
                <a16:creationId xmlns:a16="http://schemas.microsoft.com/office/drawing/2014/main" id="{B4901D36-B122-BFBF-8644-8C270EC93D7B}"/>
              </a:ext>
            </a:extLst>
          </p:cNvPr>
          <p:cNvSpPr/>
          <p:nvPr/>
        </p:nvSpPr>
        <p:spPr>
          <a:xfrm>
            <a:off x="594360" y="1155784"/>
            <a:ext cx="2011680" cy="256032"/>
          </a:xfrm>
          <a:prstGeom prst="rect">
            <a:avLst/>
          </a:prstGeom>
          <a:noFill/>
          <a:ln/>
        </p:spPr>
        <p:txBody>
          <a:bodyPr wrap="square" lIns="0" tIns="0" rIns="0" bIns="0" rtlCol="0" anchor="ctr"/>
          <a:lstStyle/>
          <a:p>
            <a:pPr marL="0" indent="0" algn="l">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Terminal</a:t>
            </a:r>
          </a:p>
        </p:txBody>
      </p:sp>
      <p:sp>
        <p:nvSpPr>
          <p:cNvPr id="35" name="Shape 4">
            <a:extLst>
              <a:ext uri="{FF2B5EF4-FFF2-40B4-BE49-F238E27FC236}">
                <a16:creationId xmlns:a16="http://schemas.microsoft.com/office/drawing/2014/main" id="{CBCA88AB-4F03-2430-DCB7-725A607452FD}"/>
              </a:ext>
            </a:extLst>
          </p:cNvPr>
          <p:cNvSpPr/>
          <p:nvPr/>
        </p:nvSpPr>
        <p:spPr>
          <a:xfrm>
            <a:off x="555031" y="1422336"/>
            <a:ext cx="3148284" cy="256032"/>
          </a:xfrm>
          <a:prstGeom prst="roundRect">
            <a:avLst>
              <a:gd name="adj" fmla="val 41667"/>
            </a:avLst>
          </a:prstGeom>
          <a:solidFill>
            <a:schemeClr val="tx1"/>
          </a:solidFill>
          <a:ln w="6350">
            <a:solidFill>
              <a:srgbClr val="3A8C4E"/>
            </a:solidFill>
            <a:prstDash val="solid"/>
          </a:ln>
        </p:spPr>
        <p:txBody>
          <a:bodyPr/>
          <a:lstStyle/>
          <a:p>
            <a:endParaRPr lang="en-US">
              <a:latin typeface="Open Sans" pitchFamily="2" charset="0"/>
              <a:ea typeface="Open Sans" pitchFamily="2" charset="0"/>
              <a:cs typeface="Open Sans" pitchFamily="2" charset="0"/>
            </a:endParaRPr>
          </a:p>
        </p:txBody>
      </p:sp>
      <p:sp>
        <p:nvSpPr>
          <p:cNvPr id="36" name="Text 5">
            <a:extLst>
              <a:ext uri="{FF2B5EF4-FFF2-40B4-BE49-F238E27FC236}">
                <a16:creationId xmlns:a16="http://schemas.microsoft.com/office/drawing/2014/main" id="{572E9AE5-1FCF-9448-5460-017DCCB85502}"/>
              </a:ext>
            </a:extLst>
          </p:cNvPr>
          <p:cNvSpPr/>
          <p:nvPr/>
        </p:nvSpPr>
        <p:spPr>
          <a:xfrm>
            <a:off x="555024" y="1458028"/>
            <a:ext cx="3108948" cy="175112"/>
          </a:xfrm>
          <a:prstGeom prst="rect">
            <a:avLst/>
          </a:prstGeom>
          <a:noFill/>
          <a:ln/>
        </p:spPr>
        <p:txBody>
          <a:bodyPr wrap="square" lIns="0" tIns="0" rIns="0" bIns="0" rtlCol="0" anchor="ctr"/>
          <a:lstStyle/>
          <a:p>
            <a:pPr marL="0" indent="0" algn="ctr">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Already open — Claude Code runs here</a:t>
            </a:r>
          </a:p>
        </p:txBody>
      </p:sp>
      <p:sp>
        <p:nvSpPr>
          <p:cNvPr id="37" name="Shape 7">
            <a:extLst>
              <a:ext uri="{FF2B5EF4-FFF2-40B4-BE49-F238E27FC236}">
                <a16:creationId xmlns:a16="http://schemas.microsoft.com/office/drawing/2014/main" id="{8C19A4AD-D5EA-61BF-10A5-14D57BC52551}"/>
              </a:ext>
            </a:extLst>
          </p:cNvPr>
          <p:cNvSpPr/>
          <p:nvPr/>
        </p:nvSpPr>
        <p:spPr>
          <a:xfrm>
            <a:off x="3860635" y="1192360"/>
            <a:ext cx="0" cy="457200"/>
          </a:xfrm>
          <a:prstGeom prst="line">
            <a:avLst/>
          </a:prstGeom>
          <a:noFill/>
          <a:ln w="10160">
            <a:solidFill>
              <a:srgbClr val="DDDDDD"/>
            </a:solidFill>
            <a:prstDash val="solid"/>
          </a:ln>
        </p:spPr>
        <p:txBody>
          <a:bodyPr/>
          <a:lstStyle/>
          <a:p>
            <a:endParaRPr lang="en-US">
              <a:latin typeface="Open Sans" pitchFamily="2" charset="0"/>
              <a:ea typeface="Open Sans" pitchFamily="2" charset="0"/>
              <a:cs typeface="Open Sans" pitchFamily="2" charset="0"/>
            </a:endParaRPr>
          </a:p>
        </p:txBody>
      </p:sp>
      <p:sp>
        <p:nvSpPr>
          <p:cNvPr id="38" name="Shape 8">
            <a:extLst>
              <a:ext uri="{FF2B5EF4-FFF2-40B4-BE49-F238E27FC236}">
                <a16:creationId xmlns:a16="http://schemas.microsoft.com/office/drawing/2014/main" id="{5A140B7D-E15A-3A03-4CE2-4828D15796EF}"/>
              </a:ext>
            </a:extLst>
          </p:cNvPr>
          <p:cNvSpPr/>
          <p:nvPr/>
        </p:nvSpPr>
        <p:spPr>
          <a:xfrm>
            <a:off x="411480" y="1887304"/>
            <a:ext cx="8321040" cy="685800"/>
          </a:xfrm>
          <a:prstGeom prst="roundRect">
            <a:avLst>
              <a:gd name="adj" fmla="val 12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39" name="Text 9">
            <a:extLst>
              <a:ext uri="{FF2B5EF4-FFF2-40B4-BE49-F238E27FC236}">
                <a16:creationId xmlns:a16="http://schemas.microsoft.com/office/drawing/2014/main" id="{745DB5B0-9E1C-F182-5C41-E04501DD6446}"/>
              </a:ext>
            </a:extLst>
          </p:cNvPr>
          <p:cNvSpPr/>
          <p:nvPr/>
        </p:nvSpPr>
        <p:spPr>
          <a:xfrm>
            <a:off x="594360" y="1960456"/>
            <a:ext cx="2011680" cy="256032"/>
          </a:xfrm>
          <a:prstGeom prst="rect">
            <a:avLst/>
          </a:prstGeom>
          <a:noFill/>
          <a:ln/>
        </p:spPr>
        <p:txBody>
          <a:bodyPr wrap="square" lIns="0" tIns="0" rIns="0" bIns="0" rtlCol="0" anchor="ctr"/>
          <a:lstStyle/>
          <a:p>
            <a:pPr marL="0" indent="0" algn="l">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VS Code or Cursor</a:t>
            </a:r>
          </a:p>
        </p:txBody>
      </p:sp>
      <p:sp>
        <p:nvSpPr>
          <p:cNvPr id="40" name="Shape 10">
            <a:extLst>
              <a:ext uri="{FF2B5EF4-FFF2-40B4-BE49-F238E27FC236}">
                <a16:creationId xmlns:a16="http://schemas.microsoft.com/office/drawing/2014/main" id="{AA5E356C-87C1-AB9C-7675-F167B45F37A2}"/>
              </a:ext>
            </a:extLst>
          </p:cNvPr>
          <p:cNvSpPr/>
          <p:nvPr/>
        </p:nvSpPr>
        <p:spPr>
          <a:xfrm>
            <a:off x="555031" y="2227008"/>
            <a:ext cx="3148284" cy="256032"/>
          </a:xfrm>
          <a:prstGeom prst="roundRect">
            <a:avLst>
              <a:gd name="adj" fmla="val 41667"/>
            </a:avLst>
          </a:prstGeom>
          <a:solidFill>
            <a:schemeClr val="tx1"/>
          </a:solidFill>
          <a:ln w="6350">
            <a:solidFill>
              <a:srgbClr val="3A8C4E"/>
            </a:solidFill>
            <a:prstDash val="solid"/>
          </a:ln>
        </p:spPr>
        <p:txBody>
          <a:bodyPr/>
          <a:lstStyle/>
          <a:p>
            <a:endParaRPr lang="en-US">
              <a:latin typeface="Open Sans" pitchFamily="2" charset="0"/>
              <a:ea typeface="Open Sans" pitchFamily="2" charset="0"/>
              <a:cs typeface="Open Sans" pitchFamily="2" charset="0"/>
            </a:endParaRPr>
          </a:p>
        </p:txBody>
      </p:sp>
      <p:sp>
        <p:nvSpPr>
          <p:cNvPr id="41" name="Text 11">
            <a:extLst>
              <a:ext uri="{FF2B5EF4-FFF2-40B4-BE49-F238E27FC236}">
                <a16:creationId xmlns:a16="http://schemas.microsoft.com/office/drawing/2014/main" id="{10CDEEC9-62AC-E358-FAE1-98F5A9EBC889}"/>
              </a:ext>
            </a:extLst>
          </p:cNvPr>
          <p:cNvSpPr/>
          <p:nvPr/>
        </p:nvSpPr>
        <p:spPr>
          <a:xfrm>
            <a:off x="555024" y="2262700"/>
            <a:ext cx="3108948" cy="175112"/>
          </a:xfrm>
          <a:prstGeom prst="rect">
            <a:avLst/>
          </a:prstGeom>
          <a:noFill/>
          <a:ln/>
        </p:spPr>
        <p:txBody>
          <a:bodyPr wrap="square" lIns="0" tIns="0" rIns="0" bIns="0" rtlCol="0" anchor="ctr"/>
          <a:lstStyle/>
          <a:p>
            <a:pPr marL="0" indent="0" algn="ctr">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Already installed</a:t>
            </a:r>
          </a:p>
        </p:txBody>
      </p:sp>
      <p:sp>
        <p:nvSpPr>
          <p:cNvPr id="42" name="Text 12">
            <a:extLst>
              <a:ext uri="{FF2B5EF4-FFF2-40B4-BE49-F238E27FC236}">
                <a16:creationId xmlns:a16="http://schemas.microsoft.com/office/drawing/2014/main" id="{7EFE32C3-7946-77EA-30D4-D0778E1E89B5}"/>
              </a:ext>
            </a:extLst>
          </p:cNvPr>
          <p:cNvSpPr/>
          <p:nvPr/>
        </p:nvSpPr>
        <p:spPr>
          <a:xfrm>
            <a:off x="3951564" y="2024464"/>
            <a:ext cx="4614764" cy="438912"/>
          </a:xfrm>
          <a:prstGeom prst="rect">
            <a:avLst/>
          </a:prstGeom>
          <a:noFill/>
          <a:ln/>
        </p:spPr>
        <p:txBody>
          <a:bodyPr wrap="square" lIns="0" tIns="0" rIns="0" bIns="0" rtlCol="0" anchor="ctr"/>
          <a:lstStyle/>
          <a:p>
            <a:pPr marL="0" indent="0" algn="l">
              <a:buNone/>
            </a:pPr>
            <a:r>
              <a:rPr lang="en-US" sz="1200">
                <a:solidFill>
                  <a:schemeClr val="tx2"/>
                </a:solidFill>
                <a:latin typeface="Open Sans" pitchFamily="2" charset="0"/>
                <a:ea typeface="Open Sans" pitchFamily="2" charset="0"/>
                <a:cs typeface="Open Sans" pitchFamily="2" charset="0"/>
              </a:rPr>
              <a:t>Read diffs visually, navigate project files, see multi-file changes in one view</a:t>
            </a:r>
          </a:p>
        </p:txBody>
      </p:sp>
      <p:sp>
        <p:nvSpPr>
          <p:cNvPr id="43" name="Shape 13">
            <a:extLst>
              <a:ext uri="{FF2B5EF4-FFF2-40B4-BE49-F238E27FC236}">
                <a16:creationId xmlns:a16="http://schemas.microsoft.com/office/drawing/2014/main" id="{3DDBF5F2-1920-8A08-3B41-0C0629F6C7C4}"/>
              </a:ext>
            </a:extLst>
          </p:cNvPr>
          <p:cNvSpPr/>
          <p:nvPr/>
        </p:nvSpPr>
        <p:spPr>
          <a:xfrm>
            <a:off x="3860635" y="1997032"/>
            <a:ext cx="0" cy="457200"/>
          </a:xfrm>
          <a:prstGeom prst="line">
            <a:avLst/>
          </a:prstGeom>
          <a:noFill/>
          <a:ln w="10160">
            <a:solidFill>
              <a:srgbClr val="DDDDDD"/>
            </a:solidFill>
            <a:prstDash val="solid"/>
          </a:ln>
        </p:spPr>
        <p:txBody>
          <a:bodyPr/>
          <a:lstStyle/>
          <a:p>
            <a:endParaRPr lang="en-US">
              <a:latin typeface="Open Sans" pitchFamily="2" charset="0"/>
              <a:ea typeface="Open Sans" pitchFamily="2" charset="0"/>
              <a:cs typeface="Open Sans" pitchFamily="2" charset="0"/>
            </a:endParaRPr>
          </a:p>
        </p:txBody>
      </p:sp>
      <p:sp>
        <p:nvSpPr>
          <p:cNvPr id="44" name="Shape 14">
            <a:extLst>
              <a:ext uri="{FF2B5EF4-FFF2-40B4-BE49-F238E27FC236}">
                <a16:creationId xmlns:a16="http://schemas.microsoft.com/office/drawing/2014/main" id="{B8E48527-5C19-31F0-E134-A4728562D053}"/>
              </a:ext>
            </a:extLst>
          </p:cNvPr>
          <p:cNvSpPr/>
          <p:nvPr/>
        </p:nvSpPr>
        <p:spPr>
          <a:xfrm>
            <a:off x="411480" y="2691976"/>
            <a:ext cx="8321040" cy="685800"/>
          </a:xfrm>
          <a:prstGeom prst="roundRect">
            <a:avLst>
              <a:gd name="adj" fmla="val 12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solidFill>
                <a:schemeClr val="tx2"/>
              </a:solidFill>
              <a:latin typeface="Open Sans" pitchFamily="2" charset="0"/>
              <a:ea typeface="Open Sans" pitchFamily="2" charset="0"/>
              <a:cs typeface="Open Sans" pitchFamily="2" charset="0"/>
            </a:endParaRPr>
          </a:p>
        </p:txBody>
      </p:sp>
      <p:sp>
        <p:nvSpPr>
          <p:cNvPr id="45" name="Text 15">
            <a:extLst>
              <a:ext uri="{FF2B5EF4-FFF2-40B4-BE49-F238E27FC236}">
                <a16:creationId xmlns:a16="http://schemas.microsoft.com/office/drawing/2014/main" id="{79F72DE1-B2B2-B444-B225-3DA5E4998212}"/>
              </a:ext>
            </a:extLst>
          </p:cNvPr>
          <p:cNvSpPr/>
          <p:nvPr/>
        </p:nvSpPr>
        <p:spPr>
          <a:xfrm>
            <a:off x="594360" y="2765128"/>
            <a:ext cx="2011680" cy="256032"/>
          </a:xfrm>
          <a:prstGeom prst="rect">
            <a:avLst/>
          </a:prstGeom>
          <a:noFill/>
          <a:ln/>
        </p:spPr>
        <p:txBody>
          <a:bodyPr wrap="square" lIns="0" tIns="0" rIns="0" bIns="0" rtlCol="0" anchor="ctr"/>
          <a:lstStyle/>
          <a:p>
            <a:pPr marL="0" indent="0" algn="l">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Git</a:t>
            </a:r>
          </a:p>
        </p:txBody>
      </p:sp>
      <p:sp>
        <p:nvSpPr>
          <p:cNvPr id="46" name="Shape 16">
            <a:extLst>
              <a:ext uri="{FF2B5EF4-FFF2-40B4-BE49-F238E27FC236}">
                <a16:creationId xmlns:a16="http://schemas.microsoft.com/office/drawing/2014/main" id="{4E729D37-EE1A-7F07-823B-62832046D3FF}"/>
              </a:ext>
            </a:extLst>
          </p:cNvPr>
          <p:cNvSpPr/>
          <p:nvPr/>
        </p:nvSpPr>
        <p:spPr>
          <a:xfrm>
            <a:off x="555031" y="3031680"/>
            <a:ext cx="3148284" cy="256032"/>
          </a:xfrm>
          <a:prstGeom prst="roundRect">
            <a:avLst>
              <a:gd name="adj" fmla="val 41667"/>
            </a:avLst>
          </a:prstGeom>
          <a:solidFill>
            <a:schemeClr val="tx1"/>
          </a:solidFill>
          <a:ln w="6350">
            <a:solidFill>
              <a:srgbClr val="3A8C4E"/>
            </a:solidFill>
            <a:prstDash val="solid"/>
          </a:ln>
        </p:spPr>
        <p:txBody>
          <a:bodyPr/>
          <a:lstStyle/>
          <a:p>
            <a:endParaRPr lang="en-US">
              <a:latin typeface="Open Sans" pitchFamily="2" charset="0"/>
              <a:ea typeface="Open Sans" pitchFamily="2" charset="0"/>
              <a:cs typeface="Open Sans" pitchFamily="2" charset="0"/>
            </a:endParaRPr>
          </a:p>
        </p:txBody>
      </p:sp>
      <p:sp>
        <p:nvSpPr>
          <p:cNvPr id="47" name="Text 17">
            <a:extLst>
              <a:ext uri="{FF2B5EF4-FFF2-40B4-BE49-F238E27FC236}">
                <a16:creationId xmlns:a16="http://schemas.microsoft.com/office/drawing/2014/main" id="{8EAB4C04-AEF4-BB8A-BD05-33A5C42A091E}"/>
              </a:ext>
            </a:extLst>
          </p:cNvPr>
          <p:cNvSpPr/>
          <p:nvPr/>
        </p:nvSpPr>
        <p:spPr>
          <a:xfrm>
            <a:off x="555024" y="3067372"/>
            <a:ext cx="3108948" cy="175112"/>
          </a:xfrm>
          <a:prstGeom prst="rect">
            <a:avLst/>
          </a:prstGeom>
          <a:noFill/>
          <a:ln/>
        </p:spPr>
        <p:txBody>
          <a:bodyPr wrap="square" lIns="0" tIns="0" rIns="0" bIns="0" rtlCol="0" anchor="ctr"/>
          <a:lstStyle/>
          <a:p>
            <a:pPr marL="0" indent="0" algn="ctr">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Already configured from Module 1</a:t>
            </a:r>
          </a:p>
        </p:txBody>
      </p:sp>
      <p:sp>
        <p:nvSpPr>
          <p:cNvPr id="48" name="Text 18">
            <a:extLst>
              <a:ext uri="{FF2B5EF4-FFF2-40B4-BE49-F238E27FC236}">
                <a16:creationId xmlns:a16="http://schemas.microsoft.com/office/drawing/2014/main" id="{D12A7504-64EF-3120-62B0-D26773964626}"/>
              </a:ext>
            </a:extLst>
          </p:cNvPr>
          <p:cNvSpPr/>
          <p:nvPr/>
        </p:nvSpPr>
        <p:spPr>
          <a:xfrm>
            <a:off x="3951564" y="2829136"/>
            <a:ext cx="4614764" cy="438912"/>
          </a:xfrm>
          <a:prstGeom prst="rect">
            <a:avLst/>
          </a:prstGeom>
          <a:noFill/>
          <a:ln/>
        </p:spPr>
        <p:txBody>
          <a:bodyPr wrap="square" lIns="0" tIns="0" rIns="0" bIns="0" rtlCol="0" anchor="ctr"/>
          <a:lstStyle/>
          <a:p>
            <a:pPr marL="0" indent="0" algn="l">
              <a:buNone/>
            </a:pPr>
            <a:r>
              <a:rPr lang="en-US" sz="1200">
                <a:solidFill>
                  <a:schemeClr val="tx2"/>
                </a:solidFill>
                <a:latin typeface="Open Sans" pitchFamily="2" charset="0"/>
                <a:ea typeface="Open Sans" pitchFamily="2" charset="0"/>
                <a:cs typeface="Open Sans" pitchFamily="2" charset="0"/>
              </a:rPr>
              <a:t>Create branches, stage files, commit, write a PR description</a:t>
            </a:r>
          </a:p>
        </p:txBody>
      </p:sp>
      <p:sp>
        <p:nvSpPr>
          <p:cNvPr id="49" name="Shape 19">
            <a:extLst>
              <a:ext uri="{FF2B5EF4-FFF2-40B4-BE49-F238E27FC236}">
                <a16:creationId xmlns:a16="http://schemas.microsoft.com/office/drawing/2014/main" id="{5160E0A7-4676-F8E7-D1C3-48382E3E1003}"/>
              </a:ext>
            </a:extLst>
          </p:cNvPr>
          <p:cNvSpPr/>
          <p:nvPr/>
        </p:nvSpPr>
        <p:spPr>
          <a:xfrm>
            <a:off x="3860635" y="2801704"/>
            <a:ext cx="0" cy="457200"/>
          </a:xfrm>
          <a:prstGeom prst="line">
            <a:avLst/>
          </a:prstGeom>
          <a:noFill/>
          <a:ln w="10160">
            <a:solidFill>
              <a:srgbClr val="DDDDDD"/>
            </a:solidFill>
            <a:prstDash val="solid"/>
          </a:ln>
        </p:spPr>
        <p:txBody>
          <a:bodyPr/>
          <a:lstStyle/>
          <a:p>
            <a:endParaRPr lang="en-US">
              <a:latin typeface="Open Sans" pitchFamily="2" charset="0"/>
              <a:ea typeface="Open Sans" pitchFamily="2" charset="0"/>
              <a:cs typeface="Open Sans" pitchFamily="2" charset="0"/>
            </a:endParaRPr>
          </a:p>
        </p:txBody>
      </p:sp>
      <p:sp>
        <p:nvSpPr>
          <p:cNvPr id="50" name="Shape 20">
            <a:extLst>
              <a:ext uri="{FF2B5EF4-FFF2-40B4-BE49-F238E27FC236}">
                <a16:creationId xmlns:a16="http://schemas.microsoft.com/office/drawing/2014/main" id="{29990A9D-CFF3-FA54-CAC3-07A8C5A0BAF5}"/>
              </a:ext>
            </a:extLst>
          </p:cNvPr>
          <p:cNvSpPr/>
          <p:nvPr/>
        </p:nvSpPr>
        <p:spPr>
          <a:xfrm>
            <a:off x="411480" y="3496648"/>
            <a:ext cx="8321040" cy="685800"/>
          </a:xfrm>
          <a:prstGeom prst="roundRect">
            <a:avLst>
              <a:gd name="adj" fmla="val 12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51" name="Text 21">
            <a:extLst>
              <a:ext uri="{FF2B5EF4-FFF2-40B4-BE49-F238E27FC236}">
                <a16:creationId xmlns:a16="http://schemas.microsoft.com/office/drawing/2014/main" id="{4296DBBD-549D-DDA9-53C2-74F78F9F002A}"/>
              </a:ext>
            </a:extLst>
          </p:cNvPr>
          <p:cNvSpPr/>
          <p:nvPr/>
        </p:nvSpPr>
        <p:spPr>
          <a:xfrm>
            <a:off x="594360" y="3569800"/>
            <a:ext cx="2011680" cy="256032"/>
          </a:xfrm>
          <a:prstGeom prst="rect">
            <a:avLst/>
          </a:prstGeom>
          <a:noFill/>
          <a:ln/>
        </p:spPr>
        <p:txBody>
          <a:bodyPr wrap="square" lIns="0" tIns="0" rIns="0" bIns="0" rtlCol="0" anchor="ctr"/>
          <a:lstStyle/>
          <a:p>
            <a:pPr marL="0" indent="0" algn="l">
              <a:buNone/>
            </a:pPr>
            <a:r>
              <a:rPr lang="en-US" sz="1400" b="1">
                <a:solidFill>
                  <a:schemeClr val="accent2"/>
                </a:solidFill>
                <a:latin typeface="Open Sans" panose="020B0606030504020204" pitchFamily="34" charset="0"/>
                <a:ea typeface="Open Sans" panose="020B0606030504020204" pitchFamily="34" charset="0"/>
                <a:cs typeface="Open Sans" panose="020B0606030504020204" pitchFamily="34" charset="0"/>
              </a:rPr>
              <a:t>Claude Code</a:t>
            </a:r>
          </a:p>
        </p:txBody>
      </p:sp>
      <p:sp>
        <p:nvSpPr>
          <p:cNvPr id="52" name="Shape 22">
            <a:extLst>
              <a:ext uri="{FF2B5EF4-FFF2-40B4-BE49-F238E27FC236}">
                <a16:creationId xmlns:a16="http://schemas.microsoft.com/office/drawing/2014/main" id="{97FC0D17-105E-FC57-1E8B-D23D8A3BB815}"/>
              </a:ext>
            </a:extLst>
          </p:cNvPr>
          <p:cNvSpPr/>
          <p:nvPr/>
        </p:nvSpPr>
        <p:spPr>
          <a:xfrm>
            <a:off x="555031" y="3836352"/>
            <a:ext cx="3148284" cy="256032"/>
          </a:xfrm>
          <a:prstGeom prst="roundRect">
            <a:avLst>
              <a:gd name="adj" fmla="val 41667"/>
            </a:avLst>
          </a:prstGeom>
          <a:solidFill>
            <a:schemeClr val="tx1"/>
          </a:solidFill>
          <a:ln w="6350">
            <a:solidFill>
              <a:srgbClr val="3A8C4E"/>
            </a:solidFill>
            <a:prstDash val="solid"/>
          </a:ln>
        </p:spPr>
        <p:txBody>
          <a:bodyPr/>
          <a:lstStyle/>
          <a:p>
            <a:endParaRPr lang="en-US">
              <a:latin typeface="Open Sans" pitchFamily="2" charset="0"/>
              <a:ea typeface="Open Sans" pitchFamily="2" charset="0"/>
              <a:cs typeface="Open Sans" pitchFamily="2" charset="0"/>
            </a:endParaRPr>
          </a:p>
        </p:txBody>
      </p:sp>
      <p:sp>
        <p:nvSpPr>
          <p:cNvPr id="53" name="Text 23">
            <a:extLst>
              <a:ext uri="{FF2B5EF4-FFF2-40B4-BE49-F238E27FC236}">
                <a16:creationId xmlns:a16="http://schemas.microsoft.com/office/drawing/2014/main" id="{1A9B83D7-A270-8B6E-5B82-A96BCDA02BEB}"/>
              </a:ext>
            </a:extLst>
          </p:cNvPr>
          <p:cNvSpPr/>
          <p:nvPr/>
        </p:nvSpPr>
        <p:spPr>
          <a:xfrm>
            <a:off x="555024" y="3872044"/>
            <a:ext cx="3108948" cy="175112"/>
          </a:xfrm>
          <a:prstGeom prst="rect">
            <a:avLst/>
          </a:prstGeom>
          <a:noFill/>
          <a:ln/>
        </p:spPr>
        <p:txBody>
          <a:bodyPr wrap="square" lIns="0" tIns="0" rIns="0" bIns="0" rtlCol="0" anchor="ctr"/>
          <a:lstStyle/>
          <a:p>
            <a:pPr marL="0" indent="0" algn="ctr">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Already installed</a:t>
            </a:r>
          </a:p>
        </p:txBody>
      </p:sp>
      <p:sp>
        <p:nvSpPr>
          <p:cNvPr id="54" name="Text 24">
            <a:extLst>
              <a:ext uri="{FF2B5EF4-FFF2-40B4-BE49-F238E27FC236}">
                <a16:creationId xmlns:a16="http://schemas.microsoft.com/office/drawing/2014/main" id="{A1604B1C-8101-B193-6D53-0B71431B19F0}"/>
              </a:ext>
            </a:extLst>
          </p:cNvPr>
          <p:cNvSpPr/>
          <p:nvPr/>
        </p:nvSpPr>
        <p:spPr>
          <a:xfrm>
            <a:off x="3951564" y="3633808"/>
            <a:ext cx="4614764" cy="438912"/>
          </a:xfrm>
          <a:prstGeom prst="rect">
            <a:avLst/>
          </a:prstGeom>
          <a:noFill/>
          <a:ln/>
        </p:spPr>
        <p:txBody>
          <a:bodyPr wrap="square" lIns="0" tIns="0" rIns="0" bIns="0" rtlCol="0" anchor="ctr"/>
          <a:lstStyle/>
          <a:p>
            <a:pPr marL="0" indent="0" algn="l">
              <a:buNone/>
            </a:pPr>
            <a:r>
              <a:rPr lang="en-US" sz="1200">
                <a:solidFill>
                  <a:schemeClr val="tx2"/>
                </a:solidFill>
                <a:latin typeface="Open Sans" pitchFamily="2" charset="0"/>
                <a:ea typeface="Open Sans" pitchFamily="2" charset="0"/>
                <a:cs typeface="Open Sans" pitchFamily="2" charset="0"/>
              </a:rPr>
              <a:t>Generate commit messages, branch names, and the HANDOFF.md from your project</a:t>
            </a:r>
          </a:p>
        </p:txBody>
      </p:sp>
      <p:sp>
        <p:nvSpPr>
          <p:cNvPr id="55" name="Shape 25">
            <a:extLst>
              <a:ext uri="{FF2B5EF4-FFF2-40B4-BE49-F238E27FC236}">
                <a16:creationId xmlns:a16="http://schemas.microsoft.com/office/drawing/2014/main" id="{64E8ED52-34F7-6A7D-E166-D95937493AAB}"/>
              </a:ext>
            </a:extLst>
          </p:cNvPr>
          <p:cNvSpPr/>
          <p:nvPr/>
        </p:nvSpPr>
        <p:spPr>
          <a:xfrm>
            <a:off x="3860635" y="3606376"/>
            <a:ext cx="0" cy="457200"/>
          </a:xfrm>
          <a:prstGeom prst="line">
            <a:avLst/>
          </a:prstGeom>
          <a:noFill/>
          <a:ln w="10160">
            <a:solidFill>
              <a:srgbClr val="DDDDDD"/>
            </a:solidFill>
            <a:prstDash val="solid"/>
          </a:ln>
        </p:spPr>
        <p:txBody>
          <a:bodyPr/>
          <a:lstStyle/>
          <a:p>
            <a:endParaRPr lang="en-US">
              <a:latin typeface="Open Sans" pitchFamily="2" charset="0"/>
              <a:ea typeface="Open Sans" pitchFamily="2" charset="0"/>
              <a:cs typeface="Open Sans" pitchFamily="2" charset="0"/>
            </a:endParaRPr>
          </a:p>
        </p:txBody>
      </p:sp>
      <p:sp>
        <p:nvSpPr>
          <p:cNvPr id="56" name="Shape 26">
            <a:extLst>
              <a:ext uri="{FF2B5EF4-FFF2-40B4-BE49-F238E27FC236}">
                <a16:creationId xmlns:a16="http://schemas.microsoft.com/office/drawing/2014/main" id="{4568957A-4B02-C510-075F-6B658C47FAA9}"/>
              </a:ext>
            </a:extLst>
          </p:cNvPr>
          <p:cNvSpPr/>
          <p:nvPr/>
        </p:nvSpPr>
        <p:spPr>
          <a:xfrm>
            <a:off x="411480" y="4377224"/>
            <a:ext cx="8321040" cy="320040"/>
          </a:xfrm>
          <a:prstGeom prst="roundRect">
            <a:avLst>
              <a:gd name="adj" fmla="val 22857"/>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7" name="Text 27">
            <a:extLst>
              <a:ext uri="{FF2B5EF4-FFF2-40B4-BE49-F238E27FC236}">
                <a16:creationId xmlns:a16="http://schemas.microsoft.com/office/drawing/2014/main" id="{08BCE370-94CB-9AE2-0225-8CC0D1E6FAB4}"/>
              </a:ext>
            </a:extLst>
          </p:cNvPr>
          <p:cNvSpPr/>
          <p:nvPr/>
        </p:nvSpPr>
        <p:spPr>
          <a:xfrm>
            <a:off x="411480" y="4377224"/>
            <a:ext cx="8321040" cy="320040"/>
          </a:xfrm>
          <a:prstGeom prst="rect">
            <a:avLst/>
          </a:prstGeom>
          <a:noFill/>
          <a:ln/>
        </p:spPr>
        <p:txBody>
          <a:bodyPr wrap="square" lIns="0" tIns="0" rIns="0" bIns="0" rtlCol="0" anchor="ctr"/>
          <a:lstStyle/>
          <a:p>
            <a:pPr marL="0" indent="0" algn="ctr">
              <a:buNone/>
            </a:pPr>
            <a:r>
              <a:rPr lang="en-US" sz="1200" b="1">
                <a:latin typeface="Open Sans" panose="020B0606030504020204" pitchFamily="34" charset="0"/>
                <a:ea typeface="Open Sans" panose="020B0606030504020204" pitchFamily="34" charset="0"/>
                <a:cs typeface="Open Sans" panose="020B0606030504020204" pitchFamily="34" charset="0"/>
              </a:rPr>
              <a:t>Everything you need is already in place. Now let's use it to make the work permanent.</a:t>
            </a:r>
          </a:p>
        </p:txBody>
      </p:sp>
      <p:sp>
        <p:nvSpPr>
          <p:cNvPr id="59" name="Text 12">
            <a:extLst>
              <a:ext uri="{FF2B5EF4-FFF2-40B4-BE49-F238E27FC236}">
                <a16:creationId xmlns:a16="http://schemas.microsoft.com/office/drawing/2014/main" id="{8D1B4F9A-0C2C-22DD-CB32-0117E08F486F}"/>
              </a:ext>
            </a:extLst>
          </p:cNvPr>
          <p:cNvSpPr/>
          <p:nvPr/>
        </p:nvSpPr>
        <p:spPr>
          <a:xfrm>
            <a:off x="3951564" y="1210648"/>
            <a:ext cx="4614764" cy="438912"/>
          </a:xfrm>
          <a:prstGeom prst="rect">
            <a:avLst/>
          </a:prstGeom>
          <a:noFill/>
          <a:ln/>
        </p:spPr>
        <p:txBody>
          <a:bodyPr wrap="square" lIns="0" tIns="0" rIns="0" bIns="0" rtlCol="0" anchor="ctr"/>
          <a:lstStyle/>
          <a:p>
            <a:r>
              <a:rPr lang="en-US" sz="1200">
                <a:solidFill>
                  <a:schemeClr val="tx2"/>
                </a:solidFill>
              </a:rPr>
              <a:t>Run commands, execute the build loop, issue Claude prompts</a:t>
            </a:r>
            <a:r>
              <a:rPr lang="en-IN" sz="1200">
                <a:solidFill>
                  <a:schemeClr val="tx2"/>
                </a:solidFill>
              </a:rPr>
              <a:t>​</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2737027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168BEF-72F5-5694-6AEF-BBBCE83E38AA}"/>
              </a:ext>
            </a:extLst>
          </p:cNvPr>
          <p:cNvSpPr/>
          <p:nvPr/>
        </p:nvSpPr>
        <p:spPr>
          <a:xfrm>
            <a:off x="365760" y="187200"/>
            <a:ext cx="8412480" cy="475488"/>
          </a:xfrm>
          <a:prstGeom prst="rect">
            <a:avLst/>
          </a:prstGeom>
          <a:noFill/>
          <a:ln/>
        </p:spPr>
        <p:txBody>
          <a:bodyPr wrap="square" lIns="0" tIns="0" rIns="0" bIns="0" rtlCol="0" anchor="ctr"/>
          <a:lstStyle/>
          <a:p>
            <a:pPr marL="0" indent="0">
              <a:buNone/>
            </a:pPr>
            <a:r>
              <a:rPr lang="en-US" sz="2800" b="1">
                <a:solidFill>
                  <a:srgbClr val="2D2D2D"/>
                </a:solidFill>
                <a:latin typeface="Open Sans" panose="020B0606030504020204" pitchFamily="34" charset="0"/>
                <a:ea typeface="Open Sans" panose="020B0606030504020204" pitchFamily="34" charset="0"/>
                <a:cs typeface="Open Sans" panose="020B0606030504020204" pitchFamily="34" charset="0"/>
              </a:rPr>
              <a:t>The Technical Handoff Document</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4" name="Text 1">
            <a:extLst>
              <a:ext uri="{FF2B5EF4-FFF2-40B4-BE49-F238E27FC236}">
                <a16:creationId xmlns:a16="http://schemas.microsoft.com/office/drawing/2014/main" id="{16FB8D79-AF1F-8562-0C2B-AB13B728C3C9}"/>
              </a:ext>
            </a:extLst>
          </p:cNvPr>
          <p:cNvSpPr/>
          <p:nvPr/>
        </p:nvSpPr>
        <p:spPr>
          <a:xfrm>
            <a:off x="365760" y="667512"/>
            <a:ext cx="8412480" cy="256032"/>
          </a:xfrm>
          <a:prstGeom prst="rect">
            <a:avLst/>
          </a:prstGeom>
          <a:noFill/>
          <a:ln/>
        </p:spPr>
        <p:txBody>
          <a:bodyPr wrap="square" lIns="0" tIns="0" rIns="0" bIns="0" rtlCol="0" anchor="ctr"/>
          <a:lstStyle/>
          <a:p>
            <a:pPr marL="0" indent="0">
              <a:buNone/>
            </a:pPr>
            <a:r>
              <a:rPr lang="en-US" sz="1400">
                <a:solidFill>
                  <a:srgbClr val="757575"/>
                </a:solidFill>
                <a:latin typeface="Open Sans" pitchFamily="2" charset="0"/>
                <a:ea typeface="Open Sans" pitchFamily="2" charset="0"/>
                <a:cs typeface="Open Sans" pitchFamily="2" charset="0"/>
              </a:rPr>
              <a:t>The one-page document that lets an engineer pick up your PoC without a briefing.</a:t>
            </a:r>
            <a:endParaRPr lang="en-US" sz="1400">
              <a:latin typeface="Open Sans" pitchFamily="2" charset="0"/>
              <a:ea typeface="Open Sans" pitchFamily="2" charset="0"/>
              <a:cs typeface="Open Sans" pitchFamily="2" charset="0"/>
            </a:endParaRPr>
          </a:p>
        </p:txBody>
      </p:sp>
      <p:grpSp>
        <p:nvGrpSpPr>
          <p:cNvPr id="5" name="Group 4">
            <a:extLst>
              <a:ext uri="{FF2B5EF4-FFF2-40B4-BE49-F238E27FC236}">
                <a16:creationId xmlns:a16="http://schemas.microsoft.com/office/drawing/2014/main" id="{BD85D344-01A5-0509-B4EA-E29DF64BC47D}"/>
              </a:ext>
            </a:extLst>
          </p:cNvPr>
          <p:cNvGrpSpPr/>
          <p:nvPr/>
        </p:nvGrpSpPr>
        <p:grpSpPr>
          <a:xfrm>
            <a:off x="228601" y="1074011"/>
            <a:ext cx="4160520" cy="3110831"/>
            <a:chOff x="365760" y="1005840"/>
            <a:chExt cx="4160520" cy="960120"/>
          </a:xfrm>
        </p:grpSpPr>
        <p:sp>
          <p:nvSpPr>
            <p:cNvPr id="6" name="Shape 2">
              <a:extLst>
                <a:ext uri="{FF2B5EF4-FFF2-40B4-BE49-F238E27FC236}">
                  <a16:creationId xmlns:a16="http://schemas.microsoft.com/office/drawing/2014/main" id="{AA8F1171-7354-E1FB-1904-107FC4322BC0}"/>
                </a:ext>
              </a:extLst>
            </p:cNvPr>
            <p:cNvSpPr/>
            <p:nvPr/>
          </p:nvSpPr>
          <p:spPr>
            <a:xfrm>
              <a:off x="365760" y="1005840"/>
              <a:ext cx="4160520" cy="960120"/>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7" name="Text 3">
              <a:extLst>
                <a:ext uri="{FF2B5EF4-FFF2-40B4-BE49-F238E27FC236}">
                  <a16:creationId xmlns:a16="http://schemas.microsoft.com/office/drawing/2014/main" id="{8ECC7391-BC42-9155-4F8C-48119C4BEFB9}"/>
                </a:ext>
              </a:extLst>
            </p:cNvPr>
            <p:cNvSpPr/>
            <p:nvPr/>
          </p:nvSpPr>
          <p:spPr>
            <a:xfrm>
              <a:off x="548640" y="1025314"/>
              <a:ext cx="3794760" cy="111985"/>
            </a:xfrm>
            <a:prstGeom prst="rect">
              <a:avLst/>
            </a:prstGeom>
            <a:noFill/>
            <a:ln/>
          </p:spPr>
          <p:txBody>
            <a:bodyPr wrap="square" lIns="0" tIns="0" rIns="0" bIns="0" rtlCol="0" anchor="ctr"/>
            <a:lstStyle/>
            <a:p>
              <a:pPr marL="0" indent="0">
                <a:buNone/>
              </a:pPr>
              <a:r>
                <a:rPr lang="en-US" sz="1400" b="1">
                  <a:solidFill>
                    <a:srgbClr val="2D2D2D"/>
                  </a:solidFill>
                  <a:latin typeface="Open Sans" panose="020B0606030504020204" pitchFamily="34" charset="0"/>
                  <a:ea typeface="Open Sans" panose="020B0606030504020204" pitchFamily="34" charset="0"/>
                  <a:cs typeface="Open Sans" panose="020B0606030504020204" pitchFamily="34" charset="0"/>
                </a:rPr>
                <a:t>What it contains:</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8" name="Text 4">
              <a:extLst>
                <a:ext uri="{FF2B5EF4-FFF2-40B4-BE49-F238E27FC236}">
                  <a16:creationId xmlns:a16="http://schemas.microsoft.com/office/drawing/2014/main" id="{94920C1A-EEE2-24F1-52FD-9533DE9362A1}"/>
                </a:ext>
              </a:extLst>
            </p:cNvPr>
            <p:cNvSpPr/>
            <p:nvPr/>
          </p:nvSpPr>
          <p:spPr>
            <a:xfrm>
              <a:off x="548640" y="1209265"/>
              <a:ext cx="3794760" cy="656111"/>
            </a:xfrm>
            <a:prstGeom prst="rect">
              <a:avLst/>
            </a:prstGeom>
            <a:noFill/>
            <a:ln/>
          </p:spPr>
          <p:txBody>
            <a:bodyPr wrap="square" lIns="0" tIns="0" rIns="0" bIns="0" rtlCol="0" anchor="ctr"/>
            <a:lstStyle/>
            <a:p>
              <a:pPr marL="171450" indent="-171450">
                <a:buFont typeface="Wingdings" pitchFamily="2" charset="2"/>
                <a:buChar char="ü"/>
              </a:pPr>
              <a:r>
                <a:rPr lang="en-US" sz="1200">
                  <a:solidFill>
                    <a:srgbClr val="757575"/>
                  </a:solidFill>
                  <a:latin typeface="Open Sans" pitchFamily="2" charset="0"/>
                  <a:ea typeface="Open Sans" pitchFamily="2" charset="0"/>
                  <a:cs typeface="Open Sans" pitchFamily="2" charset="0"/>
                </a:rPr>
                <a:t>What it does — one paragraph, sharper than the README</a:t>
              </a:r>
            </a:p>
            <a:p>
              <a:pPr marL="171450" indent="-171450">
                <a:buFont typeface="Wingdings" pitchFamily="2" charset="2"/>
                <a:buChar char="ü"/>
              </a:pPr>
              <a:endParaRPr lang="en-US" sz="1200">
                <a:solidFill>
                  <a:srgbClr val="757575"/>
                </a:solidFill>
                <a:latin typeface="Open Sans" pitchFamily="2" charset="0"/>
                <a:ea typeface="Open Sans" pitchFamily="2" charset="0"/>
                <a:cs typeface="Open Sans" pitchFamily="2" charset="0"/>
              </a:endParaRPr>
            </a:p>
            <a:p>
              <a:pPr marL="171450" indent="-171450">
                <a:buFont typeface="Wingdings" pitchFamily="2" charset="2"/>
                <a:buChar char="ü"/>
              </a:pPr>
              <a:r>
                <a:rPr lang="en-US" sz="1200">
                  <a:solidFill>
                    <a:srgbClr val="757575"/>
                  </a:solidFill>
                  <a:latin typeface="Open Sans" pitchFamily="2" charset="0"/>
                  <a:ea typeface="Open Sans" pitchFamily="2" charset="0"/>
                  <a:cs typeface="Open Sans" pitchFamily="2" charset="0"/>
                </a:rPr>
                <a:t>How to install and run it — exact commands, tested</a:t>
              </a:r>
            </a:p>
            <a:p>
              <a:pPr marL="171450" indent="-171450">
                <a:buFont typeface="Wingdings" pitchFamily="2" charset="2"/>
                <a:buChar char="ü"/>
              </a:pPr>
              <a:endParaRPr lang="en-US" sz="1200">
                <a:solidFill>
                  <a:srgbClr val="757575"/>
                </a:solidFill>
                <a:latin typeface="Open Sans" pitchFamily="2" charset="0"/>
                <a:ea typeface="Open Sans" pitchFamily="2" charset="0"/>
                <a:cs typeface="Open Sans" pitchFamily="2" charset="0"/>
              </a:endParaRPr>
            </a:p>
            <a:p>
              <a:pPr marL="171450" indent="-171450">
                <a:buFont typeface="Wingdings" pitchFamily="2" charset="2"/>
                <a:buChar char="ü"/>
              </a:pPr>
              <a:r>
                <a:rPr lang="en-US" sz="1200">
                  <a:solidFill>
                    <a:srgbClr val="757575"/>
                  </a:solidFill>
                  <a:latin typeface="Open Sans" pitchFamily="2" charset="0"/>
                  <a:ea typeface="Open Sans" pitchFamily="2" charset="0"/>
                  <a:cs typeface="Open Sans" pitchFamily="2" charset="0"/>
                </a:rPr>
                <a:t>What the inputs and outputs are — with examples</a:t>
              </a:r>
            </a:p>
            <a:p>
              <a:pPr marL="171450" indent="-171450">
                <a:buFont typeface="Wingdings" pitchFamily="2" charset="2"/>
                <a:buChar char="ü"/>
              </a:pPr>
              <a:endParaRPr lang="en-US" sz="1200">
                <a:solidFill>
                  <a:srgbClr val="757575"/>
                </a:solidFill>
                <a:latin typeface="Open Sans" pitchFamily="2" charset="0"/>
                <a:ea typeface="Open Sans" pitchFamily="2" charset="0"/>
                <a:cs typeface="Open Sans" pitchFamily="2" charset="0"/>
              </a:endParaRPr>
            </a:p>
            <a:p>
              <a:pPr marL="171450" indent="-171450">
                <a:buFont typeface="Wingdings" pitchFamily="2" charset="2"/>
                <a:buChar char="ü"/>
              </a:pPr>
              <a:r>
                <a:rPr lang="en-US" sz="1200">
                  <a:solidFill>
                    <a:srgbClr val="757575"/>
                  </a:solidFill>
                  <a:latin typeface="Open Sans" pitchFamily="2" charset="0"/>
                  <a:ea typeface="Open Sans" pitchFamily="2" charset="0"/>
                  <a:cs typeface="Open Sans" pitchFamily="2" charset="0"/>
                </a:rPr>
                <a:t>What is deliberately out of scope — and why</a:t>
              </a:r>
            </a:p>
            <a:p>
              <a:pPr marL="171450" indent="-171450">
                <a:buFont typeface="Wingdings" pitchFamily="2" charset="2"/>
                <a:buChar char="ü"/>
              </a:pPr>
              <a:endParaRPr lang="en-US" sz="1200">
                <a:solidFill>
                  <a:srgbClr val="757575"/>
                </a:solidFill>
                <a:latin typeface="Open Sans" pitchFamily="2" charset="0"/>
                <a:ea typeface="Open Sans" pitchFamily="2" charset="0"/>
                <a:cs typeface="Open Sans" pitchFamily="2" charset="0"/>
              </a:endParaRPr>
            </a:p>
            <a:p>
              <a:pPr marL="171450" indent="-171450">
                <a:buFont typeface="Wingdings" pitchFamily="2" charset="2"/>
                <a:buChar char="ü"/>
              </a:pPr>
              <a:r>
                <a:rPr lang="en-US" sz="1200">
                  <a:solidFill>
                    <a:srgbClr val="757575"/>
                  </a:solidFill>
                  <a:latin typeface="Open Sans" pitchFamily="2" charset="0"/>
                  <a:ea typeface="Open Sans" pitchFamily="2" charset="0"/>
                  <a:cs typeface="Open Sans" pitchFamily="2" charset="0"/>
                </a:rPr>
                <a:t>Known limitations and deferred code review items</a:t>
              </a:r>
            </a:p>
            <a:p>
              <a:pPr marL="171450" indent="-171450">
                <a:buFont typeface="Wingdings" pitchFamily="2" charset="2"/>
                <a:buChar char="ü"/>
              </a:pPr>
              <a:endParaRPr lang="en-US" sz="1200">
                <a:solidFill>
                  <a:srgbClr val="757575"/>
                </a:solidFill>
                <a:latin typeface="Open Sans" pitchFamily="2" charset="0"/>
                <a:ea typeface="Open Sans" pitchFamily="2" charset="0"/>
                <a:cs typeface="Open Sans" pitchFamily="2" charset="0"/>
              </a:endParaRPr>
            </a:p>
            <a:p>
              <a:pPr marL="171450" indent="-171450">
                <a:buFont typeface="Wingdings" pitchFamily="2" charset="2"/>
                <a:buChar char="ü"/>
              </a:pPr>
              <a:r>
                <a:rPr lang="en-US" sz="1200">
                  <a:solidFill>
                    <a:srgbClr val="757575"/>
                  </a:solidFill>
                  <a:latin typeface="Open Sans" pitchFamily="2" charset="0"/>
                  <a:ea typeface="Open Sans" pitchFamily="2" charset="0"/>
                  <a:cs typeface="Open Sans" pitchFamily="2" charset="0"/>
                </a:rPr>
                <a:t>What an engineer would need to address before production</a:t>
              </a:r>
              <a:endParaRPr lang="en-US" sz="1200">
                <a:latin typeface="Open Sans" pitchFamily="2" charset="0"/>
                <a:ea typeface="Open Sans" pitchFamily="2" charset="0"/>
                <a:cs typeface="Open Sans" pitchFamily="2" charset="0"/>
              </a:endParaRPr>
            </a:p>
          </p:txBody>
        </p:sp>
      </p:grpSp>
      <p:grpSp>
        <p:nvGrpSpPr>
          <p:cNvPr id="9" name="Group 8">
            <a:extLst>
              <a:ext uri="{FF2B5EF4-FFF2-40B4-BE49-F238E27FC236}">
                <a16:creationId xmlns:a16="http://schemas.microsoft.com/office/drawing/2014/main" id="{796FFBF1-6B84-10FA-71C0-12FDE01DEFE2}"/>
              </a:ext>
            </a:extLst>
          </p:cNvPr>
          <p:cNvGrpSpPr/>
          <p:nvPr/>
        </p:nvGrpSpPr>
        <p:grpSpPr>
          <a:xfrm>
            <a:off x="4754880" y="1076297"/>
            <a:ext cx="4023360" cy="3110830"/>
            <a:chOff x="4754880" y="1005840"/>
            <a:chExt cx="4023360" cy="3291840"/>
          </a:xfrm>
          <a:solidFill>
            <a:schemeClr val="tx1"/>
          </a:solidFill>
        </p:grpSpPr>
        <p:sp>
          <p:nvSpPr>
            <p:cNvPr id="10" name="Shape 11">
              <a:extLst>
                <a:ext uri="{FF2B5EF4-FFF2-40B4-BE49-F238E27FC236}">
                  <a16:creationId xmlns:a16="http://schemas.microsoft.com/office/drawing/2014/main" id="{347D82B3-8042-70B1-E244-71EFB8956EF6}"/>
                </a:ext>
              </a:extLst>
            </p:cNvPr>
            <p:cNvSpPr/>
            <p:nvPr/>
          </p:nvSpPr>
          <p:spPr>
            <a:xfrm>
              <a:off x="4754880" y="1005840"/>
              <a:ext cx="4023360" cy="3291840"/>
            </a:xfrm>
            <a:prstGeom prst="roundRect">
              <a:avLst>
                <a:gd name="adj" fmla="val 2778"/>
              </a:avLst>
            </a:prstGeom>
            <a:grpFill/>
            <a:ln w="12700">
              <a:solidFill>
                <a:srgbClr val="1E1E1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13">
              <a:extLst>
                <a:ext uri="{FF2B5EF4-FFF2-40B4-BE49-F238E27FC236}">
                  <a16:creationId xmlns:a16="http://schemas.microsoft.com/office/drawing/2014/main" id="{EC1BCCF8-8AAE-2EA4-46A9-77960C8CAD28}"/>
                </a:ext>
              </a:extLst>
            </p:cNvPr>
            <p:cNvSpPr/>
            <p:nvPr/>
          </p:nvSpPr>
          <p:spPr>
            <a:xfrm>
              <a:off x="4892040" y="1439680"/>
              <a:ext cx="3749040" cy="2697480"/>
            </a:xfrm>
            <a:prstGeom prst="rect">
              <a:avLst/>
            </a:prstGeom>
            <a:grpFill/>
            <a:ln/>
          </p:spPr>
          <p:txBody>
            <a:bodyPr wrap="square" lIns="0" tIns="0" rIns="0" bIns="0" rtlCol="0" anchor="ctr"/>
            <a:lstStyle/>
            <a:p>
              <a:pPr marL="0" indent="0">
                <a:buNone/>
              </a:pPr>
              <a:r>
                <a:rPr lang="en-US" sz="1300">
                  <a:solidFill>
                    <a:srgbClr val="00B050"/>
                  </a:solidFill>
                  <a:latin typeface="Open Sans" pitchFamily="2" charset="0"/>
                  <a:ea typeface="Open Sans" pitchFamily="2" charset="0"/>
                  <a:cs typeface="Open Sans" pitchFamily="2" charset="0"/>
                </a:rPr>
                <a:t>$ </a:t>
              </a:r>
              <a:r>
                <a:rPr lang="en-US" sz="1300" err="1">
                  <a:solidFill>
                    <a:srgbClr val="00B050"/>
                  </a:solidFill>
                  <a:latin typeface="Open Sans" pitchFamily="2" charset="0"/>
                  <a:ea typeface="Open Sans" pitchFamily="2" charset="0"/>
                  <a:cs typeface="Open Sans" pitchFamily="2" charset="0"/>
                </a:rPr>
                <a:t>claude</a:t>
              </a:r>
              <a:r>
                <a:rPr lang="en-US" sz="1300">
                  <a:solidFill>
                    <a:srgbClr val="00B050"/>
                  </a:solidFill>
                  <a:latin typeface="Open Sans" pitchFamily="2" charset="0"/>
                  <a:ea typeface="Open Sans" pitchFamily="2" charset="0"/>
                  <a:cs typeface="Open Sans" pitchFamily="2" charset="0"/>
                </a:rPr>
                <a:t> "Write a one-page technical overview </a:t>
              </a:r>
            </a:p>
            <a:p>
              <a:pPr marL="0" indent="0">
                <a:buNone/>
              </a:pPr>
              <a:r>
                <a:rPr lang="en-US" sz="1300">
                  <a:solidFill>
                    <a:srgbClr val="00B050"/>
                  </a:solidFill>
                  <a:latin typeface="Open Sans" pitchFamily="2" charset="0"/>
                  <a:ea typeface="Open Sans" pitchFamily="2" charset="0"/>
                  <a:cs typeface="Open Sans" pitchFamily="2" charset="0"/>
                </a:rPr>
                <a:t>of this project for an engineer picking it up </a:t>
              </a:r>
            </a:p>
            <a:p>
              <a:pPr marL="0" indent="0">
                <a:buNone/>
              </a:pPr>
              <a:r>
                <a:rPr lang="en-US" sz="1300">
                  <a:solidFill>
                    <a:srgbClr val="00B050"/>
                  </a:solidFill>
                  <a:latin typeface="Open Sans" pitchFamily="2" charset="0"/>
                  <a:ea typeface="Open Sans" pitchFamily="2" charset="0"/>
                  <a:cs typeface="Open Sans" pitchFamily="2" charset="0"/>
                </a:rPr>
                <a:t>for the first time.</a:t>
              </a:r>
            </a:p>
            <a:p>
              <a:pPr marL="0" indent="0">
                <a:buNone/>
              </a:pPr>
              <a:endParaRPr lang="en-US" sz="1300">
                <a:solidFill>
                  <a:srgbClr val="00B050"/>
                </a:solidFill>
                <a:latin typeface="Open Sans" pitchFamily="2" charset="0"/>
                <a:ea typeface="Open Sans" pitchFamily="2" charset="0"/>
                <a:cs typeface="Open Sans" pitchFamily="2" charset="0"/>
              </a:endParaRPr>
            </a:p>
            <a:p>
              <a:pPr marL="0" indent="0">
                <a:buNone/>
              </a:pPr>
              <a:r>
                <a:rPr lang="en-US" sz="1300">
                  <a:solidFill>
                    <a:srgbClr val="00B050"/>
                  </a:solidFill>
                  <a:latin typeface="Open Sans" pitchFamily="2" charset="0"/>
                  <a:ea typeface="Open Sans" pitchFamily="2" charset="0"/>
                  <a:cs typeface="Open Sans" pitchFamily="2" charset="0"/>
                </a:rPr>
                <a:t>Include: what it does, how to run it, inputs </a:t>
              </a:r>
            </a:p>
            <a:p>
              <a:pPr marL="0" indent="0">
                <a:buNone/>
              </a:pPr>
              <a:r>
                <a:rPr lang="en-US" sz="1300">
                  <a:solidFill>
                    <a:srgbClr val="00B050"/>
                  </a:solidFill>
                  <a:latin typeface="Open Sans" pitchFamily="2" charset="0"/>
                  <a:ea typeface="Open Sans" pitchFamily="2" charset="0"/>
                  <a:cs typeface="Open Sans" pitchFamily="2" charset="0"/>
                </a:rPr>
                <a:t>and outputs, known limitations, and the top 3 </a:t>
              </a:r>
            </a:p>
            <a:p>
              <a:pPr marL="0" indent="0">
                <a:buNone/>
              </a:pPr>
              <a:r>
                <a:rPr lang="en-US" sz="1300">
                  <a:solidFill>
                    <a:srgbClr val="00B050"/>
                  </a:solidFill>
                  <a:latin typeface="Open Sans" pitchFamily="2" charset="0"/>
                  <a:ea typeface="Open Sans" pitchFamily="2" charset="0"/>
                  <a:cs typeface="Open Sans" pitchFamily="2" charset="0"/>
                </a:rPr>
                <a:t>things to address before taking it to production.</a:t>
              </a:r>
            </a:p>
            <a:p>
              <a:pPr marL="0" indent="0">
                <a:buNone/>
              </a:pPr>
              <a:endParaRPr lang="en-US" sz="1300">
                <a:solidFill>
                  <a:srgbClr val="00B050"/>
                </a:solidFill>
                <a:latin typeface="Open Sans" pitchFamily="2" charset="0"/>
                <a:ea typeface="Open Sans" pitchFamily="2" charset="0"/>
                <a:cs typeface="Open Sans" pitchFamily="2" charset="0"/>
              </a:endParaRPr>
            </a:p>
            <a:p>
              <a:pPr marL="0" indent="0">
                <a:buNone/>
              </a:pPr>
              <a:r>
                <a:rPr lang="en-US" sz="1300">
                  <a:solidFill>
                    <a:srgbClr val="00B050"/>
                  </a:solidFill>
                  <a:latin typeface="Open Sans" pitchFamily="2" charset="0"/>
                  <a:ea typeface="Open Sans" pitchFamily="2" charset="0"/>
                  <a:cs typeface="Open Sans" pitchFamily="2" charset="0"/>
                </a:rPr>
                <a:t>Plain English. No jargon. One page."</a:t>
              </a:r>
            </a:p>
          </p:txBody>
        </p:sp>
        <p:sp>
          <p:nvSpPr>
            <p:cNvPr id="11" name="Text 12">
              <a:extLst>
                <a:ext uri="{FF2B5EF4-FFF2-40B4-BE49-F238E27FC236}">
                  <a16:creationId xmlns:a16="http://schemas.microsoft.com/office/drawing/2014/main" id="{6339D8A0-804D-AFFE-36F7-2CB4A6D38FBC}"/>
                </a:ext>
              </a:extLst>
            </p:cNvPr>
            <p:cNvSpPr/>
            <p:nvPr/>
          </p:nvSpPr>
          <p:spPr>
            <a:xfrm>
              <a:off x="4892040" y="1307734"/>
              <a:ext cx="3749040" cy="256032"/>
            </a:xfrm>
            <a:prstGeom prst="rect">
              <a:avLst/>
            </a:prstGeom>
            <a:grpFill/>
            <a:ln/>
          </p:spPr>
          <p:txBody>
            <a:bodyPr wrap="square" lIns="0" tIns="0" rIns="0" bIns="0" rtlCol="0" anchor="ctr"/>
            <a:lstStyle/>
            <a:p>
              <a:pPr marL="0" indent="0">
                <a:buNone/>
              </a:pPr>
              <a:r>
                <a:rPr lang="en-US" sz="1000" b="1">
                  <a:solidFill>
                    <a:schemeClr val="bg1"/>
                  </a:solidFill>
                  <a:latin typeface="Open Sans" panose="020B0606030504020204" pitchFamily="34" charset="0"/>
                  <a:ea typeface="Open Sans" panose="020B0606030504020204" pitchFamily="34" charset="0"/>
                  <a:cs typeface="Open Sans" panose="020B0606030504020204" pitchFamily="34" charset="0"/>
                </a:rPr>
                <a:t>THE PROMPT PATTERN</a:t>
              </a:r>
            </a:p>
          </p:txBody>
        </p:sp>
      </p:grpSp>
      <p:sp>
        <p:nvSpPr>
          <p:cNvPr id="13" name="TextBox 12">
            <a:extLst>
              <a:ext uri="{FF2B5EF4-FFF2-40B4-BE49-F238E27FC236}">
                <a16:creationId xmlns:a16="http://schemas.microsoft.com/office/drawing/2014/main" id="{87593BEF-0933-96A9-FE32-83CB2FAC3229}"/>
              </a:ext>
            </a:extLst>
          </p:cNvPr>
          <p:cNvSpPr txBox="1"/>
          <p:nvPr/>
        </p:nvSpPr>
        <p:spPr>
          <a:xfrm>
            <a:off x="228601" y="4298267"/>
            <a:ext cx="8549639" cy="461665"/>
          </a:xfrm>
          <a:prstGeom prst="rect">
            <a:avLst/>
          </a:prstGeom>
          <a:noFill/>
        </p:spPr>
        <p:txBody>
          <a:bodyPr wrap="square" rtlCol="0">
            <a:spAutoFit/>
          </a:bodyPr>
          <a:lstStyle/>
          <a:p>
            <a:pPr algn="ctr"/>
            <a:r>
              <a:rPr lang="en-IN" sz="1200">
                <a:solidFill>
                  <a:schemeClr val="bg2">
                    <a:lumMod val="50000"/>
                  </a:schemeClr>
                </a:solidFill>
                <a:latin typeface="Open Sans" pitchFamily="2" charset="0"/>
                <a:ea typeface="Open Sans" pitchFamily="2" charset="0"/>
                <a:cs typeface="Open Sans" pitchFamily="2" charset="0"/>
              </a:rPr>
              <a:t>Review it before you send it. Claude will write it accurately from what it can see. It cannot know what you decided not to build — or why. Add that yourself before saving it.</a:t>
            </a:r>
            <a:endParaRPr lang="en-US" sz="1200">
              <a:solidFill>
                <a:schemeClr val="bg2">
                  <a:lumMod val="50000"/>
                </a:schemeClr>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5746737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4671395-6F29-7D96-D0FA-7FEA0C21A604}"/>
              </a:ext>
            </a:extLst>
          </p:cNvPr>
          <p:cNvSpPr/>
          <p:nvPr/>
        </p:nvSpPr>
        <p:spPr>
          <a:xfrm>
            <a:off x="367200" y="205488"/>
            <a:ext cx="8321040" cy="438912"/>
          </a:xfrm>
          <a:prstGeom prst="rect">
            <a:avLst/>
          </a:prstGeom>
          <a:noFill/>
          <a:ln/>
        </p:spPr>
        <p:txBody>
          <a:bodyPr wrap="square" lIns="0" tIns="0" rIns="0" bIns="0" rtlCol="0" anchor="ctr"/>
          <a:lstStyle/>
          <a:p>
            <a:pPr marL="0" indent="0" algn="l">
              <a:buNone/>
            </a:pPr>
            <a:r>
              <a:rPr lang="en-US" sz="2800" b="1">
                <a:latin typeface="Open Sans" panose="020B0606030504020204" pitchFamily="34" charset="0"/>
                <a:ea typeface="Open Sans" panose="020B0606030504020204" pitchFamily="34" charset="0"/>
                <a:cs typeface="Open Sans" panose="020B0606030504020204" pitchFamily="34" charset="0"/>
              </a:rPr>
              <a:t>The commit captures what changed.</a:t>
            </a:r>
          </a:p>
        </p:txBody>
      </p:sp>
      <p:sp>
        <p:nvSpPr>
          <p:cNvPr id="4" name="Text 1">
            <a:extLst>
              <a:ext uri="{FF2B5EF4-FFF2-40B4-BE49-F238E27FC236}">
                <a16:creationId xmlns:a16="http://schemas.microsoft.com/office/drawing/2014/main" id="{8784DC3F-B358-ED99-7D5C-7D7986A674DF}"/>
              </a:ext>
            </a:extLst>
          </p:cNvPr>
          <p:cNvSpPr/>
          <p:nvPr/>
        </p:nvSpPr>
        <p:spPr>
          <a:xfrm>
            <a:off x="367200" y="666000"/>
            <a:ext cx="8321040" cy="320040"/>
          </a:xfrm>
          <a:prstGeom prst="rect">
            <a:avLst/>
          </a:prstGeom>
          <a:noFill/>
          <a:ln/>
        </p:spPr>
        <p:txBody>
          <a:bodyPr wrap="square" lIns="0" tIns="0" rIns="0" bIns="0" rtlCol="0" anchor="ctr"/>
          <a:lstStyle/>
          <a:p>
            <a:pPr algn="l">
              <a:buNone/>
              <a:tabLst>
                <a:tab pos="5905500" algn="l"/>
              </a:tabLst>
            </a:pPr>
            <a:r>
              <a:rPr lang="en-US" sz="1400" i="1">
                <a:solidFill>
                  <a:schemeClr val="tx2"/>
                </a:solidFill>
                <a:latin typeface="Open Sans" pitchFamily="2" charset="0"/>
                <a:ea typeface="Open Sans" pitchFamily="2" charset="0"/>
                <a:cs typeface="Open Sans" pitchFamily="2" charset="0"/>
              </a:rPr>
              <a:t>The HANDOFF.md captures why it matters — and what the next person needs to know.</a:t>
            </a:r>
            <a:endParaRPr lang="en-US" sz="1400">
              <a:solidFill>
                <a:schemeClr val="tx2"/>
              </a:solidFill>
              <a:latin typeface="Open Sans" pitchFamily="2" charset="0"/>
              <a:ea typeface="Open Sans" pitchFamily="2" charset="0"/>
              <a:cs typeface="Open Sans" pitchFamily="2" charset="0"/>
            </a:endParaRPr>
          </a:p>
        </p:txBody>
      </p:sp>
      <p:sp>
        <p:nvSpPr>
          <p:cNvPr id="5" name="Shape 2">
            <a:extLst>
              <a:ext uri="{FF2B5EF4-FFF2-40B4-BE49-F238E27FC236}">
                <a16:creationId xmlns:a16="http://schemas.microsoft.com/office/drawing/2014/main" id="{EF78F0E1-5DC7-31F5-2CD7-B63696871272}"/>
              </a:ext>
            </a:extLst>
          </p:cNvPr>
          <p:cNvSpPr/>
          <p:nvPr/>
        </p:nvSpPr>
        <p:spPr>
          <a:xfrm>
            <a:off x="411480" y="1569708"/>
            <a:ext cx="4023360" cy="2404872"/>
          </a:xfrm>
          <a:prstGeom prst="roundRect">
            <a:avLst>
              <a:gd name="adj" fmla="val 3279"/>
            </a:avLst>
          </a:prstGeom>
          <a:solidFill>
            <a:schemeClr val="accent5">
              <a:lumMod val="20000"/>
              <a:lumOff val="80000"/>
              <a:alpha val="24000"/>
            </a:schemeClr>
          </a:solidFill>
          <a:ln w="12700">
            <a:solidFill>
              <a:schemeClr val="accent2"/>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Shape 3">
            <a:extLst>
              <a:ext uri="{FF2B5EF4-FFF2-40B4-BE49-F238E27FC236}">
                <a16:creationId xmlns:a16="http://schemas.microsoft.com/office/drawing/2014/main" id="{7401E853-8204-BE72-EB05-494039B3BB59}"/>
              </a:ext>
            </a:extLst>
          </p:cNvPr>
          <p:cNvSpPr/>
          <p:nvPr/>
        </p:nvSpPr>
        <p:spPr>
          <a:xfrm>
            <a:off x="411480" y="1185660"/>
            <a:ext cx="4023360" cy="365760"/>
          </a:xfrm>
          <a:prstGeom prst="roundRect">
            <a:avLst>
              <a:gd name="adj" fmla="val 25000"/>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7" name="Text 5">
            <a:extLst>
              <a:ext uri="{FF2B5EF4-FFF2-40B4-BE49-F238E27FC236}">
                <a16:creationId xmlns:a16="http://schemas.microsoft.com/office/drawing/2014/main" id="{F9D8529F-8B84-E384-EB20-2E9B3463BA27}"/>
              </a:ext>
            </a:extLst>
          </p:cNvPr>
          <p:cNvSpPr/>
          <p:nvPr/>
        </p:nvSpPr>
        <p:spPr>
          <a:xfrm>
            <a:off x="576072" y="1249668"/>
            <a:ext cx="3657600" cy="256032"/>
          </a:xfrm>
          <a:prstGeom prst="rect">
            <a:avLst/>
          </a:prstGeom>
          <a:noFill/>
          <a:ln/>
        </p:spPr>
        <p:txBody>
          <a:bodyPr wrap="square" lIns="0" tIns="0" rIns="0" bIns="0" rtlCol="0" anchor="ctr"/>
          <a:lstStyle/>
          <a:p>
            <a:pPr marL="0" indent="0" algn="ctr">
              <a:buNone/>
            </a:pPr>
            <a:r>
              <a:rPr lang="en-US" sz="1200" b="1">
                <a:solidFill>
                  <a:srgbClr val="FFFFFF"/>
                </a:solidFill>
                <a:latin typeface="Open Sans" panose="020B0606030504020204" pitchFamily="34" charset="0"/>
                <a:ea typeface="Open Sans" panose="020B0606030504020204" pitchFamily="34" charset="0"/>
                <a:cs typeface="Open Sans" panose="020B0606030504020204" pitchFamily="34" charset="0"/>
              </a:rPr>
              <a:t>What a Git commit covers</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a:extLst>
              <a:ext uri="{FF2B5EF4-FFF2-40B4-BE49-F238E27FC236}">
                <a16:creationId xmlns:a16="http://schemas.microsoft.com/office/drawing/2014/main" id="{F1A86E82-BC04-6BFF-E64F-77133C5C7A04}"/>
              </a:ext>
            </a:extLst>
          </p:cNvPr>
          <p:cNvSpPr/>
          <p:nvPr/>
        </p:nvSpPr>
        <p:spPr>
          <a:xfrm>
            <a:off x="594360" y="1797620"/>
            <a:ext cx="3657600" cy="438912"/>
          </a:xfrm>
          <a:prstGeom prst="rect">
            <a:avLst/>
          </a:prstGeom>
          <a:noFill/>
          <a:ln/>
        </p:spPr>
        <p:txBody>
          <a:bodyPr wrap="square" lIns="0" tIns="0" rIns="0" bIns="0" rtlCol="0" anchor="t"/>
          <a:lstStyle/>
          <a:p>
            <a:pPr marL="0" indent="0" algn="l">
              <a:buNone/>
            </a:pPr>
            <a:r>
              <a:rPr lang="en-US" sz="1150">
                <a:solidFill>
                  <a:schemeClr val="accent2"/>
                </a:solidFill>
                <a:latin typeface="Open Sans" pitchFamily="2" charset="0"/>
                <a:ea typeface="Open Sans" pitchFamily="2" charset="0"/>
                <a:cs typeface="Open Sans" pitchFamily="2" charset="0"/>
              </a:rPr>
              <a:t>✓</a:t>
            </a:r>
            <a:r>
              <a:rPr lang="en-US" sz="1150">
                <a:solidFill>
                  <a:schemeClr val="tx2"/>
                </a:solidFill>
                <a:latin typeface="Open Sans" pitchFamily="2" charset="0"/>
                <a:ea typeface="Open Sans" pitchFamily="2" charset="0"/>
                <a:cs typeface="Open Sans" pitchFamily="2" charset="0"/>
              </a:rPr>
              <a:t>  What files changed</a:t>
            </a:r>
          </a:p>
        </p:txBody>
      </p:sp>
      <p:sp>
        <p:nvSpPr>
          <p:cNvPr id="9" name="Text 7">
            <a:extLst>
              <a:ext uri="{FF2B5EF4-FFF2-40B4-BE49-F238E27FC236}">
                <a16:creationId xmlns:a16="http://schemas.microsoft.com/office/drawing/2014/main" id="{B4203F3B-FFD7-2C06-7595-2CE859693A69}"/>
              </a:ext>
            </a:extLst>
          </p:cNvPr>
          <p:cNvSpPr/>
          <p:nvPr/>
        </p:nvSpPr>
        <p:spPr>
          <a:xfrm>
            <a:off x="594360" y="2300540"/>
            <a:ext cx="3657600" cy="438912"/>
          </a:xfrm>
          <a:prstGeom prst="rect">
            <a:avLst/>
          </a:prstGeom>
          <a:noFill/>
          <a:ln/>
        </p:spPr>
        <p:txBody>
          <a:bodyPr wrap="square" lIns="0" tIns="0" rIns="0" bIns="0" rtlCol="0" anchor="t"/>
          <a:lstStyle/>
          <a:p>
            <a:pPr marL="0" indent="0" algn="l">
              <a:buNone/>
            </a:pPr>
            <a:r>
              <a:rPr lang="en-US" sz="1150">
                <a:solidFill>
                  <a:schemeClr val="accent2"/>
                </a:solidFill>
                <a:latin typeface="Open Sans" pitchFamily="2" charset="0"/>
                <a:ea typeface="Open Sans" pitchFamily="2" charset="0"/>
                <a:cs typeface="Open Sans" pitchFamily="2" charset="0"/>
              </a:rPr>
              <a:t>✓</a:t>
            </a:r>
            <a:r>
              <a:rPr lang="en-US" sz="1150">
                <a:solidFill>
                  <a:schemeClr val="tx2"/>
                </a:solidFill>
                <a:latin typeface="Open Sans" pitchFamily="2" charset="0"/>
                <a:ea typeface="Open Sans" pitchFamily="2" charset="0"/>
                <a:cs typeface="Open Sans" pitchFamily="2" charset="0"/>
              </a:rPr>
              <a:t>  What the change does</a:t>
            </a:r>
          </a:p>
        </p:txBody>
      </p:sp>
      <p:sp>
        <p:nvSpPr>
          <p:cNvPr id="10" name="Text 8">
            <a:extLst>
              <a:ext uri="{FF2B5EF4-FFF2-40B4-BE49-F238E27FC236}">
                <a16:creationId xmlns:a16="http://schemas.microsoft.com/office/drawing/2014/main" id="{D58158CB-AE5E-C37A-DAF5-B615D9377FB2}"/>
              </a:ext>
            </a:extLst>
          </p:cNvPr>
          <p:cNvSpPr/>
          <p:nvPr/>
        </p:nvSpPr>
        <p:spPr>
          <a:xfrm>
            <a:off x="594360" y="2803460"/>
            <a:ext cx="3657600" cy="438912"/>
          </a:xfrm>
          <a:prstGeom prst="rect">
            <a:avLst/>
          </a:prstGeom>
          <a:noFill/>
          <a:ln/>
        </p:spPr>
        <p:txBody>
          <a:bodyPr wrap="square" lIns="0" tIns="0" rIns="0" bIns="0" rtlCol="0" anchor="t"/>
          <a:lstStyle/>
          <a:p>
            <a:pPr marL="0" indent="0" algn="l">
              <a:buNone/>
            </a:pPr>
            <a:r>
              <a:rPr lang="en-US" sz="1150">
                <a:solidFill>
                  <a:schemeClr val="accent2"/>
                </a:solidFill>
                <a:latin typeface="Open Sans" pitchFamily="2" charset="0"/>
                <a:ea typeface="Open Sans" pitchFamily="2" charset="0"/>
                <a:cs typeface="Open Sans" pitchFamily="2" charset="0"/>
              </a:rPr>
              <a:t>✓</a:t>
            </a:r>
            <a:r>
              <a:rPr lang="en-US" sz="1150">
                <a:solidFill>
                  <a:schemeClr val="tx2"/>
                </a:solidFill>
                <a:latin typeface="Open Sans" pitchFamily="2" charset="0"/>
                <a:ea typeface="Open Sans" pitchFamily="2" charset="0"/>
                <a:cs typeface="Open Sans" pitchFamily="2" charset="0"/>
              </a:rPr>
              <a:t>  Known limitations at the time of commit</a:t>
            </a:r>
          </a:p>
        </p:txBody>
      </p:sp>
      <p:sp>
        <p:nvSpPr>
          <p:cNvPr id="11" name="Shape 9">
            <a:extLst>
              <a:ext uri="{FF2B5EF4-FFF2-40B4-BE49-F238E27FC236}">
                <a16:creationId xmlns:a16="http://schemas.microsoft.com/office/drawing/2014/main" id="{81F93B34-6911-7342-4FD6-A3998407BBA2}"/>
              </a:ext>
            </a:extLst>
          </p:cNvPr>
          <p:cNvSpPr/>
          <p:nvPr/>
        </p:nvSpPr>
        <p:spPr>
          <a:xfrm>
            <a:off x="4709160" y="1569708"/>
            <a:ext cx="4023360" cy="2404872"/>
          </a:xfrm>
          <a:prstGeom prst="roundRect">
            <a:avLst>
              <a:gd name="adj" fmla="val 3279"/>
            </a:avLst>
          </a:prstGeom>
          <a:solidFill>
            <a:srgbClr val="F5F5F5"/>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Shape 10">
            <a:extLst>
              <a:ext uri="{FF2B5EF4-FFF2-40B4-BE49-F238E27FC236}">
                <a16:creationId xmlns:a16="http://schemas.microsoft.com/office/drawing/2014/main" id="{725ABC86-0A5D-01C6-788C-D55CC46E3015}"/>
              </a:ext>
            </a:extLst>
          </p:cNvPr>
          <p:cNvSpPr/>
          <p:nvPr/>
        </p:nvSpPr>
        <p:spPr>
          <a:xfrm>
            <a:off x="4709160" y="1185660"/>
            <a:ext cx="4023360" cy="365760"/>
          </a:xfrm>
          <a:prstGeom prst="roundRect">
            <a:avLst>
              <a:gd name="adj" fmla="val 25000"/>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3" name="Text 12">
            <a:extLst>
              <a:ext uri="{FF2B5EF4-FFF2-40B4-BE49-F238E27FC236}">
                <a16:creationId xmlns:a16="http://schemas.microsoft.com/office/drawing/2014/main" id="{B2BC56C5-1BBA-7B17-5BFF-ED45BD447E6D}"/>
              </a:ext>
            </a:extLst>
          </p:cNvPr>
          <p:cNvSpPr/>
          <p:nvPr/>
        </p:nvSpPr>
        <p:spPr>
          <a:xfrm>
            <a:off x="4873752" y="1249668"/>
            <a:ext cx="3657600" cy="256032"/>
          </a:xfrm>
          <a:prstGeom prst="rect">
            <a:avLst/>
          </a:prstGeom>
          <a:noFill/>
          <a:ln/>
        </p:spPr>
        <p:txBody>
          <a:bodyPr wrap="square" lIns="0" tIns="0" rIns="0" bIns="0" rtlCol="0" anchor="ctr"/>
          <a:lstStyle/>
          <a:p>
            <a:pPr marL="0" indent="0" algn="ctr">
              <a:buNone/>
            </a:pPr>
            <a:r>
              <a:rPr lang="en-US" sz="1200" b="1">
                <a:solidFill>
                  <a:srgbClr val="FFFFFF"/>
                </a:solidFill>
                <a:latin typeface="Open Sans" panose="020B0606030504020204" pitchFamily="34" charset="0"/>
                <a:ea typeface="Open Sans" panose="020B0606030504020204" pitchFamily="34" charset="0"/>
                <a:cs typeface="Open Sans" panose="020B0606030504020204" pitchFamily="34" charset="0"/>
              </a:rPr>
              <a:t>What only HANDOFF.md covers</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3">
            <a:extLst>
              <a:ext uri="{FF2B5EF4-FFF2-40B4-BE49-F238E27FC236}">
                <a16:creationId xmlns:a16="http://schemas.microsoft.com/office/drawing/2014/main" id="{ECDC9FE0-00DA-62CA-E886-4A13D441ECF4}"/>
              </a:ext>
            </a:extLst>
          </p:cNvPr>
          <p:cNvSpPr/>
          <p:nvPr/>
        </p:nvSpPr>
        <p:spPr>
          <a:xfrm>
            <a:off x="4892040" y="1797620"/>
            <a:ext cx="3657600" cy="438912"/>
          </a:xfrm>
          <a:prstGeom prst="rect">
            <a:avLst/>
          </a:prstGeom>
          <a:noFill/>
          <a:ln/>
        </p:spPr>
        <p:txBody>
          <a:bodyPr wrap="square" lIns="0" tIns="0" rIns="0" bIns="0" rtlCol="0" anchor="t"/>
          <a:lstStyle/>
          <a:p>
            <a:pPr marL="0" indent="0" algn="l">
              <a:buNone/>
            </a:pPr>
            <a:r>
              <a:rPr lang="en-US" sz="1150">
                <a:solidFill>
                  <a:schemeClr val="accent1"/>
                </a:solidFill>
                <a:latin typeface="Open Sans" pitchFamily="2" charset="0"/>
                <a:ea typeface="Open Sans" pitchFamily="2" charset="0"/>
                <a:cs typeface="Open Sans" pitchFamily="2" charset="0"/>
              </a:rPr>
              <a:t>✓ </a:t>
            </a:r>
            <a:r>
              <a:rPr lang="en-US" sz="1150">
                <a:solidFill>
                  <a:schemeClr val="tx2"/>
                </a:solidFill>
                <a:latin typeface="Open Sans" pitchFamily="2" charset="0"/>
                <a:ea typeface="Open Sans" pitchFamily="2" charset="0"/>
                <a:cs typeface="Open Sans" pitchFamily="2" charset="0"/>
              </a:rPr>
              <a:t> What the PoC is for and who uses it</a:t>
            </a:r>
          </a:p>
        </p:txBody>
      </p:sp>
      <p:sp>
        <p:nvSpPr>
          <p:cNvPr id="15" name="Text 14">
            <a:extLst>
              <a:ext uri="{FF2B5EF4-FFF2-40B4-BE49-F238E27FC236}">
                <a16:creationId xmlns:a16="http://schemas.microsoft.com/office/drawing/2014/main" id="{1DEBB946-A898-1530-F602-FC768195D420}"/>
              </a:ext>
            </a:extLst>
          </p:cNvPr>
          <p:cNvSpPr/>
          <p:nvPr/>
        </p:nvSpPr>
        <p:spPr>
          <a:xfrm>
            <a:off x="4892040" y="2300540"/>
            <a:ext cx="3657600" cy="438912"/>
          </a:xfrm>
          <a:prstGeom prst="rect">
            <a:avLst/>
          </a:prstGeom>
          <a:noFill/>
          <a:ln/>
        </p:spPr>
        <p:txBody>
          <a:bodyPr wrap="square" lIns="0" tIns="0" rIns="0" bIns="0" rtlCol="0" anchor="t"/>
          <a:lstStyle/>
          <a:p>
            <a:pPr marL="0" indent="0" algn="l">
              <a:buNone/>
            </a:pPr>
            <a:r>
              <a:rPr lang="en-US" sz="1150">
                <a:solidFill>
                  <a:schemeClr val="accent1"/>
                </a:solidFill>
                <a:latin typeface="Open Sans" pitchFamily="2" charset="0"/>
                <a:ea typeface="Open Sans" pitchFamily="2" charset="0"/>
                <a:cs typeface="Open Sans" pitchFamily="2" charset="0"/>
              </a:rPr>
              <a:t>✓</a:t>
            </a:r>
            <a:r>
              <a:rPr lang="en-US" sz="1150">
                <a:solidFill>
                  <a:schemeClr val="tx2"/>
                </a:solidFill>
                <a:latin typeface="Open Sans" pitchFamily="2" charset="0"/>
                <a:ea typeface="Open Sans" pitchFamily="2" charset="0"/>
                <a:cs typeface="Open Sans" pitchFamily="2" charset="0"/>
              </a:rPr>
              <a:t>  How to install and run it — tested commands</a:t>
            </a:r>
          </a:p>
        </p:txBody>
      </p:sp>
      <p:sp>
        <p:nvSpPr>
          <p:cNvPr id="16" name="Text 15">
            <a:extLst>
              <a:ext uri="{FF2B5EF4-FFF2-40B4-BE49-F238E27FC236}">
                <a16:creationId xmlns:a16="http://schemas.microsoft.com/office/drawing/2014/main" id="{76F33983-6BE8-08E9-BA7C-7EBB3ABF6D17}"/>
              </a:ext>
            </a:extLst>
          </p:cNvPr>
          <p:cNvSpPr/>
          <p:nvPr/>
        </p:nvSpPr>
        <p:spPr>
          <a:xfrm>
            <a:off x="4892040" y="2803460"/>
            <a:ext cx="3657600" cy="438912"/>
          </a:xfrm>
          <a:prstGeom prst="rect">
            <a:avLst/>
          </a:prstGeom>
          <a:noFill/>
          <a:ln/>
        </p:spPr>
        <p:txBody>
          <a:bodyPr wrap="square" lIns="0" tIns="0" rIns="0" bIns="0" rtlCol="0" anchor="t"/>
          <a:lstStyle/>
          <a:p>
            <a:pPr marL="0" indent="0" algn="l">
              <a:buNone/>
            </a:pPr>
            <a:r>
              <a:rPr lang="en-US" sz="1150">
                <a:solidFill>
                  <a:schemeClr val="accent1"/>
                </a:solidFill>
                <a:latin typeface="Open Sans" pitchFamily="2" charset="0"/>
                <a:ea typeface="Open Sans" pitchFamily="2" charset="0"/>
                <a:cs typeface="Open Sans" pitchFamily="2" charset="0"/>
              </a:rPr>
              <a:t>✓</a:t>
            </a:r>
            <a:r>
              <a:rPr lang="en-US" sz="1150">
                <a:solidFill>
                  <a:schemeClr val="tx2"/>
                </a:solidFill>
                <a:latin typeface="Open Sans" pitchFamily="2" charset="0"/>
                <a:ea typeface="Open Sans" pitchFamily="2" charset="0"/>
                <a:cs typeface="Open Sans" pitchFamily="2" charset="0"/>
              </a:rPr>
              <a:t>  What you deliberately chose not to build, and why</a:t>
            </a:r>
          </a:p>
        </p:txBody>
      </p:sp>
      <p:sp>
        <p:nvSpPr>
          <p:cNvPr id="17" name="Text 16">
            <a:extLst>
              <a:ext uri="{FF2B5EF4-FFF2-40B4-BE49-F238E27FC236}">
                <a16:creationId xmlns:a16="http://schemas.microsoft.com/office/drawing/2014/main" id="{14ED4B6E-C804-D8B7-6148-1F3E04CC1888}"/>
              </a:ext>
            </a:extLst>
          </p:cNvPr>
          <p:cNvSpPr/>
          <p:nvPr/>
        </p:nvSpPr>
        <p:spPr>
          <a:xfrm>
            <a:off x="4892040" y="3306380"/>
            <a:ext cx="3657600" cy="438912"/>
          </a:xfrm>
          <a:prstGeom prst="rect">
            <a:avLst/>
          </a:prstGeom>
          <a:noFill/>
          <a:ln/>
        </p:spPr>
        <p:txBody>
          <a:bodyPr wrap="square" lIns="0" tIns="0" rIns="0" bIns="0" rtlCol="0" anchor="t"/>
          <a:lstStyle/>
          <a:p>
            <a:pPr marL="0" indent="0" algn="l">
              <a:buNone/>
            </a:pPr>
            <a:r>
              <a:rPr lang="en-US" sz="1150">
                <a:solidFill>
                  <a:schemeClr val="accent1"/>
                </a:solidFill>
                <a:latin typeface="Open Sans" pitchFamily="2" charset="0"/>
                <a:ea typeface="Open Sans" pitchFamily="2" charset="0"/>
                <a:cs typeface="Open Sans" pitchFamily="2" charset="0"/>
              </a:rPr>
              <a:t>✓</a:t>
            </a:r>
            <a:r>
              <a:rPr lang="en-US" sz="1150">
                <a:solidFill>
                  <a:schemeClr val="tx2"/>
                </a:solidFill>
                <a:latin typeface="Open Sans" pitchFamily="2" charset="0"/>
                <a:ea typeface="Open Sans" pitchFamily="2" charset="0"/>
                <a:cs typeface="Open Sans" pitchFamily="2" charset="0"/>
              </a:rPr>
              <a:t>  What an engineer must address before production</a:t>
            </a:r>
          </a:p>
        </p:txBody>
      </p:sp>
      <p:sp>
        <p:nvSpPr>
          <p:cNvPr id="18" name="Shape 17">
            <a:extLst>
              <a:ext uri="{FF2B5EF4-FFF2-40B4-BE49-F238E27FC236}">
                <a16:creationId xmlns:a16="http://schemas.microsoft.com/office/drawing/2014/main" id="{F68AA424-E0B9-1E4C-EE48-DB3C8D2D49F6}"/>
              </a:ext>
            </a:extLst>
          </p:cNvPr>
          <p:cNvSpPr/>
          <p:nvPr/>
        </p:nvSpPr>
        <p:spPr>
          <a:xfrm>
            <a:off x="411480" y="4130028"/>
            <a:ext cx="8321040" cy="347472"/>
          </a:xfrm>
          <a:prstGeom prst="roundRect">
            <a:avLst>
              <a:gd name="adj" fmla="val 21053"/>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8">
            <a:extLst>
              <a:ext uri="{FF2B5EF4-FFF2-40B4-BE49-F238E27FC236}">
                <a16:creationId xmlns:a16="http://schemas.microsoft.com/office/drawing/2014/main" id="{1A42B28B-6CA4-400B-576F-224B97364314}"/>
              </a:ext>
            </a:extLst>
          </p:cNvPr>
          <p:cNvSpPr/>
          <p:nvPr/>
        </p:nvSpPr>
        <p:spPr>
          <a:xfrm>
            <a:off x="411480" y="4130028"/>
            <a:ext cx="8321040" cy="347472"/>
          </a:xfrm>
          <a:prstGeom prst="rect">
            <a:avLst/>
          </a:prstGeom>
          <a:noFill/>
          <a:ln/>
        </p:spPr>
        <p:txBody>
          <a:bodyPr wrap="square" lIns="0" tIns="0" rIns="0" bIns="0" rtlCol="0" anchor="ctr"/>
          <a:lstStyle/>
          <a:p>
            <a:pPr marL="0" indent="0" algn="ctr">
              <a:buNone/>
            </a:pPr>
            <a:r>
              <a:rPr lang="en-US" sz="1100" b="1">
                <a:latin typeface="Open Sans" panose="020B0606030504020204" pitchFamily="34" charset="0"/>
                <a:ea typeface="Open Sans" panose="020B0606030504020204" pitchFamily="34" charset="0"/>
                <a:cs typeface="Open Sans" panose="020B0606030504020204" pitchFamily="34" charset="0"/>
              </a:rPr>
              <a:t>The lab closes both gaps. Commit the code. Write and commit the HANDOFF.md.</a:t>
            </a:r>
          </a:p>
        </p:txBody>
      </p:sp>
    </p:spTree>
    <p:extLst>
      <p:ext uri="{BB962C8B-B14F-4D97-AF65-F5344CB8AC3E}">
        <p14:creationId xmlns:p14="http://schemas.microsoft.com/office/powerpoint/2010/main" val="4130010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A5024D24-FC14-5B29-840C-C7FF9AA5195B}"/>
              </a:ext>
            </a:extLst>
          </p:cNvPr>
          <p:cNvSpPr/>
          <p:nvPr/>
        </p:nvSpPr>
        <p:spPr>
          <a:xfrm>
            <a:off x="7680960" y="109728"/>
            <a:ext cx="1280160" cy="347472"/>
          </a:xfrm>
          <a:prstGeom prst="roundRect">
            <a:avLst>
              <a:gd name="adj" fmla="val 13158"/>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45054164-A533-2DE5-C3CC-12686ADC6D75}"/>
              </a:ext>
            </a:extLst>
          </p:cNvPr>
          <p:cNvSpPr/>
          <p:nvPr/>
        </p:nvSpPr>
        <p:spPr>
          <a:xfrm>
            <a:off x="7680960" y="109728"/>
            <a:ext cx="1280160" cy="347472"/>
          </a:xfrm>
          <a:prstGeom prst="rect">
            <a:avLst/>
          </a:prstGeom>
          <a:noFill/>
          <a:ln/>
        </p:spPr>
        <p:txBody>
          <a:bodyPr wrap="square" lIns="0" tIns="0" rIns="0" bIns="0" rtlCol="0" anchor="ctr"/>
          <a:lstStyle/>
          <a:p>
            <a:pPr marL="0" indent="0" algn="ctr">
              <a:buNone/>
            </a:pPr>
            <a:r>
              <a:rPr lang="en-US" sz="850" b="1">
                <a:solidFill>
                  <a:srgbClr val="FFFFFF"/>
                </a:solidFill>
                <a:latin typeface="Open Sans Extrabold" pitchFamily="2" charset="0"/>
                <a:ea typeface="Open Sans Extrabold" pitchFamily="2" charset="0"/>
                <a:cs typeface="Open Sans Extrabold" pitchFamily="2" charset="0"/>
              </a:rPr>
              <a:t>HANDS-ON LAB</a:t>
            </a:r>
            <a:endParaRPr lang="en-US" sz="850" b="1">
              <a:latin typeface="Open Sans Extrabold" pitchFamily="2" charset="0"/>
              <a:ea typeface="Open Sans Extrabold" pitchFamily="2" charset="0"/>
              <a:cs typeface="Open Sans Extrabold" pitchFamily="2" charset="0"/>
            </a:endParaRPr>
          </a:p>
        </p:txBody>
      </p:sp>
      <p:sp>
        <p:nvSpPr>
          <p:cNvPr id="5" name="Text 2">
            <a:extLst>
              <a:ext uri="{FF2B5EF4-FFF2-40B4-BE49-F238E27FC236}">
                <a16:creationId xmlns:a16="http://schemas.microsoft.com/office/drawing/2014/main" id="{ED3D3E0D-9109-D0AF-7FD1-CE4F96552FCB}"/>
              </a:ext>
            </a:extLst>
          </p:cNvPr>
          <p:cNvSpPr/>
          <p:nvPr/>
        </p:nvSpPr>
        <p:spPr>
          <a:xfrm>
            <a:off x="365760" y="205488"/>
            <a:ext cx="8193024" cy="475488"/>
          </a:xfrm>
          <a:prstGeom prst="rect">
            <a:avLst/>
          </a:prstGeom>
          <a:noFill/>
          <a:ln/>
        </p:spPr>
        <p:txBody>
          <a:bodyPr wrap="square" lIns="0" tIns="0" rIns="0" bIns="0" rtlCol="0" anchor="ctr"/>
          <a:lstStyle/>
          <a:p>
            <a:pPr marL="0" indent="0">
              <a:buNone/>
            </a:pPr>
            <a:r>
              <a:rPr lang="en-US" sz="2300" b="1">
                <a:solidFill>
                  <a:srgbClr val="2D2D2D"/>
                </a:solidFill>
                <a:latin typeface="Open Sans" panose="020B0606030504020204" pitchFamily="34" charset="0"/>
                <a:ea typeface="Open Sans" panose="020B0606030504020204" pitchFamily="34" charset="0"/>
                <a:cs typeface="Open Sans" panose="020B0606030504020204" pitchFamily="34" charset="0"/>
              </a:rPr>
              <a:t>Workflow Sprint — Commit + Technical Overview</a:t>
            </a:r>
            <a:endParaRPr lang="en-US" sz="2300" b="1">
              <a:latin typeface="Open Sans" panose="020B0606030504020204" pitchFamily="34" charset="0"/>
              <a:ea typeface="Open Sans" panose="020B0606030504020204" pitchFamily="34" charset="0"/>
              <a:cs typeface="Open Sans" panose="020B0606030504020204" pitchFamily="34" charset="0"/>
            </a:endParaRPr>
          </a:p>
        </p:txBody>
      </p:sp>
      <p:sp>
        <p:nvSpPr>
          <p:cNvPr id="6" name="Text 3">
            <a:extLst>
              <a:ext uri="{FF2B5EF4-FFF2-40B4-BE49-F238E27FC236}">
                <a16:creationId xmlns:a16="http://schemas.microsoft.com/office/drawing/2014/main" id="{D276F8C9-27C5-F2AF-0B3F-AD3668D1C9A5}"/>
              </a:ext>
            </a:extLst>
          </p:cNvPr>
          <p:cNvSpPr/>
          <p:nvPr/>
        </p:nvSpPr>
        <p:spPr>
          <a:xfrm>
            <a:off x="365760" y="666000"/>
            <a:ext cx="8412480" cy="256032"/>
          </a:xfrm>
          <a:prstGeom prst="rect">
            <a:avLst/>
          </a:prstGeom>
          <a:noFill/>
          <a:ln/>
        </p:spPr>
        <p:txBody>
          <a:bodyPr wrap="square" lIns="0" tIns="0" rIns="0" bIns="0" rtlCol="0" anchor="ctr"/>
          <a:lstStyle/>
          <a:p>
            <a:pPr marL="0" indent="0">
              <a:buNone/>
            </a:pPr>
            <a:r>
              <a:rPr lang="en-US" sz="1300">
                <a:solidFill>
                  <a:srgbClr val="757575"/>
                </a:solidFill>
                <a:latin typeface="Open Sans" pitchFamily="2" charset="0"/>
                <a:ea typeface="Open Sans" pitchFamily="2" charset="0"/>
                <a:cs typeface="Open Sans" pitchFamily="2" charset="0"/>
              </a:rPr>
              <a:t>Commit your reviewed PoC. Generate the handoff document. Module 4 is done when both exist in Git.</a:t>
            </a:r>
            <a:endParaRPr lang="en-US" sz="1300">
              <a:latin typeface="Open Sans" pitchFamily="2" charset="0"/>
              <a:ea typeface="Open Sans" pitchFamily="2" charset="0"/>
              <a:cs typeface="Open Sans" pitchFamily="2" charset="0"/>
            </a:endParaRPr>
          </a:p>
        </p:txBody>
      </p:sp>
      <p:sp>
        <p:nvSpPr>
          <p:cNvPr id="30" name="Shape 6">
            <a:extLst>
              <a:ext uri="{FF2B5EF4-FFF2-40B4-BE49-F238E27FC236}">
                <a16:creationId xmlns:a16="http://schemas.microsoft.com/office/drawing/2014/main" id="{69BFD240-DD31-A7C0-D254-9E385B114503}"/>
              </a:ext>
            </a:extLst>
          </p:cNvPr>
          <p:cNvSpPr/>
          <p:nvPr/>
        </p:nvSpPr>
        <p:spPr>
          <a:xfrm>
            <a:off x="365760" y="986386"/>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1" name="Shape 4">
            <a:extLst>
              <a:ext uri="{FF2B5EF4-FFF2-40B4-BE49-F238E27FC236}">
                <a16:creationId xmlns:a16="http://schemas.microsoft.com/office/drawing/2014/main" id="{145BD5F8-2E0E-EFBE-20AC-ACA5309BBB05}"/>
              </a:ext>
            </a:extLst>
          </p:cNvPr>
          <p:cNvSpPr/>
          <p:nvPr/>
        </p:nvSpPr>
        <p:spPr>
          <a:xfrm>
            <a:off x="457200" y="1098465"/>
            <a:ext cx="329184" cy="329184"/>
          </a:xfrm>
          <a:prstGeom prst="ellipse">
            <a:avLst/>
          </a:prstGeom>
          <a:solidFill>
            <a:schemeClr val="accent1"/>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32" name="Text 5">
            <a:extLst>
              <a:ext uri="{FF2B5EF4-FFF2-40B4-BE49-F238E27FC236}">
                <a16:creationId xmlns:a16="http://schemas.microsoft.com/office/drawing/2014/main" id="{EC4DCA4C-20C7-9ABC-F897-4F83A6CB25C4}"/>
              </a:ext>
            </a:extLst>
          </p:cNvPr>
          <p:cNvSpPr/>
          <p:nvPr/>
        </p:nvSpPr>
        <p:spPr>
          <a:xfrm>
            <a:off x="457200" y="1098465"/>
            <a:ext cx="329184" cy="329184"/>
          </a:xfrm>
          <a:prstGeom prst="rect">
            <a:avLst/>
          </a:prstGeom>
          <a:noFill/>
          <a:ln>
            <a:noFill/>
          </a:ln>
        </p:spPr>
        <p:txBody>
          <a:bodyPr wrap="square" lIns="0" tIns="0" rIns="0" bIns="0" rtlCol="0" anchor="ctr"/>
          <a:lstStyle/>
          <a:p>
            <a:pPr marL="0" indent="0" algn="ctr">
              <a:buNone/>
            </a:pPr>
            <a:r>
              <a:rPr lang="en-US" sz="13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1</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6">
            <a:extLst>
              <a:ext uri="{FF2B5EF4-FFF2-40B4-BE49-F238E27FC236}">
                <a16:creationId xmlns:a16="http://schemas.microsoft.com/office/drawing/2014/main" id="{00CE5B24-C0B0-1386-D628-A1652FCD9481}"/>
              </a:ext>
            </a:extLst>
          </p:cNvPr>
          <p:cNvSpPr/>
          <p:nvPr/>
        </p:nvSpPr>
        <p:spPr>
          <a:xfrm>
            <a:off x="936831" y="1004328"/>
            <a:ext cx="7955280" cy="274320"/>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Generate a commit message for the reviewed PoC</a:t>
            </a:r>
          </a:p>
        </p:txBody>
      </p:sp>
      <p:sp>
        <p:nvSpPr>
          <p:cNvPr id="34" name="Text 7">
            <a:extLst>
              <a:ext uri="{FF2B5EF4-FFF2-40B4-BE49-F238E27FC236}">
                <a16:creationId xmlns:a16="http://schemas.microsoft.com/office/drawing/2014/main" id="{CE634B4A-82E6-47A2-BD7F-EB015A319B61}"/>
              </a:ext>
            </a:extLst>
          </p:cNvPr>
          <p:cNvSpPr/>
          <p:nvPr/>
        </p:nvSpPr>
        <p:spPr>
          <a:xfrm>
            <a:off x="936831" y="1265944"/>
            <a:ext cx="7391092" cy="274320"/>
          </a:xfrm>
          <a:prstGeom prst="rect">
            <a:avLst/>
          </a:prstGeom>
          <a:noFill/>
          <a:ln/>
        </p:spPr>
        <p:txBody>
          <a:bodyPr wrap="square" lIns="0" tIns="0" rIns="0" bIns="0" rtlCol="0" anchor="ctr"/>
          <a:lstStyle/>
          <a:p>
            <a:r>
              <a:rPr lang="en-US" sz="1100">
                <a:solidFill>
                  <a:srgbClr val="757575"/>
                </a:solidFill>
                <a:latin typeface="Open Sans" pitchFamily="2" charset="0"/>
                <a:ea typeface="Open Sans" pitchFamily="2" charset="0"/>
                <a:cs typeface="Open Sans" pitchFamily="2" charset="0"/>
              </a:rPr>
              <a:t>$ </a:t>
            </a:r>
            <a:r>
              <a:rPr lang="en-US" sz="1100" err="1">
                <a:solidFill>
                  <a:srgbClr val="757575"/>
                </a:solidFill>
                <a:latin typeface="Open Sans" pitchFamily="2" charset="0"/>
                <a:ea typeface="Open Sans" pitchFamily="2" charset="0"/>
                <a:cs typeface="Open Sans" pitchFamily="2" charset="0"/>
              </a:rPr>
              <a:t>claude</a:t>
            </a:r>
            <a:r>
              <a:rPr lang="en-US" sz="1100">
                <a:solidFill>
                  <a:srgbClr val="757575"/>
                </a:solidFill>
                <a:latin typeface="Open Sans" pitchFamily="2" charset="0"/>
                <a:ea typeface="Open Sans" pitchFamily="2" charset="0"/>
                <a:cs typeface="Open Sans" pitchFamily="2" charset="0"/>
              </a:rPr>
              <a:t> "Write a Git commit message for the changes from today's code review session. Include what was fixed and any known limitations remaining."</a:t>
            </a:r>
            <a:endParaRPr lang="en-US" sz="1100">
              <a:latin typeface="Open Sans" pitchFamily="2" charset="0"/>
              <a:ea typeface="Open Sans" pitchFamily="2" charset="0"/>
              <a:cs typeface="Open Sans" pitchFamily="2" charset="0"/>
            </a:endParaRPr>
          </a:p>
        </p:txBody>
      </p:sp>
      <p:sp>
        <p:nvSpPr>
          <p:cNvPr id="35" name="Shape 6">
            <a:extLst>
              <a:ext uri="{FF2B5EF4-FFF2-40B4-BE49-F238E27FC236}">
                <a16:creationId xmlns:a16="http://schemas.microsoft.com/office/drawing/2014/main" id="{A662D26E-2FA5-D111-EA6B-66E3D2D41E12}"/>
              </a:ext>
            </a:extLst>
          </p:cNvPr>
          <p:cNvSpPr/>
          <p:nvPr/>
        </p:nvSpPr>
        <p:spPr>
          <a:xfrm>
            <a:off x="365760" y="1631556"/>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6" name="Shape 8">
            <a:extLst>
              <a:ext uri="{FF2B5EF4-FFF2-40B4-BE49-F238E27FC236}">
                <a16:creationId xmlns:a16="http://schemas.microsoft.com/office/drawing/2014/main" id="{9FB6A29B-335A-2CF0-1AB7-DE2D0D397512}"/>
              </a:ext>
            </a:extLst>
          </p:cNvPr>
          <p:cNvSpPr/>
          <p:nvPr/>
        </p:nvSpPr>
        <p:spPr>
          <a:xfrm>
            <a:off x="457200" y="1743635"/>
            <a:ext cx="329184" cy="329184"/>
          </a:xfrm>
          <a:prstGeom prst="ellipse">
            <a:avLst/>
          </a:prstGeom>
          <a:solidFill>
            <a:schemeClr val="accent1"/>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37" name="Text 9">
            <a:extLst>
              <a:ext uri="{FF2B5EF4-FFF2-40B4-BE49-F238E27FC236}">
                <a16:creationId xmlns:a16="http://schemas.microsoft.com/office/drawing/2014/main" id="{A0C3D50B-6FFF-78E9-7FBC-E31D4B83636D}"/>
              </a:ext>
            </a:extLst>
          </p:cNvPr>
          <p:cNvSpPr/>
          <p:nvPr/>
        </p:nvSpPr>
        <p:spPr>
          <a:xfrm>
            <a:off x="457200" y="1743635"/>
            <a:ext cx="329184" cy="329184"/>
          </a:xfrm>
          <a:prstGeom prst="rect">
            <a:avLst/>
          </a:prstGeom>
          <a:noFill/>
          <a:ln>
            <a:noFill/>
          </a:ln>
        </p:spPr>
        <p:txBody>
          <a:bodyPr wrap="square" lIns="0" tIns="0" rIns="0" bIns="0" rtlCol="0" anchor="ctr"/>
          <a:lstStyle/>
          <a:p>
            <a:pPr marL="0" indent="0" algn="ctr">
              <a:buNone/>
            </a:pPr>
            <a:r>
              <a:rPr lang="en-US" sz="13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2</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38" name="Text 10">
            <a:extLst>
              <a:ext uri="{FF2B5EF4-FFF2-40B4-BE49-F238E27FC236}">
                <a16:creationId xmlns:a16="http://schemas.microsoft.com/office/drawing/2014/main" id="{2EC125BD-3272-09F1-5E8A-B62E11FC855C}"/>
              </a:ext>
            </a:extLst>
          </p:cNvPr>
          <p:cNvSpPr/>
          <p:nvPr/>
        </p:nvSpPr>
        <p:spPr>
          <a:xfrm>
            <a:off x="936831" y="1633405"/>
            <a:ext cx="7955280" cy="274320"/>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Create a branch and commit</a:t>
            </a:r>
          </a:p>
        </p:txBody>
      </p:sp>
      <p:sp>
        <p:nvSpPr>
          <p:cNvPr id="39" name="Text 11">
            <a:extLst>
              <a:ext uri="{FF2B5EF4-FFF2-40B4-BE49-F238E27FC236}">
                <a16:creationId xmlns:a16="http://schemas.microsoft.com/office/drawing/2014/main" id="{86F3A4C6-33FC-4160-7F37-828695B25E9E}"/>
              </a:ext>
            </a:extLst>
          </p:cNvPr>
          <p:cNvSpPr/>
          <p:nvPr/>
        </p:nvSpPr>
        <p:spPr>
          <a:xfrm>
            <a:off x="936831" y="1881771"/>
            <a:ext cx="7955280" cy="274320"/>
          </a:xfrm>
          <a:prstGeom prst="rect">
            <a:avLst/>
          </a:prstGeom>
          <a:noFill/>
          <a:ln/>
        </p:spPr>
        <p:txBody>
          <a:bodyPr wrap="square" lIns="0" tIns="0" rIns="0" bIns="0" rtlCol="0" anchor="ctr"/>
          <a:lstStyle/>
          <a:p>
            <a:r>
              <a:rPr lang="en-US" sz="1100">
                <a:solidFill>
                  <a:srgbClr val="757575"/>
                </a:solidFill>
                <a:latin typeface="Open Sans" pitchFamily="2" charset="0"/>
                <a:ea typeface="Open Sans" pitchFamily="2" charset="0"/>
                <a:cs typeface="Open Sans" pitchFamily="2" charset="0"/>
              </a:rPr>
              <a:t>$ git checkout -b reviewed/[your-project-name]</a:t>
            </a:r>
          </a:p>
          <a:p>
            <a:r>
              <a:rPr lang="en-US" sz="1100">
                <a:solidFill>
                  <a:srgbClr val="757575"/>
                </a:solidFill>
                <a:latin typeface="Open Sans" pitchFamily="2" charset="0"/>
                <a:ea typeface="Open Sans" pitchFamily="2" charset="0"/>
                <a:cs typeface="Open Sans" pitchFamily="2" charset="0"/>
              </a:rPr>
              <a:t>$ git add . &amp;&amp; git commit -m "[GENERATED MESSAGE]"</a:t>
            </a:r>
            <a:endParaRPr lang="en-US" sz="1100">
              <a:latin typeface="Open Sans" pitchFamily="2" charset="0"/>
              <a:ea typeface="Open Sans" pitchFamily="2" charset="0"/>
              <a:cs typeface="Open Sans" pitchFamily="2" charset="0"/>
            </a:endParaRPr>
          </a:p>
        </p:txBody>
      </p:sp>
      <p:sp>
        <p:nvSpPr>
          <p:cNvPr id="40" name="Shape 6">
            <a:extLst>
              <a:ext uri="{FF2B5EF4-FFF2-40B4-BE49-F238E27FC236}">
                <a16:creationId xmlns:a16="http://schemas.microsoft.com/office/drawing/2014/main" id="{5A2ED394-8E8A-6F87-CD6B-55CB6A2B1EB9}"/>
              </a:ext>
            </a:extLst>
          </p:cNvPr>
          <p:cNvSpPr/>
          <p:nvPr/>
        </p:nvSpPr>
        <p:spPr>
          <a:xfrm>
            <a:off x="365760" y="2306228"/>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1" name="Shape 12">
            <a:extLst>
              <a:ext uri="{FF2B5EF4-FFF2-40B4-BE49-F238E27FC236}">
                <a16:creationId xmlns:a16="http://schemas.microsoft.com/office/drawing/2014/main" id="{C48E93B1-3FDE-C9B8-EEEB-AD6D06195936}"/>
              </a:ext>
            </a:extLst>
          </p:cNvPr>
          <p:cNvSpPr/>
          <p:nvPr/>
        </p:nvSpPr>
        <p:spPr>
          <a:xfrm>
            <a:off x="457200" y="2418307"/>
            <a:ext cx="329184" cy="329184"/>
          </a:xfrm>
          <a:prstGeom prst="ellipse">
            <a:avLst/>
          </a:prstGeom>
          <a:solidFill>
            <a:schemeClr val="accent1"/>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42" name="Text 13">
            <a:extLst>
              <a:ext uri="{FF2B5EF4-FFF2-40B4-BE49-F238E27FC236}">
                <a16:creationId xmlns:a16="http://schemas.microsoft.com/office/drawing/2014/main" id="{AB790781-B173-B54D-B8F4-0E8078FB73AE}"/>
              </a:ext>
            </a:extLst>
          </p:cNvPr>
          <p:cNvSpPr/>
          <p:nvPr/>
        </p:nvSpPr>
        <p:spPr>
          <a:xfrm>
            <a:off x="457200" y="2418307"/>
            <a:ext cx="329184" cy="329184"/>
          </a:xfrm>
          <a:prstGeom prst="rect">
            <a:avLst/>
          </a:prstGeom>
          <a:noFill/>
          <a:ln/>
        </p:spPr>
        <p:txBody>
          <a:bodyPr wrap="square" lIns="0" tIns="0" rIns="0" bIns="0" rtlCol="0" anchor="ctr"/>
          <a:lstStyle/>
          <a:p>
            <a:pPr marL="0" indent="0" algn="ctr">
              <a:buNone/>
            </a:pPr>
            <a:r>
              <a:rPr lang="en-US" sz="1300" b="1">
                <a:solidFill>
                  <a:srgbClr val="FFFFFF"/>
                </a:solidFill>
                <a:latin typeface="Open Sans Extrabold" panose="020B0606030504020204" pitchFamily="34" charset="0"/>
                <a:ea typeface="Open Sans Extrabold" panose="020B0606030504020204" pitchFamily="34" charset="0"/>
                <a:cs typeface="Open Sans Extrabold" panose="020B0606030504020204" pitchFamily="34" charset="0"/>
              </a:rPr>
              <a:t>3</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43" name="Text 14">
            <a:extLst>
              <a:ext uri="{FF2B5EF4-FFF2-40B4-BE49-F238E27FC236}">
                <a16:creationId xmlns:a16="http://schemas.microsoft.com/office/drawing/2014/main" id="{BFD1577C-E673-71E5-0588-AC5CCC966F0C}"/>
              </a:ext>
            </a:extLst>
          </p:cNvPr>
          <p:cNvSpPr/>
          <p:nvPr/>
        </p:nvSpPr>
        <p:spPr>
          <a:xfrm>
            <a:off x="936831" y="2301483"/>
            <a:ext cx="4114800" cy="274320"/>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Generate the technical handoff document</a:t>
            </a:r>
          </a:p>
        </p:txBody>
      </p:sp>
      <p:sp>
        <p:nvSpPr>
          <p:cNvPr id="44" name="Text 15">
            <a:extLst>
              <a:ext uri="{FF2B5EF4-FFF2-40B4-BE49-F238E27FC236}">
                <a16:creationId xmlns:a16="http://schemas.microsoft.com/office/drawing/2014/main" id="{21976A14-8971-1D0F-6435-AF3892B3B7DC}"/>
              </a:ext>
            </a:extLst>
          </p:cNvPr>
          <p:cNvSpPr/>
          <p:nvPr/>
        </p:nvSpPr>
        <p:spPr>
          <a:xfrm>
            <a:off x="936830" y="2588386"/>
            <a:ext cx="7391093" cy="274320"/>
          </a:xfrm>
          <a:prstGeom prst="rect">
            <a:avLst/>
          </a:prstGeom>
          <a:noFill/>
          <a:ln/>
        </p:spPr>
        <p:txBody>
          <a:bodyPr wrap="square" lIns="0" tIns="0" rIns="0" bIns="0" rtlCol="0" anchor="ctr"/>
          <a:lstStyle/>
          <a:p>
            <a:r>
              <a:rPr lang="en-US" sz="1100">
                <a:solidFill>
                  <a:srgbClr val="757575"/>
                </a:solidFill>
                <a:latin typeface="Open Sans" pitchFamily="2" charset="0"/>
                <a:ea typeface="Open Sans" pitchFamily="2" charset="0"/>
                <a:cs typeface="Open Sans" pitchFamily="2" charset="0"/>
              </a:rPr>
              <a:t>$ </a:t>
            </a:r>
            <a:r>
              <a:rPr lang="en-US" sz="1100" err="1">
                <a:solidFill>
                  <a:srgbClr val="757575"/>
                </a:solidFill>
                <a:latin typeface="Open Sans" pitchFamily="2" charset="0"/>
                <a:ea typeface="Open Sans" pitchFamily="2" charset="0"/>
                <a:cs typeface="Open Sans" pitchFamily="2" charset="0"/>
              </a:rPr>
              <a:t>claude</a:t>
            </a:r>
            <a:r>
              <a:rPr lang="en-US" sz="1100">
                <a:solidFill>
                  <a:srgbClr val="757575"/>
                </a:solidFill>
                <a:latin typeface="Open Sans" pitchFamily="2" charset="0"/>
                <a:ea typeface="Open Sans" pitchFamily="2" charset="0"/>
                <a:cs typeface="Open Sans" pitchFamily="2" charset="0"/>
              </a:rPr>
              <a:t> "Write a one-page technical overview of this project for an engineer picking it up for the first time..."</a:t>
            </a:r>
            <a:endParaRPr lang="en-US" sz="1100">
              <a:latin typeface="Open Sans" pitchFamily="2" charset="0"/>
              <a:ea typeface="Open Sans" pitchFamily="2" charset="0"/>
              <a:cs typeface="Open Sans" pitchFamily="2" charset="0"/>
            </a:endParaRPr>
          </a:p>
        </p:txBody>
      </p:sp>
      <p:sp>
        <p:nvSpPr>
          <p:cNvPr id="45" name="Shape 6">
            <a:extLst>
              <a:ext uri="{FF2B5EF4-FFF2-40B4-BE49-F238E27FC236}">
                <a16:creationId xmlns:a16="http://schemas.microsoft.com/office/drawing/2014/main" id="{ECB8744C-5E34-D1D6-FE2C-4932AC1DC7E9}"/>
              </a:ext>
            </a:extLst>
          </p:cNvPr>
          <p:cNvSpPr/>
          <p:nvPr/>
        </p:nvSpPr>
        <p:spPr>
          <a:xfrm>
            <a:off x="365760" y="2986742"/>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6" name="Shape 18">
            <a:extLst>
              <a:ext uri="{FF2B5EF4-FFF2-40B4-BE49-F238E27FC236}">
                <a16:creationId xmlns:a16="http://schemas.microsoft.com/office/drawing/2014/main" id="{9F3EE351-2560-8A58-A374-0585088F86DA}"/>
              </a:ext>
            </a:extLst>
          </p:cNvPr>
          <p:cNvSpPr/>
          <p:nvPr/>
        </p:nvSpPr>
        <p:spPr>
          <a:xfrm>
            <a:off x="457200" y="3098821"/>
            <a:ext cx="329184" cy="329184"/>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7" name="Text 19">
            <a:extLst>
              <a:ext uri="{FF2B5EF4-FFF2-40B4-BE49-F238E27FC236}">
                <a16:creationId xmlns:a16="http://schemas.microsoft.com/office/drawing/2014/main" id="{10307227-9956-D718-8874-C2F397810638}"/>
              </a:ext>
            </a:extLst>
          </p:cNvPr>
          <p:cNvSpPr/>
          <p:nvPr/>
        </p:nvSpPr>
        <p:spPr>
          <a:xfrm>
            <a:off x="457200" y="3098821"/>
            <a:ext cx="329184" cy="329184"/>
          </a:xfrm>
          <a:prstGeom prst="rect">
            <a:avLst/>
          </a:prstGeom>
          <a:noFill/>
          <a:ln/>
        </p:spPr>
        <p:txBody>
          <a:bodyPr wrap="square" lIns="0" tIns="0" rIns="0" bIns="0" rtlCol="0" anchor="ctr"/>
          <a:lstStyle/>
          <a:p>
            <a:pPr marL="0" indent="0" algn="ctr">
              <a:buNone/>
            </a:pP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300" b="1">
              <a:latin typeface="Open Sans" panose="020B0606030504020204" pitchFamily="34" charset="0"/>
              <a:ea typeface="Open Sans" panose="020B0606030504020204" pitchFamily="34" charset="0"/>
              <a:cs typeface="Open Sans" panose="020B0606030504020204" pitchFamily="34" charset="0"/>
            </a:endParaRPr>
          </a:p>
        </p:txBody>
      </p:sp>
      <p:sp>
        <p:nvSpPr>
          <p:cNvPr id="48" name="Text 20">
            <a:extLst>
              <a:ext uri="{FF2B5EF4-FFF2-40B4-BE49-F238E27FC236}">
                <a16:creationId xmlns:a16="http://schemas.microsoft.com/office/drawing/2014/main" id="{7F3D94DC-86DE-0F9F-1BE2-61E5E1483854}"/>
              </a:ext>
            </a:extLst>
          </p:cNvPr>
          <p:cNvSpPr/>
          <p:nvPr/>
        </p:nvSpPr>
        <p:spPr>
          <a:xfrm>
            <a:off x="936831" y="2984179"/>
            <a:ext cx="7955280" cy="274320"/>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Review and edit the document</a:t>
            </a:r>
          </a:p>
        </p:txBody>
      </p:sp>
      <p:sp>
        <p:nvSpPr>
          <p:cNvPr id="49" name="Text 21">
            <a:extLst>
              <a:ext uri="{FF2B5EF4-FFF2-40B4-BE49-F238E27FC236}">
                <a16:creationId xmlns:a16="http://schemas.microsoft.com/office/drawing/2014/main" id="{0727965F-4780-1138-FDA9-603B0258D499}"/>
              </a:ext>
            </a:extLst>
          </p:cNvPr>
          <p:cNvSpPr/>
          <p:nvPr/>
        </p:nvSpPr>
        <p:spPr>
          <a:xfrm>
            <a:off x="936831" y="3283341"/>
            <a:ext cx="6388201" cy="274320"/>
          </a:xfrm>
          <a:prstGeom prst="rect">
            <a:avLst/>
          </a:prstGeom>
          <a:noFill/>
          <a:ln/>
        </p:spPr>
        <p:txBody>
          <a:bodyPr wrap="square" lIns="0" tIns="0" rIns="0" bIns="0" rtlCol="0" anchor="ctr"/>
          <a:lstStyle/>
          <a:p>
            <a:r>
              <a:rPr lang="en-US" sz="1100">
                <a:solidFill>
                  <a:srgbClr val="757575"/>
                </a:solidFill>
                <a:latin typeface="Open Sans" pitchFamily="2" charset="0"/>
                <a:ea typeface="Open Sans" pitchFamily="2" charset="0"/>
                <a:cs typeface="Open Sans" pitchFamily="2" charset="0"/>
              </a:rPr>
              <a:t>Add anything Claude missed — especially decisions you made about what not to build and why. This is the part only you can write.</a:t>
            </a:r>
            <a:endParaRPr lang="en-US" sz="1100">
              <a:latin typeface="Open Sans" pitchFamily="2" charset="0"/>
              <a:ea typeface="Open Sans" pitchFamily="2" charset="0"/>
              <a:cs typeface="Open Sans" pitchFamily="2" charset="0"/>
            </a:endParaRPr>
          </a:p>
        </p:txBody>
      </p:sp>
      <p:sp>
        <p:nvSpPr>
          <p:cNvPr id="50" name="Shape 6">
            <a:extLst>
              <a:ext uri="{FF2B5EF4-FFF2-40B4-BE49-F238E27FC236}">
                <a16:creationId xmlns:a16="http://schemas.microsoft.com/office/drawing/2014/main" id="{1A54B872-AF6E-C2FB-20BB-B7DE33D6A7F7}"/>
              </a:ext>
            </a:extLst>
          </p:cNvPr>
          <p:cNvSpPr/>
          <p:nvPr/>
        </p:nvSpPr>
        <p:spPr>
          <a:xfrm>
            <a:off x="365760" y="3659603"/>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1" name="Shape 22">
            <a:extLst>
              <a:ext uri="{FF2B5EF4-FFF2-40B4-BE49-F238E27FC236}">
                <a16:creationId xmlns:a16="http://schemas.microsoft.com/office/drawing/2014/main" id="{96950480-9EFC-8FB1-4192-88855CA16046}"/>
              </a:ext>
            </a:extLst>
          </p:cNvPr>
          <p:cNvSpPr/>
          <p:nvPr/>
        </p:nvSpPr>
        <p:spPr>
          <a:xfrm>
            <a:off x="457200" y="3776448"/>
            <a:ext cx="329184" cy="329184"/>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23">
            <a:extLst>
              <a:ext uri="{FF2B5EF4-FFF2-40B4-BE49-F238E27FC236}">
                <a16:creationId xmlns:a16="http://schemas.microsoft.com/office/drawing/2014/main" id="{1A011BAA-FD54-3605-3FCB-548821348F9C}"/>
              </a:ext>
            </a:extLst>
          </p:cNvPr>
          <p:cNvSpPr/>
          <p:nvPr/>
        </p:nvSpPr>
        <p:spPr>
          <a:xfrm>
            <a:off x="457200" y="3776448"/>
            <a:ext cx="329184" cy="329184"/>
          </a:xfrm>
          <a:prstGeom prst="rect">
            <a:avLst/>
          </a:prstGeom>
          <a:noFill/>
          <a:ln>
            <a:noFill/>
          </a:ln>
        </p:spPr>
        <p:txBody>
          <a:bodyPr wrap="square" lIns="0" tIns="0" rIns="0" bIns="0" rtlCol="0" anchor="ctr"/>
          <a:lstStyle/>
          <a:p>
            <a:pPr marL="0" indent="0" algn="ctr">
              <a:buNone/>
            </a:pP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5</a:t>
            </a:r>
            <a:endParaRPr lang="en-US" sz="1300" b="1">
              <a:latin typeface="Open Sans" panose="020B0606030504020204" pitchFamily="34" charset="0"/>
              <a:ea typeface="Open Sans" panose="020B0606030504020204" pitchFamily="34" charset="0"/>
              <a:cs typeface="Open Sans" panose="020B0606030504020204" pitchFamily="34" charset="0"/>
            </a:endParaRPr>
          </a:p>
        </p:txBody>
      </p:sp>
      <p:sp>
        <p:nvSpPr>
          <p:cNvPr id="53" name="Text 24">
            <a:extLst>
              <a:ext uri="{FF2B5EF4-FFF2-40B4-BE49-F238E27FC236}">
                <a16:creationId xmlns:a16="http://schemas.microsoft.com/office/drawing/2014/main" id="{A966DAD6-3CB9-E66C-82D5-72D55CE6B230}"/>
              </a:ext>
            </a:extLst>
          </p:cNvPr>
          <p:cNvSpPr/>
          <p:nvPr/>
        </p:nvSpPr>
        <p:spPr>
          <a:xfrm>
            <a:off x="936831" y="3661954"/>
            <a:ext cx="7955280" cy="274320"/>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Save and commit the document</a:t>
            </a:r>
          </a:p>
        </p:txBody>
      </p:sp>
      <p:sp>
        <p:nvSpPr>
          <p:cNvPr id="54" name="Text 25">
            <a:extLst>
              <a:ext uri="{FF2B5EF4-FFF2-40B4-BE49-F238E27FC236}">
                <a16:creationId xmlns:a16="http://schemas.microsoft.com/office/drawing/2014/main" id="{684909C2-9DF9-6B4A-F029-AC8D2B6DB0C6}"/>
              </a:ext>
            </a:extLst>
          </p:cNvPr>
          <p:cNvSpPr/>
          <p:nvPr/>
        </p:nvSpPr>
        <p:spPr>
          <a:xfrm>
            <a:off x="936831" y="3941040"/>
            <a:ext cx="7955280" cy="274320"/>
          </a:xfrm>
          <a:prstGeom prst="rect">
            <a:avLst/>
          </a:prstGeom>
          <a:noFill/>
          <a:ln/>
        </p:spPr>
        <p:txBody>
          <a:bodyPr wrap="square" lIns="0" tIns="0" rIns="0" bIns="0" rtlCol="0" anchor="ctr"/>
          <a:lstStyle/>
          <a:p>
            <a:r>
              <a:rPr lang="en-US" sz="1100">
                <a:solidFill>
                  <a:srgbClr val="757575"/>
                </a:solidFill>
                <a:latin typeface="Open Sans" pitchFamily="2" charset="0"/>
                <a:ea typeface="Open Sans" pitchFamily="2" charset="0"/>
                <a:cs typeface="Open Sans" pitchFamily="2" charset="0"/>
              </a:rPr>
              <a:t>$ git add </a:t>
            </a:r>
            <a:r>
              <a:rPr lang="en-US" sz="1100" err="1">
                <a:solidFill>
                  <a:srgbClr val="757575"/>
                </a:solidFill>
                <a:latin typeface="Open Sans" pitchFamily="2" charset="0"/>
                <a:ea typeface="Open Sans" pitchFamily="2" charset="0"/>
                <a:cs typeface="Open Sans" pitchFamily="2" charset="0"/>
              </a:rPr>
              <a:t>HANDOFF.md</a:t>
            </a:r>
            <a:r>
              <a:rPr lang="en-US" sz="1100">
                <a:solidFill>
                  <a:srgbClr val="757575"/>
                </a:solidFill>
                <a:latin typeface="Open Sans" pitchFamily="2" charset="0"/>
                <a:ea typeface="Open Sans" pitchFamily="2" charset="0"/>
                <a:cs typeface="Open Sans" pitchFamily="2" charset="0"/>
              </a:rPr>
              <a:t> &amp;&amp; git commit -m "Add technical handoff document"</a:t>
            </a:r>
            <a:endParaRPr lang="en-US" sz="1100">
              <a:latin typeface="Open Sans" pitchFamily="2" charset="0"/>
              <a:ea typeface="Open Sans" pitchFamily="2" charset="0"/>
              <a:cs typeface="Open Sans" pitchFamily="2" charset="0"/>
            </a:endParaRPr>
          </a:p>
        </p:txBody>
      </p:sp>
      <p:sp>
        <p:nvSpPr>
          <p:cNvPr id="55" name="Shape 26">
            <a:extLst>
              <a:ext uri="{FF2B5EF4-FFF2-40B4-BE49-F238E27FC236}">
                <a16:creationId xmlns:a16="http://schemas.microsoft.com/office/drawing/2014/main" id="{B998F390-2225-7A69-7CAF-906754E08AE5}"/>
              </a:ext>
            </a:extLst>
          </p:cNvPr>
          <p:cNvSpPr/>
          <p:nvPr/>
        </p:nvSpPr>
        <p:spPr>
          <a:xfrm>
            <a:off x="365760" y="4314888"/>
            <a:ext cx="8412480" cy="364593"/>
          </a:xfrm>
          <a:prstGeom prst="roundRect">
            <a:avLst>
              <a:gd name="adj" fmla="val 22727"/>
            </a:avLst>
          </a:prstGeom>
          <a:solidFill>
            <a:srgbClr val="E8F5E9"/>
          </a:solidFill>
          <a:ln w="1016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6" name="Text 27">
            <a:extLst>
              <a:ext uri="{FF2B5EF4-FFF2-40B4-BE49-F238E27FC236}">
                <a16:creationId xmlns:a16="http://schemas.microsoft.com/office/drawing/2014/main" id="{C037CC2E-3B8A-F71E-3FDC-96809E17D4B0}"/>
              </a:ext>
            </a:extLst>
          </p:cNvPr>
          <p:cNvSpPr/>
          <p:nvPr/>
        </p:nvSpPr>
        <p:spPr>
          <a:xfrm>
            <a:off x="457200" y="4414305"/>
            <a:ext cx="8229600" cy="201168"/>
          </a:xfrm>
          <a:prstGeom prst="rect">
            <a:avLst/>
          </a:prstGeom>
          <a:noFill/>
          <a:ln/>
        </p:spPr>
        <p:txBody>
          <a:bodyPr wrap="square" lIns="0" tIns="0" rIns="0" bIns="0" rtlCol="0" anchor="ctr"/>
          <a:lstStyle/>
          <a:p>
            <a:r>
              <a:rPr lang="en-US" sz="1000" b="1">
                <a:solidFill>
                  <a:srgbClr val="00B050"/>
                </a:solidFill>
                <a:latin typeface="Open Sans" panose="020B0606030504020204" pitchFamily="34" charset="0"/>
                <a:ea typeface="Open Sans" panose="020B0606030504020204" pitchFamily="34" charset="0"/>
                <a:cs typeface="Open Sans" panose="020B0606030504020204" pitchFamily="34" charset="0"/>
              </a:rPr>
              <a:t>✓ Reviewed branch created · Commit message describes what changed and why · </a:t>
            </a:r>
            <a:r>
              <a:rPr lang="en-US" sz="1000" b="1" err="1">
                <a:solidFill>
                  <a:srgbClr val="00B050"/>
                </a:solidFill>
                <a:latin typeface="Open Sans" panose="020B0606030504020204" pitchFamily="34" charset="0"/>
                <a:ea typeface="Open Sans" panose="020B0606030504020204" pitchFamily="34" charset="0"/>
                <a:cs typeface="Open Sans" panose="020B0606030504020204" pitchFamily="34" charset="0"/>
              </a:rPr>
              <a:t>HANDOFF.md</a:t>
            </a:r>
            <a:r>
              <a:rPr lang="en-US" sz="1000" b="1">
                <a:solidFill>
                  <a:srgbClr val="00B050"/>
                </a:solidFill>
                <a:latin typeface="Open Sans" panose="020B0606030504020204" pitchFamily="34" charset="0"/>
                <a:ea typeface="Open Sans" panose="020B0606030504020204" pitchFamily="34" charset="0"/>
                <a:cs typeface="Open Sans" panose="020B0606030504020204" pitchFamily="34" charset="0"/>
              </a:rPr>
              <a:t> generated, edited, and committed · Both changes in Git</a:t>
            </a:r>
          </a:p>
        </p:txBody>
      </p:sp>
    </p:spTree>
    <p:extLst>
      <p:ext uri="{BB962C8B-B14F-4D97-AF65-F5344CB8AC3E}">
        <p14:creationId xmlns:p14="http://schemas.microsoft.com/office/powerpoint/2010/main" val="6916426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hape 26">
            <a:extLst>
              <a:ext uri="{FF2B5EF4-FFF2-40B4-BE49-F238E27FC236}">
                <a16:creationId xmlns:a16="http://schemas.microsoft.com/office/drawing/2014/main" id="{53A31229-4452-1941-EEE2-CF65AF8BDA7D}"/>
              </a:ext>
            </a:extLst>
          </p:cNvPr>
          <p:cNvSpPr/>
          <p:nvPr/>
        </p:nvSpPr>
        <p:spPr>
          <a:xfrm>
            <a:off x="411480" y="4102904"/>
            <a:ext cx="8321040" cy="594360"/>
          </a:xfrm>
          <a:prstGeom prst="roundRect">
            <a:avLst>
              <a:gd name="adj" fmla="val 22857"/>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Text 0">
            <a:extLst>
              <a:ext uri="{FF2B5EF4-FFF2-40B4-BE49-F238E27FC236}">
                <a16:creationId xmlns:a16="http://schemas.microsoft.com/office/drawing/2014/main" id="{3A3C681F-734B-CC56-63EE-CBDE44D6613F}"/>
              </a:ext>
            </a:extLst>
          </p:cNvPr>
          <p:cNvSpPr/>
          <p:nvPr/>
        </p:nvSpPr>
        <p:spPr>
          <a:xfrm>
            <a:off x="365760" y="201168"/>
            <a:ext cx="8412480" cy="475488"/>
          </a:xfrm>
          <a:prstGeom prst="rect">
            <a:avLst/>
          </a:prstGeom>
          <a:noFill/>
          <a:ln/>
        </p:spPr>
        <p:txBody>
          <a:bodyPr wrap="square" lIns="0" tIns="0" rIns="0" bIns="0" rtlCol="0" anchor="ctr"/>
          <a:lstStyle/>
          <a:p>
            <a:pPr marL="0" indent="0">
              <a:buNone/>
            </a:pPr>
            <a:r>
              <a:rPr lang="en-US" sz="2800" b="1">
                <a:latin typeface="Open Sans" panose="020B0606030504020204" pitchFamily="34" charset="0"/>
                <a:ea typeface="Open Sans" panose="020B0606030504020204" pitchFamily="34" charset="0"/>
                <a:cs typeface="Open Sans" panose="020B0606030504020204" pitchFamily="34" charset="0"/>
              </a:rPr>
              <a:t>What You Now Have</a:t>
            </a:r>
          </a:p>
        </p:txBody>
      </p:sp>
      <p:sp>
        <p:nvSpPr>
          <p:cNvPr id="4" name="Shape 1">
            <a:extLst>
              <a:ext uri="{FF2B5EF4-FFF2-40B4-BE49-F238E27FC236}">
                <a16:creationId xmlns:a16="http://schemas.microsoft.com/office/drawing/2014/main" id="{A4A9EC8E-EB36-CFE3-F0EA-0DAD58C463CD}"/>
              </a:ext>
            </a:extLst>
          </p:cNvPr>
          <p:cNvSpPr/>
          <p:nvPr/>
        </p:nvSpPr>
        <p:spPr>
          <a:xfrm>
            <a:off x="365760" y="868680"/>
            <a:ext cx="2715768" cy="384048"/>
          </a:xfrm>
          <a:prstGeom prst="roundRect">
            <a:avLst>
              <a:gd name="adj" fmla="val 14286"/>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5" name="Text 2">
            <a:extLst>
              <a:ext uri="{FF2B5EF4-FFF2-40B4-BE49-F238E27FC236}">
                <a16:creationId xmlns:a16="http://schemas.microsoft.com/office/drawing/2014/main" id="{07F0956F-04A3-DC39-9812-3A129308F279}"/>
              </a:ext>
            </a:extLst>
          </p:cNvPr>
          <p:cNvSpPr/>
          <p:nvPr/>
        </p:nvSpPr>
        <p:spPr>
          <a:xfrm>
            <a:off x="365760" y="868680"/>
            <a:ext cx="2715768" cy="384048"/>
          </a:xfrm>
          <a:prstGeom prst="rect">
            <a:avLst/>
          </a:prstGeom>
          <a:noFill/>
          <a:ln/>
        </p:spPr>
        <p:txBody>
          <a:bodyPr wrap="square" lIns="0" tIns="0" rIns="0" bIns="0" rtlCol="0" anchor="ctr"/>
          <a:lstStyle/>
          <a:p>
            <a:pPr marL="0" indent="0" algn="ctr">
              <a:buNone/>
            </a:pPr>
            <a:r>
              <a:rPr lang="en-US" sz="1200" b="1">
                <a:solidFill>
                  <a:srgbClr val="FFFFFF"/>
                </a:solidFill>
                <a:latin typeface="Open Sans" panose="020B0606030504020204" pitchFamily="34" charset="0"/>
                <a:ea typeface="Open Sans" panose="020B0606030504020204" pitchFamily="34" charset="0"/>
                <a:cs typeface="Open Sans" panose="020B0606030504020204" pitchFamily="34" charset="0"/>
              </a:rPr>
              <a:t>DEBUGGED</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3">
            <a:extLst>
              <a:ext uri="{FF2B5EF4-FFF2-40B4-BE49-F238E27FC236}">
                <a16:creationId xmlns:a16="http://schemas.microsoft.com/office/drawing/2014/main" id="{B9BCAD91-57B1-EE66-F6EC-067E5BA0FA2C}"/>
              </a:ext>
            </a:extLst>
          </p:cNvPr>
          <p:cNvSpPr/>
          <p:nvPr/>
        </p:nvSpPr>
        <p:spPr>
          <a:xfrm>
            <a:off x="365760" y="1271016"/>
            <a:ext cx="2715768" cy="2743200"/>
          </a:xfrm>
          <a:prstGeom prst="roundRect">
            <a:avLst>
              <a:gd name="adj" fmla="val 2694"/>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825DB12D-B894-356F-4192-CA4093A0965A}"/>
              </a:ext>
            </a:extLst>
          </p:cNvPr>
          <p:cNvSpPr/>
          <p:nvPr/>
        </p:nvSpPr>
        <p:spPr>
          <a:xfrm>
            <a:off x="475488" y="1389887"/>
            <a:ext cx="2496312" cy="2076519"/>
          </a:xfrm>
          <a:prstGeom prst="rect">
            <a:avLst/>
          </a:prstGeom>
          <a:noFill/>
          <a:ln/>
        </p:spPr>
        <p:txBody>
          <a:bodyPr wrap="square" lIns="0" tIns="0" rIns="0" bIns="0" rtlCol="0" anchor="t"/>
          <a:lstStyle/>
          <a:p>
            <a:pPr marL="0" indent="0">
              <a:buNone/>
            </a:pPr>
            <a:r>
              <a:rPr lang="en-US" sz="1200">
                <a:solidFill>
                  <a:schemeClr val="accent2"/>
                </a:solidFill>
                <a:latin typeface="Open Sans" pitchFamily="2" charset="0"/>
                <a:ea typeface="Open Sans" pitchFamily="2" charset="0"/>
                <a:cs typeface="Open Sans" pitchFamily="2" charset="0"/>
              </a:rPr>
              <a:t>✓</a:t>
            </a:r>
            <a:r>
              <a:rPr lang="en-US" sz="1200">
                <a:solidFill>
                  <a:srgbClr val="1565C0"/>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5-step debugging loop applied to a broken project</a:t>
            </a:r>
          </a:p>
          <a:p>
            <a:pPr marL="0" indent="0">
              <a:buNone/>
            </a:pPr>
            <a:endParaRPr lang="en-US" sz="1200">
              <a:solidFill>
                <a:srgbClr val="1565C0"/>
              </a:solidFill>
              <a:latin typeface="Open Sans" pitchFamily="2" charset="0"/>
              <a:ea typeface="Open Sans" pitchFamily="2" charset="0"/>
              <a:cs typeface="Open Sans" pitchFamily="2" charset="0"/>
            </a:endParaRPr>
          </a:p>
          <a:p>
            <a:pPr marL="0" indent="0">
              <a:buNone/>
            </a:pPr>
            <a:r>
              <a:rPr lang="en-US" sz="1200">
                <a:solidFill>
                  <a:schemeClr val="accent2"/>
                </a:solidFill>
                <a:latin typeface="Open Sans" pitchFamily="2" charset="0"/>
                <a:ea typeface="Open Sans" pitchFamily="2" charset="0"/>
                <a:cs typeface="Open Sans" pitchFamily="2" charset="0"/>
              </a:rPr>
              <a:t>✓</a:t>
            </a:r>
            <a:r>
              <a:rPr lang="en-US" sz="1200">
                <a:solidFill>
                  <a:srgbClr val="1565C0"/>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Root cause named before every fix</a:t>
            </a:r>
          </a:p>
          <a:p>
            <a:pPr marL="0" indent="0">
              <a:buNone/>
            </a:pPr>
            <a:endParaRPr lang="en-US" sz="1200">
              <a:solidFill>
                <a:srgbClr val="1565C0"/>
              </a:solidFill>
              <a:latin typeface="Open Sans" pitchFamily="2" charset="0"/>
              <a:ea typeface="Open Sans" pitchFamily="2" charset="0"/>
              <a:cs typeface="Open Sans" pitchFamily="2" charset="0"/>
            </a:endParaRPr>
          </a:p>
          <a:p>
            <a:pPr marL="0" indent="0">
              <a:buNone/>
            </a:pPr>
            <a:r>
              <a:rPr lang="en-US" sz="1200">
                <a:solidFill>
                  <a:schemeClr val="accent2"/>
                </a:solidFill>
                <a:latin typeface="Open Sans" pitchFamily="2" charset="0"/>
                <a:ea typeface="Open Sans" pitchFamily="2" charset="0"/>
                <a:cs typeface="Open Sans" pitchFamily="2" charset="0"/>
              </a:rPr>
              <a:t>✓</a:t>
            </a:r>
            <a:r>
              <a:rPr lang="en-US" sz="1200">
                <a:solidFill>
                  <a:srgbClr val="1565C0"/>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Regression test written for at least one bug</a:t>
            </a:r>
          </a:p>
          <a:p>
            <a:pPr marL="0" indent="0">
              <a:buNone/>
            </a:pPr>
            <a:endParaRPr lang="en-US" sz="1200">
              <a:solidFill>
                <a:srgbClr val="1565C0"/>
              </a:solidFill>
              <a:latin typeface="Open Sans" pitchFamily="2" charset="0"/>
              <a:ea typeface="Open Sans" pitchFamily="2" charset="0"/>
              <a:cs typeface="Open Sans" pitchFamily="2" charset="0"/>
            </a:endParaRPr>
          </a:p>
          <a:p>
            <a:pPr marL="0" indent="0">
              <a:buNone/>
            </a:pPr>
            <a:r>
              <a:rPr lang="en-US" sz="1200">
                <a:solidFill>
                  <a:schemeClr val="accent2"/>
                </a:solidFill>
                <a:latin typeface="Open Sans" pitchFamily="2" charset="0"/>
                <a:ea typeface="Open Sans" pitchFamily="2" charset="0"/>
                <a:cs typeface="Open Sans" pitchFamily="2" charset="0"/>
              </a:rPr>
              <a:t>✓</a:t>
            </a:r>
            <a:r>
              <a:rPr lang="en-US" sz="1200">
                <a:solidFill>
                  <a:srgbClr val="1565C0"/>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Habit embedded: read the diff before accepting</a:t>
            </a:r>
          </a:p>
        </p:txBody>
      </p:sp>
      <p:sp>
        <p:nvSpPr>
          <p:cNvPr id="8" name="Shape 7">
            <a:extLst>
              <a:ext uri="{FF2B5EF4-FFF2-40B4-BE49-F238E27FC236}">
                <a16:creationId xmlns:a16="http://schemas.microsoft.com/office/drawing/2014/main" id="{D2ADBA0E-1AC0-875E-26D2-C58AD94BA3B7}"/>
              </a:ext>
            </a:extLst>
          </p:cNvPr>
          <p:cNvSpPr/>
          <p:nvPr/>
        </p:nvSpPr>
        <p:spPr>
          <a:xfrm>
            <a:off x="3218688" y="868680"/>
            <a:ext cx="2715768" cy="384048"/>
          </a:xfrm>
          <a:prstGeom prst="roundRect">
            <a:avLst>
              <a:gd name="adj" fmla="val 14286"/>
            </a:avLst>
          </a:prstGeom>
          <a:solidFill>
            <a:schemeClr val="accent1"/>
          </a:solidFill>
          <a:ln w="12700">
            <a:noFill/>
            <a:prstDash val="solid"/>
          </a:ln>
        </p:spPr>
        <p:txBody>
          <a:bodyPr/>
          <a:lstStyle/>
          <a:p>
            <a:endParaRPr lang="en-US">
              <a:solidFill>
                <a:schemeClr val="accent1"/>
              </a:solidFill>
              <a:latin typeface="Open Sans" pitchFamily="2" charset="0"/>
              <a:ea typeface="Open Sans" pitchFamily="2" charset="0"/>
              <a:cs typeface="Open Sans" pitchFamily="2" charset="0"/>
            </a:endParaRPr>
          </a:p>
        </p:txBody>
      </p:sp>
      <p:sp>
        <p:nvSpPr>
          <p:cNvPr id="9" name="Text 8">
            <a:extLst>
              <a:ext uri="{FF2B5EF4-FFF2-40B4-BE49-F238E27FC236}">
                <a16:creationId xmlns:a16="http://schemas.microsoft.com/office/drawing/2014/main" id="{8CCB9192-64E0-B899-2075-8919CCA8E825}"/>
              </a:ext>
            </a:extLst>
          </p:cNvPr>
          <p:cNvSpPr/>
          <p:nvPr/>
        </p:nvSpPr>
        <p:spPr>
          <a:xfrm>
            <a:off x="3218688" y="868680"/>
            <a:ext cx="2715768" cy="384048"/>
          </a:xfrm>
          <a:prstGeom prst="rect">
            <a:avLst/>
          </a:prstGeom>
          <a:noFill/>
          <a:ln/>
        </p:spPr>
        <p:txBody>
          <a:bodyPr wrap="square" lIns="0" tIns="0" rIns="0" bIns="0" rtlCol="0" anchor="ctr"/>
          <a:lstStyle/>
          <a:p>
            <a:pPr marL="0" indent="0" algn="ctr">
              <a:buNone/>
            </a:pPr>
            <a:r>
              <a:rPr lang="en-US" sz="1200" b="1">
                <a:solidFill>
                  <a:srgbClr val="FFFFFF"/>
                </a:solidFill>
                <a:latin typeface="Open Sans" panose="020B0606030504020204" pitchFamily="34" charset="0"/>
                <a:ea typeface="Open Sans" panose="020B0606030504020204" pitchFamily="34" charset="0"/>
                <a:cs typeface="Open Sans" panose="020B0606030504020204" pitchFamily="34" charset="0"/>
              </a:rPr>
              <a:t>REVIEWED</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9">
            <a:extLst>
              <a:ext uri="{FF2B5EF4-FFF2-40B4-BE49-F238E27FC236}">
                <a16:creationId xmlns:a16="http://schemas.microsoft.com/office/drawing/2014/main" id="{6A3FD0A2-521A-02D7-634E-CBBABFE00106}"/>
              </a:ext>
            </a:extLst>
          </p:cNvPr>
          <p:cNvSpPr/>
          <p:nvPr/>
        </p:nvSpPr>
        <p:spPr>
          <a:xfrm>
            <a:off x="3218688" y="1271016"/>
            <a:ext cx="2715768" cy="2743200"/>
          </a:xfrm>
          <a:prstGeom prst="roundRect">
            <a:avLst>
              <a:gd name="adj" fmla="val 2694"/>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Text 10">
            <a:extLst>
              <a:ext uri="{FF2B5EF4-FFF2-40B4-BE49-F238E27FC236}">
                <a16:creationId xmlns:a16="http://schemas.microsoft.com/office/drawing/2014/main" id="{D36DD30E-7A5B-B680-58C2-8A4C84CA070A}"/>
              </a:ext>
            </a:extLst>
          </p:cNvPr>
          <p:cNvSpPr/>
          <p:nvPr/>
        </p:nvSpPr>
        <p:spPr>
          <a:xfrm>
            <a:off x="3328416" y="1389888"/>
            <a:ext cx="2496312" cy="2148840"/>
          </a:xfrm>
          <a:prstGeom prst="rect">
            <a:avLst/>
          </a:prstGeom>
          <a:noFill/>
          <a:ln/>
        </p:spPr>
        <p:txBody>
          <a:bodyPr wrap="square" lIns="0" tIns="0" rIns="0" bIns="0" rtlCol="0" anchor="t"/>
          <a:lstStyle/>
          <a:p>
            <a:pPr marL="0" indent="0">
              <a:buNone/>
            </a:pPr>
            <a:r>
              <a:rPr lang="en-US" sz="1200">
                <a:solidFill>
                  <a:schemeClr val="accent1"/>
                </a:solidFill>
                <a:latin typeface="Open Sans" pitchFamily="2" charset="0"/>
                <a:ea typeface="Open Sans" pitchFamily="2" charset="0"/>
                <a:cs typeface="Open Sans" pitchFamily="2" charset="0"/>
              </a:rPr>
              <a:t>✓</a:t>
            </a:r>
            <a:r>
              <a:rPr lang="en-US" sz="1200">
                <a:solidFill>
                  <a:srgbClr val="E8972A"/>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Structured review run on your own PoC</a:t>
            </a:r>
          </a:p>
          <a:p>
            <a:pPr marL="0" indent="0">
              <a:buNone/>
            </a:pPr>
            <a:endParaRPr lang="en-US" sz="1200">
              <a:solidFill>
                <a:srgbClr val="E8972A"/>
              </a:solidFill>
              <a:latin typeface="Open Sans" pitchFamily="2" charset="0"/>
              <a:ea typeface="Open Sans" pitchFamily="2" charset="0"/>
              <a:cs typeface="Open Sans" pitchFamily="2" charset="0"/>
            </a:endParaRPr>
          </a:p>
          <a:p>
            <a:pPr marL="0" indent="0">
              <a:buNone/>
            </a:pPr>
            <a:r>
              <a:rPr lang="en-US" sz="1200">
                <a:solidFill>
                  <a:schemeClr val="accent1"/>
                </a:solidFill>
                <a:latin typeface="Open Sans" pitchFamily="2" charset="0"/>
                <a:ea typeface="Open Sans" pitchFamily="2" charset="0"/>
                <a:cs typeface="Open Sans" pitchFamily="2" charset="0"/>
              </a:rPr>
              <a:t>✓</a:t>
            </a:r>
            <a:r>
              <a:rPr lang="en-US" sz="1200">
                <a:solidFill>
                  <a:srgbClr val="E8972A"/>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Issues classified: Critical / High / Medium / Low</a:t>
            </a:r>
          </a:p>
          <a:p>
            <a:pPr marL="0" indent="0">
              <a:buNone/>
            </a:pPr>
            <a:endParaRPr lang="en-US" sz="1200">
              <a:solidFill>
                <a:srgbClr val="E8972A"/>
              </a:solidFill>
              <a:latin typeface="Open Sans" pitchFamily="2" charset="0"/>
              <a:ea typeface="Open Sans" pitchFamily="2" charset="0"/>
              <a:cs typeface="Open Sans" pitchFamily="2" charset="0"/>
            </a:endParaRPr>
          </a:p>
          <a:p>
            <a:pPr marL="0" indent="0">
              <a:buNone/>
            </a:pPr>
            <a:r>
              <a:rPr lang="en-US" sz="1200">
                <a:solidFill>
                  <a:schemeClr val="accent1"/>
                </a:solidFill>
                <a:latin typeface="Open Sans" pitchFamily="2" charset="0"/>
                <a:ea typeface="Open Sans" pitchFamily="2" charset="0"/>
                <a:cs typeface="Open Sans" pitchFamily="2" charset="0"/>
              </a:rPr>
              <a:t>✓</a:t>
            </a:r>
            <a:r>
              <a:rPr lang="en-US" sz="1200">
                <a:solidFill>
                  <a:srgbClr val="E8972A"/>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Critical and High issues fixed and re-verified</a:t>
            </a:r>
          </a:p>
          <a:p>
            <a:pPr marL="0" indent="0">
              <a:buNone/>
            </a:pPr>
            <a:endParaRPr lang="en-US" sz="1200">
              <a:solidFill>
                <a:srgbClr val="E8972A"/>
              </a:solidFill>
              <a:latin typeface="Open Sans" pitchFamily="2" charset="0"/>
              <a:ea typeface="Open Sans" pitchFamily="2" charset="0"/>
              <a:cs typeface="Open Sans" pitchFamily="2" charset="0"/>
            </a:endParaRPr>
          </a:p>
          <a:p>
            <a:pPr marL="0" indent="0">
              <a:buNone/>
            </a:pPr>
            <a:r>
              <a:rPr lang="en-US" sz="1200">
                <a:solidFill>
                  <a:schemeClr val="accent1"/>
                </a:solidFill>
                <a:latin typeface="Open Sans" pitchFamily="2" charset="0"/>
                <a:ea typeface="Open Sans" pitchFamily="2" charset="0"/>
                <a:cs typeface="Open Sans" pitchFamily="2" charset="0"/>
              </a:rPr>
              <a:t>✓</a:t>
            </a:r>
            <a:r>
              <a:rPr lang="en-US" sz="1200">
                <a:solidFill>
                  <a:srgbClr val="E8972A"/>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Medium issues noted as known limitations in README</a:t>
            </a:r>
          </a:p>
        </p:txBody>
      </p:sp>
      <p:sp>
        <p:nvSpPr>
          <p:cNvPr id="12" name="Shape 13">
            <a:extLst>
              <a:ext uri="{FF2B5EF4-FFF2-40B4-BE49-F238E27FC236}">
                <a16:creationId xmlns:a16="http://schemas.microsoft.com/office/drawing/2014/main" id="{168EC68E-4053-B65D-220E-19454E27F048}"/>
              </a:ext>
            </a:extLst>
          </p:cNvPr>
          <p:cNvSpPr/>
          <p:nvPr/>
        </p:nvSpPr>
        <p:spPr>
          <a:xfrm>
            <a:off x="6071616" y="868680"/>
            <a:ext cx="2715768" cy="384048"/>
          </a:xfrm>
          <a:prstGeom prst="roundRect">
            <a:avLst>
              <a:gd name="adj" fmla="val 14286"/>
            </a:avLst>
          </a:prstGeom>
          <a:solidFill>
            <a:srgbClr val="00B05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3" name="Text 14">
            <a:extLst>
              <a:ext uri="{FF2B5EF4-FFF2-40B4-BE49-F238E27FC236}">
                <a16:creationId xmlns:a16="http://schemas.microsoft.com/office/drawing/2014/main" id="{96F668D6-0780-B9F0-0358-27178523B9B2}"/>
              </a:ext>
            </a:extLst>
          </p:cNvPr>
          <p:cNvSpPr/>
          <p:nvPr/>
        </p:nvSpPr>
        <p:spPr>
          <a:xfrm>
            <a:off x="6071616" y="868680"/>
            <a:ext cx="2715768" cy="384048"/>
          </a:xfrm>
          <a:prstGeom prst="rect">
            <a:avLst/>
          </a:prstGeom>
          <a:noFill/>
          <a:ln/>
        </p:spPr>
        <p:txBody>
          <a:bodyPr wrap="square" lIns="0" tIns="0" rIns="0" bIns="0" rtlCol="0" anchor="ctr"/>
          <a:lstStyle/>
          <a:p>
            <a:pPr marL="0" indent="0" algn="ctr">
              <a:buNone/>
            </a:pPr>
            <a:r>
              <a:rPr lang="en-US" sz="1200" b="1">
                <a:solidFill>
                  <a:srgbClr val="FFFFFF"/>
                </a:solidFill>
                <a:latin typeface="Open Sans" panose="020B0606030504020204" pitchFamily="34" charset="0"/>
                <a:ea typeface="Open Sans" panose="020B0606030504020204" pitchFamily="34" charset="0"/>
                <a:cs typeface="Open Sans" panose="020B0606030504020204" pitchFamily="34" charset="0"/>
              </a:rPr>
              <a:t>COMMITTED &amp; DOCUMENTED</a:t>
            </a:r>
            <a:endParaRPr lang="en-US" sz="1200" b="1">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5">
            <a:extLst>
              <a:ext uri="{FF2B5EF4-FFF2-40B4-BE49-F238E27FC236}">
                <a16:creationId xmlns:a16="http://schemas.microsoft.com/office/drawing/2014/main" id="{3622B4AE-9C7A-DD57-796A-43F93C0C3DC9}"/>
              </a:ext>
            </a:extLst>
          </p:cNvPr>
          <p:cNvSpPr/>
          <p:nvPr/>
        </p:nvSpPr>
        <p:spPr>
          <a:xfrm>
            <a:off x="6071616" y="1271016"/>
            <a:ext cx="2715768" cy="2743200"/>
          </a:xfrm>
          <a:prstGeom prst="roundRect">
            <a:avLst>
              <a:gd name="adj" fmla="val 2694"/>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16">
            <a:extLst>
              <a:ext uri="{FF2B5EF4-FFF2-40B4-BE49-F238E27FC236}">
                <a16:creationId xmlns:a16="http://schemas.microsoft.com/office/drawing/2014/main" id="{93A774CF-31F1-4B38-8933-41722F3DB41D}"/>
              </a:ext>
            </a:extLst>
          </p:cNvPr>
          <p:cNvSpPr/>
          <p:nvPr/>
        </p:nvSpPr>
        <p:spPr>
          <a:xfrm>
            <a:off x="6181344" y="1389887"/>
            <a:ext cx="2496312" cy="1411501"/>
          </a:xfrm>
          <a:prstGeom prst="rect">
            <a:avLst/>
          </a:prstGeom>
          <a:noFill/>
          <a:ln/>
        </p:spPr>
        <p:txBody>
          <a:bodyPr wrap="square" lIns="0" tIns="0" rIns="0" bIns="0" rtlCol="0" anchor="t"/>
          <a:lstStyle/>
          <a:p>
            <a:pPr marL="0" indent="0">
              <a:buNone/>
            </a:pPr>
            <a:r>
              <a:rPr lang="en-US" sz="1200">
                <a:solidFill>
                  <a:srgbClr val="00B050"/>
                </a:solidFill>
                <a:latin typeface="Open Sans" pitchFamily="2" charset="0"/>
                <a:ea typeface="Open Sans" pitchFamily="2" charset="0"/>
                <a:cs typeface="Open Sans" pitchFamily="2" charset="0"/>
              </a:rPr>
              <a:t>✓</a:t>
            </a:r>
            <a:r>
              <a:rPr lang="en-US" sz="1200">
                <a:solidFill>
                  <a:srgbClr val="2E7D32"/>
                </a:solidFill>
                <a:latin typeface="Open Sans" pitchFamily="2" charset="0"/>
                <a:ea typeface="Open Sans" pitchFamily="2" charset="0"/>
                <a:cs typeface="Open Sans" pitchFamily="2" charset="0"/>
              </a:rPr>
              <a:t> </a:t>
            </a:r>
            <a:r>
              <a:rPr lang="en-US" sz="1200">
                <a:solidFill>
                  <a:schemeClr val="tx1">
                    <a:lumMod val="75000"/>
                    <a:lumOff val="25000"/>
                  </a:schemeClr>
                </a:solidFill>
                <a:latin typeface="Open Sans" pitchFamily="2" charset="0"/>
                <a:ea typeface="Open Sans" pitchFamily="2" charset="0"/>
                <a:cs typeface="Open Sans" pitchFamily="2" charset="0"/>
              </a:rPr>
              <a:t>Reviewed branch created with a descriptive commit message</a:t>
            </a:r>
          </a:p>
          <a:p>
            <a:pPr marL="0" indent="0">
              <a:buNone/>
            </a:pPr>
            <a:endParaRPr lang="en-US" sz="1200">
              <a:solidFill>
                <a:srgbClr val="2E7D32"/>
              </a:solidFill>
              <a:latin typeface="Open Sans" pitchFamily="2" charset="0"/>
              <a:ea typeface="Open Sans" pitchFamily="2" charset="0"/>
              <a:cs typeface="Open Sans" pitchFamily="2" charset="0"/>
            </a:endParaRPr>
          </a:p>
          <a:p>
            <a:pPr marL="0" indent="0">
              <a:buNone/>
            </a:pPr>
            <a:r>
              <a:rPr lang="en-US" sz="1200">
                <a:solidFill>
                  <a:srgbClr val="00B050"/>
                </a:solidFill>
                <a:latin typeface="Open Sans" pitchFamily="2" charset="0"/>
                <a:ea typeface="Open Sans" pitchFamily="2" charset="0"/>
                <a:cs typeface="Open Sans" pitchFamily="2" charset="0"/>
              </a:rPr>
              <a:t>✓</a:t>
            </a:r>
            <a:r>
              <a:rPr lang="en-US" sz="1200">
                <a:solidFill>
                  <a:srgbClr val="2E7D32"/>
                </a:solidFill>
                <a:latin typeface="Open Sans" pitchFamily="2" charset="0"/>
                <a:ea typeface="Open Sans" pitchFamily="2" charset="0"/>
                <a:cs typeface="Open Sans" pitchFamily="2" charset="0"/>
              </a:rPr>
              <a:t> </a:t>
            </a:r>
            <a:r>
              <a:rPr lang="en-US" sz="1200" err="1">
                <a:solidFill>
                  <a:schemeClr val="tx1">
                    <a:lumMod val="75000"/>
                    <a:lumOff val="25000"/>
                  </a:schemeClr>
                </a:solidFill>
                <a:latin typeface="Open Sans" pitchFamily="2" charset="0"/>
                <a:ea typeface="Open Sans" pitchFamily="2" charset="0"/>
                <a:cs typeface="Open Sans" pitchFamily="2" charset="0"/>
              </a:rPr>
              <a:t>HANDOFF.md</a:t>
            </a:r>
            <a:r>
              <a:rPr lang="en-US" sz="1200">
                <a:solidFill>
                  <a:schemeClr val="tx1">
                    <a:lumMod val="75000"/>
                    <a:lumOff val="25000"/>
                  </a:schemeClr>
                </a:solidFill>
                <a:latin typeface="Open Sans" pitchFamily="2" charset="0"/>
                <a:ea typeface="Open Sans" pitchFamily="2" charset="0"/>
                <a:cs typeface="Open Sans" pitchFamily="2" charset="0"/>
              </a:rPr>
              <a:t> generated, edited, and committed to Git</a:t>
            </a:r>
          </a:p>
        </p:txBody>
      </p:sp>
      <p:sp>
        <p:nvSpPr>
          <p:cNvPr id="17" name="Text 20">
            <a:extLst>
              <a:ext uri="{FF2B5EF4-FFF2-40B4-BE49-F238E27FC236}">
                <a16:creationId xmlns:a16="http://schemas.microsoft.com/office/drawing/2014/main" id="{EA8D73AB-E62E-CC93-2EC3-C84D1736227A}"/>
              </a:ext>
            </a:extLst>
          </p:cNvPr>
          <p:cNvSpPr/>
          <p:nvPr/>
        </p:nvSpPr>
        <p:spPr>
          <a:xfrm>
            <a:off x="502920" y="4114800"/>
            <a:ext cx="8229600" cy="594360"/>
          </a:xfrm>
          <a:prstGeom prst="rect">
            <a:avLst/>
          </a:prstGeom>
          <a:noFill/>
          <a:ln/>
        </p:spPr>
        <p:txBody>
          <a:bodyPr wrap="square" lIns="0" tIns="0" rIns="0" bIns="0" rtlCol="0" anchor="ctr"/>
          <a:lstStyle/>
          <a:p>
            <a:pPr marL="0" indent="0" algn="ctr">
              <a:buNone/>
            </a:pPr>
            <a:r>
              <a:rPr lang="en-US" sz="1400" b="1">
                <a:latin typeface="Open Sans" panose="020B0606030504020204" pitchFamily="34" charset="0"/>
                <a:ea typeface="Open Sans" panose="020B0606030504020204" pitchFamily="34" charset="0"/>
                <a:cs typeface="Open Sans" panose="020B0606030504020204" pitchFamily="34" charset="0"/>
              </a:rPr>
              <a:t>This PoC is debugged, reviewed, and documented. Module 5 asks the next question: </a:t>
            </a:r>
          </a:p>
          <a:p>
            <a:pPr marL="0" indent="0" algn="ctr">
              <a:buNone/>
            </a:pPr>
            <a:r>
              <a:rPr lang="en-US" sz="1400" b="1">
                <a:latin typeface="Open Sans" panose="020B0606030504020204" pitchFamily="34" charset="0"/>
                <a:ea typeface="Open Sans" panose="020B0606030504020204" pitchFamily="34" charset="0"/>
                <a:cs typeface="Open Sans" panose="020B0606030504020204" pitchFamily="34" charset="0"/>
              </a:rPr>
              <a:t>is it ready for production?</a:t>
            </a:r>
          </a:p>
        </p:txBody>
      </p:sp>
    </p:spTree>
    <p:extLst>
      <p:ext uri="{BB962C8B-B14F-4D97-AF65-F5344CB8AC3E}">
        <p14:creationId xmlns:p14="http://schemas.microsoft.com/office/powerpoint/2010/main" val="15310612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201168"/>
            <a:ext cx="8412480" cy="475488"/>
          </a:xfrm>
          <a:prstGeom prst="rect">
            <a:avLst/>
          </a:prstGeom>
          <a:noFill/>
          <a:ln/>
        </p:spPr>
        <p:txBody>
          <a:bodyPr wrap="square" lIns="0" tIns="0" rIns="0" bIns="0" rtlCol="0" anchor="ctr"/>
          <a:lstStyle/>
          <a:p>
            <a:pPr marL="0" indent="0">
              <a:buNone/>
            </a:pPr>
            <a:r>
              <a:rPr lang="en-US" sz="2800" b="1">
                <a:solidFill>
                  <a:srgbClr val="2D2D2D"/>
                </a:solidFill>
                <a:latin typeface="Open Sans" panose="020B0606030504020204" pitchFamily="34" charset="0"/>
                <a:ea typeface="Open Sans" panose="020B0606030504020204" pitchFamily="34" charset="0"/>
                <a:cs typeface="Open Sans" panose="020B0606030504020204" pitchFamily="34" charset="0"/>
              </a:rPr>
              <a:t>What’s Next — Module 5</a:t>
            </a:r>
            <a:endParaRPr lang="en-US" sz="2800" b="1">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365760" y="722376"/>
            <a:ext cx="8412480" cy="256032"/>
          </a:xfrm>
          <a:prstGeom prst="rect">
            <a:avLst/>
          </a:prstGeom>
          <a:noFill/>
          <a:ln/>
        </p:spPr>
        <p:txBody>
          <a:bodyPr wrap="square" lIns="0" tIns="0" rIns="0" bIns="0" rtlCol="0" anchor="ctr"/>
          <a:lstStyle/>
          <a:p>
            <a:pPr marL="0" indent="0">
              <a:buNone/>
            </a:pPr>
            <a:r>
              <a:rPr lang="en-US" sz="1400">
                <a:solidFill>
                  <a:srgbClr val="757575"/>
                </a:solidFill>
                <a:latin typeface="Calibri" pitchFamily="34" charset="0"/>
                <a:ea typeface="Calibri" pitchFamily="34" charset="-122"/>
                <a:cs typeface="Calibri" pitchFamily="34" charset="-120"/>
              </a:rPr>
              <a:t>Extend, Document &amp; Ship · Same PoC. A completely different lens.</a:t>
            </a:r>
            <a:endParaRPr lang="en-US" sz="1400"/>
          </a:p>
        </p:txBody>
      </p:sp>
      <p:sp>
        <p:nvSpPr>
          <p:cNvPr id="4" name="Shape 2"/>
          <p:cNvSpPr/>
          <p:nvPr/>
        </p:nvSpPr>
        <p:spPr>
          <a:xfrm>
            <a:off x="365760" y="1097280"/>
            <a:ext cx="8412480" cy="1024128"/>
          </a:xfrm>
          <a:prstGeom prst="roundRect">
            <a:avLst>
              <a:gd name="adj" fmla="val 7143"/>
            </a:avLst>
          </a:prstGeom>
          <a:solidFill>
            <a:srgbClr val="FFEBEE"/>
          </a:solidFill>
          <a:ln w="15240">
            <a:solidFill>
              <a:schemeClr val="accent3"/>
            </a:solidFill>
            <a:prstDash val="solid"/>
          </a:ln>
          <a:effectLst>
            <a:outerShdw blurRad="63500" dist="25400" dir="2700000" algn="bl" rotWithShape="0">
              <a:srgbClr val="000000">
                <a:alpha val="11000"/>
              </a:srgbClr>
            </a:outerShdw>
          </a:effectLst>
        </p:spPr>
        <p:txBody>
          <a:bodyPr/>
          <a:lstStyle/>
          <a:p>
            <a:endParaRPr lang="en-US"/>
          </a:p>
        </p:txBody>
      </p:sp>
      <p:sp>
        <p:nvSpPr>
          <p:cNvPr id="5" name="Shape 3"/>
          <p:cNvSpPr/>
          <p:nvPr/>
        </p:nvSpPr>
        <p:spPr>
          <a:xfrm>
            <a:off x="502920" y="1408176"/>
            <a:ext cx="475488" cy="365760"/>
          </a:xfrm>
          <a:prstGeom prst="roundRect">
            <a:avLst>
              <a:gd name="adj" fmla="val 12500"/>
            </a:avLst>
          </a:prstGeom>
          <a:solidFill>
            <a:schemeClr val="accent3"/>
          </a:solidFill>
          <a:ln w="12700">
            <a:noFill/>
            <a:prstDash val="solid"/>
          </a:ln>
        </p:spPr>
        <p:txBody>
          <a:bodyPr/>
          <a:lstStyle/>
          <a:p>
            <a:endParaRPr lang="en-US"/>
          </a:p>
        </p:txBody>
      </p:sp>
      <p:sp>
        <p:nvSpPr>
          <p:cNvPr id="6" name="Text 4"/>
          <p:cNvSpPr/>
          <p:nvPr/>
        </p:nvSpPr>
        <p:spPr>
          <a:xfrm>
            <a:off x="502920" y="1408176"/>
            <a:ext cx="475488" cy="365760"/>
          </a:xfrm>
          <a:prstGeom prst="rect">
            <a:avLst/>
          </a:prstGeom>
          <a:noFill/>
          <a:ln/>
        </p:spPr>
        <p:txBody>
          <a:bodyPr wrap="square" lIns="0" tIns="0" rIns="0" bIns="0" rtlCol="0" anchor="ctr"/>
          <a:lstStyle/>
          <a:p>
            <a:pPr marL="0" indent="0" algn="ctr">
              <a:buNone/>
            </a:pPr>
            <a:r>
              <a:rPr lang="en-US" sz="1400" b="1">
                <a:solidFill>
                  <a:srgbClr val="FFFFFF"/>
                </a:solidFill>
                <a:latin typeface="Open Sans" panose="020B0606030504020204" pitchFamily="34" charset="0"/>
                <a:ea typeface="Open Sans" panose="020B0606030504020204" pitchFamily="34" charset="0"/>
                <a:cs typeface="Open Sans" panose="020B0606030504020204" pitchFamily="34" charset="0"/>
              </a:rPr>
              <a:t>01</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1115568" y="1275588"/>
            <a:ext cx="7406640" cy="347472"/>
          </a:xfrm>
          <a:prstGeom prst="rect">
            <a:avLst/>
          </a:prstGeom>
          <a:noFill/>
          <a:ln/>
        </p:spPr>
        <p:txBody>
          <a:bodyPr wrap="square" lIns="0" tIns="0" rIns="0" bIns="0" rtlCol="0" anchor="ctr"/>
          <a:lstStyle/>
          <a:p>
            <a:pPr marL="0" indent="0">
              <a:buNone/>
            </a:pPr>
            <a:r>
              <a:rPr lang="en-US" sz="1500" b="1">
                <a:solidFill>
                  <a:schemeClr val="accent3"/>
                </a:solidFill>
                <a:latin typeface="Open Sans" panose="020B0606030504020204" pitchFamily="34" charset="0"/>
                <a:ea typeface="Open Sans" panose="020B0606030504020204" pitchFamily="34" charset="0"/>
                <a:cs typeface="Open Sans" panose="020B0606030504020204" pitchFamily="34" charset="0"/>
              </a:rPr>
              <a:t>The Discharge Agent </a:t>
            </a:r>
          </a:p>
        </p:txBody>
      </p:sp>
      <p:sp>
        <p:nvSpPr>
          <p:cNvPr id="8" name="Text 6"/>
          <p:cNvSpPr/>
          <p:nvPr/>
        </p:nvSpPr>
        <p:spPr>
          <a:xfrm>
            <a:off x="1115568" y="1488186"/>
            <a:ext cx="7406640" cy="402336"/>
          </a:xfrm>
          <a:prstGeom prst="rect">
            <a:avLst/>
          </a:prstGeom>
          <a:noFill/>
          <a:ln/>
        </p:spPr>
        <p:txBody>
          <a:bodyPr wrap="square" lIns="0" tIns="0" rIns="0" bIns="0" rtlCol="0" anchor="ctr"/>
          <a:lstStyle/>
          <a:p>
            <a:pPr marL="0" indent="0">
              <a:buNone/>
            </a:pPr>
            <a:r>
              <a:rPr lang="en-US" sz="1200">
                <a:solidFill>
                  <a:srgbClr val="2D2D2D"/>
                </a:solidFill>
                <a:latin typeface="Calibri" pitchFamily="34" charset="0"/>
                <a:ea typeface="Calibri" pitchFamily="34" charset="-122"/>
                <a:cs typeface="Calibri" pitchFamily="34" charset="-120"/>
              </a:rPr>
              <a:t>Give the drafter tools, memory and hooks; expose it to Claude Code via read-only MCP.</a:t>
            </a:r>
            <a:endParaRPr lang="en-US" sz="1200"/>
          </a:p>
        </p:txBody>
      </p:sp>
      <p:sp>
        <p:nvSpPr>
          <p:cNvPr id="9" name="Shape 7"/>
          <p:cNvSpPr/>
          <p:nvPr/>
        </p:nvSpPr>
        <p:spPr>
          <a:xfrm>
            <a:off x="365760" y="2267712"/>
            <a:ext cx="8412480" cy="1024128"/>
          </a:xfrm>
          <a:prstGeom prst="roundRect">
            <a:avLst>
              <a:gd name="adj" fmla="val 7143"/>
            </a:avLst>
          </a:prstGeom>
          <a:solidFill>
            <a:srgbClr val="E3F2FD"/>
          </a:solidFill>
          <a:ln w="15240">
            <a:solidFill>
              <a:schemeClr val="accent2"/>
            </a:solidFill>
            <a:prstDash val="solid"/>
          </a:ln>
          <a:effectLst>
            <a:outerShdw blurRad="63500" dist="25400" dir="2700000" algn="bl" rotWithShape="0">
              <a:srgbClr val="000000">
                <a:alpha val="11000"/>
              </a:srgbClr>
            </a:outerShdw>
          </a:effectLst>
        </p:spPr>
        <p:txBody>
          <a:bodyPr/>
          <a:lstStyle/>
          <a:p>
            <a:endParaRPr lang="en-US"/>
          </a:p>
        </p:txBody>
      </p:sp>
      <p:sp>
        <p:nvSpPr>
          <p:cNvPr id="10" name="Shape 8"/>
          <p:cNvSpPr/>
          <p:nvPr/>
        </p:nvSpPr>
        <p:spPr>
          <a:xfrm>
            <a:off x="502920" y="2578608"/>
            <a:ext cx="475488" cy="365760"/>
          </a:xfrm>
          <a:prstGeom prst="roundRect">
            <a:avLst>
              <a:gd name="adj" fmla="val 12500"/>
            </a:avLst>
          </a:prstGeom>
          <a:solidFill>
            <a:schemeClr val="accent2"/>
          </a:solidFill>
          <a:ln w="12700">
            <a:noFill/>
            <a:prstDash val="solid"/>
          </a:ln>
        </p:spPr>
        <p:txBody>
          <a:bodyPr/>
          <a:lstStyle/>
          <a:p>
            <a:endParaRPr lang="en-US"/>
          </a:p>
        </p:txBody>
      </p:sp>
      <p:sp>
        <p:nvSpPr>
          <p:cNvPr id="11" name="Text 9"/>
          <p:cNvSpPr/>
          <p:nvPr/>
        </p:nvSpPr>
        <p:spPr>
          <a:xfrm>
            <a:off x="502920" y="2578608"/>
            <a:ext cx="475488" cy="365760"/>
          </a:xfrm>
          <a:prstGeom prst="rect">
            <a:avLst/>
          </a:prstGeom>
          <a:noFill/>
          <a:ln/>
        </p:spPr>
        <p:txBody>
          <a:bodyPr wrap="square" lIns="0" tIns="0" rIns="0" bIns="0" rtlCol="0" anchor="ctr"/>
          <a:lstStyle/>
          <a:p>
            <a:pPr marL="0" indent="0" algn="ctr">
              <a:buNone/>
            </a:pPr>
            <a:r>
              <a:rPr lang="en-US" sz="1400" b="1">
                <a:solidFill>
                  <a:srgbClr val="FFFFFF"/>
                </a:solidFill>
                <a:latin typeface="Open Sans" panose="020B0606030504020204" pitchFamily="34" charset="0"/>
                <a:ea typeface="Open Sans" panose="020B0606030504020204" pitchFamily="34" charset="0"/>
                <a:cs typeface="Open Sans" panose="020B0606030504020204" pitchFamily="34" charset="0"/>
              </a:rPr>
              <a:t>02</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1115568" y="2404872"/>
            <a:ext cx="7406640" cy="347472"/>
          </a:xfrm>
          <a:prstGeom prst="rect">
            <a:avLst/>
          </a:prstGeom>
          <a:noFill/>
          <a:ln/>
        </p:spPr>
        <p:txBody>
          <a:bodyPr wrap="square" lIns="0" tIns="0" rIns="0" bIns="0" rtlCol="0" anchor="ctr"/>
          <a:lstStyle/>
          <a:p>
            <a:pPr marL="0" indent="0">
              <a:buNone/>
            </a:pPr>
            <a:r>
              <a:rPr lang="en-US" sz="1500" b="1">
                <a:solidFill>
                  <a:schemeClr val="accent2"/>
                </a:solidFill>
                <a:latin typeface="Open Sans" panose="020B0606030504020204" pitchFamily="34" charset="0"/>
                <a:ea typeface="Open Sans" panose="020B0606030504020204" pitchFamily="34" charset="0"/>
                <a:cs typeface="Open Sans" panose="020B0606030504020204" pitchFamily="34" charset="0"/>
              </a:rPr>
              <a:t>Put a Face On It</a:t>
            </a:r>
          </a:p>
        </p:txBody>
      </p:sp>
      <p:sp>
        <p:nvSpPr>
          <p:cNvPr id="13" name="Text 11"/>
          <p:cNvSpPr/>
          <p:nvPr/>
        </p:nvSpPr>
        <p:spPr>
          <a:xfrm>
            <a:off x="1115568" y="2711196"/>
            <a:ext cx="7406640" cy="402336"/>
          </a:xfrm>
          <a:prstGeom prst="rect">
            <a:avLst/>
          </a:prstGeom>
          <a:noFill/>
          <a:ln/>
        </p:spPr>
        <p:txBody>
          <a:bodyPr wrap="square" lIns="0" tIns="0" rIns="0" bIns="0" rtlCol="0" anchor="ctr"/>
          <a:lstStyle/>
          <a:p>
            <a:pPr marL="0" indent="0">
              <a:buNone/>
            </a:pPr>
            <a:r>
              <a:rPr lang="en-US" sz="1200">
                <a:solidFill>
                  <a:srgbClr val="2D2D2D"/>
                </a:solidFill>
                <a:latin typeface="Calibri" pitchFamily="34" charset="0"/>
                <a:ea typeface="Calibri" pitchFamily="34" charset="-122"/>
                <a:cs typeface="Calibri" pitchFamily="34" charset="-120"/>
              </a:rPr>
              <a:t>Build a Streamlit clinician console and run the full journey: submit, draft, reject, redraft, approve, release.</a:t>
            </a:r>
            <a:r>
              <a:rPr lang="en-US" sz="1200" err="1">
                <a:solidFill>
                  <a:srgbClr val="2D2D2D"/>
                </a:solidFill>
                <a:latin typeface="Calibri" pitchFamily="34" charset="0"/>
                <a:ea typeface="Calibri" pitchFamily="34" charset="-122"/>
                <a:cs typeface="Calibri" pitchFamily="34" charset="-120"/>
              </a:rPr>
              <a:t/>
            </a:r>
            <a:r>
              <a:rPr lang="en-US" sz="1200">
                <a:solidFill>
                  <a:srgbClr val="2D2D2D"/>
                </a:solidFill>
                <a:latin typeface="Calibri" pitchFamily="34" charset="0"/>
                <a:ea typeface="Calibri" pitchFamily="34" charset="-122"/>
                <a:cs typeface="Calibri" pitchFamily="34" charset="-120"/>
              </a:rPr>
              <a:t/>
            </a:r>
            <a:endParaRPr lang="en-US" sz="1200"/>
          </a:p>
        </p:txBody>
      </p:sp>
      <p:sp>
        <p:nvSpPr>
          <p:cNvPr id="14" name="Shape 12"/>
          <p:cNvSpPr/>
          <p:nvPr/>
        </p:nvSpPr>
        <p:spPr>
          <a:xfrm>
            <a:off x="365760" y="3438144"/>
            <a:ext cx="8412480" cy="1024128"/>
          </a:xfrm>
          <a:prstGeom prst="roundRect">
            <a:avLst>
              <a:gd name="adj" fmla="val 7143"/>
            </a:avLst>
          </a:prstGeom>
          <a:solidFill>
            <a:srgbClr val="E8F5E9"/>
          </a:solidFill>
          <a:ln w="15240">
            <a:solidFill>
              <a:srgbClr val="00B050"/>
            </a:solidFill>
            <a:prstDash val="solid"/>
          </a:ln>
          <a:effectLst>
            <a:outerShdw blurRad="63500" dist="25400" dir="2700000" algn="bl" rotWithShape="0">
              <a:srgbClr val="000000">
                <a:alpha val="11000"/>
              </a:srgbClr>
            </a:outerShdw>
          </a:effectLst>
        </p:spPr>
        <p:txBody>
          <a:bodyPr/>
          <a:lstStyle/>
          <a:p>
            <a:endParaRPr lang="en-US"/>
          </a:p>
        </p:txBody>
      </p:sp>
      <p:sp>
        <p:nvSpPr>
          <p:cNvPr id="15" name="Shape 13"/>
          <p:cNvSpPr/>
          <p:nvPr/>
        </p:nvSpPr>
        <p:spPr>
          <a:xfrm>
            <a:off x="502920" y="3749040"/>
            <a:ext cx="475488" cy="365760"/>
          </a:xfrm>
          <a:prstGeom prst="roundRect">
            <a:avLst>
              <a:gd name="adj" fmla="val 12500"/>
            </a:avLst>
          </a:prstGeom>
          <a:solidFill>
            <a:srgbClr val="00B050"/>
          </a:solidFill>
          <a:ln w="12700">
            <a:noFill/>
            <a:prstDash val="solid"/>
          </a:ln>
        </p:spPr>
        <p:txBody>
          <a:bodyPr/>
          <a:lstStyle/>
          <a:p>
            <a:endParaRPr lang="en-US"/>
          </a:p>
        </p:txBody>
      </p:sp>
      <p:sp>
        <p:nvSpPr>
          <p:cNvPr id="16" name="Text 14"/>
          <p:cNvSpPr/>
          <p:nvPr/>
        </p:nvSpPr>
        <p:spPr>
          <a:xfrm>
            <a:off x="502920" y="3749040"/>
            <a:ext cx="475488" cy="365760"/>
          </a:xfrm>
          <a:prstGeom prst="rect">
            <a:avLst/>
          </a:prstGeom>
          <a:noFill/>
          <a:ln/>
        </p:spPr>
        <p:txBody>
          <a:bodyPr wrap="square" lIns="0" tIns="0" rIns="0" bIns="0" rtlCol="0" anchor="ctr"/>
          <a:lstStyle/>
          <a:p>
            <a:pPr marL="0" indent="0" algn="ctr">
              <a:buNone/>
            </a:pPr>
            <a:r>
              <a:rPr lang="en-US" sz="1400" b="1">
                <a:solidFill>
                  <a:srgbClr val="FFFFFF"/>
                </a:solidFill>
                <a:latin typeface="Open Sans" panose="020B0606030504020204" pitchFamily="34" charset="0"/>
                <a:ea typeface="Open Sans" panose="020B0606030504020204" pitchFamily="34" charset="0"/>
                <a:cs typeface="Open Sans" panose="020B0606030504020204" pitchFamily="34" charset="0"/>
              </a:rPr>
              <a:t>03</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1115568" y="3618664"/>
            <a:ext cx="7406640" cy="347472"/>
          </a:xfrm>
          <a:prstGeom prst="rect">
            <a:avLst/>
          </a:prstGeom>
          <a:noFill/>
          <a:ln/>
        </p:spPr>
        <p:txBody>
          <a:bodyPr wrap="square" lIns="0" tIns="0" rIns="0" bIns="0" rtlCol="0" anchor="ctr"/>
          <a:lstStyle/>
          <a:p>
            <a:pPr marL="0" indent="0">
              <a:buNone/>
            </a:pPr>
            <a:r>
              <a:rPr lang="en-US" sz="1500" b="1">
                <a:solidFill>
                  <a:srgbClr val="00B050"/>
                </a:solidFill>
                <a:latin typeface="Open Sans" panose="020B0606030504020204" pitchFamily="34" charset="0"/>
                <a:ea typeface="Open Sans" panose="020B0606030504020204" pitchFamily="34" charset="0"/>
                <a:cs typeface="Open Sans" panose="020B0606030504020204" pitchFamily="34" charset="0"/>
              </a:rPr>
              <a:t>Document, Audit &amp; Ship </a:t>
            </a:r>
          </a:p>
        </p:txBody>
      </p:sp>
      <p:sp>
        <p:nvSpPr>
          <p:cNvPr id="18" name="Text 16"/>
          <p:cNvSpPr/>
          <p:nvPr/>
        </p:nvSpPr>
        <p:spPr>
          <a:xfrm>
            <a:off x="1115568" y="3865552"/>
            <a:ext cx="7406640" cy="402336"/>
          </a:xfrm>
          <a:prstGeom prst="rect">
            <a:avLst/>
          </a:prstGeom>
          <a:noFill/>
          <a:ln/>
        </p:spPr>
        <p:txBody>
          <a:bodyPr wrap="square" lIns="0" tIns="0" rIns="0" bIns="0" rtlCol="0" anchor="ctr"/>
          <a:lstStyle/>
          <a:p>
            <a:pPr marL="0" indent="0">
              <a:buNone/>
            </a:pPr>
            <a:r>
              <a:rPr lang="en-US" sz="1200">
                <a:solidFill>
                  <a:srgbClr val="2D2D2D"/>
                </a:solidFill>
                <a:latin typeface="Calibri" pitchFamily="34" charset="0"/>
                <a:ea typeface="Calibri" pitchFamily="34" charset="-122"/>
                <a:cs typeface="Calibri" pitchFamily="34" charset="-120"/>
              </a:rPr>
              <a:t>README, HANDOFF and an ADR from real code, clean commits, and a production gap audit.</a:t>
            </a:r>
            <a:endParaRPr lang="en-US" sz="1200"/>
          </a:p>
        </p:txBody>
      </p:sp>
      <p:sp>
        <p:nvSpPr>
          <p:cNvPr id="19" name="Text 17"/>
          <p:cNvSpPr/>
          <p:nvPr/>
        </p:nvSpPr>
        <p:spPr>
          <a:xfrm>
            <a:off x="365760" y="4562856"/>
            <a:ext cx="8412480" cy="228600"/>
          </a:xfrm>
          <a:prstGeom prst="rect">
            <a:avLst/>
          </a:prstGeom>
          <a:noFill/>
          <a:ln/>
        </p:spPr>
        <p:txBody>
          <a:bodyPr wrap="square" lIns="0" tIns="0" rIns="0" bIns="0" rtlCol="0" anchor="ctr"/>
          <a:lstStyle/>
          <a:p>
            <a:pPr marL="0" indent="0" algn="ctr">
              <a:buNone/>
            </a:pPr>
            <a:r>
              <a:rPr lang="en-US" sz="1400" i="1">
                <a:solidFill>
                  <a:srgbClr val="757575"/>
                </a:solidFill>
                <a:latin typeface="Open Sans" pitchFamily="2" charset="0"/>
                <a:ea typeface="Open Sans" pitchFamily="2" charset="0"/>
                <a:cs typeface="Open Sans" pitchFamily="2" charset="0"/>
              </a:rPr>
              <a:t>Bring: your green test suite · your hooks · your review findings from today.</a:t>
            </a:r>
            <a:r>
              <a:rPr lang="en-US" sz="1400" i="1" err="1">
                <a:solidFill>
                  <a:srgbClr val="757575"/>
                </a:solidFill>
                <a:latin typeface="Open Sans" pitchFamily="2" charset="0"/>
                <a:ea typeface="Open Sans" pitchFamily="2" charset="0"/>
                <a:cs typeface="Open Sans" pitchFamily="2" charset="0"/>
              </a:rPr>
              <a:t/>
            </a:r>
            <a:r>
              <a:rPr lang="en-US" sz="1400" i="1">
                <a:solidFill>
                  <a:srgbClr val="757575"/>
                </a:solidFill>
                <a:latin typeface="Open Sans" pitchFamily="2" charset="0"/>
                <a:ea typeface="Open Sans" pitchFamily="2" charset="0"/>
                <a:cs typeface="Open Sans" pitchFamily="2" charset="0"/>
              </a:rPr>
              <a:t/>
            </a:r>
            <a:endParaRPr lang="en-US" sz="1400" i="1">
              <a:latin typeface="Open Sans" pitchFamily="2" charset="0"/>
              <a:ea typeface="Open Sans" pitchFamily="2" charset="0"/>
              <a:cs typeface="Open Sans" pitchFamily="2" charset="0"/>
            </a:endParaRPr>
          </a:p>
        </p:txBody>
      </p:sp>
      <p:sp>
        <p:nvSpPr>
          <p:cNvPr id="20" name="Slide Number Placeholder 19">
            <a:extLst>
              <a:ext uri="{FF2B5EF4-FFF2-40B4-BE49-F238E27FC236}">
                <a16:creationId xmlns:a16="http://schemas.microsoft.com/office/drawing/2014/main" id="{F865027A-77E9-9335-17CE-DA57345E31AF}"/>
              </a:ext>
            </a:extLst>
          </p:cNvPr>
          <p:cNvSpPr>
            <a:spLocks noGrp="1"/>
          </p:cNvSpPr>
          <p:nvPr>
            <p:ph type="sldNum" sz="quarter" idx="12"/>
          </p:nvPr>
        </p:nvSpPr>
        <p:spPr/>
        <p:txBody>
          <a:bodyPr/>
          <a:lstStyle/>
          <a:p>
            <a:fld id="{C1FF6DA9-008F-8B48-92A6-B652298478BF}" type="slidenum">
              <a:rPr lang="en-US" smtClean="0">
                <a:solidFill>
                  <a:schemeClr val="bg1"/>
                </a:solidFill>
              </a:rPr>
              <a:t>41</a:t>
            </a:fld>
            <a:endParaRPr lang="en-US" dirty="0">
              <a:solidFill>
                <a:schemeClr val="bg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3">
            <a:extLst>
              <a:ext uri="{FF2B5EF4-FFF2-40B4-BE49-F238E27FC236}">
                <a16:creationId xmlns:a16="http://schemas.microsoft.com/office/drawing/2014/main" id="{9077F201-AF5C-56AB-E5C3-63A166751C3A}"/>
              </a:ext>
            </a:extLst>
          </p:cNvPr>
          <p:cNvSpPr/>
          <p:nvPr/>
        </p:nvSpPr>
        <p:spPr>
          <a:xfrm>
            <a:off x="3161581" y="1428750"/>
            <a:ext cx="2820838" cy="2286000"/>
          </a:xfrm>
          <a:prstGeom prst="rect">
            <a:avLst/>
          </a:prstGeom>
          <a:noFill/>
          <a:ln/>
        </p:spPr>
        <p:txBody>
          <a:bodyPr wrap="square" lIns="0" tIns="0" rIns="0" bIns="0" rtlCol="0" anchor="ctr"/>
          <a:lstStyle/>
          <a:p>
            <a:pPr marL="0" indent="0" algn="ctr">
              <a:buNone/>
            </a:pPr>
            <a:r>
              <a:rPr lang="en-US" sz="8000" b="1">
                <a:solidFill>
                  <a:srgbClr val="383838"/>
                </a:solidFill>
                <a:latin typeface="Open Sans" panose="020B0606030504020204" pitchFamily="34" charset="0"/>
                <a:ea typeface="Open Sans" panose="020B0606030504020204" pitchFamily="34" charset="0"/>
                <a:cs typeface="Open Sans" panose="020B0606030504020204" pitchFamily="34" charset="0"/>
              </a:rPr>
              <a:t>Q&amp;A</a:t>
            </a:r>
            <a:endParaRPr lang="en-US" sz="8000" b="1">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4">
            <a:extLst>
              <a:ext uri="{FF2B5EF4-FFF2-40B4-BE49-F238E27FC236}">
                <a16:creationId xmlns:a16="http://schemas.microsoft.com/office/drawing/2014/main" id="{2F470D4F-5EE3-4FF1-095D-A083AE4550AE}"/>
              </a:ext>
            </a:extLst>
          </p:cNvPr>
          <p:cNvSpPr/>
          <p:nvPr/>
        </p:nvSpPr>
        <p:spPr>
          <a:xfrm>
            <a:off x="4206240" y="3205748"/>
            <a:ext cx="731520" cy="73152"/>
          </a:xfrm>
          <a:prstGeom prst="rect">
            <a:avLst/>
          </a:prstGeom>
          <a:solidFill>
            <a:srgbClr val="FDB71A"/>
          </a:solidFill>
          <a:ln/>
        </p:spPr>
        <p:txBody>
          <a:bodyPr/>
          <a:lstStyle/>
          <a:p>
            <a:endParaRPr lang="en-US"/>
          </a:p>
        </p:txBody>
      </p:sp>
    </p:spTree>
    <p:extLst>
      <p:ext uri="{BB962C8B-B14F-4D97-AF65-F5344CB8AC3E}">
        <p14:creationId xmlns:p14="http://schemas.microsoft.com/office/powerpoint/2010/main" val="31131423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5">
            <a:extLst>
              <a:ext uri="{FF2B5EF4-FFF2-40B4-BE49-F238E27FC236}">
                <a16:creationId xmlns:a16="http://schemas.microsoft.com/office/drawing/2014/main" id="{0605B558-E578-0159-FA5B-1089C28634BD}"/>
              </a:ext>
            </a:extLst>
          </p:cNvPr>
          <p:cNvSpPr/>
          <p:nvPr/>
        </p:nvSpPr>
        <p:spPr>
          <a:xfrm>
            <a:off x="342900" y="728662"/>
            <a:ext cx="8455914" cy="294894"/>
          </a:xfrm>
          <a:prstGeom prst="rect">
            <a:avLst/>
          </a:prstGeom>
          <a:noFill/>
          <a:ln/>
        </p:spPr>
        <p:txBody>
          <a:bodyPr wrap="square" lIns="0" tIns="0" rIns="0" bIns="0" rtlCol="0" anchor="t"/>
          <a:lstStyle/>
          <a:p>
            <a:r>
              <a:rPr lang="en-US" sz="1388" b="1">
                <a:latin typeface="Open Sans" panose="020B0606030504020204" pitchFamily="34" charset="0"/>
                <a:ea typeface="Open Sans" panose="020B0606030504020204" pitchFamily="34" charset="0"/>
                <a:cs typeface="Open Sans" panose="020B0606030504020204" pitchFamily="34" charset="0"/>
              </a:rPr>
              <a:t>Before committing a PoC for a production handoff, which critical issues must be fixed first? Select all.</a:t>
            </a:r>
          </a:p>
        </p:txBody>
      </p:sp>
      <p:sp>
        <p:nvSpPr>
          <p:cNvPr id="17" name="Shape 14">
            <a:extLst>
              <a:ext uri="{FF2B5EF4-FFF2-40B4-BE49-F238E27FC236}">
                <a16:creationId xmlns:a16="http://schemas.microsoft.com/office/drawing/2014/main" id="{25413F51-E0D4-EC8D-D47B-5874604E42A8}"/>
              </a:ext>
            </a:extLst>
          </p:cNvPr>
          <p:cNvSpPr/>
          <p:nvPr/>
        </p:nvSpPr>
        <p:spPr>
          <a:xfrm>
            <a:off x="342900" y="2268854"/>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257BF3D7-B532-C8AA-CEB9-0BDA12DEAEA3}"/>
              </a:ext>
            </a:extLst>
          </p:cNvPr>
          <p:cNvSpPr/>
          <p:nvPr/>
        </p:nvSpPr>
        <p:spPr>
          <a:xfrm>
            <a:off x="493776" y="2330576"/>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F8A86A06-3BCB-030D-B7CE-1AF5B1B7FE93}"/>
              </a:ext>
            </a:extLst>
          </p:cNvPr>
          <p:cNvSpPr/>
          <p:nvPr/>
        </p:nvSpPr>
        <p:spPr>
          <a:xfrm>
            <a:off x="493776" y="2330576"/>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7">
            <a:extLst>
              <a:ext uri="{FF2B5EF4-FFF2-40B4-BE49-F238E27FC236}">
                <a16:creationId xmlns:a16="http://schemas.microsoft.com/office/drawing/2014/main" id="{3BBC561E-AB9F-B562-E87F-11DCF9237BC4}"/>
              </a:ext>
            </a:extLst>
          </p:cNvPr>
          <p:cNvSpPr/>
          <p:nvPr/>
        </p:nvSpPr>
        <p:spPr>
          <a:xfrm>
            <a:off x="809244" y="2268854"/>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090">
                <a:solidFill>
                  <a:schemeClr val="tx2"/>
                </a:solidFill>
                <a:latin typeface="Open Sans" pitchFamily="2" charset="0"/>
                <a:ea typeface="Open Sans" pitchFamily="2" charset="0"/>
                <a:cs typeface="Open Sans" pitchFamily="2" charset="0"/>
              </a:rPr>
              <a:t>A loop variable named x</a:t>
            </a:r>
          </a:p>
        </p:txBody>
      </p:sp>
      <p:sp>
        <p:nvSpPr>
          <p:cNvPr id="21" name="Shape 18">
            <a:extLst>
              <a:ext uri="{FF2B5EF4-FFF2-40B4-BE49-F238E27FC236}">
                <a16:creationId xmlns:a16="http://schemas.microsoft.com/office/drawing/2014/main" id="{CCEEDA69-D502-2A40-B051-6106FB7F75FF}"/>
              </a:ext>
            </a:extLst>
          </p:cNvPr>
          <p:cNvSpPr/>
          <p:nvPr/>
        </p:nvSpPr>
        <p:spPr>
          <a:xfrm>
            <a:off x="342900" y="2744914"/>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8B3A5CEB-6E24-B5FF-5D97-FD5B65A3D198}"/>
              </a:ext>
            </a:extLst>
          </p:cNvPr>
          <p:cNvSpPr/>
          <p:nvPr/>
        </p:nvSpPr>
        <p:spPr>
          <a:xfrm>
            <a:off x="493776" y="2806636"/>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DB294214-66D3-17ED-3996-8B6698706FA3}"/>
              </a:ext>
            </a:extLst>
          </p:cNvPr>
          <p:cNvSpPr/>
          <p:nvPr/>
        </p:nvSpPr>
        <p:spPr>
          <a:xfrm>
            <a:off x="493776" y="2806636"/>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1">
            <a:extLst>
              <a:ext uri="{FF2B5EF4-FFF2-40B4-BE49-F238E27FC236}">
                <a16:creationId xmlns:a16="http://schemas.microsoft.com/office/drawing/2014/main" id="{19BDF494-B95B-478A-9C43-CFE7BDE577F8}"/>
              </a:ext>
            </a:extLst>
          </p:cNvPr>
          <p:cNvSpPr/>
          <p:nvPr/>
        </p:nvSpPr>
        <p:spPr>
          <a:xfrm>
            <a:off x="809244" y="2744914"/>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090">
                <a:solidFill>
                  <a:schemeClr val="tx2"/>
                </a:solidFill>
                <a:latin typeface="Open Sans" pitchFamily="2" charset="0"/>
                <a:ea typeface="Open Sans" pitchFamily="2" charset="0"/>
                <a:cs typeface="Open Sans" pitchFamily="2" charset="0"/>
              </a:rPr>
              <a:t>A missing module docstring</a:t>
            </a:r>
          </a:p>
        </p:txBody>
      </p:sp>
      <p:sp>
        <p:nvSpPr>
          <p:cNvPr id="2" name="Shape 14">
            <a:extLst>
              <a:ext uri="{FF2B5EF4-FFF2-40B4-BE49-F238E27FC236}">
                <a16:creationId xmlns:a16="http://schemas.microsoft.com/office/drawing/2014/main" id="{3D00C704-6240-E23E-52F2-5BB459D3D048}"/>
              </a:ext>
            </a:extLst>
          </p:cNvPr>
          <p:cNvSpPr/>
          <p:nvPr/>
        </p:nvSpPr>
        <p:spPr>
          <a:xfrm>
            <a:off x="342900" y="1316734"/>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5">
            <a:extLst>
              <a:ext uri="{FF2B5EF4-FFF2-40B4-BE49-F238E27FC236}">
                <a16:creationId xmlns:a16="http://schemas.microsoft.com/office/drawing/2014/main" id="{1FD3F0A4-869A-3773-9A9C-C5123EC9A6CA}"/>
              </a:ext>
            </a:extLst>
          </p:cNvPr>
          <p:cNvSpPr/>
          <p:nvPr/>
        </p:nvSpPr>
        <p:spPr>
          <a:xfrm>
            <a:off x="493776" y="1378456"/>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4" name="Text 16">
            <a:extLst>
              <a:ext uri="{FF2B5EF4-FFF2-40B4-BE49-F238E27FC236}">
                <a16:creationId xmlns:a16="http://schemas.microsoft.com/office/drawing/2014/main" id="{A3678CCD-1B80-257C-2D4F-1B00AD43BB69}"/>
              </a:ext>
            </a:extLst>
          </p:cNvPr>
          <p:cNvSpPr/>
          <p:nvPr/>
        </p:nvSpPr>
        <p:spPr>
          <a:xfrm>
            <a:off x="493776" y="1378456"/>
            <a:ext cx="205740" cy="205740"/>
          </a:xfrm>
          <a:prstGeom prst="rect">
            <a:avLst/>
          </a:prstGeom>
          <a:noFill/>
          <a:ln/>
        </p:spPr>
        <p:txBody>
          <a:bodyPr wrap="square" lIns="0" tIns="0" rIns="0" bIns="0" rtlCol="0" anchor="ctr"/>
          <a:lstStyle/>
          <a:p>
            <a:pPr algn="ctr"/>
            <a:r>
              <a:rPr lang="en-US" sz="975" b="1" dirty="0">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975" b="1"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17">
            <a:extLst>
              <a:ext uri="{FF2B5EF4-FFF2-40B4-BE49-F238E27FC236}">
                <a16:creationId xmlns:a16="http://schemas.microsoft.com/office/drawing/2014/main" id="{B1C3C00A-541A-7E60-F1A2-1DC0CD703688}"/>
              </a:ext>
            </a:extLst>
          </p:cNvPr>
          <p:cNvSpPr/>
          <p:nvPr/>
        </p:nvSpPr>
        <p:spPr>
          <a:xfrm>
            <a:off x="809244" y="1316734"/>
            <a:ext cx="7886700" cy="329184"/>
          </a:xfrm>
          <a:prstGeom prst="rect">
            <a:avLst/>
          </a:prstGeom>
          <a:noFill/>
          <a:ln/>
        </p:spPr>
        <p:txBody>
          <a:bodyPr wrap="square" lIns="0" tIns="0" rIns="0" bIns="0" rtlCol="0" anchor="ctr"/>
          <a:lstStyle/>
          <a:p>
            <a:r>
              <a:rPr lang="en-US" sz="1090" b="1" dirty="0">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090" dirty="0">
                <a:solidFill>
                  <a:schemeClr val="tx2"/>
                </a:solidFill>
                <a:latin typeface="Open Sans" panose="020B0606030504020204" pitchFamily="34" charset="0"/>
                <a:ea typeface="Open Sans" panose="020B0606030504020204" pitchFamily="34" charset="0"/>
                <a:cs typeface="Open Sans" panose="020B0606030504020204" pitchFamily="34" charset="0"/>
              </a:rPr>
              <a:t>A hardcoded API key on line 14</a:t>
            </a:r>
          </a:p>
        </p:txBody>
      </p:sp>
      <p:sp>
        <p:nvSpPr>
          <p:cNvPr id="6" name="Shape 18">
            <a:extLst>
              <a:ext uri="{FF2B5EF4-FFF2-40B4-BE49-F238E27FC236}">
                <a16:creationId xmlns:a16="http://schemas.microsoft.com/office/drawing/2014/main" id="{0D44F2BA-5B5E-2A78-F3A2-8283904D986F}"/>
              </a:ext>
            </a:extLst>
          </p:cNvPr>
          <p:cNvSpPr/>
          <p:nvPr/>
        </p:nvSpPr>
        <p:spPr>
          <a:xfrm>
            <a:off x="342900" y="1792794"/>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19">
            <a:extLst>
              <a:ext uri="{FF2B5EF4-FFF2-40B4-BE49-F238E27FC236}">
                <a16:creationId xmlns:a16="http://schemas.microsoft.com/office/drawing/2014/main" id="{FA76588D-1A6A-A318-0C2B-7E716C7DD3A9}"/>
              </a:ext>
            </a:extLst>
          </p:cNvPr>
          <p:cNvSpPr/>
          <p:nvPr/>
        </p:nvSpPr>
        <p:spPr>
          <a:xfrm>
            <a:off x="493776" y="1854516"/>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30" name="Text 20">
            <a:extLst>
              <a:ext uri="{FF2B5EF4-FFF2-40B4-BE49-F238E27FC236}">
                <a16:creationId xmlns:a16="http://schemas.microsoft.com/office/drawing/2014/main" id="{F13AE169-1212-EFB2-2F79-EA8276E40C64}"/>
              </a:ext>
            </a:extLst>
          </p:cNvPr>
          <p:cNvSpPr/>
          <p:nvPr/>
        </p:nvSpPr>
        <p:spPr>
          <a:xfrm>
            <a:off x="493776" y="1854516"/>
            <a:ext cx="205740" cy="205740"/>
          </a:xfrm>
          <a:prstGeom prst="rect">
            <a:avLst/>
          </a:prstGeom>
          <a:noFill/>
          <a:ln/>
        </p:spPr>
        <p:txBody>
          <a:bodyPr wrap="square" lIns="0" tIns="0" rIns="0" bIns="0" rtlCol="0" anchor="ctr"/>
          <a:lstStyle/>
          <a:p>
            <a:pPr algn="ctr"/>
            <a:r>
              <a:rPr lang="en-US" sz="975" b="1" dirty="0">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975" b="1" dirty="0">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1">
            <a:extLst>
              <a:ext uri="{FF2B5EF4-FFF2-40B4-BE49-F238E27FC236}">
                <a16:creationId xmlns:a16="http://schemas.microsoft.com/office/drawing/2014/main" id="{9AB93DB8-C927-3BD0-5942-11F3C78D5DC1}"/>
              </a:ext>
            </a:extLst>
          </p:cNvPr>
          <p:cNvSpPr/>
          <p:nvPr/>
        </p:nvSpPr>
        <p:spPr>
          <a:xfrm>
            <a:off x="809244" y="1792794"/>
            <a:ext cx="7886700" cy="329184"/>
          </a:xfrm>
          <a:prstGeom prst="rect">
            <a:avLst/>
          </a:prstGeom>
          <a:noFill/>
          <a:ln/>
        </p:spPr>
        <p:txBody>
          <a:bodyPr wrap="square" lIns="0" tIns="0" rIns="0" bIns="0" rtlCol="0" anchor="ctr"/>
          <a:lstStyle/>
          <a:p>
            <a:r>
              <a:rPr lang="en-US" sz="1090" b="1" dirty="0">
                <a:solidFill>
                  <a:schemeClr val="tx2"/>
                </a:solidFill>
                <a:latin typeface="Open Sans" panose="020B0606030504020204" pitchFamily="34" charset="0"/>
                <a:ea typeface="Open Sans" panose="020B0606030504020204" pitchFamily="34" charset="0"/>
                <a:cs typeface="Open Sans" panose="020B0606030504020204" pitchFamily="34" charset="0"/>
              </a:rPr>
              <a:t>B.  </a:t>
            </a:r>
            <a:r>
              <a:rPr lang="en-US" sz="1090" dirty="0">
                <a:solidFill>
                  <a:schemeClr val="tx2"/>
                </a:solidFill>
                <a:latin typeface="Open Sans" panose="020B0606030504020204" pitchFamily="34" charset="0"/>
                <a:ea typeface="Open Sans" panose="020B0606030504020204" pitchFamily="34" charset="0"/>
                <a:cs typeface="Open Sans" panose="020B0606030504020204" pitchFamily="34" charset="0"/>
              </a:rPr>
              <a:t>No retry logic on an external API call</a:t>
            </a:r>
          </a:p>
        </p:txBody>
      </p:sp>
    </p:spTree>
    <p:extLst>
      <p:ext uri="{BB962C8B-B14F-4D97-AF65-F5344CB8AC3E}">
        <p14:creationId xmlns:p14="http://schemas.microsoft.com/office/powerpoint/2010/main" val="41636178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53C33-31D9-5100-3596-005D78628ED1}"/>
            </a:ext>
          </a:extLst>
        </p:cNvPr>
        <p:cNvGrpSpPr/>
        <p:nvPr/>
      </p:nvGrpSpPr>
      <p:grpSpPr>
        <a:xfrm>
          <a:off x="0" y="0"/>
          <a:ext cx="0" cy="0"/>
          <a:chOff x="0" y="0"/>
          <a:chExt cx="0" cy="0"/>
        </a:xfrm>
      </p:grpSpPr>
      <p:sp>
        <p:nvSpPr>
          <p:cNvPr id="8" name="Text 5">
            <a:extLst>
              <a:ext uri="{FF2B5EF4-FFF2-40B4-BE49-F238E27FC236}">
                <a16:creationId xmlns:a16="http://schemas.microsoft.com/office/drawing/2014/main" id="{8B83372E-4830-EB31-D2E1-23FEF1342466}"/>
              </a:ext>
            </a:extLst>
          </p:cNvPr>
          <p:cNvSpPr/>
          <p:nvPr/>
        </p:nvSpPr>
        <p:spPr>
          <a:xfrm>
            <a:off x="342900" y="728662"/>
            <a:ext cx="8455914" cy="294894"/>
          </a:xfrm>
          <a:prstGeom prst="rect">
            <a:avLst/>
          </a:prstGeom>
          <a:noFill/>
          <a:ln/>
        </p:spPr>
        <p:txBody>
          <a:bodyPr wrap="square" lIns="0" tIns="0" rIns="0" bIns="0" rtlCol="0" anchor="t"/>
          <a:lstStyle/>
          <a:p>
            <a:r>
              <a:rPr lang="en-US" sz="1388" b="1">
                <a:latin typeface="Open Sans" panose="020B0606030504020204" pitchFamily="34" charset="0"/>
                <a:ea typeface="Open Sans" panose="020B0606030504020204" pitchFamily="34" charset="0"/>
                <a:cs typeface="Open Sans" panose="020B0606030504020204" pitchFamily="34" charset="0"/>
              </a:rPr>
              <a:t>Before committing a PoC for a production handoff, which critical issues must be fixed first? Select all.</a:t>
            </a:r>
          </a:p>
        </p:txBody>
      </p:sp>
      <p:sp>
        <p:nvSpPr>
          <p:cNvPr id="9" name="Shape 6">
            <a:extLst>
              <a:ext uri="{FF2B5EF4-FFF2-40B4-BE49-F238E27FC236}">
                <a16:creationId xmlns:a16="http://schemas.microsoft.com/office/drawing/2014/main" id="{7AF26A8F-AE0B-DBDC-C184-53A7DCC2980D}"/>
              </a:ext>
            </a:extLst>
          </p:cNvPr>
          <p:cNvSpPr/>
          <p:nvPr/>
        </p:nvSpPr>
        <p:spPr>
          <a:xfrm>
            <a:off x="342900" y="1316736"/>
            <a:ext cx="8455914" cy="329184"/>
          </a:xfrm>
          <a:prstGeom prst="roundRect">
            <a:avLst>
              <a:gd name="adj" fmla="val 12500"/>
            </a:avLst>
          </a:prstGeom>
          <a:solidFill>
            <a:srgbClr val="ECFEF6"/>
          </a:solidFill>
          <a:ln w="19050">
            <a:solidFill>
              <a:srgbClr val="1E8E6E"/>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10" name="Shape 7">
            <a:extLst>
              <a:ext uri="{FF2B5EF4-FFF2-40B4-BE49-F238E27FC236}">
                <a16:creationId xmlns:a16="http://schemas.microsoft.com/office/drawing/2014/main" id="{ABCA4D5F-FCCF-80E3-C9FE-9580470088AB}"/>
              </a:ext>
            </a:extLst>
          </p:cNvPr>
          <p:cNvSpPr/>
          <p:nvPr/>
        </p:nvSpPr>
        <p:spPr>
          <a:xfrm>
            <a:off x="493776" y="1378458"/>
            <a:ext cx="205740" cy="205740"/>
          </a:xfrm>
          <a:prstGeom prst="ellipse">
            <a:avLst/>
          </a:prstGeom>
          <a:solidFill>
            <a:srgbClr val="00B050"/>
          </a:solidFill>
          <a:ln/>
        </p:spPr>
        <p:txBody>
          <a:bodyPr/>
          <a:lstStyle/>
          <a:p>
            <a:endParaRPr lang="en-US" sz="1350">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6FF07F72-3C63-470C-1B6C-31E6CD163243}"/>
              </a:ext>
            </a:extLst>
          </p:cNvPr>
          <p:cNvSpPr/>
          <p:nvPr/>
        </p:nvSpPr>
        <p:spPr>
          <a:xfrm>
            <a:off x="493776" y="1378458"/>
            <a:ext cx="205740" cy="205740"/>
          </a:xfrm>
          <a:prstGeom prst="rect">
            <a:avLst/>
          </a:prstGeom>
          <a:noFill/>
          <a:ln/>
        </p:spPr>
        <p:txBody>
          <a:bodyPr wrap="square" lIns="0" tIns="0" rIns="0" bIns="0" rtlCol="0" anchor="ctr"/>
          <a:lstStyle/>
          <a:p>
            <a:pPr algn="ctr"/>
            <a:r>
              <a:rPr lang="en-US" sz="975" b="1">
                <a:solidFill>
                  <a:srgbClr val="FFFFFF"/>
                </a:solidFill>
                <a:latin typeface="Open Sans Extrabold" pitchFamily="2" charset="0"/>
                <a:ea typeface="Open Sans Extrabold" pitchFamily="2" charset="0"/>
                <a:cs typeface="Open Sans Extrabold" pitchFamily="2" charset="0"/>
              </a:rPr>
              <a:t>✓</a:t>
            </a:r>
            <a:endParaRPr lang="en-US" sz="975">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AD6C13B6-A621-FC84-F333-3D317BF97622}"/>
              </a:ext>
            </a:extLst>
          </p:cNvPr>
          <p:cNvSpPr/>
          <p:nvPr/>
        </p:nvSpPr>
        <p:spPr>
          <a:xfrm>
            <a:off x="809244" y="1316736"/>
            <a:ext cx="7886700" cy="329184"/>
          </a:xfrm>
          <a:prstGeom prst="rect">
            <a:avLst/>
          </a:prstGeom>
          <a:noFill/>
          <a:ln/>
        </p:spPr>
        <p:txBody>
          <a:bodyPr wrap="square" lIns="0" tIns="0" rIns="0" bIns="0" rtlCol="0" anchor="ctr"/>
          <a:lstStyle/>
          <a:p>
            <a:r>
              <a:rPr lang="en-US" sz="1090" b="1" dirty="0">
                <a:solidFill>
                  <a:srgbClr val="00B050"/>
                </a:solidFill>
                <a:latin typeface="Open Sans" panose="020B0606030504020204" pitchFamily="34" charset="0"/>
                <a:ea typeface="Open Sans" panose="020B0606030504020204" pitchFamily="34" charset="0"/>
                <a:cs typeface="Open Sans" panose="020B0606030504020204" pitchFamily="34" charset="0"/>
              </a:rPr>
              <a:t>A.  </a:t>
            </a:r>
            <a:r>
              <a:rPr lang="en-US" sz="1090" b="1" dirty="0">
                <a:latin typeface="Open Sans" panose="020B0606030504020204" pitchFamily="34" charset="0"/>
                <a:ea typeface="Open Sans" panose="020B0606030504020204" pitchFamily="34" charset="0"/>
                <a:cs typeface="Open Sans" panose="020B0606030504020204" pitchFamily="34" charset="0"/>
              </a:rPr>
              <a:t>A hardcoded API key on line 14</a:t>
            </a:r>
          </a:p>
        </p:txBody>
      </p:sp>
      <p:sp>
        <p:nvSpPr>
          <p:cNvPr id="13" name="Shape 10">
            <a:extLst>
              <a:ext uri="{FF2B5EF4-FFF2-40B4-BE49-F238E27FC236}">
                <a16:creationId xmlns:a16="http://schemas.microsoft.com/office/drawing/2014/main" id="{1E334056-6CE9-D6B7-621A-365A2A2B0038}"/>
              </a:ext>
            </a:extLst>
          </p:cNvPr>
          <p:cNvSpPr/>
          <p:nvPr/>
        </p:nvSpPr>
        <p:spPr>
          <a:xfrm>
            <a:off x="342900" y="1792795"/>
            <a:ext cx="8455914" cy="329184"/>
          </a:xfrm>
          <a:prstGeom prst="roundRect">
            <a:avLst>
              <a:gd name="adj" fmla="val 12500"/>
            </a:avLst>
          </a:prstGeom>
          <a:solidFill>
            <a:srgbClr val="ECFEF6"/>
          </a:solidFill>
          <a:ln w="19050">
            <a:solidFill>
              <a:srgbClr val="1E8E6E"/>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14" name="Shape 11">
            <a:extLst>
              <a:ext uri="{FF2B5EF4-FFF2-40B4-BE49-F238E27FC236}">
                <a16:creationId xmlns:a16="http://schemas.microsoft.com/office/drawing/2014/main" id="{8C90C124-5250-FF72-415D-1D685CE227E0}"/>
              </a:ext>
            </a:extLst>
          </p:cNvPr>
          <p:cNvSpPr/>
          <p:nvPr/>
        </p:nvSpPr>
        <p:spPr>
          <a:xfrm>
            <a:off x="493776" y="1854517"/>
            <a:ext cx="205740" cy="205740"/>
          </a:xfrm>
          <a:prstGeom prst="ellipse">
            <a:avLst/>
          </a:prstGeom>
          <a:solidFill>
            <a:srgbClr val="00B050"/>
          </a:solidFill>
          <a:ln/>
        </p:spPr>
        <p:txBody>
          <a:bodyPr/>
          <a:lstStyle/>
          <a:p>
            <a:endParaRPr lang="en-US" sz="1350">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F8942358-2D7A-3FCE-5447-8AA170FFD77F}"/>
              </a:ext>
            </a:extLst>
          </p:cNvPr>
          <p:cNvSpPr/>
          <p:nvPr/>
        </p:nvSpPr>
        <p:spPr>
          <a:xfrm>
            <a:off x="493776" y="1854517"/>
            <a:ext cx="205740" cy="205740"/>
          </a:xfrm>
          <a:prstGeom prst="rect">
            <a:avLst/>
          </a:prstGeom>
          <a:noFill/>
          <a:ln/>
        </p:spPr>
        <p:txBody>
          <a:bodyPr wrap="square" lIns="0" tIns="0" rIns="0" bIns="0" rtlCol="0" anchor="ctr"/>
          <a:lstStyle/>
          <a:p>
            <a:pPr algn="ctr"/>
            <a:r>
              <a:rPr lang="en-US" sz="975" b="1">
                <a:solidFill>
                  <a:srgbClr val="FFFFFF"/>
                </a:solidFill>
                <a:latin typeface="Open Sans Extrabold" pitchFamily="2" charset="0"/>
                <a:ea typeface="Open Sans Extrabold" pitchFamily="2" charset="0"/>
                <a:cs typeface="Open Sans Extrabold" pitchFamily="2" charset="0"/>
              </a:rPr>
              <a:t>✓</a:t>
            </a:r>
            <a:endParaRPr lang="en-US" sz="975">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DFFBD7F1-A109-852F-68B4-5029942C7232}"/>
              </a:ext>
            </a:extLst>
          </p:cNvPr>
          <p:cNvSpPr/>
          <p:nvPr/>
        </p:nvSpPr>
        <p:spPr>
          <a:xfrm>
            <a:off x="809244" y="1792795"/>
            <a:ext cx="7886700" cy="329184"/>
          </a:xfrm>
          <a:prstGeom prst="rect">
            <a:avLst/>
          </a:prstGeom>
          <a:noFill/>
          <a:ln/>
        </p:spPr>
        <p:txBody>
          <a:bodyPr wrap="square" lIns="0" tIns="0" rIns="0" bIns="0" rtlCol="0" anchor="ctr"/>
          <a:lstStyle/>
          <a:p>
            <a:r>
              <a:rPr lang="en-US" sz="109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a:t>
            </a:r>
            <a:r>
              <a:rPr lang="en-US" sz="1090" b="1" dirty="0">
                <a:latin typeface="Open Sans" panose="020B0606030504020204" pitchFamily="34" charset="0"/>
                <a:ea typeface="Open Sans" panose="020B0606030504020204" pitchFamily="34" charset="0"/>
                <a:cs typeface="Open Sans" panose="020B0606030504020204" pitchFamily="34" charset="0"/>
              </a:rPr>
              <a:t>No retry logic on an external API call</a:t>
            </a:r>
          </a:p>
        </p:txBody>
      </p:sp>
      <p:sp>
        <p:nvSpPr>
          <p:cNvPr id="17" name="Shape 14">
            <a:extLst>
              <a:ext uri="{FF2B5EF4-FFF2-40B4-BE49-F238E27FC236}">
                <a16:creationId xmlns:a16="http://schemas.microsoft.com/office/drawing/2014/main" id="{60BC5B55-42F9-71B5-A341-7057336DA63B}"/>
              </a:ext>
            </a:extLst>
          </p:cNvPr>
          <p:cNvSpPr/>
          <p:nvPr/>
        </p:nvSpPr>
        <p:spPr>
          <a:xfrm>
            <a:off x="342900" y="2268854"/>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C6A34D83-076B-5F44-C443-C82A2F8B3371}"/>
              </a:ext>
            </a:extLst>
          </p:cNvPr>
          <p:cNvSpPr/>
          <p:nvPr/>
        </p:nvSpPr>
        <p:spPr>
          <a:xfrm>
            <a:off x="493776" y="2330576"/>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7A3A38E1-468C-BC56-1B1B-0FE0F1F61141}"/>
              </a:ext>
            </a:extLst>
          </p:cNvPr>
          <p:cNvSpPr/>
          <p:nvPr/>
        </p:nvSpPr>
        <p:spPr>
          <a:xfrm>
            <a:off x="493776" y="2330576"/>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7">
            <a:extLst>
              <a:ext uri="{FF2B5EF4-FFF2-40B4-BE49-F238E27FC236}">
                <a16:creationId xmlns:a16="http://schemas.microsoft.com/office/drawing/2014/main" id="{6057AC46-F6EC-35FA-4B72-4DDBF07A4F50}"/>
              </a:ext>
            </a:extLst>
          </p:cNvPr>
          <p:cNvSpPr/>
          <p:nvPr/>
        </p:nvSpPr>
        <p:spPr>
          <a:xfrm>
            <a:off x="809244" y="2268854"/>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090">
                <a:solidFill>
                  <a:schemeClr val="tx2"/>
                </a:solidFill>
                <a:latin typeface="Open Sans" pitchFamily="2" charset="0"/>
                <a:ea typeface="Open Sans" pitchFamily="2" charset="0"/>
                <a:cs typeface="Open Sans" pitchFamily="2" charset="0"/>
              </a:rPr>
              <a:t>A loop variable named x</a:t>
            </a:r>
          </a:p>
        </p:txBody>
      </p:sp>
      <p:sp>
        <p:nvSpPr>
          <p:cNvPr id="21" name="Shape 18">
            <a:extLst>
              <a:ext uri="{FF2B5EF4-FFF2-40B4-BE49-F238E27FC236}">
                <a16:creationId xmlns:a16="http://schemas.microsoft.com/office/drawing/2014/main" id="{09765DD2-4E94-FD3A-64F3-3B1EECD96CE4}"/>
              </a:ext>
            </a:extLst>
          </p:cNvPr>
          <p:cNvSpPr/>
          <p:nvPr/>
        </p:nvSpPr>
        <p:spPr>
          <a:xfrm>
            <a:off x="342900" y="2744914"/>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AD4DED20-3E31-31AB-AB85-8926357B4849}"/>
              </a:ext>
            </a:extLst>
          </p:cNvPr>
          <p:cNvSpPr/>
          <p:nvPr/>
        </p:nvSpPr>
        <p:spPr>
          <a:xfrm>
            <a:off x="493776" y="2806636"/>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4A00BADF-0554-1159-1F00-9595C255327A}"/>
              </a:ext>
            </a:extLst>
          </p:cNvPr>
          <p:cNvSpPr/>
          <p:nvPr/>
        </p:nvSpPr>
        <p:spPr>
          <a:xfrm>
            <a:off x="493776" y="2806636"/>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1">
            <a:extLst>
              <a:ext uri="{FF2B5EF4-FFF2-40B4-BE49-F238E27FC236}">
                <a16:creationId xmlns:a16="http://schemas.microsoft.com/office/drawing/2014/main" id="{4A1F69BB-28CB-1D46-6B63-86DFA6E855C5}"/>
              </a:ext>
            </a:extLst>
          </p:cNvPr>
          <p:cNvSpPr/>
          <p:nvPr/>
        </p:nvSpPr>
        <p:spPr>
          <a:xfrm>
            <a:off x="809244" y="2744914"/>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090">
                <a:solidFill>
                  <a:schemeClr val="tx2"/>
                </a:solidFill>
                <a:latin typeface="Open Sans" pitchFamily="2" charset="0"/>
                <a:ea typeface="Open Sans" pitchFamily="2" charset="0"/>
                <a:cs typeface="Open Sans" pitchFamily="2" charset="0"/>
              </a:rPr>
              <a:t>A missing module docstring</a:t>
            </a:r>
          </a:p>
        </p:txBody>
      </p:sp>
      <p:sp>
        <p:nvSpPr>
          <p:cNvPr id="25" name="Shape 22">
            <a:extLst>
              <a:ext uri="{FF2B5EF4-FFF2-40B4-BE49-F238E27FC236}">
                <a16:creationId xmlns:a16="http://schemas.microsoft.com/office/drawing/2014/main" id="{A2F493E7-ABBC-5F67-0753-D767831D70EF}"/>
              </a:ext>
            </a:extLst>
          </p:cNvPr>
          <p:cNvSpPr/>
          <p:nvPr/>
        </p:nvSpPr>
        <p:spPr>
          <a:xfrm>
            <a:off x="342900" y="3429000"/>
            <a:ext cx="8455914" cy="819531"/>
          </a:xfrm>
          <a:prstGeom prst="roundRect">
            <a:avLst>
              <a:gd name="adj" fmla="val 5161"/>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3">
            <a:extLst>
              <a:ext uri="{FF2B5EF4-FFF2-40B4-BE49-F238E27FC236}">
                <a16:creationId xmlns:a16="http://schemas.microsoft.com/office/drawing/2014/main" id="{A44C1D51-70CE-E603-0580-8659345A9B30}"/>
              </a:ext>
            </a:extLst>
          </p:cNvPr>
          <p:cNvSpPr/>
          <p:nvPr/>
        </p:nvSpPr>
        <p:spPr>
          <a:xfrm>
            <a:off x="534924" y="3538728"/>
            <a:ext cx="5486400" cy="205740"/>
          </a:xfrm>
          <a:prstGeom prst="rect">
            <a:avLst/>
          </a:prstGeom>
          <a:noFill/>
          <a:ln/>
        </p:spPr>
        <p:txBody>
          <a:bodyPr wrap="square" lIns="0" tIns="0" rIns="0" bIns="0" rtlCol="0" anchor="ctr"/>
          <a:lstStyle/>
          <a:p>
            <a:r>
              <a:rPr lang="en-US" sz="825" b="1" kern="0" spc="113">
                <a:solidFill>
                  <a:schemeClr val="accent1"/>
                </a:solidFill>
                <a:latin typeface="Open Sans" panose="020B0606030504020204" pitchFamily="34" charset="0"/>
                <a:ea typeface="Open Sans" panose="020B0606030504020204" pitchFamily="34" charset="0"/>
                <a:cs typeface="Open Sans" panose="020B0606030504020204" pitchFamily="34" charset="0"/>
              </a:rPr>
              <a:t>THROUGH THE LENS</a:t>
            </a:r>
            <a:endParaRPr lang="en-US" sz="825"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Shape 24">
            <a:extLst>
              <a:ext uri="{FF2B5EF4-FFF2-40B4-BE49-F238E27FC236}">
                <a16:creationId xmlns:a16="http://schemas.microsoft.com/office/drawing/2014/main" id="{D42B6DDE-A1DE-96FD-2CDC-57CB52F43C61}"/>
              </a:ext>
            </a:extLst>
          </p:cNvPr>
          <p:cNvSpPr/>
          <p:nvPr/>
        </p:nvSpPr>
        <p:spPr>
          <a:xfrm>
            <a:off x="534924" y="3785616"/>
            <a:ext cx="795528" cy="274320"/>
          </a:xfrm>
          <a:prstGeom prst="roundRect">
            <a:avLst>
              <a:gd name="adj" fmla="val 15000"/>
            </a:avLst>
          </a:prstGeom>
          <a:solidFill>
            <a:srgbClr val="00B050"/>
          </a:solidFill>
          <a:ln/>
        </p:spPr>
        <p:txBody>
          <a:bodyPr/>
          <a:lstStyle/>
          <a:p>
            <a:endParaRPr lang="en-US" sz="1350">
              <a:latin typeface="Open Sans" pitchFamily="2" charset="0"/>
              <a:ea typeface="Open Sans" pitchFamily="2" charset="0"/>
              <a:cs typeface="Open Sans" pitchFamily="2" charset="0"/>
            </a:endParaRPr>
          </a:p>
        </p:txBody>
      </p:sp>
      <p:sp>
        <p:nvSpPr>
          <p:cNvPr id="28" name="Text 25">
            <a:extLst>
              <a:ext uri="{FF2B5EF4-FFF2-40B4-BE49-F238E27FC236}">
                <a16:creationId xmlns:a16="http://schemas.microsoft.com/office/drawing/2014/main" id="{A47CE850-5D29-3809-E1A9-DC94657E57E4}"/>
              </a:ext>
            </a:extLst>
          </p:cNvPr>
          <p:cNvSpPr/>
          <p:nvPr/>
        </p:nvSpPr>
        <p:spPr>
          <a:xfrm>
            <a:off x="534924" y="3785616"/>
            <a:ext cx="795528" cy="274320"/>
          </a:xfrm>
          <a:prstGeom prst="rect">
            <a:avLst/>
          </a:prstGeom>
          <a:no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STARED</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6">
            <a:extLst>
              <a:ext uri="{FF2B5EF4-FFF2-40B4-BE49-F238E27FC236}">
                <a16:creationId xmlns:a16="http://schemas.microsoft.com/office/drawing/2014/main" id="{9C0DEEC9-DF4F-42C3-0E2A-01E6271183AF}"/>
              </a:ext>
            </a:extLst>
          </p:cNvPr>
          <p:cNvSpPr/>
          <p:nvPr/>
        </p:nvSpPr>
        <p:spPr>
          <a:xfrm>
            <a:off x="1501902" y="3597021"/>
            <a:ext cx="7296912" cy="651510"/>
          </a:xfrm>
          <a:prstGeom prst="rect">
            <a:avLst/>
          </a:prstGeom>
          <a:noFill/>
          <a:ln/>
        </p:spPr>
        <p:txBody>
          <a:bodyPr wrap="square" lIns="0" tIns="0" rIns="0" bIns="0" rtlCol="0" anchor="ctr"/>
          <a:lstStyle/>
          <a:p>
            <a:r>
              <a:rPr lang="en-US" sz="1013">
                <a:solidFill>
                  <a:schemeClr val="tx2"/>
                </a:solidFill>
                <a:latin typeface="Open Sans" pitchFamily="2" charset="0"/>
                <a:ea typeface="Open Sans" pitchFamily="2" charset="0"/>
                <a:cs typeface="Open Sans" pitchFamily="2" charset="0"/>
              </a:rPr>
              <a:t>Critical (hardcoded key) and High (no retry) are fix-before-commit. Style items are Low: note them in the README, do not let them block the handoff.</a:t>
            </a:r>
          </a:p>
        </p:txBody>
      </p:sp>
    </p:spTree>
    <p:extLst>
      <p:ext uri="{BB962C8B-B14F-4D97-AF65-F5344CB8AC3E}">
        <p14:creationId xmlns:p14="http://schemas.microsoft.com/office/powerpoint/2010/main" val="14565809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5">
            <a:extLst>
              <a:ext uri="{FF2B5EF4-FFF2-40B4-BE49-F238E27FC236}">
                <a16:creationId xmlns:a16="http://schemas.microsoft.com/office/drawing/2014/main" id="{8007E691-D9F0-CD3A-6C7C-9A8DBF8B40E3}"/>
              </a:ext>
            </a:extLst>
          </p:cNvPr>
          <p:cNvSpPr/>
          <p:nvPr/>
        </p:nvSpPr>
        <p:spPr>
          <a:xfrm>
            <a:off x="342900" y="727200"/>
            <a:ext cx="8455914" cy="294894"/>
          </a:xfrm>
          <a:prstGeom prst="rect">
            <a:avLst/>
          </a:prstGeom>
          <a:noFill/>
          <a:ln/>
        </p:spPr>
        <p:txBody>
          <a:bodyPr wrap="square" lIns="0" tIns="0" rIns="0" bIns="0" rtlCol="0" anchor="t"/>
          <a:lstStyle/>
          <a:p>
            <a:r>
              <a:rPr lang="en-US" sz="1388" b="1">
                <a:latin typeface="Open Sans" panose="020B0606030504020204" pitchFamily="34" charset="0"/>
                <a:ea typeface="Open Sans" panose="020B0606030504020204" pitchFamily="34" charset="0"/>
                <a:cs typeface="Open Sans" panose="020B0606030504020204" pitchFamily="34" charset="0"/>
              </a:rPr>
              <a:t>A good Claude-generated commit message includes:</a:t>
            </a:r>
          </a:p>
        </p:txBody>
      </p:sp>
      <p:sp>
        <p:nvSpPr>
          <p:cNvPr id="9" name="Shape 6">
            <a:extLst>
              <a:ext uri="{FF2B5EF4-FFF2-40B4-BE49-F238E27FC236}">
                <a16:creationId xmlns:a16="http://schemas.microsoft.com/office/drawing/2014/main" id="{4ACD1B7F-358B-5DF3-C180-5457D5C86668}"/>
              </a:ext>
            </a:extLst>
          </p:cNvPr>
          <p:cNvSpPr/>
          <p:nvPr/>
        </p:nvSpPr>
        <p:spPr>
          <a:xfrm>
            <a:off x="342900" y="1301306"/>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AAF40DCD-B219-7E5A-CE56-2D036774E4B0}"/>
              </a:ext>
            </a:extLst>
          </p:cNvPr>
          <p:cNvSpPr/>
          <p:nvPr/>
        </p:nvSpPr>
        <p:spPr>
          <a:xfrm>
            <a:off x="493776" y="1363028"/>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5B56DA68-8B09-8D2D-04FE-81B52732FFD6}"/>
              </a:ext>
            </a:extLst>
          </p:cNvPr>
          <p:cNvSpPr/>
          <p:nvPr/>
        </p:nvSpPr>
        <p:spPr>
          <a:xfrm>
            <a:off x="493776" y="1363028"/>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9">
            <a:extLst>
              <a:ext uri="{FF2B5EF4-FFF2-40B4-BE49-F238E27FC236}">
                <a16:creationId xmlns:a16="http://schemas.microsoft.com/office/drawing/2014/main" id="{9138899D-34E1-9E64-6984-E107899BB981}"/>
              </a:ext>
            </a:extLst>
          </p:cNvPr>
          <p:cNvSpPr/>
          <p:nvPr/>
        </p:nvSpPr>
        <p:spPr>
          <a:xfrm>
            <a:off x="809244" y="1301306"/>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090">
                <a:solidFill>
                  <a:schemeClr val="tx2"/>
                </a:solidFill>
                <a:latin typeface="Open Sans" pitchFamily="2" charset="0"/>
                <a:ea typeface="Open Sans" pitchFamily="2" charset="0"/>
                <a:cs typeface="Open Sans" pitchFamily="2" charset="0"/>
              </a:rPr>
              <a:t>Which files were touched</a:t>
            </a:r>
          </a:p>
        </p:txBody>
      </p:sp>
      <p:sp>
        <p:nvSpPr>
          <p:cNvPr id="17" name="Shape 14">
            <a:extLst>
              <a:ext uri="{FF2B5EF4-FFF2-40B4-BE49-F238E27FC236}">
                <a16:creationId xmlns:a16="http://schemas.microsoft.com/office/drawing/2014/main" id="{F6C9B52E-0D71-A2D8-5097-2D0266EDAA60}"/>
              </a:ext>
            </a:extLst>
          </p:cNvPr>
          <p:cNvSpPr/>
          <p:nvPr/>
        </p:nvSpPr>
        <p:spPr>
          <a:xfrm>
            <a:off x="342900" y="2263712"/>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8C5E337B-D6FD-D2E3-7D7F-7C96B768C0CB}"/>
              </a:ext>
            </a:extLst>
          </p:cNvPr>
          <p:cNvSpPr/>
          <p:nvPr/>
        </p:nvSpPr>
        <p:spPr>
          <a:xfrm>
            <a:off x="493776" y="2325434"/>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3A19AF29-685A-81C7-7F08-812A2B8436B0}"/>
              </a:ext>
            </a:extLst>
          </p:cNvPr>
          <p:cNvSpPr/>
          <p:nvPr/>
        </p:nvSpPr>
        <p:spPr>
          <a:xfrm>
            <a:off x="493776" y="2325434"/>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7">
            <a:extLst>
              <a:ext uri="{FF2B5EF4-FFF2-40B4-BE49-F238E27FC236}">
                <a16:creationId xmlns:a16="http://schemas.microsoft.com/office/drawing/2014/main" id="{BAE724C4-5DBE-77D4-D9E9-C7E7D047ABEF}"/>
              </a:ext>
            </a:extLst>
          </p:cNvPr>
          <p:cNvSpPr/>
          <p:nvPr/>
        </p:nvSpPr>
        <p:spPr>
          <a:xfrm>
            <a:off x="809244" y="2263712"/>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090">
                <a:solidFill>
                  <a:schemeClr val="tx2"/>
                </a:solidFill>
                <a:latin typeface="Open Sans" pitchFamily="2" charset="0"/>
                <a:ea typeface="Open Sans" pitchFamily="2" charset="0"/>
                <a:cs typeface="Open Sans" pitchFamily="2" charset="0"/>
              </a:rPr>
              <a:t>Just the ticket number</a:t>
            </a:r>
          </a:p>
        </p:txBody>
      </p:sp>
      <p:sp>
        <p:nvSpPr>
          <p:cNvPr id="21" name="Shape 18">
            <a:extLst>
              <a:ext uri="{FF2B5EF4-FFF2-40B4-BE49-F238E27FC236}">
                <a16:creationId xmlns:a16="http://schemas.microsoft.com/office/drawing/2014/main" id="{B1FCD646-A46D-AA8F-A1A3-E5022E3353EF}"/>
              </a:ext>
            </a:extLst>
          </p:cNvPr>
          <p:cNvSpPr/>
          <p:nvPr/>
        </p:nvSpPr>
        <p:spPr>
          <a:xfrm>
            <a:off x="342900" y="2744914"/>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8D67F483-61B3-BD39-44F5-7710AE331228}"/>
              </a:ext>
            </a:extLst>
          </p:cNvPr>
          <p:cNvSpPr/>
          <p:nvPr/>
        </p:nvSpPr>
        <p:spPr>
          <a:xfrm>
            <a:off x="493776" y="2806636"/>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E811DF53-E5AF-4823-B304-931AE5929BB5}"/>
              </a:ext>
            </a:extLst>
          </p:cNvPr>
          <p:cNvSpPr/>
          <p:nvPr/>
        </p:nvSpPr>
        <p:spPr>
          <a:xfrm>
            <a:off x="493776" y="2806636"/>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1">
            <a:extLst>
              <a:ext uri="{FF2B5EF4-FFF2-40B4-BE49-F238E27FC236}">
                <a16:creationId xmlns:a16="http://schemas.microsoft.com/office/drawing/2014/main" id="{1CFCD0E7-F4B2-0A37-2FC5-89D2901B2854}"/>
              </a:ext>
            </a:extLst>
          </p:cNvPr>
          <p:cNvSpPr/>
          <p:nvPr/>
        </p:nvSpPr>
        <p:spPr>
          <a:xfrm>
            <a:off x="809244" y="2744914"/>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090">
                <a:solidFill>
                  <a:schemeClr val="tx2"/>
                </a:solidFill>
                <a:latin typeface="Open Sans" pitchFamily="2" charset="0"/>
                <a:ea typeface="Open Sans" pitchFamily="2" charset="0"/>
                <a:cs typeface="Open Sans" pitchFamily="2" charset="0"/>
              </a:rPr>
              <a:t>The full diff</a:t>
            </a:r>
          </a:p>
        </p:txBody>
      </p:sp>
      <p:sp>
        <p:nvSpPr>
          <p:cNvPr id="2" name="Shape 6">
            <a:extLst>
              <a:ext uri="{FF2B5EF4-FFF2-40B4-BE49-F238E27FC236}">
                <a16:creationId xmlns:a16="http://schemas.microsoft.com/office/drawing/2014/main" id="{90E01928-8A9E-FA22-05CE-CD89C1DE5233}"/>
              </a:ext>
            </a:extLst>
          </p:cNvPr>
          <p:cNvSpPr/>
          <p:nvPr/>
        </p:nvSpPr>
        <p:spPr>
          <a:xfrm>
            <a:off x="342900" y="1782510"/>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7">
            <a:extLst>
              <a:ext uri="{FF2B5EF4-FFF2-40B4-BE49-F238E27FC236}">
                <a16:creationId xmlns:a16="http://schemas.microsoft.com/office/drawing/2014/main" id="{67DDC84A-FCAD-344A-6168-28C8EC3B99FC}"/>
              </a:ext>
            </a:extLst>
          </p:cNvPr>
          <p:cNvSpPr/>
          <p:nvPr/>
        </p:nvSpPr>
        <p:spPr>
          <a:xfrm>
            <a:off x="493776" y="1844232"/>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4" name="Text 8">
            <a:extLst>
              <a:ext uri="{FF2B5EF4-FFF2-40B4-BE49-F238E27FC236}">
                <a16:creationId xmlns:a16="http://schemas.microsoft.com/office/drawing/2014/main" id="{6415C87B-3003-DF01-6CF4-5D18B9FB1E80}"/>
              </a:ext>
            </a:extLst>
          </p:cNvPr>
          <p:cNvSpPr/>
          <p:nvPr/>
        </p:nvSpPr>
        <p:spPr>
          <a:xfrm>
            <a:off x="493776" y="1844232"/>
            <a:ext cx="205740" cy="205740"/>
          </a:xfrm>
          <a:prstGeom prst="rect">
            <a:avLst/>
          </a:prstGeom>
          <a:noFill/>
          <a:ln/>
        </p:spPr>
        <p:txBody>
          <a:bodyPr wrap="square" lIns="0" tIns="0" rIns="0" bIns="0" rtlCol="0" anchor="ctr"/>
          <a:lstStyle/>
          <a:p>
            <a:pPr algn="ctr"/>
            <a:r>
              <a:rPr lang="en-US" sz="975" b="1" dirty="0">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975" b="1"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9">
            <a:extLst>
              <a:ext uri="{FF2B5EF4-FFF2-40B4-BE49-F238E27FC236}">
                <a16:creationId xmlns:a16="http://schemas.microsoft.com/office/drawing/2014/main" id="{D5FB2849-6CB1-67A6-FD3A-6A833BA9939B}"/>
              </a:ext>
            </a:extLst>
          </p:cNvPr>
          <p:cNvSpPr/>
          <p:nvPr/>
        </p:nvSpPr>
        <p:spPr>
          <a:xfrm>
            <a:off x="809244" y="1782510"/>
            <a:ext cx="7886700" cy="329184"/>
          </a:xfrm>
          <a:prstGeom prst="rect">
            <a:avLst/>
          </a:prstGeom>
          <a:noFill/>
          <a:ln/>
        </p:spPr>
        <p:txBody>
          <a:bodyPr wrap="square" lIns="0" tIns="0" rIns="0" bIns="0" rtlCol="0" anchor="ctr"/>
          <a:lstStyle/>
          <a:p>
            <a:r>
              <a:rPr lang="en-US" sz="1090" b="1" dirty="0">
                <a:solidFill>
                  <a:schemeClr val="tx2"/>
                </a:solidFill>
                <a:latin typeface="Open Sans" panose="020B0606030504020204" pitchFamily="34" charset="0"/>
                <a:ea typeface="Open Sans" panose="020B0606030504020204" pitchFamily="34" charset="0"/>
                <a:cs typeface="Open Sans" panose="020B0606030504020204" pitchFamily="34" charset="0"/>
              </a:rPr>
              <a:t>B.  </a:t>
            </a:r>
            <a:r>
              <a:rPr lang="en-US" sz="1090" dirty="0">
                <a:solidFill>
                  <a:schemeClr val="tx2"/>
                </a:solidFill>
                <a:latin typeface="Open Sans" panose="020B0606030504020204" pitchFamily="34" charset="0"/>
                <a:ea typeface="Open Sans" panose="020B0606030504020204" pitchFamily="34" charset="0"/>
                <a:cs typeface="Open Sans" panose="020B0606030504020204" pitchFamily="34" charset="0"/>
              </a:rPr>
              <a:t>What changed, why it matters, and any known limitations</a:t>
            </a:r>
          </a:p>
        </p:txBody>
      </p:sp>
    </p:spTree>
    <p:extLst>
      <p:ext uri="{BB962C8B-B14F-4D97-AF65-F5344CB8AC3E}">
        <p14:creationId xmlns:p14="http://schemas.microsoft.com/office/powerpoint/2010/main" val="33059608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C4A4F-4D68-A8E5-F226-08D3F9D783D3}"/>
            </a:ext>
          </a:extLst>
        </p:cNvPr>
        <p:cNvGrpSpPr/>
        <p:nvPr/>
      </p:nvGrpSpPr>
      <p:grpSpPr>
        <a:xfrm>
          <a:off x="0" y="0"/>
          <a:ext cx="0" cy="0"/>
          <a:chOff x="0" y="0"/>
          <a:chExt cx="0" cy="0"/>
        </a:xfrm>
      </p:grpSpPr>
      <p:sp>
        <p:nvSpPr>
          <p:cNvPr id="8" name="Text 5">
            <a:extLst>
              <a:ext uri="{FF2B5EF4-FFF2-40B4-BE49-F238E27FC236}">
                <a16:creationId xmlns:a16="http://schemas.microsoft.com/office/drawing/2014/main" id="{526A7E99-AEF8-9D52-1E2E-1F4E9D6B5D3C}"/>
              </a:ext>
            </a:extLst>
          </p:cNvPr>
          <p:cNvSpPr/>
          <p:nvPr/>
        </p:nvSpPr>
        <p:spPr>
          <a:xfrm>
            <a:off x="342900" y="727200"/>
            <a:ext cx="8455914" cy="294894"/>
          </a:xfrm>
          <a:prstGeom prst="rect">
            <a:avLst/>
          </a:prstGeom>
          <a:noFill/>
          <a:ln/>
        </p:spPr>
        <p:txBody>
          <a:bodyPr wrap="square" lIns="0" tIns="0" rIns="0" bIns="0" rtlCol="0" anchor="t"/>
          <a:lstStyle/>
          <a:p>
            <a:r>
              <a:rPr lang="en-US" sz="1388" b="1">
                <a:latin typeface="Open Sans" panose="020B0606030504020204" pitchFamily="34" charset="0"/>
                <a:ea typeface="Open Sans" panose="020B0606030504020204" pitchFamily="34" charset="0"/>
                <a:cs typeface="Open Sans" panose="020B0606030504020204" pitchFamily="34" charset="0"/>
              </a:rPr>
              <a:t>A good Claude-generated commit message includes:</a:t>
            </a:r>
          </a:p>
        </p:txBody>
      </p:sp>
      <p:sp>
        <p:nvSpPr>
          <p:cNvPr id="9" name="Shape 6">
            <a:extLst>
              <a:ext uri="{FF2B5EF4-FFF2-40B4-BE49-F238E27FC236}">
                <a16:creationId xmlns:a16="http://schemas.microsoft.com/office/drawing/2014/main" id="{8C9351DA-F9AB-EC74-CDD0-0A3403AAAAA8}"/>
              </a:ext>
            </a:extLst>
          </p:cNvPr>
          <p:cNvSpPr/>
          <p:nvPr/>
        </p:nvSpPr>
        <p:spPr>
          <a:xfrm>
            <a:off x="342900" y="1301306"/>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6CE7BBE2-D7D3-30BA-4CD8-762AA1BA11DC}"/>
              </a:ext>
            </a:extLst>
          </p:cNvPr>
          <p:cNvSpPr/>
          <p:nvPr/>
        </p:nvSpPr>
        <p:spPr>
          <a:xfrm>
            <a:off x="493776" y="1363028"/>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397ABFA1-902F-7D5F-CDFD-6A2B01990136}"/>
              </a:ext>
            </a:extLst>
          </p:cNvPr>
          <p:cNvSpPr/>
          <p:nvPr/>
        </p:nvSpPr>
        <p:spPr>
          <a:xfrm>
            <a:off x="493776" y="1363028"/>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9">
            <a:extLst>
              <a:ext uri="{FF2B5EF4-FFF2-40B4-BE49-F238E27FC236}">
                <a16:creationId xmlns:a16="http://schemas.microsoft.com/office/drawing/2014/main" id="{D80155FE-107F-DF4F-2CAA-AF4A5DCA34EC}"/>
              </a:ext>
            </a:extLst>
          </p:cNvPr>
          <p:cNvSpPr/>
          <p:nvPr/>
        </p:nvSpPr>
        <p:spPr>
          <a:xfrm>
            <a:off x="809244" y="1301306"/>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090">
                <a:solidFill>
                  <a:schemeClr val="tx2"/>
                </a:solidFill>
                <a:latin typeface="Open Sans" pitchFamily="2" charset="0"/>
                <a:ea typeface="Open Sans" pitchFamily="2" charset="0"/>
                <a:cs typeface="Open Sans" pitchFamily="2" charset="0"/>
              </a:rPr>
              <a:t>Which files were touched</a:t>
            </a:r>
          </a:p>
        </p:txBody>
      </p:sp>
      <p:grpSp>
        <p:nvGrpSpPr>
          <p:cNvPr id="61" name="Group 60">
            <a:extLst>
              <a:ext uri="{FF2B5EF4-FFF2-40B4-BE49-F238E27FC236}">
                <a16:creationId xmlns:a16="http://schemas.microsoft.com/office/drawing/2014/main" id="{EBF0080D-4428-9AFC-4887-D14B2E64E3D3}"/>
              </a:ext>
            </a:extLst>
          </p:cNvPr>
          <p:cNvGrpSpPr/>
          <p:nvPr/>
        </p:nvGrpSpPr>
        <p:grpSpPr>
          <a:xfrm>
            <a:off x="342900" y="1782509"/>
            <a:ext cx="8455914" cy="329184"/>
            <a:chOff x="342900" y="1735074"/>
            <a:chExt cx="8455914" cy="329184"/>
          </a:xfrm>
        </p:grpSpPr>
        <p:sp>
          <p:nvSpPr>
            <p:cNvPr id="13" name="Shape 10">
              <a:extLst>
                <a:ext uri="{FF2B5EF4-FFF2-40B4-BE49-F238E27FC236}">
                  <a16:creationId xmlns:a16="http://schemas.microsoft.com/office/drawing/2014/main" id="{361C7EB9-B38B-39A5-9AE5-7528D076CE31}"/>
                </a:ext>
              </a:extLst>
            </p:cNvPr>
            <p:cNvSpPr/>
            <p:nvPr/>
          </p:nvSpPr>
          <p:spPr>
            <a:xfrm>
              <a:off x="342900" y="1735074"/>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14" name="Shape 11">
              <a:extLst>
                <a:ext uri="{FF2B5EF4-FFF2-40B4-BE49-F238E27FC236}">
                  <a16:creationId xmlns:a16="http://schemas.microsoft.com/office/drawing/2014/main" id="{B2E0736B-BB8A-F403-CF84-EEDADA2911FF}"/>
                </a:ext>
              </a:extLst>
            </p:cNvPr>
            <p:cNvSpPr/>
            <p:nvPr/>
          </p:nvSpPr>
          <p:spPr>
            <a:xfrm>
              <a:off x="493776" y="1796796"/>
              <a:ext cx="205740" cy="205740"/>
            </a:xfrm>
            <a:prstGeom prst="ellipse">
              <a:avLst/>
            </a:prstGeom>
            <a:solidFill>
              <a:srgbClr val="00B050"/>
            </a:solidFill>
            <a:ln/>
          </p:spPr>
          <p:txBody>
            <a:bodyPr/>
            <a:lstStyle/>
            <a:p>
              <a:endParaRPr lang="en-US" sz="1350">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9DE3A61C-FBBD-FFC6-7213-04379DED0409}"/>
                </a:ext>
              </a:extLst>
            </p:cNvPr>
            <p:cNvSpPr/>
            <p:nvPr/>
          </p:nvSpPr>
          <p:spPr>
            <a:xfrm>
              <a:off x="493776" y="1796796"/>
              <a:ext cx="205740" cy="205740"/>
            </a:xfrm>
            <a:prstGeom prst="rect">
              <a:avLst/>
            </a:prstGeom>
            <a:noFill/>
            <a:ln/>
          </p:spPr>
          <p:txBody>
            <a:bodyPr wrap="square" lIns="0" tIns="0" rIns="0" bIns="0" rtlCol="0" anchor="ctr"/>
            <a:lstStyle/>
            <a:p>
              <a:pPr algn="ctr"/>
              <a:r>
                <a:rPr lang="en-US" sz="975" b="1">
                  <a:solidFill>
                    <a:srgbClr val="FFFFFF"/>
                  </a:solidFill>
                  <a:latin typeface="Open Sans Extrabold" pitchFamily="2" charset="0"/>
                  <a:ea typeface="Open Sans Extrabold" pitchFamily="2" charset="0"/>
                  <a:cs typeface="Open Sans Extrabold" pitchFamily="2" charset="0"/>
                </a:rPr>
                <a:t>✓</a:t>
              </a:r>
              <a:endParaRPr lang="en-US" sz="975">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B19A343F-972B-CCE0-FAEE-73B389A0B522}"/>
                </a:ext>
              </a:extLst>
            </p:cNvPr>
            <p:cNvSpPr/>
            <p:nvPr/>
          </p:nvSpPr>
          <p:spPr>
            <a:xfrm>
              <a:off x="809244" y="1735074"/>
              <a:ext cx="7886700" cy="329184"/>
            </a:xfrm>
            <a:prstGeom prst="rect">
              <a:avLst/>
            </a:prstGeom>
            <a:noFill/>
            <a:ln/>
          </p:spPr>
          <p:txBody>
            <a:bodyPr wrap="square" lIns="0" tIns="0" rIns="0" bIns="0" rtlCol="0" anchor="ctr"/>
            <a:lstStyle/>
            <a:p>
              <a:r>
                <a:rPr lang="en-US" sz="109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a:t>
              </a:r>
              <a:r>
                <a:rPr lang="en-US" sz="1090" b="1" dirty="0">
                  <a:solidFill>
                    <a:srgbClr val="27303F"/>
                  </a:solidFill>
                  <a:latin typeface="Open Sans" panose="020B0606030504020204" pitchFamily="34" charset="0"/>
                  <a:ea typeface="Open Sans" panose="020B0606030504020204" pitchFamily="34" charset="0"/>
                  <a:cs typeface="Open Sans" panose="020B0606030504020204" pitchFamily="34" charset="0"/>
                </a:rPr>
                <a:t>What changed, why it matters, and any known limitations</a:t>
              </a:r>
              <a:endParaRPr lang="en-US" sz="1090" b="1" dirty="0">
                <a:latin typeface="Open Sans" panose="020B0606030504020204" pitchFamily="34" charset="0"/>
                <a:ea typeface="Open Sans" panose="020B0606030504020204" pitchFamily="34" charset="0"/>
                <a:cs typeface="Open Sans" panose="020B0606030504020204" pitchFamily="34" charset="0"/>
              </a:endParaRPr>
            </a:p>
          </p:txBody>
        </p:sp>
      </p:grpSp>
      <p:sp>
        <p:nvSpPr>
          <p:cNvPr id="17" name="Shape 14">
            <a:extLst>
              <a:ext uri="{FF2B5EF4-FFF2-40B4-BE49-F238E27FC236}">
                <a16:creationId xmlns:a16="http://schemas.microsoft.com/office/drawing/2014/main" id="{DC88F520-17AA-4CD3-0A76-719EAF642DA1}"/>
              </a:ext>
            </a:extLst>
          </p:cNvPr>
          <p:cNvSpPr/>
          <p:nvPr/>
        </p:nvSpPr>
        <p:spPr>
          <a:xfrm>
            <a:off x="342900" y="2263712"/>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476A450D-D447-537A-8A16-0124F7B14706}"/>
              </a:ext>
            </a:extLst>
          </p:cNvPr>
          <p:cNvSpPr/>
          <p:nvPr/>
        </p:nvSpPr>
        <p:spPr>
          <a:xfrm>
            <a:off x="493776" y="2325434"/>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64E50356-44DE-4E20-4D77-727CBB40A960}"/>
              </a:ext>
            </a:extLst>
          </p:cNvPr>
          <p:cNvSpPr/>
          <p:nvPr/>
        </p:nvSpPr>
        <p:spPr>
          <a:xfrm>
            <a:off x="493776" y="2325434"/>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7">
            <a:extLst>
              <a:ext uri="{FF2B5EF4-FFF2-40B4-BE49-F238E27FC236}">
                <a16:creationId xmlns:a16="http://schemas.microsoft.com/office/drawing/2014/main" id="{43FAF7E1-AE46-A507-50D7-6CD6F0D56EBF}"/>
              </a:ext>
            </a:extLst>
          </p:cNvPr>
          <p:cNvSpPr/>
          <p:nvPr/>
        </p:nvSpPr>
        <p:spPr>
          <a:xfrm>
            <a:off x="809244" y="2263712"/>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090">
                <a:solidFill>
                  <a:schemeClr val="tx2"/>
                </a:solidFill>
                <a:latin typeface="Open Sans" pitchFamily="2" charset="0"/>
                <a:ea typeface="Open Sans" pitchFamily="2" charset="0"/>
                <a:cs typeface="Open Sans" pitchFamily="2" charset="0"/>
              </a:rPr>
              <a:t>Just the ticket number</a:t>
            </a:r>
          </a:p>
        </p:txBody>
      </p:sp>
      <p:sp>
        <p:nvSpPr>
          <p:cNvPr id="21" name="Shape 18">
            <a:extLst>
              <a:ext uri="{FF2B5EF4-FFF2-40B4-BE49-F238E27FC236}">
                <a16:creationId xmlns:a16="http://schemas.microsoft.com/office/drawing/2014/main" id="{191170AC-861C-1573-0FE0-65B6E0989E26}"/>
              </a:ext>
            </a:extLst>
          </p:cNvPr>
          <p:cNvSpPr/>
          <p:nvPr/>
        </p:nvSpPr>
        <p:spPr>
          <a:xfrm>
            <a:off x="342900" y="2744914"/>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B8785FD3-A477-B6B7-2609-8F675E52B0CB}"/>
              </a:ext>
            </a:extLst>
          </p:cNvPr>
          <p:cNvSpPr/>
          <p:nvPr/>
        </p:nvSpPr>
        <p:spPr>
          <a:xfrm>
            <a:off x="493776" y="2806636"/>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3CA424EF-DFF4-A21B-216F-80978B2E64D8}"/>
              </a:ext>
            </a:extLst>
          </p:cNvPr>
          <p:cNvSpPr/>
          <p:nvPr/>
        </p:nvSpPr>
        <p:spPr>
          <a:xfrm>
            <a:off x="493776" y="2806636"/>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1">
            <a:extLst>
              <a:ext uri="{FF2B5EF4-FFF2-40B4-BE49-F238E27FC236}">
                <a16:creationId xmlns:a16="http://schemas.microsoft.com/office/drawing/2014/main" id="{C7EDDC13-89E9-8BC4-41C1-CDE9BDCB29AE}"/>
              </a:ext>
            </a:extLst>
          </p:cNvPr>
          <p:cNvSpPr/>
          <p:nvPr/>
        </p:nvSpPr>
        <p:spPr>
          <a:xfrm>
            <a:off x="809244" y="2744914"/>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090">
                <a:solidFill>
                  <a:schemeClr val="tx2"/>
                </a:solidFill>
                <a:latin typeface="Open Sans" pitchFamily="2" charset="0"/>
                <a:ea typeface="Open Sans" pitchFamily="2" charset="0"/>
                <a:cs typeface="Open Sans" pitchFamily="2" charset="0"/>
              </a:rPr>
              <a:t>The full diff</a:t>
            </a:r>
          </a:p>
        </p:txBody>
      </p:sp>
      <p:sp>
        <p:nvSpPr>
          <p:cNvPr id="25" name="Shape 22">
            <a:extLst>
              <a:ext uri="{FF2B5EF4-FFF2-40B4-BE49-F238E27FC236}">
                <a16:creationId xmlns:a16="http://schemas.microsoft.com/office/drawing/2014/main" id="{808F05D6-268B-F4B7-4095-A24A1BA90087}"/>
              </a:ext>
            </a:extLst>
          </p:cNvPr>
          <p:cNvSpPr/>
          <p:nvPr/>
        </p:nvSpPr>
        <p:spPr>
          <a:xfrm>
            <a:off x="342900" y="3429000"/>
            <a:ext cx="8455914" cy="857250"/>
          </a:xfrm>
          <a:prstGeom prst="roundRect">
            <a:avLst>
              <a:gd name="adj" fmla="val 5161"/>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3">
            <a:extLst>
              <a:ext uri="{FF2B5EF4-FFF2-40B4-BE49-F238E27FC236}">
                <a16:creationId xmlns:a16="http://schemas.microsoft.com/office/drawing/2014/main" id="{F863C115-CCAB-91D3-0E91-B772C5146E49}"/>
              </a:ext>
            </a:extLst>
          </p:cNvPr>
          <p:cNvSpPr/>
          <p:nvPr/>
        </p:nvSpPr>
        <p:spPr>
          <a:xfrm>
            <a:off x="534924" y="3538728"/>
            <a:ext cx="5486400" cy="205740"/>
          </a:xfrm>
          <a:prstGeom prst="rect">
            <a:avLst/>
          </a:prstGeom>
          <a:noFill/>
          <a:ln/>
        </p:spPr>
        <p:txBody>
          <a:bodyPr wrap="square" lIns="0" tIns="0" rIns="0" bIns="0" rtlCol="0" anchor="ctr"/>
          <a:lstStyle/>
          <a:p>
            <a:r>
              <a:rPr lang="en-US" sz="825" b="1" kern="0" spc="113">
                <a:solidFill>
                  <a:schemeClr val="accent1"/>
                </a:solidFill>
                <a:latin typeface="Open Sans" panose="020B0606030504020204" pitchFamily="34" charset="0"/>
                <a:ea typeface="Open Sans" panose="020B0606030504020204" pitchFamily="34" charset="0"/>
                <a:cs typeface="Open Sans" panose="020B0606030504020204" pitchFamily="34" charset="0"/>
              </a:rPr>
              <a:t>THROUGH THE LENS</a:t>
            </a:r>
            <a:endParaRPr lang="en-US" sz="825"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Shape 24">
            <a:extLst>
              <a:ext uri="{FF2B5EF4-FFF2-40B4-BE49-F238E27FC236}">
                <a16:creationId xmlns:a16="http://schemas.microsoft.com/office/drawing/2014/main" id="{ED73426F-B24D-976B-2B92-375A00F6D2F2}"/>
              </a:ext>
            </a:extLst>
          </p:cNvPr>
          <p:cNvSpPr/>
          <p:nvPr/>
        </p:nvSpPr>
        <p:spPr>
          <a:xfrm>
            <a:off x="534924" y="3785616"/>
            <a:ext cx="1399032" cy="274320"/>
          </a:xfrm>
          <a:prstGeom prst="roundRect">
            <a:avLst>
              <a:gd name="adj" fmla="val 15000"/>
            </a:avLst>
          </a:prstGeom>
          <a:solidFill>
            <a:srgbClr val="00B050"/>
          </a:solidFill>
          <a:ln/>
        </p:spPr>
        <p:txBody>
          <a:bodyPr/>
          <a:lstStyle/>
          <a:p>
            <a:endParaRPr lang="en-US" sz="1350">
              <a:latin typeface="Open Sans" pitchFamily="2" charset="0"/>
              <a:ea typeface="Open Sans" pitchFamily="2" charset="0"/>
              <a:cs typeface="Open Sans" pitchFamily="2" charset="0"/>
            </a:endParaRPr>
          </a:p>
        </p:txBody>
      </p:sp>
      <p:sp>
        <p:nvSpPr>
          <p:cNvPr id="28" name="Text 25">
            <a:extLst>
              <a:ext uri="{FF2B5EF4-FFF2-40B4-BE49-F238E27FC236}">
                <a16:creationId xmlns:a16="http://schemas.microsoft.com/office/drawing/2014/main" id="{58ECF663-9D4C-A592-0F37-2D0C06A95234}"/>
              </a:ext>
            </a:extLst>
          </p:cNvPr>
          <p:cNvSpPr/>
          <p:nvPr/>
        </p:nvSpPr>
        <p:spPr>
          <a:xfrm>
            <a:off x="534924" y="3785616"/>
            <a:ext cx="1399032" cy="274320"/>
          </a:xfrm>
          <a:prstGeom prst="rect">
            <a:avLst/>
          </a:prstGeom>
          <a:no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STARED · Trace</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6">
            <a:extLst>
              <a:ext uri="{FF2B5EF4-FFF2-40B4-BE49-F238E27FC236}">
                <a16:creationId xmlns:a16="http://schemas.microsoft.com/office/drawing/2014/main" id="{8F794E26-693A-2F4A-67D7-55022CB03B09}"/>
              </a:ext>
            </a:extLst>
          </p:cNvPr>
          <p:cNvSpPr/>
          <p:nvPr/>
        </p:nvSpPr>
        <p:spPr>
          <a:xfrm>
            <a:off x="2105406" y="3715893"/>
            <a:ext cx="6279642" cy="432054"/>
          </a:xfrm>
          <a:prstGeom prst="rect">
            <a:avLst/>
          </a:prstGeom>
          <a:noFill/>
          <a:ln/>
        </p:spPr>
        <p:txBody>
          <a:bodyPr wrap="square" lIns="0" tIns="0" rIns="0" bIns="0" rtlCol="0" anchor="ctr"/>
          <a:lstStyle/>
          <a:p>
            <a:r>
              <a:rPr lang="en-US" sz="1013">
                <a:solidFill>
                  <a:schemeClr val="tx2"/>
                </a:solidFill>
                <a:latin typeface="Open Sans" pitchFamily="2" charset="0"/>
                <a:ea typeface="Open Sans" pitchFamily="2" charset="0"/>
                <a:cs typeface="Open Sans" pitchFamily="2" charset="0"/>
              </a:rPr>
              <a:t>A reviewer needs what changed and why, not which files. The known-limitations line is honest escalation to the next person.</a:t>
            </a:r>
          </a:p>
        </p:txBody>
      </p:sp>
    </p:spTree>
    <p:extLst>
      <p:ext uri="{BB962C8B-B14F-4D97-AF65-F5344CB8AC3E}">
        <p14:creationId xmlns:p14="http://schemas.microsoft.com/office/powerpoint/2010/main" val="8484374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342900" y="727200"/>
            <a:ext cx="8455914" cy="294894"/>
          </a:xfrm>
          <a:prstGeom prst="rect">
            <a:avLst/>
          </a:prstGeom>
          <a:noFill/>
          <a:ln/>
        </p:spPr>
        <p:txBody>
          <a:bodyPr wrap="square" lIns="0" tIns="0" rIns="0" bIns="0" rtlCol="0" anchor="t"/>
          <a:lstStyle/>
          <a:p>
            <a:r>
              <a:rPr lang="en-US" sz="1388" b="1">
                <a:latin typeface="Open Sans" panose="020B0606030504020204" pitchFamily="34" charset="0"/>
                <a:ea typeface="Open Sans" panose="020B0606030504020204" pitchFamily="34" charset="0"/>
                <a:cs typeface="Open Sans" panose="020B0606030504020204" pitchFamily="34" charset="0"/>
              </a:rPr>
              <a:t>Claude fixed a bug and the error message is gone. What is the right next move?</a:t>
            </a:r>
          </a:p>
        </p:txBody>
      </p:sp>
      <p:grpSp>
        <p:nvGrpSpPr>
          <p:cNvPr id="55" name="Group 54">
            <a:extLst>
              <a:ext uri="{FF2B5EF4-FFF2-40B4-BE49-F238E27FC236}">
                <a16:creationId xmlns:a16="http://schemas.microsoft.com/office/drawing/2014/main" id="{0DB98866-8780-2677-0931-934A21078F1D}"/>
              </a:ext>
            </a:extLst>
          </p:cNvPr>
          <p:cNvGrpSpPr/>
          <p:nvPr/>
        </p:nvGrpSpPr>
        <p:grpSpPr>
          <a:xfrm>
            <a:off x="342900" y="1301306"/>
            <a:ext cx="8455914" cy="329184"/>
            <a:chOff x="342900" y="1301306"/>
            <a:chExt cx="8455914" cy="329184"/>
          </a:xfrm>
        </p:grpSpPr>
        <p:sp>
          <p:nvSpPr>
            <p:cNvPr id="8" name="Shape 6"/>
            <p:cNvSpPr/>
            <p:nvPr/>
          </p:nvSpPr>
          <p:spPr>
            <a:xfrm>
              <a:off x="342900" y="1301306"/>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Shape 7"/>
            <p:cNvSpPr/>
            <p:nvPr/>
          </p:nvSpPr>
          <p:spPr>
            <a:xfrm>
              <a:off x="493776" y="1363028"/>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0" name="Text 8"/>
            <p:cNvSpPr/>
            <p:nvPr/>
          </p:nvSpPr>
          <p:spPr>
            <a:xfrm>
              <a:off x="493776" y="1363028"/>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809244" y="1301306"/>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090">
                  <a:solidFill>
                    <a:schemeClr val="tx2"/>
                  </a:solidFill>
                  <a:latin typeface="Open Sans" pitchFamily="2" charset="0"/>
                  <a:ea typeface="Open Sans" pitchFamily="2" charset="0"/>
                  <a:cs typeface="Open Sans" pitchFamily="2" charset="0"/>
                </a:rPr>
                <a:t>Commit it; if the error is gone, the bug is fixed</a:t>
              </a:r>
            </a:p>
          </p:txBody>
        </p:sp>
      </p:grpSp>
      <p:grpSp>
        <p:nvGrpSpPr>
          <p:cNvPr id="57" name="Group 56">
            <a:extLst>
              <a:ext uri="{FF2B5EF4-FFF2-40B4-BE49-F238E27FC236}">
                <a16:creationId xmlns:a16="http://schemas.microsoft.com/office/drawing/2014/main" id="{8322A87D-B031-2E93-ACD8-51A7DB68E89B}"/>
              </a:ext>
            </a:extLst>
          </p:cNvPr>
          <p:cNvGrpSpPr/>
          <p:nvPr/>
        </p:nvGrpSpPr>
        <p:grpSpPr>
          <a:xfrm>
            <a:off x="342900" y="2262568"/>
            <a:ext cx="8455914" cy="329184"/>
            <a:chOff x="342900" y="2331720"/>
            <a:chExt cx="8455914" cy="329184"/>
          </a:xfrm>
        </p:grpSpPr>
        <p:sp>
          <p:nvSpPr>
            <p:cNvPr id="16" name="Shape 14"/>
            <p:cNvSpPr/>
            <p:nvPr/>
          </p:nvSpPr>
          <p:spPr>
            <a:xfrm>
              <a:off x="342900" y="2331720"/>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5"/>
            <p:cNvSpPr/>
            <p:nvPr/>
          </p:nvSpPr>
          <p:spPr>
            <a:xfrm>
              <a:off x="493776" y="2393442"/>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8" name="Text 16"/>
            <p:cNvSpPr/>
            <p:nvPr/>
          </p:nvSpPr>
          <p:spPr>
            <a:xfrm>
              <a:off x="493776" y="2393442"/>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809244" y="2331720"/>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090">
                  <a:solidFill>
                    <a:schemeClr val="tx2"/>
                  </a:solidFill>
                  <a:latin typeface="Open Sans" pitchFamily="2" charset="0"/>
                  <a:ea typeface="Open Sans" pitchFamily="2" charset="0"/>
                  <a:cs typeface="Open Sans" pitchFamily="2" charset="0"/>
                </a:rPr>
                <a:t>Ask Claude to explain what it changed, then commit</a:t>
              </a:r>
            </a:p>
          </p:txBody>
        </p:sp>
      </p:grpSp>
      <p:sp>
        <p:nvSpPr>
          <p:cNvPr id="20" name="Shape 18"/>
          <p:cNvSpPr/>
          <p:nvPr/>
        </p:nvSpPr>
        <p:spPr>
          <a:xfrm>
            <a:off x="342900" y="2743200"/>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21" name="Shape 19"/>
          <p:cNvSpPr/>
          <p:nvPr/>
        </p:nvSpPr>
        <p:spPr>
          <a:xfrm>
            <a:off x="493776" y="2804922"/>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22" name="Text 20"/>
          <p:cNvSpPr/>
          <p:nvPr/>
        </p:nvSpPr>
        <p:spPr>
          <a:xfrm>
            <a:off x="493776" y="2804922"/>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809244" y="2743200"/>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090">
                <a:solidFill>
                  <a:schemeClr val="tx2"/>
                </a:solidFill>
                <a:latin typeface="Open Sans" pitchFamily="2" charset="0"/>
                <a:ea typeface="Open Sans" pitchFamily="2" charset="0"/>
                <a:cs typeface="Open Sans" pitchFamily="2" charset="0"/>
              </a:rPr>
              <a:t>Move on; the symptom was the bug</a:t>
            </a:r>
          </a:p>
        </p:txBody>
      </p:sp>
      <p:grpSp>
        <p:nvGrpSpPr>
          <p:cNvPr id="2" name="Group 1">
            <a:extLst>
              <a:ext uri="{FF2B5EF4-FFF2-40B4-BE49-F238E27FC236}">
                <a16:creationId xmlns:a16="http://schemas.microsoft.com/office/drawing/2014/main" id="{555B6BB0-63EC-E730-95D9-F9BF39D79935}"/>
              </a:ext>
            </a:extLst>
          </p:cNvPr>
          <p:cNvGrpSpPr/>
          <p:nvPr/>
        </p:nvGrpSpPr>
        <p:grpSpPr>
          <a:xfrm>
            <a:off x="342900" y="1781936"/>
            <a:ext cx="8455914" cy="329184"/>
            <a:chOff x="342900" y="1301306"/>
            <a:chExt cx="8455914" cy="329184"/>
          </a:xfrm>
        </p:grpSpPr>
        <p:sp>
          <p:nvSpPr>
            <p:cNvPr id="3" name="Shape 6">
              <a:extLst>
                <a:ext uri="{FF2B5EF4-FFF2-40B4-BE49-F238E27FC236}">
                  <a16:creationId xmlns:a16="http://schemas.microsoft.com/office/drawing/2014/main" id="{F1340228-88A7-8DE7-E18F-B91124F0961B}"/>
                </a:ext>
              </a:extLst>
            </p:cNvPr>
            <p:cNvSpPr/>
            <p:nvPr/>
          </p:nvSpPr>
          <p:spPr>
            <a:xfrm>
              <a:off x="342900" y="1301306"/>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4" name="Shape 7">
              <a:extLst>
                <a:ext uri="{FF2B5EF4-FFF2-40B4-BE49-F238E27FC236}">
                  <a16:creationId xmlns:a16="http://schemas.microsoft.com/office/drawing/2014/main" id="{33FBB856-AB59-BBE0-0B9F-695A092DB70D}"/>
                </a:ext>
              </a:extLst>
            </p:cNvPr>
            <p:cNvSpPr/>
            <p:nvPr/>
          </p:nvSpPr>
          <p:spPr>
            <a:xfrm>
              <a:off x="493776" y="1363028"/>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5" name="Text 8">
              <a:extLst>
                <a:ext uri="{FF2B5EF4-FFF2-40B4-BE49-F238E27FC236}">
                  <a16:creationId xmlns:a16="http://schemas.microsoft.com/office/drawing/2014/main" id="{010C6167-5501-C19E-3B25-22D5BEE937F8}"/>
                </a:ext>
              </a:extLst>
            </p:cNvPr>
            <p:cNvSpPr/>
            <p:nvPr/>
          </p:nvSpPr>
          <p:spPr>
            <a:xfrm>
              <a:off x="493776" y="1363028"/>
              <a:ext cx="205740" cy="205740"/>
            </a:xfrm>
            <a:prstGeom prst="rect">
              <a:avLst/>
            </a:prstGeom>
            <a:noFill/>
            <a:ln/>
          </p:spPr>
          <p:txBody>
            <a:bodyPr wrap="square" lIns="0" tIns="0" rIns="0" bIns="0" rtlCol="0" anchor="ctr"/>
            <a:lstStyle/>
            <a:p>
              <a:pPr algn="ctr"/>
              <a:r>
                <a:rPr lang="en-US" sz="975" b="1" dirty="0">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975" b="1"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9">
              <a:extLst>
                <a:ext uri="{FF2B5EF4-FFF2-40B4-BE49-F238E27FC236}">
                  <a16:creationId xmlns:a16="http://schemas.microsoft.com/office/drawing/2014/main" id="{D936D2F3-140C-8D23-73B2-640A8A317CE5}"/>
                </a:ext>
              </a:extLst>
            </p:cNvPr>
            <p:cNvSpPr/>
            <p:nvPr/>
          </p:nvSpPr>
          <p:spPr>
            <a:xfrm>
              <a:off x="809244" y="1301306"/>
              <a:ext cx="7886700" cy="329184"/>
            </a:xfrm>
            <a:prstGeom prst="rect">
              <a:avLst/>
            </a:prstGeom>
            <a:noFill/>
            <a:ln/>
          </p:spPr>
          <p:txBody>
            <a:bodyPr wrap="square" lIns="0" tIns="0" rIns="0" bIns="0" rtlCol="0" anchor="ctr"/>
            <a:lstStyle/>
            <a:p>
              <a:r>
                <a:rPr lang="en-US" sz="1090" b="1" dirty="0">
                  <a:solidFill>
                    <a:schemeClr val="tx2"/>
                  </a:solidFill>
                  <a:latin typeface="Open Sans" panose="020B0606030504020204" pitchFamily="34" charset="0"/>
                  <a:ea typeface="Open Sans" panose="020B0606030504020204" pitchFamily="34" charset="0"/>
                  <a:cs typeface="Open Sans" panose="020B0606030504020204" pitchFamily="34" charset="0"/>
                </a:rPr>
                <a:t>B.  </a:t>
              </a:r>
              <a:r>
                <a:rPr lang="en-US" sz="1090" dirty="0">
                  <a:solidFill>
                    <a:schemeClr val="tx2"/>
                  </a:solidFill>
                  <a:latin typeface="Open Sans" panose="020B0606030504020204" pitchFamily="34" charset="0"/>
                  <a:ea typeface="Open Sans" panose="020B0606030504020204" pitchFamily="34" charset="0"/>
                  <a:cs typeface="Open Sans" panose="020B0606030504020204" pitchFamily="34" charset="0"/>
                </a:rPr>
                <a:t>Read the diff and run the full test suite before trusting it</a:t>
              </a: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D1026-7C93-FD14-D690-186F9DC8EF4E}"/>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CF9E910D-3F28-D765-D65F-01B8D389EBDD}"/>
              </a:ext>
            </a:extLst>
          </p:cNvPr>
          <p:cNvSpPr/>
          <p:nvPr/>
        </p:nvSpPr>
        <p:spPr>
          <a:xfrm>
            <a:off x="342900" y="727200"/>
            <a:ext cx="8455914" cy="294894"/>
          </a:xfrm>
          <a:prstGeom prst="rect">
            <a:avLst/>
          </a:prstGeom>
          <a:noFill/>
          <a:ln/>
        </p:spPr>
        <p:txBody>
          <a:bodyPr wrap="square" lIns="0" tIns="0" rIns="0" bIns="0" rtlCol="0" anchor="t"/>
          <a:lstStyle/>
          <a:p>
            <a:r>
              <a:rPr lang="en-US" sz="1388" b="1">
                <a:latin typeface="Open Sans" panose="020B0606030504020204" pitchFamily="34" charset="0"/>
                <a:ea typeface="Open Sans" panose="020B0606030504020204" pitchFamily="34" charset="0"/>
                <a:cs typeface="Open Sans" panose="020B0606030504020204" pitchFamily="34" charset="0"/>
              </a:rPr>
              <a:t>Claude fixed a bug and the error message is gone. What is the right next move?</a:t>
            </a:r>
          </a:p>
        </p:txBody>
      </p:sp>
      <p:grpSp>
        <p:nvGrpSpPr>
          <p:cNvPr id="55" name="Group 54">
            <a:extLst>
              <a:ext uri="{FF2B5EF4-FFF2-40B4-BE49-F238E27FC236}">
                <a16:creationId xmlns:a16="http://schemas.microsoft.com/office/drawing/2014/main" id="{E94C2950-E925-C0B2-635D-964605173FA3}"/>
              </a:ext>
            </a:extLst>
          </p:cNvPr>
          <p:cNvGrpSpPr/>
          <p:nvPr/>
        </p:nvGrpSpPr>
        <p:grpSpPr>
          <a:xfrm>
            <a:off x="342900" y="1301306"/>
            <a:ext cx="8455914" cy="329184"/>
            <a:chOff x="342900" y="1301306"/>
            <a:chExt cx="8455914" cy="329184"/>
          </a:xfrm>
        </p:grpSpPr>
        <p:sp>
          <p:nvSpPr>
            <p:cNvPr id="8" name="Shape 6">
              <a:extLst>
                <a:ext uri="{FF2B5EF4-FFF2-40B4-BE49-F238E27FC236}">
                  <a16:creationId xmlns:a16="http://schemas.microsoft.com/office/drawing/2014/main" id="{400016BF-C371-E0CA-0AF8-103501F0BE66}"/>
                </a:ext>
              </a:extLst>
            </p:cNvPr>
            <p:cNvSpPr/>
            <p:nvPr/>
          </p:nvSpPr>
          <p:spPr>
            <a:xfrm>
              <a:off x="342900" y="1301306"/>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Shape 7">
              <a:extLst>
                <a:ext uri="{FF2B5EF4-FFF2-40B4-BE49-F238E27FC236}">
                  <a16:creationId xmlns:a16="http://schemas.microsoft.com/office/drawing/2014/main" id="{A337E4E4-E7CC-95D8-AA62-51BC993D0400}"/>
                </a:ext>
              </a:extLst>
            </p:cNvPr>
            <p:cNvSpPr/>
            <p:nvPr/>
          </p:nvSpPr>
          <p:spPr>
            <a:xfrm>
              <a:off x="493776" y="1363028"/>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0" name="Text 8">
              <a:extLst>
                <a:ext uri="{FF2B5EF4-FFF2-40B4-BE49-F238E27FC236}">
                  <a16:creationId xmlns:a16="http://schemas.microsoft.com/office/drawing/2014/main" id="{2C4EFA81-398B-6408-35D1-06992B60C4FD}"/>
                </a:ext>
              </a:extLst>
            </p:cNvPr>
            <p:cNvSpPr/>
            <p:nvPr/>
          </p:nvSpPr>
          <p:spPr>
            <a:xfrm>
              <a:off x="493776" y="1363028"/>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a:extLst>
                <a:ext uri="{FF2B5EF4-FFF2-40B4-BE49-F238E27FC236}">
                  <a16:creationId xmlns:a16="http://schemas.microsoft.com/office/drawing/2014/main" id="{7DD51A01-22D0-B69E-CE1F-C7B5E1397622}"/>
                </a:ext>
              </a:extLst>
            </p:cNvPr>
            <p:cNvSpPr/>
            <p:nvPr/>
          </p:nvSpPr>
          <p:spPr>
            <a:xfrm>
              <a:off x="809244" y="1301306"/>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090">
                  <a:solidFill>
                    <a:schemeClr val="tx2"/>
                  </a:solidFill>
                  <a:latin typeface="Open Sans" pitchFamily="2" charset="0"/>
                  <a:ea typeface="Open Sans" pitchFamily="2" charset="0"/>
                  <a:cs typeface="Open Sans" pitchFamily="2" charset="0"/>
                </a:rPr>
                <a:t>Commit it; if the error is gone, the bug is fixed</a:t>
              </a:r>
            </a:p>
          </p:txBody>
        </p:sp>
      </p:grpSp>
      <p:grpSp>
        <p:nvGrpSpPr>
          <p:cNvPr id="56" name="Group 55">
            <a:extLst>
              <a:ext uri="{FF2B5EF4-FFF2-40B4-BE49-F238E27FC236}">
                <a16:creationId xmlns:a16="http://schemas.microsoft.com/office/drawing/2014/main" id="{623757C2-9B2C-ADF0-44FE-6738F74494E4}"/>
              </a:ext>
            </a:extLst>
          </p:cNvPr>
          <p:cNvGrpSpPr/>
          <p:nvPr/>
        </p:nvGrpSpPr>
        <p:grpSpPr>
          <a:xfrm>
            <a:off x="342900" y="1781937"/>
            <a:ext cx="8455914" cy="329184"/>
            <a:chOff x="342900" y="1920240"/>
            <a:chExt cx="8455914" cy="329184"/>
          </a:xfrm>
        </p:grpSpPr>
        <p:sp>
          <p:nvSpPr>
            <p:cNvPr id="12" name="Shape 10">
              <a:extLst>
                <a:ext uri="{FF2B5EF4-FFF2-40B4-BE49-F238E27FC236}">
                  <a16:creationId xmlns:a16="http://schemas.microsoft.com/office/drawing/2014/main" id="{6D4F6986-76A1-D4A0-CC34-EEFDF28362AC}"/>
                </a:ext>
              </a:extLst>
            </p:cNvPr>
            <p:cNvSpPr/>
            <p:nvPr/>
          </p:nvSpPr>
          <p:spPr>
            <a:xfrm>
              <a:off x="342900" y="1920240"/>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13" name="Shape 11">
              <a:extLst>
                <a:ext uri="{FF2B5EF4-FFF2-40B4-BE49-F238E27FC236}">
                  <a16:creationId xmlns:a16="http://schemas.microsoft.com/office/drawing/2014/main" id="{8A4EDC87-3C0F-8434-BFE5-9EECE0F0A3CE}"/>
                </a:ext>
              </a:extLst>
            </p:cNvPr>
            <p:cNvSpPr/>
            <p:nvPr/>
          </p:nvSpPr>
          <p:spPr>
            <a:xfrm>
              <a:off x="493776" y="1981962"/>
              <a:ext cx="205740" cy="205740"/>
            </a:xfrm>
            <a:prstGeom prst="ellipse">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14" name="Text 12">
              <a:extLst>
                <a:ext uri="{FF2B5EF4-FFF2-40B4-BE49-F238E27FC236}">
                  <a16:creationId xmlns:a16="http://schemas.microsoft.com/office/drawing/2014/main" id="{2084A1DB-4639-234D-A5A2-0F7BC9AE55E2}"/>
                </a:ext>
              </a:extLst>
            </p:cNvPr>
            <p:cNvSpPr/>
            <p:nvPr/>
          </p:nvSpPr>
          <p:spPr>
            <a:xfrm>
              <a:off x="493776" y="1981962"/>
              <a:ext cx="205740" cy="205740"/>
            </a:xfrm>
            <a:prstGeom prst="rect">
              <a:avLst/>
            </a:prstGeom>
            <a:noFill/>
            <a:ln/>
          </p:spPr>
          <p:txBody>
            <a:bodyPr wrap="square" lIns="0" tIns="0" rIns="0" bIns="0" rtlCol="0" anchor="ctr"/>
            <a:lstStyle/>
            <a:p>
              <a:pPr algn="ctr"/>
              <a:r>
                <a:rPr lang="en-US" sz="975" b="1">
                  <a:solidFill>
                    <a:srgbClr val="FFFFFF"/>
                  </a:solidFill>
                  <a:latin typeface="Open Sans Extrabold" pitchFamily="2" charset="0"/>
                  <a:ea typeface="Open Sans Extrabold" pitchFamily="2" charset="0"/>
                  <a:cs typeface="Open Sans Extrabold" pitchFamily="2" charset="0"/>
                </a:rPr>
                <a:t>✓</a:t>
              </a:r>
              <a:endParaRPr lang="en-US" sz="975">
                <a:latin typeface="Open Sans" pitchFamily="2" charset="0"/>
                <a:ea typeface="Open Sans" pitchFamily="2" charset="0"/>
                <a:cs typeface="Open Sans" pitchFamily="2" charset="0"/>
              </a:endParaRPr>
            </a:p>
          </p:txBody>
        </p:sp>
        <p:sp>
          <p:nvSpPr>
            <p:cNvPr id="15" name="Text 13">
              <a:extLst>
                <a:ext uri="{FF2B5EF4-FFF2-40B4-BE49-F238E27FC236}">
                  <a16:creationId xmlns:a16="http://schemas.microsoft.com/office/drawing/2014/main" id="{59325D95-04EC-504A-EBE6-E00CD2F3A7FA}"/>
                </a:ext>
              </a:extLst>
            </p:cNvPr>
            <p:cNvSpPr/>
            <p:nvPr/>
          </p:nvSpPr>
          <p:spPr>
            <a:xfrm>
              <a:off x="809244" y="1920240"/>
              <a:ext cx="7886700" cy="329184"/>
            </a:xfrm>
            <a:prstGeom prst="rect">
              <a:avLst/>
            </a:prstGeom>
            <a:noFill/>
            <a:ln/>
          </p:spPr>
          <p:txBody>
            <a:bodyPr wrap="square" lIns="0" tIns="0" rIns="0" bIns="0" rtlCol="0" anchor="ctr"/>
            <a:lstStyle/>
            <a:p>
              <a:r>
                <a:rPr lang="en-US" sz="109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a:t>
              </a:r>
              <a:r>
                <a:rPr lang="en-US" sz="1090" b="1" dirty="0">
                  <a:latin typeface="Open Sans" panose="020B0606030504020204" pitchFamily="34" charset="0"/>
                  <a:ea typeface="Open Sans" panose="020B0606030504020204" pitchFamily="34" charset="0"/>
                  <a:cs typeface="Open Sans" panose="020B0606030504020204" pitchFamily="34" charset="0"/>
                </a:rPr>
                <a:t>Read the diff and run the full test suite before trusting it</a:t>
              </a:r>
            </a:p>
          </p:txBody>
        </p:sp>
      </p:grpSp>
      <p:grpSp>
        <p:nvGrpSpPr>
          <p:cNvPr id="57" name="Group 56">
            <a:extLst>
              <a:ext uri="{FF2B5EF4-FFF2-40B4-BE49-F238E27FC236}">
                <a16:creationId xmlns:a16="http://schemas.microsoft.com/office/drawing/2014/main" id="{1F357A00-D100-862B-4A04-6B0BDA62DC5C}"/>
              </a:ext>
            </a:extLst>
          </p:cNvPr>
          <p:cNvGrpSpPr/>
          <p:nvPr/>
        </p:nvGrpSpPr>
        <p:grpSpPr>
          <a:xfrm>
            <a:off x="342900" y="2262568"/>
            <a:ext cx="8455914" cy="329184"/>
            <a:chOff x="342900" y="2331720"/>
            <a:chExt cx="8455914" cy="329184"/>
          </a:xfrm>
        </p:grpSpPr>
        <p:sp>
          <p:nvSpPr>
            <p:cNvPr id="16" name="Shape 14">
              <a:extLst>
                <a:ext uri="{FF2B5EF4-FFF2-40B4-BE49-F238E27FC236}">
                  <a16:creationId xmlns:a16="http://schemas.microsoft.com/office/drawing/2014/main" id="{A2A653E9-CE13-0AA3-B1D8-512B87D9584C}"/>
                </a:ext>
              </a:extLst>
            </p:cNvPr>
            <p:cNvSpPr/>
            <p:nvPr/>
          </p:nvSpPr>
          <p:spPr>
            <a:xfrm>
              <a:off x="342900" y="2331720"/>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5">
              <a:extLst>
                <a:ext uri="{FF2B5EF4-FFF2-40B4-BE49-F238E27FC236}">
                  <a16:creationId xmlns:a16="http://schemas.microsoft.com/office/drawing/2014/main" id="{5C7E2EA1-F5D3-5721-3FFF-A911E7F1C3AD}"/>
                </a:ext>
              </a:extLst>
            </p:cNvPr>
            <p:cNvSpPr/>
            <p:nvPr/>
          </p:nvSpPr>
          <p:spPr>
            <a:xfrm>
              <a:off x="493776" y="2393442"/>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8" name="Text 16">
              <a:extLst>
                <a:ext uri="{FF2B5EF4-FFF2-40B4-BE49-F238E27FC236}">
                  <a16:creationId xmlns:a16="http://schemas.microsoft.com/office/drawing/2014/main" id="{CA5554F9-C96C-82D9-F831-BC0D7F630F4F}"/>
                </a:ext>
              </a:extLst>
            </p:cNvPr>
            <p:cNvSpPr/>
            <p:nvPr/>
          </p:nvSpPr>
          <p:spPr>
            <a:xfrm>
              <a:off x="493776" y="2393442"/>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356F3A89-C012-D5A1-7A37-A47242CC8031}"/>
                </a:ext>
              </a:extLst>
            </p:cNvPr>
            <p:cNvSpPr/>
            <p:nvPr/>
          </p:nvSpPr>
          <p:spPr>
            <a:xfrm>
              <a:off x="809244" y="2331720"/>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090">
                  <a:solidFill>
                    <a:schemeClr val="tx2"/>
                  </a:solidFill>
                  <a:latin typeface="Open Sans" pitchFamily="2" charset="0"/>
                  <a:ea typeface="Open Sans" pitchFamily="2" charset="0"/>
                  <a:cs typeface="Open Sans" pitchFamily="2" charset="0"/>
                </a:rPr>
                <a:t>Ask Claude to explain what it changed, then commit</a:t>
              </a:r>
            </a:p>
          </p:txBody>
        </p:sp>
      </p:grpSp>
      <p:sp>
        <p:nvSpPr>
          <p:cNvPr id="20" name="Shape 18">
            <a:extLst>
              <a:ext uri="{FF2B5EF4-FFF2-40B4-BE49-F238E27FC236}">
                <a16:creationId xmlns:a16="http://schemas.microsoft.com/office/drawing/2014/main" id="{2E862040-6B2A-396D-838F-A614E2E95A06}"/>
              </a:ext>
            </a:extLst>
          </p:cNvPr>
          <p:cNvSpPr/>
          <p:nvPr/>
        </p:nvSpPr>
        <p:spPr>
          <a:xfrm>
            <a:off x="342900" y="2743200"/>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21" name="Shape 19">
            <a:extLst>
              <a:ext uri="{FF2B5EF4-FFF2-40B4-BE49-F238E27FC236}">
                <a16:creationId xmlns:a16="http://schemas.microsoft.com/office/drawing/2014/main" id="{946BE461-7D80-E997-AA78-8E98BEBC8735}"/>
              </a:ext>
            </a:extLst>
          </p:cNvPr>
          <p:cNvSpPr/>
          <p:nvPr/>
        </p:nvSpPr>
        <p:spPr>
          <a:xfrm>
            <a:off x="493776" y="2804922"/>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22" name="Text 20">
            <a:extLst>
              <a:ext uri="{FF2B5EF4-FFF2-40B4-BE49-F238E27FC236}">
                <a16:creationId xmlns:a16="http://schemas.microsoft.com/office/drawing/2014/main" id="{2A7E7FCF-B86E-F3EE-33FB-0330AAD53D2F}"/>
              </a:ext>
            </a:extLst>
          </p:cNvPr>
          <p:cNvSpPr/>
          <p:nvPr/>
        </p:nvSpPr>
        <p:spPr>
          <a:xfrm>
            <a:off x="493776" y="2804922"/>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a:extLst>
              <a:ext uri="{FF2B5EF4-FFF2-40B4-BE49-F238E27FC236}">
                <a16:creationId xmlns:a16="http://schemas.microsoft.com/office/drawing/2014/main" id="{CD7711E9-7AE8-04D8-EEBD-177F84D95309}"/>
              </a:ext>
            </a:extLst>
          </p:cNvPr>
          <p:cNvSpPr/>
          <p:nvPr/>
        </p:nvSpPr>
        <p:spPr>
          <a:xfrm>
            <a:off x="809244" y="2743200"/>
            <a:ext cx="7886700" cy="329184"/>
          </a:xfrm>
          <a:prstGeom prst="rect">
            <a:avLst/>
          </a:prstGeom>
          <a:noFill/>
          <a:ln/>
        </p:spPr>
        <p:txBody>
          <a:bodyPr wrap="square" lIns="0" tIns="0" rIns="0" bIns="0" rtlCol="0" anchor="ctr"/>
          <a:lstStyle/>
          <a:p>
            <a:r>
              <a:rPr lang="en-US" sz="109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090">
                <a:solidFill>
                  <a:schemeClr val="tx2"/>
                </a:solidFill>
                <a:latin typeface="Open Sans" pitchFamily="2" charset="0"/>
                <a:ea typeface="Open Sans" pitchFamily="2" charset="0"/>
                <a:cs typeface="Open Sans" pitchFamily="2" charset="0"/>
              </a:rPr>
              <a:t>Move on; the symptom was the bug</a:t>
            </a:r>
          </a:p>
        </p:txBody>
      </p:sp>
      <p:sp>
        <p:nvSpPr>
          <p:cNvPr id="24" name="Shape 22">
            <a:extLst>
              <a:ext uri="{FF2B5EF4-FFF2-40B4-BE49-F238E27FC236}">
                <a16:creationId xmlns:a16="http://schemas.microsoft.com/office/drawing/2014/main" id="{9AE4C809-166F-E554-132D-1C655F834051}"/>
              </a:ext>
            </a:extLst>
          </p:cNvPr>
          <p:cNvSpPr/>
          <p:nvPr/>
        </p:nvSpPr>
        <p:spPr>
          <a:xfrm>
            <a:off x="342900" y="3429000"/>
            <a:ext cx="8455914" cy="841248"/>
          </a:xfrm>
          <a:prstGeom prst="roundRect">
            <a:avLst>
              <a:gd name="adj" fmla="val 5161"/>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25" name="Text 23">
            <a:extLst>
              <a:ext uri="{FF2B5EF4-FFF2-40B4-BE49-F238E27FC236}">
                <a16:creationId xmlns:a16="http://schemas.microsoft.com/office/drawing/2014/main" id="{D3C491FE-9887-0651-18D1-DDCB463DB85C}"/>
              </a:ext>
            </a:extLst>
          </p:cNvPr>
          <p:cNvSpPr/>
          <p:nvPr/>
        </p:nvSpPr>
        <p:spPr>
          <a:xfrm>
            <a:off x="534924" y="3538728"/>
            <a:ext cx="5486400" cy="205740"/>
          </a:xfrm>
          <a:prstGeom prst="rect">
            <a:avLst/>
          </a:prstGeom>
          <a:noFill/>
          <a:ln/>
        </p:spPr>
        <p:txBody>
          <a:bodyPr wrap="square" lIns="0" tIns="0" rIns="0" bIns="0" rtlCol="0" anchor="ctr"/>
          <a:lstStyle/>
          <a:p>
            <a:r>
              <a:rPr lang="en-US" sz="825" b="1" kern="0" spc="113">
                <a:solidFill>
                  <a:schemeClr val="accent1"/>
                </a:solidFill>
                <a:latin typeface="Open Sans" panose="020B0606030504020204" pitchFamily="34" charset="0"/>
                <a:ea typeface="Open Sans" panose="020B0606030504020204" pitchFamily="34" charset="0"/>
                <a:cs typeface="Open Sans" panose="020B0606030504020204" pitchFamily="34" charset="0"/>
              </a:rPr>
              <a:t>THROUGH THE LENS</a:t>
            </a:r>
            <a:endParaRPr lang="en-US" sz="825"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24">
            <a:extLst>
              <a:ext uri="{FF2B5EF4-FFF2-40B4-BE49-F238E27FC236}">
                <a16:creationId xmlns:a16="http://schemas.microsoft.com/office/drawing/2014/main" id="{C921F175-C57D-58C8-F68C-295621ECE660}"/>
              </a:ext>
            </a:extLst>
          </p:cNvPr>
          <p:cNvSpPr/>
          <p:nvPr/>
        </p:nvSpPr>
        <p:spPr>
          <a:xfrm>
            <a:off x="534924" y="3785616"/>
            <a:ext cx="1021842" cy="274320"/>
          </a:xfrm>
          <a:prstGeom prst="roundRect">
            <a:avLst>
              <a:gd name="adj" fmla="val 15000"/>
            </a:avLst>
          </a:prstGeom>
          <a:solidFill>
            <a:srgbClr val="00B050"/>
          </a:solidFill>
          <a:ln/>
        </p:spPr>
        <p:txBody>
          <a:bodyPr/>
          <a:lstStyle/>
          <a:p>
            <a:endParaRPr lang="en-US" sz="1350">
              <a:latin typeface="Open Sans" pitchFamily="2" charset="0"/>
              <a:ea typeface="Open Sans" pitchFamily="2" charset="0"/>
              <a:cs typeface="Open Sans" pitchFamily="2" charset="0"/>
            </a:endParaRPr>
          </a:p>
        </p:txBody>
      </p:sp>
      <p:sp>
        <p:nvSpPr>
          <p:cNvPr id="27" name="Text 25">
            <a:extLst>
              <a:ext uri="{FF2B5EF4-FFF2-40B4-BE49-F238E27FC236}">
                <a16:creationId xmlns:a16="http://schemas.microsoft.com/office/drawing/2014/main" id="{1A924B16-2571-6EEA-E8B5-5BFCF10B7553}"/>
              </a:ext>
            </a:extLst>
          </p:cNvPr>
          <p:cNvSpPr/>
          <p:nvPr/>
        </p:nvSpPr>
        <p:spPr>
          <a:xfrm>
            <a:off x="534924" y="3785616"/>
            <a:ext cx="1021842" cy="274320"/>
          </a:xfrm>
          <a:prstGeom prst="rect">
            <a:avLst/>
          </a:prstGeom>
          <a:no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Reflexion</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a:extLst>
              <a:ext uri="{FF2B5EF4-FFF2-40B4-BE49-F238E27FC236}">
                <a16:creationId xmlns:a16="http://schemas.microsoft.com/office/drawing/2014/main" id="{01F54E98-543D-3AFE-9608-7AC5E8BF699A}"/>
              </a:ext>
            </a:extLst>
          </p:cNvPr>
          <p:cNvSpPr/>
          <p:nvPr/>
        </p:nvSpPr>
        <p:spPr>
          <a:xfrm>
            <a:off x="1728216" y="3785616"/>
            <a:ext cx="7070598" cy="274320"/>
          </a:xfrm>
          <a:prstGeom prst="rect">
            <a:avLst/>
          </a:prstGeom>
          <a:noFill/>
          <a:ln/>
        </p:spPr>
        <p:txBody>
          <a:bodyPr wrap="square" lIns="0" tIns="0" rIns="0" bIns="0" rtlCol="0" anchor="ctr"/>
          <a:lstStyle/>
          <a:p>
            <a:r>
              <a:rPr lang="en-US" sz="1013">
                <a:solidFill>
                  <a:srgbClr val="1B2A4A"/>
                </a:solidFill>
                <a:latin typeface="Open Sans" pitchFamily="2" charset="0"/>
                <a:ea typeface="Open Sans" pitchFamily="2" charset="0"/>
                <a:cs typeface="Open Sans" pitchFamily="2" charset="0"/>
              </a:rPr>
              <a:t>The error disappearing is the start of review, not the end. Read the diff, run the suite, then trust.</a:t>
            </a:r>
            <a:endParaRPr lang="en-US" sz="1013">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087261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342900" y="727200"/>
            <a:ext cx="8455914" cy="255460"/>
          </a:xfrm>
          <a:prstGeom prst="rect">
            <a:avLst/>
          </a:prstGeom>
          <a:noFill/>
          <a:ln/>
        </p:spPr>
        <p:txBody>
          <a:bodyPr wrap="square" lIns="0" tIns="0" rIns="0" bIns="0" rtlCol="0" anchor="t"/>
          <a:lstStyle/>
          <a:p>
            <a:r>
              <a:rPr lang="en-US" sz="1388" b="1">
                <a:latin typeface="Open Sans" panose="020B0606030504020204" pitchFamily="34" charset="0"/>
                <a:ea typeface="Open Sans" panose="020B0606030504020204" pitchFamily="34" charset="0"/>
                <a:cs typeface="Open Sans" panose="020B0606030504020204" pitchFamily="34" charset="0"/>
              </a:rPr>
              <a:t>Before committing a PoC for a production handoff, which critical issues must be fixed first? Select all.</a:t>
            </a:r>
          </a:p>
        </p:txBody>
      </p:sp>
      <p:sp>
        <p:nvSpPr>
          <p:cNvPr id="16" name="Shape 14"/>
          <p:cNvSpPr/>
          <p:nvPr/>
        </p:nvSpPr>
        <p:spPr>
          <a:xfrm>
            <a:off x="342900" y="2261426"/>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5"/>
          <p:cNvSpPr/>
          <p:nvPr/>
        </p:nvSpPr>
        <p:spPr>
          <a:xfrm>
            <a:off x="493776" y="2323148"/>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8" name="Text 16"/>
          <p:cNvSpPr/>
          <p:nvPr/>
        </p:nvSpPr>
        <p:spPr>
          <a:xfrm>
            <a:off x="493776" y="2323148"/>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809244" y="2261426"/>
            <a:ext cx="7886700" cy="329184"/>
          </a:xfrm>
          <a:prstGeom prst="rect">
            <a:avLst/>
          </a:prstGeom>
          <a:noFill/>
          <a:ln/>
        </p:spPr>
        <p:txBody>
          <a:bodyPr wrap="square" lIns="0" tIns="0" rIns="0" bIns="0" rtlCol="0" anchor="ctr"/>
          <a:lstStyle/>
          <a:p>
            <a:r>
              <a:rPr lang="en-US" sz="105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050">
                <a:solidFill>
                  <a:schemeClr val="tx2"/>
                </a:solidFill>
                <a:latin typeface="Open Sans" pitchFamily="2" charset="0"/>
                <a:ea typeface="Open Sans" pitchFamily="2" charset="0"/>
                <a:cs typeface="Open Sans" pitchFamily="2" charset="0"/>
              </a:rPr>
              <a:t>A loop variable named x</a:t>
            </a:r>
          </a:p>
        </p:txBody>
      </p:sp>
      <p:sp>
        <p:nvSpPr>
          <p:cNvPr id="20" name="Shape 18"/>
          <p:cNvSpPr/>
          <p:nvPr/>
        </p:nvSpPr>
        <p:spPr>
          <a:xfrm>
            <a:off x="342900" y="2739200"/>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21" name="Shape 19"/>
          <p:cNvSpPr/>
          <p:nvPr/>
        </p:nvSpPr>
        <p:spPr>
          <a:xfrm>
            <a:off x="493776" y="2800922"/>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22" name="Text 20"/>
          <p:cNvSpPr/>
          <p:nvPr/>
        </p:nvSpPr>
        <p:spPr>
          <a:xfrm>
            <a:off x="493776" y="2800922"/>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809244" y="2739200"/>
            <a:ext cx="7886700" cy="329184"/>
          </a:xfrm>
          <a:prstGeom prst="rect">
            <a:avLst/>
          </a:prstGeom>
          <a:noFill/>
          <a:ln/>
        </p:spPr>
        <p:txBody>
          <a:bodyPr wrap="square" lIns="0" tIns="0" rIns="0" bIns="0" rtlCol="0" anchor="ctr"/>
          <a:lstStyle/>
          <a:p>
            <a:r>
              <a:rPr lang="en-US" sz="105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050">
                <a:solidFill>
                  <a:schemeClr val="tx2"/>
                </a:solidFill>
                <a:latin typeface="Open Sans" pitchFamily="2" charset="0"/>
                <a:ea typeface="Open Sans" pitchFamily="2" charset="0"/>
                <a:cs typeface="Open Sans" pitchFamily="2" charset="0"/>
              </a:rPr>
              <a:t>A missing module docstring</a:t>
            </a:r>
          </a:p>
        </p:txBody>
      </p:sp>
      <p:sp>
        <p:nvSpPr>
          <p:cNvPr id="2" name="Shape 14">
            <a:extLst>
              <a:ext uri="{FF2B5EF4-FFF2-40B4-BE49-F238E27FC236}">
                <a16:creationId xmlns:a16="http://schemas.microsoft.com/office/drawing/2014/main" id="{31B3275A-5B1D-FB56-CFE5-E57041B08AAE}"/>
              </a:ext>
            </a:extLst>
          </p:cNvPr>
          <p:cNvSpPr/>
          <p:nvPr/>
        </p:nvSpPr>
        <p:spPr>
          <a:xfrm>
            <a:off x="342900" y="1305878"/>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3" name="Shape 15">
            <a:extLst>
              <a:ext uri="{FF2B5EF4-FFF2-40B4-BE49-F238E27FC236}">
                <a16:creationId xmlns:a16="http://schemas.microsoft.com/office/drawing/2014/main" id="{D9F8BC9B-300A-3D4F-16C9-DA575E6F7E2F}"/>
              </a:ext>
            </a:extLst>
          </p:cNvPr>
          <p:cNvSpPr/>
          <p:nvPr/>
        </p:nvSpPr>
        <p:spPr>
          <a:xfrm>
            <a:off x="493776" y="1367600"/>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4" name="Text 16">
            <a:extLst>
              <a:ext uri="{FF2B5EF4-FFF2-40B4-BE49-F238E27FC236}">
                <a16:creationId xmlns:a16="http://schemas.microsoft.com/office/drawing/2014/main" id="{0242F914-C9F7-CA1E-A279-BAF4400C1BDB}"/>
              </a:ext>
            </a:extLst>
          </p:cNvPr>
          <p:cNvSpPr/>
          <p:nvPr/>
        </p:nvSpPr>
        <p:spPr>
          <a:xfrm>
            <a:off x="493776" y="1367600"/>
            <a:ext cx="205740" cy="205740"/>
          </a:xfrm>
          <a:prstGeom prst="rect">
            <a:avLst/>
          </a:prstGeom>
          <a:noFill/>
          <a:ln/>
        </p:spPr>
        <p:txBody>
          <a:bodyPr wrap="square" lIns="0" tIns="0" rIns="0" bIns="0" rtlCol="0" anchor="ctr"/>
          <a:lstStyle/>
          <a:p>
            <a:pPr algn="ctr"/>
            <a:r>
              <a:rPr lang="en-US" sz="975" b="1" dirty="0">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975" b="1"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17">
            <a:extLst>
              <a:ext uri="{FF2B5EF4-FFF2-40B4-BE49-F238E27FC236}">
                <a16:creationId xmlns:a16="http://schemas.microsoft.com/office/drawing/2014/main" id="{3926E739-D1E9-F820-CCD5-57909602E3C9}"/>
              </a:ext>
            </a:extLst>
          </p:cNvPr>
          <p:cNvSpPr/>
          <p:nvPr/>
        </p:nvSpPr>
        <p:spPr>
          <a:xfrm>
            <a:off x="809244" y="1305878"/>
            <a:ext cx="7886700" cy="329184"/>
          </a:xfrm>
          <a:prstGeom prst="rect">
            <a:avLst/>
          </a:prstGeom>
          <a:noFill/>
          <a:ln/>
        </p:spPr>
        <p:txBody>
          <a:bodyPr wrap="square" lIns="0" tIns="0" rIns="0" bIns="0" rtlCol="0" anchor="ctr"/>
          <a:lstStyle/>
          <a:p>
            <a:r>
              <a:rPr lang="en-US" sz="1050" b="1" dirty="0">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050" dirty="0">
                <a:solidFill>
                  <a:schemeClr val="tx2"/>
                </a:solidFill>
                <a:latin typeface="Open Sans" panose="020B0606030504020204" pitchFamily="34" charset="0"/>
                <a:ea typeface="Open Sans" panose="020B0606030504020204" pitchFamily="34" charset="0"/>
                <a:cs typeface="Open Sans" panose="020B0606030504020204" pitchFamily="34" charset="0"/>
              </a:rPr>
              <a:t>A hardcoded API key on line 14</a:t>
            </a:r>
          </a:p>
        </p:txBody>
      </p:sp>
      <p:sp>
        <p:nvSpPr>
          <p:cNvPr id="6" name="Shape 18">
            <a:extLst>
              <a:ext uri="{FF2B5EF4-FFF2-40B4-BE49-F238E27FC236}">
                <a16:creationId xmlns:a16="http://schemas.microsoft.com/office/drawing/2014/main" id="{47B6A9B0-8216-7419-5DFE-5D6AADBA3B49}"/>
              </a:ext>
            </a:extLst>
          </p:cNvPr>
          <p:cNvSpPr/>
          <p:nvPr/>
        </p:nvSpPr>
        <p:spPr>
          <a:xfrm>
            <a:off x="342900" y="1783652"/>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29" name="Shape 19">
            <a:extLst>
              <a:ext uri="{FF2B5EF4-FFF2-40B4-BE49-F238E27FC236}">
                <a16:creationId xmlns:a16="http://schemas.microsoft.com/office/drawing/2014/main" id="{4DEAC482-0B31-C49A-F195-E9B880F07C7B}"/>
              </a:ext>
            </a:extLst>
          </p:cNvPr>
          <p:cNvSpPr/>
          <p:nvPr/>
        </p:nvSpPr>
        <p:spPr>
          <a:xfrm>
            <a:off x="493776" y="1845374"/>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30" name="Text 20">
            <a:extLst>
              <a:ext uri="{FF2B5EF4-FFF2-40B4-BE49-F238E27FC236}">
                <a16:creationId xmlns:a16="http://schemas.microsoft.com/office/drawing/2014/main" id="{17BCCE0D-D692-6C9D-AAB2-4312A97968A7}"/>
              </a:ext>
            </a:extLst>
          </p:cNvPr>
          <p:cNvSpPr/>
          <p:nvPr/>
        </p:nvSpPr>
        <p:spPr>
          <a:xfrm>
            <a:off x="493776" y="1845374"/>
            <a:ext cx="205740" cy="205740"/>
          </a:xfrm>
          <a:prstGeom prst="rect">
            <a:avLst/>
          </a:prstGeom>
          <a:noFill/>
          <a:ln/>
        </p:spPr>
        <p:txBody>
          <a:bodyPr wrap="square" lIns="0" tIns="0" rIns="0" bIns="0" rtlCol="0" anchor="ctr"/>
          <a:lstStyle/>
          <a:p>
            <a:pPr algn="ctr"/>
            <a:r>
              <a:rPr lang="en-US" sz="975" b="1" dirty="0">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975" b="1" dirty="0">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1">
            <a:extLst>
              <a:ext uri="{FF2B5EF4-FFF2-40B4-BE49-F238E27FC236}">
                <a16:creationId xmlns:a16="http://schemas.microsoft.com/office/drawing/2014/main" id="{F8E0C3C7-6312-DF3E-4767-72EE1DAFCF6B}"/>
              </a:ext>
            </a:extLst>
          </p:cNvPr>
          <p:cNvSpPr/>
          <p:nvPr/>
        </p:nvSpPr>
        <p:spPr>
          <a:xfrm>
            <a:off x="809244" y="1783652"/>
            <a:ext cx="7886700" cy="329184"/>
          </a:xfrm>
          <a:prstGeom prst="rect">
            <a:avLst/>
          </a:prstGeom>
          <a:noFill/>
          <a:ln/>
        </p:spPr>
        <p:txBody>
          <a:bodyPr wrap="square" lIns="0" tIns="0" rIns="0" bIns="0" rtlCol="0" anchor="ctr"/>
          <a:lstStyle/>
          <a:p>
            <a:r>
              <a:rPr lang="en-US" sz="1050" b="1" dirty="0">
                <a:solidFill>
                  <a:schemeClr val="tx2"/>
                </a:solidFill>
                <a:latin typeface="Open Sans" panose="020B0606030504020204" pitchFamily="34" charset="0"/>
                <a:ea typeface="Open Sans" panose="020B0606030504020204" pitchFamily="34" charset="0"/>
                <a:cs typeface="Open Sans" panose="020B0606030504020204" pitchFamily="34" charset="0"/>
              </a:rPr>
              <a:t>B.  </a:t>
            </a:r>
            <a:r>
              <a:rPr lang="en-US" sz="1050" dirty="0">
                <a:solidFill>
                  <a:schemeClr val="tx2"/>
                </a:solidFill>
                <a:latin typeface="Open Sans" panose="020B0606030504020204" pitchFamily="34" charset="0"/>
                <a:ea typeface="Open Sans" panose="020B0606030504020204" pitchFamily="34" charset="0"/>
                <a:cs typeface="Open Sans" panose="020B0606030504020204" pitchFamily="34" charset="0"/>
              </a:rPr>
              <a:t>No retry logic on an external API call</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EC092-6CD9-435E-AFB8-B4133680BA59}"/>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4888E209-B354-64BB-EFDF-E8247DD2D1D6}"/>
              </a:ext>
            </a:extLst>
          </p:cNvPr>
          <p:cNvSpPr/>
          <p:nvPr/>
        </p:nvSpPr>
        <p:spPr>
          <a:xfrm>
            <a:off x="342900" y="727200"/>
            <a:ext cx="8455914" cy="255460"/>
          </a:xfrm>
          <a:prstGeom prst="rect">
            <a:avLst/>
          </a:prstGeom>
          <a:noFill/>
          <a:ln/>
        </p:spPr>
        <p:txBody>
          <a:bodyPr wrap="square" lIns="0" tIns="0" rIns="0" bIns="0" rtlCol="0" anchor="t"/>
          <a:lstStyle/>
          <a:p>
            <a:r>
              <a:rPr lang="en-US" sz="1388" b="1">
                <a:latin typeface="Open Sans" panose="020B0606030504020204" pitchFamily="34" charset="0"/>
                <a:ea typeface="Open Sans" panose="020B0606030504020204" pitchFamily="34" charset="0"/>
                <a:cs typeface="Open Sans" panose="020B0606030504020204" pitchFamily="34" charset="0"/>
              </a:rPr>
              <a:t>Before committing a PoC for a production handoff, which critical issues must be fixed first? Select all.</a:t>
            </a:r>
          </a:p>
        </p:txBody>
      </p:sp>
      <p:grpSp>
        <p:nvGrpSpPr>
          <p:cNvPr id="49" name="Group 48">
            <a:extLst>
              <a:ext uri="{FF2B5EF4-FFF2-40B4-BE49-F238E27FC236}">
                <a16:creationId xmlns:a16="http://schemas.microsoft.com/office/drawing/2014/main" id="{6984395D-9EAD-CC12-1069-CDA107BD351A}"/>
              </a:ext>
            </a:extLst>
          </p:cNvPr>
          <p:cNvGrpSpPr/>
          <p:nvPr/>
        </p:nvGrpSpPr>
        <p:grpSpPr>
          <a:xfrm>
            <a:off x="342900" y="1305878"/>
            <a:ext cx="8455914" cy="329184"/>
            <a:chOff x="342900" y="1305878"/>
            <a:chExt cx="8455914" cy="329184"/>
          </a:xfrm>
        </p:grpSpPr>
        <p:sp>
          <p:nvSpPr>
            <p:cNvPr id="8" name="Shape 6">
              <a:extLst>
                <a:ext uri="{FF2B5EF4-FFF2-40B4-BE49-F238E27FC236}">
                  <a16:creationId xmlns:a16="http://schemas.microsoft.com/office/drawing/2014/main" id="{AE2B49B7-655A-641C-9394-50DBBA36554C}"/>
                </a:ext>
              </a:extLst>
            </p:cNvPr>
            <p:cNvSpPr/>
            <p:nvPr/>
          </p:nvSpPr>
          <p:spPr>
            <a:xfrm>
              <a:off x="342900" y="1305878"/>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9" name="Shape 7">
              <a:extLst>
                <a:ext uri="{FF2B5EF4-FFF2-40B4-BE49-F238E27FC236}">
                  <a16:creationId xmlns:a16="http://schemas.microsoft.com/office/drawing/2014/main" id="{0BA1625A-D1A8-D11B-DC0C-04F3EBF3384C}"/>
                </a:ext>
              </a:extLst>
            </p:cNvPr>
            <p:cNvSpPr/>
            <p:nvPr/>
          </p:nvSpPr>
          <p:spPr>
            <a:xfrm>
              <a:off x="493776" y="1367600"/>
              <a:ext cx="205740" cy="205740"/>
            </a:xfrm>
            <a:prstGeom prst="ellipse">
              <a:avLst/>
            </a:prstGeom>
            <a:solidFill>
              <a:srgbClr val="00B050"/>
            </a:solidFill>
            <a:ln/>
          </p:spPr>
          <p:txBody>
            <a:bodyPr/>
            <a:lstStyle/>
            <a:p>
              <a:endParaRPr lang="en-US" sz="1350">
                <a:latin typeface="Open Sans" pitchFamily="2" charset="0"/>
                <a:ea typeface="Open Sans" pitchFamily="2" charset="0"/>
                <a:cs typeface="Open Sans" pitchFamily="2" charset="0"/>
              </a:endParaRPr>
            </a:p>
          </p:txBody>
        </p:sp>
        <p:sp>
          <p:nvSpPr>
            <p:cNvPr id="10" name="Text 8">
              <a:extLst>
                <a:ext uri="{FF2B5EF4-FFF2-40B4-BE49-F238E27FC236}">
                  <a16:creationId xmlns:a16="http://schemas.microsoft.com/office/drawing/2014/main" id="{415B8511-9889-A4DC-FF94-9FDA300888F9}"/>
                </a:ext>
              </a:extLst>
            </p:cNvPr>
            <p:cNvSpPr/>
            <p:nvPr/>
          </p:nvSpPr>
          <p:spPr>
            <a:xfrm>
              <a:off x="493776" y="1367600"/>
              <a:ext cx="205740" cy="205740"/>
            </a:xfrm>
            <a:prstGeom prst="rect">
              <a:avLst/>
            </a:prstGeom>
            <a:noFill/>
            <a:ln/>
          </p:spPr>
          <p:txBody>
            <a:bodyPr wrap="square" lIns="0" tIns="0" rIns="0" bIns="0" rtlCol="0" anchor="ctr"/>
            <a:lstStyle/>
            <a:p>
              <a:pPr algn="ctr"/>
              <a:r>
                <a:rPr lang="en-US" sz="975" b="1">
                  <a:solidFill>
                    <a:srgbClr val="FFFFFF"/>
                  </a:solidFill>
                  <a:latin typeface="Open Sans Extrabold" pitchFamily="2" charset="0"/>
                  <a:ea typeface="Open Sans Extrabold" pitchFamily="2" charset="0"/>
                  <a:cs typeface="Open Sans Extrabold" pitchFamily="2" charset="0"/>
                </a:rPr>
                <a:t>✓</a:t>
              </a:r>
              <a:endParaRPr lang="en-US" sz="975">
                <a:latin typeface="Open Sans" pitchFamily="2" charset="0"/>
                <a:ea typeface="Open Sans" pitchFamily="2" charset="0"/>
                <a:cs typeface="Open Sans" pitchFamily="2" charset="0"/>
              </a:endParaRPr>
            </a:p>
          </p:txBody>
        </p:sp>
        <p:sp>
          <p:nvSpPr>
            <p:cNvPr id="11" name="Text 9">
              <a:extLst>
                <a:ext uri="{FF2B5EF4-FFF2-40B4-BE49-F238E27FC236}">
                  <a16:creationId xmlns:a16="http://schemas.microsoft.com/office/drawing/2014/main" id="{1059B8B4-34BD-4C42-CEC1-70B272EB1F13}"/>
                </a:ext>
              </a:extLst>
            </p:cNvPr>
            <p:cNvSpPr/>
            <p:nvPr/>
          </p:nvSpPr>
          <p:spPr>
            <a:xfrm>
              <a:off x="809244" y="1305878"/>
              <a:ext cx="7886700" cy="329184"/>
            </a:xfrm>
            <a:prstGeom prst="rect">
              <a:avLst/>
            </a:prstGeom>
            <a:noFill/>
            <a:ln/>
          </p:spPr>
          <p:txBody>
            <a:bodyPr wrap="square" lIns="0" tIns="0" rIns="0" bIns="0" rtlCol="0" anchor="ctr"/>
            <a:lstStyle/>
            <a:p>
              <a:r>
                <a:rPr lang="en-US" sz="1050" b="1" dirty="0">
                  <a:solidFill>
                    <a:srgbClr val="00B050"/>
                  </a:solidFill>
                  <a:latin typeface="Open Sans" panose="020B0606030504020204" pitchFamily="34" charset="0"/>
                  <a:ea typeface="Open Sans" panose="020B0606030504020204" pitchFamily="34" charset="0"/>
                  <a:cs typeface="Open Sans" panose="020B0606030504020204" pitchFamily="34" charset="0"/>
                </a:rPr>
                <a:t>A.  </a:t>
              </a:r>
              <a:r>
                <a:rPr lang="en-US" sz="1050" b="1" dirty="0">
                  <a:solidFill>
                    <a:srgbClr val="27303F"/>
                  </a:solidFill>
                  <a:latin typeface="Open Sans" panose="020B0606030504020204" pitchFamily="34" charset="0"/>
                  <a:ea typeface="Open Sans" panose="020B0606030504020204" pitchFamily="34" charset="0"/>
                  <a:cs typeface="Open Sans" panose="020B0606030504020204" pitchFamily="34" charset="0"/>
                </a:rPr>
                <a:t>A hardcoded API key on line 14</a:t>
              </a:r>
              <a:endParaRPr lang="en-US" sz="1050" b="1" dirty="0">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50" name="Group 49">
            <a:extLst>
              <a:ext uri="{FF2B5EF4-FFF2-40B4-BE49-F238E27FC236}">
                <a16:creationId xmlns:a16="http://schemas.microsoft.com/office/drawing/2014/main" id="{CA38E70D-1EDD-2990-DE71-9C3D9BEAB8A2}"/>
              </a:ext>
            </a:extLst>
          </p:cNvPr>
          <p:cNvGrpSpPr/>
          <p:nvPr/>
        </p:nvGrpSpPr>
        <p:grpSpPr>
          <a:xfrm>
            <a:off x="342900" y="1783652"/>
            <a:ext cx="8455914" cy="329184"/>
            <a:chOff x="342900" y="1916240"/>
            <a:chExt cx="8455914" cy="329184"/>
          </a:xfrm>
        </p:grpSpPr>
        <p:sp>
          <p:nvSpPr>
            <p:cNvPr id="12" name="Shape 10">
              <a:extLst>
                <a:ext uri="{FF2B5EF4-FFF2-40B4-BE49-F238E27FC236}">
                  <a16:creationId xmlns:a16="http://schemas.microsoft.com/office/drawing/2014/main" id="{D5A2D4BE-8AF4-C5A6-2324-712106B920F4}"/>
                </a:ext>
              </a:extLst>
            </p:cNvPr>
            <p:cNvSpPr/>
            <p:nvPr/>
          </p:nvSpPr>
          <p:spPr>
            <a:xfrm>
              <a:off x="342900" y="1916240"/>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13" name="Shape 11">
              <a:extLst>
                <a:ext uri="{FF2B5EF4-FFF2-40B4-BE49-F238E27FC236}">
                  <a16:creationId xmlns:a16="http://schemas.microsoft.com/office/drawing/2014/main" id="{3B83F7D5-8ED7-D38D-084F-26A0894AF925}"/>
                </a:ext>
              </a:extLst>
            </p:cNvPr>
            <p:cNvSpPr/>
            <p:nvPr/>
          </p:nvSpPr>
          <p:spPr>
            <a:xfrm>
              <a:off x="493776" y="1977962"/>
              <a:ext cx="205740" cy="205740"/>
            </a:xfrm>
            <a:prstGeom prst="ellipse">
              <a:avLst/>
            </a:prstGeom>
            <a:solidFill>
              <a:srgbClr val="00B050"/>
            </a:solidFill>
            <a:ln/>
          </p:spPr>
          <p:txBody>
            <a:bodyPr/>
            <a:lstStyle/>
            <a:p>
              <a:endParaRPr lang="en-US" sz="1350">
                <a:latin typeface="Open Sans" pitchFamily="2" charset="0"/>
                <a:ea typeface="Open Sans" pitchFamily="2" charset="0"/>
                <a:cs typeface="Open Sans" pitchFamily="2" charset="0"/>
              </a:endParaRPr>
            </a:p>
          </p:txBody>
        </p:sp>
        <p:sp>
          <p:nvSpPr>
            <p:cNvPr id="14" name="Text 12">
              <a:extLst>
                <a:ext uri="{FF2B5EF4-FFF2-40B4-BE49-F238E27FC236}">
                  <a16:creationId xmlns:a16="http://schemas.microsoft.com/office/drawing/2014/main" id="{D3962961-2DF1-03C9-FF7D-E46BBD54F82B}"/>
                </a:ext>
              </a:extLst>
            </p:cNvPr>
            <p:cNvSpPr/>
            <p:nvPr/>
          </p:nvSpPr>
          <p:spPr>
            <a:xfrm>
              <a:off x="493776" y="1977962"/>
              <a:ext cx="205740" cy="205740"/>
            </a:xfrm>
            <a:prstGeom prst="rect">
              <a:avLst/>
            </a:prstGeom>
            <a:noFill/>
            <a:ln/>
          </p:spPr>
          <p:txBody>
            <a:bodyPr wrap="square" lIns="0" tIns="0" rIns="0" bIns="0" rtlCol="0" anchor="ctr"/>
            <a:lstStyle/>
            <a:p>
              <a:pPr algn="ctr"/>
              <a:r>
                <a:rPr lang="en-US" sz="975" b="1">
                  <a:solidFill>
                    <a:srgbClr val="FFFFFF"/>
                  </a:solidFill>
                  <a:latin typeface="Open Sans Extrabold" pitchFamily="2" charset="0"/>
                  <a:ea typeface="Open Sans Extrabold" pitchFamily="2" charset="0"/>
                  <a:cs typeface="Open Sans Extrabold" pitchFamily="2" charset="0"/>
                </a:rPr>
                <a:t>✓</a:t>
              </a:r>
              <a:endParaRPr lang="en-US" sz="975">
                <a:latin typeface="Open Sans" pitchFamily="2" charset="0"/>
                <a:ea typeface="Open Sans" pitchFamily="2" charset="0"/>
                <a:cs typeface="Open Sans" pitchFamily="2" charset="0"/>
              </a:endParaRPr>
            </a:p>
          </p:txBody>
        </p:sp>
        <p:sp>
          <p:nvSpPr>
            <p:cNvPr id="15" name="Text 13">
              <a:extLst>
                <a:ext uri="{FF2B5EF4-FFF2-40B4-BE49-F238E27FC236}">
                  <a16:creationId xmlns:a16="http://schemas.microsoft.com/office/drawing/2014/main" id="{E2F1F287-D8F9-820D-7310-5AFFA00BFFCB}"/>
                </a:ext>
              </a:extLst>
            </p:cNvPr>
            <p:cNvSpPr/>
            <p:nvPr/>
          </p:nvSpPr>
          <p:spPr>
            <a:xfrm>
              <a:off x="809244" y="1916240"/>
              <a:ext cx="7886700" cy="329184"/>
            </a:xfrm>
            <a:prstGeom prst="rect">
              <a:avLst/>
            </a:prstGeom>
            <a:noFill/>
            <a:ln/>
          </p:spPr>
          <p:txBody>
            <a:bodyPr wrap="square" lIns="0" tIns="0" rIns="0" bIns="0" rtlCol="0" anchor="ctr"/>
            <a:lstStyle/>
            <a:p>
              <a:r>
                <a:rPr lang="en-US" sz="105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a:t>
              </a:r>
              <a:r>
                <a:rPr lang="en-US" sz="1050" b="1" dirty="0">
                  <a:solidFill>
                    <a:srgbClr val="27303F"/>
                  </a:solidFill>
                  <a:latin typeface="Open Sans" panose="020B0606030504020204" pitchFamily="34" charset="0"/>
                  <a:ea typeface="Open Sans" panose="020B0606030504020204" pitchFamily="34" charset="0"/>
                  <a:cs typeface="Open Sans" panose="020B0606030504020204" pitchFamily="34" charset="0"/>
                </a:rPr>
                <a:t>No retry logic on an external API call</a:t>
              </a:r>
              <a:endParaRPr lang="en-US" sz="1050" b="1" dirty="0">
                <a:latin typeface="Open Sans" panose="020B0606030504020204" pitchFamily="34" charset="0"/>
                <a:ea typeface="Open Sans" panose="020B0606030504020204" pitchFamily="34" charset="0"/>
                <a:cs typeface="Open Sans" panose="020B0606030504020204" pitchFamily="34" charset="0"/>
              </a:endParaRPr>
            </a:p>
          </p:txBody>
        </p:sp>
      </p:grpSp>
      <p:sp>
        <p:nvSpPr>
          <p:cNvPr id="16" name="Shape 14">
            <a:extLst>
              <a:ext uri="{FF2B5EF4-FFF2-40B4-BE49-F238E27FC236}">
                <a16:creationId xmlns:a16="http://schemas.microsoft.com/office/drawing/2014/main" id="{0518C551-9D36-EB67-69A0-30CD5056B5A3}"/>
              </a:ext>
            </a:extLst>
          </p:cNvPr>
          <p:cNvSpPr/>
          <p:nvPr/>
        </p:nvSpPr>
        <p:spPr>
          <a:xfrm>
            <a:off x="342900" y="2261426"/>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5">
            <a:extLst>
              <a:ext uri="{FF2B5EF4-FFF2-40B4-BE49-F238E27FC236}">
                <a16:creationId xmlns:a16="http://schemas.microsoft.com/office/drawing/2014/main" id="{757C59A4-526C-CB43-D130-42726FE84B6B}"/>
              </a:ext>
            </a:extLst>
          </p:cNvPr>
          <p:cNvSpPr/>
          <p:nvPr/>
        </p:nvSpPr>
        <p:spPr>
          <a:xfrm>
            <a:off x="493776" y="2323148"/>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18" name="Text 16">
            <a:extLst>
              <a:ext uri="{FF2B5EF4-FFF2-40B4-BE49-F238E27FC236}">
                <a16:creationId xmlns:a16="http://schemas.microsoft.com/office/drawing/2014/main" id="{B84CC356-86DF-AB75-F012-5D8E0ADFEA6A}"/>
              </a:ext>
            </a:extLst>
          </p:cNvPr>
          <p:cNvSpPr/>
          <p:nvPr/>
        </p:nvSpPr>
        <p:spPr>
          <a:xfrm>
            <a:off x="493776" y="2323148"/>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6D1591B3-1AA9-4043-30EF-782A11FC45DD}"/>
              </a:ext>
            </a:extLst>
          </p:cNvPr>
          <p:cNvSpPr/>
          <p:nvPr/>
        </p:nvSpPr>
        <p:spPr>
          <a:xfrm>
            <a:off x="809244" y="2261426"/>
            <a:ext cx="7886700" cy="329184"/>
          </a:xfrm>
          <a:prstGeom prst="rect">
            <a:avLst/>
          </a:prstGeom>
          <a:noFill/>
          <a:ln/>
        </p:spPr>
        <p:txBody>
          <a:bodyPr wrap="square" lIns="0" tIns="0" rIns="0" bIns="0" rtlCol="0" anchor="ctr"/>
          <a:lstStyle/>
          <a:p>
            <a:r>
              <a:rPr lang="en-US" sz="105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050">
                <a:solidFill>
                  <a:schemeClr val="tx2"/>
                </a:solidFill>
                <a:latin typeface="Open Sans" pitchFamily="2" charset="0"/>
                <a:ea typeface="Open Sans" pitchFamily="2" charset="0"/>
                <a:cs typeface="Open Sans" pitchFamily="2" charset="0"/>
              </a:rPr>
              <a:t>A loop variable named x</a:t>
            </a:r>
          </a:p>
        </p:txBody>
      </p:sp>
      <p:sp>
        <p:nvSpPr>
          <p:cNvPr id="20" name="Shape 18">
            <a:extLst>
              <a:ext uri="{FF2B5EF4-FFF2-40B4-BE49-F238E27FC236}">
                <a16:creationId xmlns:a16="http://schemas.microsoft.com/office/drawing/2014/main" id="{AC67E6CA-1EDF-C97B-6865-5924DFCFDE42}"/>
              </a:ext>
            </a:extLst>
          </p:cNvPr>
          <p:cNvSpPr/>
          <p:nvPr/>
        </p:nvSpPr>
        <p:spPr>
          <a:xfrm>
            <a:off x="342900" y="2739200"/>
            <a:ext cx="8455914" cy="329184"/>
          </a:xfrm>
          <a:prstGeom prst="roundRect">
            <a:avLst>
              <a:gd name="adj" fmla="val 12500"/>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21" name="Shape 19">
            <a:extLst>
              <a:ext uri="{FF2B5EF4-FFF2-40B4-BE49-F238E27FC236}">
                <a16:creationId xmlns:a16="http://schemas.microsoft.com/office/drawing/2014/main" id="{449D0E8D-EAD8-5185-C29C-008426D067CD}"/>
              </a:ext>
            </a:extLst>
          </p:cNvPr>
          <p:cNvSpPr/>
          <p:nvPr/>
        </p:nvSpPr>
        <p:spPr>
          <a:xfrm>
            <a:off x="493776" y="2800922"/>
            <a:ext cx="205740" cy="205740"/>
          </a:xfrm>
          <a:prstGeom prst="ellipse">
            <a:avLst/>
          </a:prstGeom>
          <a:solidFill>
            <a:srgbClr val="C4CBD6"/>
          </a:solidFill>
          <a:ln/>
        </p:spPr>
        <p:txBody>
          <a:bodyPr/>
          <a:lstStyle/>
          <a:p>
            <a:endParaRPr lang="en-US" sz="1350">
              <a:latin typeface="Open Sans" pitchFamily="2" charset="0"/>
              <a:ea typeface="Open Sans" pitchFamily="2" charset="0"/>
              <a:cs typeface="Open Sans" pitchFamily="2" charset="0"/>
            </a:endParaRPr>
          </a:p>
        </p:txBody>
      </p:sp>
      <p:sp>
        <p:nvSpPr>
          <p:cNvPr id="22" name="Text 20">
            <a:extLst>
              <a:ext uri="{FF2B5EF4-FFF2-40B4-BE49-F238E27FC236}">
                <a16:creationId xmlns:a16="http://schemas.microsoft.com/office/drawing/2014/main" id="{24FE546F-26B5-0FD4-CE26-2883DC98B0A8}"/>
              </a:ext>
            </a:extLst>
          </p:cNvPr>
          <p:cNvSpPr/>
          <p:nvPr/>
        </p:nvSpPr>
        <p:spPr>
          <a:xfrm>
            <a:off x="493776" y="2800922"/>
            <a:ext cx="205740" cy="205740"/>
          </a:xfrm>
          <a:prstGeom prst="rect">
            <a:avLst/>
          </a:prstGeom>
          <a:noFill/>
          <a:ln/>
        </p:spPr>
        <p:txBody>
          <a:bodyPr wrap="square" lIns="0" tIns="0" rIns="0" bIns="0" rtlCol="0" anchor="ctr"/>
          <a:lstStyle/>
          <a:p>
            <a:pPr algn="ctr"/>
            <a:r>
              <a:rPr lang="en-US" sz="975"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975" b="1">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a:extLst>
              <a:ext uri="{FF2B5EF4-FFF2-40B4-BE49-F238E27FC236}">
                <a16:creationId xmlns:a16="http://schemas.microsoft.com/office/drawing/2014/main" id="{91A194FC-EB3A-F046-BCD3-B9D226DBDFA8}"/>
              </a:ext>
            </a:extLst>
          </p:cNvPr>
          <p:cNvSpPr/>
          <p:nvPr/>
        </p:nvSpPr>
        <p:spPr>
          <a:xfrm>
            <a:off x="809244" y="2739200"/>
            <a:ext cx="7886700" cy="329184"/>
          </a:xfrm>
          <a:prstGeom prst="rect">
            <a:avLst/>
          </a:prstGeom>
          <a:noFill/>
          <a:ln/>
        </p:spPr>
        <p:txBody>
          <a:bodyPr wrap="square" lIns="0" tIns="0" rIns="0" bIns="0" rtlCol="0" anchor="ctr"/>
          <a:lstStyle/>
          <a:p>
            <a:r>
              <a:rPr lang="en-US" sz="105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050">
                <a:solidFill>
                  <a:schemeClr val="tx2"/>
                </a:solidFill>
                <a:latin typeface="Open Sans" pitchFamily="2" charset="0"/>
                <a:ea typeface="Open Sans" pitchFamily="2" charset="0"/>
                <a:cs typeface="Open Sans" pitchFamily="2" charset="0"/>
              </a:rPr>
              <a:t>A missing module docstring</a:t>
            </a:r>
          </a:p>
        </p:txBody>
      </p:sp>
      <p:sp>
        <p:nvSpPr>
          <p:cNvPr id="24" name="Shape 22">
            <a:extLst>
              <a:ext uri="{FF2B5EF4-FFF2-40B4-BE49-F238E27FC236}">
                <a16:creationId xmlns:a16="http://schemas.microsoft.com/office/drawing/2014/main" id="{FF70D470-55C3-0DA5-2A81-75B43C808629}"/>
              </a:ext>
            </a:extLst>
          </p:cNvPr>
          <p:cNvSpPr/>
          <p:nvPr/>
        </p:nvSpPr>
        <p:spPr>
          <a:xfrm>
            <a:off x="342900" y="3447288"/>
            <a:ext cx="8455914" cy="868680"/>
          </a:xfrm>
          <a:prstGeom prst="roundRect">
            <a:avLst>
              <a:gd name="adj" fmla="val 5161"/>
            </a:avLst>
          </a:prstGeom>
          <a:solidFill>
            <a:srgbClr val="F5F5F5"/>
          </a:solidFill>
          <a:ln>
            <a:noFill/>
          </a:ln>
          <a:effectLst>
            <a:outerShdw blurRad="76200" dist="38100" dir="5400000" algn="bl" rotWithShape="0">
              <a:srgbClr val="9AA3B0">
                <a:alpha val="32000"/>
              </a:srgbClr>
            </a:outerShdw>
          </a:effectLst>
        </p:spPr>
        <p:txBody>
          <a:bodyPr/>
          <a:lstStyle/>
          <a:p>
            <a:endParaRPr lang="en-US">
              <a:latin typeface="Open Sans" pitchFamily="2" charset="0"/>
              <a:ea typeface="Open Sans" pitchFamily="2" charset="0"/>
              <a:cs typeface="Open Sans" pitchFamily="2" charset="0"/>
            </a:endParaRPr>
          </a:p>
        </p:txBody>
      </p:sp>
      <p:sp>
        <p:nvSpPr>
          <p:cNvPr id="25" name="Text 23">
            <a:extLst>
              <a:ext uri="{FF2B5EF4-FFF2-40B4-BE49-F238E27FC236}">
                <a16:creationId xmlns:a16="http://schemas.microsoft.com/office/drawing/2014/main" id="{4093FB46-0447-5BB5-0CD1-31EA5BCF68F2}"/>
              </a:ext>
            </a:extLst>
          </p:cNvPr>
          <p:cNvSpPr/>
          <p:nvPr/>
        </p:nvSpPr>
        <p:spPr>
          <a:xfrm>
            <a:off x="534924" y="3538728"/>
            <a:ext cx="5486400" cy="205740"/>
          </a:xfrm>
          <a:prstGeom prst="rect">
            <a:avLst/>
          </a:prstGeom>
          <a:noFill/>
          <a:ln/>
        </p:spPr>
        <p:txBody>
          <a:bodyPr wrap="square" lIns="0" tIns="0" rIns="0" bIns="0" rtlCol="0" anchor="ctr"/>
          <a:lstStyle/>
          <a:p>
            <a:r>
              <a:rPr lang="en-US" sz="825" b="1" kern="0" spc="113">
                <a:solidFill>
                  <a:schemeClr val="accent1"/>
                </a:solidFill>
                <a:latin typeface="Open Sans" panose="020B0606030504020204" pitchFamily="34" charset="0"/>
                <a:ea typeface="Open Sans" panose="020B0606030504020204" pitchFamily="34" charset="0"/>
                <a:cs typeface="Open Sans" panose="020B0606030504020204" pitchFamily="34" charset="0"/>
              </a:rPr>
              <a:t>THROUGH THE LENS</a:t>
            </a:r>
            <a:endParaRPr lang="en-US" sz="825"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24">
            <a:extLst>
              <a:ext uri="{FF2B5EF4-FFF2-40B4-BE49-F238E27FC236}">
                <a16:creationId xmlns:a16="http://schemas.microsoft.com/office/drawing/2014/main" id="{DD807515-64CE-C08B-94A6-2A47E2AD19F2}"/>
              </a:ext>
            </a:extLst>
          </p:cNvPr>
          <p:cNvSpPr/>
          <p:nvPr/>
        </p:nvSpPr>
        <p:spPr>
          <a:xfrm>
            <a:off x="534924" y="3785616"/>
            <a:ext cx="795528" cy="274320"/>
          </a:xfrm>
          <a:prstGeom prst="roundRect">
            <a:avLst>
              <a:gd name="adj" fmla="val 15000"/>
            </a:avLst>
          </a:prstGeom>
          <a:solidFill>
            <a:srgbClr val="00B050"/>
          </a:solidFill>
          <a:ln/>
        </p:spPr>
        <p:txBody>
          <a:bodyPr/>
          <a:lstStyle/>
          <a:p>
            <a:endParaRPr lang="en-US" sz="1350" b="1">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a:extLst>
              <a:ext uri="{FF2B5EF4-FFF2-40B4-BE49-F238E27FC236}">
                <a16:creationId xmlns:a16="http://schemas.microsoft.com/office/drawing/2014/main" id="{9A880E77-69C0-536C-5D3D-01D4D41AFCF9}"/>
              </a:ext>
            </a:extLst>
          </p:cNvPr>
          <p:cNvSpPr/>
          <p:nvPr/>
        </p:nvSpPr>
        <p:spPr>
          <a:xfrm>
            <a:off x="534924" y="3785616"/>
            <a:ext cx="795528" cy="274320"/>
          </a:xfrm>
          <a:prstGeom prst="rect">
            <a:avLst/>
          </a:prstGeom>
          <a:noFill/>
          <a:ln/>
        </p:spPr>
        <p:txBody>
          <a:bodyPr wrap="square" lIns="0" tIns="0" rIns="0" bIns="0" rtlCol="0" anchor="ctr"/>
          <a:lstStyle/>
          <a:p>
            <a:pPr algn="ctr"/>
            <a:r>
              <a:rPr lang="en-US" sz="900" b="1">
                <a:solidFill>
                  <a:srgbClr val="FFFFFF"/>
                </a:solidFill>
                <a:latin typeface="Open Sans Extrabold" pitchFamily="2" charset="0"/>
                <a:ea typeface="Open Sans Extrabold" pitchFamily="2" charset="0"/>
                <a:cs typeface="Open Sans Extrabold" pitchFamily="2" charset="0"/>
              </a:rPr>
              <a:t>STARED</a:t>
            </a:r>
            <a:endParaRPr lang="en-US" sz="900">
              <a:latin typeface="Open Sans" pitchFamily="2" charset="0"/>
              <a:ea typeface="Open Sans" pitchFamily="2" charset="0"/>
              <a:cs typeface="Open Sans" pitchFamily="2" charset="0"/>
            </a:endParaRPr>
          </a:p>
        </p:txBody>
      </p:sp>
      <p:sp>
        <p:nvSpPr>
          <p:cNvPr id="28" name="Text 26">
            <a:extLst>
              <a:ext uri="{FF2B5EF4-FFF2-40B4-BE49-F238E27FC236}">
                <a16:creationId xmlns:a16="http://schemas.microsoft.com/office/drawing/2014/main" id="{577B313A-A6D3-0ADE-3353-C5A69F8B738A}"/>
              </a:ext>
            </a:extLst>
          </p:cNvPr>
          <p:cNvSpPr/>
          <p:nvPr/>
        </p:nvSpPr>
        <p:spPr>
          <a:xfrm>
            <a:off x="1501902" y="3758184"/>
            <a:ext cx="5337810" cy="363474"/>
          </a:xfrm>
          <a:prstGeom prst="rect">
            <a:avLst/>
          </a:prstGeom>
          <a:noFill/>
          <a:ln/>
        </p:spPr>
        <p:txBody>
          <a:bodyPr wrap="square" lIns="0" tIns="0" rIns="0" bIns="0" rtlCol="0" anchor="ctr"/>
          <a:lstStyle/>
          <a:p>
            <a:r>
              <a:rPr lang="en-US" sz="1013">
                <a:solidFill>
                  <a:schemeClr val="tx2"/>
                </a:solidFill>
                <a:latin typeface="Open Sans" pitchFamily="2" charset="0"/>
                <a:ea typeface="Open Sans" pitchFamily="2" charset="0"/>
                <a:cs typeface="Open Sans" pitchFamily="2" charset="0"/>
              </a:rPr>
              <a:t>Critical (hardcoded key) and High (no retry) are fix-before-commit. Style items are Low: note them in the README, do not let them block the handoff.</a:t>
            </a:r>
          </a:p>
        </p:txBody>
      </p:sp>
    </p:spTree>
    <p:extLst>
      <p:ext uri="{BB962C8B-B14F-4D97-AF65-F5344CB8AC3E}">
        <p14:creationId xmlns:p14="http://schemas.microsoft.com/office/powerpoint/2010/main" val="12544276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FEF53-F9F7-2149-5A10-EB2AD607C39B}"/>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C5A22C22-D22B-62EC-F272-FCC1B773A7EE}"/>
              </a:ext>
            </a:extLst>
          </p:cNvPr>
          <p:cNvSpPr/>
          <p:nvPr/>
        </p:nvSpPr>
        <p:spPr>
          <a:xfrm>
            <a:off x="342900" y="727200"/>
            <a:ext cx="8455914" cy="411480"/>
          </a:xfrm>
          <a:prstGeom prst="rect">
            <a:avLst/>
          </a:prstGeom>
          <a:noFill/>
          <a:ln/>
        </p:spPr>
        <p:txBody>
          <a:bodyPr wrap="square" lIns="0" tIns="0" rIns="0" bIns="0" rtlCol="0" anchor="t"/>
          <a:lstStyle/>
          <a:p>
            <a:r>
              <a:rPr lang="en-US" sz="1163" b="1" dirty="0">
                <a:solidFill>
                  <a:srgbClr val="1B2A4A"/>
                </a:solidFill>
                <a:latin typeface="Open Sans" panose="020B0606030504020204" pitchFamily="34" charset="0"/>
                <a:ea typeface="Open Sans" panose="020B0606030504020204" pitchFamily="34" charset="0"/>
                <a:cs typeface="Open Sans" panose="020B0606030504020204" pitchFamily="34" charset="0"/>
              </a:rPr>
              <a:t>Closing out a reviewed discharge-tracker PoC into Git. Mark each step Right or Wrong.</a:t>
            </a:r>
            <a:endParaRPr lang="en-US" sz="1163" b="1"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a:extLst>
              <a:ext uri="{FF2B5EF4-FFF2-40B4-BE49-F238E27FC236}">
                <a16:creationId xmlns:a16="http://schemas.microsoft.com/office/drawing/2014/main" id="{0EE24919-C5A8-7822-E0CB-E5EF044B57CA}"/>
              </a:ext>
            </a:extLst>
          </p:cNvPr>
          <p:cNvSpPr/>
          <p:nvPr/>
        </p:nvSpPr>
        <p:spPr>
          <a:xfrm>
            <a:off x="1110996" y="1110996"/>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Generate the commit message with Claude from the diff.</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a:extLst>
              <a:ext uri="{FF2B5EF4-FFF2-40B4-BE49-F238E27FC236}">
                <a16:creationId xmlns:a16="http://schemas.microsoft.com/office/drawing/2014/main" id="{2E926A09-3ACF-A423-04CD-F13B3AD0790C}"/>
              </a:ext>
            </a:extLst>
          </p:cNvPr>
          <p:cNvSpPr/>
          <p:nvPr/>
        </p:nvSpPr>
        <p:spPr>
          <a:xfrm>
            <a:off x="1110996" y="1496023"/>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Create a reviewed/ branch and commit the fixes.</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a:extLst>
              <a:ext uri="{FF2B5EF4-FFF2-40B4-BE49-F238E27FC236}">
                <a16:creationId xmlns:a16="http://schemas.microsoft.com/office/drawing/2014/main" id="{6AFF8FBB-A8D2-01B0-809D-35D383D811E0}"/>
              </a:ext>
            </a:extLst>
          </p:cNvPr>
          <p:cNvSpPr/>
          <p:nvPr/>
        </p:nvSpPr>
        <p:spPr>
          <a:xfrm>
            <a:off x="1110996" y="1881052"/>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Generate the one-page HANDOFF.md with Claude.</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AED9594A-85E4-4281-DD99-1B1F2C8111BD}"/>
              </a:ext>
            </a:extLst>
          </p:cNvPr>
          <p:cNvSpPr/>
          <p:nvPr/>
        </p:nvSpPr>
        <p:spPr>
          <a:xfrm>
            <a:off x="1110996" y="2266079"/>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Ship the handoff doc exactly as Claude wrote it.</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a:extLst>
              <a:ext uri="{FF2B5EF4-FFF2-40B4-BE49-F238E27FC236}">
                <a16:creationId xmlns:a16="http://schemas.microsoft.com/office/drawing/2014/main" id="{04F4E3B5-DA9B-96C8-7EF7-D413602FD1E1}"/>
              </a:ext>
            </a:extLst>
          </p:cNvPr>
          <p:cNvSpPr/>
          <p:nvPr/>
        </p:nvSpPr>
        <p:spPr>
          <a:xfrm>
            <a:off x="1110996" y="2651107"/>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Add the out-of-scope decisions and known limitations yourself.</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FC227A62-9886-1B49-36CA-5FCE19216168}"/>
              </a:ext>
            </a:extLst>
          </p:cNvPr>
          <p:cNvSpPr/>
          <p:nvPr/>
        </p:nvSpPr>
        <p:spPr>
          <a:xfrm>
            <a:off x="1110996" y="3036134"/>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Leave Medium review items out of the docs to look cleaner.</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a:extLst>
              <a:ext uri="{FF2B5EF4-FFF2-40B4-BE49-F238E27FC236}">
                <a16:creationId xmlns:a16="http://schemas.microsoft.com/office/drawing/2014/main" id="{B8D84152-E327-B0AC-A8C1-975197E9C995}"/>
              </a:ext>
            </a:extLst>
          </p:cNvPr>
          <p:cNvSpPr/>
          <p:nvPr/>
        </p:nvSpPr>
        <p:spPr>
          <a:xfrm>
            <a:off x="1110996" y="3421162"/>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Commit HANDOFF.md so the next engineer inherits the context.</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38" name="Text 7">
            <a:extLst>
              <a:ext uri="{FF2B5EF4-FFF2-40B4-BE49-F238E27FC236}">
                <a16:creationId xmlns:a16="http://schemas.microsoft.com/office/drawing/2014/main" id="{05309743-AB6E-C14E-140B-2BBBDE094E11}"/>
              </a:ext>
            </a:extLst>
          </p:cNvPr>
          <p:cNvSpPr/>
          <p:nvPr/>
        </p:nvSpPr>
        <p:spPr>
          <a:xfrm>
            <a:off x="342900" y="1193782"/>
            <a:ext cx="651510" cy="219456"/>
          </a:xfrm>
          <a:prstGeom prst="rect">
            <a:avLst/>
          </a:prstGeom>
          <a:solidFill>
            <a:srgbClr val="00B050"/>
          </a:solidFill>
          <a:ln/>
        </p:spPr>
        <p:txBody>
          <a:bodyPr wrap="square" lIns="0" tIns="0" rIns="0" bIns="0" rtlCol="0" anchor="ctr"/>
          <a:lstStyle/>
          <a:p>
            <a:pPr algn="ctr"/>
            <a:endParaRPr lang="en-US" sz="9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39" name="Text 7">
            <a:extLst>
              <a:ext uri="{FF2B5EF4-FFF2-40B4-BE49-F238E27FC236}">
                <a16:creationId xmlns:a16="http://schemas.microsoft.com/office/drawing/2014/main" id="{586E5775-6A74-3737-157C-44DE634D9C5F}"/>
              </a:ext>
            </a:extLst>
          </p:cNvPr>
          <p:cNvSpPr/>
          <p:nvPr/>
        </p:nvSpPr>
        <p:spPr>
          <a:xfrm>
            <a:off x="342900" y="1578809"/>
            <a:ext cx="651510" cy="219456"/>
          </a:xfrm>
          <a:prstGeom prst="rect">
            <a:avLst/>
          </a:prstGeom>
          <a:solidFill>
            <a:srgbClr val="00B050"/>
          </a:solidFill>
          <a:ln/>
        </p:spPr>
        <p:txBody>
          <a:bodyPr wrap="square" lIns="0" tIns="0" rIns="0" bIns="0" rtlCol="0" anchor="ctr"/>
          <a:lstStyle/>
          <a:p>
            <a:pPr algn="ctr"/>
            <a:endParaRPr lang="en-US" sz="9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7">
            <a:extLst>
              <a:ext uri="{FF2B5EF4-FFF2-40B4-BE49-F238E27FC236}">
                <a16:creationId xmlns:a16="http://schemas.microsoft.com/office/drawing/2014/main" id="{279D2C77-186D-71E6-ED92-83B53D6339F6}"/>
              </a:ext>
            </a:extLst>
          </p:cNvPr>
          <p:cNvSpPr/>
          <p:nvPr/>
        </p:nvSpPr>
        <p:spPr>
          <a:xfrm>
            <a:off x="342900" y="1963838"/>
            <a:ext cx="651510" cy="219456"/>
          </a:xfrm>
          <a:prstGeom prst="rect">
            <a:avLst/>
          </a:prstGeom>
          <a:solidFill>
            <a:srgbClr val="00B050"/>
          </a:solidFill>
          <a:ln/>
        </p:spPr>
        <p:txBody>
          <a:bodyPr wrap="square" lIns="0" tIns="0" rIns="0" bIns="0" rtlCol="0" anchor="ctr"/>
          <a:lstStyle/>
          <a:p>
            <a:pPr algn="ctr"/>
            <a:endParaRPr lang="en-US" sz="9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41" name="Text 7">
            <a:extLst>
              <a:ext uri="{FF2B5EF4-FFF2-40B4-BE49-F238E27FC236}">
                <a16:creationId xmlns:a16="http://schemas.microsoft.com/office/drawing/2014/main" id="{4CA1DE4D-AD8A-6F04-4CA0-E70CBAFB5D3A}"/>
              </a:ext>
            </a:extLst>
          </p:cNvPr>
          <p:cNvSpPr/>
          <p:nvPr/>
        </p:nvSpPr>
        <p:spPr>
          <a:xfrm>
            <a:off x="342900" y="2348865"/>
            <a:ext cx="651510" cy="219456"/>
          </a:xfrm>
          <a:prstGeom prst="rect">
            <a:avLst/>
          </a:prstGeom>
          <a:solidFill>
            <a:srgbClr val="00B050"/>
          </a:solidFill>
          <a:ln/>
        </p:spPr>
        <p:txBody>
          <a:bodyPr wrap="square" lIns="0" tIns="0" rIns="0" bIns="0" rtlCol="0" anchor="ctr"/>
          <a:lstStyle/>
          <a:p>
            <a:pPr algn="ctr"/>
            <a:endParaRPr lang="en-US" sz="9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42" name="Text 7">
            <a:extLst>
              <a:ext uri="{FF2B5EF4-FFF2-40B4-BE49-F238E27FC236}">
                <a16:creationId xmlns:a16="http://schemas.microsoft.com/office/drawing/2014/main" id="{0B52B550-46C1-5E0D-61C8-0DF8FE3AECFB}"/>
              </a:ext>
            </a:extLst>
          </p:cNvPr>
          <p:cNvSpPr/>
          <p:nvPr/>
        </p:nvSpPr>
        <p:spPr>
          <a:xfrm>
            <a:off x="342900" y="2733893"/>
            <a:ext cx="651510" cy="219456"/>
          </a:xfrm>
          <a:prstGeom prst="rect">
            <a:avLst/>
          </a:prstGeom>
          <a:solidFill>
            <a:srgbClr val="00B050"/>
          </a:solidFill>
          <a:ln/>
        </p:spPr>
        <p:txBody>
          <a:bodyPr wrap="square" lIns="0" tIns="0" rIns="0" bIns="0" rtlCol="0" anchor="ctr"/>
          <a:lstStyle/>
          <a:p>
            <a:pPr algn="ctr"/>
            <a:endParaRPr lang="en-US" sz="9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43" name="Text 7">
            <a:extLst>
              <a:ext uri="{FF2B5EF4-FFF2-40B4-BE49-F238E27FC236}">
                <a16:creationId xmlns:a16="http://schemas.microsoft.com/office/drawing/2014/main" id="{F74554F9-8F70-DDE7-F0C4-568842B9B02F}"/>
              </a:ext>
            </a:extLst>
          </p:cNvPr>
          <p:cNvSpPr/>
          <p:nvPr/>
        </p:nvSpPr>
        <p:spPr>
          <a:xfrm>
            <a:off x="342900" y="3118920"/>
            <a:ext cx="651510" cy="219456"/>
          </a:xfrm>
          <a:prstGeom prst="rect">
            <a:avLst/>
          </a:prstGeom>
          <a:solidFill>
            <a:srgbClr val="00B050"/>
          </a:solidFill>
          <a:ln/>
        </p:spPr>
        <p:txBody>
          <a:bodyPr wrap="square" lIns="0" tIns="0" rIns="0" bIns="0" rtlCol="0" anchor="ctr"/>
          <a:lstStyle/>
          <a:p>
            <a:pPr algn="ctr"/>
            <a:endParaRPr lang="en-US" sz="9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7">
            <a:extLst>
              <a:ext uri="{FF2B5EF4-FFF2-40B4-BE49-F238E27FC236}">
                <a16:creationId xmlns:a16="http://schemas.microsoft.com/office/drawing/2014/main" id="{37CDFC00-A609-FE32-D051-4B937018CCB6}"/>
              </a:ext>
            </a:extLst>
          </p:cNvPr>
          <p:cNvSpPr/>
          <p:nvPr/>
        </p:nvSpPr>
        <p:spPr>
          <a:xfrm>
            <a:off x="342900" y="3503948"/>
            <a:ext cx="651510" cy="219456"/>
          </a:xfrm>
          <a:prstGeom prst="rect">
            <a:avLst/>
          </a:prstGeom>
          <a:solidFill>
            <a:srgbClr val="00B050"/>
          </a:solidFill>
          <a:ln/>
        </p:spPr>
        <p:txBody>
          <a:bodyPr wrap="square" lIns="0" tIns="0" rIns="0" bIns="0" rtlCol="0" anchor="ctr"/>
          <a:lstStyle/>
          <a:p>
            <a:pPr algn="ctr"/>
            <a:endParaRPr lang="en-US" sz="900" b="1"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2480616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342900" y="727200"/>
            <a:ext cx="8455914" cy="411480"/>
          </a:xfrm>
          <a:prstGeom prst="rect">
            <a:avLst/>
          </a:prstGeom>
          <a:noFill/>
          <a:ln/>
        </p:spPr>
        <p:txBody>
          <a:bodyPr wrap="square" lIns="0" tIns="0" rIns="0" bIns="0" rtlCol="0" anchor="t"/>
          <a:lstStyle/>
          <a:p>
            <a:r>
              <a:rPr lang="en-US" sz="1163" b="1" dirty="0">
                <a:solidFill>
                  <a:srgbClr val="1B2A4A"/>
                </a:solidFill>
                <a:latin typeface="Open Sans" panose="020B0606030504020204" pitchFamily="34" charset="0"/>
                <a:ea typeface="Open Sans" panose="020B0606030504020204" pitchFamily="34" charset="0"/>
                <a:cs typeface="Open Sans" panose="020B0606030504020204" pitchFamily="34" charset="0"/>
              </a:rPr>
              <a:t>Closing out a reviewed discharge-tracker PoC into Git. Mark each step Right or Wrong.</a:t>
            </a:r>
            <a:endParaRPr lang="en-US" sz="1163" b="1"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1110996" y="1110996"/>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Generate the commit message with Claude from the diff.</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1110996" y="1496023"/>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Create a reviewed/ branch and commit the fixes.</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1110996" y="1881052"/>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Generate the one-page HANDOFF.md with Claude.</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1110996" y="2266079"/>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Ship the handoff doc exactly as Claude wrote it.</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1110996" y="2651107"/>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Add the out-of-scope decisions and known limitations yourself.</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1110996" y="3036134"/>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Leave Medium review items out of the docs to look cleaner.</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p:cNvSpPr/>
          <p:nvPr/>
        </p:nvSpPr>
        <p:spPr>
          <a:xfrm>
            <a:off x="1110996" y="3421162"/>
            <a:ext cx="7680960" cy="385028"/>
          </a:xfrm>
          <a:prstGeom prst="rect">
            <a:avLst/>
          </a:prstGeom>
          <a:noFill/>
          <a:ln/>
        </p:spPr>
        <p:txBody>
          <a:bodyPr wrap="square" lIns="0" tIns="0" rIns="0" bIns="0" rtlCol="0" anchor="ctr"/>
          <a:lstStyle/>
          <a:p>
            <a:r>
              <a:rPr lang="en-US" sz="1000" b="1">
                <a:solidFill>
                  <a:srgbClr val="27303F"/>
                </a:solidFill>
                <a:latin typeface="Open Sans" panose="020B0606030504020204" pitchFamily="34" charset="0"/>
                <a:ea typeface="Open Sans" panose="020B0606030504020204" pitchFamily="34" charset="0"/>
                <a:cs typeface="Open Sans" panose="020B0606030504020204" pitchFamily="34" charset="0"/>
              </a:rPr>
              <a:t>Commit HANDOFF.md so the next engineer inherits the context.</a:t>
            </a:r>
            <a:endParaRPr lang="en-US" sz="1000" b="1">
              <a:latin typeface="Open Sans" panose="020B0606030504020204" pitchFamily="34" charset="0"/>
              <a:ea typeface="Open Sans" panose="020B0606030504020204" pitchFamily="34" charset="0"/>
              <a:cs typeface="Open Sans" panose="020B0606030504020204" pitchFamily="34" charset="0"/>
            </a:endParaRPr>
          </a:p>
        </p:txBody>
      </p:sp>
      <p:sp>
        <p:nvSpPr>
          <p:cNvPr id="29" name="Shape 27"/>
          <p:cNvSpPr/>
          <p:nvPr/>
        </p:nvSpPr>
        <p:spPr>
          <a:xfrm>
            <a:off x="342900" y="3909060"/>
            <a:ext cx="8455914" cy="864108"/>
          </a:xfrm>
          <a:prstGeom prst="roundRect">
            <a:avLst>
              <a:gd name="adj" fmla="val 5161"/>
            </a:avLst>
          </a:prstGeom>
          <a:solidFill>
            <a:srgbClr val="F5F5F5"/>
          </a:solidFill>
          <a:ln/>
          <a:effectLst>
            <a:outerShdw blurRad="76200" dist="38100" dir="5400000" algn="bl" rotWithShape="0">
              <a:srgbClr val="9AA3B0">
                <a:alpha val="30000"/>
              </a:srgbClr>
            </a:outerShdw>
          </a:effectLst>
        </p:spPr>
        <p:txBody>
          <a:bodyPr/>
          <a:lstStyle/>
          <a:p>
            <a:endParaRPr lang="en-US" sz="1350">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534924" y="4018788"/>
            <a:ext cx="5486400" cy="205740"/>
          </a:xfrm>
          <a:prstGeom prst="rect">
            <a:avLst/>
          </a:prstGeom>
          <a:noFill/>
          <a:ln/>
        </p:spPr>
        <p:txBody>
          <a:bodyPr wrap="square" lIns="0" tIns="0" rIns="0" bIns="0" rtlCol="0" anchor="ctr"/>
          <a:lstStyle/>
          <a:p>
            <a:r>
              <a:rPr lang="en-US" sz="825" b="1" kern="0" spc="113">
                <a:solidFill>
                  <a:schemeClr val="accent1"/>
                </a:solidFill>
                <a:latin typeface="Open Sans" panose="020B0606030504020204" pitchFamily="34" charset="0"/>
                <a:ea typeface="Open Sans" panose="020B0606030504020204" pitchFamily="34" charset="0"/>
                <a:cs typeface="Open Sans" panose="020B0606030504020204" pitchFamily="34" charset="0"/>
              </a:rPr>
              <a:t>THROUGH THE LENS</a:t>
            </a:r>
            <a:endParaRPr lang="en-US" sz="825" b="1">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1" name="Shape 29"/>
          <p:cNvSpPr/>
          <p:nvPr/>
        </p:nvSpPr>
        <p:spPr>
          <a:xfrm>
            <a:off x="534924" y="4265676"/>
            <a:ext cx="2153412" cy="274320"/>
          </a:xfrm>
          <a:prstGeom prst="roundRect">
            <a:avLst>
              <a:gd name="adj" fmla="val 15000"/>
            </a:avLst>
          </a:prstGeom>
          <a:solidFill>
            <a:srgbClr val="00B050"/>
          </a:solidFill>
          <a:ln/>
        </p:spPr>
        <p:txBody>
          <a:bodyPr/>
          <a:lstStyle/>
          <a:p>
            <a:endParaRPr lang="en-US" sz="1350" b="1">
              <a:latin typeface="Open Sans" panose="020B0606030504020204" pitchFamily="34" charset="0"/>
              <a:ea typeface="Open Sans" panose="020B0606030504020204" pitchFamily="34" charset="0"/>
              <a:cs typeface="Open Sans" panose="020B0606030504020204" pitchFamily="34" charset="0"/>
            </a:endParaRPr>
          </a:p>
        </p:txBody>
      </p:sp>
      <p:sp>
        <p:nvSpPr>
          <p:cNvPr id="32" name="Text 30"/>
          <p:cNvSpPr/>
          <p:nvPr/>
        </p:nvSpPr>
        <p:spPr>
          <a:xfrm>
            <a:off x="534924" y="4265676"/>
            <a:ext cx="2153412" cy="274320"/>
          </a:xfrm>
          <a:prstGeom prst="rect">
            <a:avLst/>
          </a:prstGeom>
          <a:no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Readiness Over Awareness</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31"/>
          <p:cNvSpPr/>
          <p:nvPr/>
        </p:nvSpPr>
        <p:spPr>
          <a:xfrm>
            <a:off x="2859786" y="4251960"/>
            <a:ext cx="5939028" cy="274320"/>
          </a:xfrm>
          <a:prstGeom prst="rect">
            <a:avLst/>
          </a:prstGeom>
          <a:noFill/>
          <a:ln/>
        </p:spPr>
        <p:txBody>
          <a:bodyPr wrap="square" lIns="0" tIns="0" rIns="0" bIns="0" rtlCol="0" anchor="ctr"/>
          <a:lstStyle/>
          <a:p>
            <a:r>
              <a:rPr lang="en-US" sz="1013">
                <a:latin typeface="Open Sans" pitchFamily="2" charset="0"/>
                <a:ea typeface="Open Sans" pitchFamily="2" charset="0"/>
                <a:cs typeface="Open Sans" pitchFamily="2" charset="0"/>
              </a:rPr>
              <a:t>Claude removes the friction; you own the intent, the limitations, and the final read before commit.</a:t>
            </a:r>
          </a:p>
        </p:txBody>
      </p:sp>
      <p:sp>
        <p:nvSpPr>
          <p:cNvPr id="45" name="Text 7">
            <a:extLst>
              <a:ext uri="{FF2B5EF4-FFF2-40B4-BE49-F238E27FC236}">
                <a16:creationId xmlns:a16="http://schemas.microsoft.com/office/drawing/2014/main" id="{885D7169-1F0E-40CB-F912-C3EA0EC63454}"/>
              </a:ext>
            </a:extLst>
          </p:cNvPr>
          <p:cNvSpPr/>
          <p:nvPr/>
        </p:nvSpPr>
        <p:spPr>
          <a:xfrm>
            <a:off x="342900" y="1193782"/>
            <a:ext cx="651510" cy="219456"/>
          </a:xfrm>
          <a:prstGeom prst="rect">
            <a:avLst/>
          </a:prstGeom>
          <a:solidFill>
            <a:srgbClr val="00B050"/>
          </a:solid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46" name="Text 7">
            <a:extLst>
              <a:ext uri="{FF2B5EF4-FFF2-40B4-BE49-F238E27FC236}">
                <a16:creationId xmlns:a16="http://schemas.microsoft.com/office/drawing/2014/main" id="{C141289E-53DE-DD17-55AC-5D4BDAF6460B}"/>
              </a:ext>
            </a:extLst>
          </p:cNvPr>
          <p:cNvSpPr/>
          <p:nvPr/>
        </p:nvSpPr>
        <p:spPr>
          <a:xfrm>
            <a:off x="342900" y="1578809"/>
            <a:ext cx="651510" cy="219456"/>
          </a:xfrm>
          <a:prstGeom prst="rect">
            <a:avLst/>
          </a:prstGeom>
          <a:solidFill>
            <a:srgbClr val="00B050"/>
          </a:solid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47" name="Text 7">
            <a:extLst>
              <a:ext uri="{FF2B5EF4-FFF2-40B4-BE49-F238E27FC236}">
                <a16:creationId xmlns:a16="http://schemas.microsoft.com/office/drawing/2014/main" id="{BA1DCE1E-3494-A883-C2C3-3BE7DADDC0AE}"/>
              </a:ext>
            </a:extLst>
          </p:cNvPr>
          <p:cNvSpPr/>
          <p:nvPr/>
        </p:nvSpPr>
        <p:spPr>
          <a:xfrm>
            <a:off x="342900" y="1963838"/>
            <a:ext cx="651510" cy="219456"/>
          </a:xfrm>
          <a:prstGeom prst="rect">
            <a:avLst/>
          </a:prstGeom>
          <a:solidFill>
            <a:srgbClr val="00B050"/>
          </a:solid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48" name="Text 7">
            <a:extLst>
              <a:ext uri="{FF2B5EF4-FFF2-40B4-BE49-F238E27FC236}">
                <a16:creationId xmlns:a16="http://schemas.microsoft.com/office/drawing/2014/main" id="{125CD431-A504-A61B-6617-742327AA6D60}"/>
              </a:ext>
            </a:extLst>
          </p:cNvPr>
          <p:cNvSpPr/>
          <p:nvPr/>
        </p:nvSpPr>
        <p:spPr>
          <a:xfrm>
            <a:off x="342900" y="2348865"/>
            <a:ext cx="651510" cy="219456"/>
          </a:xfrm>
          <a:prstGeom prst="rect">
            <a:avLst/>
          </a:prstGeom>
          <a:solidFill>
            <a:schemeClr val="accent3"/>
          </a:solid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WRONG</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49" name="Text 7">
            <a:extLst>
              <a:ext uri="{FF2B5EF4-FFF2-40B4-BE49-F238E27FC236}">
                <a16:creationId xmlns:a16="http://schemas.microsoft.com/office/drawing/2014/main" id="{F83B031A-8CB3-7E9B-C4BC-3ECB6128D3EB}"/>
              </a:ext>
            </a:extLst>
          </p:cNvPr>
          <p:cNvSpPr/>
          <p:nvPr/>
        </p:nvSpPr>
        <p:spPr>
          <a:xfrm>
            <a:off x="342900" y="2733893"/>
            <a:ext cx="651510" cy="219456"/>
          </a:xfrm>
          <a:prstGeom prst="rect">
            <a:avLst/>
          </a:prstGeom>
          <a:solidFill>
            <a:srgbClr val="00B050"/>
          </a:solid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50" name="Text 7">
            <a:extLst>
              <a:ext uri="{FF2B5EF4-FFF2-40B4-BE49-F238E27FC236}">
                <a16:creationId xmlns:a16="http://schemas.microsoft.com/office/drawing/2014/main" id="{557E287C-5B5C-FB9B-2581-F724BB7270A3}"/>
              </a:ext>
            </a:extLst>
          </p:cNvPr>
          <p:cNvSpPr/>
          <p:nvPr/>
        </p:nvSpPr>
        <p:spPr>
          <a:xfrm>
            <a:off x="342900" y="3118920"/>
            <a:ext cx="651510" cy="219456"/>
          </a:xfrm>
          <a:prstGeom prst="rect">
            <a:avLst/>
          </a:prstGeom>
          <a:solidFill>
            <a:schemeClr val="accent3"/>
          </a:solid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WRONG</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
        <p:nvSpPr>
          <p:cNvPr id="51" name="Text 7">
            <a:extLst>
              <a:ext uri="{FF2B5EF4-FFF2-40B4-BE49-F238E27FC236}">
                <a16:creationId xmlns:a16="http://schemas.microsoft.com/office/drawing/2014/main" id="{8CF03CC3-E09C-6C74-A0D8-A08663361A45}"/>
              </a:ext>
            </a:extLst>
          </p:cNvPr>
          <p:cNvSpPr/>
          <p:nvPr/>
        </p:nvSpPr>
        <p:spPr>
          <a:xfrm>
            <a:off x="342900" y="3503948"/>
            <a:ext cx="651510" cy="219456"/>
          </a:xfrm>
          <a:prstGeom prst="rect">
            <a:avLst/>
          </a:prstGeom>
          <a:solidFill>
            <a:srgbClr val="00B050"/>
          </a:solidFill>
          <a:ln/>
        </p:spPr>
        <p:txBody>
          <a:bodyPr wrap="square" lIns="0" tIns="0" rIns="0" bIns="0" rtlCol="0" anchor="ctr"/>
          <a:lstStyle/>
          <a:p>
            <a:pPr algn="ctr"/>
            <a:r>
              <a:rPr lang="en-US" sz="9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900" b="1">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ellStrat CCA">
  <a:themeElements>
    <a:clrScheme name="Phi Design">
      <a:dk1>
        <a:srgbClr val="383838"/>
      </a:dk1>
      <a:lt1>
        <a:srgbClr val="FFFFFF"/>
      </a:lt1>
      <a:dk2>
        <a:srgbClr val="6A6B6A"/>
      </a:dk2>
      <a:lt2>
        <a:srgbClr val="DADCDB"/>
      </a:lt2>
      <a:accent1>
        <a:srgbClr val="FDB71A"/>
      </a:accent1>
      <a:accent2>
        <a:srgbClr val="008CCC"/>
      </a:accent2>
      <a:accent3>
        <a:srgbClr val="EE3124"/>
      </a:accent3>
      <a:accent4>
        <a:srgbClr val="C3C4C3"/>
      </a:accent4>
      <a:accent5>
        <a:srgbClr val="5EC5F7"/>
      </a:accent5>
      <a:accent6>
        <a:srgbClr val="FDD373"/>
      </a:accent6>
      <a:hlink>
        <a:srgbClr val="F38C86"/>
      </a:hlink>
      <a:folHlink>
        <a:srgbClr val="C4C2C4"/>
      </a:folHlink>
    </a:clrScheme>
    <a:fontScheme name="New Beta theme">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pPr>
      <a:bodyPr wrap="square" lIns="0" tIns="0" rIns="0" bIns="0" rtlCol="0" anchor="t"/>
      <a:lstStyle>
        <a:defPPr algn="l">
          <a:defRPr sz="1388" b="1" dirty="0">
            <a:solidFill>
              <a:srgbClr val="1B2A4A"/>
            </a:solidFill>
            <a:latin typeface="Open Sans Extrabold" pitchFamily="2" charset="0"/>
            <a:ea typeface="Open Sans Extrabold" pitchFamily="2" charset="0"/>
            <a:cs typeface="Open Sans Extrabold" pitchFamily="2" charset="0"/>
          </a:defRPr>
        </a:defPPr>
      </a:lstStyle>
    </a:spDef>
    <a:lnDef>
      <a:spPr>
        <a:ln>
          <a:solidFill>
            <a:schemeClr val="bg1">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bwMode="auto"/>
      <a:bodyPr/>
      <a:lstStyle>
        <a:defPPr algn="l">
          <a:defRPr dirty="0" smtClean="0"/>
        </a:defPPr>
      </a:lstStyle>
    </a:txDef>
  </a:objectDefaults>
  <a:extraClrSchemeLst/>
  <a:extLst>
    <a:ext uri="{05A4C25C-085E-4340-85A3-A5531E510DB2}">
      <thm15:themeFamily xmlns:thm15="http://schemas.microsoft.com/office/thememl/2012/main" name="Presentation1" id="{0210B50B-29D0-B849-B35D-819F9ED84FCA}" vid="{BE3D0D1F-83C9-2E46-AA81-4E9634B0516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8070</Words>
  <Application>Microsoft Macintosh PowerPoint</Application>
  <PresentationFormat>On-screen Show (16:9)</PresentationFormat>
  <Paragraphs>765</Paragraphs>
  <Slides>52</Slides>
  <Notes>17</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52</vt:i4>
      </vt:variant>
    </vt:vector>
  </HeadingPairs>
  <TitlesOfParts>
    <vt:vector size="62" baseType="lpstr">
      <vt:lpstr>Aptos</vt:lpstr>
      <vt:lpstr>Aptos Display</vt:lpstr>
      <vt:lpstr>Arial</vt:lpstr>
      <vt:lpstr>Calibri</vt:lpstr>
      <vt:lpstr>Open Sans</vt:lpstr>
      <vt:lpstr>Open Sans Extrabold</vt:lpstr>
      <vt:lpstr>Open Sans Semibold</vt:lpstr>
      <vt:lpstr>Wingdings</vt:lpstr>
      <vt:lpstr>Custom Design</vt:lpstr>
      <vt:lpstr>CellStrat CCA</vt:lpstr>
      <vt:lpstr>DEBUG, REVIEW &amp; IMPROVE YOUR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Certificate in AI-Assisted Development — Session 2: Build Your First PoC</dc:title>
  <dc:subject>PptxGenJS Presentation</dc:subject>
  <dc:creator>CellStrat</dc:creator>
  <cp:lastModifiedBy>CellStrat</cp:lastModifiedBy>
  <cp:revision>1</cp:revision>
  <dcterms:created xsi:type="dcterms:W3CDTF">2026-06-18T11:52:50Z</dcterms:created>
  <dcterms:modified xsi:type="dcterms:W3CDTF">2026-06-26T07:13:24Z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0x01010006F8A97F61E63A45AE2A7731D2CE03A6</vt:lpwstr>
  </property>
  <property fmtid="{D5CDD505-2E9C-101B-9397-08002B2CF9AE}" pid="3" name="MediaServiceImageTags">
    <vt:lpwstr/>
  </property>
</Properties>
</file>